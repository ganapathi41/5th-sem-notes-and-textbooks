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94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05.xml" ContentType="application/vnd.openxmlformats-officedocument.presentationml.notes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slides/slide120.xml" ContentType="application/vnd.openxmlformats-officedocument.presentationml.slide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96.xml" ContentType="application/vnd.openxmlformats-officedocument.presentationml.notesSlide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74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63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30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25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66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6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124.xml" ContentType="application/vnd.openxmlformats-officedocument.presentationml.notesSlide+xml"/>
  <Override PartName="/ppt/slides/slide55.xml" ContentType="application/vnd.openxmlformats-officedocument.presentationml.slide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57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13.xml" ContentType="application/vnd.openxmlformats-officedocument.presentationml.notes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notesSlides/notesSlide46.xml" ContentType="application/vnd.openxmlformats-officedocument.presentationml.notesSlide+xml"/>
  <Override PartName="/ppt/notesSlides/notesSlide93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60.xml" ContentType="application/vnd.openxmlformats-officedocument.presentationml.notesSlide+xml"/>
  <Override PartName="/ppt/slides/slide119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0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49.xml" ContentType="application/vnd.openxmlformats-officedocument.presentationml.slide+xml"/>
  <Override PartName="/ppt/slides/slide96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107.xml" ContentType="application/vnd.openxmlformats-officedocument.presentationml.notesSlide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s/slide122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69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114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21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Override PartName="/ppt/slideLayouts/slideLayout15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110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90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127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19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99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slides/slide12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15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122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Override PartName="/ppt/slideLayouts/slideLayout16.xml" ContentType="application/vnd.openxmlformats-officedocument.presentationml.slideLayout+xml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11.xml" ContentType="application/vnd.openxmlformats-officedocument.presentationml.notesSlide+xml"/>
  <Default Extension="jpeg" ContentType="image/jpeg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91.xml" ContentType="application/vnd.openxmlformats-officedocument.presentationml.notes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slides/slide98.xml" ContentType="application/vnd.openxmlformats-officedocument.presentationml.slide+xml"/>
  <Override PartName="/ppt/slides/slide117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109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slides/slide106.xml" ContentType="application/vnd.openxmlformats-officedocument.presentationml.slide+xml"/>
  <Override PartName="/ppt/slides/slide124.xml" ContentType="application/vnd.openxmlformats-officedocument.presentationml.slide+xml"/>
  <Override PartName="/ppt/notesSlides/notesSlide89.xml" ContentType="application/vnd.openxmlformats-officedocument.presentationml.notesSlide+xml"/>
  <Override PartName="/ppt/notesSlides/notesSlide116.xml" ContentType="application/vnd.openxmlformats-officedocument.presentationml.notes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slides/slide113.xml" ContentType="application/vnd.openxmlformats-officedocument.presentationml.slide+xml"/>
  <Override PartName="/ppt/notesSlides/notesSlide78.xml" ContentType="application/vnd.openxmlformats-officedocument.presentationml.notesSlide+xml"/>
  <Override PartName="/ppt/notesSlides/notesSlide123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67.xml" ContentType="application/vnd.openxmlformats-officedocument.presentationml.notesSlide+xml"/>
  <Override PartName="/ppt/notesSlides/notesSlide112.xml" ContentType="application/vnd.openxmlformats-officedocument.presentationml.notesSlide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10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4.xml" ContentType="application/vnd.openxmlformats-officedocument.presentationml.notesSlide+xml"/>
  <Override PartName="/ppt/notesSlides/notesSlide81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notesSlides/notesSlide23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12.xml" ContentType="application/vnd.openxmlformats-officedocument.presentationml.notesSlide+xml"/>
  <Override PartName="/ppt/slides/slide118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107.xml" ContentType="application/vnd.openxmlformats-officedocument.presentationml.slide+xml"/>
  <Override PartName="/ppt/viewProps.xml" ContentType="application/vnd.openxmlformats-officedocument.presentationml.viewProps+xml"/>
  <Override PartName="/ppt/notesSlides/notesSlide106.xml" ContentType="application/vnd.openxmlformats-officedocument.presentationml.notesSlide+xml"/>
  <Override PartName="/ppt/notesSlides/notesSlide117.xml" ContentType="application/vnd.openxmlformats-officedocument.presentationml.notesSlide+xml"/>
  <Override PartName="/ppt/slides/slide48.xml" ContentType="application/vnd.openxmlformats-officedocument.presentationml.slide+xml"/>
  <Override PartName="/ppt/slides/slide95.xml" ContentType="application/vnd.openxmlformats-officedocument.presentationml.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notesSlides/notesSlide97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notesSlides/notesSlide39.xml" ContentType="application/vnd.openxmlformats-officedocument.presentationml.notesSlide+xml"/>
  <Override PartName="/ppt/notesSlides/notesSlide86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2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120.xml" ContentType="application/vnd.openxmlformats-officedocument.presentationml.notesSlide+xml"/>
  <Override PartName="/ppt/slides/slide51.xml" ContentType="application/vnd.openxmlformats-officedocument.presentationml.slide+xml"/>
  <Override PartName="/ppt/slideLayouts/slideLayout14.xml" ContentType="application/vnd.openxmlformats-officedocument.presentationml.slideLayout+xml"/>
  <Override PartName="/ppt/notesSlides/notesSlide53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2.xml" ContentType="application/vnd.openxmlformats-officedocument.presentationml.notesSlide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s/slide89.xml" ContentType="application/vnd.openxmlformats-officedocument.presentationml.slide+xml"/>
  <Override PartName="/ppt/slides/slide126.xml" ContentType="application/vnd.openxmlformats-officedocument.presentationml.slide+xml"/>
  <Override PartName="/ppt/slides/slide78.xml" ContentType="application/vnd.openxmlformats-officedocument.presentationml.slide+xml"/>
  <Override PartName="/ppt/slides/slide115.xml" ContentType="application/vnd.openxmlformats-officedocument.presentationml.slide+xml"/>
  <Override PartName="/ppt/notesSlides/notesSlide12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6" r:id="rId1"/>
  </p:sldMasterIdLst>
  <p:notesMasterIdLst>
    <p:notesMasterId r:id="rId129"/>
  </p:notesMasterIdLst>
  <p:sldIdLst>
    <p:sldId id="645" r:id="rId2"/>
    <p:sldId id="256" r:id="rId3"/>
    <p:sldId id="259" r:id="rId4"/>
    <p:sldId id="273" r:id="rId5"/>
    <p:sldId id="511" r:id="rId6"/>
    <p:sldId id="277" r:id="rId7"/>
    <p:sldId id="512" r:id="rId8"/>
    <p:sldId id="602" r:id="rId9"/>
    <p:sldId id="279" r:id="rId10"/>
    <p:sldId id="280" r:id="rId11"/>
    <p:sldId id="513" r:id="rId12"/>
    <p:sldId id="514" r:id="rId13"/>
    <p:sldId id="603" r:id="rId14"/>
    <p:sldId id="284" r:id="rId15"/>
    <p:sldId id="433" r:id="rId16"/>
    <p:sldId id="432" r:id="rId17"/>
    <p:sldId id="434" r:id="rId18"/>
    <p:sldId id="646" r:id="rId19"/>
    <p:sldId id="435" r:id="rId20"/>
    <p:sldId id="286" r:id="rId21"/>
    <p:sldId id="607" r:id="rId22"/>
    <p:sldId id="608" r:id="rId23"/>
    <p:sldId id="647" r:id="rId24"/>
    <p:sldId id="612" r:id="rId25"/>
    <p:sldId id="611" r:id="rId26"/>
    <p:sldId id="610" r:id="rId27"/>
    <p:sldId id="437" r:id="rId28"/>
    <p:sldId id="438" r:id="rId29"/>
    <p:sldId id="260" r:id="rId30"/>
    <p:sldId id="613" r:id="rId31"/>
    <p:sldId id="615" r:id="rId32"/>
    <p:sldId id="616" r:id="rId33"/>
    <p:sldId id="617" r:id="rId34"/>
    <p:sldId id="618" r:id="rId35"/>
    <p:sldId id="498" r:id="rId36"/>
    <p:sldId id="504" r:id="rId37"/>
    <p:sldId id="503" r:id="rId38"/>
    <p:sldId id="619" r:id="rId39"/>
    <p:sldId id="505" r:id="rId40"/>
    <p:sldId id="303" r:id="rId41"/>
    <p:sldId id="621" r:id="rId42"/>
    <p:sldId id="349" r:id="rId43"/>
    <p:sldId id="551" r:id="rId44"/>
    <p:sldId id="552" r:id="rId45"/>
    <p:sldId id="553" r:id="rId46"/>
    <p:sldId id="353" r:id="rId47"/>
    <p:sldId id="620" r:id="rId48"/>
    <p:sldId id="519" r:id="rId49"/>
    <p:sldId id="520" r:id="rId50"/>
    <p:sldId id="261" r:id="rId51"/>
    <p:sldId id="626" r:id="rId52"/>
    <p:sldId id="304" r:id="rId53"/>
    <p:sldId id="624" r:id="rId54"/>
    <p:sldId id="322" r:id="rId55"/>
    <p:sldId id="323" r:id="rId56"/>
    <p:sldId id="324" r:id="rId57"/>
    <p:sldId id="325" r:id="rId58"/>
    <p:sldId id="625" r:id="rId59"/>
    <p:sldId id="327" r:id="rId60"/>
    <p:sldId id="627" r:id="rId61"/>
    <p:sldId id="329" r:id="rId62"/>
    <p:sldId id="330" r:id="rId63"/>
    <p:sldId id="331" r:id="rId64"/>
    <p:sldId id="332" r:id="rId65"/>
    <p:sldId id="333" r:id="rId66"/>
    <p:sldId id="334" r:id="rId67"/>
    <p:sldId id="335" r:id="rId68"/>
    <p:sldId id="336" r:id="rId69"/>
    <p:sldId id="337" r:id="rId70"/>
    <p:sldId id="338" r:id="rId71"/>
    <p:sldId id="628" r:id="rId72"/>
    <p:sldId id="341" r:id="rId73"/>
    <p:sldId id="629" r:id="rId74"/>
    <p:sldId id="343" r:id="rId75"/>
    <p:sldId id="632" r:id="rId76"/>
    <p:sldId id="633" r:id="rId77"/>
    <p:sldId id="347" r:id="rId78"/>
    <p:sldId id="348" r:id="rId79"/>
    <p:sldId id="622" r:id="rId80"/>
    <p:sldId id="644" r:id="rId81"/>
    <p:sldId id="263" r:id="rId82"/>
    <p:sldId id="636" r:id="rId83"/>
    <p:sldId id="637" r:id="rId84"/>
    <p:sldId id="572" r:id="rId85"/>
    <p:sldId id="360" r:id="rId86"/>
    <p:sldId id="361" r:id="rId87"/>
    <p:sldId id="362" r:id="rId88"/>
    <p:sldId id="573" r:id="rId89"/>
    <p:sldId id="363" r:id="rId90"/>
    <p:sldId id="364" r:id="rId91"/>
    <p:sldId id="365" r:id="rId92"/>
    <p:sldId id="366" r:id="rId93"/>
    <p:sldId id="577" r:id="rId94"/>
    <p:sldId id="590" r:id="rId95"/>
    <p:sldId id="580" r:id="rId96"/>
    <p:sldId id="370" r:id="rId97"/>
    <p:sldId id="371" r:id="rId98"/>
    <p:sldId id="578" r:id="rId99"/>
    <p:sldId id="372" r:id="rId100"/>
    <p:sldId id="638" r:id="rId101"/>
    <p:sldId id="394" r:id="rId102"/>
    <p:sldId id="397" r:id="rId103"/>
    <p:sldId id="416" r:id="rId104"/>
    <p:sldId id="591" r:id="rId105"/>
    <p:sldId id="264" r:id="rId106"/>
    <p:sldId id="563" r:id="rId107"/>
    <p:sldId id="558" r:id="rId108"/>
    <p:sldId id="639" r:id="rId109"/>
    <p:sldId id="559" r:id="rId110"/>
    <p:sldId id="640" r:id="rId111"/>
    <p:sldId id="641" r:id="rId112"/>
    <p:sldId id="560" r:id="rId113"/>
    <p:sldId id="561" r:id="rId114"/>
    <p:sldId id="562" r:id="rId115"/>
    <p:sldId id="564" r:id="rId116"/>
    <p:sldId id="565" r:id="rId117"/>
    <p:sldId id="508" r:id="rId118"/>
    <p:sldId id="506" r:id="rId119"/>
    <p:sldId id="507" r:id="rId120"/>
    <p:sldId id="509" r:id="rId121"/>
    <p:sldId id="393" r:id="rId122"/>
    <p:sldId id="373" r:id="rId123"/>
    <p:sldId id="404" r:id="rId124"/>
    <p:sldId id="642" r:id="rId125"/>
    <p:sldId id="566" r:id="rId126"/>
    <p:sldId id="643" r:id="rId127"/>
    <p:sldId id="567" r:id="rId128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20000"/>
      </a:spcBef>
      <a:spcAft>
        <a:spcPct val="0"/>
      </a:spcAft>
      <a:buSzPct val="70000"/>
      <a:buFont typeface="Wingdings" pitchFamily="2" charset="2"/>
      <a:defRPr sz="2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20000"/>
      </a:spcBef>
      <a:spcAft>
        <a:spcPct val="0"/>
      </a:spcAft>
      <a:buSzPct val="70000"/>
      <a:buFont typeface="Wingdings" pitchFamily="2" charset="2"/>
      <a:defRPr sz="2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20000"/>
      </a:spcBef>
      <a:spcAft>
        <a:spcPct val="0"/>
      </a:spcAft>
      <a:buSzPct val="70000"/>
      <a:buFont typeface="Wingdings" pitchFamily="2" charset="2"/>
      <a:defRPr sz="2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20000"/>
      </a:spcBef>
      <a:spcAft>
        <a:spcPct val="0"/>
      </a:spcAft>
      <a:buSzPct val="70000"/>
      <a:buFont typeface="Wingdings" pitchFamily="2" charset="2"/>
      <a:defRPr sz="2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20000"/>
      </a:spcBef>
      <a:spcAft>
        <a:spcPct val="0"/>
      </a:spcAft>
      <a:buSzPct val="70000"/>
      <a:buFont typeface="Wingdings" pitchFamily="2" charset="2"/>
      <a:defRPr sz="2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B1CCCB"/>
    <a:srgbClr val="669594"/>
    <a:srgbClr val="FF3300"/>
    <a:srgbClr val="FF33CC"/>
    <a:srgbClr val="6600FF"/>
    <a:srgbClr val="FF99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1" autoAdjust="0"/>
    <p:restoredTop sz="94638" autoAdjust="0"/>
  </p:normalViewPr>
  <p:slideViewPr>
    <p:cSldViewPr snapToGrid="0">
      <p:cViewPr>
        <p:scale>
          <a:sx n="70" d="100"/>
          <a:sy n="70" d="100"/>
        </p:scale>
        <p:origin x="-1134" y="-144"/>
      </p:cViewPr>
      <p:guideLst>
        <p:guide orient="horz" pos="406"/>
        <p:guide pos="2893"/>
      </p:guideLst>
    </p:cSldViewPr>
  </p:slideViewPr>
  <p:outlineViewPr>
    <p:cViewPr>
      <p:scale>
        <a:sx n="33" d="100"/>
        <a:sy n="33" d="100"/>
      </p:scale>
      <p:origin x="0" y="497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3992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1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210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1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21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1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SzTx/>
              <a:buFontTx/>
              <a:buNone/>
              <a:defRPr sz="1200"/>
            </a:lvl1pPr>
          </a:lstStyle>
          <a:p>
            <a:pPr>
              <a:defRPr/>
            </a:pPr>
            <a:fld id="{D20038BF-3746-4B17-A5B7-FB13F6401F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FE109D2-7099-4418-A0C8-57E42B9FF168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1331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1E92718-8450-4C8E-A243-FFE13D0915E1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134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7D910AC-16DA-4987-A9E1-77AFFE67CD9E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1351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6AB08A4-9DA7-4C1B-8A5C-468BB2D99A63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13619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01700" y="4330700"/>
            <a:ext cx="5029200" cy="4114800"/>
          </a:xfrm>
          <a:noFill/>
        </p:spPr>
        <p:txBody>
          <a:bodyPr lIns="90480" tIns="44446" rIns="90480" bIns="44446"/>
          <a:lstStyle/>
          <a:p>
            <a:pPr eaLnBrk="1" hangingPunct="1"/>
            <a:endParaRPr lang="en-US" smtClean="0"/>
          </a:p>
        </p:txBody>
      </p:sp>
      <p:sp>
        <p:nvSpPr>
          <p:cNvPr id="136196" name="Rectangle 3"/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7BB6A0A-A1F2-4659-A08A-3FCE6363F622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13721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 lIns="90486" tIns="44448" rIns="90486" bIns="44448"/>
          <a:lstStyle/>
          <a:p>
            <a:pPr eaLnBrk="1" hangingPunct="1"/>
            <a:endParaRPr lang="en-US" smtClean="0"/>
          </a:p>
        </p:txBody>
      </p:sp>
      <p:sp>
        <p:nvSpPr>
          <p:cNvPr id="137220" name="Rectangle 3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w="12700" cap="flat">
            <a:solidFill>
              <a:schemeClr val="tx1"/>
            </a:solidFill>
          </a:ln>
        </p:spPr>
      </p:sp>
      <p:sp>
        <p:nvSpPr>
          <p:cNvPr id="137221" name="Rectangle 4"/>
          <p:cNvSpPr>
            <a:spLocks noChangeArrowheads="1"/>
          </p:cNvSpPr>
          <p:nvPr/>
        </p:nvSpPr>
        <p:spPr bwMode="auto">
          <a:xfrm>
            <a:off x="1143000" y="4338638"/>
            <a:ext cx="4597400" cy="41163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86489" tIns="41699" rIns="86489" bIns="41699"/>
          <a:lstStyle/>
          <a:p>
            <a:pPr algn="l" defTabSz="925513">
              <a:spcBef>
                <a:spcPct val="30000"/>
              </a:spcBef>
              <a:buSzTx/>
              <a:buFontTx/>
              <a:buNone/>
            </a:pPr>
            <a:r>
              <a:rPr lang="en-US" sz="1200"/>
              <a:t>7-9</a:t>
            </a:r>
          </a:p>
          <a:p>
            <a:pPr algn="l" defTabSz="925513">
              <a:spcBef>
                <a:spcPct val="30000"/>
              </a:spcBef>
              <a:buSzTx/>
              <a:buFontTx/>
              <a:buNone/>
            </a:pPr>
            <a:r>
              <a:rPr lang="en-US" sz="1200"/>
              <a:t>The text boxes are callouts or labels.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50593C8-C2D3-45CC-9420-CF431E3792AE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1382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01700" y="4330700"/>
            <a:ext cx="5029200" cy="4114800"/>
          </a:xfrm>
          <a:noFill/>
        </p:spPr>
        <p:txBody>
          <a:bodyPr lIns="90480" tIns="44446" rIns="90480" bIns="44446"/>
          <a:lstStyle/>
          <a:p>
            <a:pPr eaLnBrk="1" hangingPunct="1"/>
            <a:endParaRPr lang="en-US" smtClean="0"/>
          </a:p>
        </p:txBody>
      </p:sp>
      <p:sp>
        <p:nvSpPr>
          <p:cNvPr id="138244" name="Rectangle 3"/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58A981D-9FD4-4174-8CDF-BC3B82F4705D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13926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 lIns="90486" tIns="44448" rIns="90486" bIns="44448"/>
          <a:lstStyle/>
          <a:p>
            <a:pPr eaLnBrk="1" hangingPunct="1"/>
            <a:endParaRPr lang="en-US" smtClean="0"/>
          </a:p>
        </p:txBody>
      </p:sp>
      <p:sp>
        <p:nvSpPr>
          <p:cNvPr id="139268" name="Rectangle 3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FDA7CF1-A73E-4810-91C9-7EDB51A92984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140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69BF912-47CE-4DB0-A1AB-99EADC18A9BB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14131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01700" y="4330700"/>
            <a:ext cx="5029200" cy="4114800"/>
          </a:xfrm>
          <a:noFill/>
        </p:spPr>
        <p:txBody>
          <a:bodyPr lIns="90480" tIns="44446" rIns="90480" bIns="44446"/>
          <a:lstStyle/>
          <a:p>
            <a:pPr eaLnBrk="1" hangingPunct="1"/>
            <a:endParaRPr lang="en-US" smtClean="0"/>
          </a:p>
        </p:txBody>
      </p:sp>
      <p:sp>
        <p:nvSpPr>
          <p:cNvPr id="141316" name="Rectangle 3"/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E2D7ED1-880D-41A6-9496-11D80E000DC5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142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01700" y="4330700"/>
            <a:ext cx="5029200" cy="4114800"/>
          </a:xfrm>
          <a:noFill/>
        </p:spPr>
        <p:txBody>
          <a:bodyPr lIns="90480" tIns="44446" rIns="90480" bIns="44446"/>
          <a:lstStyle/>
          <a:p>
            <a:pPr eaLnBrk="1" hangingPunct="1"/>
            <a:endParaRPr lang="en-US" smtClean="0"/>
          </a:p>
        </p:txBody>
      </p:sp>
      <p:sp>
        <p:nvSpPr>
          <p:cNvPr id="142340" name="Rectangle 3"/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6DF7D61-4A9D-4FA1-90DF-98C8DDBBAB96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14336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 lIns="90486" tIns="44448" rIns="90486" bIns="44448"/>
          <a:lstStyle/>
          <a:p>
            <a:pPr eaLnBrk="1" hangingPunct="1"/>
            <a:endParaRPr lang="en-US" smtClean="0"/>
          </a:p>
        </p:txBody>
      </p:sp>
      <p:sp>
        <p:nvSpPr>
          <p:cNvPr id="143364" name="Rectangle 3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DBA4E49-DA2C-438C-829B-D4A6883CFCAA}" type="slidenum">
              <a:rPr lang="en-US" smtClean="0"/>
              <a:pPr/>
              <a:t>12</a:t>
            </a:fld>
            <a:endParaRPr lang="en-US" smtClean="0"/>
          </a:p>
        </p:txBody>
      </p:sp>
      <p:sp>
        <p:nvSpPr>
          <p:cNvPr id="144387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3BE09EA-0C8C-4BE3-88C9-5631FE85A551}" type="slidenum">
              <a:rPr lang="en-US" smtClean="0"/>
              <a:pPr/>
              <a:t>13</a:t>
            </a:fld>
            <a:endParaRPr lang="en-US" smtClean="0"/>
          </a:p>
        </p:txBody>
      </p:sp>
      <p:sp>
        <p:nvSpPr>
          <p:cNvPr id="1454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CA29EE9-0608-4710-B4F0-6CE7124126B1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14643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01700" y="4330700"/>
            <a:ext cx="5029200" cy="4114800"/>
          </a:xfrm>
          <a:noFill/>
        </p:spPr>
        <p:txBody>
          <a:bodyPr lIns="90480" tIns="44446" rIns="90480" bIns="44446"/>
          <a:lstStyle/>
          <a:p>
            <a:pPr eaLnBrk="1" hangingPunct="1"/>
            <a:endParaRPr lang="en-US" smtClean="0"/>
          </a:p>
        </p:txBody>
      </p:sp>
      <p:sp>
        <p:nvSpPr>
          <p:cNvPr id="146436" name="Rectangle 3"/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947D3BF-F240-4FDD-A4FD-1C2FDC7AA06B}" type="slidenum">
              <a:rPr lang="en-US" smtClean="0"/>
              <a:pPr/>
              <a:t>15</a:t>
            </a:fld>
            <a:endParaRPr lang="en-US" smtClean="0"/>
          </a:p>
        </p:txBody>
      </p:sp>
      <p:sp>
        <p:nvSpPr>
          <p:cNvPr id="147459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4CAC543-AE42-4C40-ACDA-E37267E81130}" type="slidenum">
              <a:rPr lang="en-US" smtClean="0"/>
              <a:pPr/>
              <a:t>16</a:t>
            </a:fld>
            <a:endParaRPr lang="en-US" smtClean="0"/>
          </a:p>
        </p:txBody>
      </p:sp>
      <p:sp>
        <p:nvSpPr>
          <p:cNvPr id="148483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5E7799A-8631-4E0C-AD68-25A5E87DE238}" type="slidenum">
              <a:rPr lang="en-US" smtClean="0"/>
              <a:pPr/>
              <a:t>17</a:t>
            </a:fld>
            <a:endParaRPr lang="en-US" smtClean="0"/>
          </a:p>
        </p:txBody>
      </p:sp>
      <p:sp>
        <p:nvSpPr>
          <p:cNvPr id="149507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8994569-20A7-4A9D-8F2D-67F6C19FF2ED}" type="slidenum">
              <a:rPr lang="en-US" smtClean="0"/>
              <a:pPr/>
              <a:t>19</a:t>
            </a:fld>
            <a:endParaRPr lang="en-US" smtClean="0"/>
          </a:p>
        </p:txBody>
      </p:sp>
      <p:sp>
        <p:nvSpPr>
          <p:cNvPr id="15053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 lIns="90486" tIns="44448" rIns="90486" bIns="44448"/>
          <a:lstStyle/>
          <a:p>
            <a:pPr eaLnBrk="1" hangingPunct="1"/>
            <a:endParaRPr lang="en-US" smtClean="0"/>
          </a:p>
        </p:txBody>
      </p:sp>
      <p:sp>
        <p:nvSpPr>
          <p:cNvPr id="150532" name="Rectangle 3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456982B-DEED-4CAC-B8F0-68FC80B30550}" type="slidenum">
              <a:rPr lang="en-US" smtClean="0"/>
              <a:pPr/>
              <a:t>20</a:t>
            </a:fld>
            <a:endParaRPr lang="en-US" smtClean="0"/>
          </a:p>
        </p:txBody>
      </p:sp>
      <p:sp>
        <p:nvSpPr>
          <p:cNvPr id="15155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01700" y="4330700"/>
            <a:ext cx="5029200" cy="4114800"/>
          </a:xfrm>
          <a:noFill/>
        </p:spPr>
        <p:txBody>
          <a:bodyPr lIns="90480" tIns="44446" rIns="90480" bIns="44446"/>
          <a:lstStyle/>
          <a:p>
            <a:pPr eaLnBrk="1" hangingPunct="1"/>
            <a:endParaRPr lang="en-US" smtClean="0"/>
          </a:p>
        </p:txBody>
      </p:sp>
      <p:sp>
        <p:nvSpPr>
          <p:cNvPr id="151556" name="Rectangle 3"/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639D300-56AE-491A-89B5-4FA022492E5D}" type="slidenum">
              <a:rPr lang="en-US" smtClean="0"/>
              <a:pPr/>
              <a:t>21</a:t>
            </a:fld>
            <a:endParaRPr lang="en-US" smtClean="0"/>
          </a:p>
        </p:txBody>
      </p:sp>
      <p:sp>
        <p:nvSpPr>
          <p:cNvPr id="1525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353C782-5A62-4FB3-BA29-C709C1623B93}" type="slidenum">
              <a:rPr lang="en-US" smtClean="0"/>
              <a:pPr/>
              <a:t>22</a:t>
            </a:fld>
            <a:endParaRPr lang="en-US" smtClean="0"/>
          </a:p>
        </p:txBody>
      </p:sp>
      <p:sp>
        <p:nvSpPr>
          <p:cNvPr id="15360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01700" y="4330700"/>
            <a:ext cx="5029200" cy="4114800"/>
          </a:xfrm>
          <a:noFill/>
        </p:spPr>
        <p:txBody>
          <a:bodyPr lIns="90480" tIns="44446" rIns="90480" bIns="44446"/>
          <a:lstStyle/>
          <a:p>
            <a:pPr eaLnBrk="1" hangingPunct="1"/>
            <a:endParaRPr lang="en-US" smtClean="0"/>
          </a:p>
        </p:txBody>
      </p:sp>
      <p:sp>
        <p:nvSpPr>
          <p:cNvPr id="153604" name="Rectangle 3"/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6CC0258-65D8-4492-8CCE-9857C668D5BA}" type="slidenum">
              <a:rPr lang="en-US" smtClean="0"/>
              <a:pPr/>
              <a:t>24</a:t>
            </a:fld>
            <a:endParaRPr lang="en-US" smtClean="0"/>
          </a:p>
        </p:txBody>
      </p:sp>
      <p:sp>
        <p:nvSpPr>
          <p:cNvPr id="154627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2627FB9-0733-4007-B42D-C74E87CEAAD1}" type="slidenum">
              <a:rPr lang="en-US" smtClean="0"/>
              <a:pPr/>
              <a:t>25</a:t>
            </a:fld>
            <a:endParaRPr lang="en-US" smtClean="0"/>
          </a:p>
        </p:txBody>
      </p:sp>
      <p:sp>
        <p:nvSpPr>
          <p:cNvPr id="155651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0D0B2A8-6D56-4407-A831-0B9296EC0F75}" type="slidenum">
              <a:rPr lang="en-US" smtClean="0"/>
              <a:pPr/>
              <a:t>26</a:t>
            </a:fld>
            <a:endParaRPr lang="en-US" smtClean="0"/>
          </a:p>
        </p:txBody>
      </p:sp>
      <p:sp>
        <p:nvSpPr>
          <p:cNvPr id="15667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01700" y="4330700"/>
            <a:ext cx="5029200" cy="4114800"/>
          </a:xfrm>
          <a:noFill/>
        </p:spPr>
        <p:txBody>
          <a:bodyPr lIns="90480" tIns="44446" rIns="90480" bIns="44446"/>
          <a:lstStyle/>
          <a:p>
            <a:pPr eaLnBrk="1" hangingPunct="1"/>
            <a:endParaRPr lang="en-US" smtClean="0"/>
          </a:p>
        </p:txBody>
      </p:sp>
      <p:sp>
        <p:nvSpPr>
          <p:cNvPr id="156676" name="Rectangle 3"/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2409D7B-A99B-43F1-8F09-E7C1522F636D}" type="slidenum">
              <a:rPr lang="en-US" smtClean="0"/>
              <a:pPr/>
              <a:t>27</a:t>
            </a:fld>
            <a:endParaRPr lang="en-US" smtClean="0"/>
          </a:p>
        </p:txBody>
      </p:sp>
      <p:sp>
        <p:nvSpPr>
          <p:cNvPr id="157699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56DC277-E9EF-42D0-8F5D-8B3E2D6628B8}" type="slidenum">
              <a:rPr lang="en-US" smtClean="0"/>
              <a:pPr/>
              <a:t>28</a:t>
            </a:fld>
            <a:endParaRPr lang="en-US" smtClean="0"/>
          </a:p>
        </p:txBody>
      </p:sp>
      <p:sp>
        <p:nvSpPr>
          <p:cNvPr id="158723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2CE8E36-43C2-4827-98FC-DD1FAE58E64B}" type="slidenum">
              <a:rPr lang="en-US" smtClean="0"/>
              <a:pPr/>
              <a:t>29</a:t>
            </a:fld>
            <a:endParaRPr lang="en-US" smtClean="0"/>
          </a:p>
        </p:txBody>
      </p:sp>
      <p:sp>
        <p:nvSpPr>
          <p:cNvPr id="1597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F576F9F-481A-4803-ABA1-3E6451554262}" type="slidenum">
              <a:rPr lang="en-US" smtClean="0"/>
              <a:pPr/>
              <a:t>30</a:t>
            </a:fld>
            <a:endParaRPr lang="en-US" smtClean="0"/>
          </a:p>
        </p:txBody>
      </p:sp>
      <p:sp>
        <p:nvSpPr>
          <p:cNvPr id="160771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53AF9E9-1C89-4737-9E5B-FE188FCAE580}" type="slidenum">
              <a:rPr lang="en-US" smtClean="0"/>
              <a:pPr/>
              <a:t>31</a:t>
            </a:fld>
            <a:endParaRPr lang="en-US" smtClean="0"/>
          </a:p>
        </p:txBody>
      </p:sp>
      <p:sp>
        <p:nvSpPr>
          <p:cNvPr id="1617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3E812F1-1572-4EFC-9BA5-AB63DFE8B02F}" type="slidenum">
              <a:rPr lang="en-US" smtClean="0"/>
              <a:pPr/>
              <a:t>32</a:t>
            </a:fld>
            <a:endParaRPr lang="en-US" smtClean="0"/>
          </a:p>
        </p:txBody>
      </p:sp>
      <p:sp>
        <p:nvSpPr>
          <p:cNvPr id="1628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3236F06-0B76-4D3F-96B7-ACC34A1692F1}" type="slidenum">
              <a:rPr lang="en-US" smtClean="0"/>
              <a:pPr/>
              <a:t>33</a:t>
            </a:fld>
            <a:endParaRPr lang="en-US" smtClean="0"/>
          </a:p>
        </p:txBody>
      </p:sp>
      <p:sp>
        <p:nvSpPr>
          <p:cNvPr id="1638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87E951F-4FA4-4696-A9C9-E883B0FC33C9}" type="slidenum">
              <a:rPr lang="en-US" smtClean="0"/>
              <a:pPr/>
              <a:t>34</a:t>
            </a:fld>
            <a:endParaRPr lang="en-US" smtClean="0"/>
          </a:p>
        </p:txBody>
      </p:sp>
      <p:sp>
        <p:nvSpPr>
          <p:cNvPr id="1648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D1DD008-9EE1-406C-A418-9D50814063EF}" type="slidenum">
              <a:rPr lang="en-US" smtClean="0"/>
              <a:pPr/>
              <a:t>35</a:t>
            </a:fld>
            <a:endParaRPr lang="en-US" smtClean="0"/>
          </a:p>
        </p:txBody>
      </p:sp>
      <p:sp>
        <p:nvSpPr>
          <p:cNvPr id="165891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8C0F0CA-5853-4F69-821D-D99D8449BD74}" type="slidenum">
              <a:rPr lang="en-US" smtClean="0"/>
              <a:pPr/>
              <a:t>36</a:t>
            </a:fld>
            <a:endParaRPr lang="en-US" smtClean="0"/>
          </a:p>
        </p:txBody>
      </p:sp>
      <p:sp>
        <p:nvSpPr>
          <p:cNvPr id="166915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C9B5394-43BC-483B-B14A-57E3DC9E9493}" type="slidenum">
              <a:rPr lang="en-US" smtClean="0"/>
              <a:pPr/>
              <a:t>37</a:t>
            </a:fld>
            <a:endParaRPr lang="en-US" smtClean="0"/>
          </a:p>
        </p:txBody>
      </p:sp>
      <p:sp>
        <p:nvSpPr>
          <p:cNvPr id="167939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8BA4ABA-3E4D-4912-8A75-F626593D2420}" type="slidenum">
              <a:rPr lang="en-US" smtClean="0"/>
              <a:pPr/>
              <a:t>38</a:t>
            </a:fld>
            <a:endParaRPr lang="en-US" smtClean="0"/>
          </a:p>
        </p:txBody>
      </p:sp>
      <p:sp>
        <p:nvSpPr>
          <p:cNvPr id="168963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6937C96-004B-47EC-B0B9-AD8F6C651706}" type="slidenum">
              <a:rPr lang="en-US" smtClean="0"/>
              <a:pPr/>
              <a:t>39</a:t>
            </a:fld>
            <a:endParaRPr lang="en-US" smtClean="0"/>
          </a:p>
        </p:txBody>
      </p:sp>
      <p:sp>
        <p:nvSpPr>
          <p:cNvPr id="169987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897FD6F-1751-4F54-8D51-71B650BADEA5}" type="slidenum">
              <a:rPr lang="en-US" smtClean="0"/>
              <a:pPr/>
              <a:t>40</a:t>
            </a:fld>
            <a:endParaRPr lang="en-US" smtClean="0"/>
          </a:p>
        </p:txBody>
      </p:sp>
      <p:sp>
        <p:nvSpPr>
          <p:cNvPr id="1710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FE564A9-BBF5-4833-AB10-8F57E27AB88F}" type="slidenum">
              <a:rPr lang="en-US" smtClean="0"/>
              <a:pPr/>
              <a:t>41</a:t>
            </a:fld>
            <a:endParaRPr lang="en-US" smtClean="0"/>
          </a:p>
        </p:txBody>
      </p:sp>
      <p:sp>
        <p:nvSpPr>
          <p:cNvPr id="1720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FABD677-CC82-4FAA-B355-D1989DE85A8E}" type="slidenum">
              <a:rPr lang="en-US" smtClean="0"/>
              <a:pPr/>
              <a:t>42</a:t>
            </a:fld>
            <a:endParaRPr lang="en-US" smtClean="0"/>
          </a:p>
        </p:txBody>
      </p:sp>
      <p:sp>
        <p:nvSpPr>
          <p:cNvPr id="1730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5229CDC-078D-4564-B465-BCEFB470E0C9}" type="slidenum">
              <a:rPr lang="en-US" smtClean="0"/>
              <a:pPr/>
              <a:t>43</a:t>
            </a:fld>
            <a:endParaRPr lang="en-US" smtClean="0"/>
          </a:p>
        </p:txBody>
      </p:sp>
      <p:sp>
        <p:nvSpPr>
          <p:cNvPr id="174083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0ACFB32-4F2F-472D-ABB1-8C7482F836A0}" type="slidenum">
              <a:rPr lang="en-US" smtClean="0"/>
              <a:pPr/>
              <a:t>44</a:t>
            </a:fld>
            <a:endParaRPr lang="en-US" smtClean="0"/>
          </a:p>
        </p:txBody>
      </p:sp>
      <p:sp>
        <p:nvSpPr>
          <p:cNvPr id="175107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34C62A8-34AB-4188-9B4B-45FA6B3E3687}" type="slidenum">
              <a:rPr lang="en-US" smtClean="0"/>
              <a:pPr/>
              <a:t>45</a:t>
            </a:fld>
            <a:endParaRPr lang="en-US" smtClean="0"/>
          </a:p>
        </p:txBody>
      </p:sp>
      <p:sp>
        <p:nvSpPr>
          <p:cNvPr id="176131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0B2DAFD-93BA-46D8-943F-C500FEF3679D}" type="slidenum">
              <a:rPr lang="en-US" smtClean="0"/>
              <a:pPr/>
              <a:t>46</a:t>
            </a:fld>
            <a:endParaRPr lang="en-US" smtClean="0"/>
          </a:p>
        </p:txBody>
      </p:sp>
      <p:sp>
        <p:nvSpPr>
          <p:cNvPr id="1771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BAC84AC-F8F7-4CD8-9F78-4F04E57E43B2}" type="slidenum">
              <a:rPr lang="en-US" smtClean="0"/>
              <a:pPr/>
              <a:t>47</a:t>
            </a:fld>
            <a:endParaRPr lang="en-US" smtClean="0"/>
          </a:p>
        </p:txBody>
      </p:sp>
      <p:sp>
        <p:nvSpPr>
          <p:cNvPr id="1781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5B1D371-F915-474D-97B1-C5300115DDDC}" type="slidenum">
              <a:rPr lang="en-US" smtClean="0"/>
              <a:pPr/>
              <a:t>48</a:t>
            </a:fld>
            <a:endParaRPr lang="en-US" smtClean="0"/>
          </a:p>
        </p:txBody>
      </p:sp>
      <p:sp>
        <p:nvSpPr>
          <p:cNvPr id="179203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79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E0F934C-0BEC-4166-B051-61F263D850CC}" type="slidenum">
              <a:rPr lang="en-US" smtClean="0"/>
              <a:pPr/>
              <a:t>49</a:t>
            </a:fld>
            <a:endParaRPr lang="en-US" smtClean="0"/>
          </a:p>
        </p:txBody>
      </p:sp>
      <p:sp>
        <p:nvSpPr>
          <p:cNvPr id="180227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4A10C6A-8976-443C-9791-69E9DAA970DE}" type="slidenum">
              <a:rPr lang="en-US" smtClean="0"/>
              <a:pPr/>
              <a:t>50</a:t>
            </a:fld>
            <a:endParaRPr lang="en-US" smtClean="0"/>
          </a:p>
        </p:txBody>
      </p:sp>
      <p:sp>
        <p:nvSpPr>
          <p:cNvPr id="18125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A155451-8C26-49EC-8195-645F70590E33}" type="slidenum">
              <a:rPr lang="en-US" smtClean="0"/>
              <a:pPr/>
              <a:t>51</a:t>
            </a:fld>
            <a:endParaRPr lang="en-US" smtClean="0"/>
          </a:p>
        </p:txBody>
      </p:sp>
      <p:sp>
        <p:nvSpPr>
          <p:cNvPr id="1822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55FE5B4-5419-4C1E-9C88-EE39C5A69556}" type="slidenum">
              <a:rPr lang="en-US" smtClean="0"/>
              <a:pPr/>
              <a:t>52</a:t>
            </a:fld>
            <a:endParaRPr lang="en-US" smtClean="0"/>
          </a:p>
        </p:txBody>
      </p:sp>
      <p:sp>
        <p:nvSpPr>
          <p:cNvPr id="1832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B06B66E-246E-4705-A568-0DD5F6D2BAC0}" type="slidenum">
              <a:rPr lang="en-US" smtClean="0"/>
              <a:pPr/>
              <a:t>53</a:t>
            </a:fld>
            <a:endParaRPr lang="en-US" smtClean="0"/>
          </a:p>
        </p:txBody>
      </p:sp>
      <p:sp>
        <p:nvSpPr>
          <p:cNvPr id="1843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C7A89AD-C051-4440-97F6-A7D79F9D290A}" type="slidenum">
              <a:rPr lang="en-US" smtClean="0"/>
              <a:pPr/>
              <a:t>54</a:t>
            </a:fld>
            <a:endParaRPr lang="en-US" smtClean="0"/>
          </a:p>
        </p:txBody>
      </p:sp>
      <p:sp>
        <p:nvSpPr>
          <p:cNvPr id="1853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AAA0FDE-C555-4F33-BE9B-438CB305753F}" type="slidenum">
              <a:rPr lang="en-US" smtClean="0"/>
              <a:pPr/>
              <a:t>55</a:t>
            </a:fld>
            <a:endParaRPr lang="en-US" smtClean="0"/>
          </a:p>
        </p:txBody>
      </p:sp>
      <p:sp>
        <p:nvSpPr>
          <p:cNvPr id="1863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F87D315-EE6C-4423-B7BE-795CA6BBBC60}" type="slidenum">
              <a:rPr lang="en-US" smtClean="0"/>
              <a:pPr/>
              <a:t>56</a:t>
            </a:fld>
            <a:endParaRPr lang="en-US" smtClean="0"/>
          </a:p>
        </p:txBody>
      </p:sp>
      <p:sp>
        <p:nvSpPr>
          <p:cNvPr id="1873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A11E01C-7848-4E08-A009-CDF33D8B5CC2}" type="slidenum">
              <a:rPr lang="en-US" smtClean="0"/>
              <a:pPr/>
              <a:t>57</a:t>
            </a:fld>
            <a:endParaRPr lang="en-US" smtClean="0"/>
          </a:p>
        </p:txBody>
      </p:sp>
      <p:sp>
        <p:nvSpPr>
          <p:cNvPr id="1884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BEF3E28-4226-4563-BBC3-B2A3311EB664}" type="slidenum">
              <a:rPr lang="en-US" smtClean="0"/>
              <a:pPr/>
              <a:t>58</a:t>
            </a:fld>
            <a:endParaRPr lang="en-US" smtClean="0"/>
          </a:p>
        </p:txBody>
      </p:sp>
      <p:sp>
        <p:nvSpPr>
          <p:cNvPr id="1894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B210199-6A1B-49DB-96A2-7C033C755ECA}" type="slidenum">
              <a:rPr lang="en-US" smtClean="0"/>
              <a:pPr/>
              <a:t>59</a:t>
            </a:fld>
            <a:endParaRPr lang="en-US" smtClean="0"/>
          </a:p>
        </p:txBody>
      </p:sp>
      <p:sp>
        <p:nvSpPr>
          <p:cNvPr id="1904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0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B32AD51-41AA-49F9-BC75-AA7308C83CF9}" type="slidenum">
              <a:rPr lang="en-US" smtClean="0"/>
              <a:pPr/>
              <a:t>60</a:t>
            </a:fld>
            <a:endParaRPr lang="en-US" smtClean="0"/>
          </a:p>
        </p:txBody>
      </p:sp>
      <p:sp>
        <p:nvSpPr>
          <p:cNvPr id="1914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4850476-C1BC-4195-819C-7C806D96B1AB}" type="slidenum">
              <a:rPr lang="en-US" smtClean="0"/>
              <a:pPr/>
              <a:t>61</a:t>
            </a:fld>
            <a:endParaRPr lang="en-US" smtClean="0"/>
          </a:p>
        </p:txBody>
      </p:sp>
      <p:sp>
        <p:nvSpPr>
          <p:cNvPr id="1925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2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8DC4F11-5F90-420C-8CFF-1851ED961CB7}" type="slidenum">
              <a:rPr lang="en-US" smtClean="0"/>
              <a:pPr/>
              <a:t>62</a:t>
            </a:fld>
            <a:endParaRPr lang="en-US" smtClean="0"/>
          </a:p>
        </p:txBody>
      </p:sp>
      <p:sp>
        <p:nvSpPr>
          <p:cNvPr id="1935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6DDE4FE-5539-4347-B597-704AF58A99EE}" type="slidenum">
              <a:rPr lang="en-US" smtClean="0"/>
              <a:pPr/>
              <a:t>63</a:t>
            </a:fld>
            <a:endParaRPr lang="en-US" smtClean="0"/>
          </a:p>
        </p:txBody>
      </p:sp>
      <p:sp>
        <p:nvSpPr>
          <p:cNvPr id="1945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A759392-15E4-4125-A76C-D94C6ECFCABC}" type="slidenum">
              <a:rPr lang="en-US" smtClean="0"/>
              <a:pPr/>
              <a:t>64</a:t>
            </a:fld>
            <a:endParaRPr lang="en-US" smtClean="0"/>
          </a:p>
        </p:txBody>
      </p:sp>
      <p:sp>
        <p:nvSpPr>
          <p:cNvPr id="1955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C78FD3E-3073-4537-B1A7-38E025287224}" type="slidenum">
              <a:rPr lang="en-US" smtClean="0"/>
              <a:pPr/>
              <a:t>65</a:t>
            </a:fld>
            <a:endParaRPr lang="en-US" smtClean="0"/>
          </a:p>
        </p:txBody>
      </p:sp>
      <p:sp>
        <p:nvSpPr>
          <p:cNvPr id="1966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6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B6F82A5-FD2D-4036-8DFA-176EF36A3273}" type="slidenum">
              <a:rPr lang="en-US" smtClean="0"/>
              <a:pPr/>
              <a:t>66</a:t>
            </a:fld>
            <a:endParaRPr lang="en-US" smtClean="0"/>
          </a:p>
        </p:txBody>
      </p:sp>
      <p:sp>
        <p:nvSpPr>
          <p:cNvPr id="1976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884CDC-4116-4BA6-A3CD-E75E5AF29425}" type="slidenum">
              <a:rPr lang="en-US" smtClean="0"/>
              <a:pPr/>
              <a:t>67</a:t>
            </a:fld>
            <a:endParaRPr lang="en-US" smtClean="0"/>
          </a:p>
        </p:txBody>
      </p:sp>
      <p:sp>
        <p:nvSpPr>
          <p:cNvPr id="1986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8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1440A4E-0114-4841-935B-F3BCA2973007}" type="slidenum">
              <a:rPr lang="en-US" smtClean="0"/>
              <a:pPr/>
              <a:t>68</a:t>
            </a:fld>
            <a:endParaRPr lang="en-US" smtClean="0"/>
          </a:p>
        </p:txBody>
      </p:sp>
      <p:sp>
        <p:nvSpPr>
          <p:cNvPr id="1996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0E39322-C5D0-444E-B9A4-6844C8DAD7F0}" type="slidenum">
              <a:rPr lang="en-US" smtClean="0"/>
              <a:pPr/>
              <a:t>69</a:t>
            </a:fld>
            <a:endParaRPr lang="en-US" smtClean="0"/>
          </a:p>
        </p:txBody>
      </p:sp>
      <p:sp>
        <p:nvSpPr>
          <p:cNvPr id="2007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8EAECC4-6F71-453E-8D79-FC6F9D2F7979}" type="slidenum">
              <a:rPr lang="en-US" smtClean="0"/>
              <a:pPr/>
              <a:t>70</a:t>
            </a:fld>
            <a:endParaRPr lang="en-US" smtClean="0"/>
          </a:p>
        </p:txBody>
      </p:sp>
      <p:sp>
        <p:nvSpPr>
          <p:cNvPr id="2017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2C1AF6E-37D1-4E73-B087-BCEA3243B5E9}" type="slidenum">
              <a:rPr lang="en-US" smtClean="0"/>
              <a:pPr/>
              <a:t>71</a:t>
            </a:fld>
            <a:endParaRPr lang="en-US" smtClean="0"/>
          </a:p>
        </p:txBody>
      </p:sp>
      <p:sp>
        <p:nvSpPr>
          <p:cNvPr id="2027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B56D64E-05CC-4CD5-BA7B-C9FFE1260F96}" type="slidenum">
              <a:rPr lang="en-US" smtClean="0"/>
              <a:pPr/>
              <a:t>72</a:t>
            </a:fld>
            <a:endParaRPr lang="en-US" smtClean="0"/>
          </a:p>
        </p:txBody>
      </p:sp>
      <p:sp>
        <p:nvSpPr>
          <p:cNvPr id="2037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2D3B320-A979-414E-90AC-DB5F69207695}" type="slidenum">
              <a:rPr lang="en-US" smtClean="0"/>
              <a:pPr/>
              <a:t>73</a:t>
            </a:fld>
            <a:endParaRPr lang="en-US" smtClean="0"/>
          </a:p>
        </p:txBody>
      </p:sp>
      <p:sp>
        <p:nvSpPr>
          <p:cNvPr id="2048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D1C30C2-BB9C-47B6-B20A-FF5EE875B73C}" type="slidenum">
              <a:rPr lang="en-US" smtClean="0"/>
              <a:pPr/>
              <a:t>74</a:t>
            </a:fld>
            <a:endParaRPr lang="en-US" smtClean="0"/>
          </a:p>
        </p:txBody>
      </p:sp>
      <p:sp>
        <p:nvSpPr>
          <p:cNvPr id="20582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19E5959-A7DF-4DE4-BBC1-8958FB8309B7}" type="slidenum">
              <a:rPr lang="en-US" smtClean="0"/>
              <a:pPr/>
              <a:t>75</a:t>
            </a:fld>
            <a:endParaRPr lang="en-US" smtClean="0"/>
          </a:p>
        </p:txBody>
      </p:sp>
      <p:sp>
        <p:nvSpPr>
          <p:cNvPr id="20685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03621B8-CE24-490C-B13B-DEEBCA87284B}" type="slidenum">
              <a:rPr lang="en-US" smtClean="0"/>
              <a:pPr/>
              <a:t>76</a:t>
            </a:fld>
            <a:endParaRPr lang="en-US" smtClean="0"/>
          </a:p>
        </p:txBody>
      </p:sp>
      <p:sp>
        <p:nvSpPr>
          <p:cNvPr id="2078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06D0FA1-8A43-4CD4-B2D6-33BC719DEF36}" type="slidenum">
              <a:rPr lang="en-US" smtClean="0"/>
              <a:pPr/>
              <a:t>77</a:t>
            </a:fld>
            <a:endParaRPr lang="en-US" smtClean="0"/>
          </a:p>
        </p:txBody>
      </p:sp>
      <p:sp>
        <p:nvSpPr>
          <p:cNvPr id="2088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9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44EADB4-E37C-4487-9A33-8EB50F9C1134}" type="slidenum">
              <a:rPr lang="en-US" smtClean="0"/>
              <a:pPr/>
              <a:t>78</a:t>
            </a:fld>
            <a:endParaRPr lang="en-US" smtClean="0"/>
          </a:p>
        </p:txBody>
      </p:sp>
      <p:sp>
        <p:nvSpPr>
          <p:cNvPr id="2099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3EEEF8E-3DA9-40E8-9CC1-AD1F1F456B23}" type="slidenum">
              <a:rPr lang="en-US" smtClean="0"/>
              <a:pPr/>
              <a:t>79</a:t>
            </a:fld>
            <a:endParaRPr lang="en-US" smtClean="0"/>
          </a:p>
        </p:txBody>
      </p:sp>
      <p:sp>
        <p:nvSpPr>
          <p:cNvPr id="2109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09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2218BAC-4945-44C6-B346-5907A9CEE225}" type="slidenum">
              <a:rPr lang="en-US" smtClean="0"/>
              <a:pPr/>
              <a:t>80</a:t>
            </a:fld>
            <a:endParaRPr lang="en-US" smtClean="0"/>
          </a:p>
        </p:txBody>
      </p:sp>
      <p:sp>
        <p:nvSpPr>
          <p:cNvPr id="211971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11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6BA35CE-7BCA-44D2-80CA-BB27CFD32B5D}" type="slidenum">
              <a:rPr lang="en-US" smtClean="0"/>
              <a:pPr/>
              <a:t>81</a:t>
            </a:fld>
            <a:endParaRPr lang="en-US" smtClean="0"/>
          </a:p>
        </p:txBody>
      </p:sp>
      <p:sp>
        <p:nvSpPr>
          <p:cNvPr id="2129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80F9986-3AC8-4580-A065-F52D9A0797FA}" type="slidenum">
              <a:rPr lang="en-US" smtClean="0"/>
              <a:pPr/>
              <a:t>82</a:t>
            </a:fld>
            <a:endParaRPr lang="en-US" smtClean="0"/>
          </a:p>
        </p:txBody>
      </p:sp>
      <p:sp>
        <p:nvSpPr>
          <p:cNvPr id="2140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7917675-ED40-49E1-AC6A-30DB4433986F}" type="slidenum">
              <a:rPr lang="en-US" smtClean="0"/>
              <a:pPr/>
              <a:t>83</a:t>
            </a:fld>
            <a:endParaRPr lang="en-US" smtClean="0"/>
          </a:p>
        </p:txBody>
      </p:sp>
      <p:sp>
        <p:nvSpPr>
          <p:cNvPr id="2150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895A545-3118-464C-A73C-3459CF1FB92A}" type="slidenum">
              <a:rPr lang="en-US" smtClean="0"/>
              <a:pPr/>
              <a:t>84</a:t>
            </a:fld>
            <a:endParaRPr lang="en-US" smtClean="0"/>
          </a:p>
        </p:txBody>
      </p:sp>
      <p:sp>
        <p:nvSpPr>
          <p:cNvPr id="216067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16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A0545DD-0D40-49AA-8995-E34B512526EA}" type="slidenum">
              <a:rPr lang="en-US" smtClean="0"/>
              <a:pPr/>
              <a:t>85</a:t>
            </a:fld>
            <a:endParaRPr lang="en-US" smtClean="0"/>
          </a:p>
        </p:txBody>
      </p:sp>
      <p:sp>
        <p:nvSpPr>
          <p:cNvPr id="21709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52525" y="696913"/>
            <a:ext cx="4551363" cy="3413125"/>
          </a:xfrm>
          <a:ln w="12700">
            <a:solidFill>
              <a:schemeClr val="tx1"/>
            </a:solidFill>
          </a:ln>
        </p:spPr>
      </p:sp>
      <p:sp>
        <p:nvSpPr>
          <p:cNvPr id="2170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4338638"/>
            <a:ext cx="4597400" cy="4117975"/>
          </a:xfrm>
          <a:noFill/>
        </p:spPr>
        <p:txBody>
          <a:bodyPr lIns="86475" tIns="41692" rIns="86475" bIns="41692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AF95FC2-D192-4F01-92FE-91D26F9C87A3}" type="slidenum">
              <a:rPr lang="en-US" smtClean="0"/>
              <a:pPr/>
              <a:t>86</a:t>
            </a:fld>
            <a:endParaRPr lang="en-US" smtClean="0"/>
          </a:p>
        </p:txBody>
      </p:sp>
      <p:sp>
        <p:nvSpPr>
          <p:cNvPr id="2181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CE2909F-F788-4ABD-A0A9-2B53EB4AF882}" type="slidenum">
              <a:rPr lang="en-US" smtClean="0"/>
              <a:pPr/>
              <a:t>87</a:t>
            </a:fld>
            <a:endParaRPr lang="en-US" smtClean="0"/>
          </a:p>
        </p:txBody>
      </p:sp>
      <p:sp>
        <p:nvSpPr>
          <p:cNvPr id="2191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2223C69-A68B-4DE9-ACFC-71D804419C00}" type="slidenum">
              <a:rPr lang="en-US" smtClean="0"/>
              <a:pPr/>
              <a:t>88</a:t>
            </a:fld>
            <a:endParaRPr lang="en-US" smtClean="0"/>
          </a:p>
        </p:txBody>
      </p:sp>
      <p:sp>
        <p:nvSpPr>
          <p:cNvPr id="220163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201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E4BF039-3346-43EA-9B56-F032FAA938A6}" type="slidenum">
              <a:rPr lang="en-US" smtClean="0"/>
              <a:pPr/>
              <a:t>89</a:t>
            </a:fld>
            <a:endParaRPr lang="en-US" smtClean="0"/>
          </a:p>
        </p:txBody>
      </p:sp>
      <p:sp>
        <p:nvSpPr>
          <p:cNvPr id="2211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A0690D3-E35D-48E8-A871-5B0321DEC30A}" type="slidenum">
              <a:rPr lang="en-US" smtClean="0"/>
              <a:pPr/>
              <a:t>90</a:t>
            </a:fld>
            <a:endParaRPr lang="en-US" smtClean="0"/>
          </a:p>
        </p:txBody>
      </p:sp>
      <p:sp>
        <p:nvSpPr>
          <p:cNvPr id="2222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DE0E919-FF69-4BCD-B65D-8C8DBA8F13E6}" type="slidenum">
              <a:rPr lang="en-US" smtClean="0"/>
              <a:pPr/>
              <a:t>91</a:t>
            </a:fld>
            <a:endParaRPr lang="en-US" smtClean="0"/>
          </a:p>
        </p:txBody>
      </p:sp>
      <p:sp>
        <p:nvSpPr>
          <p:cNvPr id="2232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32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64D0F2B-19EA-4058-82C6-F55CE407CDF8}" type="slidenum">
              <a:rPr lang="en-US" smtClean="0"/>
              <a:pPr/>
              <a:t>92</a:t>
            </a:fld>
            <a:endParaRPr lang="en-US" smtClean="0"/>
          </a:p>
        </p:txBody>
      </p:sp>
      <p:sp>
        <p:nvSpPr>
          <p:cNvPr id="2242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7249C24-9301-4C03-8E1B-443B48D29056}" type="slidenum">
              <a:rPr lang="en-US" smtClean="0"/>
              <a:pPr/>
              <a:t>93</a:t>
            </a:fld>
            <a:endParaRPr lang="en-US" smtClean="0"/>
          </a:p>
        </p:txBody>
      </p:sp>
      <p:sp>
        <p:nvSpPr>
          <p:cNvPr id="225283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252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8BC3BCB-7C06-4640-8776-D40336A55842}" type="slidenum">
              <a:rPr lang="en-US" smtClean="0"/>
              <a:pPr/>
              <a:t>94</a:t>
            </a:fld>
            <a:endParaRPr lang="en-US" smtClean="0"/>
          </a:p>
        </p:txBody>
      </p:sp>
      <p:sp>
        <p:nvSpPr>
          <p:cNvPr id="226307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26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8CECB98-F109-4992-843E-5D9FB70298C5}" type="slidenum">
              <a:rPr lang="en-US" smtClean="0"/>
              <a:pPr/>
              <a:t>95</a:t>
            </a:fld>
            <a:endParaRPr lang="en-US" smtClean="0"/>
          </a:p>
        </p:txBody>
      </p:sp>
      <p:sp>
        <p:nvSpPr>
          <p:cNvPr id="227331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27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3DD05CB-AE19-4BB1-9B37-F863174B4DE8}" type="slidenum">
              <a:rPr lang="en-US" smtClean="0"/>
              <a:pPr/>
              <a:t>96</a:t>
            </a:fld>
            <a:endParaRPr lang="en-US" smtClean="0"/>
          </a:p>
        </p:txBody>
      </p:sp>
      <p:sp>
        <p:nvSpPr>
          <p:cNvPr id="2283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88B9AA9-3C42-47D9-9C6C-C7C371B4B6D3}" type="slidenum">
              <a:rPr lang="en-US" smtClean="0"/>
              <a:pPr/>
              <a:t>97</a:t>
            </a:fld>
            <a:endParaRPr lang="en-US" smtClean="0"/>
          </a:p>
        </p:txBody>
      </p:sp>
      <p:sp>
        <p:nvSpPr>
          <p:cNvPr id="2293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93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5DE97D5-8998-4641-9E84-125F5756997D}" type="slidenum">
              <a:rPr lang="en-US" smtClean="0"/>
              <a:pPr/>
              <a:t>98</a:t>
            </a:fld>
            <a:endParaRPr lang="en-US" smtClean="0"/>
          </a:p>
        </p:txBody>
      </p:sp>
      <p:sp>
        <p:nvSpPr>
          <p:cNvPr id="230403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2304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0B78509-67FC-455A-9717-1476A91A3DA5}" type="slidenum">
              <a:rPr lang="en-US" smtClean="0"/>
              <a:pPr/>
              <a:t>99</a:t>
            </a:fld>
            <a:endParaRPr lang="en-US" smtClean="0"/>
          </a:p>
        </p:txBody>
      </p:sp>
      <p:sp>
        <p:nvSpPr>
          <p:cNvPr id="23142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6B46256-1115-43D3-864A-3F034E751B8F}" type="slidenum">
              <a:rPr lang="en-US" smtClean="0"/>
              <a:pPr/>
              <a:t>100</a:t>
            </a:fld>
            <a:endParaRPr lang="en-US" smtClean="0"/>
          </a:p>
        </p:txBody>
      </p:sp>
      <p:sp>
        <p:nvSpPr>
          <p:cNvPr id="23245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A468B6F-1B04-4B4A-AB80-8D7DA0BD3046}" type="slidenum">
              <a:rPr lang="en-US" smtClean="0"/>
              <a:pPr/>
              <a:t>101</a:t>
            </a:fld>
            <a:endParaRPr lang="en-US" smtClean="0"/>
          </a:p>
        </p:txBody>
      </p:sp>
      <p:sp>
        <p:nvSpPr>
          <p:cNvPr id="2334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34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D076034-88AD-440B-8CD2-ECFF0BB37EAB}" type="slidenum">
              <a:rPr lang="en-US" smtClean="0"/>
              <a:pPr/>
              <a:t>102</a:t>
            </a:fld>
            <a:endParaRPr lang="en-US" smtClean="0"/>
          </a:p>
        </p:txBody>
      </p:sp>
      <p:sp>
        <p:nvSpPr>
          <p:cNvPr id="2344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5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716B39A-510E-427C-9D79-48CB8045800F}" type="slidenum">
              <a:rPr lang="en-US" smtClean="0"/>
              <a:pPr/>
              <a:t>103</a:t>
            </a:fld>
            <a:endParaRPr lang="en-US" smtClean="0"/>
          </a:p>
        </p:txBody>
      </p:sp>
      <p:sp>
        <p:nvSpPr>
          <p:cNvPr id="2355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FCF426C-EA61-4634-88CD-A7F8FCA4A1AD}" type="slidenum">
              <a:rPr lang="en-US" smtClean="0"/>
              <a:pPr/>
              <a:t>104</a:t>
            </a:fld>
            <a:endParaRPr lang="en-US" smtClean="0"/>
          </a:p>
        </p:txBody>
      </p:sp>
      <p:sp>
        <p:nvSpPr>
          <p:cNvPr id="236547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2365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baseline="-25000" smtClean="0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C0FF7F7-6920-4621-B177-4E4F7CEB80D4}" type="slidenum">
              <a:rPr lang="en-US" smtClean="0"/>
              <a:pPr/>
              <a:t>105</a:t>
            </a:fld>
            <a:endParaRPr lang="en-US" smtClean="0"/>
          </a:p>
        </p:txBody>
      </p:sp>
      <p:sp>
        <p:nvSpPr>
          <p:cNvPr id="2375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75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3F7DB7E-C990-4968-8305-75DF150583C6}" type="slidenum">
              <a:rPr lang="en-US" smtClean="0"/>
              <a:pPr/>
              <a:t>106</a:t>
            </a:fld>
            <a:endParaRPr lang="en-US" smtClean="0"/>
          </a:p>
        </p:txBody>
      </p:sp>
      <p:sp>
        <p:nvSpPr>
          <p:cNvPr id="238595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385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82F0F23-32B7-4B72-B21D-AAC37063F945}" type="slidenum">
              <a:rPr lang="en-US" smtClean="0"/>
              <a:pPr/>
              <a:t>107</a:t>
            </a:fld>
            <a:endParaRPr lang="en-US" smtClean="0"/>
          </a:p>
        </p:txBody>
      </p:sp>
      <p:sp>
        <p:nvSpPr>
          <p:cNvPr id="239619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396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C78A923-1E36-4925-B465-9946CE957D95}" type="slidenum">
              <a:rPr lang="en-US" smtClean="0"/>
              <a:pPr/>
              <a:t>108</a:t>
            </a:fld>
            <a:endParaRPr lang="en-US" smtClean="0"/>
          </a:p>
        </p:txBody>
      </p:sp>
      <p:sp>
        <p:nvSpPr>
          <p:cNvPr id="2406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06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C091B1A-6284-4A1B-816C-3F94CEFD155C}" type="slidenum">
              <a:rPr lang="en-US" smtClean="0"/>
              <a:pPr/>
              <a:t>109</a:t>
            </a:fld>
            <a:endParaRPr lang="en-US" smtClean="0"/>
          </a:p>
        </p:txBody>
      </p:sp>
      <p:sp>
        <p:nvSpPr>
          <p:cNvPr id="241667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416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A45A22F-C585-401B-AB34-7A7E6E705051}" type="slidenum">
              <a:rPr lang="en-US" smtClean="0"/>
              <a:pPr/>
              <a:t>110</a:t>
            </a:fld>
            <a:endParaRPr lang="en-US" smtClean="0"/>
          </a:p>
        </p:txBody>
      </p:sp>
      <p:sp>
        <p:nvSpPr>
          <p:cNvPr id="2426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6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48E45C1-486A-4F75-A88F-716CAFA402F4}" type="slidenum">
              <a:rPr lang="en-US" smtClean="0"/>
              <a:pPr/>
              <a:t>111</a:t>
            </a:fld>
            <a:endParaRPr lang="en-US" smtClean="0"/>
          </a:p>
        </p:txBody>
      </p:sp>
      <p:sp>
        <p:nvSpPr>
          <p:cNvPr id="243715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2437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4343400"/>
            <a:ext cx="5026025" cy="4116388"/>
          </a:xfrm>
          <a:noFill/>
        </p:spPr>
        <p:txBody>
          <a:bodyPr lIns="90383" tIns="45191" rIns="90383" bIns="45191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4D85F65-E852-43B1-AA98-E567B67304CA}" type="slidenum">
              <a:rPr lang="en-US" smtClean="0"/>
              <a:pPr/>
              <a:t>112</a:t>
            </a:fld>
            <a:endParaRPr lang="en-US" smtClean="0"/>
          </a:p>
        </p:txBody>
      </p:sp>
      <p:sp>
        <p:nvSpPr>
          <p:cNvPr id="244739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447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A357D5B-659D-4A3E-AF7E-339C83055AA9}" type="slidenum">
              <a:rPr lang="en-US" smtClean="0"/>
              <a:pPr/>
              <a:t>113</a:t>
            </a:fld>
            <a:endParaRPr lang="en-US" smtClean="0"/>
          </a:p>
        </p:txBody>
      </p:sp>
      <p:sp>
        <p:nvSpPr>
          <p:cNvPr id="245763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457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03C2F3C-E7E6-448F-9B4A-50A0CD83FAC5}" type="slidenum">
              <a:rPr lang="en-US" smtClean="0"/>
              <a:pPr/>
              <a:t>114</a:t>
            </a:fld>
            <a:endParaRPr lang="en-US" smtClean="0"/>
          </a:p>
        </p:txBody>
      </p:sp>
      <p:sp>
        <p:nvSpPr>
          <p:cNvPr id="246787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467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D587DCB-1703-427A-9CFB-292309682648}" type="slidenum">
              <a:rPr lang="en-US" smtClean="0"/>
              <a:pPr/>
              <a:t>115</a:t>
            </a:fld>
            <a:endParaRPr lang="en-US" smtClean="0"/>
          </a:p>
        </p:txBody>
      </p:sp>
      <p:sp>
        <p:nvSpPr>
          <p:cNvPr id="247811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478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692C2A0-D219-4BB1-B83D-6D058E3BAC1A}" type="slidenum">
              <a:rPr lang="en-US" smtClean="0"/>
              <a:pPr/>
              <a:t>116</a:t>
            </a:fld>
            <a:endParaRPr lang="en-US" smtClean="0"/>
          </a:p>
        </p:txBody>
      </p:sp>
      <p:sp>
        <p:nvSpPr>
          <p:cNvPr id="248835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2488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A72A69B5-6218-4D1D-B5F0-907933E58CF6}" type="slidenum">
              <a:rPr lang="en-US" smtClean="0"/>
              <a:pPr/>
              <a:t>117</a:t>
            </a:fld>
            <a:endParaRPr lang="en-US" smtClean="0"/>
          </a:p>
        </p:txBody>
      </p:sp>
      <p:sp>
        <p:nvSpPr>
          <p:cNvPr id="249859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498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ED4AFEF-9A07-4A1F-BA83-0E2A77A6DB9B}" type="slidenum">
              <a:rPr lang="en-US" smtClean="0"/>
              <a:pPr/>
              <a:t>118</a:t>
            </a:fld>
            <a:endParaRPr lang="en-US" smtClean="0"/>
          </a:p>
        </p:txBody>
      </p:sp>
      <p:sp>
        <p:nvSpPr>
          <p:cNvPr id="250883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508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425249F-FDAD-4330-8DD1-BE4F683EAC4E}" type="slidenum">
              <a:rPr lang="en-US" smtClean="0"/>
              <a:pPr/>
              <a:t>119</a:t>
            </a:fld>
            <a:endParaRPr lang="en-US" smtClean="0"/>
          </a:p>
        </p:txBody>
      </p:sp>
      <p:sp>
        <p:nvSpPr>
          <p:cNvPr id="251907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51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F930392-7DE2-43DB-AFAD-4711B27A010D}" type="slidenum">
              <a:rPr lang="en-US" smtClean="0"/>
              <a:pPr/>
              <a:t>120</a:t>
            </a:fld>
            <a:endParaRPr lang="en-US" smtClean="0"/>
          </a:p>
        </p:txBody>
      </p:sp>
      <p:sp>
        <p:nvSpPr>
          <p:cNvPr id="252931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529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2B557EB-155C-4E50-82ED-FA3525668A0C}" type="slidenum">
              <a:rPr lang="en-US" smtClean="0"/>
              <a:pPr/>
              <a:t>121</a:t>
            </a:fld>
            <a:endParaRPr lang="en-US" smtClean="0"/>
          </a:p>
        </p:txBody>
      </p:sp>
      <p:sp>
        <p:nvSpPr>
          <p:cNvPr id="2539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39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14C4DC3-8E32-4B9E-A1E6-974CD8406ED1}" type="slidenum">
              <a:rPr lang="en-US" smtClean="0"/>
              <a:pPr/>
              <a:t>122</a:t>
            </a:fld>
            <a:endParaRPr lang="en-US" smtClean="0"/>
          </a:p>
        </p:txBody>
      </p:sp>
      <p:sp>
        <p:nvSpPr>
          <p:cNvPr id="2549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4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11925BB-FA87-4F55-A6B0-6529A402F4FB}" type="slidenum">
              <a:rPr lang="en-US" smtClean="0"/>
              <a:pPr/>
              <a:t>123</a:t>
            </a:fld>
            <a:endParaRPr lang="en-US" smtClean="0"/>
          </a:p>
        </p:txBody>
      </p:sp>
      <p:sp>
        <p:nvSpPr>
          <p:cNvPr id="25600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52525" y="696913"/>
            <a:ext cx="4551363" cy="3413125"/>
          </a:xfrm>
          <a:ln w="12700">
            <a:solidFill>
              <a:schemeClr val="tx1"/>
            </a:solidFill>
          </a:ln>
        </p:spPr>
      </p:sp>
      <p:sp>
        <p:nvSpPr>
          <p:cNvPr id="2560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4338638"/>
            <a:ext cx="4597400" cy="4117975"/>
          </a:xfrm>
          <a:noFill/>
        </p:spPr>
        <p:txBody>
          <a:bodyPr lIns="86475" tIns="41692" rIns="86475" bIns="41692"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E14B760-3F47-49F2-89AA-6B9B793147C2}" type="slidenum">
              <a:rPr lang="en-US" smtClean="0"/>
              <a:pPr/>
              <a:t>124</a:t>
            </a:fld>
            <a:endParaRPr lang="en-US" smtClean="0"/>
          </a:p>
        </p:txBody>
      </p:sp>
      <p:sp>
        <p:nvSpPr>
          <p:cNvPr id="25702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70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C217F29-C782-4B82-ADBD-A09D3B719297}" type="slidenum">
              <a:rPr lang="en-US" smtClean="0"/>
              <a:pPr/>
              <a:t>125</a:t>
            </a:fld>
            <a:endParaRPr lang="en-US" smtClean="0"/>
          </a:p>
        </p:txBody>
      </p:sp>
      <p:sp>
        <p:nvSpPr>
          <p:cNvPr id="258051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2580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1D0DF78-32BC-497E-9D1D-3396A4360BDA}" type="slidenum">
              <a:rPr lang="en-US" smtClean="0"/>
              <a:pPr/>
              <a:t>126</a:t>
            </a:fld>
            <a:endParaRPr lang="en-US" smtClean="0"/>
          </a:p>
        </p:txBody>
      </p:sp>
      <p:sp>
        <p:nvSpPr>
          <p:cNvPr id="2590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90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2F3AB0E-03DA-492C-898E-EA06F5D77049}" type="slidenum">
              <a:rPr lang="en-US" smtClean="0"/>
              <a:pPr/>
              <a:t>127</a:t>
            </a:fld>
            <a:endParaRPr lang="en-US" smtClean="0"/>
          </a:p>
        </p:txBody>
      </p:sp>
      <p:sp>
        <p:nvSpPr>
          <p:cNvPr id="260099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/>
        </p:spPr>
      </p:sp>
      <p:sp>
        <p:nvSpPr>
          <p:cNvPr id="260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IN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31949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en-US" altLang="en-US" noProof="0" smtClean="0"/>
              <a:t>Click to edit Master title style</a:t>
            </a:r>
          </a:p>
        </p:txBody>
      </p:sp>
      <p:sp>
        <p:nvSpPr>
          <p:cNvPr id="3194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www.Bookspar.com | Website for Students | VTU - Notes - Question Papers  </a:t>
            </a:r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A481F-FBE6-4D8E-AB47-03848FA35B6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www.Bookspar.com | Website for Students | VTU - Notes - Question Papers  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F2D901-8821-4C22-A81F-FA4593F5C6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www.Bookspar.com | Website for Students | VTU - Notes - Question Papers  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2D155C-297C-43B4-B614-22D40872CA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83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83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www.Bookspar.com | Website for Students | VTU - Notes - Question Papers  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E77403-0E57-4E5F-832E-6B89337EE0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www.Bookspar.com | Website for Students | VTU - Notes - Question Papers  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EA4EA4-1ACB-4916-95BE-5A78209459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www.Bookspar.com | Website for Students | VTU - Notes - Question Papers  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C4610D-C730-4794-9372-6F9C4CE202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www.Bookspar.com | Website for Students | VTU - Notes - Question Papers  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1AF6E6-7CCC-4D5A-ADC5-008AF2517A0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www.Bookspar.com | Website for Students | VTU - Notes - Question Papers  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E900B3-360E-44EB-A834-D08D10C793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www.Bookspar.com | Website for Students | VTU - Notes - Question Papers  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BD0B1D-5BA2-45FB-A19B-A43A8E6432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www.Bookspar.com | Website for Students | VTU - Notes - Question Papers  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BD41BA-8F51-40D6-A6A7-5EBF0B925DD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www.Bookspar.com | Website for Students | VTU - Notes - Question Papers  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AA714-D571-4B0B-A09A-C52E840A22C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447800"/>
            <a:ext cx="4038600" cy="4683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83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www.Bookspar.com | Website for Students | VTU - Notes - Question Papers  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C2D9C0-1830-443B-B080-4E452FD24F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8229600" cy="22653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865563"/>
            <a:ext cx="8229600" cy="22653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www.Bookspar.com | Website for Students | VTU - Notes - Question Papers  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E37591-9A07-431D-8C2A-32105B1998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122238"/>
            <a:ext cx="8229600" cy="60086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www.Bookspar.com | Website for Students | VTU - Notes - Question Papers  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D2B7FF-F512-4DA0-A611-05B0FFF7B80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447800"/>
            <a:ext cx="8229600" cy="4683125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www.Bookspar.com | Website for Students | VTU - Notes - Question Papers  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687D14-7B4B-4D62-A7AD-35B7B35C10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83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447800"/>
            <a:ext cx="4038600" cy="22653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865563"/>
            <a:ext cx="4038600" cy="22653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www.Bookspar.com | Website for Students | VTU - Notes - Question Papers  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FFF568-AE7C-4704-9656-BE5FD45037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447800"/>
            <a:ext cx="8229600" cy="22653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865563"/>
            <a:ext cx="8229600" cy="22653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www.Bookspar.com | Website for Students | VTU - Notes - Question Papers  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07920B-1543-4299-94CF-C32FA826C5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83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447800"/>
            <a:ext cx="4038600" cy="4683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www.Bookspar.com | Website for Students | VTU - Notes - Question Papers  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20A15A-0CCE-4EF9-A756-6499D18EA5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1588" cy="1255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020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Layered Architectures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47800"/>
            <a:ext cx="8229600" cy="468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31846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SzTx/>
              <a:buFontTx/>
              <a:buNone/>
              <a:defRPr sz="10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1847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SzTx/>
              <a:buFontTx/>
              <a:buNone/>
              <a:defRPr sz="1000"/>
            </a:lvl1pPr>
          </a:lstStyle>
          <a:p>
            <a:pPr>
              <a:defRPr/>
            </a:pPr>
            <a:r>
              <a:rPr lang="en-US" altLang="en-US"/>
              <a:t>www.Bookspar.com | Website for Students | VTU - Notes - Question Papers  </a:t>
            </a:r>
          </a:p>
        </p:txBody>
      </p:sp>
      <p:sp>
        <p:nvSpPr>
          <p:cNvPr id="31847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SzTx/>
              <a:buFontTx/>
              <a:buNone/>
              <a:defRPr sz="1000"/>
            </a:lvl1pPr>
          </a:lstStyle>
          <a:p>
            <a:pPr>
              <a:defRPr/>
            </a:pPr>
            <a:fld id="{3ADBA4AA-776B-47C7-A3FF-D673171B0D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4104" name="Group 8"/>
          <p:cNvGrpSpPr>
            <a:grpSpLocks/>
          </p:cNvGrpSpPr>
          <p:nvPr userDrawn="1"/>
        </p:nvGrpSpPr>
        <p:grpSpPr bwMode="auto">
          <a:xfrm>
            <a:off x="8153400" y="152400"/>
            <a:ext cx="792163" cy="10668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5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5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1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1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1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5" cy="81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7"/>
              <a:ext cx="80" cy="81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7"/>
              <a:ext cx="79" cy="81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7"/>
              <a:ext cx="76" cy="81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7"/>
              <a:ext cx="75" cy="81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7"/>
              <a:ext cx="80" cy="81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1"/>
              <a:ext cx="80" cy="81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1"/>
              <a:ext cx="79" cy="81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1"/>
              <a:ext cx="76" cy="81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1"/>
              <a:ext cx="75" cy="81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5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5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01" r:id="rId2"/>
    <p:sldLayoutId id="2147484002" r:id="rId3"/>
    <p:sldLayoutId id="2147484003" r:id="rId4"/>
    <p:sldLayoutId id="2147484004" r:id="rId5"/>
    <p:sldLayoutId id="2147484005" r:id="rId6"/>
    <p:sldLayoutId id="2147484006" r:id="rId7"/>
    <p:sldLayoutId id="2147484007" r:id="rId8"/>
    <p:sldLayoutId id="2147484008" r:id="rId9"/>
    <p:sldLayoutId id="2147484009" r:id="rId10"/>
    <p:sldLayoutId id="2147484010" r:id="rId11"/>
    <p:sldLayoutId id="2147484011" r:id="rId12"/>
    <p:sldLayoutId id="2147484012" r:id="rId13"/>
    <p:sldLayoutId id="2147484013" r:id="rId14"/>
    <p:sldLayoutId id="2147484014" r:id="rId15"/>
    <p:sldLayoutId id="2147484015" r:id="rId16"/>
    <p:sldLayoutId id="2147484016" r:id="rId17"/>
    <p:sldLayoutId id="2147484017" r:id="rId18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8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3.bin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6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6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4.bin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6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6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4400" smtClean="0"/>
              <a:t>Chapter 7</a:t>
            </a:r>
            <a:br>
              <a:rPr lang="en-US" sz="4400" smtClean="0"/>
            </a:br>
            <a:r>
              <a:rPr lang="en-US" sz="4400" smtClean="0"/>
              <a:t>Packet-Switching Networks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4400" smtClean="0"/>
              <a:t>Chapter 7</a:t>
            </a:r>
            <a:br>
              <a:rPr lang="en-US" sz="4400" smtClean="0"/>
            </a:br>
            <a:r>
              <a:rPr lang="en-US" sz="4400" smtClean="0"/>
              <a:t>Packet-Switching Networks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32972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smtClean="0"/>
              <a:t>Datagram and Virtual Circuits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Routing in Packet Networks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Shortest Path Routing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Traffic Management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4400" smtClean="0">
                <a:solidFill>
                  <a:schemeClr val="hlink"/>
                </a:solidFill>
              </a:rPr>
              <a:t>Chapter 7</a:t>
            </a:r>
            <a:r>
              <a:rPr lang="en-US" sz="4400" smtClean="0"/>
              <a:t/>
            </a:r>
            <a:br>
              <a:rPr lang="en-US" sz="4400" smtClean="0"/>
            </a:br>
            <a:r>
              <a:rPr lang="en-US" sz="4400" smtClean="0"/>
              <a:t>Packet-Switching Networks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3022600"/>
          </a:xfrm>
        </p:spPr>
        <p:txBody>
          <a:bodyPr/>
          <a:lstStyle/>
          <a:p>
            <a:pPr eaLnBrk="1" hangingPunct="1"/>
            <a:r>
              <a:rPr lang="en-US" b="1" i="1" smtClean="0"/>
              <a:t>Datagrams and Virtual Circuits</a:t>
            </a:r>
          </a:p>
          <a:p>
            <a:pPr eaLnBrk="1" hangingPunct="1"/>
            <a:endParaRPr lang="en-US" b="1" i="1" smtClean="0"/>
          </a:p>
        </p:txBody>
      </p:sp>
      <p:sp>
        <p:nvSpPr>
          <p:cNvPr id="8196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-242888"/>
            <a:ext cx="7772400" cy="1143001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smtClean="0"/>
              <a:t>The Switching Function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6750" y="836613"/>
            <a:ext cx="8001000" cy="18288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sz="2600" smtClean="0"/>
              <a:t>Dynamic interconnection of inputs to outputs</a:t>
            </a:r>
          </a:p>
          <a:p>
            <a:pPr eaLnBrk="1" hangingPunct="1"/>
            <a:r>
              <a:rPr lang="en-US" sz="2600" smtClean="0"/>
              <a:t>Enables dynamic sharing of transmission resource</a:t>
            </a:r>
          </a:p>
          <a:p>
            <a:pPr eaLnBrk="1" hangingPunct="1"/>
            <a:r>
              <a:rPr lang="en-US" sz="2600" smtClean="0"/>
              <a:t>Two fundamental approaches:</a:t>
            </a:r>
          </a:p>
          <a:p>
            <a:pPr marL="742950" lvl="1" indent="-285750" eaLnBrk="1" hangingPunct="1"/>
            <a:r>
              <a:rPr lang="en-US" sz="2200" smtClean="0"/>
              <a:t>Connectionless</a:t>
            </a:r>
          </a:p>
          <a:p>
            <a:pPr marL="742950" lvl="1" indent="-285750" eaLnBrk="1" hangingPunct="1"/>
            <a:r>
              <a:rPr lang="en-US" sz="2200" smtClean="0"/>
              <a:t>Connection-Oriented:  Call setup control, Connection control</a:t>
            </a:r>
          </a:p>
        </p:txBody>
      </p:sp>
      <p:grpSp>
        <p:nvGrpSpPr>
          <p:cNvPr id="9220" name="Group 26"/>
          <p:cNvGrpSpPr>
            <a:grpSpLocks/>
          </p:cNvGrpSpPr>
          <p:nvPr/>
        </p:nvGrpSpPr>
        <p:grpSpPr bwMode="auto">
          <a:xfrm>
            <a:off x="1116013" y="3508375"/>
            <a:ext cx="5748337" cy="2409825"/>
            <a:chOff x="703" y="2210"/>
            <a:chExt cx="3621" cy="1518"/>
          </a:xfrm>
        </p:grpSpPr>
        <p:sp>
          <p:nvSpPr>
            <p:cNvPr id="9222" name="Oval 4"/>
            <p:cNvSpPr>
              <a:spLocks noChangeArrowheads="1"/>
            </p:cNvSpPr>
            <p:nvPr/>
          </p:nvSpPr>
          <p:spPr bwMode="auto">
            <a:xfrm>
              <a:off x="2200" y="2392"/>
              <a:ext cx="1288" cy="1336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3" name="Line 5"/>
            <p:cNvSpPr>
              <a:spLocks noChangeShapeType="1"/>
            </p:cNvSpPr>
            <p:nvPr/>
          </p:nvSpPr>
          <p:spPr bwMode="auto">
            <a:xfrm flipV="1">
              <a:off x="2488" y="2725"/>
              <a:ext cx="419" cy="2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24" name="Rectangle 6"/>
            <p:cNvSpPr>
              <a:spLocks noChangeArrowheads="1"/>
            </p:cNvSpPr>
            <p:nvPr/>
          </p:nvSpPr>
          <p:spPr bwMode="auto">
            <a:xfrm>
              <a:off x="3278" y="2985"/>
              <a:ext cx="40" cy="40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5" name="Line 7"/>
            <p:cNvSpPr>
              <a:spLocks noChangeShapeType="1"/>
            </p:cNvSpPr>
            <p:nvPr/>
          </p:nvSpPr>
          <p:spPr bwMode="auto">
            <a:xfrm>
              <a:off x="2963" y="2739"/>
              <a:ext cx="333" cy="2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26" name="Rectangle 8"/>
            <p:cNvSpPr>
              <a:spLocks noChangeArrowheads="1"/>
            </p:cNvSpPr>
            <p:nvPr/>
          </p:nvSpPr>
          <p:spPr bwMode="auto">
            <a:xfrm>
              <a:off x="2451" y="2962"/>
              <a:ext cx="40" cy="40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7" name="Rectangle 9"/>
            <p:cNvSpPr>
              <a:spLocks noChangeArrowheads="1"/>
            </p:cNvSpPr>
            <p:nvPr/>
          </p:nvSpPr>
          <p:spPr bwMode="auto">
            <a:xfrm>
              <a:off x="2600" y="3336"/>
              <a:ext cx="40" cy="40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8" name="Line 10"/>
            <p:cNvSpPr>
              <a:spLocks noChangeShapeType="1"/>
            </p:cNvSpPr>
            <p:nvPr/>
          </p:nvSpPr>
          <p:spPr bwMode="auto">
            <a:xfrm>
              <a:off x="2472" y="3016"/>
              <a:ext cx="120" cy="3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29" name="Rectangle 11"/>
            <p:cNvSpPr>
              <a:spLocks noChangeArrowheads="1"/>
            </p:cNvSpPr>
            <p:nvPr/>
          </p:nvSpPr>
          <p:spPr bwMode="auto">
            <a:xfrm>
              <a:off x="2873" y="3442"/>
              <a:ext cx="40" cy="40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0" name="Line 12"/>
            <p:cNvSpPr>
              <a:spLocks noChangeShapeType="1"/>
            </p:cNvSpPr>
            <p:nvPr/>
          </p:nvSpPr>
          <p:spPr bwMode="auto">
            <a:xfrm>
              <a:off x="2638" y="3390"/>
              <a:ext cx="215" cy="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31" name="Rectangle 13"/>
            <p:cNvSpPr>
              <a:spLocks noChangeArrowheads="1"/>
            </p:cNvSpPr>
            <p:nvPr/>
          </p:nvSpPr>
          <p:spPr bwMode="auto">
            <a:xfrm>
              <a:off x="2921" y="2712"/>
              <a:ext cx="40" cy="40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2" name="Line 14"/>
            <p:cNvSpPr>
              <a:spLocks noChangeShapeType="1"/>
            </p:cNvSpPr>
            <p:nvPr/>
          </p:nvSpPr>
          <p:spPr bwMode="auto">
            <a:xfrm flipH="1">
              <a:off x="2885" y="2755"/>
              <a:ext cx="62" cy="6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33" name="Line 15"/>
            <p:cNvSpPr>
              <a:spLocks noChangeShapeType="1"/>
            </p:cNvSpPr>
            <p:nvPr/>
          </p:nvSpPr>
          <p:spPr bwMode="auto">
            <a:xfrm flipV="1">
              <a:off x="2931" y="3019"/>
              <a:ext cx="360" cy="4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34" name="Rectangle 16"/>
            <p:cNvSpPr>
              <a:spLocks noChangeArrowheads="1"/>
            </p:cNvSpPr>
            <p:nvPr/>
          </p:nvSpPr>
          <p:spPr bwMode="auto">
            <a:xfrm>
              <a:off x="2247" y="2210"/>
              <a:ext cx="1322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buSzTx/>
                <a:buFontTx/>
                <a:buNone/>
              </a:pPr>
              <a:r>
                <a:rPr lang="en-US" sz="1800"/>
                <a:t>Backbone Network</a:t>
              </a:r>
            </a:p>
          </p:txBody>
        </p:sp>
        <p:sp>
          <p:nvSpPr>
            <p:cNvPr id="9235" name="Oval 17"/>
            <p:cNvSpPr>
              <a:spLocks noChangeArrowheads="1"/>
            </p:cNvSpPr>
            <p:nvPr/>
          </p:nvSpPr>
          <p:spPr bwMode="auto">
            <a:xfrm>
              <a:off x="3772" y="2972"/>
              <a:ext cx="552" cy="152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6" name="Line 18"/>
            <p:cNvSpPr>
              <a:spLocks noChangeShapeType="1"/>
            </p:cNvSpPr>
            <p:nvPr/>
          </p:nvSpPr>
          <p:spPr bwMode="auto">
            <a:xfrm>
              <a:off x="3332" y="3012"/>
              <a:ext cx="440" cy="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37" name="Oval 19"/>
            <p:cNvSpPr>
              <a:spLocks noChangeArrowheads="1"/>
            </p:cNvSpPr>
            <p:nvPr/>
          </p:nvSpPr>
          <p:spPr bwMode="auto">
            <a:xfrm>
              <a:off x="1588" y="3420"/>
              <a:ext cx="552" cy="152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8" name="Rectangle 20"/>
            <p:cNvSpPr>
              <a:spLocks noChangeArrowheads="1"/>
            </p:cNvSpPr>
            <p:nvPr/>
          </p:nvSpPr>
          <p:spPr bwMode="auto">
            <a:xfrm>
              <a:off x="703" y="3194"/>
              <a:ext cx="114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buSzTx/>
                <a:buFontTx/>
                <a:buNone/>
              </a:pPr>
              <a:r>
                <a:rPr lang="en-US" sz="1800"/>
                <a:t>Access Network</a:t>
              </a:r>
            </a:p>
          </p:txBody>
        </p:sp>
        <p:sp>
          <p:nvSpPr>
            <p:cNvPr id="9239" name="Line 21"/>
            <p:cNvSpPr>
              <a:spLocks noChangeShapeType="1"/>
            </p:cNvSpPr>
            <p:nvPr/>
          </p:nvSpPr>
          <p:spPr bwMode="auto">
            <a:xfrm flipV="1">
              <a:off x="2140" y="3364"/>
              <a:ext cx="448" cy="1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40" name="Oval 22"/>
            <p:cNvSpPr>
              <a:spLocks noChangeArrowheads="1"/>
            </p:cNvSpPr>
            <p:nvPr/>
          </p:nvSpPr>
          <p:spPr bwMode="auto">
            <a:xfrm>
              <a:off x="3636" y="3300"/>
              <a:ext cx="552" cy="152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1" name="Line 23"/>
            <p:cNvSpPr>
              <a:spLocks noChangeShapeType="1"/>
            </p:cNvSpPr>
            <p:nvPr/>
          </p:nvSpPr>
          <p:spPr bwMode="auto">
            <a:xfrm>
              <a:off x="3308" y="3036"/>
              <a:ext cx="416" cy="2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42" name="Rectangle 24"/>
            <p:cNvSpPr>
              <a:spLocks noChangeArrowheads="1"/>
            </p:cNvSpPr>
            <p:nvPr/>
          </p:nvSpPr>
          <p:spPr bwMode="auto">
            <a:xfrm>
              <a:off x="3319" y="2570"/>
              <a:ext cx="538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buSzTx/>
                <a:buFontTx/>
                <a:buNone/>
              </a:pPr>
              <a:r>
                <a:rPr lang="en-US" sz="1800"/>
                <a:t>Switch</a:t>
              </a:r>
            </a:p>
          </p:txBody>
        </p:sp>
        <p:sp>
          <p:nvSpPr>
            <p:cNvPr id="9243" name="Line 25"/>
            <p:cNvSpPr>
              <a:spLocks noChangeShapeType="1"/>
            </p:cNvSpPr>
            <p:nvPr/>
          </p:nvSpPr>
          <p:spPr bwMode="auto">
            <a:xfrm flipH="1">
              <a:off x="3320" y="2768"/>
              <a:ext cx="248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9221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1628"/>
          <p:cNvGrpSpPr>
            <a:grpSpLocks/>
          </p:cNvGrpSpPr>
          <p:nvPr/>
        </p:nvGrpSpPr>
        <p:grpSpPr bwMode="auto">
          <a:xfrm>
            <a:off x="246063" y="1809750"/>
            <a:ext cx="4248150" cy="4041775"/>
            <a:chOff x="185" y="1149"/>
            <a:chExt cx="3020" cy="2546"/>
          </a:xfrm>
        </p:grpSpPr>
        <p:sp>
          <p:nvSpPr>
            <p:cNvPr id="10245" name="Text Box 1048"/>
            <p:cNvSpPr txBox="1">
              <a:spLocks noChangeArrowheads="1"/>
            </p:cNvSpPr>
            <p:nvPr/>
          </p:nvSpPr>
          <p:spPr bwMode="auto">
            <a:xfrm>
              <a:off x="2111" y="2399"/>
              <a:ext cx="628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Packet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switch</a:t>
              </a:r>
            </a:p>
          </p:txBody>
        </p:sp>
        <p:sp>
          <p:nvSpPr>
            <p:cNvPr id="10246" name="Text Box 1049"/>
            <p:cNvSpPr txBox="1">
              <a:spLocks noChangeArrowheads="1"/>
            </p:cNvSpPr>
            <p:nvPr/>
          </p:nvSpPr>
          <p:spPr bwMode="auto">
            <a:xfrm>
              <a:off x="1350" y="2234"/>
              <a:ext cx="72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Network</a:t>
              </a:r>
            </a:p>
          </p:txBody>
        </p:sp>
        <p:sp>
          <p:nvSpPr>
            <p:cNvPr id="10247" name="Text Box 1052"/>
            <p:cNvSpPr txBox="1">
              <a:spLocks noChangeArrowheads="1"/>
            </p:cNvSpPr>
            <p:nvPr/>
          </p:nvSpPr>
          <p:spPr bwMode="auto">
            <a:xfrm>
              <a:off x="1966" y="1663"/>
              <a:ext cx="1097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Transmission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line</a:t>
              </a:r>
            </a:p>
          </p:txBody>
        </p:sp>
        <p:sp>
          <p:nvSpPr>
            <p:cNvPr id="10248" name="Text Box 1624"/>
            <p:cNvSpPr txBox="1">
              <a:spLocks noChangeArrowheads="1"/>
            </p:cNvSpPr>
            <p:nvPr/>
          </p:nvSpPr>
          <p:spPr bwMode="auto">
            <a:xfrm>
              <a:off x="272" y="1312"/>
              <a:ext cx="47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User</a:t>
              </a:r>
            </a:p>
          </p:txBody>
        </p:sp>
        <p:grpSp>
          <p:nvGrpSpPr>
            <p:cNvPr id="10249" name="Group 1627"/>
            <p:cNvGrpSpPr>
              <a:grpSpLocks/>
            </p:cNvGrpSpPr>
            <p:nvPr/>
          </p:nvGrpSpPr>
          <p:grpSpPr bwMode="auto">
            <a:xfrm>
              <a:off x="185" y="1149"/>
              <a:ext cx="3020" cy="2546"/>
              <a:chOff x="1008" y="725"/>
              <a:chExt cx="3020" cy="2546"/>
            </a:xfrm>
          </p:grpSpPr>
          <p:sp>
            <p:nvSpPr>
              <p:cNvPr id="10250" name="Line 1027"/>
              <p:cNvSpPr>
                <a:spLocks noChangeShapeType="1"/>
              </p:cNvSpPr>
              <p:nvPr/>
            </p:nvSpPr>
            <p:spPr bwMode="auto">
              <a:xfrm flipH="1" flipV="1">
                <a:off x="1174" y="1677"/>
                <a:ext cx="627" cy="103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0251" name="Line 1028"/>
              <p:cNvSpPr>
                <a:spLocks noChangeShapeType="1"/>
              </p:cNvSpPr>
              <p:nvPr/>
            </p:nvSpPr>
            <p:spPr bwMode="auto">
              <a:xfrm flipV="1">
                <a:off x="1856" y="1369"/>
                <a:ext cx="734" cy="3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0252" name="Line 1029"/>
              <p:cNvSpPr>
                <a:spLocks noChangeShapeType="1"/>
              </p:cNvSpPr>
              <p:nvPr/>
            </p:nvSpPr>
            <p:spPr bwMode="auto">
              <a:xfrm>
                <a:off x="2688" y="1392"/>
                <a:ext cx="582" cy="3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0253" name="Line 1030"/>
              <p:cNvSpPr>
                <a:spLocks noChangeShapeType="1"/>
              </p:cNvSpPr>
              <p:nvPr/>
            </p:nvSpPr>
            <p:spPr bwMode="auto">
              <a:xfrm>
                <a:off x="1829" y="1844"/>
                <a:ext cx="209" cy="5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0254" name="Line 1031"/>
              <p:cNvSpPr>
                <a:spLocks noChangeShapeType="1"/>
              </p:cNvSpPr>
              <p:nvPr/>
            </p:nvSpPr>
            <p:spPr bwMode="auto">
              <a:xfrm>
                <a:off x="2120" y="2457"/>
                <a:ext cx="375" cy="1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0255" name="Line 1032"/>
              <p:cNvSpPr>
                <a:spLocks noChangeShapeType="1"/>
              </p:cNvSpPr>
              <p:nvPr/>
            </p:nvSpPr>
            <p:spPr bwMode="auto">
              <a:xfrm flipH="1">
                <a:off x="2551" y="1419"/>
                <a:ext cx="108" cy="110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0256" name="Line 1033"/>
              <p:cNvSpPr>
                <a:spLocks noChangeShapeType="1"/>
              </p:cNvSpPr>
              <p:nvPr/>
            </p:nvSpPr>
            <p:spPr bwMode="auto">
              <a:xfrm flipV="1">
                <a:off x="2632" y="1850"/>
                <a:ext cx="629" cy="7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0257" name="Line 1034"/>
              <p:cNvSpPr>
                <a:spLocks noChangeShapeType="1"/>
              </p:cNvSpPr>
              <p:nvPr/>
            </p:nvSpPr>
            <p:spPr bwMode="auto">
              <a:xfrm>
                <a:off x="3333" y="1838"/>
                <a:ext cx="366" cy="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0258" name="Line 1035"/>
              <p:cNvSpPr>
                <a:spLocks noChangeShapeType="1"/>
              </p:cNvSpPr>
              <p:nvPr/>
            </p:nvSpPr>
            <p:spPr bwMode="auto">
              <a:xfrm flipV="1">
                <a:off x="1249" y="2413"/>
                <a:ext cx="783" cy="19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0259" name="Line 1036"/>
              <p:cNvSpPr>
                <a:spLocks noChangeShapeType="1"/>
              </p:cNvSpPr>
              <p:nvPr/>
            </p:nvSpPr>
            <p:spPr bwMode="auto">
              <a:xfrm>
                <a:off x="3291" y="1877"/>
                <a:ext cx="584" cy="3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0260" name="Line 1037"/>
              <p:cNvSpPr>
                <a:spLocks noChangeShapeType="1"/>
              </p:cNvSpPr>
              <p:nvPr/>
            </p:nvSpPr>
            <p:spPr bwMode="auto">
              <a:xfrm>
                <a:off x="2585" y="2590"/>
                <a:ext cx="369" cy="366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0261" name="Line 1038"/>
              <p:cNvSpPr>
                <a:spLocks noChangeShapeType="1"/>
              </p:cNvSpPr>
              <p:nvPr/>
            </p:nvSpPr>
            <p:spPr bwMode="auto">
              <a:xfrm flipV="1">
                <a:off x="2723" y="930"/>
                <a:ext cx="357" cy="389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0262" name="Line 1039"/>
              <p:cNvSpPr>
                <a:spLocks noChangeShapeType="1"/>
              </p:cNvSpPr>
              <p:nvPr/>
            </p:nvSpPr>
            <p:spPr bwMode="auto">
              <a:xfrm flipH="1" flipV="1">
                <a:off x="2084" y="813"/>
                <a:ext cx="537" cy="52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0263" name="Rectangle 1040"/>
              <p:cNvSpPr>
                <a:spLocks noChangeArrowheads="1"/>
              </p:cNvSpPr>
              <p:nvPr/>
            </p:nvSpPr>
            <p:spPr bwMode="auto">
              <a:xfrm>
                <a:off x="2543" y="1240"/>
                <a:ext cx="195" cy="193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lIns="90488" tIns="44450" rIns="90488" bIns="4445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264" name="Rectangle 1041"/>
              <p:cNvSpPr>
                <a:spLocks noChangeArrowheads="1"/>
              </p:cNvSpPr>
              <p:nvPr/>
            </p:nvSpPr>
            <p:spPr bwMode="auto">
              <a:xfrm>
                <a:off x="3151" y="1738"/>
                <a:ext cx="196" cy="193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lIns="90488" tIns="44450" rIns="90488" bIns="4445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265" name="Line 1042"/>
              <p:cNvSpPr>
                <a:spLocks noChangeShapeType="1"/>
              </p:cNvSpPr>
              <p:nvPr/>
            </p:nvSpPr>
            <p:spPr bwMode="auto">
              <a:xfrm flipH="1">
                <a:off x="2370" y="2632"/>
                <a:ext cx="194" cy="464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lIns="90488" tIns="44450" rIns="90488" bIns="44450" anchor="ctr"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10266" name="Rectangle 1043"/>
              <p:cNvSpPr>
                <a:spLocks noChangeArrowheads="1"/>
              </p:cNvSpPr>
              <p:nvPr/>
            </p:nvSpPr>
            <p:spPr bwMode="auto">
              <a:xfrm>
                <a:off x="2467" y="2449"/>
                <a:ext cx="195" cy="193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lIns="90488" tIns="44450" rIns="90488" bIns="4445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267" name="Line 1044"/>
              <p:cNvSpPr>
                <a:spLocks noChangeShapeType="1"/>
              </p:cNvSpPr>
              <p:nvPr/>
            </p:nvSpPr>
            <p:spPr bwMode="auto">
              <a:xfrm>
                <a:off x="1538" y="1318"/>
                <a:ext cx="254" cy="42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lIns="90488" tIns="44450" rIns="90488" bIns="44450" anchor="ctr"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10268" name="Line 1045"/>
              <p:cNvSpPr>
                <a:spLocks noChangeShapeType="1"/>
              </p:cNvSpPr>
              <p:nvPr/>
            </p:nvSpPr>
            <p:spPr bwMode="auto">
              <a:xfrm flipH="1">
                <a:off x="1677" y="2469"/>
                <a:ext cx="333" cy="423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lIns="90488" tIns="44450" rIns="90488" bIns="44450" anchor="ctr"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10269" name="Rectangle 1046"/>
              <p:cNvSpPr>
                <a:spLocks noChangeArrowheads="1"/>
              </p:cNvSpPr>
              <p:nvPr/>
            </p:nvSpPr>
            <p:spPr bwMode="auto">
              <a:xfrm>
                <a:off x="1956" y="2297"/>
                <a:ext cx="195" cy="193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lIns="90488" tIns="44450" rIns="90488" bIns="4445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270" name="Rectangle 1047"/>
              <p:cNvSpPr>
                <a:spLocks noChangeArrowheads="1"/>
              </p:cNvSpPr>
              <p:nvPr/>
            </p:nvSpPr>
            <p:spPr bwMode="auto">
              <a:xfrm>
                <a:off x="1738" y="1697"/>
                <a:ext cx="196" cy="193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lIns="90488" tIns="44450" rIns="90488" bIns="44450"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10271" name="Group 1054"/>
              <p:cNvGrpSpPr>
                <a:grpSpLocks/>
              </p:cNvGrpSpPr>
              <p:nvPr/>
            </p:nvGrpSpPr>
            <p:grpSpPr bwMode="auto">
              <a:xfrm>
                <a:off x="1379" y="1143"/>
                <a:ext cx="245" cy="175"/>
                <a:chOff x="3840" y="1279"/>
                <a:chExt cx="266" cy="310"/>
              </a:xfrm>
            </p:grpSpPr>
            <p:sp>
              <p:nvSpPr>
                <p:cNvPr id="10786" name="Freeform 1055"/>
                <p:cNvSpPr>
                  <a:spLocks/>
                </p:cNvSpPr>
                <p:nvPr/>
              </p:nvSpPr>
              <p:spPr bwMode="auto">
                <a:xfrm>
                  <a:off x="3848" y="1548"/>
                  <a:ext cx="206" cy="20"/>
                </a:xfrm>
                <a:custGeom>
                  <a:avLst/>
                  <a:gdLst>
                    <a:gd name="T0" fmla="*/ 0 w 206"/>
                    <a:gd name="T1" fmla="*/ 19 h 20"/>
                    <a:gd name="T2" fmla="*/ 0 w 206"/>
                    <a:gd name="T3" fmla="*/ 0 h 20"/>
                    <a:gd name="T4" fmla="*/ 205 w 206"/>
                    <a:gd name="T5" fmla="*/ 0 h 20"/>
                    <a:gd name="T6" fmla="*/ 205 w 206"/>
                    <a:gd name="T7" fmla="*/ 19 h 20"/>
                    <a:gd name="T8" fmla="*/ 0 w 206"/>
                    <a:gd name="T9" fmla="*/ 19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6"/>
                    <a:gd name="T16" fmla="*/ 0 h 20"/>
                    <a:gd name="T17" fmla="*/ 206 w 206"/>
                    <a:gd name="T18" fmla="*/ 20 h 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6" h="20">
                      <a:moveTo>
                        <a:pt x="0" y="19"/>
                      </a:moveTo>
                      <a:lnTo>
                        <a:pt x="0" y="0"/>
                      </a:lnTo>
                      <a:lnTo>
                        <a:pt x="205" y="0"/>
                      </a:lnTo>
                      <a:lnTo>
                        <a:pt x="205" y="19"/>
                      </a:lnTo>
                      <a:lnTo>
                        <a:pt x="0" y="19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87" name="Freeform 1056"/>
                <p:cNvSpPr>
                  <a:spLocks/>
                </p:cNvSpPr>
                <p:nvPr/>
              </p:nvSpPr>
              <p:spPr bwMode="auto">
                <a:xfrm>
                  <a:off x="3840" y="1453"/>
                  <a:ext cx="220" cy="34"/>
                </a:xfrm>
                <a:custGeom>
                  <a:avLst/>
                  <a:gdLst>
                    <a:gd name="T0" fmla="*/ 189 w 220"/>
                    <a:gd name="T1" fmla="*/ 0 h 34"/>
                    <a:gd name="T2" fmla="*/ 219 w 220"/>
                    <a:gd name="T3" fmla="*/ 33 h 34"/>
                    <a:gd name="T4" fmla="*/ 0 w 220"/>
                    <a:gd name="T5" fmla="*/ 33 h 34"/>
                    <a:gd name="T6" fmla="*/ 29 w 220"/>
                    <a:gd name="T7" fmla="*/ 0 h 34"/>
                    <a:gd name="T8" fmla="*/ 189 w 220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34"/>
                    <a:gd name="T17" fmla="*/ 220 w 220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34">
                      <a:moveTo>
                        <a:pt x="189" y="0"/>
                      </a:moveTo>
                      <a:lnTo>
                        <a:pt x="219" y="33"/>
                      </a:lnTo>
                      <a:lnTo>
                        <a:pt x="0" y="33"/>
                      </a:lnTo>
                      <a:lnTo>
                        <a:pt x="29" y="0"/>
                      </a:lnTo>
                      <a:lnTo>
                        <a:pt x="189" y="0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88" name="Freeform 1057"/>
                <p:cNvSpPr>
                  <a:spLocks/>
                </p:cNvSpPr>
                <p:nvPr/>
              </p:nvSpPr>
              <p:spPr bwMode="auto">
                <a:xfrm>
                  <a:off x="3897" y="1449"/>
                  <a:ext cx="104" cy="24"/>
                </a:xfrm>
                <a:custGeom>
                  <a:avLst/>
                  <a:gdLst>
                    <a:gd name="T0" fmla="*/ 102 w 104"/>
                    <a:gd name="T1" fmla="*/ 10 h 24"/>
                    <a:gd name="T2" fmla="*/ 101 w 104"/>
                    <a:gd name="T3" fmla="*/ 8 h 24"/>
                    <a:gd name="T4" fmla="*/ 97 w 104"/>
                    <a:gd name="T5" fmla="*/ 6 h 24"/>
                    <a:gd name="T6" fmla="*/ 93 w 104"/>
                    <a:gd name="T7" fmla="*/ 4 h 24"/>
                    <a:gd name="T8" fmla="*/ 87 w 104"/>
                    <a:gd name="T9" fmla="*/ 3 h 24"/>
                    <a:gd name="T10" fmla="*/ 80 w 104"/>
                    <a:gd name="T11" fmla="*/ 2 h 24"/>
                    <a:gd name="T12" fmla="*/ 72 w 104"/>
                    <a:gd name="T13" fmla="*/ 1 h 24"/>
                    <a:gd name="T14" fmla="*/ 64 w 104"/>
                    <a:gd name="T15" fmla="*/ 0 h 24"/>
                    <a:gd name="T16" fmla="*/ 55 w 104"/>
                    <a:gd name="T17" fmla="*/ 0 h 24"/>
                    <a:gd name="T18" fmla="*/ 46 w 104"/>
                    <a:gd name="T19" fmla="*/ 0 h 24"/>
                    <a:gd name="T20" fmla="*/ 37 w 104"/>
                    <a:gd name="T21" fmla="*/ 0 h 24"/>
                    <a:gd name="T22" fmla="*/ 29 w 104"/>
                    <a:gd name="T23" fmla="*/ 1 h 24"/>
                    <a:gd name="T24" fmla="*/ 21 w 104"/>
                    <a:gd name="T25" fmla="*/ 2 h 24"/>
                    <a:gd name="T26" fmla="*/ 14 w 104"/>
                    <a:gd name="T27" fmla="*/ 3 h 24"/>
                    <a:gd name="T28" fmla="*/ 8 w 104"/>
                    <a:gd name="T29" fmla="*/ 4 h 24"/>
                    <a:gd name="T30" fmla="*/ 4 w 104"/>
                    <a:gd name="T31" fmla="*/ 6 h 24"/>
                    <a:gd name="T32" fmla="*/ 1 w 104"/>
                    <a:gd name="T33" fmla="*/ 8 h 24"/>
                    <a:gd name="T34" fmla="*/ 0 w 104"/>
                    <a:gd name="T35" fmla="*/ 10 h 24"/>
                    <a:gd name="T36" fmla="*/ 0 w 104"/>
                    <a:gd name="T37" fmla="*/ 12 h 24"/>
                    <a:gd name="T38" fmla="*/ 1 w 104"/>
                    <a:gd name="T39" fmla="*/ 14 h 24"/>
                    <a:gd name="T40" fmla="*/ 4 w 104"/>
                    <a:gd name="T41" fmla="*/ 16 h 24"/>
                    <a:gd name="T42" fmla="*/ 8 w 104"/>
                    <a:gd name="T43" fmla="*/ 17 h 24"/>
                    <a:gd name="T44" fmla="*/ 14 w 104"/>
                    <a:gd name="T45" fmla="*/ 19 h 24"/>
                    <a:gd name="T46" fmla="*/ 21 w 104"/>
                    <a:gd name="T47" fmla="*/ 20 h 24"/>
                    <a:gd name="T48" fmla="*/ 29 w 104"/>
                    <a:gd name="T49" fmla="*/ 21 h 24"/>
                    <a:gd name="T50" fmla="*/ 37 w 104"/>
                    <a:gd name="T51" fmla="*/ 22 h 24"/>
                    <a:gd name="T52" fmla="*/ 46 w 104"/>
                    <a:gd name="T53" fmla="*/ 23 h 24"/>
                    <a:gd name="T54" fmla="*/ 55 w 104"/>
                    <a:gd name="T55" fmla="*/ 23 h 24"/>
                    <a:gd name="T56" fmla="*/ 64 w 104"/>
                    <a:gd name="T57" fmla="*/ 22 h 24"/>
                    <a:gd name="T58" fmla="*/ 72 w 104"/>
                    <a:gd name="T59" fmla="*/ 21 h 24"/>
                    <a:gd name="T60" fmla="*/ 80 w 104"/>
                    <a:gd name="T61" fmla="*/ 20 h 24"/>
                    <a:gd name="T62" fmla="*/ 87 w 104"/>
                    <a:gd name="T63" fmla="*/ 19 h 24"/>
                    <a:gd name="T64" fmla="*/ 93 w 104"/>
                    <a:gd name="T65" fmla="*/ 17 h 24"/>
                    <a:gd name="T66" fmla="*/ 97 w 104"/>
                    <a:gd name="T67" fmla="*/ 16 h 24"/>
                    <a:gd name="T68" fmla="*/ 101 w 104"/>
                    <a:gd name="T69" fmla="*/ 14 h 24"/>
                    <a:gd name="T70" fmla="*/ 102 w 104"/>
                    <a:gd name="T71" fmla="*/ 12 h 24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104"/>
                    <a:gd name="T109" fmla="*/ 0 h 24"/>
                    <a:gd name="T110" fmla="*/ 104 w 104"/>
                    <a:gd name="T111" fmla="*/ 24 h 24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104" h="24">
                      <a:moveTo>
                        <a:pt x="103" y="11"/>
                      </a:moveTo>
                      <a:lnTo>
                        <a:pt x="102" y="10"/>
                      </a:lnTo>
                      <a:lnTo>
                        <a:pt x="102" y="9"/>
                      </a:lnTo>
                      <a:lnTo>
                        <a:pt x="101" y="8"/>
                      </a:lnTo>
                      <a:lnTo>
                        <a:pt x="99" y="7"/>
                      </a:lnTo>
                      <a:lnTo>
                        <a:pt x="97" y="6"/>
                      </a:lnTo>
                      <a:lnTo>
                        <a:pt x="95" y="6"/>
                      </a:lnTo>
                      <a:lnTo>
                        <a:pt x="93" y="4"/>
                      </a:lnTo>
                      <a:lnTo>
                        <a:pt x="90" y="4"/>
                      </a:lnTo>
                      <a:lnTo>
                        <a:pt x="87" y="3"/>
                      </a:lnTo>
                      <a:lnTo>
                        <a:pt x="84" y="2"/>
                      </a:lnTo>
                      <a:lnTo>
                        <a:pt x="80" y="2"/>
                      </a:lnTo>
                      <a:lnTo>
                        <a:pt x="76" y="1"/>
                      </a:lnTo>
                      <a:lnTo>
                        <a:pt x="72" y="1"/>
                      </a:lnTo>
                      <a:lnTo>
                        <a:pt x="69" y="0"/>
                      </a:lnTo>
                      <a:lnTo>
                        <a:pt x="64" y="0"/>
                      </a:lnTo>
                      <a:lnTo>
                        <a:pt x="60" y="0"/>
                      </a:lnTo>
                      <a:lnTo>
                        <a:pt x="55" y="0"/>
                      </a:lnTo>
                      <a:lnTo>
                        <a:pt x="51" y="0"/>
                      </a:lnTo>
                      <a:lnTo>
                        <a:pt x="46" y="0"/>
                      </a:lnTo>
                      <a:lnTo>
                        <a:pt x="42" y="0"/>
                      </a:lnTo>
                      <a:lnTo>
                        <a:pt x="37" y="0"/>
                      </a:lnTo>
                      <a:lnTo>
                        <a:pt x="33" y="0"/>
                      </a:lnTo>
                      <a:lnTo>
                        <a:pt x="29" y="1"/>
                      </a:lnTo>
                      <a:lnTo>
                        <a:pt x="25" y="1"/>
                      </a:lnTo>
                      <a:lnTo>
                        <a:pt x="21" y="2"/>
                      </a:lnTo>
                      <a:lnTo>
                        <a:pt x="17" y="2"/>
                      </a:lnTo>
                      <a:lnTo>
                        <a:pt x="14" y="3"/>
                      </a:lnTo>
                      <a:lnTo>
                        <a:pt x="12" y="4"/>
                      </a:lnTo>
                      <a:lnTo>
                        <a:pt x="8" y="4"/>
                      </a:lnTo>
                      <a:lnTo>
                        <a:pt x="6" y="6"/>
                      </a:lnTo>
                      <a:lnTo>
                        <a:pt x="4" y="6"/>
                      </a:lnTo>
                      <a:lnTo>
                        <a:pt x="3" y="7"/>
                      </a:lnTo>
                      <a:lnTo>
                        <a:pt x="1" y="8"/>
                      </a:lnTo>
                      <a:lnTo>
                        <a:pt x="0" y="9"/>
                      </a:lnTo>
                      <a:lnTo>
                        <a:pt x="0" y="10"/>
                      </a:lnTo>
                      <a:lnTo>
                        <a:pt x="0" y="11"/>
                      </a:lnTo>
                      <a:lnTo>
                        <a:pt x="0" y="12"/>
                      </a:lnTo>
                      <a:lnTo>
                        <a:pt x="0" y="13"/>
                      </a:lnTo>
                      <a:lnTo>
                        <a:pt x="1" y="14"/>
                      </a:lnTo>
                      <a:lnTo>
                        <a:pt x="3" y="15"/>
                      </a:lnTo>
                      <a:lnTo>
                        <a:pt x="4" y="16"/>
                      </a:lnTo>
                      <a:lnTo>
                        <a:pt x="6" y="17"/>
                      </a:lnTo>
                      <a:lnTo>
                        <a:pt x="8" y="17"/>
                      </a:lnTo>
                      <a:lnTo>
                        <a:pt x="12" y="18"/>
                      </a:lnTo>
                      <a:lnTo>
                        <a:pt x="14" y="19"/>
                      </a:lnTo>
                      <a:lnTo>
                        <a:pt x="17" y="20"/>
                      </a:lnTo>
                      <a:lnTo>
                        <a:pt x="21" y="20"/>
                      </a:lnTo>
                      <a:lnTo>
                        <a:pt x="25" y="21"/>
                      </a:lnTo>
                      <a:lnTo>
                        <a:pt x="29" y="21"/>
                      </a:lnTo>
                      <a:lnTo>
                        <a:pt x="33" y="22"/>
                      </a:lnTo>
                      <a:lnTo>
                        <a:pt x="37" y="22"/>
                      </a:lnTo>
                      <a:lnTo>
                        <a:pt x="42" y="22"/>
                      </a:lnTo>
                      <a:lnTo>
                        <a:pt x="46" y="23"/>
                      </a:lnTo>
                      <a:lnTo>
                        <a:pt x="51" y="23"/>
                      </a:lnTo>
                      <a:lnTo>
                        <a:pt x="55" y="23"/>
                      </a:lnTo>
                      <a:lnTo>
                        <a:pt x="60" y="22"/>
                      </a:lnTo>
                      <a:lnTo>
                        <a:pt x="64" y="22"/>
                      </a:lnTo>
                      <a:lnTo>
                        <a:pt x="69" y="22"/>
                      </a:lnTo>
                      <a:lnTo>
                        <a:pt x="72" y="21"/>
                      </a:lnTo>
                      <a:lnTo>
                        <a:pt x="76" y="21"/>
                      </a:lnTo>
                      <a:lnTo>
                        <a:pt x="80" y="20"/>
                      </a:lnTo>
                      <a:lnTo>
                        <a:pt x="84" y="20"/>
                      </a:lnTo>
                      <a:lnTo>
                        <a:pt x="87" y="19"/>
                      </a:lnTo>
                      <a:lnTo>
                        <a:pt x="90" y="18"/>
                      </a:lnTo>
                      <a:lnTo>
                        <a:pt x="93" y="17"/>
                      </a:lnTo>
                      <a:lnTo>
                        <a:pt x="95" y="17"/>
                      </a:lnTo>
                      <a:lnTo>
                        <a:pt x="97" y="16"/>
                      </a:lnTo>
                      <a:lnTo>
                        <a:pt x="99" y="15"/>
                      </a:lnTo>
                      <a:lnTo>
                        <a:pt x="101" y="14"/>
                      </a:lnTo>
                      <a:lnTo>
                        <a:pt x="102" y="13"/>
                      </a:lnTo>
                      <a:lnTo>
                        <a:pt x="102" y="12"/>
                      </a:lnTo>
                      <a:lnTo>
                        <a:pt x="103" y="11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89" name="Freeform 1058"/>
                <p:cNvSpPr>
                  <a:spLocks/>
                </p:cNvSpPr>
                <p:nvPr/>
              </p:nvSpPr>
              <p:spPr bwMode="auto">
                <a:xfrm>
                  <a:off x="3897" y="1461"/>
                  <a:ext cx="104" cy="17"/>
                </a:xfrm>
                <a:custGeom>
                  <a:avLst/>
                  <a:gdLst>
                    <a:gd name="T0" fmla="*/ 102 w 104"/>
                    <a:gd name="T1" fmla="*/ 6 h 17"/>
                    <a:gd name="T2" fmla="*/ 101 w 104"/>
                    <a:gd name="T3" fmla="*/ 8 h 17"/>
                    <a:gd name="T4" fmla="*/ 97 w 104"/>
                    <a:gd name="T5" fmla="*/ 10 h 17"/>
                    <a:gd name="T6" fmla="*/ 93 w 104"/>
                    <a:gd name="T7" fmla="*/ 11 h 17"/>
                    <a:gd name="T8" fmla="*/ 87 w 104"/>
                    <a:gd name="T9" fmla="*/ 12 h 17"/>
                    <a:gd name="T10" fmla="*/ 80 w 104"/>
                    <a:gd name="T11" fmla="*/ 14 h 17"/>
                    <a:gd name="T12" fmla="*/ 72 w 104"/>
                    <a:gd name="T13" fmla="*/ 14 h 17"/>
                    <a:gd name="T14" fmla="*/ 64 w 104"/>
                    <a:gd name="T15" fmla="*/ 15 h 17"/>
                    <a:gd name="T16" fmla="*/ 55 w 104"/>
                    <a:gd name="T17" fmla="*/ 16 h 17"/>
                    <a:gd name="T18" fmla="*/ 46 w 104"/>
                    <a:gd name="T19" fmla="*/ 16 h 17"/>
                    <a:gd name="T20" fmla="*/ 37 w 104"/>
                    <a:gd name="T21" fmla="*/ 15 h 17"/>
                    <a:gd name="T22" fmla="*/ 29 w 104"/>
                    <a:gd name="T23" fmla="*/ 14 h 17"/>
                    <a:gd name="T24" fmla="*/ 21 w 104"/>
                    <a:gd name="T25" fmla="*/ 14 h 17"/>
                    <a:gd name="T26" fmla="*/ 14 w 104"/>
                    <a:gd name="T27" fmla="*/ 12 h 17"/>
                    <a:gd name="T28" fmla="*/ 8 w 104"/>
                    <a:gd name="T29" fmla="*/ 11 h 17"/>
                    <a:gd name="T30" fmla="*/ 4 w 104"/>
                    <a:gd name="T31" fmla="*/ 10 h 17"/>
                    <a:gd name="T32" fmla="*/ 1 w 104"/>
                    <a:gd name="T33" fmla="*/ 8 h 17"/>
                    <a:gd name="T34" fmla="*/ 0 w 104"/>
                    <a:gd name="T35" fmla="*/ 6 h 17"/>
                    <a:gd name="T36" fmla="*/ 0 w 104"/>
                    <a:gd name="T37" fmla="*/ 0 h 17"/>
                    <a:gd name="T38" fmla="*/ 0 w 104"/>
                    <a:gd name="T39" fmla="*/ 2 h 17"/>
                    <a:gd name="T40" fmla="*/ 3 w 104"/>
                    <a:gd name="T41" fmla="*/ 4 h 17"/>
                    <a:gd name="T42" fmla="*/ 6 w 104"/>
                    <a:gd name="T43" fmla="*/ 5 h 17"/>
                    <a:gd name="T44" fmla="*/ 12 w 104"/>
                    <a:gd name="T45" fmla="*/ 6 h 17"/>
                    <a:gd name="T46" fmla="*/ 17 w 104"/>
                    <a:gd name="T47" fmla="*/ 8 h 17"/>
                    <a:gd name="T48" fmla="*/ 25 w 104"/>
                    <a:gd name="T49" fmla="*/ 9 h 17"/>
                    <a:gd name="T50" fmla="*/ 33 w 104"/>
                    <a:gd name="T51" fmla="*/ 10 h 17"/>
                    <a:gd name="T52" fmla="*/ 42 w 104"/>
                    <a:gd name="T53" fmla="*/ 10 h 17"/>
                    <a:gd name="T54" fmla="*/ 51 w 104"/>
                    <a:gd name="T55" fmla="*/ 10 h 17"/>
                    <a:gd name="T56" fmla="*/ 60 w 104"/>
                    <a:gd name="T57" fmla="*/ 10 h 17"/>
                    <a:gd name="T58" fmla="*/ 69 w 104"/>
                    <a:gd name="T59" fmla="*/ 10 h 17"/>
                    <a:gd name="T60" fmla="*/ 76 w 104"/>
                    <a:gd name="T61" fmla="*/ 9 h 17"/>
                    <a:gd name="T62" fmla="*/ 84 w 104"/>
                    <a:gd name="T63" fmla="*/ 8 h 17"/>
                    <a:gd name="T64" fmla="*/ 90 w 104"/>
                    <a:gd name="T65" fmla="*/ 6 h 17"/>
                    <a:gd name="T66" fmla="*/ 95 w 104"/>
                    <a:gd name="T67" fmla="*/ 5 h 17"/>
                    <a:gd name="T68" fmla="*/ 99 w 104"/>
                    <a:gd name="T69" fmla="*/ 4 h 17"/>
                    <a:gd name="T70" fmla="*/ 102 w 104"/>
                    <a:gd name="T71" fmla="*/ 2 h 17"/>
                    <a:gd name="T72" fmla="*/ 103 w 104"/>
                    <a:gd name="T73" fmla="*/ 0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04"/>
                    <a:gd name="T112" fmla="*/ 0 h 17"/>
                    <a:gd name="T113" fmla="*/ 104 w 104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04" h="17">
                      <a:moveTo>
                        <a:pt x="103" y="5"/>
                      </a:moveTo>
                      <a:lnTo>
                        <a:pt x="102" y="6"/>
                      </a:lnTo>
                      <a:lnTo>
                        <a:pt x="102" y="7"/>
                      </a:lnTo>
                      <a:lnTo>
                        <a:pt x="101" y="8"/>
                      </a:lnTo>
                      <a:lnTo>
                        <a:pt x="99" y="8"/>
                      </a:lnTo>
                      <a:lnTo>
                        <a:pt x="97" y="10"/>
                      </a:lnTo>
                      <a:lnTo>
                        <a:pt x="95" y="10"/>
                      </a:lnTo>
                      <a:lnTo>
                        <a:pt x="93" y="11"/>
                      </a:lnTo>
                      <a:lnTo>
                        <a:pt x="90" y="12"/>
                      </a:lnTo>
                      <a:lnTo>
                        <a:pt x="87" y="12"/>
                      </a:lnTo>
                      <a:lnTo>
                        <a:pt x="84" y="13"/>
                      </a:lnTo>
                      <a:lnTo>
                        <a:pt x="80" y="14"/>
                      </a:lnTo>
                      <a:lnTo>
                        <a:pt x="76" y="14"/>
                      </a:lnTo>
                      <a:lnTo>
                        <a:pt x="72" y="14"/>
                      </a:lnTo>
                      <a:lnTo>
                        <a:pt x="69" y="15"/>
                      </a:lnTo>
                      <a:lnTo>
                        <a:pt x="64" y="15"/>
                      </a:lnTo>
                      <a:lnTo>
                        <a:pt x="60" y="16"/>
                      </a:lnTo>
                      <a:lnTo>
                        <a:pt x="55" y="16"/>
                      </a:lnTo>
                      <a:lnTo>
                        <a:pt x="51" y="16"/>
                      </a:lnTo>
                      <a:lnTo>
                        <a:pt x="46" y="16"/>
                      </a:lnTo>
                      <a:lnTo>
                        <a:pt x="42" y="16"/>
                      </a:lnTo>
                      <a:lnTo>
                        <a:pt x="37" y="15"/>
                      </a:lnTo>
                      <a:lnTo>
                        <a:pt x="33" y="15"/>
                      </a:lnTo>
                      <a:lnTo>
                        <a:pt x="29" y="14"/>
                      </a:lnTo>
                      <a:lnTo>
                        <a:pt x="25" y="14"/>
                      </a:lnTo>
                      <a:lnTo>
                        <a:pt x="21" y="14"/>
                      </a:lnTo>
                      <a:lnTo>
                        <a:pt x="17" y="13"/>
                      </a:lnTo>
                      <a:lnTo>
                        <a:pt x="14" y="12"/>
                      </a:lnTo>
                      <a:lnTo>
                        <a:pt x="12" y="12"/>
                      </a:lnTo>
                      <a:lnTo>
                        <a:pt x="8" y="11"/>
                      </a:lnTo>
                      <a:lnTo>
                        <a:pt x="6" y="10"/>
                      </a:lnTo>
                      <a:lnTo>
                        <a:pt x="4" y="10"/>
                      </a:lnTo>
                      <a:lnTo>
                        <a:pt x="3" y="8"/>
                      </a:lnTo>
                      <a:lnTo>
                        <a:pt x="1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1" y="2"/>
                      </a:lnTo>
                      <a:lnTo>
                        <a:pt x="3" y="4"/>
                      </a:lnTo>
                      <a:lnTo>
                        <a:pt x="4" y="4"/>
                      </a:lnTo>
                      <a:lnTo>
                        <a:pt x="6" y="5"/>
                      </a:lnTo>
                      <a:lnTo>
                        <a:pt x="8" y="6"/>
                      </a:lnTo>
                      <a:lnTo>
                        <a:pt x="12" y="6"/>
                      </a:lnTo>
                      <a:lnTo>
                        <a:pt x="14" y="7"/>
                      </a:lnTo>
                      <a:lnTo>
                        <a:pt x="17" y="8"/>
                      </a:lnTo>
                      <a:lnTo>
                        <a:pt x="21" y="8"/>
                      </a:lnTo>
                      <a:lnTo>
                        <a:pt x="25" y="9"/>
                      </a:lnTo>
                      <a:lnTo>
                        <a:pt x="29" y="10"/>
                      </a:lnTo>
                      <a:lnTo>
                        <a:pt x="33" y="10"/>
                      </a:lnTo>
                      <a:lnTo>
                        <a:pt x="37" y="10"/>
                      </a:lnTo>
                      <a:lnTo>
                        <a:pt x="42" y="10"/>
                      </a:lnTo>
                      <a:lnTo>
                        <a:pt x="46" y="10"/>
                      </a:lnTo>
                      <a:lnTo>
                        <a:pt x="51" y="10"/>
                      </a:lnTo>
                      <a:lnTo>
                        <a:pt x="55" y="10"/>
                      </a:lnTo>
                      <a:lnTo>
                        <a:pt x="60" y="10"/>
                      </a:lnTo>
                      <a:lnTo>
                        <a:pt x="64" y="10"/>
                      </a:lnTo>
                      <a:lnTo>
                        <a:pt x="69" y="10"/>
                      </a:lnTo>
                      <a:lnTo>
                        <a:pt x="72" y="10"/>
                      </a:lnTo>
                      <a:lnTo>
                        <a:pt x="76" y="9"/>
                      </a:lnTo>
                      <a:lnTo>
                        <a:pt x="80" y="8"/>
                      </a:lnTo>
                      <a:lnTo>
                        <a:pt x="84" y="8"/>
                      </a:lnTo>
                      <a:lnTo>
                        <a:pt x="87" y="7"/>
                      </a:lnTo>
                      <a:lnTo>
                        <a:pt x="90" y="6"/>
                      </a:lnTo>
                      <a:lnTo>
                        <a:pt x="93" y="6"/>
                      </a:lnTo>
                      <a:lnTo>
                        <a:pt x="95" y="5"/>
                      </a:lnTo>
                      <a:lnTo>
                        <a:pt x="97" y="4"/>
                      </a:lnTo>
                      <a:lnTo>
                        <a:pt x="99" y="4"/>
                      </a:lnTo>
                      <a:lnTo>
                        <a:pt x="101" y="2"/>
                      </a:lnTo>
                      <a:lnTo>
                        <a:pt x="102" y="2"/>
                      </a:lnTo>
                      <a:lnTo>
                        <a:pt x="102" y="1"/>
                      </a:lnTo>
                      <a:lnTo>
                        <a:pt x="103" y="0"/>
                      </a:lnTo>
                      <a:lnTo>
                        <a:pt x="103" y="5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90" name="Freeform 1059"/>
                <p:cNvSpPr>
                  <a:spLocks/>
                </p:cNvSpPr>
                <p:nvPr/>
              </p:nvSpPr>
              <p:spPr bwMode="auto">
                <a:xfrm>
                  <a:off x="3840" y="1486"/>
                  <a:ext cx="220" cy="77"/>
                </a:xfrm>
                <a:custGeom>
                  <a:avLst/>
                  <a:gdLst>
                    <a:gd name="T0" fmla="*/ 0 w 220"/>
                    <a:gd name="T1" fmla="*/ 76 h 77"/>
                    <a:gd name="T2" fmla="*/ 219 w 220"/>
                    <a:gd name="T3" fmla="*/ 76 h 77"/>
                    <a:gd name="T4" fmla="*/ 219 w 220"/>
                    <a:gd name="T5" fmla="*/ 0 h 77"/>
                    <a:gd name="T6" fmla="*/ 0 w 220"/>
                    <a:gd name="T7" fmla="*/ 0 h 77"/>
                    <a:gd name="T8" fmla="*/ 0 w 220"/>
                    <a:gd name="T9" fmla="*/ 76 h 7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77"/>
                    <a:gd name="T17" fmla="*/ 220 w 220"/>
                    <a:gd name="T18" fmla="*/ 77 h 7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77">
                      <a:moveTo>
                        <a:pt x="0" y="76"/>
                      </a:moveTo>
                      <a:lnTo>
                        <a:pt x="219" y="76"/>
                      </a:lnTo>
                      <a:lnTo>
                        <a:pt x="219" y="0"/>
                      </a:lnTo>
                      <a:lnTo>
                        <a:pt x="0" y="0"/>
                      </a:lnTo>
                      <a:lnTo>
                        <a:pt x="0" y="76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91" name="Freeform 1060"/>
                <p:cNvSpPr>
                  <a:spLocks/>
                </p:cNvSpPr>
                <p:nvPr/>
              </p:nvSpPr>
              <p:spPr bwMode="auto">
                <a:xfrm>
                  <a:off x="3875" y="1449"/>
                  <a:ext cx="69" cy="17"/>
                </a:xfrm>
                <a:custGeom>
                  <a:avLst/>
                  <a:gdLst>
                    <a:gd name="T0" fmla="*/ 0 w 69"/>
                    <a:gd name="T1" fmla="*/ 16 h 17"/>
                    <a:gd name="T2" fmla="*/ 0 w 69"/>
                    <a:gd name="T3" fmla="*/ 0 h 17"/>
                    <a:gd name="T4" fmla="*/ 68 w 69"/>
                    <a:gd name="T5" fmla="*/ 0 h 17"/>
                    <a:gd name="T6" fmla="*/ 68 w 69"/>
                    <a:gd name="T7" fmla="*/ 16 h 17"/>
                    <a:gd name="T8" fmla="*/ 0 w 69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9"/>
                    <a:gd name="T16" fmla="*/ 0 h 17"/>
                    <a:gd name="T17" fmla="*/ 69 w 69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9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68" y="0"/>
                      </a:lnTo>
                      <a:lnTo>
                        <a:pt x="68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92" name="Freeform 1061"/>
                <p:cNvSpPr>
                  <a:spLocks/>
                </p:cNvSpPr>
                <p:nvPr/>
              </p:nvSpPr>
              <p:spPr bwMode="auto">
                <a:xfrm>
                  <a:off x="3931" y="1450"/>
                  <a:ext cx="94" cy="17"/>
                </a:xfrm>
                <a:custGeom>
                  <a:avLst/>
                  <a:gdLst>
                    <a:gd name="T0" fmla="*/ 0 w 94"/>
                    <a:gd name="T1" fmla="*/ 16 h 17"/>
                    <a:gd name="T2" fmla="*/ 0 w 94"/>
                    <a:gd name="T3" fmla="*/ 0 h 17"/>
                    <a:gd name="T4" fmla="*/ 93 w 94"/>
                    <a:gd name="T5" fmla="*/ 0 h 17"/>
                    <a:gd name="T6" fmla="*/ 93 w 94"/>
                    <a:gd name="T7" fmla="*/ 16 h 17"/>
                    <a:gd name="T8" fmla="*/ 0 w 94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4"/>
                    <a:gd name="T16" fmla="*/ 0 h 17"/>
                    <a:gd name="T17" fmla="*/ 94 w 9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4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93" y="0"/>
                      </a:lnTo>
                      <a:lnTo>
                        <a:pt x="93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93" name="Freeform 1062"/>
                <p:cNvSpPr>
                  <a:spLocks/>
                </p:cNvSpPr>
                <p:nvPr/>
              </p:nvSpPr>
              <p:spPr bwMode="auto">
                <a:xfrm>
                  <a:off x="3877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94" name="Freeform 1063"/>
                <p:cNvSpPr>
                  <a:spLocks/>
                </p:cNvSpPr>
                <p:nvPr/>
              </p:nvSpPr>
              <p:spPr bwMode="auto">
                <a:xfrm>
                  <a:off x="388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4 w 17"/>
                    <a:gd name="T7" fmla="*/ 16 h 17"/>
                    <a:gd name="T8" fmla="*/ 8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95" name="Freeform 1064"/>
                <p:cNvSpPr>
                  <a:spLocks/>
                </p:cNvSpPr>
                <p:nvPr/>
              </p:nvSpPr>
              <p:spPr bwMode="auto">
                <a:xfrm>
                  <a:off x="388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96" name="Freeform 1065"/>
                <p:cNvSpPr>
                  <a:spLocks/>
                </p:cNvSpPr>
                <p:nvPr/>
              </p:nvSpPr>
              <p:spPr bwMode="auto">
                <a:xfrm>
                  <a:off x="388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97" name="Freeform 1066"/>
                <p:cNvSpPr>
                  <a:spLocks/>
                </p:cNvSpPr>
                <p:nvPr/>
              </p:nvSpPr>
              <p:spPr bwMode="auto">
                <a:xfrm>
                  <a:off x="388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98" name="Freeform 1067"/>
                <p:cNvSpPr>
                  <a:spLocks/>
                </p:cNvSpPr>
                <p:nvPr/>
              </p:nvSpPr>
              <p:spPr bwMode="auto">
                <a:xfrm>
                  <a:off x="389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99" name="Freeform 1068"/>
                <p:cNvSpPr>
                  <a:spLocks/>
                </p:cNvSpPr>
                <p:nvPr/>
              </p:nvSpPr>
              <p:spPr bwMode="auto">
                <a:xfrm>
                  <a:off x="389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00" name="Freeform 1069"/>
                <p:cNvSpPr>
                  <a:spLocks/>
                </p:cNvSpPr>
                <p:nvPr/>
              </p:nvSpPr>
              <p:spPr bwMode="auto">
                <a:xfrm>
                  <a:off x="3894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01" name="Freeform 1070"/>
                <p:cNvSpPr>
                  <a:spLocks/>
                </p:cNvSpPr>
                <p:nvPr/>
              </p:nvSpPr>
              <p:spPr bwMode="auto">
                <a:xfrm>
                  <a:off x="389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02" name="Freeform 1071"/>
                <p:cNvSpPr>
                  <a:spLocks/>
                </p:cNvSpPr>
                <p:nvPr/>
              </p:nvSpPr>
              <p:spPr bwMode="auto">
                <a:xfrm>
                  <a:off x="390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03" name="Freeform 1072"/>
                <p:cNvSpPr>
                  <a:spLocks/>
                </p:cNvSpPr>
                <p:nvPr/>
              </p:nvSpPr>
              <p:spPr bwMode="auto">
                <a:xfrm>
                  <a:off x="390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0 w 17"/>
                    <a:gd name="T5" fmla="*/ 16 h 17"/>
                    <a:gd name="T6" fmla="*/ 8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0" y="16"/>
                      </a:lnTo>
                      <a:lnTo>
                        <a:pt x="8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04" name="Freeform 1073"/>
                <p:cNvSpPr>
                  <a:spLocks/>
                </p:cNvSpPr>
                <p:nvPr/>
              </p:nvSpPr>
              <p:spPr bwMode="auto">
                <a:xfrm>
                  <a:off x="390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6 h 17"/>
                    <a:gd name="T6" fmla="*/ 8 w 17"/>
                    <a:gd name="T7" fmla="*/ 16 h 17"/>
                    <a:gd name="T8" fmla="*/ 12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05" name="Freeform 1074"/>
                <p:cNvSpPr>
                  <a:spLocks/>
                </p:cNvSpPr>
                <p:nvPr/>
              </p:nvSpPr>
              <p:spPr bwMode="auto">
                <a:xfrm>
                  <a:off x="390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06" name="Freeform 1075"/>
                <p:cNvSpPr>
                  <a:spLocks/>
                </p:cNvSpPr>
                <p:nvPr/>
              </p:nvSpPr>
              <p:spPr bwMode="auto">
                <a:xfrm>
                  <a:off x="391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07" name="Freeform 1076"/>
                <p:cNvSpPr>
                  <a:spLocks/>
                </p:cNvSpPr>
                <p:nvPr/>
              </p:nvSpPr>
              <p:spPr bwMode="auto">
                <a:xfrm>
                  <a:off x="391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08" name="Freeform 1077"/>
                <p:cNvSpPr>
                  <a:spLocks/>
                </p:cNvSpPr>
                <p:nvPr/>
              </p:nvSpPr>
              <p:spPr bwMode="auto">
                <a:xfrm>
                  <a:off x="3916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09" name="Freeform 1078"/>
                <p:cNvSpPr>
                  <a:spLocks/>
                </p:cNvSpPr>
                <p:nvPr/>
              </p:nvSpPr>
              <p:spPr bwMode="auto">
                <a:xfrm>
                  <a:off x="391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10" name="Freeform 1079"/>
                <p:cNvSpPr>
                  <a:spLocks/>
                </p:cNvSpPr>
                <p:nvPr/>
              </p:nvSpPr>
              <p:spPr bwMode="auto">
                <a:xfrm>
                  <a:off x="3921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11" name="Freeform 1080"/>
                <p:cNvSpPr>
                  <a:spLocks/>
                </p:cNvSpPr>
                <p:nvPr/>
              </p:nvSpPr>
              <p:spPr bwMode="auto">
                <a:xfrm>
                  <a:off x="392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12" name="Freeform 1081"/>
                <p:cNvSpPr>
                  <a:spLocks/>
                </p:cNvSpPr>
                <p:nvPr/>
              </p:nvSpPr>
              <p:spPr bwMode="auto">
                <a:xfrm>
                  <a:off x="392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13" name="Freeform 1082"/>
                <p:cNvSpPr>
                  <a:spLocks/>
                </p:cNvSpPr>
                <p:nvPr/>
              </p:nvSpPr>
              <p:spPr bwMode="auto">
                <a:xfrm>
                  <a:off x="3855" y="1279"/>
                  <a:ext cx="187" cy="174"/>
                </a:xfrm>
                <a:custGeom>
                  <a:avLst/>
                  <a:gdLst>
                    <a:gd name="T0" fmla="*/ 180 w 187"/>
                    <a:gd name="T1" fmla="*/ 173 h 174"/>
                    <a:gd name="T2" fmla="*/ 180 w 187"/>
                    <a:gd name="T3" fmla="*/ 173 h 174"/>
                    <a:gd name="T4" fmla="*/ 180 w 187"/>
                    <a:gd name="T5" fmla="*/ 172 h 174"/>
                    <a:gd name="T6" fmla="*/ 182 w 187"/>
                    <a:gd name="T7" fmla="*/ 172 h 174"/>
                    <a:gd name="T8" fmla="*/ 182 w 187"/>
                    <a:gd name="T9" fmla="*/ 172 h 174"/>
                    <a:gd name="T10" fmla="*/ 183 w 187"/>
                    <a:gd name="T11" fmla="*/ 171 h 174"/>
                    <a:gd name="T12" fmla="*/ 183 w 187"/>
                    <a:gd name="T13" fmla="*/ 171 h 174"/>
                    <a:gd name="T14" fmla="*/ 184 w 187"/>
                    <a:gd name="T15" fmla="*/ 171 h 174"/>
                    <a:gd name="T16" fmla="*/ 184 w 187"/>
                    <a:gd name="T17" fmla="*/ 170 h 174"/>
                    <a:gd name="T18" fmla="*/ 184 w 187"/>
                    <a:gd name="T19" fmla="*/ 170 h 174"/>
                    <a:gd name="T20" fmla="*/ 184 w 187"/>
                    <a:gd name="T21" fmla="*/ 169 h 174"/>
                    <a:gd name="T22" fmla="*/ 185 w 187"/>
                    <a:gd name="T23" fmla="*/ 169 h 174"/>
                    <a:gd name="T24" fmla="*/ 185 w 187"/>
                    <a:gd name="T25" fmla="*/ 168 h 174"/>
                    <a:gd name="T26" fmla="*/ 186 w 187"/>
                    <a:gd name="T27" fmla="*/ 167 h 174"/>
                    <a:gd name="T28" fmla="*/ 186 w 187"/>
                    <a:gd name="T29" fmla="*/ 167 h 174"/>
                    <a:gd name="T30" fmla="*/ 186 w 187"/>
                    <a:gd name="T31" fmla="*/ 6 h 174"/>
                    <a:gd name="T32" fmla="*/ 186 w 187"/>
                    <a:gd name="T33" fmla="*/ 5 h 174"/>
                    <a:gd name="T34" fmla="*/ 186 w 187"/>
                    <a:gd name="T35" fmla="*/ 5 h 174"/>
                    <a:gd name="T36" fmla="*/ 185 w 187"/>
                    <a:gd name="T37" fmla="*/ 5 h 174"/>
                    <a:gd name="T38" fmla="*/ 185 w 187"/>
                    <a:gd name="T39" fmla="*/ 3 h 174"/>
                    <a:gd name="T40" fmla="*/ 184 w 187"/>
                    <a:gd name="T41" fmla="*/ 3 h 174"/>
                    <a:gd name="T42" fmla="*/ 184 w 187"/>
                    <a:gd name="T43" fmla="*/ 2 h 174"/>
                    <a:gd name="T44" fmla="*/ 184 w 187"/>
                    <a:gd name="T45" fmla="*/ 1 h 174"/>
                    <a:gd name="T46" fmla="*/ 183 w 187"/>
                    <a:gd name="T47" fmla="*/ 1 h 174"/>
                    <a:gd name="T48" fmla="*/ 183 w 187"/>
                    <a:gd name="T49" fmla="*/ 1 h 174"/>
                    <a:gd name="T50" fmla="*/ 182 w 187"/>
                    <a:gd name="T51" fmla="*/ 1 h 174"/>
                    <a:gd name="T52" fmla="*/ 182 w 187"/>
                    <a:gd name="T53" fmla="*/ 0 h 174"/>
                    <a:gd name="T54" fmla="*/ 180 w 187"/>
                    <a:gd name="T55" fmla="*/ 0 h 174"/>
                    <a:gd name="T56" fmla="*/ 180 w 187"/>
                    <a:gd name="T57" fmla="*/ 0 h 174"/>
                    <a:gd name="T58" fmla="*/ 180 w 187"/>
                    <a:gd name="T59" fmla="*/ 0 h 174"/>
                    <a:gd name="T60" fmla="*/ 5 w 187"/>
                    <a:gd name="T61" fmla="*/ 0 h 174"/>
                    <a:gd name="T62" fmla="*/ 4 w 187"/>
                    <a:gd name="T63" fmla="*/ 0 h 174"/>
                    <a:gd name="T64" fmla="*/ 3 w 187"/>
                    <a:gd name="T65" fmla="*/ 0 h 174"/>
                    <a:gd name="T66" fmla="*/ 3 w 187"/>
                    <a:gd name="T67" fmla="*/ 0 h 174"/>
                    <a:gd name="T68" fmla="*/ 2 w 187"/>
                    <a:gd name="T69" fmla="*/ 0 h 174"/>
                    <a:gd name="T70" fmla="*/ 2 w 187"/>
                    <a:gd name="T71" fmla="*/ 1 h 174"/>
                    <a:gd name="T72" fmla="*/ 1 w 187"/>
                    <a:gd name="T73" fmla="*/ 1 h 174"/>
                    <a:gd name="T74" fmla="*/ 1 w 187"/>
                    <a:gd name="T75" fmla="*/ 1 h 174"/>
                    <a:gd name="T76" fmla="*/ 1 w 187"/>
                    <a:gd name="T77" fmla="*/ 2 h 174"/>
                    <a:gd name="T78" fmla="*/ 0 w 187"/>
                    <a:gd name="T79" fmla="*/ 3 h 174"/>
                    <a:gd name="T80" fmla="*/ 0 w 187"/>
                    <a:gd name="T81" fmla="*/ 3 h 174"/>
                    <a:gd name="T82" fmla="*/ 0 w 187"/>
                    <a:gd name="T83" fmla="*/ 3 h 174"/>
                    <a:gd name="T84" fmla="*/ 0 w 187"/>
                    <a:gd name="T85" fmla="*/ 5 h 174"/>
                    <a:gd name="T86" fmla="*/ 0 w 187"/>
                    <a:gd name="T87" fmla="*/ 5 h 174"/>
                    <a:gd name="T88" fmla="*/ 0 w 187"/>
                    <a:gd name="T89" fmla="*/ 6 h 174"/>
                    <a:gd name="T90" fmla="*/ 0 w 187"/>
                    <a:gd name="T91" fmla="*/ 167 h 174"/>
                    <a:gd name="T92" fmla="*/ 0 w 187"/>
                    <a:gd name="T93" fmla="*/ 167 h 174"/>
                    <a:gd name="T94" fmla="*/ 0 w 187"/>
                    <a:gd name="T95" fmla="*/ 168 h 174"/>
                    <a:gd name="T96" fmla="*/ 0 w 187"/>
                    <a:gd name="T97" fmla="*/ 169 h 174"/>
                    <a:gd name="T98" fmla="*/ 0 w 187"/>
                    <a:gd name="T99" fmla="*/ 169 h 174"/>
                    <a:gd name="T100" fmla="*/ 0 w 187"/>
                    <a:gd name="T101" fmla="*/ 170 h 174"/>
                    <a:gd name="T102" fmla="*/ 1 w 187"/>
                    <a:gd name="T103" fmla="*/ 170 h 174"/>
                    <a:gd name="T104" fmla="*/ 1 w 187"/>
                    <a:gd name="T105" fmla="*/ 171 h 174"/>
                    <a:gd name="T106" fmla="*/ 1 w 187"/>
                    <a:gd name="T107" fmla="*/ 171 h 174"/>
                    <a:gd name="T108" fmla="*/ 2 w 187"/>
                    <a:gd name="T109" fmla="*/ 171 h 174"/>
                    <a:gd name="T110" fmla="*/ 2 w 187"/>
                    <a:gd name="T111" fmla="*/ 172 h 174"/>
                    <a:gd name="T112" fmla="*/ 2 w 187"/>
                    <a:gd name="T113" fmla="*/ 172 h 174"/>
                    <a:gd name="T114" fmla="*/ 3 w 187"/>
                    <a:gd name="T115" fmla="*/ 172 h 174"/>
                    <a:gd name="T116" fmla="*/ 3 w 187"/>
                    <a:gd name="T117" fmla="*/ 172 h 174"/>
                    <a:gd name="T118" fmla="*/ 4 w 187"/>
                    <a:gd name="T119" fmla="*/ 173 h 174"/>
                    <a:gd name="T120" fmla="*/ 5 w 187"/>
                    <a:gd name="T121" fmla="*/ 173 h 174"/>
                    <a:gd name="T122" fmla="*/ 180 w 187"/>
                    <a:gd name="T123" fmla="*/ 173 h 174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w 187"/>
                    <a:gd name="T187" fmla="*/ 0 h 174"/>
                    <a:gd name="T188" fmla="*/ 187 w 187"/>
                    <a:gd name="T189" fmla="*/ 174 h 174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T186" t="T187" r="T188" b="T189"/>
                  <a:pathLst>
                    <a:path w="187" h="174">
                      <a:moveTo>
                        <a:pt x="180" y="173"/>
                      </a:moveTo>
                      <a:lnTo>
                        <a:pt x="180" y="173"/>
                      </a:lnTo>
                      <a:lnTo>
                        <a:pt x="180" y="172"/>
                      </a:lnTo>
                      <a:lnTo>
                        <a:pt x="182" y="172"/>
                      </a:lnTo>
                      <a:lnTo>
                        <a:pt x="183" y="171"/>
                      </a:lnTo>
                      <a:lnTo>
                        <a:pt x="184" y="171"/>
                      </a:lnTo>
                      <a:lnTo>
                        <a:pt x="184" y="170"/>
                      </a:lnTo>
                      <a:lnTo>
                        <a:pt x="184" y="169"/>
                      </a:lnTo>
                      <a:lnTo>
                        <a:pt x="185" y="169"/>
                      </a:lnTo>
                      <a:lnTo>
                        <a:pt x="185" y="168"/>
                      </a:lnTo>
                      <a:lnTo>
                        <a:pt x="186" y="167"/>
                      </a:lnTo>
                      <a:lnTo>
                        <a:pt x="186" y="6"/>
                      </a:lnTo>
                      <a:lnTo>
                        <a:pt x="186" y="5"/>
                      </a:lnTo>
                      <a:lnTo>
                        <a:pt x="185" y="5"/>
                      </a:lnTo>
                      <a:lnTo>
                        <a:pt x="185" y="3"/>
                      </a:lnTo>
                      <a:lnTo>
                        <a:pt x="184" y="3"/>
                      </a:lnTo>
                      <a:lnTo>
                        <a:pt x="184" y="2"/>
                      </a:lnTo>
                      <a:lnTo>
                        <a:pt x="184" y="1"/>
                      </a:lnTo>
                      <a:lnTo>
                        <a:pt x="183" y="1"/>
                      </a:lnTo>
                      <a:lnTo>
                        <a:pt x="182" y="1"/>
                      </a:lnTo>
                      <a:lnTo>
                        <a:pt x="182" y="0"/>
                      </a:lnTo>
                      <a:lnTo>
                        <a:pt x="180" y="0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2" y="1"/>
                      </a:lnTo>
                      <a:lnTo>
                        <a:pt x="1" y="1"/>
                      </a:lnTo>
                      <a:lnTo>
                        <a:pt x="1" y="2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0" y="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0" y="169"/>
                      </a:lnTo>
                      <a:lnTo>
                        <a:pt x="0" y="170"/>
                      </a:lnTo>
                      <a:lnTo>
                        <a:pt x="1" y="170"/>
                      </a:lnTo>
                      <a:lnTo>
                        <a:pt x="1" y="171"/>
                      </a:lnTo>
                      <a:lnTo>
                        <a:pt x="2" y="171"/>
                      </a:lnTo>
                      <a:lnTo>
                        <a:pt x="2" y="172"/>
                      </a:lnTo>
                      <a:lnTo>
                        <a:pt x="3" y="172"/>
                      </a:lnTo>
                      <a:lnTo>
                        <a:pt x="4" y="173"/>
                      </a:lnTo>
                      <a:lnTo>
                        <a:pt x="5" y="173"/>
                      </a:lnTo>
                      <a:lnTo>
                        <a:pt x="180" y="173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14" name="Freeform 1083"/>
                <p:cNvSpPr>
                  <a:spLocks/>
                </p:cNvSpPr>
                <p:nvPr/>
              </p:nvSpPr>
              <p:spPr bwMode="auto">
                <a:xfrm>
                  <a:off x="3855" y="1281"/>
                  <a:ext cx="186" cy="172"/>
                </a:xfrm>
                <a:custGeom>
                  <a:avLst/>
                  <a:gdLst>
                    <a:gd name="T0" fmla="*/ 185 w 186"/>
                    <a:gd name="T1" fmla="*/ 165 h 172"/>
                    <a:gd name="T2" fmla="*/ 185 w 186"/>
                    <a:gd name="T3" fmla="*/ 166 h 172"/>
                    <a:gd name="T4" fmla="*/ 185 w 186"/>
                    <a:gd name="T5" fmla="*/ 167 h 172"/>
                    <a:gd name="T6" fmla="*/ 184 w 186"/>
                    <a:gd name="T7" fmla="*/ 167 h 172"/>
                    <a:gd name="T8" fmla="*/ 184 w 186"/>
                    <a:gd name="T9" fmla="*/ 168 h 172"/>
                    <a:gd name="T10" fmla="*/ 183 w 186"/>
                    <a:gd name="T11" fmla="*/ 169 h 172"/>
                    <a:gd name="T12" fmla="*/ 183 w 186"/>
                    <a:gd name="T13" fmla="*/ 169 h 172"/>
                    <a:gd name="T14" fmla="*/ 182 w 186"/>
                    <a:gd name="T15" fmla="*/ 170 h 172"/>
                    <a:gd name="T16" fmla="*/ 182 w 186"/>
                    <a:gd name="T17" fmla="*/ 170 h 172"/>
                    <a:gd name="T18" fmla="*/ 181 w 186"/>
                    <a:gd name="T19" fmla="*/ 170 h 172"/>
                    <a:gd name="T20" fmla="*/ 181 w 186"/>
                    <a:gd name="T21" fmla="*/ 171 h 172"/>
                    <a:gd name="T22" fmla="*/ 180 w 186"/>
                    <a:gd name="T23" fmla="*/ 171 h 172"/>
                    <a:gd name="T24" fmla="*/ 179 w 186"/>
                    <a:gd name="T25" fmla="*/ 171 h 172"/>
                    <a:gd name="T26" fmla="*/ 4 w 186"/>
                    <a:gd name="T27" fmla="*/ 171 h 172"/>
                    <a:gd name="T28" fmla="*/ 3 w 186"/>
                    <a:gd name="T29" fmla="*/ 171 h 172"/>
                    <a:gd name="T30" fmla="*/ 3 w 186"/>
                    <a:gd name="T31" fmla="*/ 171 h 172"/>
                    <a:gd name="T32" fmla="*/ 3 w 186"/>
                    <a:gd name="T33" fmla="*/ 170 h 172"/>
                    <a:gd name="T34" fmla="*/ 2 w 186"/>
                    <a:gd name="T35" fmla="*/ 170 h 172"/>
                    <a:gd name="T36" fmla="*/ 2 w 186"/>
                    <a:gd name="T37" fmla="*/ 170 h 172"/>
                    <a:gd name="T38" fmla="*/ 1 w 186"/>
                    <a:gd name="T39" fmla="*/ 169 h 172"/>
                    <a:gd name="T40" fmla="*/ 1 w 186"/>
                    <a:gd name="T41" fmla="*/ 169 h 172"/>
                    <a:gd name="T42" fmla="*/ 0 w 186"/>
                    <a:gd name="T43" fmla="*/ 169 h 172"/>
                    <a:gd name="T44" fmla="*/ 0 w 186"/>
                    <a:gd name="T45" fmla="*/ 168 h 172"/>
                    <a:gd name="T46" fmla="*/ 0 w 186"/>
                    <a:gd name="T47" fmla="*/ 167 h 172"/>
                    <a:gd name="T48" fmla="*/ 0 w 186"/>
                    <a:gd name="T49" fmla="*/ 167 h 172"/>
                    <a:gd name="T50" fmla="*/ 0 w 186"/>
                    <a:gd name="T51" fmla="*/ 166 h 172"/>
                    <a:gd name="T52" fmla="*/ 0 w 186"/>
                    <a:gd name="T53" fmla="*/ 165 h 172"/>
                    <a:gd name="T54" fmla="*/ 0 w 186"/>
                    <a:gd name="T55" fmla="*/ 5 h 172"/>
                    <a:gd name="T56" fmla="*/ 0 w 186"/>
                    <a:gd name="T57" fmla="*/ 4 h 172"/>
                    <a:gd name="T58" fmla="*/ 0 w 186"/>
                    <a:gd name="T59" fmla="*/ 3 h 172"/>
                    <a:gd name="T60" fmla="*/ 0 w 186"/>
                    <a:gd name="T61" fmla="*/ 3 h 172"/>
                    <a:gd name="T62" fmla="*/ 0 w 186"/>
                    <a:gd name="T63" fmla="*/ 2 h 172"/>
                    <a:gd name="T64" fmla="*/ 0 w 186"/>
                    <a:gd name="T65" fmla="*/ 2 h 172"/>
                    <a:gd name="T66" fmla="*/ 1 w 186"/>
                    <a:gd name="T67" fmla="*/ 1 h 172"/>
                    <a:gd name="T68" fmla="*/ 1 w 186"/>
                    <a:gd name="T69" fmla="*/ 1 h 172"/>
                    <a:gd name="T70" fmla="*/ 2 w 186"/>
                    <a:gd name="T71" fmla="*/ 1 h 172"/>
                    <a:gd name="T72" fmla="*/ 2 w 186"/>
                    <a:gd name="T73" fmla="*/ 0 h 172"/>
                    <a:gd name="T74" fmla="*/ 2 w 186"/>
                    <a:gd name="T75" fmla="*/ 0 h 172"/>
                    <a:gd name="T76" fmla="*/ 3 w 186"/>
                    <a:gd name="T77" fmla="*/ 0 h 172"/>
                    <a:gd name="T78" fmla="*/ 3 w 186"/>
                    <a:gd name="T79" fmla="*/ 0 h 172"/>
                    <a:gd name="T80" fmla="*/ 4 w 186"/>
                    <a:gd name="T81" fmla="*/ 0 h 172"/>
                    <a:gd name="T82" fmla="*/ 179 w 186"/>
                    <a:gd name="T83" fmla="*/ 0 h 172"/>
                    <a:gd name="T84" fmla="*/ 180 w 186"/>
                    <a:gd name="T85" fmla="*/ 0 h 172"/>
                    <a:gd name="T86" fmla="*/ 181 w 186"/>
                    <a:gd name="T87" fmla="*/ 0 h 172"/>
                    <a:gd name="T88" fmla="*/ 181 w 186"/>
                    <a:gd name="T89" fmla="*/ 0 h 172"/>
                    <a:gd name="T90" fmla="*/ 182 w 186"/>
                    <a:gd name="T91" fmla="*/ 0 h 172"/>
                    <a:gd name="T92" fmla="*/ 182 w 186"/>
                    <a:gd name="T93" fmla="*/ 1 h 172"/>
                    <a:gd name="T94" fmla="*/ 183 w 186"/>
                    <a:gd name="T95" fmla="*/ 1 h 172"/>
                    <a:gd name="T96" fmla="*/ 183 w 186"/>
                    <a:gd name="T97" fmla="*/ 1 h 172"/>
                    <a:gd name="T98" fmla="*/ 183 w 186"/>
                    <a:gd name="T99" fmla="*/ 2 h 172"/>
                    <a:gd name="T100" fmla="*/ 184 w 186"/>
                    <a:gd name="T101" fmla="*/ 2 h 172"/>
                    <a:gd name="T102" fmla="*/ 184 w 186"/>
                    <a:gd name="T103" fmla="*/ 3 h 172"/>
                    <a:gd name="T104" fmla="*/ 185 w 186"/>
                    <a:gd name="T105" fmla="*/ 3 h 172"/>
                    <a:gd name="T106" fmla="*/ 185 w 186"/>
                    <a:gd name="T107" fmla="*/ 4 h 172"/>
                    <a:gd name="T108" fmla="*/ 185 w 186"/>
                    <a:gd name="T109" fmla="*/ 5 h 172"/>
                    <a:gd name="T110" fmla="*/ 185 w 186"/>
                    <a:gd name="T111" fmla="*/ 165 h 172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86"/>
                    <a:gd name="T169" fmla="*/ 0 h 172"/>
                    <a:gd name="T170" fmla="*/ 186 w 186"/>
                    <a:gd name="T171" fmla="*/ 172 h 172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86" h="172">
                      <a:moveTo>
                        <a:pt x="185" y="165"/>
                      </a:moveTo>
                      <a:lnTo>
                        <a:pt x="185" y="166"/>
                      </a:lnTo>
                      <a:lnTo>
                        <a:pt x="185" y="167"/>
                      </a:lnTo>
                      <a:lnTo>
                        <a:pt x="184" y="167"/>
                      </a:lnTo>
                      <a:lnTo>
                        <a:pt x="184" y="168"/>
                      </a:lnTo>
                      <a:lnTo>
                        <a:pt x="183" y="169"/>
                      </a:lnTo>
                      <a:lnTo>
                        <a:pt x="182" y="170"/>
                      </a:lnTo>
                      <a:lnTo>
                        <a:pt x="181" y="170"/>
                      </a:lnTo>
                      <a:lnTo>
                        <a:pt x="181" y="171"/>
                      </a:lnTo>
                      <a:lnTo>
                        <a:pt x="180" y="171"/>
                      </a:lnTo>
                      <a:lnTo>
                        <a:pt x="179" y="171"/>
                      </a:lnTo>
                      <a:lnTo>
                        <a:pt x="4" y="171"/>
                      </a:lnTo>
                      <a:lnTo>
                        <a:pt x="3" y="171"/>
                      </a:lnTo>
                      <a:lnTo>
                        <a:pt x="3" y="170"/>
                      </a:lnTo>
                      <a:lnTo>
                        <a:pt x="2" y="170"/>
                      </a:lnTo>
                      <a:lnTo>
                        <a:pt x="1" y="169"/>
                      </a:lnTo>
                      <a:lnTo>
                        <a:pt x="0" y="169"/>
                      </a:lnTo>
                      <a:lnTo>
                        <a:pt x="0" y="168"/>
                      </a:lnTo>
                      <a:lnTo>
                        <a:pt x="0" y="167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79" y="0"/>
                      </a:lnTo>
                      <a:lnTo>
                        <a:pt x="180" y="0"/>
                      </a:lnTo>
                      <a:lnTo>
                        <a:pt x="181" y="0"/>
                      </a:lnTo>
                      <a:lnTo>
                        <a:pt x="182" y="0"/>
                      </a:lnTo>
                      <a:lnTo>
                        <a:pt x="182" y="1"/>
                      </a:lnTo>
                      <a:lnTo>
                        <a:pt x="183" y="1"/>
                      </a:lnTo>
                      <a:lnTo>
                        <a:pt x="183" y="2"/>
                      </a:lnTo>
                      <a:lnTo>
                        <a:pt x="184" y="2"/>
                      </a:lnTo>
                      <a:lnTo>
                        <a:pt x="184" y="3"/>
                      </a:lnTo>
                      <a:lnTo>
                        <a:pt x="185" y="3"/>
                      </a:lnTo>
                      <a:lnTo>
                        <a:pt x="185" y="4"/>
                      </a:lnTo>
                      <a:lnTo>
                        <a:pt x="185" y="5"/>
                      </a:lnTo>
                      <a:lnTo>
                        <a:pt x="185" y="165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15" name="Freeform 1084"/>
                <p:cNvSpPr>
                  <a:spLocks/>
                </p:cNvSpPr>
                <p:nvPr/>
              </p:nvSpPr>
              <p:spPr bwMode="auto">
                <a:xfrm>
                  <a:off x="3857" y="1281"/>
                  <a:ext cx="181" cy="171"/>
                </a:xfrm>
                <a:custGeom>
                  <a:avLst/>
                  <a:gdLst>
                    <a:gd name="T0" fmla="*/ 180 w 181"/>
                    <a:gd name="T1" fmla="*/ 3 h 171"/>
                    <a:gd name="T2" fmla="*/ 180 w 181"/>
                    <a:gd name="T3" fmla="*/ 3 h 171"/>
                    <a:gd name="T4" fmla="*/ 180 w 181"/>
                    <a:gd name="T5" fmla="*/ 2 h 171"/>
                    <a:gd name="T6" fmla="*/ 179 w 181"/>
                    <a:gd name="T7" fmla="*/ 2 h 171"/>
                    <a:gd name="T8" fmla="*/ 179 w 181"/>
                    <a:gd name="T9" fmla="*/ 1 h 171"/>
                    <a:gd name="T10" fmla="*/ 178 w 181"/>
                    <a:gd name="T11" fmla="*/ 1 h 171"/>
                    <a:gd name="T12" fmla="*/ 178 w 181"/>
                    <a:gd name="T13" fmla="*/ 0 h 171"/>
                    <a:gd name="T14" fmla="*/ 177 w 181"/>
                    <a:gd name="T15" fmla="*/ 0 h 171"/>
                    <a:gd name="T16" fmla="*/ 177 w 181"/>
                    <a:gd name="T17" fmla="*/ 0 h 171"/>
                    <a:gd name="T18" fmla="*/ 177 w 181"/>
                    <a:gd name="T19" fmla="*/ 0 h 171"/>
                    <a:gd name="T20" fmla="*/ 176 w 181"/>
                    <a:gd name="T21" fmla="*/ 0 h 171"/>
                    <a:gd name="T22" fmla="*/ 176 w 181"/>
                    <a:gd name="T23" fmla="*/ 0 h 171"/>
                    <a:gd name="T24" fmla="*/ 3 w 181"/>
                    <a:gd name="T25" fmla="*/ 0 h 171"/>
                    <a:gd name="T26" fmla="*/ 3 w 181"/>
                    <a:gd name="T27" fmla="*/ 0 h 171"/>
                    <a:gd name="T28" fmla="*/ 2 w 181"/>
                    <a:gd name="T29" fmla="*/ 0 h 171"/>
                    <a:gd name="T30" fmla="*/ 2 w 181"/>
                    <a:gd name="T31" fmla="*/ 0 h 171"/>
                    <a:gd name="T32" fmla="*/ 1 w 181"/>
                    <a:gd name="T33" fmla="*/ 0 h 171"/>
                    <a:gd name="T34" fmla="*/ 1 w 181"/>
                    <a:gd name="T35" fmla="*/ 0 h 171"/>
                    <a:gd name="T36" fmla="*/ 1 w 181"/>
                    <a:gd name="T37" fmla="*/ 1 h 171"/>
                    <a:gd name="T38" fmla="*/ 0 w 181"/>
                    <a:gd name="T39" fmla="*/ 1 h 171"/>
                    <a:gd name="T40" fmla="*/ 0 w 181"/>
                    <a:gd name="T41" fmla="*/ 1 h 171"/>
                    <a:gd name="T42" fmla="*/ 0 w 181"/>
                    <a:gd name="T43" fmla="*/ 2 h 171"/>
                    <a:gd name="T44" fmla="*/ 0 w 181"/>
                    <a:gd name="T45" fmla="*/ 3 h 171"/>
                    <a:gd name="T46" fmla="*/ 0 w 181"/>
                    <a:gd name="T47" fmla="*/ 3 h 171"/>
                    <a:gd name="T48" fmla="*/ 0 w 181"/>
                    <a:gd name="T49" fmla="*/ 166 h 171"/>
                    <a:gd name="T50" fmla="*/ 0 w 181"/>
                    <a:gd name="T51" fmla="*/ 166 h 171"/>
                    <a:gd name="T52" fmla="*/ 0 w 181"/>
                    <a:gd name="T53" fmla="*/ 167 h 171"/>
                    <a:gd name="T54" fmla="*/ 0 w 181"/>
                    <a:gd name="T55" fmla="*/ 168 h 171"/>
                    <a:gd name="T56" fmla="*/ 0 w 181"/>
                    <a:gd name="T57" fmla="*/ 168 h 171"/>
                    <a:gd name="T58" fmla="*/ 1 w 181"/>
                    <a:gd name="T59" fmla="*/ 168 h 171"/>
                    <a:gd name="T60" fmla="*/ 1 w 181"/>
                    <a:gd name="T61" fmla="*/ 169 h 171"/>
                    <a:gd name="T62" fmla="*/ 2 w 181"/>
                    <a:gd name="T63" fmla="*/ 169 h 171"/>
                    <a:gd name="T64" fmla="*/ 2 w 181"/>
                    <a:gd name="T65" fmla="*/ 169 h 171"/>
                    <a:gd name="T66" fmla="*/ 3 w 181"/>
                    <a:gd name="T67" fmla="*/ 170 h 171"/>
                    <a:gd name="T68" fmla="*/ 3 w 181"/>
                    <a:gd name="T69" fmla="*/ 170 h 171"/>
                    <a:gd name="T70" fmla="*/ 176 w 181"/>
                    <a:gd name="T71" fmla="*/ 170 h 171"/>
                    <a:gd name="T72" fmla="*/ 176 w 181"/>
                    <a:gd name="T73" fmla="*/ 169 h 171"/>
                    <a:gd name="T74" fmla="*/ 177 w 181"/>
                    <a:gd name="T75" fmla="*/ 169 h 171"/>
                    <a:gd name="T76" fmla="*/ 177 w 181"/>
                    <a:gd name="T77" fmla="*/ 169 h 171"/>
                    <a:gd name="T78" fmla="*/ 178 w 181"/>
                    <a:gd name="T79" fmla="*/ 169 h 171"/>
                    <a:gd name="T80" fmla="*/ 178 w 181"/>
                    <a:gd name="T81" fmla="*/ 168 h 171"/>
                    <a:gd name="T82" fmla="*/ 178 w 181"/>
                    <a:gd name="T83" fmla="*/ 168 h 171"/>
                    <a:gd name="T84" fmla="*/ 179 w 181"/>
                    <a:gd name="T85" fmla="*/ 168 h 171"/>
                    <a:gd name="T86" fmla="*/ 179 w 181"/>
                    <a:gd name="T87" fmla="*/ 167 h 171"/>
                    <a:gd name="T88" fmla="*/ 180 w 181"/>
                    <a:gd name="T89" fmla="*/ 166 h 171"/>
                    <a:gd name="T90" fmla="*/ 180 w 181"/>
                    <a:gd name="T91" fmla="*/ 166 h 171"/>
                    <a:gd name="T92" fmla="*/ 180 w 181"/>
                    <a:gd name="T93" fmla="*/ 3 h 171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w 181"/>
                    <a:gd name="T142" fmla="*/ 0 h 171"/>
                    <a:gd name="T143" fmla="*/ 181 w 181"/>
                    <a:gd name="T144" fmla="*/ 171 h 171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T141" t="T142" r="T143" b="T144"/>
                  <a:pathLst>
                    <a:path w="181" h="171">
                      <a:moveTo>
                        <a:pt x="180" y="3"/>
                      </a:moveTo>
                      <a:lnTo>
                        <a:pt x="180" y="3"/>
                      </a:lnTo>
                      <a:lnTo>
                        <a:pt x="180" y="2"/>
                      </a:lnTo>
                      <a:lnTo>
                        <a:pt x="179" y="2"/>
                      </a:lnTo>
                      <a:lnTo>
                        <a:pt x="179" y="1"/>
                      </a:lnTo>
                      <a:lnTo>
                        <a:pt x="178" y="1"/>
                      </a:lnTo>
                      <a:lnTo>
                        <a:pt x="178" y="0"/>
                      </a:lnTo>
                      <a:lnTo>
                        <a:pt x="177" y="0"/>
                      </a:lnTo>
                      <a:lnTo>
                        <a:pt x="17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16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1" y="169"/>
                      </a:lnTo>
                      <a:lnTo>
                        <a:pt x="2" y="169"/>
                      </a:lnTo>
                      <a:lnTo>
                        <a:pt x="3" y="170"/>
                      </a:lnTo>
                      <a:lnTo>
                        <a:pt x="176" y="170"/>
                      </a:lnTo>
                      <a:lnTo>
                        <a:pt x="176" y="169"/>
                      </a:lnTo>
                      <a:lnTo>
                        <a:pt x="177" y="169"/>
                      </a:lnTo>
                      <a:lnTo>
                        <a:pt x="178" y="169"/>
                      </a:lnTo>
                      <a:lnTo>
                        <a:pt x="178" y="168"/>
                      </a:lnTo>
                      <a:lnTo>
                        <a:pt x="179" y="168"/>
                      </a:lnTo>
                      <a:lnTo>
                        <a:pt x="179" y="167"/>
                      </a:lnTo>
                      <a:lnTo>
                        <a:pt x="180" y="166"/>
                      </a:lnTo>
                      <a:lnTo>
                        <a:pt x="180" y="3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16" name="Freeform 1085"/>
                <p:cNvSpPr>
                  <a:spLocks/>
                </p:cNvSpPr>
                <p:nvPr/>
              </p:nvSpPr>
              <p:spPr bwMode="auto">
                <a:xfrm>
                  <a:off x="3858" y="1282"/>
                  <a:ext cx="180" cy="168"/>
                </a:xfrm>
                <a:custGeom>
                  <a:avLst/>
                  <a:gdLst>
                    <a:gd name="T0" fmla="*/ 179 w 180"/>
                    <a:gd name="T1" fmla="*/ 163 h 168"/>
                    <a:gd name="T2" fmla="*/ 179 w 180"/>
                    <a:gd name="T3" fmla="*/ 164 h 168"/>
                    <a:gd name="T4" fmla="*/ 178 w 180"/>
                    <a:gd name="T5" fmla="*/ 165 h 168"/>
                    <a:gd name="T6" fmla="*/ 178 w 180"/>
                    <a:gd name="T7" fmla="*/ 165 h 168"/>
                    <a:gd name="T8" fmla="*/ 177 w 180"/>
                    <a:gd name="T9" fmla="*/ 166 h 168"/>
                    <a:gd name="T10" fmla="*/ 177 w 180"/>
                    <a:gd name="T11" fmla="*/ 166 h 168"/>
                    <a:gd name="T12" fmla="*/ 176 w 180"/>
                    <a:gd name="T13" fmla="*/ 167 h 168"/>
                    <a:gd name="T14" fmla="*/ 176 w 180"/>
                    <a:gd name="T15" fmla="*/ 167 h 168"/>
                    <a:gd name="T16" fmla="*/ 2 w 180"/>
                    <a:gd name="T17" fmla="*/ 167 h 168"/>
                    <a:gd name="T18" fmla="*/ 2 w 180"/>
                    <a:gd name="T19" fmla="*/ 167 h 168"/>
                    <a:gd name="T20" fmla="*/ 1 w 180"/>
                    <a:gd name="T21" fmla="*/ 167 h 168"/>
                    <a:gd name="T22" fmla="*/ 1 w 180"/>
                    <a:gd name="T23" fmla="*/ 166 h 168"/>
                    <a:gd name="T24" fmla="*/ 1 w 180"/>
                    <a:gd name="T25" fmla="*/ 166 h 168"/>
                    <a:gd name="T26" fmla="*/ 0 w 180"/>
                    <a:gd name="T27" fmla="*/ 166 h 168"/>
                    <a:gd name="T28" fmla="*/ 0 w 180"/>
                    <a:gd name="T29" fmla="*/ 165 h 168"/>
                    <a:gd name="T30" fmla="*/ 0 w 180"/>
                    <a:gd name="T31" fmla="*/ 165 h 168"/>
                    <a:gd name="T32" fmla="*/ 0 w 180"/>
                    <a:gd name="T33" fmla="*/ 165 h 168"/>
                    <a:gd name="T34" fmla="*/ 0 w 180"/>
                    <a:gd name="T35" fmla="*/ 164 h 168"/>
                    <a:gd name="T36" fmla="*/ 0 w 180"/>
                    <a:gd name="T37" fmla="*/ 163 h 168"/>
                    <a:gd name="T38" fmla="*/ 0 w 180"/>
                    <a:gd name="T39" fmla="*/ 3 h 168"/>
                    <a:gd name="T40" fmla="*/ 0 w 180"/>
                    <a:gd name="T41" fmla="*/ 2 h 168"/>
                    <a:gd name="T42" fmla="*/ 0 w 180"/>
                    <a:gd name="T43" fmla="*/ 1 h 168"/>
                    <a:gd name="T44" fmla="*/ 0 w 180"/>
                    <a:gd name="T45" fmla="*/ 1 h 168"/>
                    <a:gd name="T46" fmla="*/ 0 w 180"/>
                    <a:gd name="T47" fmla="*/ 1 h 168"/>
                    <a:gd name="T48" fmla="*/ 1 w 180"/>
                    <a:gd name="T49" fmla="*/ 0 h 168"/>
                    <a:gd name="T50" fmla="*/ 1 w 180"/>
                    <a:gd name="T51" fmla="*/ 0 h 168"/>
                    <a:gd name="T52" fmla="*/ 2 w 180"/>
                    <a:gd name="T53" fmla="*/ 0 h 168"/>
                    <a:gd name="T54" fmla="*/ 2 w 180"/>
                    <a:gd name="T55" fmla="*/ 0 h 168"/>
                    <a:gd name="T56" fmla="*/ 176 w 180"/>
                    <a:gd name="T57" fmla="*/ 0 h 168"/>
                    <a:gd name="T58" fmla="*/ 176 w 180"/>
                    <a:gd name="T59" fmla="*/ 0 h 168"/>
                    <a:gd name="T60" fmla="*/ 176 w 180"/>
                    <a:gd name="T61" fmla="*/ 0 h 168"/>
                    <a:gd name="T62" fmla="*/ 177 w 180"/>
                    <a:gd name="T63" fmla="*/ 0 h 168"/>
                    <a:gd name="T64" fmla="*/ 177 w 180"/>
                    <a:gd name="T65" fmla="*/ 0 h 168"/>
                    <a:gd name="T66" fmla="*/ 177 w 180"/>
                    <a:gd name="T67" fmla="*/ 1 h 168"/>
                    <a:gd name="T68" fmla="*/ 178 w 180"/>
                    <a:gd name="T69" fmla="*/ 1 h 168"/>
                    <a:gd name="T70" fmla="*/ 178 w 180"/>
                    <a:gd name="T71" fmla="*/ 1 h 168"/>
                    <a:gd name="T72" fmla="*/ 179 w 180"/>
                    <a:gd name="T73" fmla="*/ 2 h 168"/>
                    <a:gd name="T74" fmla="*/ 179 w 180"/>
                    <a:gd name="T75" fmla="*/ 3 h 168"/>
                    <a:gd name="T76" fmla="*/ 179 w 180"/>
                    <a:gd name="T77" fmla="*/ 16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80"/>
                    <a:gd name="T118" fmla="*/ 0 h 168"/>
                    <a:gd name="T119" fmla="*/ 180 w 180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80" h="168">
                      <a:moveTo>
                        <a:pt x="179" y="163"/>
                      </a:moveTo>
                      <a:lnTo>
                        <a:pt x="179" y="164"/>
                      </a:lnTo>
                      <a:lnTo>
                        <a:pt x="178" y="165"/>
                      </a:lnTo>
                      <a:lnTo>
                        <a:pt x="177" y="166"/>
                      </a:lnTo>
                      <a:lnTo>
                        <a:pt x="176" y="167"/>
                      </a:lnTo>
                      <a:lnTo>
                        <a:pt x="2" y="167"/>
                      </a:lnTo>
                      <a:lnTo>
                        <a:pt x="1" y="167"/>
                      </a:lnTo>
                      <a:lnTo>
                        <a:pt x="1" y="166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164"/>
                      </a:lnTo>
                      <a:lnTo>
                        <a:pt x="0" y="163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2" y="0"/>
                      </a:lnTo>
                      <a:lnTo>
                        <a:pt x="176" y="0"/>
                      </a:lnTo>
                      <a:lnTo>
                        <a:pt x="177" y="0"/>
                      </a:lnTo>
                      <a:lnTo>
                        <a:pt x="177" y="1"/>
                      </a:lnTo>
                      <a:lnTo>
                        <a:pt x="178" y="1"/>
                      </a:lnTo>
                      <a:lnTo>
                        <a:pt x="179" y="2"/>
                      </a:lnTo>
                      <a:lnTo>
                        <a:pt x="179" y="3"/>
                      </a:lnTo>
                      <a:lnTo>
                        <a:pt x="179" y="163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17" name="Freeform 1086"/>
                <p:cNvSpPr>
                  <a:spLocks/>
                </p:cNvSpPr>
                <p:nvPr/>
              </p:nvSpPr>
              <p:spPr bwMode="auto">
                <a:xfrm>
                  <a:off x="3877" y="1304"/>
                  <a:ext cx="142" cy="124"/>
                </a:xfrm>
                <a:custGeom>
                  <a:avLst/>
                  <a:gdLst>
                    <a:gd name="T0" fmla="*/ 0 w 142"/>
                    <a:gd name="T1" fmla="*/ 1 h 124"/>
                    <a:gd name="T2" fmla="*/ 1 w 142"/>
                    <a:gd name="T3" fmla="*/ 1 h 124"/>
                    <a:gd name="T4" fmla="*/ 1 w 142"/>
                    <a:gd name="T5" fmla="*/ 1 h 124"/>
                    <a:gd name="T6" fmla="*/ 2 w 142"/>
                    <a:gd name="T7" fmla="*/ 0 h 124"/>
                    <a:gd name="T8" fmla="*/ 2 w 142"/>
                    <a:gd name="T9" fmla="*/ 0 h 124"/>
                    <a:gd name="T10" fmla="*/ 3 w 142"/>
                    <a:gd name="T11" fmla="*/ 0 h 124"/>
                    <a:gd name="T12" fmla="*/ 3 w 142"/>
                    <a:gd name="T13" fmla="*/ 0 h 124"/>
                    <a:gd name="T14" fmla="*/ 4 w 142"/>
                    <a:gd name="T15" fmla="*/ 0 h 124"/>
                    <a:gd name="T16" fmla="*/ 135 w 142"/>
                    <a:gd name="T17" fmla="*/ 0 h 124"/>
                    <a:gd name="T18" fmla="*/ 136 w 142"/>
                    <a:gd name="T19" fmla="*/ 0 h 124"/>
                    <a:gd name="T20" fmla="*/ 137 w 142"/>
                    <a:gd name="T21" fmla="*/ 0 h 124"/>
                    <a:gd name="T22" fmla="*/ 137 w 142"/>
                    <a:gd name="T23" fmla="*/ 0 h 124"/>
                    <a:gd name="T24" fmla="*/ 138 w 142"/>
                    <a:gd name="T25" fmla="*/ 0 h 124"/>
                    <a:gd name="T26" fmla="*/ 138 w 142"/>
                    <a:gd name="T27" fmla="*/ 1 h 124"/>
                    <a:gd name="T28" fmla="*/ 139 w 142"/>
                    <a:gd name="T29" fmla="*/ 1 h 124"/>
                    <a:gd name="T30" fmla="*/ 139 w 142"/>
                    <a:gd name="T31" fmla="*/ 1 h 124"/>
                    <a:gd name="T32" fmla="*/ 140 w 142"/>
                    <a:gd name="T33" fmla="*/ 2 h 124"/>
                    <a:gd name="T34" fmla="*/ 140 w 142"/>
                    <a:gd name="T35" fmla="*/ 3 h 124"/>
                    <a:gd name="T36" fmla="*/ 141 w 142"/>
                    <a:gd name="T37" fmla="*/ 3 h 124"/>
                    <a:gd name="T38" fmla="*/ 141 w 142"/>
                    <a:gd name="T39" fmla="*/ 4 h 124"/>
                    <a:gd name="T40" fmla="*/ 141 w 142"/>
                    <a:gd name="T41" fmla="*/ 5 h 124"/>
                    <a:gd name="T42" fmla="*/ 141 w 142"/>
                    <a:gd name="T43" fmla="*/ 117 h 124"/>
                    <a:gd name="T44" fmla="*/ 141 w 142"/>
                    <a:gd name="T45" fmla="*/ 119 h 124"/>
                    <a:gd name="T46" fmla="*/ 140 w 142"/>
                    <a:gd name="T47" fmla="*/ 119 h 124"/>
                    <a:gd name="T48" fmla="*/ 140 w 142"/>
                    <a:gd name="T49" fmla="*/ 120 h 124"/>
                    <a:gd name="T50" fmla="*/ 139 w 142"/>
                    <a:gd name="T51" fmla="*/ 121 h 124"/>
                    <a:gd name="T52" fmla="*/ 139 w 142"/>
                    <a:gd name="T53" fmla="*/ 121 h 124"/>
                    <a:gd name="T54" fmla="*/ 138 w 142"/>
                    <a:gd name="T55" fmla="*/ 122 h 124"/>
                    <a:gd name="T56" fmla="*/ 138 w 142"/>
                    <a:gd name="T57" fmla="*/ 122 h 124"/>
                    <a:gd name="T58" fmla="*/ 137 w 142"/>
                    <a:gd name="T59" fmla="*/ 122 h 124"/>
                    <a:gd name="T60" fmla="*/ 137 w 142"/>
                    <a:gd name="T61" fmla="*/ 123 h 124"/>
                    <a:gd name="T62" fmla="*/ 136 w 142"/>
                    <a:gd name="T63" fmla="*/ 123 h 124"/>
                    <a:gd name="T64" fmla="*/ 135 w 142"/>
                    <a:gd name="T65" fmla="*/ 123 h 124"/>
                    <a:gd name="T66" fmla="*/ 4 w 142"/>
                    <a:gd name="T67" fmla="*/ 123 h 124"/>
                    <a:gd name="T68" fmla="*/ 3 w 142"/>
                    <a:gd name="T69" fmla="*/ 123 h 124"/>
                    <a:gd name="T70" fmla="*/ 3 w 142"/>
                    <a:gd name="T71" fmla="*/ 123 h 124"/>
                    <a:gd name="T72" fmla="*/ 2 w 142"/>
                    <a:gd name="T73" fmla="*/ 122 h 124"/>
                    <a:gd name="T74" fmla="*/ 2 w 142"/>
                    <a:gd name="T75" fmla="*/ 122 h 124"/>
                    <a:gd name="T76" fmla="*/ 1 w 142"/>
                    <a:gd name="T77" fmla="*/ 122 h 124"/>
                    <a:gd name="T78" fmla="*/ 1 w 142"/>
                    <a:gd name="T79" fmla="*/ 121 h 124"/>
                    <a:gd name="T80" fmla="*/ 0 w 142"/>
                    <a:gd name="T81" fmla="*/ 121 h 124"/>
                    <a:gd name="T82" fmla="*/ 0 w 142"/>
                    <a:gd name="T83" fmla="*/ 120 h 124"/>
                    <a:gd name="T84" fmla="*/ 0 w 142"/>
                    <a:gd name="T85" fmla="*/ 119 h 124"/>
                    <a:gd name="T86" fmla="*/ 0 w 142"/>
                    <a:gd name="T87" fmla="*/ 119 h 124"/>
                    <a:gd name="T88" fmla="*/ 0 w 142"/>
                    <a:gd name="T89" fmla="*/ 117 h 124"/>
                    <a:gd name="T90" fmla="*/ 0 w 142"/>
                    <a:gd name="T91" fmla="*/ 5 h 124"/>
                    <a:gd name="T92" fmla="*/ 0 w 142"/>
                    <a:gd name="T93" fmla="*/ 4 h 124"/>
                    <a:gd name="T94" fmla="*/ 0 w 142"/>
                    <a:gd name="T95" fmla="*/ 3 h 124"/>
                    <a:gd name="T96" fmla="*/ 0 w 142"/>
                    <a:gd name="T97" fmla="*/ 3 h 124"/>
                    <a:gd name="T98" fmla="*/ 0 w 142"/>
                    <a:gd name="T99" fmla="*/ 2 h 124"/>
                    <a:gd name="T100" fmla="*/ 0 w 142"/>
                    <a:gd name="T101" fmla="*/ 1 h 124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42"/>
                    <a:gd name="T154" fmla="*/ 0 h 124"/>
                    <a:gd name="T155" fmla="*/ 142 w 142"/>
                    <a:gd name="T156" fmla="*/ 124 h 124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42" h="124">
                      <a:moveTo>
                        <a:pt x="0" y="1"/>
                      </a:moveTo>
                      <a:lnTo>
                        <a:pt x="1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8" y="1"/>
                      </a:lnTo>
                      <a:lnTo>
                        <a:pt x="139" y="1"/>
                      </a:lnTo>
                      <a:lnTo>
                        <a:pt x="140" y="2"/>
                      </a:lnTo>
                      <a:lnTo>
                        <a:pt x="140" y="3"/>
                      </a:lnTo>
                      <a:lnTo>
                        <a:pt x="141" y="3"/>
                      </a:lnTo>
                      <a:lnTo>
                        <a:pt x="141" y="4"/>
                      </a:lnTo>
                      <a:lnTo>
                        <a:pt x="141" y="5"/>
                      </a:lnTo>
                      <a:lnTo>
                        <a:pt x="141" y="117"/>
                      </a:lnTo>
                      <a:lnTo>
                        <a:pt x="141" y="119"/>
                      </a:lnTo>
                      <a:lnTo>
                        <a:pt x="140" y="119"/>
                      </a:lnTo>
                      <a:lnTo>
                        <a:pt x="140" y="120"/>
                      </a:lnTo>
                      <a:lnTo>
                        <a:pt x="139" y="121"/>
                      </a:lnTo>
                      <a:lnTo>
                        <a:pt x="138" y="122"/>
                      </a:lnTo>
                      <a:lnTo>
                        <a:pt x="137" y="122"/>
                      </a:lnTo>
                      <a:lnTo>
                        <a:pt x="137" y="123"/>
                      </a:lnTo>
                      <a:lnTo>
                        <a:pt x="136" y="123"/>
                      </a:lnTo>
                      <a:lnTo>
                        <a:pt x="135" y="123"/>
                      </a:lnTo>
                      <a:lnTo>
                        <a:pt x="4" y="123"/>
                      </a:lnTo>
                      <a:lnTo>
                        <a:pt x="3" y="123"/>
                      </a:lnTo>
                      <a:lnTo>
                        <a:pt x="2" y="122"/>
                      </a:lnTo>
                      <a:lnTo>
                        <a:pt x="1" y="122"/>
                      </a:lnTo>
                      <a:lnTo>
                        <a:pt x="1" y="121"/>
                      </a:lnTo>
                      <a:lnTo>
                        <a:pt x="0" y="121"/>
                      </a:lnTo>
                      <a:lnTo>
                        <a:pt x="0" y="120"/>
                      </a:lnTo>
                      <a:lnTo>
                        <a:pt x="0" y="119"/>
                      </a:lnTo>
                      <a:lnTo>
                        <a:pt x="0" y="117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</a:path>
                  </a:pathLst>
                </a:custGeom>
                <a:gradFill rotWithShape="0">
                  <a:gsLst>
                    <a:gs pos="0">
                      <a:srgbClr val="1D2B4B"/>
                    </a:gs>
                    <a:gs pos="50000">
                      <a:srgbClr val="618FFD"/>
                    </a:gs>
                    <a:gs pos="100000">
                      <a:srgbClr val="1D2B4B"/>
                    </a:gs>
                  </a:gsLst>
                  <a:lin ang="2700000" scaled="1"/>
                </a:gra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18" name="Freeform 1087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4 h 17"/>
                    <a:gd name="T2" fmla="*/ 151 w 153"/>
                    <a:gd name="T3" fmla="*/ 3 h 17"/>
                    <a:gd name="T4" fmla="*/ 151 w 153"/>
                    <a:gd name="T5" fmla="*/ 2 h 17"/>
                    <a:gd name="T6" fmla="*/ 150 w 153"/>
                    <a:gd name="T7" fmla="*/ 2 h 17"/>
                    <a:gd name="T8" fmla="*/ 150 w 153"/>
                    <a:gd name="T9" fmla="*/ 2 h 17"/>
                    <a:gd name="T10" fmla="*/ 150 w 153"/>
                    <a:gd name="T11" fmla="*/ 1 h 17"/>
                    <a:gd name="T12" fmla="*/ 149 w 153"/>
                    <a:gd name="T13" fmla="*/ 1 h 17"/>
                    <a:gd name="T14" fmla="*/ 149 w 153"/>
                    <a:gd name="T15" fmla="*/ 1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1 h 17"/>
                    <a:gd name="T32" fmla="*/ 1 w 153"/>
                    <a:gd name="T33" fmla="*/ 1 h 17"/>
                    <a:gd name="T34" fmla="*/ 0 w 153"/>
                    <a:gd name="T35" fmla="*/ 2 h 17"/>
                    <a:gd name="T36" fmla="*/ 0 w 153"/>
                    <a:gd name="T37" fmla="*/ 2 h 17"/>
                    <a:gd name="T38" fmla="*/ 0 w 153"/>
                    <a:gd name="T39" fmla="*/ 3 h 17"/>
                    <a:gd name="T40" fmla="*/ 6 w 153"/>
                    <a:gd name="T41" fmla="*/ 16 h 17"/>
                    <a:gd name="T42" fmla="*/ 7 w 153"/>
                    <a:gd name="T43" fmla="*/ 14 h 17"/>
                    <a:gd name="T44" fmla="*/ 7 w 153"/>
                    <a:gd name="T45" fmla="*/ 14 h 17"/>
                    <a:gd name="T46" fmla="*/ 8 w 153"/>
                    <a:gd name="T47" fmla="*/ 13 h 17"/>
                    <a:gd name="T48" fmla="*/ 8 w 153"/>
                    <a:gd name="T49" fmla="*/ 13 h 17"/>
                    <a:gd name="T50" fmla="*/ 8 w 153"/>
                    <a:gd name="T51" fmla="*/ 12 h 17"/>
                    <a:gd name="T52" fmla="*/ 9 w 153"/>
                    <a:gd name="T53" fmla="*/ 12 h 17"/>
                    <a:gd name="T54" fmla="*/ 10 w 153"/>
                    <a:gd name="T55" fmla="*/ 12 h 17"/>
                    <a:gd name="T56" fmla="*/ 140 w 153"/>
                    <a:gd name="T57" fmla="*/ 12 h 17"/>
                    <a:gd name="T58" fmla="*/ 141 w 153"/>
                    <a:gd name="T59" fmla="*/ 12 h 17"/>
                    <a:gd name="T60" fmla="*/ 142 w 153"/>
                    <a:gd name="T61" fmla="*/ 12 h 17"/>
                    <a:gd name="T62" fmla="*/ 142 w 153"/>
                    <a:gd name="T63" fmla="*/ 13 h 17"/>
                    <a:gd name="T64" fmla="*/ 143 w 153"/>
                    <a:gd name="T65" fmla="*/ 13 h 17"/>
                    <a:gd name="T66" fmla="*/ 143 w 153"/>
                    <a:gd name="T67" fmla="*/ 14 h 17"/>
                    <a:gd name="T68" fmla="*/ 143 w 153"/>
                    <a:gd name="T69" fmla="*/ 14 h 17"/>
                    <a:gd name="T70" fmla="*/ 144 w 153"/>
                    <a:gd name="T71" fmla="*/ 14 h 17"/>
                    <a:gd name="T72" fmla="*/ 152 w 153"/>
                    <a:gd name="T73" fmla="*/ 4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53"/>
                    <a:gd name="T112" fmla="*/ 0 h 17"/>
                    <a:gd name="T113" fmla="*/ 153 w 153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53" h="17">
                      <a:moveTo>
                        <a:pt x="152" y="4"/>
                      </a:moveTo>
                      <a:lnTo>
                        <a:pt x="151" y="3"/>
                      </a:lnTo>
                      <a:lnTo>
                        <a:pt x="151" y="2"/>
                      </a:lnTo>
                      <a:lnTo>
                        <a:pt x="150" y="2"/>
                      </a:lnTo>
                      <a:lnTo>
                        <a:pt x="150" y="1"/>
                      </a:lnTo>
                      <a:lnTo>
                        <a:pt x="149" y="1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6" y="16"/>
                      </a:lnTo>
                      <a:lnTo>
                        <a:pt x="7" y="14"/>
                      </a:lnTo>
                      <a:lnTo>
                        <a:pt x="8" y="13"/>
                      </a:lnTo>
                      <a:lnTo>
                        <a:pt x="8" y="12"/>
                      </a:lnTo>
                      <a:lnTo>
                        <a:pt x="9" y="12"/>
                      </a:lnTo>
                      <a:lnTo>
                        <a:pt x="10" y="12"/>
                      </a:lnTo>
                      <a:lnTo>
                        <a:pt x="140" y="12"/>
                      </a:lnTo>
                      <a:lnTo>
                        <a:pt x="141" y="12"/>
                      </a:lnTo>
                      <a:lnTo>
                        <a:pt x="142" y="12"/>
                      </a:lnTo>
                      <a:lnTo>
                        <a:pt x="142" y="13"/>
                      </a:lnTo>
                      <a:lnTo>
                        <a:pt x="143" y="13"/>
                      </a:lnTo>
                      <a:lnTo>
                        <a:pt x="143" y="14"/>
                      </a:lnTo>
                      <a:lnTo>
                        <a:pt x="144" y="14"/>
                      </a:lnTo>
                      <a:lnTo>
                        <a:pt x="152" y="4"/>
                      </a:lnTo>
                    </a:path>
                  </a:pathLst>
                </a:custGeom>
                <a:solidFill>
                  <a:srgbClr val="9F9FA2"/>
                </a:solidFill>
                <a:ln w="12700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19" name="Freeform 1088"/>
                <p:cNvSpPr>
                  <a:spLocks/>
                </p:cNvSpPr>
                <p:nvPr/>
              </p:nvSpPr>
              <p:spPr bwMode="auto">
                <a:xfrm>
                  <a:off x="3870" y="1299"/>
                  <a:ext cx="17" cy="135"/>
                </a:xfrm>
                <a:custGeom>
                  <a:avLst/>
                  <a:gdLst>
                    <a:gd name="T0" fmla="*/ 2 w 17"/>
                    <a:gd name="T1" fmla="*/ 0 h 135"/>
                    <a:gd name="T2" fmla="*/ 1 w 17"/>
                    <a:gd name="T3" fmla="*/ 0 h 135"/>
                    <a:gd name="T4" fmla="*/ 0 w 17"/>
                    <a:gd name="T5" fmla="*/ 1 h 135"/>
                    <a:gd name="T6" fmla="*/ 0 w 17"/>
                    <a:gd name="T7" fmla="*/ 2 h 135"/>
                    <a:gd name="T8" fmla="*/ 0 w 17"/>
                    <a:gd name="T9" fmla="*/ 2 h 135"/>
                    <a:gd name="T10" fmla="*/ 0 w 17"/>
                    <a:gd name="T11" fmla="*/ 3 h 135"/>
                    <a:gd name="T12" fmla="*/ 0 w 17"/>
                    <a:gd name="T13" fmla="*/ 4 h 135"/>
                    <a:gd name="T14" fmla="*/ 0 w 17"/>
                    <a:gd name="T15" fmla="*/ 130 h 135"/>
                    <a:gd name="T16" fmla="*/ 0 w 17"/>
                    <a:gd name="T17" fmla="*/ 130 h 135"/>
                    <a:gd name="T18" fmla="*/ 0 w 17"/>
                    <a:gd name="T19" fmla="*/ 131 h 135"/>
                    <a:gd name="T20" fmla="*/ 0 w 17"/>
                    <a:gd name="T21" fmla="*/ 132 h 135"/>
                    <a:gd name="T22" fmla="*/ 0 w 17"/>
                    <a:gd name="T23" fmla="*/ 132 h 135"/>
                    <a:gd name="T24" fmla="*/ 1 w 17"/>
                    <a:gd name="T25" fmla="*/ 133 h 135"/>
                    <a:gd name="T26" fmla="*/ 2 w 17"/>
                    <a:gd name="T27" fmla="*/ 133 h 135"/>
                    <a:gd name="T28" fmla="*/ 2 w 17"/>
                    <a:gd name="T29" fmla="*/ 134 h 135"/>
                    <a:gd name="T30" fmla="*/ 3 w 17"/>
                    <a:gd name="T31" fmla="*/ 134 h 135"/>
                    <a:gd name="T32" fmla="*/ 16 w 17"/>
                    <a:gd name="T33" fmla="*/ 127 h 135"/>
                    <a:gd name="T34" fmla="*/ 15 w 17"/>
                    <a:gd name="T35" fmla="*/ 126 h 135"/>
                    <a:gd name="T36" fmla="*/ 15 w 17"/>
                    <a:gd name="T37" fmla="*/ 126 h 135"/>
                    <a:gd name="T38" fmla="*/ 14 w 17"/>
                    <a:gd name="T39" fmla="*/ 126 h 135"/>
                    <a:gd name="T40" fmla="*/ 14 w 17"/>
                    <a:gd name="T41" fmla="*/ 125 h 135"/>
                    <a:gd name="T42" fmla="*/ 13 w 17"/>
                    <a:gd name="T43" fmla="*/ 124 h 135"/>
                    <a:gd name="T44" fmla="*/ 13 w 17"/>
                    <a:gd name="T45" fmla="*/ 124 h 135"/>
                    <a:gd name="T46" fmla="*/ 13 w 17"/>
                    <a:gd name="T47" fmla="*/ 10 h 135"/>
                    <a:gd name="T48" fmla="*/ 13 w 17"/>
                    <a:gd name="T49" fmla="*/ 9 h 135"/>
                    <a:gd name="T50" fmla="*/ 13 w 17"/>
                    <a:gd name="T51" fmla="*/ 8 h 135"/>
                    <a:gd name="T52" fmla="*/ 14 w 17"/>
                    <a:gd name="T53" fmla="*/ 8 h 135"/>
                    <a:gd name="T54" fmla="*/ 15 w 17"/>
                    <a:gd name="T55" fmla="*/ 7 h 135"/>
                    <a:gd name="T56" fmla="*/ 15 w 17"/>
                    <a:gd name="T57" fmla="*/ 6 h 135"/>
                    <a:gd name="T58" fmla="*/ 2 w 17"/>
                    <a:gd name="T59" fmla="*/ 0 h 135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w 17"/>
                    <a:gd name="T91" fmla="*/ 0 h 135"/>
                    <a:gd name="T92" fmla="*/ 17 w 17"/>
                    <a:gd name="T93" fmla="*/ 135 h 135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T90" t="T91" r="T92" b="T93"/>
                  <a:pathLst>
                    <a:path w="17" h="135">
                      <a:moveTo>
                        <a:pt x="2" y="0"/>
                      </a:moveTo>
                      <a:lnTo>
                        <a:pt x="1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0" y="130"/>
                      </a:lnTo>
                      <a:lnTo>
                        <a:pt x="0" y="131"/>
                      </a:lnTo>
                      <a:lnTo>
                        <a:pt x="0" y="132"/>
                      </a:lnTo>
                      <a:lnTo>
                        <a:pt x="1" y="133"/>
                      </a:lnTo>
                      <a:lnTo>
                        <a:pt x="2" y="133"/>
                      </a:lnTo>
                      <a:lnTo>
                        <a:pt x="2" y="134"/>
                      </a:lnTo>
                      <a:lnTo>
                        <a:pt x="3" y="134"/>
                      </a:lnTo>
                      <a:lnTo>
                        <a:pt x="16" y="127"/>
                      </a:lnTo>
                      <a:lnTo>
                        <a:pt x="15" y="126"/>
                      </a:lnTo>
                      <a:lnTo>
                        <a:pt x="14" y="126"/>
                      </a:lnTo>
                      <a:lnTo>
                        <a:pt x="14" y="125"/>
                      </a:lnTo>
                      <a:lnTo>
                        <a:pt x="13" y="124"/>
                      </a:lnTo>
                      <a:lnTo>
                        <a:pt x="13" y="10"/>
                      </a:lnTo>
                      <a:lnTo>
                        <a:pt x="13" y="9"/>
                      </a:lnTo>
                      <a:lnTo>
                        <a:pt x="13" y="8"/>
                      </a:lnTo>
                      <a:lnTo>
                        <a:pt x="14" y="8"/>
                      </a:lnTo>
                      <a:lnTo>
                        <a:pt x="15" y="7"/>
                      </a:lnTo>
                      <a:lnTo>
                        <a:pt x="15" y="6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20" name="Freeform 1089"/>
                <p:cNvSpPr>
                  <a:spLocks/>
                </p:cNvSpPr>
                <p:nvPr/>
              </p:nvSpPr>
              <p:spPr bwMode="auto">
                <a:xfrm>
                  <a:off x="3872" y="1300"/>
                  <a:ext cx="155" cy="136"/>
                </a:xfrm>
                <a:custGeom>
                  <a:avLst/>
                  <a:gdLst>
                    <a:gd name="T0" fmla="*/ 0 w 155"/>
                    <a:gd name="T1" fmla="*/ 133 h 136"/>
                    <a:gd name="T2" fmla="*/ 0 w 155"/>
                    <a:gd name="T3" fmla="*/ 134 h 136"/>
                    <a:gd name="T4" fmla="*/ 0 w 155"/>
                    <a:gd name="T5" fmla="*/ 134 h 136"/>
                    <a:gd name="T6" fmla="*/ 1 w 155"/>
                    <a:gd name="T7" fmla="*/ 134 h 136"/>
                    <a:gd name="T8" fmla="*/ 1 w 155"/>
                    <a:gd name="T9" fmla="*/ 134 h 136"/>
                    <a:gd name="T10" fmla="*/ 2 w 155"/>
                    <a:gd name="T11" fmla="*/ 135 h 136"/>
                    <a:gd name="T12" fmla="*/ 2 w 155"/>
                    <a:gd name="T13" fmla="*/ 135 h 136"/>
                    <a:gd name="T14" fmla="*/ 3 w 155"/>
                    <a:gd name="T15" fmla="*/ 135 h 136"/>
                    <a:gd name="T16" fmla="*/ 148 w 155"/>
                    <a:gd name="T17" fmla="*/ 135 h 136"/>
                    <a:gd name="T18" fmla="*/ 150 w 155"/>
                    <a:gd name="T19" fmla="*/ 134 h 136"/>
                    <a:gd name="T20" fmla="*/ 151 w 155"/>
                    <a:gd name="T21" fmla="*/ 134 h 136"/>
                    <a:gd name="T22" fmla="*/ 151 w 155"/>
                    <a:gd name="T23" fmla="*/ 133 h 136"/>
                    <a:gd name="T24" fmla="*/ 152 w 155"/>
                    <a:gd name="T25" fmla="*/ 133 h 136"/>
                    <a:gd name="T26" fmla="*/ 152 w 155"/>
                    <a:gd name="T27" fmla="*/ 133 h 136"/>
                    <a:gd name="T28" fmla="*/ 153 w 155"/>
                    <a:gd name="T29" fmla="*/ 132 h 136"/>
                    <a:gd name="T30" fmla="*/ 153 w 155"/>
                    <a:gd name="T31" fmla="*/ 131 h 136"/>
                    <a:gd name="T32" fmla="*/ 154 w 155"/>
                    <a:gd name="T33" fmla="*/ 131 h 136"/>
                    <a:gd name="T34" fmla="*/ 154 w 155"/>
                    <a:gd name="T35" fmla="*/ 129 h 136"/>
                    <a:gd name="T36" fmla="*/ 154 w 155"/>
                    <a:gd name="T37" fmla="*/ 129 h 136"/>
                    <a:gd name="T38" fmla="*/ 154 w 155"/>
                    <a:gd name="T39" fmla="*/ 3 h 136"/>
                    <a:gd name="T40" fmla="*/ 154 w 155"/>
                    <a:gd name="T41" fmla="*/ 2 h 136"/>
                    <a:gd name="T42" fmla="*/ 154 w 155"/>
                    <a:gd name="T43" fmla="*/ 1 h 136"/>
                    <a:gd name="T44" fmla="*/ 154 w 155"/>
                    <a:gd name="T45" fmla="*/ 1 h 136"/>
                    <a:gd name="T46" fmla="*/ 153 w 155"/>
                    <a:gd name="T47" fmla="*/ 1 h 136"/>
                    <a:gd name="T48" fmla="*/ 153 w 155"/>
                    <a:gd name="T49" fmla="*/ 0 h 136"/>
                    <a:gd name="T50" fmla="*/ 153 w 155"/>
                    <a:gd name="T51" fmla="*/ 0 h 136"/>
                    <a:gd name="T52" fmla="*/ 145 w 155"/>
                    <a:gd name="T53" fmla="*/ 5 h 136"/>
                    <a:gd name="T54" fmla="*/ 145 w 155"/>
                    <a:gd name="T55" fmla="*/ 5 h 136"/>
                    <a:gd name="T56" fmla="*/ 146 w 155"/>
                    <a:gd name="T57" fmla="*/ 6 h 136"/>
                    <a:gd name="T58" fmla="*/ 146 w 155"/>
                    <a:gd name="T59" fmla="*/ 7 h 136"/>
                    <a:gd name="T60" fmla="*/ 146 w 155"/>
                    <a:gd name="T61" fmla="*/ 7 h 136"/>
                    <a:gd name="T62" fmla="*/ 146 w 155"/>
                    <a:gd name="T63" fmla="*/ 7 h 136"/>
                    <a:gd name="T64" fmla="*/ 146 w 155"/>
                    <a:gd name="T65" fmla="*/ 8 h 136"/>
                    <a:gd name="T66" fmla="*/ 146 w 155"/>
                    <a:gd name="T67" fmla="*/ 9 h 136"/>
                    <a:gd name="T68" fmla="*/ 146 w 155"/>
                    <a:gd name="T69" fmla="*/ 9 h 136"/>
                    <a:gd name="T70" fmla="*/ 146 w 155"/>
                    <a:gd name="T71" fmla="*/ 123 h 136"/>
                    <a:gd name="T72" fmla="*/ 146 w 155"/>
                    <a:gd name="T73" fmla="*/ 123 h 136"/>
                    <a:gd name="T74" fmla="*/ 146 w 155"/>
                    <a:gd name="T75" fmla="*/ 124 h 136"/>
                    <a:gd name="T76" fmla="*/ 146 w 155"/>
                    <a:gd name="T77" fmla="*/ 125 h 136"/>
                    <a:gd name="T78" fmla="*/ 146 w 155"/>
                    <a:gd name="T79" fmla="*/ 125 h 136"/>
                    <a:gd name="T80" fmla="*/ 145 w 155"/>
                    <a:gd name="T81" fmla="*/ 126 h 136"/>
                    <a:gd name="T82" fmla="*/ 145 w 155"/>
                    <a:gd name="T83" fmla="*/ 127 h 136"/>
                    <a:gd name="T84" fmla="*/ 144 w 155"/>
                    <a:gd name="T85" fmla="*/ 127 h 136"/>
                    <a:gd name="T86" fmla="*/ 143 w 155"/>
                    <a:gd name="T87" fmla="*/ 127 h 136"/>
                    <a:gd name="T88" fmla="*/ 143 w 155"/>
                    <a:gd name="T89" fmla="*/ 128 h 136"/>
                    <a:gd name="T90" fmla="*/ 142 w 155"/>
                    <a:gd name="T91" fmla="*/ 128 h 136"/>
                    <a:gd name="T92" fmla="*/ 142 w 155"/>
                    <a:gd name="T93" fmla="*/ 128 h 136"/>
                    <a:gd name="T94" fmla="*/ 9 w 155"/>
                    <a:gd name="T95" fmla="*/ 128 h 136"/>
                    <a:gd name="T96" fmla="*/ 8 w 155"/>
                    <a:gd name="T97" fmla="*/ 128 h 136"/>
                    <a:gd name="T98" fmla="*/ 8 w 155"/>
                    <a:gd name="T99" fmla="*/ 128 h 136"/>
                    <a:gd name="T100" fmla="*/ 8 w 155"/>
                    <a:gd name="T101" fmla="*/ 127 h 136"/>
                    <a:gd name="T102" fmla="*/ 7 w 155"/>
                    <a:gd name="T103" fmla="*/ 127 h 136"/>
                    <a:gd name="T104" fmla="*/ 7 w 155"/>
                    <a:gd name="T105" fmla="*/ 127 h 136"/>
                    <a:gd name="T106" fmla="*/ 6 w 155"/>
                    <a:gd name="T107" fmla="*/ 127 h 136"/>
                    <a:gd name="T108" fmla="*/ 6 w 155"/>
                    <a:gd name="T109" fmla="*/ 127 h 136"/>
                    <a:gd name="T110" fmla="*/ 0 w 155"/>
                    <a:gd name="T111" fmla="*/ 133 h 1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55"/>
                    <a:gd name="T169" fmla="*/ 0 h 136"/>
                    <a:gd name="T170" fmla="*/ 155 w 155"/>
                    <a:gd name="T171" fmla="*/ 136 h 136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55" h="136">
                      <a:moveTo>
                        <a:pt x="0" y="133"/>
                      </a:moveTo>
                      <a:lnTo>
                        <a:pt x="0" y="134"/>
                      </a:lnTo>
                      <a:lnTo>
                        <a:pt x="1" y="134"/>
                      </a:lnTo>
                      <a:lnTo>
                        <a:pt x="2" y="135"/>
                      </a:lnTo>
                      <a:lnTo>
                        <a:pt x="3" y="135"/>
                      </a:lnTo>
                      <a:lnTo>
                        <a:pt x="148" y="135"/>
                      </a:lnTo>
                      <a:lnTo>
                        <a:pt x="150" y="134"/>
                      </a:lnTo>
                      <a:lnTo>
                        <a:pt x="151" y="134"/>
                      </a:lnTo>
                      <a:lnTo>
                        <a:pt x="151" y="133"/>
                      </a:lnTo>
                      <a:lnTo>
                        <a:pt x="152" y="133"/>
                      </a:lnTo>
                      <a:lnTo>
                        <a:pt x="153" y="132"/>
                      </a:lnTo>
                      <a:lnTo>
                        <a:pt x="153" y="131"/>
                      </a:lnTo>
                      <a:lnTo>
                        <a:pt x="154" y="131"/>
                      </a:lnTo>
                      <a:lnTo>
                        <a:pt x="154" y="129"/>
                      </a:lnTo>
                      <a:lnTo>
                        <a:pt x="154" y="3"/>
                      </a:lnTo>
                      <a:lnTo>
                        <a:pt x="154" y="2"/>
                      </a:lnTo>
                      <a:lnTo>
                        <a:pt x="154" y="1"/>
                      </a:lnTo>
                      <a:lnTo>
                        <a:pt x="153" y="1"/>
                      </a:lnTo>
                      <a:lnTo>
                        <a:pt x="153" y="0"/>
                      </a:lnTo>
                      <a:lnTo>
                        <a:pt x="145" y="5"/>
                      </a:lnTo>
                      <a:lnTo>
                        <a:pt x="146" y="6"/>
                      </a:lnTo>
                      <a:lnTo>
                        <a:pt x="146" y="7"/>
                      </a:lnTo>
                      <a:lnTo>
                        <a:pt x="146" y="8"/>
                      </a:lnTo>
                      <a:lnTo>
                        <a:pt x="146" y="9"/>
                      </a:lnTo>
                      <a:lnTo>
                        <a:pt x="146" y="123"/>
                      </a:lnTo>
                      <a:lnTo>
                        <a:pt x="146" y="124"/>
                      </a:lnTo>
                      <a:lnTo>
                        <a:pt x="146" y="125"/>
                      </a:lnTo>
                      <a:lnTo>
                        <a:pt x="145" y="126"/>
                      </a:lnTo>
                      <a:lnTo>
                        <a:pt x="145" y="127"/>
                      </a:lnTo>
                      <a:lnTo>
                        <a:pt x="144" y="127"/>
                      </a:lnTo>
                      <a:lnTo>
                        <a:pt x="143" y="127"/>
                      </a:lnTo>
                      <a:lnTo>
                        <a:pt x="143" y="128"/>
                      </a:lnTo>
                      <a:lnTo>
                        <a:pt x="142" y="128"/>
                      </a:lnTo>
                      <a:lnTo>
                        <a:pt x="9" y="128"/>
                      </a:lnTo>
                      <a:lnTo>
                        <a:pt x="8" y="128"/>
                      </a:lnTo>
                      <a:lnTo>
                        <a:pt x="8" y="127"/>
                      </a:lnTo>
                      <a:lnTo>
                        <a:pt x="7" y="127"/>
                      </a:lnTo>
                      <a:lnTo>
                        <a:pt x="6" y="127"/>
                      </a:lnTo>
                      <a:lnTo>
                        <a:pt x="0" y="133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21" name="Freeform 1090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16 h 17"/>
                    <a:gd name="T2" fmla="*/ 151 w 153"/>
                    <a:gd name="T3" fmla="*/ 16 h 17"/>
                    <a:gd name="T4" fmla="*/ 151 w 153"/>
                    <a:gd name="T5" fmla="*/ 10 h 17"/>
                    <a:gd name="T6" fmla="*/ 150 w 153"/>
                    <a:gd name="T7" fmla="*/ 10 h 17"/>
                    <a:gd name="T8" fmla="*/ 150 w 153"/>
                    <a:gd name="T9" fmla="*/ 10 h 17"/>
                    <a:gd name="T10" fmla="*/ 150 w 153"/>
                    <a:gd name="T11" fmla="*/ 5 h 17"/>
                    <a:gd name="T12" fmla="*/ 149 w 153"/>
                    <a:gd name="T13" fmla="*/ 5 h 17"/>
                    <a:gd name="T14" fmla="*/ 149 w 153"/>
                    <a:gd name="T15" fmla="*/ 5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5 h 17"/>
                    <a:gd name="T32" fmla="*/ 1 w 153"/>
                    <a:gd name="T33" fmla="*/ 5 h 17"/>
                    <a:gd name="T34" fmla="*/ 0 w 153"/>
                    <a:gd name="T35" fmla="*/ 10 h 17"/>
                    <a:gd name="T36" fmla="*/ 0 w 153"/>
                    <a:gd name="T37" fmla="*/ 10 h 17"/>
                    <a:gd name="T38" fmla="*/ 0 w 153"/>
                    <a:gd name="T39" fmla="*/ 16 h 17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153"/>
                    <a:gd name="T61" fmla="*/ 0 h 17"/>
                    <a:gd name="T62" fmla="*/ 153 w 153"/>
                    <a:gd name="T63" fmla="*/ 17 h 17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153" h="17">
                      <a:moveTo>
                        <a:pt x="152" y="16"/>
                      </a:moveTo>
                      <a:lnTo>
                        <a:pt x="151" y="16"/>
                      </a:lnTo>
                      <a:lnTo>
                        <a:pt x="151" y="10"/>
                      </a:lnTo>
                      <a:lnTo>
                        <a:pt x="150" y="10"/>
                      </a:lnTo>
                      <a:lnTo>
                        <a:pt x="150" y="5"/>
                      </a:lnTo>
                      <a:lnTo>
                        <a:pt x="149" y="5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5"/>
                      </a:lnTo>
                      <a:lnTo>
                        <a:pt x="0" y="1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22" name="Freeform 1091"/>
                <p:cNvSpPr>
                  <a:spLocks/>
                </p:cNvSpPr>
                <p:nvPr/>
              </p:nvSpPr>
              <p:spPr bwMode="auto">
                <a:xfrm>
                  <a:off x="3843" y="1489"/>
                  <a:ext cx="215" cy="72"/>
                </a:xfrm>
                <a:custGeom>
                  <a:avLst/>
                  <a:gdLst>
                    <a:gd name="T0" fmla="*/ 0 w 215"/>
                    <a:gd name="T1" fmla="*/ 71 h 72"/>
                    <a:gd name="T2" fmla="*/ 0 w 215"/>
                    <a:gd name="T3" fmla="*/ 0 h 72"/>
                    <a:gd name="T4" fmla="*/ 214 w 215"/>
                    <a:gd name="T5" fmla="*/ 0 h 72"/>
                    <a:gd name="T6" fmla="*/ 214 w 215"/>
                    <a:gd name="T7" fmla="*/ 71 h 72"/>
                    <a:gd name="T8" fmla="*/ 0 w 215"/>
                    <a:gd name="T9" fmla="*/ 71 h 7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15"/>
                    <a:gd name="T16" fmla="*/ 0 h 72"/>
                    <a:gd name="T17" fmla="*/ 215 w 215"/>
                    <a:gd name="T18" fmla="*/ 72 h 7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15" h="72">
                      <a:moveTo>
                        <a:pt x="0" y="71"/>
                      </a:moveTo>
                      <a:lnTo>
                        <a:pt x="0" y="0"/>
                      </a:lnTo>
                      <a:lnTo>
                        <a:pt x="214" y="0"/>
                      </a:lnTo>
                      <a:lnTo>
                        <a:pt x="214" y="71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23" name="Freeform 1092"/>
                <p:cNvSpPr>
                  <a:spLocks/>
                </p:cNvSpPr>
                <p:nvPr/>
              </p:nvSpPr>
              <p:spPr bwMode="auto">
                <a:xfrm>
                  <a:off x="3841" y="1489"/>
                  <a:ext cx="219" cy="23"/>
                </a:xfrm>
                <a:custGeom>
                  <a:avLst/>
                  <a:gdLst>
                    <a:gd name="T0" fmla="*/ 79 w 219"/>
                    <a:gd name="T1" fmla="*/ 0 h 23"/>
                    <a:gd name="T2" fmla="*/ 0 w 219"/>
                    <a:gd name="T3" fmla="*/ 0 h 23"/>
                    <a:gd name="T4" fmla="*/ 0 w 219"/>
                    <a:gd name="T5" fmla="*/ 22 h 23"/>
                    <a:gd name="T6" fmla="*/ 218 w 219"/>
                    <a:gd name="T7" fmla="*/ 22 h 23"/>
                    <a:gd name="T8" fmla="*/ 215 w 219"/>
                    <a:gd name="T9" fmla="*/ 0 h 23"/>
                    <a:gd name="T10" fmla="*/ 137 w 219"/>
                    <a:gd name="T11" fmla="*/ 0 h 23"/>
                    <a:gd name="T12" fmla="*/ 79 w 219"/>
                    <a:gd name="T13" fmla="*/ 0 h 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19"/>
                    <a:gd name="T22" fmla="*/ 0 h 23"/>
                    <a:gd name="T23" fmla="*/ 219 w 219"/>
                    <a:gd name="T24" fmla="*/ 23 h 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9" h="23">
                      <a:moveTo>
                        <a:pt x="79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218" y="22"/>
                      </a:lnTo>
                      <a:lnTo>
                        <a:pt x="215" y="0"/>
                      </a:lnTo>
                      <a:lnTo>
                        <a:pt x="137" y="0"/>
                      </a:lnTo>
                      <a:lnTo>
                        <a:pt x="79" y="0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24" name="Freeform 1093"/>
                <p:cNvSpPr>
                  <a:spLocks/>
                </p:cNvSpPr>
                <p:nvPr/>
              </p:nvSpPr>
              <p:spPr bwMode="auto">
                <a:xfrm>
                  <a:off x="3991" y="1495"/>
                  <a:ext cx="56" cy="17"/>
                </a:xfrm>
                <a:custGeom>
                  <a:avLst/>
                  <a:gdLst>
                    <a:gd name="T0" fmla="*/ 0 w 56"/>
                    <a:gd name="T1" fmla="*/ 6 h 17"/>
                    <a:gd name="T2" fmla="*/ 18 w 56"/>
                    <a:gd name="T3" fmla="*/ 6 h 17"/>
                    <a:gd name="T4" fmla="*/ 18 w 56"/>
                    <a:gd name="T5" fmla="*/ 0 h 17"/>
                    <a:gd name="T6" fmla="*/ 35 w 56"/>
                    <a:gd name="T7" fmla="*/ 0 h 17"/>
                    <a:gd name="T8" fmla="*/ 35 w 56"/>
                    <a:gd name="T9" fmla="*/ 6 h 17"/>
                    <a:gd name="T10" fmla="*/ 55 w 56"/>
                    <a:gd name="T11" fmla="*/ 6 h 17"/>
                    <a:gd name="T12" fmla="*/ 55 w 56"/>
                    <a:gd name="T13" fmla="*/ 10 h 17"/>
                    <a:gd name="T14" fmla="*/ 35 w 56"/>
                    <a:gd name="T15" fmla="*/ 10 h 17"/>
                    <a:gd name="T16" fmla="*/ 35 w 56"/>
                    <a:gd name="T17" fmla="*/ 16 h 17"/>
                    <a:gd name="T18" fmla="*/ 18 w 56"/>
                    <a:gd name="T19" fmla="*/ 16 h 17"/>
                    <a:gd name="T20" fmla="*/ 18 w 56"/>
                    <a:gd name="T21" fmla="*/ 10 h 17"/>
                    <a:gd name="T22" fmla="*/ 0 w 56"/>
                    <a:gd name="T23" fmla="*/ 10 h 17"/>
                    <a:gd name="T24" fmla="*/ 0 w 56"/>
                    <a:gd name="T25" fmla="*/ 6 h 17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56"/>
                    <a:gd name="T40" fmla="*/ 0 h 17"/>
                    <a:gd name="T41" fmla="*/ 56 w 56"/>
                    <a:gd name="T42" fmla="*/ 17 h 17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56" h="17">
                      <a:moveTo>
                        <a:pt x="0" y="6"/>
                      </a:moveTo>
                      <a:lnTo>
                        <a:pt x="18" y="6"/>
                      </a:lnTo>
                      <a:lnTo>
                        <a:pt x="18" y="0"/>
                      </a:lnTo>
                      <a:lnTo>
                        <a:pt x="35" y="0"/>
                      </a:lnTo>
                      <a:lnTo>
                        <a:pt x="35" y="6"/>
                      </a:lnTo>
                      <a:lnTo>
                        <a:pt x="55" y="6"/>
                      </a:lnTo>
                      <a:lnTo>
                        <a:pt x="55" y="10"/>
                      </a:lnTo>
                      <a:lnTo>
                        <a:pt x="35" y="10"/>
                      </a:lnTo>
                      <a:lnTo>
                        <a:pt x="35" y="16"/>
                      </a:lnTo>
                      <a:lnTo>
                        <a:pt x="18" y="16"/>
                      </a:lnTo>
                      <a:lnTo>
                        <a:pt x="18" y="10"/>
                      </a:lnTo>
                      <a:lnTo>
                        <a:pt x="0" y="10"/>
                      </a:lnTo>
                      <a:lnTo>
                        <a:pt x="0" y="6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25" name="Freeform 1094"/>
                <p:cNvSpPr>
                  <a:spLocks/>
                </p:cNvSpPr>
                <p:nvPr/>
              </p:nvSpPr>
              <p:spPr bwMode="auto">
                <a:xfrm>
                  <a:off x="3991" y="1501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0 h 17"/>
                    <a:gd name="T4" fmla="*/ 16 w 17"/>
                    <a:gd name="T5" fmla="*/ 5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17"/>
                    <a:gd name="T14" fmla="*/ 17 w 17"/>
                    <a:gd name="T15" fmla="*/ 17 h 1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17">
                      <a:moveTo>
                        <a:pt x="0" y="16"/>
                      </a:moveTo>
                      <a:lnTo>
                        <a:pt x="16" y="10"/>
                      </a:lnTo>
                      <a:lnTo>
                        <a:pt x="16" y="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26" name="Freeform 1095"/>
                <p:cNvSpPr>
                  <a:spLocks/>
                </p:cNvSpPr>
                <p:nvPr/>
              </p:nvSpPr>
              <p:spPr bwMode="auto">
                <a:xfrm>
                  <a:off x="4010" y="149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27" name="Freeform 1096"/>
                <p:cNvSpPr>
                  <a:spLocks/>
                </p:cNvSpPr>
                <p:nvPr/>
              </p:nvSpPr>
              <p:spPr bwMode="auto">
                <a:xfrm>
                  <a:off x="4046" y="1504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28" name="Freeform 1097"/>
                <p:cNvSpPr>
                  <a:spLocks/>
                </p:cNvSpPr>
                <p:nvPr/>
              </p:nvSpPr>
              <p:spPr bwMode="auto">
                <a:xfrm>
                  <a:off x="4027" y="1495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0 h 17"/>
                    <a:gd name="T4" fmla="*/ 0 w 17"/>
                    <a:gd name="T5" fmla="*/ 16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16"/>
                      </a:moveTo>
                      <a:lnTo>
                        <a:pt x="16" y="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29" name="Freeform 1098"/>
                <p:cNvSpPr>
                  <a:spLocks/>
                </p:cNvSpPr>
                <p:nvPr/>
              </p:nvSpPr>
              <p:spPr bwMode="auto">
                <a:xfrm>
                  <a:off x="4011" y="1499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6 h 17"/>
                    <a:gd name="T4" fmla="*/ 16 w 17"/>
                    <a:gd name="T5" fmla="*/ 0 h 17"/>
                    <a:gd name="T6" fmla="*/ 0 w 17"/>
                    <a:gd name="T7" fmla="*/ 0 h 17"/>
                    <a:gd name="T8" fmla="*/ 0 w 17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16"/>
                      </a:moveTo>
                      <a:lnTo>
                        <a:pt x="16" y="16"/>
                      </a:lnTo>
                      <a:lnTo>
                        <a:pt x="16" y="0"/>
                      </a:lnTo>
                      <a:lnTo>
                        <a:pt x="0" y="0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F9FA2"/>
                </a:solidFill>
                <a:ln w="12700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30" name="Freeform 1099"/>
                <p:cNvSpPr>
                  <a:spLocks/>
                </p:cNvSpPr>
                <p:nvPr/>
              </p:nvSpPr>
              <p:spPr bwMode="auto">
                <a:xfrm>
                  <a:off x="3993" y="1502"/>
                  <a:ext cx="54" cy="17"/>
                </a:xfrm>
                <a:custGeom>
                  <a:avLst/>
                  <a:gdLst>
                    <a:gd name="T0" fmla="*/ 0 w 54"/>
                    <a:gd name="T1" fmla="*/ 0 h 17"/>
                    <a:gd name="T2" fmla="*/ 53 w 54"/>
                    <a:gd name="T3" fmla="*/ 0 h 17"/>
                    <a:gd name="T4" fmla="*/ 53 w 54"/>
                    <a:gd name="T5" fmla="*/ 16 h 17"/>
                    <a:gd name="T6" fmla="*/ 0 w 54"/>
                    <a:gd name="T7" fmla="*/ 16 h 17"/>
                    <a:gd name="T8" fmla="*/ 0 w 54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4"/>
                    <a:gd name="T16" fmla="*/ 0 h 17"/>
                    <a:gd name="T17" fmla="*/ 54 w 5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4" h="17">
                      <a:moveTo>
                        <a:pt x="0" y="0"/>
                      </a:moveTo>
                      <a:lnTo>
                        <a:pt x="53" y="0"/>
                      </a:lnTo>
                      <a:lnTo>
                        <a:pt x="53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31" name="Freeform 1100"/>
                <p:cNvSpPr>
                  <a:spLocks/>
                </p:cNvSpPr>
                <p:nvPr/>
              </p:nvSpPr>
              <p:spPr bwMode="auto">
                <a:xfrm>
                  <a:off x="4010" y="1496"/>
                  <a:ext cx="19" cy="17"/>
                </a:xfrm>
                <a:custGeom>
                  <a:avLst/>
                  <a:gdLst>
                    <a:gd name="T0" fmla="*/ 18 w 19"/>
                    <a:gd name="T1" fmla="*/ 12 h 17"/>
                    <a:gd name="T2" fmla="*/ 17 w 19"/>
                    <a:gd name="T3" fmla="*/ 16 h 17"/>
                    <a:gd name="T4" fmla="*/ 17 w 19"/>
                    <a:gd name="T5" fmla="*/ 0 h 17"/>
                    <a:gd name="T6" fmla="*/ 0 w 19"/>
                    <a:gd name="T7" fmla="*/ 0 h 17"/>
                    <a:gd name="T8" fmla="*/ 0 w 19"/>
                    <a:gd name="T9" fmla="*/ 16 h 17"/>
                    <a:gd name="T10" fmla="*/ 0 w 19"/>
                    <a:gd name="T11" fmla="*/ 12 h 1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"/>
                    <a:gd name="T19" fmla="*/ 0 h 17"/>
                    <a:gd name="T20" fmla="*/ 19 w 19"/>
                    <a:gd name="T21" fmla="*/ 17 h 1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" h="17">
                      <a:moveTo>
                        <a:pt x="18" y="12"/>
                      </a:moveTo>
                      <a:lnTo>
                        <a:pt x="17" y="16"/>
                      </a:ln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6"/>
                      </a:lnTo>
                      <a:lnTo>
                        <a:pt x="0" y="12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32" name="Freeform 1101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16 w 17"/>
                    <a:gd name="T1" fmla="*/ 0 h 17"/>
                    <a:gd name="T2" fmla="*/ 16 w 17"/>
                    <a:gd name="T3" fmla="*/ 16 h 17"/>
                    <a:gd name="T4" fmla="*/ 0 w 17"/>
                    <a:gd name="T5" fmla="*/ 16 h 17"/>
                    <a:gd name="T6" fmla="*/ 0 w 17"/>
                    <a:gd name="T7" fmla="*/ 0 h 17"/>
                    <a:gd name="T8" fmla="*/ 16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16" y="0"/>
                      </a:move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  <a:lnTo>
                        <a:pt x="16" y="0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33" name="Freeform 1102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34" name="Freeform 1103"/>
                <p:cNvSpPr>
                  <a:spLocks/>
                </p:cNvSpPr>
                <p:nvPr/>
              </p:nvSpPr>
              <p:spPr bwMode="auto">
                <a:xfrm>
                  <a:off x="3930" y="1497"/>
                  <a:ext cx="44" cy="17"/>
                </a:xfrm>
                <a:custGeom>
                  <a:avLst/>
                  <a:gdLst>
                    <a:gd name="T0" fmla="*/ 14 w 44"/>
                    <a:gd name="T1" fmla="*/ 16 h 17"/>
                    <a:gd name="T2" fmla="*/ 0 w 44"/>
                    <a:gd name="T3" fmla="*/ 16 h 17"/>
                    <a:gd name="T4" fmla="*/ 0 w 44"/>
                    <a:gd name="T5" fmla="*/ 8 h 17"/>
                    <a:gd name="T6" fmla="*/ 14 w 44"/>
                    <a:gd name="T7" fmla="*/ 8 h 17"/>
                    <a:gd name="T8" fmla="*/ 14 w 44"/>
                    <a:gd name="T9" fmla="*/ 0 h 17"/>
                    <a:gd name="T10" fmla="*/ 28 w 44"/>
                    <a:gd name="T11" fmla="*/ 0 h 17"/>
                    <a:gd name="T12" fmla="*/ 28 w 44"/>
                    <a:gd name="T13" fmla="*/ 8 h 17"/>
                    <a:gd name="T14" fmla="*/ 43 w 44"/>
                    <a:gd name="T15" fmla="*/ 8 h 17"/>
                    <a:gd name="T16" fmla="*/ 43 w 44"/>
                    <a:gd name="T17" fmla="*/ 16 h 17"/>
                    <a:gd name="T18" fmla="*/ 28 w 44"/>
                    <a:gd name="T19" fmla="*/ 16 h 17"/>
                    <a:gd name="T20" fmla="*/ 14 w 44"/>
                    <a:gd name="T21" fmla="*/ 16 h 1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44"/>
                    <a:gd name="T34" fmla="*/ 0 h 17"/>
                    <a:gd name="T35" fmla="*/ 44 w 44"/>
                    <a:gd name="T36" fmla="*/ 17 h 17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44" h="17">
                      <a:moveTo>
                        <a:pt x="14" y="16"/>
                      </a:moveTo>
                      <a:lnTo>
                        <a:pt x="0" y="16"/>
                      </a:lnTo>
                      <a:lnTo>
                        <a:pt x="0" y="8"/>
                      </a:lnTo>
                      <a:lnTo>
                        <a:pt x="14" y="8"/>
                      </a:lnTo>
                      <a:lnTo>
                        <a:pt x="14" y="0"/>
                      </a:lnTo>
                      <a:lnTo>
                        <a:pt x="28" y="0"/>
                      </a:lnTo>
                      <a:lnTo>
                        <a:pt x="28" y="8"/>
                      </a:lnTo>
                      <a:lnTo>
                        <a:pt x="43" y="8"/>
                      </a:lnTo>
                      <a:lnTo>
                        <a:pt x="43" y="16"/>
                      </a:lnTo>
                      <a:lnTo>
                        <a:pt x="28" y="16"/>
                      </a:lnTo>
                      <a:lnTo>
                        <a:pt x="14" y="16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35" name="Freeform 1104"/>
                <p:cNvSpPr>
                  <a:spLocks/>
                </p:cNvSpPr>
                <p:nvPr/>
              </p:nvSpPr>
              <p:spPr bwMode="auto">
                <a:xfrm>
                  <a:off x="3945" y="1497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36" name="Freeform 1105"/>
                <p:cNvSpPr>
                  <a:spLocks/>
                </p:cNvSpPr>
                <p:nvPr/>
              </p:nvSpPr>
              <p:spPr bwMode="auto">
                <a:xfrm>
                  <a:off x="3897" y="1494"/>
                  <a:ext cx="20" cy="17"/>
                </a:xfrm>
                <a:custGeom>
                  <a:avLst/>
                  <a:gdLst>
                    <a:gd name="T0" fmla="*/ 5 w 20"/>
                    <a:gd name="T1" fmla="*/ 16 h 17"/>
                    <a:gd name="T2" fmla="*/ 3 w 20"/>
                    <a:gd name="T3" fmla="*/ 15 h 17"/>
                    <a:gd name="T4" fmla="*/ 2 w 20"/>
                    <a:gd name="T5" fmla="*/ 15 h 17"/>
                    <a:gd name="T6" fmla="*/ 1 w 20"/>
                    <a:gd name="T7" fmla="*/ 14 h 17"/>
                    <a:gd name="T8" fmla="*/ 1 w 20"/>
                    <a:gd name="T9" fmla="*/ 12 h 17"/>
                    <a:gd name="T10" fmla="*/ 0 w 20"/>
                    <a:gd name="T11" fmla="*/ 12 h 17"/>
                    <a:gd name="T12" fmla="*/ 0 w 20"/>
                    <a:gd name="T13" fmla="*/ 10 h 17"/>
                    <a:gd name="T14" fmla="*/ 0 w 20"/>
                    <a:gd name="T15" fmla="*/ 8 h 17"/>
                    <a:gd name="T16" fmla="*/ 0 w 20"/>
                    <a:gd name="T17" fmla="*/ 6 h 17"/>
                    <a:gd name="T18" fmla="*/ 0 w 20"/>
                    <a:gd name="T19" fmla="*/ 4 h 17"/>
                    <a:gd name="T20" fmla="*/ 0 w 20"/>
                    <a:gd name="T21" fmla="*/ 3 h 17"/>
                    <a:gd name="T22" fmla="*/ 1 w 20"/>
                    <a:gd name="T23" fmla="*/ 2 h 17"/>
                    <a:gd name="T24" fmla="*/ 2 w 20"/>
                    <a:gd name="T25" fmla="*/ 1 h 17"/>
                    <a:gd name="T26" fmla="*/ 3 w 20"/>
                    <a:gd name="T27" fmla="*/ 0 h 17"/>
                    <a:gd name="T28" fmla="*/ 4 w 20"/>
                    <a:gd name="T29" fmla="*/ 0 h 17"/>
                    <a:gd name="T30" fmla="*/ 5 w 20"/>
                    <a:gd name="T31" fmla="*/ 0 h 17"/>
                    <a:gd name="T32" fmla="*/ 12 w 20"/>
                    <a:gd name="T33" fmla="*/ 0 h 17"/>
                    <a:gd name="T34" fmla="*/ 13 w 20"/>
                    <a:gd name="T35" fmla="*/ 0 h 17"/>
                    <a:gd name="T36" fmla="*/ 15 w 20"/>
                    <a:gd name="T37" fmla="*/ 0 h 17"/>
                    <a:gd name="T38" fmla="*/ 16 w 20"/>
                    <a:gd name="T39" fmla="*/ 1 h 17"/>
                    <a:gd name="T40" fmla="*/ 17 w 20"/>
                    <a:gd name="T41" fmla="*/ 3 h 17"/>
                    <a:gd name="T42" fmla="*/ 17 w 20"/>
                    <a:gd name="T43" fmla="*/ 3 h 17"/>
                    <a:gd name="T44" fmla="*/ 18 w 20"/>
                    <a:gd name="T45" fmla="*/ 5 h 17"/>
                    <a:gd name="T46" fmla="*/ 18 w 20"/>
                    <a:gd name="T47" fmla="*/ 7 h 17"/>
                    <a:gd name="T48" fmla="*/ 18 w 20"/>
                    <a:gd name="T49" fmla="*/ 8 h 17"/>
                    <a:gd name="T50" fmla="*/ 18 w 20"/>
                    <a:gd name="T51" fmla="*/ 10 h 17"/>
                    <a:gd name="T52" fmla="*/ 17 w 20"/>
                    <a:gd name="T53" fmla="*/ 12 h 17"/>
                    <a:gd name="T54" fmla="*/ 16 w 20"/>
                    <a:gd name="T55" fmla="*/ 13 h 17"/>
                    <a:gd name="T56" fmla="*/ 15 w 20"/>
                    <a:gd name="T57" fmla="*/ 15 h 17"/>
                    <a:gd name="T58" fmla="*/ 13 w 20"/>
                    <a:gd name="T59" fmla="*/ 15 h 17"/>
                    <a:gd name="T60" fmla="*/ 13 w 20"/>
                    <a:gd name="T61" fmla="*/ 16 h 17"/>
                    <a:gd name="T62" fmla="*/ 12 w 20"/>
                    <a:gd name="T63" fmla="*/ 16 h 17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20"/>
                    <a:gd name="T97" fmla="*/ 0 h 17"/>
                    <a:gd name="T98" fmla="*/ 20 w 20"/>
                    <a:gd name="T99" fmla="*/ 17 h 17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20" h="17">
                      <a:moveTo>
                        <a:pt x="5" y="16"/>
                      </a:moveTo>
                      <a:lnTo>
                        <a:pt x="5" y="16"/>
                      </a:lnTo>
                      <a:lnTo>
                        <a:pt x="4" y="16"/>
                      </a:lnTo>
                      <a:lnTo>
                        <a:pt x="3" y="15"/>
                      </a:lnTo>
                      <a:lnTo>
                        <a:pt x="2" y="15"/>
                      </a:lnTo>
                      <a:lnTo>
                        <a:pt x="2" y="14"/>
                      </a:lnTo>
                      <a:lnTo>
                        <a:pt x="1" y="14"/>
                      </a:lnTo>
                      <a:lnTo>
                        <a:pt x="1" y="13"/>
                      </a:lnTo>
                      <a:lnTo>
                        <a:pt x="1" y="12"/>
                      </a:lnTo>
                      <a:lnTo>
                        <a:pt x="0" y="12"/>
                      </a:lnTo>
                      <a:lnTo>
                        <a:pt x="0" y="11"/>
                      </a:lnTo>
                      <a:lnTo>
                        <a:pt x="0" y="10"/>
                      </a:lnTo>
                      <a:lnTo>
                        <a:pt x="0" y="9"/>
                      </a:lnTo>
                      <a:lnTo>
                        <a:pt x="0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1" y="3"/>
                      </a:lnTo>
                      <a:lnTo>
                        <a:pt x="1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5" y="0"/>
                      </a:lnTo>
                      <a:lnTo>
                        <a:pt x="12" y="0"/>
                      </a:lnTo>
                      <a:lnTo>
                        <a:pt x="13" y="0"/>
                      </a:lnTo>
                      <a:lnTo>
                        <a:pt x="15" y="0"/>
                      </a:lnTo>
                      <a:lnTo>
                        <a:pt x="16" y="1"/>
                      </a:lnTo>
                      <a:lnTo>
                        <a:pt x="16" y="2"/>
                      </a:lnTo>
                      <a:lnTo>
                        <a:pt x="17" y="3"/>
                      </a:lnTo>
                      <a:lnTo>
                        <a:pt x="18" y="4"/>
                      </a:lnTo>
                      <a:lnTo>
                        <a:pt x="18" y="5"/>
                      </a:lnTo>
                      <a:lnTo>
                        <a:pt x="18" y="6"/>
                      </a:lnTo>
                      <a:lnTo>
                        <a:pt x="18" y="7"/>
                      </a:lnTo>
                      <a:lnTo>
                        <a:pt x="19" y="8"/>
                      </a:lnTo>
                      <a:lnTo>
                        <a:pt x="18" y="8"/>
                      </a:lnTo>
                      <a:lnTo>
                        <a:pt x="18" y="9"/>
                      </a:lnTo>
                      <a:lnTo>
                        <a:pt x="18" y="10"/>
                      </a:lnTo>
                      <a:lnTo>
                        <a:pt x="18" y="11"/>
                      </a:lnTo>
                      <a:lnTo>
                        <a:pt x="17" y="12"/>
                      </a:lnTo>
                      <a:lnTo>
                        <a:pt x="16" y="13"/>
                      </a:lnTo>
                      <a:lnTo>
                        <a:pt x="16" y="14"/>
                      </a:lnTo>
                      <a:lnTo>
                        <a:pt x="15" y="15"/>
                      </a:lnTo>
                      <a:lnTo>
                        <a:pt x="13" y="15"/>
                      </a:lnTo>
                      <a:lnTo>
                        <a:pt x="13" y="16"/>
                      </a:lnTo>
                      <a:lnTo>
                        <a:pt x="12" y="16"/>
                      </a:lnTo>
                      <a:lnTo>
                        <a:pt x="5" y="16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37" name="Freeform 1106"/>
                <p:cNvSpPr>
                  <a:spLocks/>
                </p:cNvSpPr>
                <p:nvPr/>
              </p:nvSpPr>
              <p:spPr bwMode="auto">
                <a:xfrm>
                  <a:off x="3921" y="1489"/>
                  <a:ext cx="17" cy="38"/>
                </a:xfrm>
                <a:custGeom>
                  <a:avLst/>
                  <a:gdLst>
                    <a:gd name="T0" fmla="*/ 8 w 17"/>
                    <a:gd name="T1" fmla="*/ 0 h 38"/>
                    <a:gd name="T2" fmla="*/ 0 w 17"/>
                    <a:gd name="T3" fmla="*/ 22 h 38"/>
                    <a:gd name="T4" fmla="*/ 16 w 17"/>
                    <a:gd name="T5" fmla="*/ 22 h 38"/>
                    <a:gd name="T6" fmla="*/ 16 w 17"/>
                    <a:gd name="T7" fmla="*/ 37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38"/>
                    <a:gd name="T14" fmla="*/ 17 w 17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38">
                      <a:moveTo>
                        <a:pt x="8" y="0"/>
                      </a:moveTo>
                      <a:lnTo>
                        <a:pt x="0" y="22"/>
                      </a:lnTo>
                      <a:lnTo>
                        <a:pt x="16" y="22"/>
                      </a:lnTo>
                      <a:lnTo>
                        <a:pt x="16" y="37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38" name="Freeform 1107"/>
                <p:cNvSpPr>
                  <a:spLocks/>
                </p:cNvSpPr>
                <p:nvPr/>
              </p:nvSpPr>
              <p:spPr bwMode="auto">
                <a:xfrm>
                  <a:off x="3979" y="1489"/>
                  <a:ext cx="17" cy="72"/>
                </a:xfrm>
                <a:custGeom>
                  <a:avLst/>
                  <a:gdLst>
                    <a:gd name="T0" fmla="*/ 0 w 17"/>
                    <a:gd name="T1" fmla="*/ 0 h 72"/>
                    <a:gd name="T2" fmla="*/ 16 w 17"/>
                    <a:gd name="T3" fmla="*/ 22 h 72"/>
                    <a:gd name="T4" fmla="*/ 0 w 17"/>
                    <a:gd name="T5" fmla="*/ 22 h 72"/>
                    <a:gd name="T6" fmla="*/ 0 w 17"/>
                    <a:gd name="T7" fmla="*/ 71 h 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72"/>
                    <a:gd name="T14" fmla="*/ 17 w 17"/>
                    <a:gd name="T15" fmla="*/ 72 h 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72">
                      <a:moveTo>
                        <a:pt x="0" y="0"/>
                      </a:moveTo>
                      <a:lnTo>
                        <a:pt x="16" y="22"/>
                      </a:lnTo>
                      <a:lnTo>
                        <a:pt x="0" y="22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39" name="Freeform 1108"/>
                <p:cNvSpPr>
                  <a:spLocks/>
                </p:cNvSpPr>
                <p:nvPr/>
              </p:nvSpPr>
              <p:spPr bwMode="auto">
                <a:xfrm>
                  <a:off x="3855" y="1532"/>
                  <a:ext cx="250" cy="41"/>
                </a:xfrm>
                <a:custGeom>
                  <a:avLst/>
                  <a:gdLst>
                    <a:gd name="T0" fmla="*/ 0 w 250"/>
                    <a:gd name="T1" fmla="*/ 40 h 41"/>
                    <a:gd name="T2" fmla="*/ 249 w 250"/>
                    <a:gd name="T3" fmla="*/ 40 h 41"/>
                    <a:gd name="T4" fmla="*/ 240 w 250"/>
                    <a:gd name="T5" fmla="*/ 0 h 41"/>
                    <a:gd name="T6" fmla="*/ 10 w 250"/>
                    <a:gd name="T7" fmla="*/ 0 h 41"/>
                    <a:gd name="T8" fmla="*/ 0 w 250"/>
                    <a:gd name="T9" fmla="*/ 40 h 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0"/>
                    <a:gd name="T16" fmla="*/ 0 h 41"/>
                    <a:gd name="T17" fmla="*/ 250 w 250"/>
                    <a:gd name="T18" fmla="*/ 41 h 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0" h="41">
                      <a:moveTo>
                        <a:pt x="0" y="40"/>
                      </a:moveTo>
                      <a:lnTo>
                        <a:pt x="249" y="40"/>
                      </a:lnTo>
                      <a:lnTo>
                        <a:pt x="240" y="0"/>
                      </a:lnTo>
                      <a:lnTo>
                        <a:pt x="10" y="0"/>
                      </a:lnTo>
                      <a:lnTo>
                        <a:pt x="0" y="40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40" name="Freeform 1109"/>
                <p:cNvSpPr>
                  <a:spLocks/>
                </p:cNvSpPr>
                <p:nvPr/>
              </p:nvSpPr>
              <p:spPr bwMode="auto">
                <a:xfrm>
                  <a:off x="3855" y="1572"/>
                  <a:ext cx="251" cy="17"/>
                </a:xfrm>
                <a:custGeom>
                  <a:avLst/>
                  <a:gdLst>
                    <a:gd name="T0" fmla="*/ 0 w 251"/>
                    <a:gd name="T1" fmla="*/ 16 h 17"/>
                    <a:gd name="T2" fmla="*/ 0 w 251"/>
                    <a:gd name="T3" fmla="*/ 0 h 17"/>
                    <a:gd name="T4" fmla="*/ 249 w 251"/>
                    <a:gd name="T5" fmla="*/ 0 h 17"/>
                    <a:gd name="T6" fmla="*/ 250 w 251"/>
                    <a:gd name="T7" fmla="*/ 16 h 17"/>
                    <a:gd name="T8" fmla="*/ 0 w 251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1"/>
                    <a:gd name="T16" fmla="*/ 0 h 17"/>
                    <a:gd name="T17" fmla="*/ 251 w 251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1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249" y="0"/>
                      </a:lnTo>
                      <a:lnTo>
                        <a:pt x="250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CCCC6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41" name="Freeform 1110"/>
                <p:cNvSpPr>
                  <a:spLocks/>
                </p:cNvSpPr>
                <p:nvPr/>
              </p:nvSpPr>
              <p:spPr bwMode="auto">
                <a:xfrm>
                  <a:off x="3872" y="1538"/>
                  <a:ext cx="223" cy="28"/>
                </a:xfrm>
                <a:custGeom>
                  <a:avLst/>
                  <a:gdLst>
                    <a:gd name="T0" fmla="*/ 0 w 223"/>
                    <a:gd name="T1" fmla="*/ 27 h 28"/>
                    <a:gd name="T2" fmla="*/ 222 w 223"/>
                    <a:gd name="T3" fmla="*/ 27 h 28"/>
                    <a:gd name="T4" fmla="*/ 214 w 223"/>
                    <a:gd name="T5" fmla="*/ 0 h 28"/>
                    <a:gd name="T6" fmla="*/ 8 w 223"/>
                    <a:gd name="T7" fmla="*/ 0 h 28"/>
                    <a:gd name="T8" fmla="*/ 0 w 223"/>
                    <a:gd name="T9" fmla="*/ 27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3"/>
                    <a:gd name="T16" fmla="*/ 0 h 28"/>
                    <a:gd name="T17" fmla="*/ 223 w 223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3" h="28">
                      <a:moveTo>
                        <a:pt x="0" y="27"/>
                      </a:moveTo>
                      <a:lnTo>
                        <a:pt x="222" y="27"/>
                      </a:lnTo>
                      <a:lnTo>
                        <a:pt x="214" y="0"/>
                      </a:lnTo>
                      <a:lnTo>
                        <a:pt x="8" y="0"/>
                      </a:lnTo>
                      <a:lnTo>
                        <a:pt x="0" y="27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0272" name="Group 1111"/>
              <p:cNvGrpSpPr>
                <a:grpSpLocks/>
              </p:cNvGrpSpPr>
              <p:nvPr/>
            </p:nvGrpSpPr>
            <p:grpSpPr bwMode="auto">
              <a:xfrm>
                <a:off x="1940" y="725"/>
                <a:ext cx="245" cy="175"/>
                <a:chOff x="3840" y="1279"/>
                <a:chExt cx="266" cy="310"/>
              </a:xfrm>
            </p:grpSpPr>
            <p:sp>
              <p:nvSpPr>
                <p:cNvPr id="10730" name="Freeform 1112"/>
                <p:cNvSpPr>
                  <a:spLocks/>
                </p:cNvSpPr>
                <p:nvPr/>
              </p:nvSpPr>
              <p:spPr bwMode="auto">
                <a:xfrm>
                  <a:off x="3848" y="1548"/>
                  <a:ext cx="206" cy="20"/>
                </a:xfrm>
                <a:custGeom>
                  <a:avLst/>
                  <a:gdLst>
                    <a:gd name="T0" fmla="*/ 0 w 206"/>
                    <a:gd name="T1" fmla="*/ 19 h 20"/>
                    <a:gd name="T2" fmla="*/ 0 w 206"/>
                    <a:gd name="T3" fmla="*/ 0 h 20"/>
                    <a:gd name="T4" fmla="*/ 205 w 206"/>
                    <a:gd name="T5" fmla="*/ 0 h 20"/>
                    <a:gd name="T6" fmla="*/ 205 w 206"/>
                    <a:gd name="T7" fmla="*/ 19 h 20"/>
                    <a:gd name="T8" fmla="*/ 0 w 206"/>
                    <a:gd name="T9" fmla="*/ 19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6"/>
                    <a:gd name="T16" fmla="*/ 0 h 20"/>
                    <a:gd name="T17" fmla="*/ 206 w 206"/>
                    <a:gd name="T18" fmla="*/ 20 h 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6" h="20">
                      <a:moveTo>
                        <a:pt x="0" y="19"/>
                      </a:moveTo>
                      <a:lnTo>
                        <a:pt x="0" y="0"/>
                      </a:lnTo>
                      <a:lnTo>
                        <a:pt x="205" y="0"/>
                      </a:lnTo>
                      <a:lnTo>
                        <a:pt x="205" y="19"/>
                      </a:lnTo>
                      <a:lnTo>
                        <a:pt x="0" y="19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31" name="Freeform 1113"/>
                <p:cNvSpPr>
                  <a:spLocks/>
                </p:cNvSpPr>
                <p:nvPr/>
              </p:nvSpPr>
              <p:spPr bwMode="auto">
                <a:xfrm>
                  <a:off x="3840" y="1453"/>
                  <a:ext cx="220" cy="34"/>
                </a:xfrm>
                <a:custGeom>
                  <a:avLst/>
                  <a:gdLst>
                    <a:gd name="T0" fmla="*/ 189 w 220"/>
                    <a:gd name="T1" fmla="*/ 0 h 34"/>
                    <a:gd name="T2" fmla="*/ 219 w 220"/>
                    <a:gd name="T3" fmla="*/ 33 h 34"/>
                    <a:gd name="T4" fmla="*/ 0 w 220"/>
                    <a:gd name="T5" fmla="*/ 33 h 34"/>
                    <a:gd name="T6" fmla="*/ 29 w 220"/>
                    <a:gd name="T7" fmla="*/ 0 h 34"/>
                    <a:gd name="T8" fmla="*/ 189 w 220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34"/>
                    <a:gd name="T17" fmla="*/ 220 w 220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34">
                      <a:moveTo>
                        <a:pt x="189" y="0"/>
                      </a:moveTo>
                      <a:lnTo>
                        <a:pt x="219" y="33"/>
                      </a:lnTo>
                      <a:lnTo>
                        <a:pt x="0" y="33"/>
                      </a:lnTo>
                      <a:lnTo>
                        <a:pt x="29" y="0"/>
                      </a:lnTo>
                      <a:lnTo>
                        <a:pt x="189" y="0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32" name="Freeform 1114"/>
                <p:cNvSpPr>
                  <a:spLocks/>
                </p:cNvSpPr>
                <p:nvPr/>
              </p:nvSpPr>
              <p:spPr bwMode="auto">
                <a:xfrm>
                  <a:off x="3897" y="1449"/>
                  <a:ext cx="104" cy="24"/>
                </a:xfrm>
                <a:custGeom>
                  <a:avLst/>
                  <a:gdLst>
                    <a:gd name="T0" fmla="*/ 102 w 104"/>
                    <a:gd name="T1" fmla="*/ 10 h 24"/>
                    <a:gd name="T2" fmla="*/ 101 w 104"/>
                    <a:gd name="T3" fmla="*/ 8 h 24"/>
                    <a:gd name="T4" fmla="*/ 97 w 104"/>
                    <a:gd name="T5" fmla="*/ 6 h 24"/>
                    <a:gd name="T6" fmla="*/ 93 w 104"/>
                    <a:gd name="T7" fmla="*/ 4 h 24"/>
                    <a:gd name="T8" fmla="*/ 87 w 104"/>
                    <a:gd name="T9" fmla="*/ 3 h 24"/>
                    <a:gd name="T10" fmla="*/ 80 w 104"/>
                    <a:gd name="T11" fmla="*/ 2 h 24"/>
                    <a:gd name="T12" fmla="*/ 72 w 104"/>
                    <a:gd name="T13" fmla="*/ 1 h 24"/>
                    <a:gd name="T14" fmla="*/ 64 w 104"/>
                    <a:gd name="T15" fmla="*/ 0 h 24"/>
                    <a:gd name="T16" fmla="*/ 55 w 104"/>
                    <a:gd name="T17" fmla="*/ 0 h 24"/>
                    <a:gd name="T18" fmla="*/ 46 w 104"/>
                    <a:gd name="T19" fmla="*/ 0 h 24"/>
                    <a:gd name="T20" fmla="*/ 37 w 104"/>
                    <a:gd name="T21" fmla="*/ 0 h 24"/>
                    <a:gd name="T22" fmla="*/ 29 w 104"/>
                    <a:gd name="T23" fmla="*/ 1 h 24"/>
                    <a:gd name="T24" fmla="*/ 21 w 104"/>
                    <a:gd name="T25" fmla="*/ 2 h 24"/>
                    <a:gd name="T26" fmla="*/ 14 w 104"/>
                    <a:gd name="T27" fmla="*/ 3 h 24"/>
                    <a:gd name="T28" fmla="*/ 8 w 104"/>
                    <a:gd name="T29" fmla="*/ 4 h 24"/>
                    <a:gd name="T30" fmla="*/ 4 w 104"/>
                    <a:gd name="T31" fmla="*/ 6 h 24"/>
                    <a:gd name="T32" fmla="*/ 1 w 104"/>
                    <a:gd name="T33" fmla="*/ 8 h 24"/>
                    <a:gd name="T34" fmla="*/ 0 w 104"/>
                    <a:gd name="T35" fmla="*/ 10 h 24"/>
                    <a:gd name="T36" fmla="*/ 0 w 104"/>
                    <a:gd name="T37" fmla="*/ 12 h 24"/>
                    <a:gd name="T38" fmla="*/ 1 w 104"/>
                    <a:gd name="T39" fmla="*/ 14 h 24"/>
                    <a:gd name="T40" fmla="*/ 4 w 104"/>
                    <a:gd name="T41" fmla="*/ 16 h 24"/>
                    <a:gd name="T42" fmla="*/ 8 w 104"/>
                    <a:gd name="T43" fmla="*/ 17 h 24"/>
                    <a:gd name="T44" fmla="*/ 14 w 104"/>
                    <a:gd name="T45" fmla="*/ 19 h 24"/>
                    <a:gd name="T46" fmla="*/ 21 w 104"/>
                    <a:gd name="T47" fmla="*/ 20 h 24"/>
                    <a:gd name="T48" fmla="*/ 29 w 104"/>
                    <a:gd name="T49" fmla="*/ 21 h 24"/>
                    <a:gd name="T50" fmla="*/ 37 w 104"/>
                    <a:gd name="T51" fmla="*/ 22 h 24"/>
                    <a:gd name="T52" fmla="*/ 46 w 104"/>
                    <a:gd name="T53" fmla="*/ 23 h 24"/>
                    <a:gd name="T54" fmla="*/ 55 w 104"/>
                    <a:gd name="T55" fmla="*/ 23 h 24"/>
                    <a:gd name="T56" fmla="*/ 64 w 104"/>
                    <a:gd name="T57" fmla="*/ 22 h 24"/>
                    <a:gd name="T58" fmla="*/ 72 w 104"/>
                    <a:gd name="T59" fmla="*/ 21 h 24"/>
                    <a:gd name="T60" fmla="*/ 80 w 104"/>
                    <a:gd name="T61" fmla="*/ 20 h 24"/>
                    <a:gd name="T62" fmla="*/ 87 w 104"/>
                    <a:gd name="T63" fmla="*/ 19 h 24"/>
                    <a:gd name="T64" fmla="*/ 93 w 104"/>
                    <a:gd name="T65" fmla="*/ 17 h 24"/>
                    <a:gd name="T66" fmla="*/ 97 w 104"/>
                    <a:gd name="T67" fmla="*/ 16 h 24"/>
                    <a:gd name="T68" fmla="*/ 101 w 104"/>
                    <a:gd name="T69" fmla="*/ 14 h 24"/>
                    <a:gd name="T70" fmla="*/ 102 w 104"/>
                    <a:gd name="T71" fmla="*/ 12 h 24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104"/>
                    <a:gd name="T109" fmla="*/ 0 h 24"/>
                    <a:gd name="T110" fmla="*/ 104 w 104"/>
                    <a:gd name="T111" fmla="*/ 24 h 24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104" h="24">
                      <a:moveTo>
                        <a:pt x="103" y="11"/>
                      </a:moveTo>
                      <a:lnTo>
                        <a:pt x="102" y="10"/>
                      </a:lnTo>
                      <a:lnTo>
                        <a:pt x="102" y="9"/>
                      </a:lnTo>
                      <a:lnTo>
                        <a:pt x="101" y="8"/>
                      </a:lnTo>
                      <a:lnTo>
                        <a:pt x="99" y="7"/>
                      </a:lnTo>
                      <a:lnTo>
                        <a:pt x="97" y="6"/>
                      </a:lnTo>
                      <a:lnTo>
                        <a:pt x="95" y="6"/>
                      </a:lnTo>
                      <a:lnTo>
                        <a:pt x="93" y="4"/>
                      </a:lnTo>
                      <a:lnTo>
                        <a:pt x="90" y="4"/>
                      </a:lnTo>
                      <a:lnTo>
                        <a:pt x="87" y="3"/>
                      </a:lnTo>
                      <a:lnTo>
                        <a:pt x="84" y="2"/>
                      </a:lnTo>
                      <a:lnTo>
                        <a:pt x="80" y="2"/>
                      </a:lnTo>
                      <a:lnTo>
                        <a:pt x="76" y="1"/>
                      </a:lnTo>
                      <a:lnTo>
                        <a:pt x="72" y="1"/>
                      </a:lnTo>
                      <a:lnTo>
                        <a:pt x="69" y="0"/>
                      </a:lnTo>
                      <a:lnTo>
                        <a:pt x="64" y="0"/>
                      </a:lnTo>
                      <a:lnTo>
                        <a:pt x="60" y="0"/>
                      </a:lnTo>
                      <a:lnTo>
                        <a:pt x="55" y="0"/>
                      </a:lnTo>
                      <a:lnTo>
                        <a:pt x="51" y="0"/>
                      </a:lnTo>
                      <a:lnTo>
                        <a:pt x="46" y="0"/>
                      </a:lnTo>
                      <a:lnTo>
                        <a:pt x="42" y="0"/>
                      </a:lnTo>
                      <a:lnTo>
                        <a:pt x="37" y="0"/>
                      </a:lnTo>
                      <a:lnTo>
                        <a:pt x="33" y="0"/>
                      </a:lnTo>
                      <a:lnTo>
                        <a:pt x="29" y="1"/>
                      </a:lnTo>
                      <a:lnTo>
                        <a:pt x="25" y="1"/>
                      </a:lnTo>
                      <a:lnTo>
                        <a:pt x="21" y="2"/>
                      </a:lnTo>
                      <a:lnTo>
                        <a:pt x="17" y="2"/>
                      </a:lnTo>
                      <a:lnTo>
                        <a:pt x="14" y="3"/>
                      </a:lnTo>
                      <a:lnTo>
                        <a:pt x="12" y="4"/>
                      </a:lnTo>
                      <a:lnTo>
                        <a:pt x="8" y="4"/>
                      </a:lnTo>
                      <a:lnTo>
                        <a:pt x="6" y="6"/>
                      </a:lnTo>
                      <a:lnTo>
                        <a:pt x="4" y="6"/>
                      </a:lnTo>
                      <a:lnTo>
                        <a:pt x="3" y="7"/>
                      </a:lnTo>
                      <a:lnTo>
                        <a:pt x="1" y="8"/>
                      </a:lnTo>
                      <a:lnTo>
                        <a:pt x="0" y="9"/>
                      </a:lnTo>
                      <a:lnTo>
                        <a:pt x="0" y="10"/>
                      </a:lnTo>
                      <a:lnTo>
                        <a:pt x="0" y="11"/>
                      </a:lnTo>
                      <a:lnTo>
                        <a:pt x="0" y="12"/>
                      </a:lnTo>
                      <a:lnTo>
                        <a:pt x="0" y="13"/>
                      </a:lnTo>
                      <a:lnTo>
                        <a:pt x="1" y="14"/>
                      </a:lnTo>
                      <a:lnTo>
                        <a:pt x="3" y="15"/>
                      </a:lnTo>
                      <a:lnTo>
                        <a:pt x="4" y="16"/>
                      </a:lnTo>
                      <a:lnTo>
                        <a:pt x="6" y="17"/>
                      </a:lnTo>
                      <a:lnTo>
                        <a:pt x="8" y="17"/>
                      </a:lnTo>
                      <a:lnTo>
                        <a:pt x="12" y="18"/>
                      </a:lnTo>
                      <a:lnTo>
                        <a:pt x="14" y="19"/>
                      </a:lnTo>
                      <a:lnTo>
                        <a:pt x="17" y="20"/>
                      </a:lnTo>
                      <a:lnTo>
                        <a:pt x="21" y="20"/>
                      </a:lnTo>
                      <a:lnTo>
                        <a:pt x="25" y="21"/>
                      </a:lnTo>
                      <a:lnTo>
                        <a:pt x="29" y="21"/>
                      </a:lnTo>
                      <a:lnTo>
                        <a:pt x="33" y="22"/>
                      </a:lnTo>
                      <a:lnTo>
                        <a:pt x="37" y="22"/>
                      </a:lnTo>
                      <a:lnTo>
                        <a:pt x="42" y="22"/>
                      </a:lnTo>
                      <a:lnTo>
                        <a:pt x="46" y="23"/>
                      </a:lnTo>
                      <a:lnTo>
                        <a:pt x="51" y="23"/>
                      </a:lnTo>
                      <a:lnTo>
                        <a:pt x="55" y="23"/>
                      </a:lnTo>
                      <a:lnTo>
                        <a:pt x="60" y="22"/>
                      </a:lnTo>
                      <a:lnTo>
                        <a:pt x="64" y="22"/>
                      </a:lnTo>
                      <a:lnTo>
                        <a:pt x="69" y="22"/>
                      </a:lnTo>
                      <a:lnTo>
                        <a:pt x="72" y="21"/>
                      </a:lnTo>
                      <a:lnTo>
                        <a:pt x="76" y="21"/>
                      </a:lnTo>
                      <a:lnTo>
                        <a:pt x="80" y="20"/>
                      </a:lnTo>
                      <a:lnTo>
                        <a:pt x="84" y="20"/>
                      </a:lnTo>
                      <a:lnTo>
                        <a:pt x="87" y="19"/>
                      </a:lnTo>
                      <a:lnTo>
                        <a:pt x="90" y="18"/>
                      </a:lnTo>
                      <a:lnTo>
                        <a:pt x="93" y="17"/>
                      </a:lnTo>
                      <a:lnTo>
                        <a:pt x="95" y="17"/>
                      </a:lnTo>
                      <a:lnTo>
                        <a:pt x="97" y="16"/>
                      </a:lnTo>
                      <a:lnTo>
                        <a:pt x="99" y="15"/>
                      </a:lnTo>
                      <a:lnTo>
                        <a:pt x="101" y="14"/>
                      </a:lnTo>
                      <a:lnTo>
                        <a:pt x="102" y="13"/>
                      </a:lnTo>
                      <a:lnTo>
                        <a:pt x="102" y="12"/>
                      </a:lnTo>
                      <a:lnTo>
                        <a:pt x="103" y="11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33" name="Freeform 1115"/>
                <p:cNvSpPr>
                  <a:spLocks/>
                </p:cNvSpPr>
                <p:nvPr/>
              </p:nvSpPr>
              <p:spPr bwMode="auto">
                <a:xfrm>
                  <a:off x="3897" y="1461"/>
                  <a:ext cx="104" cy="17"/>
                </a:xfrm>
                <a:custGeom>
                  <a:avLst/>
                  <a:gdLst>
                    <a:gd name="T0" fmla="*/ 102 w 104"/>
                    <a:gd name="T1" fmla="*/ 6 h 17"/>
                    <a:gd name="T2" fmla="*/ 101 w 104"/>
                    <a:gd name="T3" fmla="*/ 8 h 17"/>
                    <a:gd name="T4" fmla="*/ 97 w 104"/>
                    <a:gd name="T5" fmla="*/ 10 h 17"/>
                    <a:gd name="T6" fmla="*/ 93 w 104"/>
                    <a:gd name="T7" fmla="*/ 11 h 17"/>
                    <a:gd name="T8" fmla="*/ 87 w 104"/>
                    <a:gd name="T9" fmla="*/ 12 h 17"/>
                    <a:gd name="T10" fmla="*/ 80 w 104"/>
                    <a:gd name="T11" fmla="*/ 14 h 17"/>
                    <a:gd name="T12" fmla="*/ 72 w 104"/>
                    <a:gd name="T13" fmla="*/ 14 h 17"/>
                    <a:gd name="T14" fmla="*/ 64 w 104"/>
                    <a:gd name="T15" fmla="*/ 15 h 17"/>
                    <a:gd name="T16" fmla="*/ 55 w 104"/>
                    <a:gd name="T17" fmla="*/ 16 h 17"/>
                    <a:gd name="T18" fmla="*/ 46 w 104"/>
                    <a:gd name="T19" fmla="*/ 16 h 17"/>
                    <a:gd name="T20" fmla="*/ 37 w 104"/>
                    <a:gd name="T21" fmla="*/ 15 h 17"/>
                    <a:gd name="T22" fmla="*/ 29 w 104"/>
                    <a:gd name="T23" fmla="*/ 14 h 17"/>
                    <a:gd name="T24" fmla="*/ 21 w 104"/>
                    <a:gd name="T25" fmla="*/ 14 h 17"/>
                    <a:gd name="T26" fmla="*/ 14 w 104"/>
                    <a:gd name="T27" fmla="*/ 12 h 17"/>
                    <a:gd name="T28" fmla="*/ 8 w 104"/>
                    <a:gd name="T29" fmla="*/ 11 h 17"/>
                    <a:gd name="T30" fmla="*/ 4 w 104"/>
                    <a:gd name="T31" fmla="*/ 10 h 17"/>
                    <a:gd name="T32" fmla="*/ 1 w 104"/>
                    <a:gd name="T33" fmla="*/ 8 h 17"/>
                    <a:gd name="T34" fmla="*/ 0 w 104"/>
                    <a:gd name="T35" fmla="*/ 6 h 17"/>
                    <a:gd name="T36" fmla="*/ 0 w 104"/>
                    <a:gd name="T37" fmla="*/ 0 h 17"/>
                    <a:gd name="T38" fmla="*/ 0 w 104"/>
                    <a:gd name="T39" fmla="*/ 2 h 17"/>
                    <a:gd name="T40" fmla="*/ 3 w 104"/>
                    <a:gd name="T41" fmla="*/ 4 h 17"/>
                    <a:gd name="T42" fmla="*/ 6 w 104"/>
                    <a:gd name="T43" fmla="*/ 5 h 17"/>
                    <a:gd name="T44" fmla="*/ 12 w 104"/>
                    <a:gd name="T45" fmla="*/ 6 h 17"/>
                    <a:gd name="T46" fmla="*/ 17 w 104"/>
                    <a:gd name="T47" fmla="*/ 8 h 17"/>
                    <a:gd name="T48" fmla="*/ 25 w 104"/>
                    <a:gd name="T49" fmla="*/ 9 h 17"/>
                    <a:gd name="T50" fmla="*/ 33 w 104"/>
                    <a:gd name="T51" fmla="*/ 10 h 17"/>
                    <a:gd name="T52" fmla="*/ 42 w 104"/>
                    <a:gd name="T53" fmla="*/ 10 h 17"/>
                    <a:gd name="T54" fmla="*/ 51 w 104"/>
                    <a:gd name="T55" fmla="*/ 10 h 17"/>
                    <a:gd name="T56" fmla="*/ 60 w 104"/>
                    <a:gd name="T57" fmla="*/ 10 h 17"/>
                    <a:gd name="T58" fmla="*/ 69 w 104"/>
                    <a:gd name="T59" fmla="*/ 10 h 17"/>
                    <a:gd name="T60" fmla="*/ 76 w 104"/>
                    <a:gd name="T61" fmla="*/ 9 h 17"/>
                    <a:gd name="T62" fmla="*/ 84 w 104"/>
                    <a:gd name="T63" fmla="*/ 8 h 17"/>
                    <a:gd name="T64" fmla="*/ 90 w 104"/>
                    <a:gd name="T65" fmla="*/ 6 h 17"/>
                    <a:gd name="T66" fmla="*/ 95 w 104"/>
                    <a:gd name="T67" fmla="*/ 5 h 17"/>
                    <a:gd name="T68" fmla="*/ 99 w 104"/>
                    <a:gd name="T69" fmla="*/ 4 h 17"/>
                    <a:gd name="T70" fmla="*/ 102 w 104"/>
                    <a:gd name="T71" fmla="*/ 2 h 17"/>
                    <a:gd name="T72" fmla="*/ 103 w 104"/>
                    <a:gd name="T73" fmla="*/ 0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04"/>
                    <a:gd name="T112" fmla="*/ 0 h 17"/>
                    <a:gd name="T113" fmla="*/ 104 w 104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04" h="17">
                      <a:moveTo>
                        <a:pt x="103" y="5"/>
                      </a:moveTo>
                      <a:lnTo>
                        <a:pt x="102" y="6"/>
                      </a:lnTo>
                      <a:lnTo>
                        <a:pt x="102" y="7"/>
                      </a:lnTo>
                      <a:lnTo>
                        <a:pt x="101" y="8"/>
                      </a:lnTo>
                      <a:lnTo>
                        <a:pt x="99" y="8"/>
                      </a:lnTo>
                      <a:lnTo>
                        <a:pt x="97" y="10"/>
                      </a:lnTo>
                      <a:lnTo>
                        <a:pt x="95" y="10"/>
                      </a:lnTo>
                      <a:lnTo>
                        <a:pt x="93" y="11"/>
                      </a:lnTo>
                      <a:lnTo>
                        <a:pt x="90" y="12"/>
                      </a:lnTo>
                      <a:lnTo>
                        <a:pt x="87" y="12"/>
                      </a:lnTo>
                      <a:lnTo>
                        <a:pt x="84" y="13"/>
                      </a:lnTo>
                      <a:lnTo>
                        <a:pt x="80" y="14"/>
                      </a:lnTo>
                      <a:lnTo>
                        <a:pt x="76" y="14"/>
                      </a:lnTo>
                      <a:lnTo>
                        <a:pt x="72" y="14"/>
                      </a:lnTo>
                      <a:lnTo>
                        <a:pt x="69" y="15"/>
                      </a:lnTo>
                      <a:lnTo>
                        <a:pt x="64" y="15"/>
                      </a:lnTo>
                      <a:lnTo>
                        <a:pt x="60" y="16"/>
                      </a:lnTo>
                      <a:lnTo>
                        <a:pt x="55" y="16"/>
                      </a:lnTo>
                      <a:lnTo>
                        <a:pt x="51" y="16"/>
                      </a:lnTo>
                      <a:lnTo>
                        <a:pt x="46" y="16"/>
                      </a:lnTo>
                      <a:lnTo>
                        <a:pt x="42" y="16"/>
                      </a:lnTo>
                      <a:lnTo>
                        <a:pt x="37" y="15"/>
                      </a:lnTo>
                      <a:lnTo>
                        <a:pt x="33" y="15"/>
                      </a:lnTo>
                      <a:lnTo>
                        <a:pt x="29" y="14"/>
                      </a:lnTo>
                      <a:lnTo>
                        <a:pt x="25" y="14"/>
                      </a:lnTo>
                      <a:lnTo>
                        <a:pt x="21" y="14"/>
                      </a:lnTo>
                      <a:lnTo>
                        <a:pt x="17" y="13"/>
                      </a:lnTo>
                      <a:lnTo>
                        <a:pt x="14" y="12"/>
                      </a:lnTo>
                      <a:lnTo>
                        <a:pt x="12" y="12"/>
                      </a:lnTo>
                      <a:lnTo>
                        <a:pt x="8" y="11"/>
                      </a:lnTo>
                      <a:lnTo>
                        <a:pt x="6" y="10"/>
                      </a:lnTo>
                      <a:lnTo>
                        <a:pt x="4" y="10"/>
                      </a:lnTo>
                      <a:lnTo>
                        <a:pt x="3" y="8"/>
                      </a:lnTo>
                      <a:lnTo>
                        <a:pt x="1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1" y="2"/>
                      </a:lnTo>
                      <a:lnTo>
                        <a:pt x="3" y="4"/>
                      </a:lnTo>
                      <a:lnTo>
                        <a:pt x="4" y="4"/>
                      </a:lnTo>
                      <a:lnTo>
                        <a:pt x="6" y="5"/>
                      </a:lnTo>
                      <a:lnTo>
                        <a:pt x="8" y="6"/>
                      </a:lnTo>
                      <a:lnTo>
                        <a:pt x="12" y="6"/>
                      </a:lnTo>
                      <a:lnTo>
                        <a:pt x="14" y="7"/>
                      </a:lnTo>
                      <a:lnTo>
                        <a:pt x="17" y="8"/>
                      </a:lnTo>
                      <a:lnTo>
                        <a:pt x="21" y="8"/>
                      </a:lnTo>
                      <a:lnTo>
                        <a:pt x="25" y="9"/>
                      </a:lnTo>
                      <a:lnTo>
                        <a:pt x="29" y="10"/>
                      </a:lnTo>
                      <a:lnTo>
                        <a:pt x="33" y="10"/>
                      </a:lnTo>
                      <a:lnTo>
                        <a:pt x="37" y="10"/>
                      </a:lnTo>
                      <a:lnTo>
                        <a:pt x="42" y="10"/>
                      </a:lnTo>
                      <a:lnTo>
                        <a:pt x="46" y="10"/>
                      </a:lnTo>
                      <a:lnTo>
                        <a:pt x="51" y="10"/>
                      </a:lnTo>
                      <a:lnTo>
                        <a:pt x="55" y="10"/>
                      </a:lnTo>
                      <a:lnTo>
                        <a:pt x="60" y="10"/>
                      </a:lnTo>
                      <a:lnTo>
                        <a:pt x="64" y="10"/>
                      </a:lnTo>
                      <a:lnTo>
                        <a:pt x="69" y="10"/>
                      </a:lnTo>
                      <a:lnTo>
                        <a:pt x="72" y="10"/>
                      </a:lnTo>
                      <a:lnTo>
                        <a:pt x="76" y="9"/>
                      </a:lnTo>
                      <a:lnTo>
                        <a:pt x="80" y="8"/>
                      </a:lnTo>
                      <a:lnTo>
                        <a:pt x="84" y="8"/>
                      </a:lnTo>
                      <a:lnTo>
                        <a:pt x="87" y="7"/>
                      </a:lnTo>
                      <a:lnTo>
                        <a:pt x="90" y="6"/>
                      </a:lnTo>
                      <a:lnTo>
                        <a:pt x="93" y="6"/>
                      </a:lnTo>
                      <a:lnTo>
                        <a:pt x="95" y="5"/>
                      </a:lnTo>
                      <a:lnTo>
                        <a:pt x="97" y="4"/>
                      </a:lnTo>
                      <a:lnTo>
                        <a:pt x="99" y="4"/>
                      </a:lnTo>
                      <a:lnTo>
                        <a:pt x="101" y="2"/>
                      </a:lnTo>
                      <a:lnTo>
                        <a:pt x="102" y="2"/>
                      </a:lnTo>
                      <a:lnTo>
                        <a:pt x="102" y="1"/>
                      </a:lnTo>
                      <a:lnTo>
                        <a:pt x="103" y="0"/>
                      </a:lnTo>
                      <a:lnTo>
                        <a:pt x="103" y="5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34" name="Freeform 1116"/>
                <p:cNvSpPr>
                  <a:spLocks/>
                </p:cNvSpPr>
                <p:nvPr/>
              </p:nvSpPr>
              <p:spPr bwMode="auto">
                <a:xfrm>
                  <a:off x="3840" y="1486"/>
                  <a:ext cx="220" cy="77"/>
                </a:xfrm>
                <a:custGeom>
                  <a:avLst/>
                  <a:gdLst>
                    <a:gd name="T0" fmla="*/ 0 w 220"/>
                    <a:gd name="T1" fmla="*/ 76 h 77"/>
                    <a:gd name="T2" fmla="*/ 219 w 220"/>
                    <a:gd name="T3" fmla="*/ 76 h 77"/>
                    <a:gd name="T4" fmla="*/ 219 w 220"/>
                    <a:gd name="T5" fmla="*/ 0 h 77"/>
                    <a:gd name="T6" fmla="*/ 0 w 220"/>
                    <a:gd name="T7" fmla="*/ 0 h 77"/>
                    <a:gd name="T8" fmla="*/ 0 w 220"/>
                    <a:gd name="T9" fmla="*/ 76 h 7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77"/>
                    <a:gd name="T17" fmla="*/ 220 w 220"/>
                    <a:gd name="T18" fmla="*/ 77 h 7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77">
                      <a:moveTo>
                        <a:pt x="0" y="76"/>
                      </a:moveTo>
                      <a:lnTo>
                        <a:pt x="219" y="76"/>
                      </a:lnTo>
                      <a:lnTo>
                        <a:pt x="219" y="0"/>
                      </a:lnTo>
                      <a:lnTo>
                        <a:pt x="0" y="0"/>
                      </a:lnTo>
                      <a:lnTo>
                        <a:pt x="0" y="76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35" name="Freeform 1117"/>
                <p:cNvSpPr>
                  <a:spLocks/>
                </p:cNvSpPr>
                <p:nvPr/>
              </p:nvSpPr>
              <p:spPr bwMode="auto">
                <a:xfrm>
                  <a:off x="3875" y="1449"/>
                  <a:ext cx="69" cy="17"/>
                </a:xfrm>
                <a:custGeom>
                  <a:avLst/>
                  <a:gdLst>
                    <a:gd name="T0" fmla="*/ 0 w 69"/>
                    <a:gd name="T1" fmla="*/ 16 h 17"/>
                    <a:gd name="T2" fmla="*/ 0 w 69"/>
                    <a:gd name="T3" fmla="*/ 0 h 17"/>
                    <a:gd name="T4" fmla="*/ 68 w 69"/>
                    <a:gd name="T5" fmla="*/ 0 h 17"/>
                    <a:gd name="T6" fmla="*/ 68 w 69"/>
                    <a:gd name="T7" fmla="*/ 16 h 17"/>
                    <a:gd name="T8" fmla="*/ 0 w 69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9"/>
                    <a:gd name="T16" fmla="*/ 0 h 17"/>
                    <a:gd name="T17" fmla="*/ 69 w 69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9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68" y="0"/>
                      </a:lnTo>
                      <a:lnTo>
                        <a:pt x="68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36" name="Freeform 1118"/>
                <p:cNvSpPr>
                  <a:spLocks/>
                </p:cNvSpPr>
                <p:nvPr/>
              </p:nvSpPr>
              <p:spPr bwMode="auto">
                <a:xfrm>
                  <a:off x="3931" y="1450"/>
                  <a:ext cx="94" cy="17"/>
                </a:xfrm>
                <a:custGeom>
                  <a:avLst/>
                  <a:gdLst>
                    <a:gd name="T0" fmla="*/ 0 w 94"/>
                    <a:gd name="T1" fmla="*/ 16 h 17"/>
                    <a:gd name="T2" fmla="*/ 0 w 94"/>
                    <a:gd name="T3" fmla="*/ 0 h 17"/>
                    <a:gd name="T4" fmla="*/ 93 w 94"/>
                    <a:gd name="T5" fmla="*/ 0 h 17"/>
                    <a:gd name="T6" fmla="*/ 93 w 94"/>
                    <a:gd name="T7" fmla="*/ 16 h 17"/>
                    <a:gd name="T8" fmla="*/ 0 w 94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4"/>
                    <a:gd name="T16" fmla="*/ 0 h 17"/>
                    <a:gd name="T17" fmla="*/ 94 w 9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4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93" y="0"/>
                      </a:lnTo>
                      <a:lnTo>
                        <a:pt x="93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37" name="Freeform 1119"/>
                <p:cNvSpPr>
                  <a:spLocks/>
                </p:cNvSpPr>
                <p:nvPr/>
              </p:nvSpPr>
              <p:spPr bwMode="auto">
                <a:xfrm>
                  <a:off x="3877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38" name="Freeform 1120"/>
                <p:cNvSpPr>
                  <a:spLocks/>
                </p:cNvSpPr>
                <p:nvPr/>
              </p:nvSpPr>
              <p:spPr bwMode="auto">
                <a:xfrm>
                  <a:off x="388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4 w 17"/>
                    <a:gd name="T7" fmla="*/ 16 h 17"/>
                    <a:gd name="T8" fmla="*/ 8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39" name="Freeform 1121"/>
                <p:cNvSpPr>
                  <a:spLocks/>
                </p:cNvSpPr>
                <p:nvPr/>
              </p:nvSpPr>
              <p:spPr bwMode="auto">
                <a:xfrm>
                  <a:off x="388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40" name="Freeform 1122"/>
                <p:cNvSpPr>
                  <a:spLocks/>
                </p:cNvSpPr>
                <p:nvPr/>
              </p:nvSpPr>
              <p:spPr bwMode="auto">
                <a:xfrm>
                  <a:off x="388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41" name="Freeform 1123"/>
                <p:cNvSpPr>
                  <a:spLocks/>
                </p:cNvSpPr>
                <p:nvPr/>
              </p:nvSpPr>
              <p:spPr bwMode="auto">
                <a:xfrm>
                  <a:off x="388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42" name="Freeform 1124"/>
                <p:cNvSpPr>
                  <a:spLocks/>
                </p:cNvSpPr>
                <p:nvPr/>
              </p:nvSpPr>
              <p:spPr bwMode="auto">
                <a:xfrm>
                  <a:off x="389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43" name="Freeform 1125"/>
                <p:cNvSpPr>
                  <a:spLocks/>
                </p:cNvSpPr>
                <p:nvPr/>
              </p:nvSpPr>
              <p:spPr bwMode="auto">
                <a:xfrm>
                  <a:off x="389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44" name="Freeform 1126"/>
                <p:cNvSpPr>
                  <a:spLocks/>
                </p:cNvSpPr>
                <p:nvPr/>
              </p:nvSpPr>
              <p:spPr bwMode="auto">
                <a:xfrm>
                  <a:off x="3894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45" name="Freeform 1127"/>
                <p:cNvSpPr>
                  <a:spLocks/>
                </p:cNvSpPr>
                <p:nvPr/>
              </p:nvSpPr>
              <p:spPr bwMode="auto">
                <a:xfrm>
                  <a:off x="389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46" name="Freeform 1128"/>
                <p:cNvSpPr>
                  <a:spLocks/>
                </p:cNvSpPr>
                <p:nvPr/>
              </p:nvSpPr>
              <p:spPr bwMode="auto">
                <a:xfrm>
                  <a:off x="390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47" name="Freeform 1129"/>
                <p:cNvSpPr>
                  <a:spLocks/>
                </p:cNvSpPr>
                <p:nvPr/>
              </p:nvSpPr>
              <p:spPr bwMode="auto">
                <a:xfrm>
                  <a:off x="390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0 w 17"/>
                    <a:gd name="T5" fmla="*/ 16 h 17"/>
                    <a:gd name="T6" fmla="*/ 8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0" y="16"/>
                      </a:lnTo>
                      <a:lnTo>
                        <a:pt x="8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48" name="Freeform 1130"/>
                <p:cNvSpPr>
                  <a:spLocks/>
                </p:cNvSpPr>
                <p:nvPr/>
              </p:nvSpPr>
              <p:spPr bwMode="auto">
                <a:xfrm>
                  <a:off x="390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6 h 17"/>
                    <a:gd name="T6" fmla="*/ 8 w 17"/>
                    <a:gd name="T7" fmla="*/ 16 h 17"/>
                    <a:gd name="T8" fmla="*/ 12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49" name="Freeform 1131"/>
                <p:cNvSpPr>
                  <a:spLocks/>
                </p:cNvSpPr>
                <p:nvPr/>
              </p:nvSpPr>
              <p:spPr bwMode="auto">
                <a:xfrm>
                  <a:off x="390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50" name="Freeform 1132"/>
                <p:cNvSpPr>
                  <a:spLocks/>
                </p:cNvSpPr>
                <p:nvPr/>
              </p:nvSpPr>
              <p:spPr bwMode="auto">
                <a:xfrm>
                  <a:off x="391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51" name="Freeform 1133"/>
                <p:cNvSpPr>
                  <a:spLocks/>
                </p:cNvSpPr>
                <p:nvPr/>
              </p:nvSpPr>
              <p:spPr bwMode="auto">
                <a:xfrm>
                  <a:off x="391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52" name="Freeform 1134"/>
                <p:cNvSpPr>
                  <a:spLocks/>
                </p:cNvSpPr>
                <p:nvPr/>
              </p:nvSpPr>
              <p:spPr bwMode="auto">
                <a:xfrm>
                  <a:off x="3916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53" name="Freeform 1135"/>
                <p:cNvSpPr>
                  <a:spLocks/>
                </p:cNvSpPr>
                <p:nvPr/>
              </p:nvSpPr>
              <p:spPr bwMode="auto">
                <a:xfrm>
                  <a:off x="391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54" name="Freeform 1136"/>
                <p:cNvSpPr>
                  <a:spLocks/>
                </p:cNvSpPr>
                <p:nvPr/>
              </p:nvSpPr>
              <p:spPr bwMode="auto">
                <a:xfrm>
                  <a:off x="3921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55" name="Freeform 1137"/>
                <p:cNvSpPr>
                  <a:spLocks/>
                </p:cNvSpPr>
                <p:nvPr/>
              </p:nvSpPr>
              <p:spPr bwMode="auto">
                <a:xfrm>
                  <a:off x="392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56" name="Freeform 1138"/>
                <p:cNvSpPr>
                  <a:spLocks/>
                </p:cNvSpPr>
                <p:nvPr/>
              </p:nvSpPr>
              <p:spPr bwMode="auto">
                <a:xfrm>
                  <a:off x="392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57" name="Freeform 1139"/>
                <p:cNvSpPr>
                  <a:spLocks/>
                </p:cNvSpPr>
                <p:nvPr/>
              </p:nvSpPr>
              <p:spPr bwMode="auto">
                <a:xfrm>
                  <a:off x="3855" y="1279"/>
                  <a:ext cx="187" cy="174"/>
                </a:xfrm>
                <a:custGeom>
                  <a:avLst/>
                  <a:gdLst>
                    <a:gd name="T0" fmla="*/ 180 w 187"/>
                    <a:gd name="T1" fmla="*/ 173 h 174"/>
                    <a:gd name="T2" fmla="*/ 180 w 187"/>
                    <a:gd name="T3" fmla="*/ 173 h 174"/>
                    <a:gd name="T4" fmla="*/ 180 w 187"/>
                    <a:gd name="T5" fmla="*/ 172 h 174"/>
                    <a:gd name="T6" fmla="*/ 182 w 187"/>
                    <a:gd name="T7" fmla="*/ 172 h 174"/>
                    <a:gd name="T8" fmla="*/ 182 w 187"/>
                    <a:gd name="T9" fmla="*/ 172 h 174"/>
                    <a:gd name="T10" fmla="*/ 183 w 187"/>
                    <a:gd name="T11" fmla="*/ 171 h 174"/>
                    <a:gd name="T12" fmla="*/ 183 w 187"/>
                    <a:gd name="T13" fmla="*/ 171 h 174"/>
                    <a:gd name="T14" fmla="*/ 184 w 187"/>
                    <a:gd name="T15" fmla="*/ 171 h 174"/>
                    <a:gd name="T16" fmla="*/ 184 w 187"/>
                    <a:gd name="T17" fmla="*/ 170 h 174"/>
                    <a:gd name="T18" fmla="*/ 184 w 187"/>
                    <a:gd name="T19" fmla="*/ 170 h 174"/>
                    <a:gd name="T20" fmla="*/ 184 w 187"/>
                    <a:gd name="T21" fmla="*/ 169 h 174"/>
                    <a:gd name="T22" fmla="*/ 185 w 187"/>
                    <a:gd name="T23" fmla="*/ 169 h 174"/>
                    <a:gd name="T24" fmla="*/ 185 w 187"/>
                    <a:gd name="T25" fmla="*/ 168 h 174"/>
                    <a:gd name="T26" fmla="*/ 186 w 187"/>
                    <a:gd name="T27" fmla="*/ 167 h 174"/>
                    <a:gd name="T28" fmla="*/ 186 w 187"/>
                    <a:gd name="T29" fmla="*/ 167 h 174"/>
                    <a:gd name="T30" fmla="*/ 186 w 187"/>
                    <a:gd name="T31" fmla="*/ 6 h 174"/>
                    <a:gd name="T32" fmla="*/ 186 w 187"/>
                    <a:gd name="T33" fmla="*/ 5 h 174"/>
                    <a:gd name="T34" fmla="*/ 186 w 187"/>
                    <a:gd name="T35" fmla="*/ 5 h 174"/>
                    <a:gd name="T36" fmla="*/ 185 w 187"/>
                    <a:gd name="T37" fmla="*/ 5 h 174"/>
                    <a:gd name="T38" fmla="*/ 185 w 187"/>
                    <a:gd name="T39" fmla="*/ 3 h 174"/>
                    <a:gd name="T40" fmla="*/ 184 w 187"/>
                    <a:gd name="T41" fmla="*/ 3 h 174"/>
                    <a:gd name="T42" fmla="*/ 184 w 187"/>
                    <a:gd name="T43" fmla="*/ 2 h 174"/>
                    <a:gd name="T44" fmla="*/ 184 w 187"/>
                    <a:gd name="T45" fmla="*/ 1 h 174"/>
                    <a:gd name="T46" fmla="*/ 183 w 187"/>
                    <a:gd name="T47" fmla="*/ 1 h 174"/>
                    <a:gd name="T48" fmla="*/ 183 w 187"/>
                    <a:gd name="T49" fmla="*/ 1 h 174"/>
                    <a:gd name="T50" fmla="*/ 182 w 187"/>
                    <a:gd name="T51" fmla="*/ 1 h 174"/>
                    <a:gd name="T52" fmla="*/ 182 w 187"/>
                    <a:gd name="T53" fmla="*/ 0 h 174"/>
                    <a:gd name="T54" fmla="*/ 180 w 187"/>
                    <a:gd name="T55" fmla="*/ 0 h 174"/>
                    <a:gd name="T56" fmla="*/ 180 w 187"/>
                    <a:gd name="T57" fmla="*/ 0 h 174"/>
                    <a:gd name="T58" fmla="*/ 180 w 187"/>
                    <a:gd name="T59" fmla="*/ 0 h 174"/>
                    <a:gd name="T60" fmla="*/ 5 w 187"/>
                    <a:gd name="T61" fmla="*/ 0 h 174"/>
                    <a:gd name="T62" fmla="*/ 4 w 187"/>
                    <a:gd name="T63" fmla="*/ 0 h 174"/>
                    <a:gd name="T64" fmla="*/ 3 w 187"/>
                    <a:gd name="T65" fmla="*/ 0 h 174"/>
                    <a:gd name="T66" fmla="*/ 3 w 187"/>
                    <a:gd name="T67" fmla="*/ 0 h 174"/>
                    <a:gd name="T68" fmla="*/ 2 w 187"/>
                    <a:gd name="T69" fmla="*/ 0 h 174"/>
                    <a:gd name="T70" fmla="*/ 2 w 187"/>
                    <a:gd name="T71" fmla="*/ 1 h 174"/>
                    <a:gd name="T72" fmla="*/ 1 w 187"/>
                    <a:gd name="T73" fmla="*/ 1 h 174"/>
                    <a:gd name="T74" fmla="*/ 1 w 187"/>
                    <a:gd name="T75" fmla="*/ 1 h 174"/>
                    <a:gd name="T76" fmla="*/ 1 w 187"/>
                    <a:gd name="T77" fmla="*/ 2 h 174"/>
                    <a:gd name="T78" fmla="*/ 0 w 187"/>
                    <a:gd name="T79" fmla="*/ 3 h 174"/>
                    <a:gd name="T80" fmla="*/ 0 w 187"/>
                    <a:gd name="T81" fmla="*/ 3 h 174"/>
                    <a:gd name="T82" fmla="*/ 0 w 187"/>
                    <a:gd name="T83" fmla="*/ 3 h 174"/>
                    <a:gd name="T84" fmla="*/ 0 w 187"/>
                    <a:gd name="T85" fmla="*/ 5 h 174"/>
                    <a:gd name="T86" fmla="*/ 0 w 187"/>
                    <a:gd name="T87" fmla="*/ 5 h 174"/>
                    <a:gd name="T88" fmla="*/ 0 w 187"/>
                    <a:gd name="T89" fmla="*/ 6 h 174"/>
                    <a:gd name="T90" fmla="*/ 0 w 187"/>
                    <a:gd name="T91" fmla="*/ 167 h 174"/>
                    <a:gd name="T92" fmla="*/ 0 w 187"/>
                    <a:gd name="T93" fmla="*/ 167 h 174"/>
                    <a:gd name="T94" fmla="*/ 0 w 187"/>
                    <a:gd name="T95" fmla="*/ 168 h 174"/>
                    <a:gd name="T96" fmla="*/ 0 w 187"/>
                    <a:gd name="T97" fmla="*/ 169 h 174"/>
                    <a:gd name="T98" fmla="*/ 0 w 187"/>
                    <a:gd name="T99" fmla="*/ 169 h 174"/>
                    <a:gd name="T100" fmla="*/ 0 w 187"/>
                    <a:gd name="T101" fmla="*/ 170 h 174"/>
                    <a:gd name="T102" fmla="*/ 1 w 187"/>
                    <a:gd name="T103" fmla="*/ 170 h 174"/>
                    <a:gd name="T104" fmla="*/ 1 w 187"/>
                    <a:gd name="T105" fmla="*/ 171 h 174"/>
                    <a:gd name="T106" fmla="*/ 1 w 187"/>
                    <a:gd name="T107" fmla="*/ 171 h 174"/>
                    <a:gd name="T108" fmla="*/ 2 w 187"/>
                    <a:gd name="T109" fmla="*/ 171 h 174"/>
                    <a:gd name="T110" fmla="*/ 2 w 187"/>
                    <a:gd name="T111" fmla="*/ 172 h 174"/>
                    <a:gd name="T112" fmla="*/ 2 w 187"/>
                    <a:gd name="T113" fmla="*/ 172 h 174"/>
                    <a:gd name="T114" fmla="*/ 3 w 187"/>
                    <a:gd name="T115" fmla="*/ 172 h 174"/>
                    <a:gd name="T116" fmla="*/ 3 w 187"/>
                    <a:gd name="T117" fmla="*/ 172 h 174"/>
                    <a:gd name="T118" fmla="*/ 4 w 187"/>
                    <a:gd name="T119" fmla="*/ 173 h 174"/>
                    <a:gd name="T120" fmla="*/ 5 w 187"/>
                    <a:gd name="T121" fmla="*/ 173 h 174"/>
                    <a:gd name="T122" fmla="*/ 180 w 187"/>
                    <a:gd name="T123" fmla="*/ 173 h 174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w 187"/>
                    <a:gd name="T187" fmla="*/ 0 h 174"/>
                    <a:gd name="T188" fmla="*/ 187 w 187"/>
                    <a:gd name="T189" fmla="*/ 174 h 174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T186" t="T187" r="T188" b="T189"/>
                  <a:pathLst>
                    <a:path w="187" h="174">
                      <a:moveTo>
                        <a:pt x="180" y="173"/>
                      </a:moveTo>
                      <a:lnTo>
                        <a:pt x="180" y="173"/>
                      </a:lnTo>
                      <a:lnTo>
                        <a:pt x="180" y="172"/>
                      </a:lnTo>
                      <a:lnTo>
                        <a:pt x="182" y="172"/>
                      </a:lnTo>
                      <a:lnTo>
                        <a:pt x="183" y="171"/>
                      </a:lnTo>
                      <a:lnTo>
                        <a:pt x="184" y="171"/>
                      </a:lnTo>
                      <a:lnTo>
                        <a:pt x="184" y="170"/>
                      </a:lnTo>
                      <a:lnTo>
                        <a:pt x="184" y="169"/>
                      </a:lnTo>
                      <a:lnTo>
                        <a:pt x="185" y="169"/>
                      </a:lnTo>
                      <a:lnTo>
                        <a:pt x="185" y="168"/>
                      </a:lnTo>
                      <a:lnTo>
                        <a:pt x="186" y="167"/>
                      </a:lnTo>
                      <a:lnTo>
                        <a:pt x="186" y="6"/>
                      </a:lnTo>
                      <a:lnTo>
                        <a:pt x="186" y="5"/>
                      </a:lnTo>
                      <a:lnTo>
                        <a:pt x="185" y="5"/>
                      </a:lnTo>
                      <a:lnTo>
                        <a:pt x="185" y="3"/>
                      </a:lnTo>
                      <a:lnTo>
                        <a:pt x="184" y="3"/>
                      </a:lnTo>
                      <a:lnTo>
                        <a:pt x="184" y="2"/>
                      </a:lnTo>
                      <a:lnTo>
                        <a:pt x="184" y="1"/>
                      </a:lnTo>
                      <a:lnTo>
                        <a:pt x="183" y="1"/>
                      </a:lnTo>
                      <a:lnTo>
                        <a:pt x="182" y="1"/>
                      </a:lnTo>
                      <a:lnTo>
                        <a:pt x="182" y="0"/>
                      </a:lnTo>
                      <a:lnTo>
                        <a:pt x="180" y="0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2" y="1"/>
                      </a:lnTo>
                      <a:lnTo>
                        <a:pt x="1" y="1"/>
                      </a:lnTo>
                      <a:lnTo>
                        <a:pt x="1" y="2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0" y="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0" y="169"/>
                      </a:lnTo>
                      <a:lnTo>
                        <a:pt x="0" y="170"/>
                      </a:lnTo>
                      <a:lnTo>
                        <a:pt x="1" y="170"/>
                      </a:lnTo>
                      <a:lnTo>
                        <a:pt x="1" y="171"/>
                      </a:lnTo>
                      <a:lnTo>
                        <a:pt x="2" y="171"/>
                      </a:lnTo>
                      <a:lnTo>
                        <a:pt x="2" y="172"/>
                      </a:lnTo>
                      <a:lnTo>
                        <a:pt x="3" y="172"/>
                      </a:lnTo>
                      <a:lnTo>
                        <a:pt x="4" y="173"/>
                      </a:lnTo>
                      <a:lnTo>
                        <a:pt x="5" y="173"/>
                      </a:lnTo>
                      <a:lnTo>
                        <a:pt x="180" y="173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58" name="Freeform 1140"/>
                <p:cNvSpPr>
                  <a:spLocks/>
                </p:cNvSpPr>
                <p:nvPr/>
              </p:nvSpPr>
              <p:spPr bwMode="auto">
                <a:xfrm>
                  <a:off x="3855" y="1281"/>
                  <a:ext cx="186" cy="172"/>
                </a:xfrm>
                <a:custGeom>
                  <a:avLst/>
                  <a:gdLst>
                    <a:gd name="T0" fmla="*/ 185 w 186"/>
                    <a:gd name="T1" fmla="*/ 165 h 172"/>
                    <a:gd name="T2" fmla="*/ 185 w 186"/>
                    <a:gd name="T3" fmla="*/ 166 h 172"/>
                    <a:gd name="T4" fmla="*/ 185 w 186"/>
                    <a:gd name="T5" fmla="*/ 167 h 172"/>
                    <a:gd name="T6" fmla="*/ 184 w 186"/>
                    <a:gd name="T7" fmla="*/ 167 h 172"/>
                    <a:gd name="T8" fmla="*/ 184 w 186"/>
                    <a:gd name="T9" fmla="*/ 168 h 172"/>
                    <a:gd name="T10" fmla="*/ 183 w 186"/>
                    <a:gd name="T11" fmla="*/ 169 h 172"/>
                    <a:gd name="T12" fmla="*/ 183 w 186"/>
                    <a:gd name="T13" fmla="*/ 169 h 172"/>
                    <a:gd name="T14" fmla="*/ 182 w 186"/>
                    <a:gd name="T15" fmla="*/ 170 h 172"/>
                    <a:gd name="T16" fmla="*/ 182 w 186"/>
                    <a:gd name="T17" fmla="*/ 170 h 172"/>
                    <a:gd name="T18" fmla="*/ 181 w 186"/>
                    <a:gd name="T19" fmla="*/ 170 h 172"/>
                    <a:gd name="T20" fmla="*/ 181 w 186"/>
                    <a:gd name="T21" fmla="*/ 171 h 172"/>
                    <a:gd name="T22" fmla="*/ 180 w 186"/>
                    <a:gd name="T23" fmla="*/ 171 h 172"/>
                    <a:gd name="T24" fmla="*/ 179 w 186"/>
                    <a:gd name="T25" fmla="*/ 171 h 172"/>
                    <a:gd name="T26" fmla="*/ 4 w 186"/>
                    <a:gd name="T27" fmla="*/ 171 h 172"/>
                    <a:gd name="T28" fmla="*/ 3 w 186"/>
                    <a:gd name="T29" fmla="*/ 171 h 172"/>
                    <a:gd name="T30" fmla="*/ 3 w 186"/>
                    <a:gd name="T31" fmla="*/ 171 h 172"/>
                    <a:gd name="T32" fmla="*/ 3 w 186"/>
                    <a:gd name="T33" fmla="*/ 170 h 172"/>
                    <a:gd name="T34" fmla="*/ 2 w 186"/>
                    <a:gd name="T35" fmla="*/ 170 h 172"/>
                    <a:gd name="T36" fmla="*/ 2 w 186"/>
                    <a:gd name="T37" fmla="*/ 170 h 172"/>
                    <a:gd name="T38" fmla="*/ 1 w 186"/>
                    <a:gd name="T39" fmla="*/ 169 h 172"/>
                    <a:gd name="T40" fmla="*/ 1 w 186"/>
                    <a:gd name="T41" fmla="*/ 169 h 172"/>
                    <a:gd name="T42" fmla="*/ 0 w 186"/>
                    <a:gd name="T43" fmla="*/ 169 h 172"/>
                    <a:gd name="T44" fmla="*/ 0 w 186"/>
                    <a:gd name="T45" fmla="*/ 168 h 172"/>
                    <a:gd name="T46" fmla="*/ 0 w 186"/>
                    <a:gd name="T47" fmla="*/ 167 h 172"/>
                    <a:gd name="T48" fmla="*/ 0 w 186"/>
                    <a:gd name="T49" fmla="*/ 167 h 172"/>
                    <a:gd name="T50" fmla="*/ 0 w 186"/>
                    <a:gd name="T51" fmla="*/ 166 h 172"/>
                    <a:gd name="T52" fmla="*/ 0 w 186"/>
                    <a:gd name="T53" fmla="*/ 165 h 172"/>
                    <a:gd name="T54" fmla="*/ 0 w 186"/>
                    <a:gd name="T55" fmla="*/ 5 h 172"/>
                    <a:gd name="T56" fmla="*/ 0 w 186"/>
                    <a:gd name="T57" fmla="*/ 4 h 172"/>
                    <a:gd name="T58" fmla="*/ 0 w 186"/>
                    <a:gd name="T59" fmla="*/ 3 h 172"/>
                    <a:gd name="T60" fmla="*/ 0 w 186"/>
                    <a:gd name="T61" fmla="*/ 3 h 172"/>
                    <a:gd name="T62" fmla="*/ 0 w 186"/>
                    <a:gd name="T63" fmla="*/ 2 h 172"/>
                    <a:gd name="T64" fmla="*/ 0 w 186"/>
                    <a:gd name="T65" fmla="*/ 2 h 172"/>
                    <a:gd name="T66" fmla="*/ 1 w 186"/>
                    <a:gd name="T67" fmla="*/ 1 h 172"/>
                    <a:gd name="T68" fmla="*/ 1 w 186"/>
                    <a:gd name="T69" fmla="*/ 1 h 172"/>
                    <a:gd name="T70" fmla="*/ 2 w 186"/>
                    <a:gd name="T71" fmla="*/ 1 h 172"/>
                    <a:gd name="T72" fmla="*/ 2 w 186"/>
                    <a:gd name="T73" fmla="*/ 0 h 172"/>
                    <a:gd name="T74" fmla="*/ 2 w 186"/>
                    <a:gd name="T75" fmla="*/ 0 h 172"/>
                    <a:gd name="T76" fmla="*/ 3 w 186"/>
                    <a:gd name="T77" fmla="*/ 0 h 172"/>
                    <a:gd name="T78" fmla="*/ 3 w 186"/>
                    <a:gd name="T79" fmla="*/ 0 h 172"/>
                    <a:gd name="T80" fmla="*/ 4 w 186"/>
                    <a:gd name="T81" fmla="*/ 0 h 172"/>
                    <a:gd name="T82" fmla="*/ 179 w 186"/>
                    <a:gd name="T83" fmla="*/ 0 h 172"/>
                    <a:gd name="T84" fmla="*/ 180 w 186"/>
                    <a:gd name="T85" fmla="*/ 0 h 172"/>
                    <a:gd name="T86" fmla="*/ 181 w 186"/>
                    <a:gd name="T87" fmla="*/ 0 h 172"/>
                    <a:gd name="T88" fmla="*/ 181 w 186"/>
                    <a:gd name="T89" fmla="*/ 0 h 172"/>
                    <a:gd name="T90" fmla="*/ 182 w 186"/>
                    <a:gd name="T91" fmla="*/ 0 h 172"/>
                    <a:gd name="T92" fmla="*/ 182 w 186"/>
                    <a:gd name="T93" fmla="*/ 1 h 172"/>
                    <a:gd name="T94" fmla="*/ 183 w 186"/>
                    <a:gd name="T95" fmla="*/ 1 h 172"/>
                    <a:gd name="T96" fmla="*/ 183 w 186"/>
                    <a:gd name="T97" fmla="*/ 1 h 172"/>
                    <a:gd name="T98" fmla="*/ 183 w 186"/>
                    <a:gd name="T99" fmla="*/ 2 h 172"/>
                    <a:gd name="T100" fmla="*/ 184 w 186"/>
                    <a:gd name="T101" fmla="*/ 2 h 172"/>
                    <a:gd name="T102" fmla="*/ 184 w 186"/>
                    <a:gd name="T103" fmla="*/ 3 h 172"/>
                    <a:gd name="T104" fmla="*/ 185 w 186"/>
                    <a:gd name="T105" fmla="*/ 3 h 172"/>
                    <a:gd name="T106" fmla="*/ 185 w 186"/>
                    <a:gd name="T107" fmla="*/ 4 h 172"/>
                    <a:gd name="T108" fmla="*/ 185 w 186"/>
                    <a:gd name="T109" fmla="*/ 5 h 172"/>
                    <a:gd name="T110" fmla="*/ 185 w 186"/>
                    <a:gd name="T111" fmla="*/ 165 h 172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86"/>
                    <a:gd name="T169" fmla="*/ 0 h 172"/>
                    <a:gd name="T170" fmla="*/ 186 w 186"/>
                    <a:gd name="T171" fmla="*/ 172 h 172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86" h="172">
                      <a:moveTo>
                        <a:pt x="185" y="165"/>
                      </a:moveTo>
                      <a:lnTo>
                        <a:pt x="185" y="166"/>
                      </a:lnTo>
                      <a:lnTo>
                        <a:pt x="185" y="167"/>
                      </a:lnTo>
                      <a:lnTo>
                        <a:pt x="184" y="167"/>
                      </a:lnTo>
                      <a:lnTo>
                        <a:pt x="184" y="168"/>
                      </a:lnTo>
                      <a:lnTo>
                        <a:pt x="183" y="169"/>
                      </a:lnTo>
                      <a:lnTo>
                        <a:pt x="182" y="170"/>
                      </a:lnTo>
                      <a:lnTo>
                        <a:pt x="181" y="170"/>
                      </a:lnTo>
                      <a:lnTo>
                        <a:pt x="181" y="171"/>
                      </a:lnTo>
                      <a:lnTo>
                        <a:pt x="180" y="171"/>
                      </a:lnTo>
                      <a:lnTo>
                        <a:pt x="179" y="171"/>
                      </a:lnTo>
                      <a:lnTo>
                        <a:pt x="4" y="171"/>
                      </a:lnTo>
                      <a:lnTo>
                        <a:pt x="3" y="171"/>
                      </a:lnTo>
                      <a:lnTo>
                        <a:pt x="3" y="170"/>
                      </a:lnTo>
                      <a:lnTo>
                        <a:pt x="2" y="170"/>
                      </a:lnTo>
                      <a:lnTo>
                        <a:pt x="1" y="169"/>
                      </a:lnTo>
                      <a:lnTo>
                        <a:pt x="0" y="169"/>
                      </a:lnTo>
                      <a:lnTo>
                        <a:pt x="0" y="168"/>
                      </a:lnTo>
                      <a:lnTo>
                        <a:pt x="0" y="167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79" y="0"/>
                      </a:lnTo>
                      <a:lnTo>
                        <a:pt x="180" y="0"/>
                      </a:lnTo>
                      <a:lnTo>
                        <a:pt x="181" y="0"/>
                      </a:lnTo>
                      <a:lnTo>
                        <a:pt x="182" y="0"/>
                      </a:lnTo>
                      <a:lnTo>
                        <a:pt x="182" y="1"/>
                      </a:lnTo>
                      <a:lnTo>
                        <a:pt x="183" y="1"/>
                      </a:lnTo>
                      <a:lnTo>
                        <a:pt x="183" y="2"/>
                      </a:lnTo>
                      <a:lnTo>
                        <a:pt x="184" y="2"/>
                      </a:lnTo>
                      <a:lnTo>
                        <a:pt x="184" y="3"/>
                      </a:lnTo>
                      <a:lnTo>
                        <a:pt x="185" y="3"/>
                      </a:lnTo>
                      <a:lnTo>
                        <a:pt x="185" y="4"/>
                      </a:lnTo>
                      <a:lnTo>
                        <a:pt x="185" y="5"/>
                      </a:lnTo>
                      <a:lnTo>
                        <a:pt x="185" y="165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59" name="Freeform 1141"/>
                <p:cNvSpPr>
                  <a:spLocks/>
                </p:cNvSpPr>
                <p:nvPr/>
              </p:nvSpPr>
              <p:spPr bwMode="auto">
                <a:xfrm>
                  <a:off x="3857" y="1281"/>
                  <a:ext cx="181" cy="171"/>
                </a:xfrm>
                <a:custGeom>
                  <a:avLst/>
                  <a:gdLst>
                    <a:gd name="T0" fmla="*/ 180 w 181"/>
                    <a:gd name="T1" fmla="*/ 3 h 171"/>
                    <a:gd name="T2" fmla="*/ 180 w 181"/>
                    <a:gd name="T3" fmla="*/ 3 h 171"/>
                    <a:gd name="T4" fmla="*/ 180 w 181"/>
                    <a:gd name="T5" fmla="*/ 2 h 171"/>
                    <a:gd name="T6" fmla="*/ 179 w 181"/>
                    <a:gd name="T7" fmla="*/ 2 h 171"/>
                    <a:gd name="T8" fmla="*/ 179 w 181"/>
                    <a:gd name="T9" fmla="*/ 1 h 171"/>
                    <a:gd name="T10" fmla="*/ 178 w 181"/>
                    <a:gd name="T11" fmla="*/ 1 h 171"/>
                    <a:gd name="T12" fmla="*/ 178 w 181"/>
                    <a:gd name="T13" fmla="*/ 0 h 171"/>
                    <a:gd name="T14" fmla="*/ 177 w 181"/>
                    <a:gd name="T15" fmla="*/ 0 h 171"/>
                    <a:gd name="T16" fmla="*/ 177 w 181"/>
                    <a:gd name="T17" fmla="*/ 0 h 171"/>
                    <a:gd name="T18" fmla="*/ 177 w 181"/>
                    <a:gd name="T19" fmla="*/ 0 h 171"/>
                    <a:gd name="T20" fmla="*/ 176 w 181"/>
                    <a:gd name="T21" fmla="*/ 0 h 171"/>
                    <a:gd name="T22" fmla="*/ 176 w 181"/>
                    <a:gd name="T23" fmla="*/ 0 h 171"/>
                    <a:gd name="T24" fmla="*/ 3 w 181"/>
                    <a:gd name="T25" fmla="*/ 0 h 171"/>
                    <a:gd name="T26" fmla="*/ 3 w 181"/>
                    <a:gd name="T27" fmla="*/ 0 h 171"/>
                    <a:gd name="T28" fmla="*/ 2 w 181"/>
                    <a:gd name="T29" fmla="*/ 0 h 171"/>
                    <a:gd name="T30" fmla="*/ 2 w 181"/>
                    <a:gd name="T31" fmla="*/ 0 h 171"/>
                    <a:gd name="T32" fmla="*/ 1 w 181"/>
                    <a:gd name="T33" fmla="*/ 0 h 171"/>
                    <a:gd name="T34" fmla="*/ 1 w 181"/>
                    <a:gd name="T35" fmla="*/ 0 h 171"/>
                    <a:gd name="T36" fmla="*/ 1 w 181"/>
                    <a:gd name="T37" fmla="*/ 1 h 171"/>
                    <a:gd name="T38" fmla="*/ 0 w 181"/>
                    <a:gd name="T39" fmla="*/ 1 h 171"/>
                    <a:gd name="T40" fmla="*/ 0 w 181"/>
                    <a:gd name="T41" fmla="*/ 1 h 171"/>
                    <a:gd name="T42" fmla="*/ 0 w 181"/>
                    <a:gd name="T43" fmla="*/ 2 h 171"/>
                    <a:gd name="T44" fmla="*/ 0 w 181"/>
                    <a:gd name="T45" fmla="*/ 3 h 171"/>
                    <a:gd name="T46" fmla="*/ 0 w 181"/>
                    <a:gd name="T47" fmla="*/ 3 h 171"/>
                    <a:gd name="T48" fmla="*/ 0 w 181"/>
                    <a:gd name="T49" fmla="*/ 166 h 171"/>
                    <a:gd name="T50" fmla="*/ 0 w 181"/>
                    <a:gd name="T51" fmla="*/ 166 h 171"/>
                    <a:gd name="T52" fmla="*/ 0 w 181"/>
                    <a:gd name="T53" fmla="*/ 167 h 171"/>
                    <a:gd name="T54" fmla="*/ 0 w 181"/>
                    <a:gd name="T55" fmla="*/ 168 h 171"/>
                    <a:gd name="T56" fmla="*/ 0 w 181"/>
                    <a:gd name="T57" fmla="*/ 168 h 171"/>
                    <a:gd name="T58" fmla="*/ 1 w 181"/>
                    <a:gd name="T59" fmla="*/ 168 h 171"/>
                    <a:gd name="T60" fmla="*/ 1 w 181"/>
                    <a:gd name="T61" fmla="*/ 169 h 171"/>
                    <a:gd name="T62" fmla="*/ 2 w 181"/>
                    <a:gd name="T63" fmla="*/ 169 h 171"/>
                    <a:gd name="T64" fmla="*/ 2 w 181"/>
                    <a:gd name="T65" fmla="*/ 169 h 171"/>
                    <a:gd name="T66" fmla="*/ 3 w 181"/>
                    <a:gd name="T67" fmla="*/ 170 h 171"/>
                    <a:gd name="T68" fmla="*/ 3 w 181"/>
                    <a:gd name="T69" fmla="*/ 170 h 171"/>
                    <a:gd name="T70" fmla="*/ 176 w 181"/>
                    <a:gd name="T71" fmla="*/ 170 h 171"/>
                    <a:gd name="T72" fmla="*/ 176 w 181"/>
                    <a:gd name="T73" fmla="*/ 169 h 171"/>
                    <a:gd name="T74" fmla="*/ 177 w 181"/>
                    <a:gd name="T75" fmla="*/ 169 h 171"/>
                    <a:gd name="T76" fmla="*/ 177 w 181"/>
                    <a:gd name="T77" fmla="*/ 169 h 171"/>
                    <a:gd name="T78" fmla="*/ 178 w 181"/>
                    <a:gd name="T79" fmla="*/ 169 h 171"/>
                    <a:gd name="T80" fmla="*/ 178 w 181"/>
                    <a:gd name="T81" fmla="*/ 168 h 171"/>
                    <a:gd name="T82" fmla="*/ 178 w 181"/>
                    <a:gd name="T83" fmla="*/ 168 h 171"/>
                    <a:gd name="T84" fmla="*/ 179 w 181"/>
                    <a:gd name="T85" fmla="*/ 168 h 171"/>
                    <a:gd name="T86" fmla="*/ 179 w 181"/>
                    <a:gd name="T87" fmla="*/ 167 h 171"/>
                    <a:gd name="T88" fmla="*/ 180 w 181"/>
                    <a:gd name="T89" fmla="*/ 166 h 171"/>
                    <a:gd name="T90" fmla="*/ 180 w 181"/>
                    <a:gd name="T91" fmla="*/ 166 h 171"/>
                    <a:gd name="T92" fmla="*/ 180 w 181"/>
                    <a:gd name="T93" fmla="*/ 3 h 171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w 181"/>
                    <a:gd name="T142" fmla="*/ 0 h 171"/>
                    <a:gd name="T143" fmla="*/ 181 w 181"/>
                    <a:gd name="T144" fmla="*/ 171 h 171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T141" t="T142" r="T143" b="T144"/>
                  <a:pathLst>
                    <a:path w="181" h="171">
                      <a:moveTo>
                        <a:pt x="180" y="3"/>
                      </a:moveTo>
                      <a:lnTo>
                        <a:pt x="180" y="3"/>
                      </a:lnTo>
                      <a:lnTo>
                        <a:pt x="180" y="2"/>
                      </a:lnTo>
                      <a:lnTo>
                        <a:pt x="179" y="2"/>
                      </a:lnTo>
                      <a:lnTo>
                        <a:pt x="179" y="1"/>
                      </a:lnTo>
                      <a:lnTo>
                        <a:pt x="178" y="1"/>
                      </a:lnTo>
                      <a:lnTo>
                        <a:pt x="178" y="0"/>
                      </a:lnTo>
                      <a:lnTo>
                        <a:pt x="177" y="0"/>
                      </a:lnTo>
                      <a:lnTo>
                        <a:pt x="17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16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1" y="169"/>
                      </a:lnTo>
                      <a:lnTo>
                        <a:pt x="2" y="169"/>
                      </a:lnTo>
                      <a:lnTo>
                        <a:pt x="3" y="170"/>
                      </a:lnTo>
                      <a:lnTo>
                        <a:pt x="176" y="170"/>
                      </a:lnTo>
                      <a:lnTo>
                        <a:pt x="176" y="169"/>
                      </a:lnTo>
                      <a:lnTo>
                        <a:pt x="177" y="169"/>
                      </a:lnTo>
                      <a:lnTo>
                        <a:pt x="178" y="169"/>
                      </a:lnTo>
                      <a:lnTo>
                        <a:pt x="178" y="168"/>
                      </a:lnTo>
                      <a:lnTo>
                        <a:pt x="179" y="168"/>
                      </a:lnTo>
                      <a:lnTo>
                        <a:pt x="179" y="167"/>
                      </a:lnTo>
                      <a:lnTo>
                        <a:pt x="180" y="166"/>
                      </a:lnTo>
                      <a:lnTo>
                        <a:pt x="180" y="3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60" name="Freeform 1142"/>
                <p:cNvSpPr>
                  <a:spLocks/>
                </p:cNvSpPr>
                <p:nvPr/>
              </p:nvSpPr>
              <p:spPr bwMode="auto">
                <a:xfrm>
                  <a:off x="3858" y="1282"/>
                  <a:ext cx="180" cy="168"/>
                </a:xfrm>
                <a:custGeom>
                  <a:avLst/>
                  <a:gdLst>
                    <a:gd name="T0" fmla="*/ 179 w 180"/>
                    <a:gd name="T1" fmla="*/ 163 h 168"/>
                    <a:gd name="T2" fmla="*/ 179 w 180"/>
                    <a:gd name="T3" fmla="*/ 164 h 168"/>
                    <a:gd name="T4" fmla="*/ 178 w 180"/>
                    <a:gd name="T5" fmla="*/ 165 h 168"/>
                    <a:gd name="T6" fmla="*/ 178 w 180"/>
                    <a:gd name="T7" fmla="*/ 165 h 168"/>
                    <a:gd name="T8" fmla="*/ 177 w 180"/>
                    <a:gd name="T9" fmla="*/ 166 h 168"/>
                    <a:gd name="T10" fmla="*/ 177 w 180"/>
                    <a:gd name="T11" fmla="*/ 166 h 168"/>
                    <a:gd name="T12" fmla="*/ 176 w 180"/>
                    <a:gd name="T13" fmla="*/ 167 h 168"/>
                    <a:gd name="T14" fmla="*/ 176 w 180"/>
                    <a:gd name="T15" fmla="*/ 167 h 168"/>
                    <a:gd name="T16" fmla="*/ 2 w 180"/>
                    <a:gd name="T17" fmla="*/ 167 h 168"/>
                    <a:gd name="T18" fmla="*/ 2 w 180"/>
                    <a:gd name="T19" fmla="*/ 167 h 168"/>
                    <a:gd name="T20" fmla="*/ 1 w 180"/>
                    <a:gd name="T21" fmla="*/ 167 h 168"/>
                    <a:gd name="T22" fmla="*/ 1 w 180"/>
                    <a:gd name="T23" fmla="*/ 166 h 168"/>
                    <a:gd name="T24" fmla="*/ 1 w 180"/>
                    <a:gd name="T25" fmla="*/ 166 h 168"/>
                    <a:gd name="T26" fmla="*/ 0 w 180"/>
                    <a:gd name="T27" fmla="*/ 166 h 168"/>
                    <a:gd name="T28" fmla="*/ 0 w 180"/>
                    <a:gd name="T29" fmla="*/ 165 h 168"/>
                    <a:gd name="T30" fmla="*/ 0 w 180"/>
                    <a:gd name="T31" fmla="*/ 165 h 168"/>
                    <a:gd name="T32" fmla="*/ 0 w 180"/>
                    <a:gd name="T33" fmla="*/ 165 h 168"/>
                    <a:gd name="T34" fmla="*/ 0 w 180"/>
                    <a:gd name="T35" fmla="*/ 164 h 168"/>
                    <a:gd name="T36" fmla="*/ 0 w 180"/>
                    <a:gd name="T37" fmla="*/ 163 h 168"/>
                    <a:gd name="T38" fmla="*/ 0 w 180"/>
                    <a:gd name="T39" fmla="*/ 3 h 168"/>
                    <a:gd name="T40" fmla="*/ 0 w 180"/>
                    <a:gd name="T41" fmla="*/ 2 h 168"/>
                    <a:gd name="T42" fmla="*/ 0 w 180"/>
                    <a:gd name="T43" fmla="*/ 1 h 168"/>
                    <a:gd name="T44" fmla="*/ 0 w 180"/>
                    <a:gd name="T45" fmla="*/ 1 h 168"/>
                    <a:gd name="T46" fmla="*/ 0 w 180"/>
                    <a:gd name="T47" fmla="*/ 1 h 168"/>
                    <a:gd name="T48" fmla="*/ 1 w 180"/>
                    <a:gd name="T49" fmla="*/ 0 h 168"/>
                    <a:gd name="T50" fmla="*/ 1 w 180"/>
                    <a:gd name="T51" fmla="*/ 0 h 168"/>
                    <a:gd name="T52" fmla="*/ 2 w 180"/>
                    <a:gd name="T53" fmla="*/ 0 h 168"/>
                    <a:gd name="T54" fmla="*/ 2 w 180"/>
                    <a:gd name="T55" fmla="*/ 0 h 168"/>
                    <a:gd name="T56" fmla="*/ 176 w 180"/>
                    <a:gd name="T57" fmla="*/ 0 h 168"/>
                    <a:gd name="T58" fmla="*/ 176 w 180"/>
                    <a:gd name="T59" fmla="*/ 0 h 168"/>
                    <a:gd name="T60" fmla="*/ 176 w 180"/>
                    <a:gd name="T61" fmla="*/ 0 h 168"/>
                    <a:gd name="T62" fmla="*/ 177 w 180"/>
                    <a:gd name="T63" fmla="*/ 0 h 168"/>
                    <a:gd name="T64" fmla="*/ 177 w 180"/>
                    <a:gd name="T65" fmla="*/ 0 h 168"/>
                    <a:gd name="T66" fmla="*/ 177 w 180"/>
                    <a:gd name="T67" fmla="*/ 1 h 168"/>
                    <a:gd name="T68" fmla="*/ 178 w 180"/>
                    <a:gd name="T69" fmla="*/ 1 h 168"/>
                    <a:gd name="T70" fmla="*/ 178 w 180"/>
                    <a:gd name="T71" fmla="*/ 1 h 168"/>
                    <a:gd name="T72" fmla="*/ 179 w 180"/>
                    <a:gd name="T73" fmla="*/ 2 h 168"/>
                    <a:gd name="T74" fmla="*/ 179 w 180"/>
                    <a:gd name="T75" fmla="*/ 3 h 168"/>
                    <a:gd name="T76" fmla="*/ 179 w 180"/>
                    <a:gd name="T77" fmla="*/ 16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80"/>
                    <a:gd name="T118" fmla="*/ 0 h 168"/>
                    <a:gd name="T119" fmla="*/ 180 w 180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80" h="168">
                      <a:moveTo>
                        <a:pt x="179" y="163"/>
                      </a:moveTo>
                      <a:lnTo>
                        <a:pt x="179" y="164"/>
                      </a:lnTo>
                      <a:lnTo>
                        <a:pt x="178" y="165"/>
                      </a:lnTo>
                      <a:lnTo>
                        <a:pt x="177" y="166"/>
                      </a:lnTo>
                      <a:lnTo>
                        <a:pt x="176" y="167"/>
                      </a:lnTo>
                      <a:lnTo>
                        <a:pt x="2" y="167"/>
                      </a:lnTo>
                      <a:lnTo>
                        <a:pt x="1" y="167"/>
                      </a:lnTo>
                      <a:lnTo>
                        <a:pt x="1" y="166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164"/>
                      </a:lnTo>
                      <a:lnTo>
                        <a:pt x="0" y="163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2" y="0"/>
                      </a:lnTo>
                      <a:lnTo>
                        <a:pt x="176" y="0"/>
                      </a:lnTo>
                      <a:lnTo>
                        <a:pt x="177" y="0"/>
                      </a:lnTo>
                      <a:lnTo>
                        <a:pt x="177" y="1"/>
                      </a:lnTo>
                      <a:lnTo>
                        <a:pt x="178" y="1"/>
                      </a:lnTo>
                      <a:lnTo>
                        <a:pt x="179" y="2"/>
                      </a:lnTo>
                      <a:lnTo>
                        <a:pt x="179" y="3"/>
                      </a:lnTo>
                      <a:lnTo>
                        <a:pt x="179" y="163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61" name="Freeform 1143"/>
                <p:cNvSpPr>
                  <a:spLocks/>
                </p:cNvSpPr>
                <p:nvPr/>
              </p:nvSpPr>
              <p:spPr bwMode="auto">
                <a:xfrm>
                  <a:off x="3877" y="1304"/>
                  <a:ext cx="142" cy="124"/>
                </a:xfrm>
                <a:custGeom>
                  <a:avLst/>
                  <a:gdLst>
                    <a:gd name="T0" fmla="*/ 0 w 142"/>
                    <a:gd name="T1" fmla="*/ 1 h 124"/>
                    <a:gd name="T2" fmla="*/ 1 w 142"/>
                    <a:gd name="T3" fmla="*/ 1 h 124"/>
                    <a:gd name="T4" fmla="*/ 1 w 142"/>
                    <a:gd name="T5" fmla="*/ 1 h 124"/>
                    <a:gd name="T6" fmla="*/ 2 w 142"/>
                    <a:gd name="T7" fmla="*/ 0 h 124"/>
                    <a:gd name="T8" fmla="*/ 2 w 142"/>
                    <a:gd name="T9" fmla="*/ 0 h 124"/>
                    <a:gd name="T10" fmla="*/ 3 w 142"/>
                    <a:gd name="T11" fmla="*/ 0 h 124"/>
                    <a:gd name="T12" fmla="*/ 3 w 142"/>
                    <a:gd name="T13" fmla="*/ 0 h 124"/>
                    <a:gd name="T14" fmla="*/ 4 w 142"/>
                    <a:gd name="T15" fmla="*/ 0 h 124"/>
                    <a:gd name="T16" fmla="*/ 135 w 142"/>
                    <a:gd name="T17" fmla="*/ 0 h 124"/>
                    <a:gd name="T18" fmla="*/ 136 w 142"/>
                    <a:gd name="T19" fmla="*/ 0 h 124"/>
                    <a:gd name="T20" fmla="*/ 137 w 142"/>
                    <a:gd name="T21" fmla="*/ 0 h 124"/>
                    <a:gd name="T22" fmla="*/ 137 w 142"/>
                    <a:gd name="T23" fmla="*/ 0 h 124"/>
                    <a:gd name="T24" fmla="*/ 138 w 142"/>
                    <a:gd name="T25" fmla="*/ 0 h 124"/>
                    <a:gd name="T26" fmla="*/ 138 w 142"/>
                    <a:gd name="T27" fmla="*/ 1 h 124"/>
                    <a:gd name="T28" fmla="*/ 139 w 142"/>
                    <a:gd name="T29" fmla="*/ 1 h 124"/>
                    <a:gd name="T30" fmla="*/ 139 w 142"/>
                    <a:gd name="T31" fmla="*/ 1 h 124"/>
                    <a:gd name="T32" fmla="*/ 140 w 142"/>
                    <a:gd name="T33" fmla="*/ 2 h 124"/>
                    <a:gd name="T34" fmla="*/ 140 w 142"/>
                    <a:gd name="T35" fmla="*/ 3 h 124"/>
                    <a:gd name="T36" fmla="*/ 141 w 142"/>
                    <a:gd name="T37" fmla="*/ 3 h 124"/>
                    <a:gd name="T38" fmla="*/ 141 w 142"/>
                    <a:gd name="T39" fmla="*/ 4 h 124"/>
                    <a:gd name="T40" fmla="*/ 141 w 142"/>
                    <a:gd name="T41" fmla="*/ 5 h 124"/>
                    <a:gd name="T42" fmla="*/ 141 w 142"/>
                    <a:gd name="T43" fmla="*/ 117 h 124"/>
                    <a:gd name="T44" fmla="*/ 141 w 142"/>
                    <a:gd name="T45" fmla="*/ 119 h 124"/>
                    <a:gd name="T46" fmla="*/ 140 w 142"/>
                    <a:gd name="T47" fmla="*/ 119 h 124"/>
                    <a:gd name="T48" fmla="*/ 140 w 142"/>
                    <a:gd name="T49" fmla="*/ 120 h 124"/>
                    <a:gd name="T50" fmla="*/ 139 w 142"/>
                    <a:gd name="T51" fmla="*/ 121 h 124"/>
                    <a:gd name="T52" fmla="*/ 139 w 142"/>
                    <a:gd name="T53" fmla="*/ 121 h 124"/>
                    <a:gd name="T54" fmla="*/ 138 w 142"/>
                    <a:gd name="T55" fmla="*/ 122 h 124"/>
                    <a:gd name="T56" fmla="*/ 138 w 142"/>
                    <a:gd name="T57" fmla="*/ 122 h 124"/>
                    <a:gd name="T58" fmla="*/ 137 w 142"/>
                    <a:gd name="T59" fmla="*/ 122 h 124"/>
                    <a:gd name="T60" fmla="*/ 137 w 142"/>
                    <a:gd name="T61" fmla="*/ 123 h 124"/>
                    <a:gd name="T62" fmla="*/ 136 w 142"/>
                    <a:gd name="T63" fmla="*/ 123 h 124"/>
                    <a:gd name="T64" fmla="*/ 135 w 142"/>
                    <a:gd name="T65" fmla="*/ 123 h 124"/>
                    <a:gd name="T66" fmla="*/ 4 w 142"/>
                    <a:gd name="T67" fmla="*/ 123 h 124"/>
                    <a:gd name="T68" fmla="*/ 3 w 142"/>
                    <a:gd name="T69" fmla="*/ 123 h 124"/>
                    <a:gd name="T70" fmla="*/ 3 w 142"/>
                    <a:gd name="T71" fmla="*/ 123 h 124"/>
                    <a:gd name="T72" fmla="*/ 2 w 142"/>
                    <a:gd name="T73" fmla="*/ 122 h 124"/>
                    <a:gd name="T74" fmla="*/ 2 w 142"/>
                    <a:gd name="T75" fmla="*/ 122 h 124"/>
                    <a:gd name="T76" fmla="*/ 1 w 142"/>
                    <a:gd name="T77" fmla="*/ 122 h 124"/>
                    <a:gd name="T78" fmla="*/ 1 w 142"/>
                    <a:gd name="T79" fmla="*/ 121 h 124"/>
                    <a:gd name="T80" fmla="*/ 0 w 142"/>
                    <a:gd name="T81" fmla="*/ 121 h 124"/>
                    <a:gd name="T82" fmla="*/ 0 w 142"/>
                    <a:gd name="T83" fmla="*/ 120 h 124"/>
                    <a:gd name="T84" fmla="*/ 0 w 142"/>
                    <a:gd name="T85" fmla="*/ 119 h 124"/>
                    <a:gd name="T86" fmla="*/ 0 w 142"/>
                    <a:gd name="T87" fmla="*/ 119 h 124"/>
                    <a:gd name="T88" fmla="*/ 0 w 142"/>
                    <a:gd name="T89" fmla="*/ 117 h 124"/>
                    <a:gd name="T90" fmla="*/ 0 w 142"/>
                    <a:gd name="T91" fmla="*/ 5 h 124"/>
                    <a:gd name="T92" fmla="*/ 0 w 142"/>
                    <a:gd name="T93" fmla="*/ 4 h 124"/>
                    <a:gd name="T94" fmla="*/ 0 w 142"/>
                    <a:gd name="T95" fmla="*/ 3 h 124"/>
                    <a:gd name="T96" fmla="*/ 0 w 142"/>
                    <a:gd name="T97" fmla="*/ 3 h 124"/>
                    <a:gd name="T98" fmla="*/ 0 w 142"/>
                    <a:gd name="T99" fmla="*/ 2 h 124"/>
                    <a:gd name="T100" fmla="*/ 0 w 142"/>
                    <a:gd name="T101" fmla="*/ 1 h 124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42"/>
                    <a:gd name="T154" fmla="*/ 0 h 124"/>
                    <a:gd name="T155" fmla="*/ 142 w 142"/>
                    <a:gd name="T156" fmla="*/ 124 h 124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42" h="124">
                      <a:moveTo>
                        <a:pt x="0" y="1"/>
                      </a:moveTo>
                      <a:lnTo>
                        <a:pt x="1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8" y="1"/>
                      </a:lnTo>
                      <a:lnTo>
                        <a:pt x="139" y="1"/>
                      </a:lnTo>
                      <a:lnTo>
                        <a:pt x="140" y="2"/>
                      </a:lnTo>
                      <a:lnTo>
                        <a:pt x="140" y="3"/>
                      </a:lnTo>
                      <a:lnTo>
                        <a:pt x="141" y="3"/>
                      </a:lnTo>
                      <a:lnTo>
                        <a:pt x="141" y="4"/>
                      </a:lnTo>
                      <a:lnTo>
                        <a:pt x="141" y="5"/>
                      </a:lnTo>
                      <a:lnTo>
                        <a:pt x="141" y="117"/>
                      </a:lnTo>
                      <a:lnTo>
                        <a:pt x="141" y="119"/>
                      </a:lnTo>
                      <a:lnTo>
                        <a:pt x="140" y="119"/>
                      </a:lnTo>
                      <a:lnTo>
                        <a:pt x="140" y="120"/>
                      </a:lnTo>
                      <a:lnTo>
                        <a:pt x="139" y="121"/>
                      </a:lnTo>
                      <a:lnTo>
                        <a:pt x="138" y="122"/>
                      </a:lnTo>
                      <a:lnTo>
                        <a:pt x="137" y="122"/>
                      </a:lnTo>
                      <a:lnTo>
                        <a:pt x="137" y="123"/>
                      </a:lnTo>
                      <a:lnTo>
                        <a:pt x="136" y="123"/>
                      </a:lnTo>
                      <a:lnTo>
                        <a:pt x="135" y="123"/>
                      </a:lnTo>
                      <a:lnTo>
                        <a:pt x="4" y="123"/>
                      </a:lnTo>
                      <a:lnTo>
                        <a:pt x="3" y="123"/>
                      </a:lnTo>
                      <a:lnTo>
                        <a:pt x="2" y="122"/>
                      </a:lnTo>
                      <a:lnTo>
                        <a:pt x="1" y="122"/>
                      </a:lnTo>
                      <a:lnTo>
                        <a:pt x="1" y="121"/>
                      </a:lnTo>
                      <a:lnTo>
                        <a:pt x="0" y="121"/>
                      </a:lnTo>
                      <a:lnTo>
                        <a:pt x="0" y="120"/>
                      </a:lnTo>
                      <a:lnTo>
                        <a:pt x="0" y="119"/>
                      </a:lnTo>
                      <a:lnTo>
                        <a:pt x="0" y="117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</a:path>
                  </a:pathLst>
                </a:custGeom>
                <a:gradFill rotWithShape="0">
                  <a:gsLst>
                    <a:gs pos="0">
                      <a:srgbClr val="1D2B4B"/>
                    </a:gs>
                    <a:gs pos="50000">
                      <a:srgbClr val="618FFD"/>
                    </a:gs>
                    <a:gs pos="100000">
                      <a:srgbClr val="1D2B4B"/>
                    </a:gs>
                  </a:gsLst>
                  <a:lin ang="2700000" scaled="1"/>
                </a:gra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62" name="Freeform 1144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4 h 17"/>
                    <a:gd name="T2" fmla="*/ 151 w 153"/>
                    <a:gd name="T3" fmla="*/ 3 h 17"/>
                    <a:gd name="T4" fmla="*/ 151 w 153"/>
                    <a:gd name="T5" fmla="*/ 2 h 17"/>
                    <a:gd name="T6" fmla="*/ 150 w 153"/>
                    <a:gd name="T7" fmla="*/ 2 h 17"/>
                    <a:gd name="T8" fmla="*/ 150 w 153"/>
                    <a:gd name="T9" fmla="*/ 2 h 17"/>
                    <a:gd name="T10" fmla="*/ 150 w 153"/>
                    <a:gd name="T11" fmla="*/ 1 h 17"/>
                    <a:gd name="T12" fmla="*/ 149 w 153"/>
                    <a:gd name="T13" fmla="*/ 1 h 17"/>
                    <a:gd name="T14" fmla="*/ 149 w 153"/>
                    <a:gd name="T15" fmla="*/ 1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1 h 17"/>
                    <a:gd name="T32" fmla="*/ 1 w 153"/>
                    <a:gd name="T33" fmla="*/ 1 h 17"/>
                    <a:gd name="T34" fmla="*/ 0 w 153"/>
                    <a:gd name="T35" fmla="*/ 2 h 17"/>
                    <a:gd name="T36" fmla="*/ 0 w 153"/>
                    <a:gd name="T37" fmla="*/ 2 h 17"/>
                    <a:gd name="T38" fmla="*/ 0 w 153"/>
                    <a:gd name="T39" fmla="*/ 3 h 17"/>
                    <a:gd name="T40" fmla="*/ 6 w 153"/>
                    <a:gd name="T41" fmla="*/ 16 h 17"/>
                    <a:gd name="T42" fmla="*/ 7 w 153"/>
                    <a:gd name="T43" fmla="*/ 14 h 17"/>
                    <a:gd name="T44" fmla="*/ 7 w 153"/>
                    <a:gd name="T45" fmla="*/ 14 h 17"/>
                    <a:gd name="T46" fmla="*/ 8 w 153"/>
                    <a:gd name="T47" fmla="*/ 13 h 17"/>
                    <a:gd name="T48" fmla="*/ 8 w 153"/>
                    <a:gd name="T49" fmla="*/ 13 h 17"/>
                    <a:gd name="T50" fmla="*/ 8 w 153"/>
                    <a:gd name="T51" fmla="*/ 12 h 17"/>
                    <a:gd name="T52" fmla="*/ 9 w 153"/>
                    <a:gd name="T53" fmla="*/ 12 h 17"/>
                    <a:gd name="T54" fmla="*/ 10 w 153"/>
                    <a:gd name="T55" fmla="*/ 12 h 17"/>
                    <a:gd name="T56" fmla="*/ 140 w 153"/>
                    <a:gd name="T57" fmla="*/ 12 h 17"/>
                    <a:gd name="T58" fmla="*/ 141 w 153"/>
                    <a:gd name="T59" fmla="*/ 12 h 17"/>
                    <a:gd name="T60" fmla="*/ 142 w 153"/>
                    <a:gd name="T61" fmla="*/ 12 h 17"/>
                    <a:gd name="T62" fmla="*/ 142 w 153"/>
                    <a:gd name="T63" fmla="*/ 13 h 17"/>
                    <a:gd name="T64" fmla="*/ 143 w 153"/>
                    <a:gd name="T65" fmla="*/ 13 h 17"/>
                    <a:gd name="T66" fmla="*/ 143 w 153"/>
                    <a:gd name="T67" fmla="*/ 14 h 17"/>
                    <a:gd name="T68" fmla="*/ 143 w 153"/>
                    <a:gd name="T69" fmla="*/ 14 h 17"/>
                    <a:gd name="T70" fmla="*/ 144 w 153"/>
                    <a:gd name="T71" fmla="*/ 14 h 17"/>
                    <a:gd name="T72" fmla="*/ 152 w 153"/>
                    <a:gd name="T73" fmla="*/ 4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53"/>
                    <a:gd name="T112" fmla="*/ 0 h 17"/>
                    <a:gd name="T113" fmla="*/ 153 w 153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53" h="17">
                      <a:moveTo>
                        <a:pt x="152" y="4"/>
                      </a:moveTo>
                      <a:lnTo>
                        <a:pt x="151" y="3"/>
                      </a:lnTo>
                      <a:lnTo>
                        <a:pt x="151" y="2"/>
                      </a:lnTo>
                      <a:lnTo>
                        <a:pt x="150" y="2"/>
                      </a:lnTo>
                      <a:lnTo>
                        <a:pt x="150" y="1"/>
                      </a:lnTo>
                      <a:lnTo>
                        <a:pt x="149" y="1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6" y="16"/>
                      </a:lnTo>
                      <a:lnTo>
                        <a:pt x="7" y="14"/>
                      </a:lnTo>
                      <a:lnTo>
                        <a:pt x="8" y="13"/>
                      </a:lnTo>
                      <a:lnTo>
                        <a:pt x="8" y="12"/>
                      </a:lnTo>
                      <a:lnTo>
                        <a:pt x="9" y="12"/>
                      </a:lnTo>
                      <a:lnTo>
                        <a:pt x="10" y="12"/>
                      </a:lnTo>
                      <a:lnTo>
                        <a:pt x="140" y="12"/>
                      </a:lnTo>
                      <a:lnTo>
                        <a:pt x="141" y="12"/>
                      </a:lnTo>
                      <a:lnTo>
                        <a:pt x="142" y="12"/>
                      </a:lnTo>
                      <a:lnTo>
                        <a:pt x="142" y="13"/>
                      </a:lnTo>
                      <a:lnTo>
                        <a:pt x="143" y="13"/>
                      </a:lnTo>
                      <a:lnTo>
                        <a:pt x="143" y="14"/>
                      </a:lnTo>
                      <a:lnTo>
                        <a:pt x="144" y="14"/>
                      </a:lnTo>
                      <a:lnTo>
                        <a:pt x="152" y="4"/>
                      </a:lnTo>
                    </a:path>
                  </a:pathLst>
                </a:custGeom>
                <a:solidFill>
                  <a:srgbClr val="9F9FA2"/>
                </a:solidFill>
                <a:ln w="12700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63" name="Freeform 1145"/>
                <p:cNvSpPr>
                  <a:spLocks/>
                </p:cNvSpPr>
                <p:nvPr/>
              </p:nvSpPr>
              <p:spPr bwMode="auto">
                <a:xfrm>
                  <a:off x="3870" y="1299"/>
                  <a:ext cx="17" cy="135"/>
                </a:xfrm>
                <a:custGeom>
                  <a:avLst/>
                  <a:gdLst>
                    <a:gd name="T0" fmla="*/ 2 w 17"/>
                    <a:gd name="T1" fmla="*/ 0 h 135"/>
                    <a:gd name="T2" fmla="*/ 1 w 17"/>
                    <a:gd name="T3" fmla="*/ 0 h 135"/>
                    <a:gd name="T4" fmla="*/ 0 w 17"/>
                    <a:gd name="T5" fmla="*/ 1 h 135"/>
                    <a:gd name="T6" fmla="*/ 0 w 17"/>
                    <a:gd name="T7" fmla="*/ 2 h 135"/>
                    <a:gd name="T8" fmla="*/ 0 w 17"/>
                    <a:gd name="T9" fmla="*/ 2 h 135"/>
                    <a:gd name="T10" fmla="*/ 0 w 17"/>
                    <a:gd name="T11" fmla="*/ 3 h 135"/>
                    <a:gd name="T12" fmla="*/ 0 w 17"/>
                    <a:gd name="T13" fmla="*/ 4 h 135"/>
                    <a:gd name="T14" fmla="*/ 0 w 17"/>
                    <a:gd name="T15" fmla="*/ 130 h 135"/>
                    <a:gd name="T16" fmla="*/ 0 w 17"/>
                    <a:gd name="T17" fmla="*/ 130 h 135"/>
                    <a:gd name="T18" fmla="*/ 0 w 17"/>
                    <a:gd name="T19" fmla="*/ 131 h 135"/>
                    <a:gd name="T20" fmla="*/ 0 w 17"/>
                    <a:gd name="T21" fmla="*/ 132 h 135"/>
                    <a:gd name="T22" fmla="*/ 0 w 17"/>
                    <a:gd name="T23" fmla="*/ 132 h 135"/>
                    <a:gd name="T24" fmla="*/ 1 w 17"/>
                    <a:gd name="T25" fmla="*/ 133 h 135"/>
                    <a:gd name="T26" fmla="*/ 2 w 17"/>
                    <a:gd name="T27" fmla="*/ 133 h 135"/>
                    <a:gd name="T28" fmla="*/ 2 w 17"/>
                    <a:gd name="T29" fmla="*/ 134 h 135"/>
                    <a:gd name="T30" fmla="*/ 3 w 17"/>
                    <a:gd name="T31" fmla="*/ 134 h 135"/>
                    <a:gd name="T32" fmla="*/ 16 w 17"/>
                    <a:gd name="T33" fmla="*/ 127 h 135"/>
                    <a:gd name="T34" fmla="*/ 15 w 17"/>
                    <a:gd name="T35" fmla="*/ 126 h 135"/>
                    <a:gd name="T36" fmla="*/ 15 w 17"/>
                    <a:gd name="T37" fmla="*/ 126 h 135"/>
                    <a:gd name="T38" fmla="*/ 14 w 17"/>
                    <a:gd name="T39" fmla="*/ 126 h 135"/>
                    <a:gd name="T40" fmla="*/ 14 w 17"/>
                    <a:gd name="T41" fmla="*/ 125 h 135"/>
                    <a:gd name="T42" fmla="*/ 13 w 17"/>
                    <a:gd name="T43" fmla="*/ 124 h 135"/>
                    <a:gd name="T44" fmla="*/ 13 w 17"/>
                    <a:gd name="T45" fmla="*/ 124 h 135"/>
                    <a:gd name="T46" fmla="*/ 13 w 17"/>
                    <a:gd name="T47" fmla="*/ 10 h 135"/>
                    <a:gd name="T48" fmla="*/ 13 w 17"/>
                    <a:gd name="T49" fmla="*/ 9 h 135"/>
                    <a:gd name="T50" fmla="*/ 13 w 17"/>
                    <a:gd name="T51" fmla="*/ 8 h 135"/>
                    <a:gd name="T52" fmla="*/ 14 w 17"/>
                    <a:gd name="T53" fmla="*/ 8 h 135"/>
                    <a:gd name="T54" fmla="*/ 15 w 17"/>
                    <a:gd name="T55" fmla="*/ 7 h 135"/>
                    <a:gd name="T56" fmla="*/ 15 w 17"/>
                    <a:gd name="T57" fmla="*/ 6 h 135"/>
                    <a:gd name="T58" fmla="*/ 2 w 17"/>
                    <a:gd name="T59" fmla="*/ 0 h 135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w 17"/>
                    <a:gd name="T91" fmla="*/ 0 h 135"/>
                    <a:gd name="T92" fmla="*/ 17 w 17"/>
                    <a:gd name="T93" fmla="*/ 135 h 135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T90" t="T91" r="T92" b="T93"/>
                  <a:pathLst>
                    <a:path w="17" h="135">
                      <a:moveTo>
                        <a:pt x="2" y="0"/>
                      </a:moveTo>
                      <a:lnTo>
                        <a:pt x="1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0" y="130"/>
                      </a:lnTo>
                      <a:lnTo>
                        <a:pt x="0" y="131"/>
                      </a:lnTo>
                      <a:lnTo>
                        <a:pt x="0" y="132"/>
                      </a:lnTo>
                      <a:lnTo>
                        <a:pt x="1" y="133"/>
                      </a:lnTo>
                      <a:lnTo>
                        <a:pt x="2" y="133"/>
                      </a:lnTo>
                      <a:lnTo>
                        <a:pt x="2" y="134"/>
                      </a:lnTo>
                      <a:lnTo>
                        <a:pt x="3" y="134"/>
                      </a:lnTo>
                      <a:lnTo>
                        <a:pt x="16" y="127"/>
                      </a:lnTo>
                      <a:lnTo>
                        <a:pt x="15" y="126"/>
                      </a:lnTo>
                      <a:lnTo>
                        <a:pt x="14" y="126"/>
                      </a:lnTo>
                      <a:lnTo>
                        <a:pt x="14" y="125"/>
                      </a:lnTo>
                      <a:lnTo>
                        <a:pt x="13" y="124"/>
                      </a:lnTo>
                      <a:lnTo>
                        <a:pt x="13" y="10"/>
                      </a:lnTo>
                      <a:lnTo>
                        <a:pt x="13" y="9"/>
                      </a:lnTo>
                      <a:lnTo>
                        <a:pt x="13" y="8"/>
                      </a:lnTo>
                      <a:lnTo>
                        <a:pt x="14" y="8"/>
                      </a:lnTo>
                      <a:lnTo>
                        <a:pt x="15" y="7"/>
                      </a:lnTo>
                      <a:lnTo>
                        <a:pt x="15" y="6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64" name="Freeform 1146"/>
                <p:cNvSpPr>
                  <a:spLocks/>
                </p:cNvSpPr>
                <p:nvPr/>
              </p:nvSpPr>
              <p:spPr bwMode="auto">
                <a:xfrm>
                  <a:off x="3872" y="1300"/>
                  <a:ext cx="155" cy="136"/>
                </a:xfrm>
                <a:custGeom>
                  <a:avLst/>
                  <a:gdLst>
                    <a:gd name="T0" fmla="*/ 0 w 155"/>
                    <a:gd name="T1" fmla="*/ 133 h 136"/>
                    <a:gd name="T2" fmla="*/ 0 w 155"/>
                    <a:gd name="T3" fmla="*/ 134 h 136"/>
                    <a:gd name="T4" fmla="*/ 0 w 155"/>
                    <a:gd name="T5" fmla="*/ 134 h 136"/>
                    <a:gd name="T6" fmla="*/ 1 w 155"/>
                    <a:gd name="T7" fmla="*/ 134 h 136"/>
                    <a:gd name="T8" fmla="*/ 1 w 155"/>
                    <a:gd name="T9" fmla="*/ 134 h 136"/>
                    <a:gd name="T10" fmla="*/ 2 w 155"/>
                    <a:gd name="T11" fmla="*/ 135 h 136"/>
                    <a:gd name="T12" fmla="*/ 2 w 155"/>
                    <a:gd name="T13" fmla="*/ 135 h 136"/>
                    <a:gd name="T14" fmla="*/ 3 w 155"/>
                    <a:gd name="T15" fmla="*/ 135 h 136"/>
                    <a:gd name="T16" fmla="*/ 148 w 155"/>
                    <a:gd name="T17" fmla="*/ 135 h 136"/>
                    <a:gd name="T18" fmla="*/ 150 w 155"/>
                    <a:gd name="T19" fmla="*/ 134 h 136"/>
                    <a:gd name="T20" fmla="*/ 151 w 155"/>
                    <a:gd name="T21" fmla="*/ 134 h 136"/>
                    <a:gd name="T22" fmla="*/ 151 w 155"/>
                    <a:gd name="T23" fmla="*/ 133 h 136"/>
                    <a:gd name="T24" fmla="*/ 152 w 155"/>
                    <a:gd name="T25" fmla="*/ 133 h 136"/>
                    <a:gd name="T26" fmla="*/ 152 w 155"/>
                    <a:gd name="T27" fmla="*/ 133 h 136"/>
                    <a:gd name="T28" fmla="*/ 153 w 155"/>
                    <a:gd name="T29" fmla="*/ 132 h 136"/>
                    <a:gd name="T30" fmla="*/ 153 w 155"/>
                    <a:gd name="T31" fmla="*/ 131 h 136"/>
                    <a:gd name="T32" fmla="*/ 154 w 155"/>
                    <a:gd name="T33" fmla="*/ 131 h 136"/>
                    <a:gd name="T34" fmla="*/ 154 w 155"/>
                    <a:gd name="T35" fmla="*/ 129 h 136"/>
                    <a:gd name="T36" fmla="*/ 154 w 155"/>
                    <a:gd name="T37" fmla="*/ 129 h 136"/>
                    <a:gd name="T38" fmla="*/ 154 w 155"/>
                    <a:gd name="T39" fmla="*/ 3 h 136"/>
                    <a:gd name="T40" fmla="*/ 154 w 155"/>
                    <a:gd name="T41" fmla="*/ 2 h 136"/>
                    <a:gd name="T42" fmla="*/ 154 w 155"/>
                    <a:gd name="T43" fmla="*/ 1 h 136"/>
                    <a:gd name="T44" fmla="*/ 154 w 155"/>
                    <a:gd name="T45" fmla="*/ 1 h 136"/>
                    <a:gd name="T46" fmla="*/ 153 w 155"/>
                    <a:gd name="T47" fmla="*/ 1 h 136"/>
                    <a:gd name="T48" fmla="*/ 153 w 155"/>
                    <a:gd name="T49" fmla="*/ 0 h 136"/>
                    <a:gd name="T50" fmla="*/ 153 w 155"/>
                    <a:gd name="T51" fmla="*/ 0 h 136"/>
                    <a:gd name="T52" fmla="*/ 145 w 155"/>
                    <a:gd name="T53" fmla="*/ 5 h 136"/>
                    <a:gd name="T54" fmla="*/ 145 w 155"/>
                    <a:gd name="T55" fmla="*/ 5 h 136"/>
                    <a:gd name="T56" fmla="*/ 146 w 155"/>
                    <a:gd name="T57" fmla="*/ 6 h 136"/>
                    <a:gd name="T58" fmla="*/ 146 w 155"/>
                    <a:gd name="T59" fmla="*/ 7 h 136"/>
                    <a:gd name="T60" fmla="*/ 146 w 155"/>
                    <a:gd name="T61" fmla="*/ 7 h 136"/>
                    <a:gd name="T62" fmla="*/ 146 w 155"/>
                    <a:gd name="T63" fmla="*/ 7 h 136"/>
                    <a:gd name="T64" fmla="*/ 146 w 155"/>
                    <a:gd name="T65" fmla="*/ 8 h 136"/>
                    <a:gd name="T66" fmla="*/ 146 w 155"/>
                    <a:gd name="T67" fmla="*/ 9 h 136"/>
                    <a:gd name="T68" fmla="*/ 146 w 155"/>
                    <a:gd name="T69" fmla="*/ 9 h 136"/>
                    <a:gd name="T70" fmla="*/ 146 w 155"/>
                    <a:gd name="T71" fmla="*/ 123 h 136"/>
                    <a:gd name="T72" fmla="*/ 146 w 155"/>
                    <a:gd name="T73" fmla="*/ 123 h 136"/>
                    <a:gd name="T74" fmla="*/ 146 w 155"/>
                    <a:gd name="T75" fmla="*/ 124 h 136"/>
                    <a:gd name="T76" fmla="*/ 146 w 155"/>
                    <a:gd name="T77" fmla="*/ 125 h 136"/>
                    <a:gd name="T78" fmla="*/ 146 w 155"/>
                    <a:gd name="T79" fmla="*/ 125 h 136"/>
                    <a:gd name="T80" fmla="*/ 145 w 155"/>
                    <a:gd name="T81" fmla="*/ 126 h 136"/>
                    <a:gd name="T82" fmla="*/ 145 w 155"/>
                    <a:gd name="T83" fmla="*/ 127 h 136"/>
                    <a:gd name="T84" fmla="*/ 144 w 155"/>
                    <a:gd name="T85" fmla="*/ 127 h 136"/>
                    <a:gd name="T86" fmla="*/ 143 w 155"/>
                    <a:gd name="T87" fmla="*/ 127 h 136"/>
                    <a:gd name="T88" fmla="*/ 143 w 155"/>
                    <a:gd name="T89" fmla="*/ 128 h 136"/>
                    <a:gd name="T90" fmla="*/ 142 w 155"/>
                    <a:gd name="T91" fmla="*/ 128 h 136"/>
                    <a:gd name="T92" fmla="*/ 142 w 155"/>
                    <a:gd name="T93" fmla="*/ 128 h 136"/>
                    <a:gd name="T94" fmla="*/ 9 w 155"/>
                    <a:gd name="T95" fmla="*/ 128 h 136"/>
                    <a:gd name="T96" fmla="*/ 8 w 155"/>
                    <a:gd name="T97" fmla="*/ 128 h 136"/>
                    <a:gd name="T98" fmla="*/ 8 w 155"/>
                    <a:gd name="T99" fmla="*/ 128 h 136"/>
                    <a:gd name="T100" fmla="*/ 8 w 155"/>
                    <a:gd name="T101" fmla="*/ 127 h 136"/>
                    <a:gd name="T102" fmla="*/ 7 w 155"/>
                    <a:gd name="T103" fmla="*/ 127 h 136"/>
                    <a:gd name="T104" fmla="*/ 7 w 155"/>
                    <a:gd name="T105" fmla="*/ 127 h 136"/>
                    <a:gd name="T106" fmla="*/ 6 w 155"/>
                    <a:gd name="T107" fmla="*/ 127 h 136"/>
                    <a:gd name="T108" fmla="*/ 6 w 155"/>
                    <a:gd name="T109" fmla="*/ 127 h 136"/>
                    <a:gd name="T110" fmla="*/ 0 w 155"/>
                    <a:gd name="T111" fmla="*/ 133 h 1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55"/>
                    <a:gd name="T169" fmla="*/ 0 h 136"/>
                    <a:gd name="T170" fmla="*/ 155 w 155"/>
                    <a:gd name="T171" fmla="*/ 136 h 136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55" h="136">
                      <a:moveTo>
                        <a:pt x="0" y="133"/>
                      </a:moveTo>
                      <a:lnTo>
                        <a:pt x="0" y="134"/>
                      </a:lnTo>
                      <a:lnTo>
                        <a:pt x="1" y="134"/>
                      </a:lnTo>
                      <a:lnTo>
                        <a:pt x="2" y="135"/>
                      </a:lnTo>
                      <a:lnTo>
                        <a:pt x="3" y="135"/>
                      </a:lnTo>
                      <a:lnTo>
                        <a:pt x="148" y="135"/>
                      </a:lnTo>
                      <a:lnTo>
                        <a:pt x="150" y="134"/>
                      </a:lnTo>
                      <a:lnTo>
                        <a:pt x="151" y="134"/>
                      </a:lnTo>
                      <a:lnTo>
                        <a:pt x="151" y="133"/>
                      </a:lnTo>
                      <a:lnTo>
                        <a:pt x="152" y="133"/>
                      </a:lnTo>
                      <a:lnTo>
                        <a:pt x="153" y="132"/>
                      </a:lnTo>
                      <a:lnTo>
                        <a:pt x="153" y="131"/>
                      </a:lnTo>
                      <a:lnTo>
                        <a:pt x="154" y="131"/>
                      </a:lnTo>
                      <a:lnTo>
                        <a:pt x="154" y="129"/>
                      </a:lnTo>
                      <a:lnTo>
                        <a:pt x="154" y="3"/>
                      </a:lnTo>
                      <a:lnTo>
                        <a:pt x="154" y="2"/>
                      </a:lnTo>
                      <a:lnTo>
                        <a:pt x="154" y="1"/>
                      </a:lnTo>
                      <a:lnTo>
                        <a:pt x="153" y="1"/>
                      </a:lnTo>
                      <a:lnTo>
                        <a:pt x="153" y="0"/>
                      </a:lnTo>
                      <a:lnTo>
                        <a:pt x="145" y="5"/>
                      </a:lnTo>
                      <a:lnTo>
                        <a:pt x="146" y="6"/>
                      </a:lnTo>
                      <a:lnTo>
                        <a:pt x="146" y="7"/>
                      </a:lnTo>
                      <a:lnTo>
                        <a:pt x="146" y="8"/>
                      </a:lnTo>
                      <a:lnTo>
                        <a:pt x="146" y="9"/>
                      </a:lnTo>
                      <a:lnTo>
                        <a:pt x="146" y="123"/>
                      </a:lnTo>
                      <a:lnTo>
                        <a:pt x="146" y="124"/>
                      </a:lnTo>
                      <a:lnTo>
                        <a:pt x="146" y="125"/>
                      </a:lnTo>
                      <a:lnTo>
                        <a:pt x="145" y="126"/>
                      </a:lnTo>
                      <a:lnTo>
                        <a:pt x="145" y="127"/>
                      </a:lnTo>
                      <a:lnTo>
                        <a:pt x="144" y="127"/>
                      </a:lnTo>
                      <a:lnTo>
                        <a:pt x="143" y="127"/>
                      </a:lnTo>
                      <a:lnTo>
                        <a:pt x="143" y="128"/>
                      </a:lnTo>
                      <a:lnTo>
                        <a:pt x="142" y="128"/>
                      </a:lnTo>
                      <a:lnTo>
                        <a:pt x="9" y="128"/>
                      </a:lnTo>
                      <a:lnTo>
                        <a:pt x="8" y="128"/>
                      </a:lnTo>
                      <a:lnTo>
                        <a:pt x="8" y="127"/>
                      </a:lnTo>
                      <a:lnTo>
                        <a:pt x="7" y="127"/>
                      </a:lnTo>
                      <a:lnTo>
                        <a:pt x="6" y="127"/>
                      </a:lnTo>
                      <a:lnTo>
                        <a:pt x="0" y="133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65" name="Freeform 1147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16 h 17"/>
                    <a:gd name="T2" fmla="*/ 151 w 153"/>
                    <a:gd name="T3" fmla="*/ 16 h 17"/>
                    <a:gd name="T4" fmla="*/ 151 w 153"/>
                    <a:gd name="T5" fmla="*/ 10 h 17"/>
                    <a:gd name="T6" fmla="*/ 150 w 153"/>
                    <a:gd name="T7" fmla="*/ 10 h 17"/>
                    <a:gd name="T8" fmla="*/ 150 w 153"/>
                    <a:gd name="T9" fmla="*/ 10 h 17"/>
                    <a:gd name="T10" fmla="*/ 150 w 153"/>
                    <a:gd name="T11" fmla="*/ 5 h 17"/>
                    <a:gd name="T12" fmla="*/ 149 w 153"/>
                    <a:gd name="T13" fmla="*/ 5 h 17"/>
                    <a:gd name="T14" fmla="*/ 149 w 153"/>
                    <a:gd name="T15" fmla="*/ 5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5 h 17"/>
                    <a:gd name="T32" fmla="*/ 1 w 153"/>
                    <a:gd name="T33" fmla="*/ 5 h 17"/>
                    <a:gd name="T34" fmla="*/ 0 w 153"/>
                    <a:gd name="T35" fmla="*/ 10 h 17"/>
                    <a:gd name="T36" fmla="*/ 0 w 153"/>
                    <a:gd name="T37" fmla="*/ 10 h 17"/>
                    <a:gd name="T38" fmla="*/ 0 w 153"/>
                    <a:gd name="T39" fmla="*/ 16 h 17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153"/>
                    <a:gd name="T61" fmla="*/ 0 h 17"/>
                    <a:gd name="T62" fmla="*/ 153 w 153"/>
                    <a:gd name="T63" fmla="*/ 17 h 17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153" h="17">
                      <a:moveTo>
                        <a:pt x="152" y="16"/>
                      </a:moveTo>
                      <a:lnTo>
                        <a:pt x="151" y="16"/>
                      </a:lnTo>
                      <a:lnTo>
                        <a:pt x="151" y="10"/>
                      </a:lnTo>
                      <a:lnTo>
                        <a:pt x="150" y="10"/>
                      </a:lnTo>
                      <a:lnTo>
                        <a:pt x="150" y="5"/>
                      </a:lnTo>
                      <a:lnTo>
                        <a:pt x="149" y="5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5"/>
                      </a:lnTo>
                      <a:lnTo>
                        <a:pt x="0" y="1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66" name="Freeform 1148"/>
                <p:cNvSpPr>
                  <a:spLocks/>
                </p:cNvSpPr>
                <p:nvPr/>
              </p:nvSpPr>
              <p:spPr bwMode="auto">
                <a:xfrm>
                  <a:off x="3843" y="1489"/>
                  <a:ext cx="215" cy="72"/>
                </a:xfrm>
                <a:custGeom>
                  <a:avLst/>
                  <a:gdLst>
                    <a:gd name="T0" fmla="*/ 0 w 215"/>
                    <a:gd name="T1" fmla="*/ 71 h 72"/>
                    <a:gd name="T2" fmla="*/ 0 w 215"/>
                    <a:gd name="T3" fmla="*/ 0 h 72"/>
                    <a:gd name="T4" fmla="*/ 214 w 215"/>
                    <a:gd name="T5" fmla="*/ 0 h 72"/>
                    <a:gd name="T6" fmla="*/ 214 w 215"/>
                    <a:gd name="T7" fmla="*/ 71 h 72"/>
                    <a:gd name="T8" fmla="*/ 0 w 215"/>
                    <a:gd name="T9" fmla="*/ 71 h 7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15"/>
                    <a:gd name="T16" fmla="*/ 0 h 72"/>
                    <a:gd name="T17" fmla="*/ 215 w 215"/>
                    <a:gd name="T18" fmla="*/ 72 h 7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15" h="72">
                      <a:moveTo>
                        <a:pt x="0" y="71"/>
                      </a:moveTo>
                      <a:lnTo>
                        <a:pt x="0" y="0"/>
                      </a:lnTo>
                      <a:lnTo>
                        <a:pt x="214" y="0"/>
                      </a:lnTo>
                      <a:lnTo>
                        <a:pt x="214" y="71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67" name="Freeform 1149"/>
                <p:cNvSpPr>
                  <a:spLocks/>
                </p:cNvSpPr>
                <p:nvPr/>
              </p:nvSpPr>
              <p:spPr bwMode="auto">
                <a:xfrm>
                  <a:off x="3841" y="1489"/>
                  <a:ext cx="219" cy="23"/>
                </a:xfrm>
                <a:custGeom>
                  <a:avLst/>
                  <a:gdLst>
                    <a:gd name="T0" fmla="*/ 79 w 219"/>
                    <a:gd name="T1" fmla="*/ 0 h 23"/>
                    <a:gd name="T2" fmla="*/ 0 w 219"/>
                    <a:gd name="T3" fmla="*/ 0 h 23"/>
                    <a:gd name="T4" fmla="*/ 0 w 219"/>
                    <a:gd name="T5" fmla="*/ 22 h 23"/>
                    <a:gd name="T6" fmla="*/ 218 w 219"/>
                    <a:gd name="T7" fmla="*/ 22 h 23"/>
                    <a:gd name="T8" fmla="*/ 215 w 219"/>
                    <a:gd name="T9" fmla="*/ 0 h 23"/>
                    <a:gd name="T10" fmla="*/ 137 w 219"/>
                    <a:gd name="T11" fmla="*/ 0 h 23"/>
                    <a:gd name="T12" fmla="*/ 79 w 219"/>
                    <a:gd name="T13" fmla="*/ 0 h 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19"/>
                    <a:gd name="T22" fmla="*/ 0 h 23"/>
                    <a:gd name="T23" fmla="*/ 219 w 219"/>
                    <a:gd name="T24" fmla="*/ 23 h 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9" h="23">
                      <a:moveTo>
                        <a:pt x="79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218" y="22"/>
                      </a:lnTo>
                      <a:lnTo>
                        <a:pt x="215" y="0"/>
                      </a:lnTo>
                      <a:lnTo>
                        <a:pt x="137" y="0"/>
                      </a:lnTo>
                      <a:lnTo>
                        <a:pt x="79" y="0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68" name="Freeform 1150"/>
                <p:cNvSpPr>
                  <a:spLocks/>
                </p:cNvSpPr>
                <p:nvPr/>
              </p:nvSpPr>
              <p:spPr bwMode="auto">
                <a:xfrm>
                  <a:off x="3991" y="1495"/>
                  <a:ext cx="56" cy="17"/>
                </a:xfrm>
                <a:custGeom>
                  <a:avLst/>
                  <a:gdLst>
                    <a:gd name="T0" fmla="*/ 0 w 56"/>
                    <a:gd name="T1" fmla="*/ 6 h 17"/>
                    <a:gd name="T2" fmla="*/ 18 w 56"/>
                    <a:gd name="T3" fmla="*/ 6 h 17"/>
                    <a:gd name="T4" fmla="*/ 18 w 56"/>
                    <a:gd name="T5" fmla="*/ 0 h 17"/>
                    <a:gd name="T6" fmla="*/ 35 w 56"/>
                    <a:gd name="T7" fmla="*/ 0 h 17"/>
                    <a:gd name="T8" fmla="*/ 35 w 56"/>
                    <a:gd name="T9" fmla="*/ 6 h 17"/>
                    <a:gd name="T10" fmla="*/ 55 w 56"/>
                    <a:gd name="T11" fmla="*/ 6 h 17"/>
                    <a:gd name="T12" fmla="*/ 55 w 56"/>
                    <a:gd name="T13" fmla="*/ 10 h 17"/>
                    <a:gd name="T14" fmla="*/ 35 w 56"/>
                    <a:gd name="T15" fmla="*/ 10 h 17"/>
                    <a:gd name="T16" fmla="*/ 35 w 56"/>
                    <a:gd name="T17" fmla="*/ 16 h 17"/>
                    <a:gd name="T18" fmla="*/ 18 w 56"/>
                    <a:gd name="T19" fmla="*/ 16 h 17"/>
                    <a:gd name="T20" fmla="*/ 18 w 56"/>
                    <a:gd name="T21" fmla="*/ 10 h 17"/>
                    <a:gd name="T22" fmla="*/ 0 w 56"/>
                    <a:gd name="T23" fmla="*/ 10 h 17"/>
                    <a:gd name="T24" fmla="*/ 0 w 56"/>
                    <a:gd name="T25" fmla="*/ 6 h 17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56"/>
                    <a:gd name="T40" fmla="*/ 0 h 17"/>
                    <a:gd name="T41" fmla="*/ 56 w 56"/>
                    <a:gd name="T42" fmla="*/ 17 h 17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56" h="17">
                      <a:moveTo>
                        <a:pt x="0" y="6"/>
                      </a:moveTo>
                      <a:lnTo>
                        <a:pt x="18" y="6"/>
                      </a:lnTo>
                      <a:lnTo>
                        <a:pt x="18" y="0"/>
                      </a:lnTo>
                      <a:lnTo>
                        <a:pt x="35" y="0"/>
                      </a:lnTo>
                      <a:lnTo>
                        <a:pt x="35" y="6"/>
                      </a:lnTo>
                      <a:lnTo>
                        <a:pt x="55" y="6"/>
                      </a:lnTo>
                      <a:lnTo>
                        <a:pt x="55" y="10"/>
                      </a:lnTo>
                      <a:lnTo>
                        <a:pt x="35" y="10"/>
                      </a:lnTo>
                      <a:lnTo>
                        <a:pt x="35" y="16"/>
                      </a:lnTo>
                      <a:lnTo>
                        <a:pt x="18" y="16"/>
                      </a:lnTo>
                      <a:lnTo>
                        <a:pt x="18" y="10"/>
                      </a:lnTo>
                      <a:lnTo>
                        <a:pt x="0" y="10"/>
                      </a:lnTo>
                      <a:lnTo>
                        <a:pt x="0" y="6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69" name="Freeform 1151"/>
                <p:cNvSpPr>
                  <a:spLocks/>
                </p:cNvSpPr>
                <p:nvPr/>
              </p:nvSpPr>
              <p:spPr bwMode="auto">
                <a:xfrm>
                  <a:off x="3991" y="1501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0 h 17"/>
                    <a:gd name="T4" fmla="*/ 16 w 17"/>
                    <a:gd name="T5" fmla="*/ 5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17"/>
                    <a:gd name="T14" fmla="*/ 17 w 17"/>
                    <a:gd name="T15" fmla="*/ 17 h 1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17">
                      <a:moveTo>
                        <a:pt x="0" y="16"/>
                      </a:moveTo>
                      <a:lnTo>
                        <a:pt x="16" y="10"/>
                      </a:lnTo>
                      <a:lnTo>
                        <a:pt x="16" y="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70" name="Freeform 1152"/>
                <p:cNvSpPr>
                  <a:spLocks/>
                </p:cNvSpPr>
                <p:nvPr/>
              </p:nvSpPr>
              <p:spPr bwMode="auto">
                <a:xfrm>
                  <a:off x="4010" y="149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71" name="Freeform 1153"/>
                <p:cNvSpPr>
                  <a:spLocks/>
                </p:cNvSpPr>
                <p:nvPr/>
              </p:nvSpPr>
              <p:spPr bwMode="auto">
                <a:xfrm>
                  <a:off x="4046" y="1504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72" name="Freeform 1154"/>
                <p:cNvSpPr>
                  <a:spLocks/>
                </p:cNvSpPr>
                <p:nvPr/>
              </p:nvSpPr>
              <p:spPr bwMode="auto">
                <a:xfrm>
                  <a:off x="4027" y="1495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0 h 17"/>
                    <a:gd name="T4" fmla="*/ 0 w 17"/>
                    <a:gd name="T5" fmla="*/ 16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16"/>
                      </a:moveTo>
                      <a:lnTo>
                        <a:pt x="16" y="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73" name="Freeform 1155"/>
                <p:cNvSpPr>
                  <a:spLocks/>
                </p:cNvSpPr>
                <p:nvPr/>
              </p:nvSpPr>
              <p:spPr bwMode="auto">
                <a:xfrm>
                  <a:off x="4011" y="1499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6 h 17"/>
                    <a:gd name="T4" fmla="*/ 16 w 17"/>
                    <a:gd name="T5" fmla="*/ 0 h 17"/>
                    <a:gd name="T6" fmla="*/ 0 w 17"/>
                    <a:gd name="T7" fmla="*/ 0 h 17"/>
                    <a:gd name="T8" fmla="*/ 0 w 17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16"/>
                      </a:moveTo>
                      <a:lnTo>
                        <a:pt x="16" y="16"/>
                      </a:lnTo>
                      <a:lnTo>
                        <a:pt x="16" y="0"/>
                      </a:lnTo>
                      <a:lnTo>
                        <a:pt x="0" y="0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F9FA2"/>
                </a:solidFill>
                <a:ln w="12700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74" name="Freeform 1156"/>
                <p:cNvSpPr>
                  <a:spLocks/>
                </p:cNvSpPr>
                <p:nvPr/>
              </p:nvSpPr>
              <p:spPr bwMode="auto">
                <a:xfrm>
                  <a:off x="3993" y="1502"/>
                  <a:ext cx="54" cy="17"/>
                </a:xfrm>
                <a:custGeom>
                  <a:avLst/>
                  <a:gdLst>
                    <a:gd name="T0" fmla="*/ 0 w 54"/>
                    <a:gd name="T1" fmla="*/ 0 h 17"/>
                    <a:gd name="T2" fmla="*/ 53 w 54"/>
                    <a:gd name="T3" fmla="*/ 0 h 17"/>
                    <a:gd name="T4" fmla="*/ 53 w 54"/>
                    <a:gd name="T5" fmla="*/ 16 h 17"/>
                    <a:gd name="T6" fmla="*/ 0 w 54"/>
                    <a:gd name="T7" fmla="*/ 16 h 17"/>
                    <a:gd name="T8" fmla="*/ 0 w 54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4"/>
                    <a:gd name="T16" fmla="*/ 0 h 17"/>
                    <a:gd name="T17" fmla="*/ 54 w 5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4" h="17">
                      <a:moveTo>
                        <a:pt x="0" y="0"/>
                      </a:moveTo>
                      <a:lnTo>
                        <a:pt x="53" y="0"/>
                      </a:lnTo>
                      <a:lnTo>
                        <a:pt x="53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75" name="Freeform 1157"/>
                <p:cNvSpPr>
                  <a:spLocks/>
                </p:cNvSpPr>
                <p:nvPr/>
              </p:nvSpPr>
              <p:spPr bwMode="auto">
                <a:xfrm>
                  <a:off x="4010" y="1496"/>
                  <a:ext cx="19" cy="17"/>
                </a:xfrm>
                <a:custGeom>
                  <a:avLst/>
                  <a:gdLst>
                    <a:gd name="T0" fmla="*/ 18 w 19"/>
                    <a:gd name="T1" fmla="*/ 12 h 17"/>
                    <a:gd name="T2" fmla="*/ 17 w 19"/>
                    <a:gd name="T3" fmla="*/ 16 h 17"/>
                    <a:gd name="T4" fmla="*/ 17 w 19"/>
                    <a:gd name="T5" fmla="*/ 0 h 17"/>
                    <a:gd name="T6" fmla="*/ 0 w 19"/>
                    <a:gd name="T7" fmla="*/ 0 h 17"/>
                    <a:gd name="T8" fmla="*/ 0 w 19"/>
                    <a:gd name="T9" fmla="*/ 16 h 17"/>
                    <a:gd name="T10" fmla="*/ 0 w 19"/>
                    <a:gd name="T11" fmla="*/ 12 h 1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"/>
                    <a:gd name="T19" fmla="*/ 0 h 17"/>
                    <a:gd name="T20" fmla="*/ 19 w 19"/>
                    <a:gd name="T21" fmla="*/ 17 h 1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" h="17">
                      <a:moveTo>
                        <a:pt x="18" y="12"/>
                      </a:moveTo>
                      <a:lnTo>
                        <a:pt x="17" y="16"/>
                      </a:ln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6"/>
                      </a:lnTo>
                      <a:lnTo>
                        <a:pt x="0" y="12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76" name="Freeform 1158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16 w 17"/>
                    <a:gd name="T1" fmla="*/ 0 h 17"/>
                    <a:gd name="T2" fmla="*/ 16 w 17"/>
                    <a:gd name="T3" fmla="*/ 16 h 17"/>
                    <a:gd name="T4" fmla="*/ 0 w 17"/>
                    <a:gd name="T5" fmla="*/ 16 h 17"/>
                    <a:gd name="T6" fmla="*/ 0 w 17"/>
                    <a:gd name="T7" fmla="*/ 0 h 17"/>
                    <a:gd name="T8" fmla="*/ 16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16" y="0"/>
                      </a:move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  <a:lnTo>
                        <a:pt x="16" y="0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77" name="Freeform 1159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78" name="Freeform 1160"/>
                <p:cNvSpPr>
                  <a:spLocks/>
                </p:cNvSpPr>
                <p:nvPr/>
              </p:nvSpPr>
              <p:spPr bwMode="auto">
                <a:xfrm>
                  <a:off x="3930" y="1497"/>
                  <a:ext cx="44" cy="17"/>
                </a:xfrm>
                <a:custGeom>
                  <a:avLst/>
                  <a:gdLst>
                    <a:gd name="T0" fmla="*/ 14 w 44"/>
                    <a:gd name="T1" fmla="*/ 16 h 17"/>
                    <a:gd name="T2" fmla="*/ 0 w 44"/>
                    <a:gd name="T3" fmla="*/ 16 h 17"/>
                    <a:gd name="T4" fmla="*/ 0 w 44"/>
                    <a:gd name="T5" fmla="*/ 8 h 17"/>
                    <a:gd name="T6" fmla="*/ 14 w 44"/>
                    <a:gd name="T7" fmla="*/ 8 h 17"/>
                    <a:gd name="T8" fmla="*/ 14 w 44"/>
                    <a:gd name="T9" fmla="*/ 0 h 17"/>
                    <a:gd name="T10" fmla="*/ 28 w 44"/>
                    <a:gd name="T11" fmla="*/ 0 h 17"/>
                    <a:gd name="T12" fmla="*/ 28 w 44"/>
                    <a:gd name="T13" fmla="*/ 8 h 17"/>
                    <a:gd name="T14" fmla="*/ 43 w 44"/>
                    <a:gd name="T15" fmla="*/ 8 h 17"/>
                    <a:gd name="T16" fmla="*/ 43 w 44"/>
                    <a:gd name="T17" fmla="*/ 16 h 17"/>
                    <a:gd name="T18" fmla="*/ 28 w 44"/>
                    <a:gd name="T19" fmla="*/ 16 h 17"/>
                    <a:gd name="T20" fmla="*/ 14 w 44"/>
                    <a:gd name="T21" fmla="*/ 16 h 1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44"/>
                    <a:gd name="T34" fmla="*/ 0 h 17"/>
                    <a:gd name="T35" fmla="*/ 44 w 44"/>
                    <a:gd name="T36" fmla="*/ 17 h 17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44" h="17">
                      <a:moveTo>
                        <a:pt x="14" y="16"/>
                      </a:moveTo>
                      <a:lnTo>
                        <a:pt x="0" y="16"/>
                      </a:lnTo>
                      <a:lnTo>
                        <a:pt x="0" y="8"/>
                      </a:lnTo>
                      <a:lnTo>
                        <a:pt x="14" y="8"/>
                      </a:lnTo>
                      <a:lnTo>
                        <a:pt x="14" y="0"/>
                      </a:lnTo>
                      <a:lnTo>
                        <a:pt x="28" y="0"/>
                      </a:lnTo>
                      <a:lnTo>
                        <a:pt x="28" y="8"/>
                      </a:lnTo>
                      <a:lnTo>
                        <a:pt x="43" y="8"/>
                      </a:lnTo>
                      <a:lnTo>
                        <a:pt x="43" y="16"/>
                      </a:lnTo>
                      <a:lnTo>
                        <a:pt x="28" y="16"/>
                      </a:lnTo>
                      <a:lnTo>
                        <a:pt x="14" y="16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79" name="Freeform 1161"/>
                <p:cNvSpPr>
                  <a:spLocks/>
                </p:cNvSpPr>
                <p:nvPr/>
              </p:nvSpPr>
              <p:spPr bwMode="auto">
                <a:xfrm>
                  <a:off x="3945" y="1497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80" name="Freeform 1162"/>
                <p:cNvSpPr>
                  <a:spLocks/>
                </p:cNvSpPr>
                <p:nvPr/>
              </p:nvSpPr>
              <p:spPr bwMode="auto">
                <a:xfrm>
                  <a:off x="3897" y="1494"/>
                  <a:ext cx="20" cy="17"/>
                </a:xfrm>
                <a:custGeom>
                  <a:avLst/>
                  <a:gdLst>
                    <a:gd name="T0" fmla="*/ 5 w 20"/>
                    <a:gd name="T1" fmla="*/ 16 h 17"/>
                    <a:gd name="T2" fmla="*/ 3 w 20"/>
                    <a:gd name="T3" fmla="*/ 15 h 17"/>
                    <a:gd name="T4" fmla="*/ 2 w 20"/>
                    <a:gd name="T5" fmla="*/ 15 h 17"/>
                    <a:gd name="T6" fmla="*/ 1 w 20"/>
                    <a:gd name="T7" fmla="*/ 14 h 17"/>
                    <a:gd name="T8" fmla="*/ 1 w 20"/>
                    <a:gd name="T9" fmla="*/ 12 h 17"/>
                    <a:gd name="T10" fmla="*/ 0 w 20"/>
                    <a:gd name="T11" fmla="*/ 12 h 17"/>
                    <a:gd name="T12" fmla="*/ 0 w 20"/>
                    <a:gd name="T13" fmla="*/ 10 h 17"/>
                    <a:gd name="T14" fmla="*/ 0 w 20"/>
                    <a:gd name="T15" fmla="*/ 8 h 17"/>
                    <a:gd name="T16" fmla="*/ 0 w 20"/>
                    <a:gd name="T17" fmla="*/ 6 h 17"/>
                    <a:gd name="T18" fmla="*/ 0 w 20"/>
                    <a:gd name="T19" fmla="*/ 4 h 17"/>
                    <a:gd name="T20" fmla="*/ 0 w 20"/>
                    <a:gd name="T21" fmla="*/ 3 h 17"/>
                    <a:gd name="T22" fmla="*/ 1 w 20"/>
                    <a:gd name="T23" fmla="*/ 2 h 17"/>
                    <a:gd name="T24" fmla="*/ 2 w 20"/>
                    <a:gd name="T25" fmla="*/ 1 h 17"/>
                    <a:gd name="T26" fmla="*/ 3 w 20"/>
                    <a:gd name="T27" fmla="*/ 0 h 17"/>
                    <a:gd name="T28" fmla="*/ 4 w 20"/>
                    <a:gd name="T29" fmla="*/ 0 h 17"/>
                    <a:gd name="T30" fmla="*/ 5 w 20"/>
                    <a:gd name="T31" fmla="*/ 0 h 17"/>
                    <a:gd name="T32" fmla="*/ 12 w 20"/>
                    <a:gd name="T33" fmla="*/ 0 h 17"/>
                    <a:gd name="T34" fmla="*/ 13 w 20"/>
                    <a:gd name="T35" fmla="*/ 0 h 17"/>
                    <a:gd name="T36" fmla="*/ 15 w 20"/>
                    <a:gd name="T37" fmla="*/ 0 h 17"/>
                    <a:gd name="T38" fmla="*/ 16 w 20"/>
                    <a:gd name="T39" fmla="*/ 1 h 17"/>
                    <a:gd name="T40" fmla="*/ 17 w 20"/>
                    <a:gd name="T41" fmla="*/ 3 h 17"/>
                    <a:gd name="T42" fmla="*/ 17 w 20"/>
                    <a:gd name="T43" fmla="*/ 3 h 17"/>
                    <a:gd name="T44" fmla="*/ 18 w 20"/>
                    <a:gd name="T45" fmla="*/ 5 h 17"/>
                    <a:gd name="T46" fmla="*/ 18 w 20"/>
                    <a:gd name="T47" fmla="*/ 7 h 17"/>
                    <a:gd name="T48" fmla="*/ 18 w 20"/>
                    <a:gd name="T49" fmla="*/ 8 h 17"/>
                    <a:gd name="T50" fmla="*/ 18 w 20"/>
                    <a:gd name="T51" fmla="*/ 10 h 17"/>
                    <a:gd name="T52" fmla="*/ 17 w 20"/>
                    <a:gd name="T53" fmla="*/ 12 h 17"/>
                    <a:gd name="T54" fmla="*/ 16 w 20"/>
                    <a:gd name="T55" fmla="*/ 13 h 17"/>
                    <a:gd name="T56" fmla="*/ 15 w 20"/>
                    <a:gd name="T57" fmla="*/ 15 h 17"/>
                    <a:gd name="T58" fmla="*/ 13 w 20"/>
                    <a:gd name="T59" fmla="*/ 15 h 17"/>
                    <a:gd name="T60" fmla="*/ 13 w 20"/>
                    <a:gd name="T61" fmla="*/ 16 h 17"/>
                    <a:gd name="T62" fmla="*/ 12 w 20"/>
                    <a:gd name="T63" fmla="*/ 16 h 17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20"/>
                    <a:gd name="T97" fmla="*/ 0 h 17"/>
                    <a:gd name="T98" fmla="*/ 20 w 20"/>
                    <a:gd name="T99" fmla="*/ 17 h 17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20" h="17">
                      <a:moveTo>
                        <a:pt x="5" y="16"/>
                      </a:moveTo>
                      <a:lnTo>
                        <a:pt x="5" y="16"/>
                      </a:lnTo>
                      <a:lnTo>
                        <a:pt x="4" y="16"/>
                      </a:lnTo>
                      <a:lnTo>
                        <a:pt x="3" y="15"/>
                      </a:lnTo>
                      <a:lnTo>
                        <a:pt x="2" y="15"/>
                      </a:lnTo>
                      <a:lnTo>
                        <a:pt x="2" y="14"/>
                      </a:lnTo>
                      <a:lnTo>
                        <a:pt x="1" y="14"/>
                      </a:lnTo>
                      <a:lnTo>
                        <a:pt x="1" y="13"/>
                      </a:lnTo>
                      <a:lnTo>
                        <a:pt x="1" y="12"/>
                      </a:lnTo>
                      <a:lnTo>
                        <a:pt x="0" y="12"/>
                      </a:lnTo>
                      <a:lnTo>
                        <a:pt x="0" y="11"/>
                      </a:lnTo>
                      <a:lnTo>
                        <a:pt x="0" y="10"/>
                      </a:lnTo>
                      <a:lnTo>
                        <a:pt x="0" y="9"/>
                      </a:lnTo>
                      <a:lnTo>
                        <a:pt x="0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1" y="3"/>
                      </a:lnTo>
                      <a:lnTo>
                        <a:pt x="1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5" y="0"/>
                      </a:lnTo>
                      <a:lnTo>
                        <a:pt x="12" y="0"/>
                      </a:lnTo>
                      <a:lnTo>
                        <a:pt x="13" y="0"/>
                      </a:lnTo>
                      <a:lnTo>
                        <a:pt x="15" y="0"/>
                      </a:lnTo>
                      <a:lnTo>
                        <a:pt x="16" y="1"/>
                      </a:lnTo>
                      <a:lnTo>
                        <a:pt x="16" y="2"/>
                      </a:lnTo>
                      <a:lnTo>
                        <a:pt x="17" y="3"/>
                      </a:lnTo>
                      <a:lnTo>
                        <a:pt x="18" y="4"/>
                      </a:lnTo>
                      <a:lnTo>
                        <a:pt x="18" y="5"/>
                      </a:lnTo>
                      <a:lnTo>
                        <a:pt x="18" y="6"/>
                      </a:lnTo>
                      <a:lnTo>
                        <a:pt x="18" y="7"/>
                      </a:lnTo>
                      <a:lnTo>
                        <a:pt x="19" y="8"/>
                      </a:lnTo>
                      <a:lnTo>
                        <a:pt x="18" y="8"/>
                      </a:lnTo>
                      <a:lnTo>
                        <a:pt x="18" y="9"/>
                      </a:lnTo>
                      <a:lnTo>
                        <a:pt x="18" y="10"/>
                      </a:lnTo>
                      <a:lnTo>
                        <a:pt x="18" y="11"/>
                      </a:lnTo>
                      <a:lnTo>
                        <a:pt x="17" y="12"/>
                      </a:lnTo>
                      <a:lnTo>
                        <a:pt x="16" y="13"/>
                      </a:lnTo>
                      <a:lnTo>
                        <a:pt x="16" y="14"/>
                      </a:lnTo>
                      <a:lnTo>
                        <a:pt x="15" y="15"/>
                      </a:lnTo>
                      <a:lnTo>
                        <a:pt x="13" y="15"/>
                      </a:lnTo>
                      <a:lnTo>
                        <a:pt x="13" y="16"/>
                      </a:lnTo>
                      <a:lnTo>
                        <a:pt x="12" y="16"/>
                      </a:lnTo>
                      <a:lnTo>
                        <a:pt x="5" y="16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81" name="Freeform 1163"/>
                <p:cNvSpPr>
                  <a:spLocks/>
                </p:cNvSpPr>
                <p:nvPr/>
              </p:nvSpPr>
              <p:spPr bwMode="auto">
                <a:xfrm>
                  <a:off x="3921" y="1489"/>
                  <a:ext cx="17" cy="38"/>
                </a:xfrm>
                <a:custGeom>
                  <a:avLst/>
                  <a:gdLst>
                    <a:gd name="T0" fmla="*/ 8 w 17"/>
                    <a:gd name="T1" fmla="*/ 0 h 38"/>
                    <a:gd name="T2" fmla="*/ 0 w 17"/>
                    <a:gd name="T3" fmla="*/ 22 h 38"/>
                    <a:gd name="T4" fmla="*/ 16 w 17"/>
                    <a:gd name="T5" fmla="*/ 22 h 38"/>
                    <a:gd name="T6" fmla="*/ 16 w 17"/>
                    <a:gd name="T7" fmla="*/ 37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38"/>
                    <a:gd name="T14" fmla="*/ 17 w 17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38">
                      <a:moveTo>
                        <a:pt x="8" y="0"/>
                      </a:moveTo>
                      <a:lnTo>
                        <a:pt x="0" y="22"/>
                      </a:lnTo>
                      <a:lnTo>
                        <a:pt x="16" y="22"/>
                      </a:lnTo>
                      <a:lnTo>
                        <a:pt x="16" y="37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82" name="Freeform 1164"/>
                <p:cNvSpPr>
                  <a:spLocks/>
                </p:cNvSpPr>
                <p:nvPr/>
              </p:nvSpPr>
              <p:spPr bwMode="auto">
                <a:xfrm>
                  <a:off x="3979" y="1489"/>
                  <a:ext cx="17" cy="72"/>
                </a:xfrm>
                <a:custGeom>
                  <a:avLst/>
                  <a:gdLst>
                    <a:gd name="T0" fmla="*/ 0 w 17"/>
                    <a:gd name="T1" fmla="*/ 0 h 72"/>
                    <a:gd name="T2" fmla="*/ 16 w 17"/>
                    <a:gd name="T3" fmla="*/ 22 h 72"/>
                    <a:gd name="T4" fmla="*/ 0 w 17"/>
                    <a:gd name="T5" fmla="*/ 22 h 72"/>
                    <a:gd name="T6" fmla="*/ 0 w 17"/>
                    <a:gd name="T7" fmla="*/ 71 h 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72"/>
                    <a:gd name="T14" fmla="*/ 17 w 17"/>
                    <a:gd name="T15" fmla="*/ 72 h 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72">
                      <a:moveTo>
                        <a:pt x="0" y="0"/>
                      </a:moveTo>
                      <a:lnTo>
                        <a:pt x="16" y="22"/>
                      </a:lnTo>
                      <a:lnTo>
                        <a:pt x="0" y="22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83" name="Freeform 1165"/>
                <p:cNvSpPr>
                  <a:spLocks/>
                </p:cNvSpPr>
                <p:nvPr/>
              </p:nvSpPr>
              <p:spPr bwMode="auto">
                <a:xfrm>
                  <a:off x="3855" y="1532"/>
                  <a:ext cx="250" cy="41"/>
                </a:xfrm>
                <a:custGeom>
                  <a:avLst/>
                  <a:gdLst>
                    <a:gd name="T0" fmla="*/ 0 w 250"/>
                    <a:gd name="T1" fmla="*/ 40 h 41"/>
                    <a:gd name="T2" fmla="*/ 249 w 250"/>
                    <a:gd name="T3" fmla="*/ 40 h 41"/>
                    <a:gd name="T4" fmla="*/ 240 w 250"/>
                    <a:gd name="T5" fmla="*/ 0 h 41"/>
                    <a:gd name="T6" fmla="*/ 10 w 250"/>
                    <a:gd name="T7" fmla="*/ 0 h 41"/>
                    <a:gd name="T8" fmla="*/ 0 w 250"/>
                    <a:gd name="T9" fmla="*/ 40 h 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0"/>
                    <a:gd name="T16" fmla="*/ 0 h 41"/>
                    <a:gd name="T17" fmla="*/ 250 w 250"/>
                    <a:gd name="T18" fmla="*/ 41 h 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0" h="41">
                      <a:moveTo>
                        <a:pt x="0" y="40"/>
                      </a:moveTo>
                      <a:lnTo>
                        <a:pt x="249" y="40"/>
                      </a:lnTo>
                      <a:lnTo>
                        <a:pt x="240" y="0"/>
                      </a:lnTo>
                      <a:lnTo>
                        <a:pt x="10" y="0"/>
                      </a:lnTo>
                      <a:lnTo>
                        <a:pt x="0" y="40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84" name="Freeform 1166"/>
                <p:cNvSpPr>
                  <a:spLocks/>
                </p:cNvSpPr>
                <p:nvPr/>
              </p:nvSpPr>
              <p:spPr bwMode="auto">
                <a:xfrm>
                  <a:off x="3855" y="1572"/>
                  <a:ext cx="251" cy="17"/>
                </a:xfrm>
                <a:custGeom>
                  <a:avLst/>
                  <a:gdLst>
                    <a:gd name="T0" fmla="*/ 0 w 251"/>
                    <a:gd name="T1" fmla="*/ 16 h 17"/>
                    <a:gd name="T2" fmla="*/ 0 w 251"/>
                    <a:gd name="T3" fmla="*/ 0 h 17"/>
                    <a:gd name="T4" fmla="*/ 249 w 251"/>
                    <a:gd name="T5" fmla="*/ 0 h 17"/>
                    <a:gd name="T6" fmla="*/ 250 w 251"/>
                    <a:gd name="T7" fmla="*/ 16 h 17"/>
                    <a:gd name="T8" fmla="*/ 0 w 251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1"/>
                    <a:gd name="T16" fmla="*/ 0 h 17"/>
                    <a:gd name="T17" fmla="*/ 251 w 251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1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249" y="0"/>
                      </a:lnTo>
                      <a:lnTo>
                        <a:pt x="250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CCCC6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85" name="Freeform 1167"/>
                <p:cNvSpPr>
                  <a:spLocks/>
                </p:cNvSpPr>
                <p:nvPr/>
              </p:nvSpPr>
              <p:spPr bwMode="auto">
                <a:xfrm>
                  <a:off x="3872" y="1538"/>
                  <a:ext cx="223" cy="28"/>
                </a:xfrm>
                <a:custGeom>
                  <a:avLst/>
                  <a:gdLst>
                    <a:gd name="T0" fmla="*/ 0 w 223"/>
                    <a:gd name="T1" fmla="*/ 27 h 28"/>
                    <a:gd name="T2" fmla="*/ 222 w 223"/>
                    <a:gd name="T3" fmla="*/ 27 h 28"/>
                    <a:gd name="T4" fmla="*/ 214 w 223"/>
                    <a:gd name="T5" fmla="*/ 0 h 28"/>
                    <a:gd name="T6" fmla="*/ 8 w 223"/>
                    <a:gd name="T7" fmla="*/ 0 h 28"/>
                    <a:gd name="T8" fmla="*/ 0 w 223"/>
                    <a:gd name="T9" fmla="*/ 27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3"/>
                    <a:gd name="T16" fmla="*/ 0 h 28"/>
                    <a:gd name="T17" fmla="*/ 223 w 223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3" h="28">
                      <a:moveTo>
                        <a:pt x="0" y="27"/>
                      </a:moveTo>
                      <a:lnTo>
                        <a:pt x="222" y="27"/>
                      </a:lnTo>
                      <a:lnTo>
                        <a:pt x="214" y="0"/>
                      </a:lnTo>
                      <a:lnTo>
                        <a:pt x="8" y="0"/>
                      </a:lnTo>
                      <a:lnTo>
                        <a:pt x="0" y="27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0273" name="Group 1168"/>
              <p:cNvGrpSpPr>
                <a:grpSpLocks/>
              </p:cNvGrpSpPr>
              <p:nvPr/>
            </p:nvGrpSpPr>
            <p:grpSpPr bwMode="auto">
              <a:xfrm>
                <a:off x="1008" y="1588"/>
                <a:ext cx="245" cy="176"/>
                <a:chOff x="3840" y="1279"/>
                <a:chExt cx="266" cy="310"/>
              </a:xfrm>
            </p:grpSpPr>
            <p:sp>
              <p:nvSpPr>
                <p:cNvPr id="10674" name="Freeform 1169"/>
                <p:cNvSpPr>
                  <a:spLocks/>
                </p:cNvSpPr>
                <p:nvPr/>
              </p:nvSpPr>
              <p:spPr bwMode="auto">
                <a:xfrm>
                  <a:off x="3848" y="1548"/>
                  <a:ext cx="206" cy="20"/>
                </a:xfrm>
                <a:custGeom>
                  <a:avLst/>
                  <a:gdLst>
                    <a:gd name="T0" fmla="*/ 0 w 206"/>
                    <a:gd name="T1" fmla="*/ 19 h 20"/>
                    <a:gd name="T2" fmla="*/ 0 w 206"/>
                    <a:gd name="T3" fmla="*/ 0 h 20"/>
                    <a:gd name="T4" fmla="*/ 205 w 206"/>
                    <a:gd name="T5" fmla="*/ 0 h 20"/>
                    <a:gd name="T6" fmla="*/ 205 w 206"/>
                    <a:gd name="T7" fmla="*/ 19 h 20"/>
                    <a:gd name="T8" fmla="*/ 0 w 206"/>
                    <a:gd name="T9" fmla="*/ 19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6"/>
                    <a:gd name="T16" fmla="*/ 0 h 20"/>
                    <a:gd name="T17" fmla="*/ 206 w 206"/>
                    <a:gd name="T18" fmla="*/ 20 h 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6" h="20">
                      <a:moveTo>
                        <a:pt x="0" y="19"/>
                      </a:moveTo>
                      <a:lnTo>
                        <a:pt x="0" y="0"/>
                      </a:lnTo>
                      <a:lnTo>
                        <a:pt x="205" y="0"/>
                      </a:lnTo>
                      <a:lnTo>
                        <a:pt x="205" y="19"/>
                      </a:lnTo>
                      <a:lnTo>
                        <a:pt x="0" y="19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75" name="Freeform 1170"/>
                <p:cNvSpPr>
                  <a:spLocks/>
                </p:cNvSpPr>
                <p:nvPr/>
              </p:nvSpPr>
              <p:spPr bwMode="auto">
                <a:xfrm>
                  <a:off x="3840" y="1453"/>
                  <a:ext cx="220" cy="34"/>
                </a:xfrm>
                <a:custGeom>
                  <a:avLst/>
                  <a:gdLst>
                    <a:gd name="T0" fmla="*/ 189 w 220"/>
                    <a:gd name="T1" fmla="*/ 0 h 34"/>
                    <a:gd name="T2" fmla="*/ 219 w 220"/>
                    <a:gd name="T3" fmla="*/ 33 h 34"/>
                    <a:gd name="T4" fmla="*/ 0 w 220"/>
                    <a:gd name="T5" fmla="*/ 33 h 34"/>
                    <a:gd name="T6" fmla="*/ 29 w 220"/>
                    <a:gd name="T7" fmla="*/ 0 h 34"/>
                    <a:gd name="T8" fmla="*/ 189 w 220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34"/>
                    <a:gd name="T17" fmla="*/ 220 w 220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34">
                      <a:moveTo>
                        <a:pt x="189" y="0"/>
                      </a:moveTo>
                      <a:lnTo>
                        <a:pt x="219" y="33"/>
                      </a:lnTo>
                      <a:lnTo>
                        <a:pt x="0" y="33"/>
                      </a:lnTo>
                      <a:lnTo>
                        <a:pt x="29" y="0"/>
                      </a:lnTo>
                      <a:lnTo>
                        <a:pt x="189" y="0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76" name="Freeform 1171"/>
                <p:cNvSpPr>
                  <a:spLocks/>
                </p:cNvSpPr>
                <p:nvPr/>
              </p:nvSpPr>
              <p:spPr bwMode="auto">
                <a:xfrm>
                  <a:off x="3897" y="1449"/>
                  <a:ext cx="104" cy="24"/>
                </a:xfrm>
                <a:custGeom>
                  <a:avLst/>
                  <a:gdLst>
                    <a:gd name="T0" fmla="*/ 102 w 104"/>
                    <a:gd name="T1" fmla="*/ 10 h 24"/>
                    <a:gd name="T2" fmla="*/ 101 w 104"/>
                    <a:gd name="T3" fmla="*/ 8 h 24"/>
                    <a:gd name="T4" fmla="*/ 97 w 104"/>
                    <a:gd name="T5" fmla="*/ 6 h 24"/>
                    <a:gd name="T6" fmla="*/ 93 w 104"/>
                    <a:gd name="T7" fmla="*/ 4 h 24"/>
                    <a:gd name="T8" fmla="*/ 87 w 104"/>
                    <a:gd name="T9" fmla="*/ 3 h 24"/>
                    <a:gd name="T10" fmla="*/ 80 w 104"/>
                    <a:gd name="T11" fmla="*/ 2 h 24"/>
                    <a:gd name="T12" fmla="*/ 72 w 104"/>
                    <a:gd name="T13" fmla="*/ 1 h 24"/>
                    <a:gd name="T14" fmla="*/ 64 w 104"/>
                    <a:gd name="T15" fmla="*/ 0 h 24"/>
                    <a:gd name="T16" fmla="*/ 55 w 104"/>
                    <a:gd name="T17" fmla="*/ 0 h 24"/>
                    <a:gd name="T18" fmla="*/ 46 w 104"/>
                    <a:gd name="T19" fmla="*/ 0 h 24"/>
                    <a:gd name="T20" fmla="*/ 37 w 104"/>
                    <a:gd name="T21" fmla="*/ 0 h 24"/>
                    <a:gd name="T22" fmla="*/ 29 w 104"/>
                    <a:gd name="T23" fmla="*/ 1 h 24"/>
                    <a:gd name="T24" fmla="*/ 21 w 104"/>
                    <a:gd name="T25" fmla="*/ 2 h 24"/>
                    <a:gd name="T26" fmla="*/ 14 w 104"/>
                    <a:gd name="T27" fmla="*/ 3 h 24"/>
                    <a:gd name="T28" fmla="*/ 8 w 104"/>
                    <a:gd name="T29" fmla="*/ 4 h 24"/>
                    <a:gd name="T30" fmla="*/ 4 w 104"/>
                    <a:gd name="T31" fmla="*/ 6 h 24"/>
                    <a:gd name="T32" fmla="*/ 1 w 104"/>
                    <a:gd name="T33" fmla="*/ 8 h 24"/>
                    <a:gd name="T34" fmla="*/ 0 w 104"/>
                    <a:gd name="T35" fmla="*/ 10 h 24"/>
                    <a:gd name="T36" fmla="*/ 0 w 104"/>
                    <a:gd name="T37" fmla="*/ 12 h 24"/>
                    <a:gd name="T38" fmla="*/ 1 w 104"/>
                    <a:gd name="T39" fmla="*/ 14 h 24"/>
                    <a:gd name="T40" fmla="*/ 4 w 104"/>
                    <a:gd name="T41" fmla="*/ 16 h 24"/>
                    <a:gd name="T42" fmla="*/ 8 w 104"/>
                    <a:gd name="T43" fmla="*/ 17 h 24"/>
                    <a:gd name="T44" fmla="*/ 14 w 104"/>
                    <a:gd name="T45" fmla="*/ 19 h 24"/>
                    <a:gd name="T46" fmla="*/ 21 w 104"/>
                    <a:gd name="T47" fmla="*/ 20 h 24"/>
                    <a:gd name="T48" fmla="*/ 29 w 104"/>
                    <a:gd name="T49" fmla="*/ 21 h 24"/>
                    <a:gd name="T50" fmla="*/ 37 w 104"/>
                    <a:gd name="T51" fmla="*/ 22 h 24"/>
                    <a:gd name="T52" fmla="*/ 46 w 104"/>
                    <a:gd name="T53" fmla="*/ 23 h 24"/>
                    <a:gd name="T54" fmla="*/ 55 w 104"/>
                    <a:gd name="T55" fmla="*/ 23 h 24"/>
                    <a:gd name="T56" fmla="*/ 64 w 104"/>
                    <a:gd name="T57" fmla="*/ 22 h 24"/>
                    <a:gd name="T58" fmla="*/ 72 w 104"/>
                    <a:gd name="T59" fmla="*/ 21 h 24"/>
                    <a:gd name="T60" fmla="*/ 80 w 104"/>
                    <a:gd name="T61" fmla="*/ 20 h 24"/>
                    <a:gd name="T62" fmla="*/ 87 w 104"/>
                    <a:gd name="T63" fmla="*/ 19 h 24"/>
                    <a:gd name="T64" fmla="*/ 93 w 104"/>
                    <a:gd name="T65" fmla="*/ 17 h 24"/>
                    <a:gd name="T66" fmla="*/ 97 w 104"/>
                    <a:gd name="T67" fmla="*/ 16 h 24"/>
                    <a:gd name="T68" fmla="*/ 101 w 104"/>
                    <a:gd name="T69" fmla="*/ 14 h 24"/>
                    <a:gd name="T70" fmla="*/ 102 w 104"/>
                    <a:gd name="T71" fmla="*/ 12 h 24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104"/>
                    <a:gd name="T109" fmla="*/ 0 h 24"/>
                    <a:gd name="T110" fmla="*/ 104 w 104"/>
                    <a:gd name="T111" fmla="*/ 24 h 24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104" h="24">
                      <a:moveTo>
                        <a:pt x="103" y="11"/>
                      </a:moveTo>
                      <a:lnTo>
                        <a:pt x="102" y="10"/>
                      </a:lnTo>
                      <a:lnTo>
                        <a:pt x="102" y="9"/>
                      </a:lnTo>
                      <a:lnTo>
                        <a:pt x="101" y="8"/>
                      </a:lnTo>
                      <a:lnTo>
                        <a:pt x="99" y="7"/>
                      </a:lnTo>
                      <a:lnTo>
                        <a:pt x="97" y="6"/>
                      </a:lnTo>
                      <a:lnTo>
                        <a:pt x="95" y="6"/>
                      </a:lnTo>
                      <a:lnTo>
                        <a:pt x="93" y="4"/>
                      </a:lnTo>
                      <a:lnTo>
                        <a:pt x="90" y="4"/>
                      </a:lnTo>
                      <a:lnTo>
                        <a:pt x="87" y="3"/>
                      </a:lnTo>
                      <a:lnTo>
                        <a:pt x="84" y="2"/>
                      </a:lnTo>
                      <a:lnTo>
                        <a:pt x="80" y="2"/>
                      </a:lnTo>
                      <a:lnTo>
                        <a:pt x="76" y="1"/>
                      </a:lnTo>
                      <a:lnTo>
                        <a:pt x="72" y="1"/>
                      </a:lnTo>
                      <a:lnTo>
                        <a:pt x="69" y="0"/>
                      </a:lnTo>
                      <a:lnTo>
                        <a:pt x="64" y="0"/>
                      </a:lnTo>
                      <a:lnTo>
                        <a:pt x="60" y="0"/>
                      </a:lnTo>
                      <a:lnTo>
                        <a:pt x="55" y="0"/>
                      </a:lnTo>
                      <a:lnTo>
                        <a:pt x="51" y="0"/>
                      </a:lnTo>
                      <a:lnTo>
                        <a:pt x="46" y="0"/>
                      </a:lnTo>
                      <a:lnTo>
                        <a:pt x="42" y="0"/>
                      </a:lnTo>
                      <a:lnTo>
                        <a:pt x="37" y="0"/>
                      </a:lnTo>
                      <a:lnTo>
                        <a:pt x="33" y="0"/>
                      </a:lnTo>
                      <a:lnTo>
                        <a:pt x="29" y="1"/>
                      </a:lnTo>
                      <a:lnTo>
                        <a:pt x="25" y="1"/>
                      </a:lnTo>
                      <a:lnTo>
                        <a:pt x="21" y="2"/>
                      </a:lnTo>
                      <a:lnTo>
                        <a:pt x="17" y="2"/>
                      </a:lnTo>
                      <a:lnTo>
                        <a:pt x="14" y="3"/>
                      </a:lnTo>
                      <a:lnTo>
                        <a:pt x="12" y="4"/>
                      </a:lnTo>
                      <a:lnTo>
                        <a:pt x="8" y="4"/>
                      </a:lnTo>
                      <a:lnTo>
                        <a:pt x="6" y="6"/>
                      </a:lnTo>
                      <a:lnTo>
                        <a:pt x="4" y="6"/>
                      </a:lnTo>
                      <a:lnTo>
                        <a:pt x="3" y="7"/>
                      </a:lnTo>
                      <a:lnTo>
                        <a:pt x="1" y="8"/>
                      </a:lnTo>
                      <a:lnTo>
                        <a:pt x="0" y="9"/>
                      </a:lnTo>
                      <a:lnTo>
                        <a:pt x="0" y="10"/>
                      </a:lnTo>
                      <a:lnTo>
                        <a:pt x="0" y="11"/>
                      </a:lnTo>
                      <a:lnTo>
                        <a:pt x="0" y="12"/>
                      </a:lnTo>
                      <a:lnTo>
                        <a:pt x="0" y="13"/>
                      </a:lnTo>
                      <a:lnTo>
                        <a:pt x="1" y="14"/>
                      </a:lnTo>
                      <a:lnTo>
                        <a:pt x="3" y="15"/>
                      </a:lnTo>
                      <a:lnTo>
                        <a:pt x="4" y="16"/>
                      </a:lnTo>
                      <a:lnTo>
                        <a:pt x="6" y="17"/>
                      </a:lnTo>
                      <a:lnTo>
                        <a:pt x="8" y="17"/>
                      </a:lnTo>
                      <a:lnTo>
                        <a:pt x="12" y="18"/>
                      </a:lnTo>
                      <a:lnTo>
                        <a:pt x="14" y="19"/>
                      </a:lnTo>
                      <a:lnTo>
                        <a:pt x="17" y="20"/>
                      </a:lnTo>
                      <a:lnTo>
                        <a:pt x="21" y="20"/>
                      </a:lnTo>
                      <a:lnTo>
                        <a:pt x="25" y="21"/>
                      </a:lnTo>
                      <a:lnTo>
                        <a:pt x="29" y="21"/>
                      </a:lnTo>
                      <a:lnTo>
                        <a:pt x="33" y="22"/>
                      </a:lnTo>
                      <a:lnTo>
                        <a:pt x="37" y="22"/>
                      </a:lnTo>
                      <a:lnTo>
                        <a:pt x="42" y="22"/>
                      </a:lnTo>
                      <a:lnTo>
                        <a:pt x="46" y="23"/>
                      </a:lnTo>
                      <a:lnTo>
                        <a:pt x="51" y="23"/>
                      </a:lnTo>
                      <a:lnTo>
                        <a:pt x="55" y="23"/>
                      </a:lnTo>
                      <a:lnTo>
                        <a:pt x="60" y="22"/>
                      </a:lnTo>
                      <a:lnTo>
                        <a:pt x="64" y="22"/>
                      </a:lnTo>
                      <a:lnTo>
                        <a:pt x="69" y="22"/>
                      </a:lnTo>
                      <a:lnTo>
                        <a:pt x="72" y="21"/>
                      </a:lnTo>
                      <a:lnTo>
                        <a:pt x="76" y="21"/>
                      </a:lnTo>
                      <a:lnTo>
                        <a:pt x="80" y="20"/>
                      </a:lnTo>
                      <a:lnTo>
                        <a:pt x="84" y="20"/>
                      </a:lnTo>
                      <a:lnTo>
                        <a:pt x="87" y="19"/>
                      </a:lnTo>
                      <a:lnTo>
                        <a:pt x="90" y="18"/>
                      </a:lnTo>
                      <a:lnTo>
                        <a:pt x="93" y="17"/>
                      </a:lnTo>
                      <a:lnTo>
                        <a:pt x="95" y="17"/>
                      </a:lnTo>
                      <a:lnTo>
                        <a:pt x="97" y="16"/>
                      </a:lnTo>
                      <a:lnTo>
                        <a:pt x="99" y="15"/>
                      </a:lnTo>
                      <a:lnTo>
                        <a:pt x="101" y="14"/>
                      </a:lnTo>
                      <a:lnTo>
                        <a:pt x="102" y="13"/>
                      </a:lnTo>
                      <a:lnTo>
                        <a:pt x="102" y="12"/>
                      </a:lnTo>
                      <a:lnTo>
                        <a:pt x="103" y="11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77" name="Freeform 1172"/>
                <p:cNvSpPr>
                  <a:spLocks/>
                </p:cNvSpPr>
                <p:nvPr/>
              </p:nvSpPr>
              <p:spPr bwMode="auto">
                <a:xfrm>
                  <a:off x="3897" y="1461"/>
                  <a:ext cx="104" cy="17"/>
                </a:xfrm>
                <a:custGeom>
                  <a:avLst/>
                  <a:gdLst>
                    <a:gd name="T0" fmla="*/ 102 w 104"/>
                    <a:gd name="T1" fmla="*/ 6 h 17"/>
                    <a:gd name="T2" fmla="*/ 101 w 104"/>
                    <a:gd name="T3" fmla="*/ 8 h 17"/>
                    <a:gd name="T4" fmla="*/ 97 w 104"/>
                    <a:gd name="T5" fmla="*/ 10 h 17"/>
                    <a:gd name="T6" fmla="*/ 93 w 104"/>
                    <a:gd name="T7" fmla="*/ 11 h 17"/>
                    <a:gd name="T8" fmla="*/ 87 w 104"/>
                    <a:gd name="T9" fmla="*/ 12 h 17"/>
                    <a:gd name="T10" fmla="*/ 80 w 104"/>
                    <a:gd name="T11" fmla="*/ 14 h 17"/>
                    <a:gd name="T12" fmla="*/ 72 w 104"/>
                    <a:gd name="T13" fmla="*/ 14 h 17"/>
                    <a:gd name="T14" fmla="*/ 64 w 104"/>
                    <a:gd name="T15" fmla="*/ 15 h 17"/>
                    <a:gd name="T16" fmla="*/ 55 w 104"/>
                    <a:gd name="T17" fmla="*/ 16 h 17"/>
                    <a:gd name="T18" fmla="*/ 46 w 104"/>
                    <a:gd name="T19" fmla="*/ 16 h 17"/>
                    <a:gd name="T20" fmla="*/ 37 w 104"/>
                    <a:gd name="T21" fmla="*/ 15 h 17"/>
                    <a:gd name="T22" fmla="*/ 29 w 104"/>
                    <a:gd name="T23" fmla="*/ 14 h 17"/>
                    <a:gd name="T24" fmla="*/ 21 w 104"/>
                    <a:gd name="T25" fmla="*/ 14 h 17"/>
                    <a:gd name="T26" fmla="*/ 14 w 104"/>
                    <a:gd name="T27" fmla="*/ 12 h 17"/>
                    <a:gd name="T28" fmla="*/ 8 w 104"/>
                    <a:gd name="T29" fmla="*/ 11 h 17"/>
                    <a:gd name="T30" fmla="*/ 4 w 104"/>
                    <a:gd name="T31" fmla="*/ 10 h 17"/>
                    <a:gd name="T32" fmla="*/ 1 w 104"/>
                    <a:gd name="T33" fmla="*/ 8 h 17"/>
                    <a:gd name="T34" fmla="*/ 0 w 104"/>
                    <a:gd name="T35" fmla="*/ 6 h 17"/>
                    <a:gd name="T36" fmla="*/ 0 w 104"/>
                    <a:gd name="T37" fmla="*/ 0 h 17"/>
                    <a:gd name="T38" fmla="*/ 0 w 104"/>
                    <a:gd name="T39" fmla="*/ 2 h 17"/>
                    <a:gd name="T40" fmla="*/ 3 w 104"/>
                    <a:gd name="T41" fmla="*/ 4 h 17"/>
                    <a:gd name="T42" fmla="*/ 6 w 104"/>
                    <a:gd name="T43" fmla="*/ 5 h 17"/>
                    <a:gd name="T44" fmla="*/ 12 w 104"/>
                    <a:gd name="T45" fmla="*/ 6 h 17"/>
                    <a:gd name="T46" fmla="*/ 17 w 104"/>
                    <a:gd name="T47" fmla="*/ 8 h 17"/>
                    <a:gd name="T48" fmla="*/ 25 w 104"/>
                    <a:gd name="T49" fmla="*/ 9 h 17"/>
                    <a:gd name="T50" fmla="*/ 33 w 104"/>
                    <a:gd name="T51" fmla="*/ 10 h 17"/>
                    <a:gd name="T52" fmla="*/ 42 w 104"/>
                    <a:gd name="T53" fmla="*/ 10 h 17"/>
                    <a:gd name="T54" fmla="*/ 51 w 104"/>
                    <a:gd name="T55" fmla="*/ 10 h 17"/>
                    <a:gd name="T56" fmla="*/ 60 w 104"/>
                    <a:gd name="T57" fmla="*/ 10 h 17"/>
                    <a:gd name="T58" fmla="*/ 69 w 104"/>
                    <a:gd name="T59" fmla="*/ 10 h 17"/>
                    <a:gd name="T60" fmla="*/ 76 w 104"/>
                    <a:gd name="T61" fmla="*/ 9 h 17"/>
                    <a:gd name="T62" fmla="*/ 84 w 104"/>
                    <a:gd name="T63" fmla="*/ 8 h 17"/>
                    <a:gd name="T64" fmla="*/ 90 w 104"/>
                    <a:gd name="T65" fmla="*/ 6 h 17"/>
                    <a:gd name="T66" fmla="*/ 95 w 104"/>
                    <a:gd name="T67" fmla="*/ 5 h 17"/>
                    <a:gd name="T68" fmla="*/ 99 w 104"/>
                    <a:gd name="T69" fmla="*/ 4 h 17"/>
                    <a:gd name="T70" fmla="*/ 102 w 104"/>
                    <a:gd name="T71" fmla="*/ 2 h 17"/>
                    <a:gd name="T72" fmla="*/ 103 w 104"/>
                    <a:gd name="T73" fmla="*/ 0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04"/>
                    <a:gd name="T112" fmla="*/ 0 h 17"/>
                    <a:gd name="T113" fmla="*/ 104 w 104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04" h="17">
                      <a:moveTo>
                        <a:pt x="103" y="5"/>
                      </a:moveTo>
                      <a:lnTo>
                        <a:pt x="102" y="6"/>
                      </a:lnTo>
                      <a:lnTo>
                        <a:pt x="102" y="7"/>
                      </a:lnTo>
                      <a:lnTo>
                        <a:pt x="101" y="8"/>
                      </a:lnTo>
                      <a:lnTo>
                        <a:pt x="99" y="8"/>
                      </a:lnTo>
                      <a:lnTo>
                        <a:pt x="97" y="10"/>
                      </a:lnTo>
                      <a:lnTo>
                        <a:pt x="95" y="10"/>
                      </a:lnTo>
                      <a:lnTo>
                        <a:pt x="93" y="11"/>
                      </a:lnTo>
                      <a:lnTo>
                        <a:pt x="90" y="12"/>
                      </a:lnTo>
                      <a:lnTo>
                        <a:pt x="87" y="12"/>
                      </a:lnTo>
                      <a:lnTo>
                        <a:pt x="84" y="13"/>
                      </a:lnTo>
                      <a:lnTo>
                        <a:pt x="80" y="14"/>
                      </a:lnTo>
                      <a:lnTo>
                        <a:pt x="76" y="14"/>
                      </a:lnTo>
                      <a:lnTo>
                        <a:pt x="72" y="14"/>
                      </a:lnTo>
                      <a:lnTo>
                        <a:pt x="69" y="15"/>
                      </a:lnTo>
                      <a:lnTo>
                        <a:pt x="64" y="15"/>
                      </a:lnTo>
                      <a:lnTo>
                        <a:pt x="60" y="16"/>
                      </a:lnTo>
                      <a:lnTo>
                        <a:pt x="55" y="16"/>
                      </a:lnTo>
                      <a:lnTo>
                        <a:pt x="51" y="16"/>
                      </a:lnTo>
                      <a:lnTo>
                        <a:pt x="46" y="16"/>
                      </a:lnTo>
                      <a:lnTo>
                        <a:pt x="42" y="16"/>
                      </a:lnTo>
                      <a:lnTo>
                        <a:pt x="37" y="15"/>
                      </a:lnTo>
                      <a:lnTo>
                        <a:pt x="33" y="15"/>
                      </a:lnTo>
                      <a:lnTo>
                        <a:pt x="29" y="14"/>
                      </a:lnTo>
                      <a:lnTo>
                        <a:pt x="25" y="14"/>
                      </a:lnTo>
                      <a:lnTo>
                        <a:pt x="21" y="14"/>
                      </a:lnTo>
                      <a:lnTo>
                        <a:pt x="17" y="13"/>
                      </a:lnTo>
                      <a:lnTo>
                        <a:pt x="14" y="12"/>
                      </a:lnTo>
                      <a:lnTo>
                        <a:pt x="12" y="12"/>
                      </a:lnTo>
                      <a:lnTo>
                        <a:pt x="8" y="11"/>
                      </a:lnTo>
                      <a:lnTo>
                        <a:pt x="6" y="10"/>
                      </a:lnTo>
                      <a:lnTo>
                        <a:pt x="4" y="10"/>
                      </a:lnTo>
                      <a:lnTo>
                        <a:pt x="3" y="8"/>
                      </a:lnTo>
                      <a:lnTo>
                        <a:pt x="1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1" y="2"/>
                      </a:lnTo>
                      <a:lnTo>
                        <a:pt x="3" y="4"/>
                      </a:lnTo>
                      <a:lnTo>
                        <a:pt x="4" y="4"/>
                      </a:lnTo>
                      <a:lnTo>
                        <a:pt x="6" y="5"/>
                      </a:lnTo>
                      <a:lnTo>
                        <a:pt x="8" y="6"/>
                      </a:lnTo>
                      <a:lnTo>
                        <a:pt x="12" y="6"/>
                      </a:lnTo>
                      <a:lnTo>
                        <a:pt x="14" y="7"/>
                      </a:lnTo>
                      <a:lnTo>
                        <a:pt x="17" y="8"/>
                      </a:lnTo>
                      <a:lnTo>
                        <a:pt x="21" y="8"/>
                      </a:lnTo>
                      <a:lnTo>
                        <a:pt x="25" y="9"/>
                      </a:lnTo>
                      <a:lnTo>
                        <a:pt x="29" y="10"/>
                      </a:lnTo>
                      <a:lnTo>
                        <a:pt x="33" y="10"/>
                      </a:lnTo>
                      <a:lnTo>
                        <a:pt x="37" y="10"/>
                      </a:lnTo>
                      <a:lnTo>
                        <a:pt x="42" y="10"/>
                      </a:lnTo>
                      <a:lnTo>
                        <a:pt x="46" y="10"/>
                      </a:lnTo>
                      <a:lnTo>
                        <a:pt x="51" y="10"/>
                      </a:lnTo>
                      <a:lnTo>
                        <a:pt x="55" y="10"/>
                      </a:lnTo>
                      <a:lnTo>
                        <a:pt x="60" y="10"/>
                      </a:lnTo>
                      <a:lnTo>
                        <a:pt x="64" y="10"/>
                      </a:lnTo>
                      <a:lnTo>
                        <a:pt x="69" y="10"/>
                      </a:lnTo>
                      <a:lnTo>
                        <a:pt x="72" y="10"/>
                      </a:lnTo>
                      <a:lnTo>
                        <a:pt x="76" y="9"/>
                      </a:lnTo>
                      <a:lnTo>
                        <a:pt x="80" y="8"/>
                      </a:lnTo>
                      <a:lnTo>
                        <a:pt x="84" y="8"/>
                      </a:lnTo>
                      <a:lnTo>
                        <a:pt x="87" y="7"/>
                      </a:lnTo>
                      <a:lnTo>
                        <a:pt x="90" y="6"/>
                      </a:lnTo>
                      <a:lnTo>
                        <a:pt x="93" y="6"/>
                      </a:lnTo>
                      <a:lnTo>
                        <a:pt x="95" y="5"/>
                      </a:lnTo>
                      <a:lnTo>
                        <a:pt x="97" y="4"/>
                      </a:lnTo>
                      <a:lnTo>
                        <a:pt x="99" y="4"/>
                      </a:lnTo>
                      <a:lnTo>
                        <a:pt x="101" y="2"/>
                      </a:lnTo>
                      <a:lnTo>
                        <a:pt x="102" y="2"/>
                      </a:lnTo>
                      <a:lnTo>
                        <a:pt x="102" y="1"/>
                      </a:lnTo>
                      <a:lnTo>
                        <a:pt x="103" y="0"/>
                      </a:lnTo>
                      <a:lnTo>
                        <a:pt x="103" y="5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78" name="Freeform 1173"/>
                <p:cNvSpPr>
                  <a:spLocks/>
                </p:cNvSpPr>
                <p:nvPr/>
              </p:nvSpPr>
              <p:spPr bwMode="auto">
                <a:xfrm>
                  <a:off x="3840" y="1486"/>
                  <a:ext cx="220" cy="77"/>
                </a:xfrm>
                <a:custGeom>
                  <a:avLst/>
                  <a:gdLst>
                    <a:gd name="T0" fmla="*/ 0 w 220"/>
                    <a:gd name="T1" fmla="*/ 76 h 77"/>
                    <a:gd name="T2" fmla="*/ 219 w 220"/>
                    <a:gd name="T3" fmla="*/ 76 h 77"/>
                    <a:gd name="T4" fmla="*/ 219 w 220"/>
                    <a:gd name="T5" fmla="*/ 0 h 77"/>
                    <a:gd name="T6" fmla="*/ 0 w 220"/>
                    <a:gd name="T7" fmla="*/ 0 h 77"/>
                    <a:gd name="T8" fmla="*/ 0 w 220"/>
                    <a:gd name="T9" fmla="*/ 76 h 7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77"/>
                    <a:gd name="T17" fmla="*/ 220 w 220"/>
                    <a:gd name="T18" fmla="*/ 77 h 7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77">
                      <a:moveTo>
                        <a:pt x="0" y="76"/>
                      </a:moveTo>
                      <a:lnTo>
                        <a:pt x="219" y="76"/>
                      </a:lnTo>
                      <a:lnTo>
                        <a:pt x="219" y="0"/>
                      </a:lnTo>
                      <a:lnTo>
                        <a:pt x="0" y="0"/>
                      </a:lnTo>
                      <a:lnTo>
                        <a:pt x="0" y="76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79" name="Freeform 1174"/>
                <p:cNvSpPr>
                  <a:spLocks/>
                </p:cNvSpPr>
                <p:nvPr/>
              </p:nvSpPr>
              <p:spPr bwMode="auto">
                <a:xfrm>
                  <a:off x="3875" y="1449"/>
                  <a:ext cx="69" cy="17"/>
                </a:xfrm>
                <a:custGeom>
                  <a:avLst/>
                  <a:gdLst>
                    <a:gd name="T0" fmla="*/ 0 w 69"/>
                    <a:gd name="T1" fmla="*/ 16 h 17"/>
                    <a:gd name="T2" fmla="*/ 0 w 69"/>
                    <a:gd name="T3" fmla="*/ 0 h 17"/>
                    <a:gd name="T4" fmla="*/ 68 w 69"/>
                    <a:gd name="T5" fmla="*/ 0 h 17"/>
                    <a:gd name="T6" fmla="*/ 68 w 69"/>
                    <a:gd name="T7" fmla="*/ 16 h 17"/>
                    <a:gd name="T8" fmla="*/ 0 w 69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9"/>
                    <a:gd name="T16" fmla="*/ 0 h 17"/>
                    <a:gd name="T17" fmla="*/ 69 w 69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9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68" y="0"/>
                      </a:lnTo>
                      <a:lnTo>
                        <a:pt x="68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80" name="Freeform 1175"/>
                <p:cNvSpPr>
                  <a:spLocks/>
                </p:cNvSpPr>
                <p:nvPr/>
              </p:nvSpPr>
              <p:spPr bwMode="auto">
                <a:xfrm>
                  <a:off x="3931" y="1450"/>
                  <a:ext cx="94" cy="17"/>
                </a:xfrm>
                <a:custGeom>
                  <a:avLst/>
                  <a:gdLst>
                    <a:gd name="T0" fmla="*/ 0 w 94"/>
                    <a:gd name="T1" fmla="*/ 16 h 17"/>
                    <a:gd name="T2" fmla="*/ 0 w 94"/>
                    <a:gd name="T3" fmla="*/ 0 h 17"/>
                    <a:gd name="T4" fmla="*/ 93 w 94"/>
                    <a:gd name="T5" fmla="*/ 0 h 17"/>
                    <a:gd name="T6" fmla="*/ 93 w 94"/>
                    <a:gd name="T7" fmla="*/ 16 h 17"/>
                    <a:gd name="T8" fmla="*/ 0 w 94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4"/>
                    <a:gd name="T16" fmla="*/ 0 h 17"/>
                    <a:gd name="T17" fmla="*/ 94 w 9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4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93" y="0"/>
                      </a:lnTo>
                      <a:lnTo>
                        <a:pt x="93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81" name="Freeform 1176"/>
                <p:cNvSpPr>
                  <a:spLocks/>
                </p:cNvSpPr>
                <p:nvPr/>
              </p:nvSpPr>
              <p:spPr bwMode="auto">
                <a:xfrm>
                  <a:off x="3877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82" name="Freeform 1177"/>
                <p:cNvSpPr>
                  <a:spLocks/>
                </p:cNvSpPr>
                <p:nvPr/>
              </p:nvSpPr>
              <p:spPr bwMode="auto">
                <a:xfrm>
                  <a:off x="388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4 w 17"/>
                    <a:gd name="T7" fmla="*/ 16 h 17"/>
                    <a:gd name="T8" fmla="*/ 8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83" name="Freeform 1178"/>
                <p:cNvSpPr>
                  <a:spLocks/>
                </p:cNvSpPr>
                <p:nvPr/>
              </p:nvSpPr>
              <p:spPr bwMode="auto">
                <a:xfrm>
                  <a:off x="388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84" name="Freeform 1179"/>
                <p:cNvSpPr>
                  <a:spLocks/>
                </p:cNvSpPr>
                <p:nvPr/>
              </p:nvSpPr>
              <p:spPr bwMode="auto">
                <a:xfrm>
                  <a:off x="388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85" name="Freeform 1180"/>
                <p:cNvSpPr>
                  <a:spLocks/>
                </p:cNvSpPr>
                <p:nvPr/>
              </p:nvSpPr>
              <p:spPr bwMode="auto">
                <a:xfrm>
                  <a:off x="388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86" name="Freeform 1181"/>
                <p:cNvSpPr>
                  <a:spLocks/>
                </p:cNvSpPr>
                <p:nvPr/>
              </p:nvSpPr>
              <p:spPr bwMode="auto">
                <a:xfrm>
                  <a:off x="389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87" name="Freeform 1182"/>
                <p:cNvSpPr>
                  <a:spLocks/>
                </p:cNvSpPr>
                <p:nvPr/>
              </p:nvSpPr>
              <p:spPr bwMode="auto">
                <a:xfrm>
                  <a:off x="389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88" name="Freeform 1183"/>
                <p:cNvSpPr>
                  <a:spLocks/>
                </p:cNvSpPr>
                <p:nvPr/>
              </p:nvSpPr>
              <p:spPr bwMode="auto">
                <a:xfrm>
                  <a:off x="3894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89" name="Freeform 1184"/>
                <p:cNvSpPr>
                  <a:spLocks/>
                </p:cNvSpPr>
                <p:nvPr/>
              </p:nvSpPr>
              <p:spPr bwMode="auto">
                <a:xfrm>
                  <a:off x="389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90" name="Freeform 1185"/>
                <p:cNvSpPr>
                  <a:spLocks/>
                </p:cNvSpPr>
                <p:nvPr/>
              </p:nvSpPr>
              <p:spPr bwMode="auto">
                <a:xfrm>
                  <a:off x="390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91" name="Freeform 1186"/>
                <p:cNvSpPr>
                  <a:spLocks/>
                </p:cNvSpPr>
                <p:nvPr/>
              </p:nvSpPr>
              <p:spPr bwMode="auto">
                <a:xfrm>
                  <a:off x="390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0 w 17"/>
                    <a:gd name="T5" fmla="*/ 16 h 17"/>
                    <a:gd name="T6" fmla="*/ 8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0" y="16"/>
                      </a:lnTo>
                      <a:lnTo>
                        <a:pt x="8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92" name="Freeform 1187"/>
                <p:cNvSpPr>
                  <a:spLocks/>
                </p:cNvSpPr>
                <p:nvPr/>
              </p:nvSpPr>
              <p:spPr bwMode="auto">
                <a:xfrm>
                  <a:off x="390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6 h 17"/>
                    <a:gd name="T6" fmla="*/ 8 w 17"/>
                    <a:gd name="T7" fmla="*/ 16 h 17"/>
                    <a:gd name="T8" fmla="*/ 12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93" name="Freeform 1188"/>
                <p:cNvSpPr>
                  <a:spLocks/>
                </p:cNvSpPr>
                <p:nvPr/>
              </p:nvSpPr>
              <p:spPr bwMode="auto">
                <a:xfrm>
                  <a:off x="390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94" name="Freeform 1189"/>
                <p:cNvSpPr>
                  <a:spLocks/>
                </p:cNvSpPr>
                <p:nvPr/>
              </p:nvSpPr>
              <p:spPr bwMode="auto">
                <a:xfrm>
                  <a:off x="391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95" name="Freeform 1190"/>
                <p:cNvSpPr>
                  <a:spLocks/>
                </p:cNvSpPr>
                <p:nvPr/>
              </p:nvSpPr>
              <p:spPr bwMode="auto">
                <a:xfrm>
                  <a:off x="391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96" name="Freeform 1191"/>
                <p:cNvSpPr>
                  <a:spLocks/>
                </p:cNvSpPr>
                <p:nvPr/>
              </p:nvSpPr>
              <p:spPr bwMode="auto">
                <a:xfrm>
                  <a:off x="3916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97" name="Freeform 1192"/>
                <p:cNvSpPr>
                  <a:spLocks/>
                </p:cNvSpPr>
                <p:nvPr/>
              </p:nvSpPr>
              <p:spPr bwMode="auto">
                <a:xfrm>
                  <a:off x="391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98" name="Freeform 1193"/>
                <p:cNvSpPr>
                  <a:spLocks/>
                </p:cNvSpPr>
                <p:nvPr/>
              </p:nvSpPr>
              <p:spPr bwMode="auto">
                <a:xfrm>
                  <a:off x="3921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99" name="Freeform 1194"/>
                <p:cNvSpPr>
                  <a:spLocks/>
                </p:cNvSpPr>
                <p:nvPr/>
              </p:nvSpPr>
              <p:spPr bwMode="auto">
                <a:xfrm>
                  <a:off x="392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00" name="Freeform 1195"/>
                <p:cNvSpPr>
                  <a:spLocks/>
                </p:cNvSpPr>
                <p:nvPr/>
              </p:nvSpPr>
              <p:spPr bwMode="auto">
                <a:xfrm>
                  <a:off x="392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01" name="Freeform 1196"/>
                <p:cNvSpPr>
                  <a:spLocks/>
                </p:cNvSpPr>
                <p:nvPr/>
              </p:nvSpPr>
              <p:spPr bwMode="auto">
                <a:xfrm>
                  <a:off x="3855" y="1279"/>
                  <a:ext cx="187" cy="174"/>
                </a:xfrm>
                <a:custGeom>
                  <a:avLst/>
                  <a:gdLst>
                    <a:gd name="T0" fmla="*/ 180 w 187"/>
                    <a:gd name="T1" fmla="*/ 173 h 174"/>
                    <a:gd name="T2" fmla="*/ 180 w 187"/>
                    <a:gd name="T3" fmla="*/ 173 h 174"/>
                    <a:gd name="T4" fmla="*/ 180 w 187"/>
                    <a:gd name="T5" fmla="*/ 172 h 174"/>
                    <a:gd name="T6" fmla="*/ 182 w 187"/>
                    <a:gd name="T7" fmla="*/ 172 h 174"/>
                    <a:gd name="T8" fmla="*/ 182 w 187"/>
                    <a:gd name="T9" fmla="*/ 172 h 174"/>
                    <a:gd name="T10" fmla="*/ 183 w 187"/>
                    <a:gd name="T11" fmla="*/ 171 h 174"/>
                    <a:gd name="T12" fmla="*/ 183 w 187"/>
                    <a:gd name="T13" fmla="*/ 171 h 174"/>
                    <a:gd name="T14" fmla="*/ 184 w 187"/>
                    <a:gd name="T15" fmla="*/ 171 h 174"/>
                    <a:gd name="T16" fmla="*/ 184 w 187"/>
                    <a:gd name="T17" fmla="*/ 170 h 174"/>
                    <a:gd name="T18" fmla="*/ 184 w 187"/>
                    <a:gd name="T19" fmla="*/ 170 h 174"/>
                    <a:gd name="T20" fmla="*/ 184 w 187"/>
                    <a:gd name="T21" fmla="*/ 169 h 174"/>
                    <a:gd name="T22" fmla="*/ 185 w 187"/>
                    <a:gd name="T23" fmla="*/ 169 h 174"/>
                    <a:gd name="T24" fmla="*/ 185 w 187"/>
                    <a:gd name="T25" fmla="*/ 168 h 174"/>
                    <a:gd name="T26" fmla="*/ 186 w 187"/>
                    <a:gd name="T27" fmla="*/ 167 h 174"/>
                    <a:gd name="T28" fmla="*/ 186 w 187"/>
                    <a:gd name="T29" fmla="*/ 167 h 174"/>
                    <a:gd name="T30" fmla="*/ 186 w 187"/>
                    <a:gd name="T31" fmla="*/ 6 h 174"/>
                    <a:gd name="T32" fmla="*/ 186 w 187"/>
                    <a:gd name="T33" fmla="*/ 5 h 174"/>
                    <a:gd name="T34" fmla="*/ 186 w 187"/>
                    <a:gd name="T35" fmla="*/ 5 h 174"/>
                    <a:gd name="T36" fmla="*/ 185 w 187"/>
                    <a:gd name="T37" fmla="*/ 5 h 174"/>
                    <a:gd name="T38" fmla="*/ 185 w 187"/>
                    <a:gd name="T39" fmla="*/ 3 h 174"/>
                    <a:gd name="T40" fmla="*/ 184 w 187"/>
                    <a:gd name="T41" fmla="*/ 3 h 174"/>
                    <a:gd name="T42" fmla="*/ 184 w 187"/>
                    <a:gd name="T43" fmla="*/ 2 h 174"/>
                    <a:gd name="T44" fmla="*/ 184 w 187"/>
                    <a:gd name="T45" fmla="*/ 1 h 174"/>
                    <a:gd name="T46" fmla="*/ 183 w 187"/>
                    <a:gd name="T47" fmla="*/ 1 h 174"/>
                    <a:gd name="T48" fmla="*/ 183 w 187"/>
                    <a:gd name="T49" fmla="*/ 1 h 174"/>
                    <a:gd name="T50" fmla="*/ 182 w 187"/>
                    <a:gd name="T51" fmla="*/ 1 h 174"/>
                    <a:gd name="T52" fmla="*/ 182 w 187"/>
                    <a:gd name="T53" fmla="*/ 0 h 174"/>
                    <a:gd name="T54" fmla="*/ 180 w 187"/>
                    <a:gd name="T55" fmla="*/ 0 h 174"/>
                    <a:gd name="T56" fmla="*/ 180 w 187"/>
                    <a:gd name="T57" fmla="*/ 0 h 174"/>
                    <a:gd name="T58" fmla="*/ 180 w 187"/>
                    <a:gd name="T59" fmla="*/ 0 h 174"/>
                    <a:gd name="T60" fmla="*/ 5 w 187"/>
                    <a:gd name="T61" fmla="*/ 0 h 174"/>
                    <a:gd name="T62" fmla="*/ 4 w 187"/>
                    <a:gd name="T63" fmla="*/ 0 h 174"/>
                    <a:gd name="T64" fmla="*/ 3 w 187"/>
                    <a:gd name="T65" fmla="*/ 0 h 174"/>
                    <a:gd name="T66" fmla="*/ 3 w 187"/>
                    <a:gd name="T67" fmla="*/ 0 h 174"/>
                    <a:gd name="T68" fmla="*/ 2 w 187"/>
                    <a:gd name="T69" fmla="*/ 0 h 174"/>
                    <a:gd name="T70" fmla="*/ 2 w 187"/>
                    <a:gd name="T71" fmla="*/ 1 h 174"/>
                    <a:gd name="T72" fmla="*/ 1 w 187"/>
                    <a:gd name="T73" fmla="*/ 1 h 174"/>
                    <a:gd name="T74" fmla="*/ 1 w 187"/>
                    <a:gd name="T75" fmla="*/ 1 h 174"/>
                    <a:gd name="T76" fmla="*/ 1 w 187"/>
                    <a:gd name="T77" fmla="*/ 2 h 174"/>
                    <a:gd name="T78" fmla="*/ 0 w 187"/>
                    <a:gd name="T79" fmla="*/ 3 h 174"/>
                    <a:gd name="T80" fmla="*/ 0 w 187"/>
                    <a:gd name="T81" fmla="*/ 3 h 174"/>
                    <a:gd name="T82" fmla="*/ 0 w 187"/>
                    <a:gd name="T83" fmla="*/ 3 h 174"/>
                    <a:gd name="T84" fmla="*/ 0 w 187"/>
                    <a:gd name="T85" fmla="*/ 5 h 174"/>
                    <a:gd name="T86" fmla="*/ 0 w 187"/>
                    <a:gd name="T87" fmla="*/ 5 h 174"/>
                    <a:gd name="T88" fmla="*/ 0 w 187"/>
                    <a:gd name="T89" fmla="*/ 6 h 174"/>
                    <a:gd name="T90" fmla="*/ 0 w 187"/>
                    <a:gd name="T91" fmla="*/ 167 h 174"/>
                    <a:gd name="T92" fmla="*/ 0 w 187"/>
                    <a:gd name="T93" fmla="*/ 167 h 174"/>
                    <a:gd name="T94" fmla="*/ 0 w 187"/>
                    <a:gd name="T95" fmla="*/ 168 h 174"/>
                    <a:gd name="T96" fmla="*/ 0 w 187"/>
                    <a:gd name="T97" fmla="*/ 169 h 174"/>
                    <a:gd name="T98" fmla="*/ 0 w 187"/>
                    <a:gd name="T99" fmla="*/ 169 h 174"/>
                    <a:gd name="T100" fmla="*/ 0 w 187"/>
                    <a:gd name="T101" fmla="*/ 170 h 174"/>
                    <a:gd name="T102" fmla="*/ 1 w 187"/>
                    <a:gd name="T103" fmla="*/ 170 h 174"/>
                    <a:gd name="T104" fmla="*/ 1 w 187"/>
                    <a:gd name="T105" fmla="*/ 171 h 174"/>
                    <a:gd name="T106" fmla="*/ 1 w 187"/>
                    <a:gd name="T107" fmla="*/ 171 h 174"/>
                    <a:gd name="T108" fmla="*/ 2 w 187"/>
                    <a:gd name="T109" fmla="*/ 171 h 174"/>
                    <a:gd name="T110" fmla="*/ 2 w 187"/>
                    <a:gd name="T111" fmla="*/ 172 h 174"/>
                    <a:gd name="T112" fmla="*/ 2 w 187"/>
                    <a:gd name="T113" fmla="*/ 172 h 174"/>
                    <a:gd name="T114" fmla="*/ 3 w 187"/>
                    <a:gd name="T115" fmla="*/ 172 h 174"/>
                    <a:gd name="T116" fmla="*/ 3 w 187"/>
                    <a:gd name="T117" fmla="*/ 172 h 174"/>
                    <a:gd name="T118" fmla="*/ 4 w 187"/>
                    <a:gd name="T119" fmla="*/ 173 h 174"/>
                    <a:gd name="T120" fmla="*/ 5 w 187"/>
                    <a:gd name="T121" fmla="*/ 173 h 174"/>
                    <a:gd name="T122" fmla="*/ 180 w 187"/>
                    <a:gd name="T123" fmla="*/ 173 h 174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w 187"/>
                    <a:gd name="T187" fmla="*/ 0 h 174"/>
                    <a:gd name="T188" fmla="*/ 187 w 187"/>
                    <a:gd name="T189" fmla="*/ 174 h 174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T186" t="T187" r="T188" b="T189"/>
                  <a:pathLst>
                    <a:path w="187" h="174">
                      <a:moveTo>
                        <a:pt x="180" y="173"/>
                      </a:moveTo>
                      <a:lnTo>
                        <a:pt x="180" y="173"/>
                      </a:lnTo>
                      <a:lnTo>
                        <a:pt x="180" y="172"/>
                      </a:lnTo>
                      <a:lnTo>
                        <a:pt x="182" y="172"/>
                      </a:lnTo>
                      <a:lnTo>
                        <a:pt x="183" y="171"/>
                      </a:lnTo>
                      <a:lnTo>
                        <a:pt x="184" y="171"/>
                      </a:lnTo>
                      <a:lnTo>
                        <a:pt x="184" y="170"/>
                      </a:lnTo>
                      <a:lnTo>
                        <a:pt x="184" y="169"/>
                      </a:lnTo>
                      <a:lnTo>
                        <a:pt x="185" y="169"/>
                      </a:lnTo>
                      <a:lnTo>
                        <a:pt x="185" y="168"/>
                      </a:lnTo>
                      <a:lnTo>
                        <a:pt x="186" y="167"/>
                      </a:lnTo>
                      <a:lnTo>
                        <a:pt x="186" y="6"/>
                      </a:lnTo>
                      <a:lnTo>
                        <a:pt x="186" y="5"/>
                      </a:lnTo>
                      <a:lnTo>
                        <a:pt x="185" y="5"/>
                      </a:lnTo>
                      <a:lnTo>
                        <a:pt x="185" y="3"/>
                      </a:lnTo>
                      <a:lnTo>
                        <a:pt x="184" y="3"/>
                      </a:lnTo>
                      <a:lnTo>
                        <a:pt x="184" y="2"/>
                      </a:lnTo>
                      <a:lnTo>
                        <a:pt x="184" y="1"/>
                      </a:lnTo>
                      <a:lnTo>
                        <a:pt x="183" y="1"/>
                      </a:lnTo>
                      <a:lnTo>
                        <a:pt x="182" y="1"/>
                      </a:lnTo>
                      <a:lnTo>
                        <a:pt x="182" y="0"/>
                      </a:lnTo>
                      <a:lnTo>
                        <a:pt x="180" y="0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2" y="1"/>
                      </a:lnTo>
                      <a:lnTo>
                        <a:pt x="1" y="1"/>
                      </a:lnTo>
                      <a:lnTo>
                        <a:pt x="1" y="2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0" y="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0" y="169"/>
                      </a:lnTo>
                      <a:lnTo>
                        <a:pt x="0" y="170"/>
                      </a:lnTo>
                      <a:lnTo>
                        <a:pt x="1" y="170"/>
                      </a:lnTo>
                      <a:lnTo>
                        <a:pt x="1" y="171"/>
                      </a:lnTo>
                      <a:lnTo>
                        <a:pt x="2" y="171"/>
                      </a:lnTo>
                      <a:lnTo>
                        <a:pt x="2" y="172"/>
                      </a:lnTo>
                      <a:lnTo>
                        <a:pt x="3" y="172"/>
                      </a:lnTo>
                      <a:lnTo>
                        <a:pt x="4" y="173"/>
                      </a:lnTo>
                      <a:lnTo>
                        <a:pt x="5" y="173"/>
                      </a:lnTo>
                      <a:lnTo>
                        <a:pt x="180" y="173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02" name="Freeform 1197"/>
                <p:cNvSpPr>
                  <a:spLocks/>
                </p:cNvSpPr>
                <p:nvPr/>
              </p:nvSpPr>
              <p:spPr bwMode="auto">
                <a:xfrm>
                  <a:off x="3855" y="1281"/>
                  <a:ext cx="186" cy="172"/>
                </a:xfrm>
                <a:custGeom>
                  <a:avLst/>
                  <a:gdLst>
                    <a:gd name="T0" fmla="*/ 185 w 186"/>
                    <a:gd name="T1" fmla="*/ 165 h 172"/>
                    <a:gd name="T2" fmla="*/ 185 w 186"/>
                    <a:gd name="T3" fmla="*/ 166 h 172"/>
                    <a:gd name="T4" fmla="*/ 185 w 186"/>
                    <a:gd name="T5" fmla="*/ 167 h 172"/>
                    <a:gd name="T6" fmla="*/ 184 w 186"/>
                    <a:gd name="T7" fmla="*/ 167 h 172"/>
                    <a:gd name="T8" fmla="*/ 184 w 186"/>
                    <a:gd name="T9" fmla="*/ 168 h 172"/>
                    <a:gd name="T10" fmla="*/ 183 w 186"/>
                    <a:gd name="T11" fmla="*/ 169 h 172"/>
                    <a:gd name="T12" fmla="*/ 183 w 186"/>
                    <a:gd name="T13" fmla="*/ 169 h 172"/>
                    <a:gd name="T14" fmla="*/ 182 w 186"/>
                    <a:gd name="T15" fmla="*/ 170 h 172"/>
                    <a:gd name="T16" fmla="*/ 182 w 186"/>
                    <a:gd name="T17" fmla="*/ 170 h 172"/>
                    <a:gd name="T18" fmla="*/ 181 w 186"/>
                    <a:gd name="T19" fmla="*/ 170 h 172"/>
                    <a:gd name="T20" fmla="*/ 181 w 186"/>
                    <a:gd name="T21" fmla="*/ 171 h 172"/>
                    <a:gd name="T22" fmla="*/ 180 w 186"/>
                    <a:gd name="T23" fmla="*/ 171 h 172"/>
                    <a:gd name="T24" fmla="*/ 179 w 186"/>
                    <a:gd name="T25" fmla="*/ 171 h 172"/>
                    <a:gd name="T26" fmla="*/ 4 w 186"/>
                    <a:gd name="T27" fmla="*/ 171 h 172"/>
                    <a:gd name="T28" fmla="*/ 3 w 186"/>
                    <a:gd name="T29" fmla="*/ 171 h 172"/>
                    <a:gd name="T30" fmla="*/ 3 w 186"/>
                    <a:gd name="T31" fmla="*/ 171 h 172"/>
                    <a:gd name="T32" fmla="*/ 3 w 186"/>
                    <a:gd name="T33" fmla="*/ 170 h 172"/>
                    <a:gd name="T34" fmla="*/ 2 w 186"/>
                    <a:gd name="T35" fmla="*/ 170 h 172"/>
                    <a:gd name="T36" fmla="*/ 2 w 186"/>
                    <a:gd name="T37" fmla="*/ 170 h 172"/>
                    <a:gd name="T38" fmla="*/ 1 w 186"/>
                    <a:gd name="T39" fmla="*/ 169 h 172"/>
                    <a:gd name="T40" fmla="*/ 1 w 186"/>
                    <a:gd name="T41" fmla="*/ 169 h 172"/>
                    <a:gd name="T42" fmla="*/ 0 w 186"/>
                    <a:gd name="T43" fmla="*/ 169 h 172"/>
                    <a:gd name="T44" fmla="*/ 0 w 186"/>
                    <a:gd name="T45" fmla="*/ 168 h 172"/>
                    <a:gd name="T46" fmla="*/ 0 w 186"/>
                    <a:gd name="T47" fmla="*/ 167 h 172"/>
                    <a:gd name="T48" fmla="*/ 0 w 186"/>
                    <a:gd name="T49" fmla="*/ 167 h 172"/>
                    <a:gd name="T50" fmla="*/ 0 w 186"/>
                    <a:gd name="T51" fmla="*/ 166 h 172"/>
                    <a:gd name="T52" fmla="*/ 0 w 186"/>
                    <a:gd name="T53" fmla="*/ 165 h 172"/>
                    <a:gd name="T54" fmla="*/ 0 w 186"/>
                    <a:gd name="T55" fmla="*/ 5 h 172"/>
                    <a:gd name="T56" fmla="*/ 0 w 186"/>
                    <a:gd name="T57" fmla="*/ 4 h 172"/>
                    <a:gd name="T58" fmla="*/ 0 w 186"/>
                    <a:gd name="T59" fmla="*/ 3 h 172"/>
                    <a:gd name="T60" fmla="*/ 0 w 186"/>
                    <a:gd name="T61" fmla="*/ 3 h 172"/>
                    <a:gd name="T62" fmla="*/ 0 w 186"/>
                    <a:gd name="T63" fmla="*/ 2 h 172"/>
                    <a:gd name="T64" fmla="*/ 0 w 186"/>
                    <a:gd name="T65" fmla="*/ 2 h 172"/>
                    <a:gd name="T66" fmla="*/ 1 w 186"/>
                    <a:gd name="T67" fmla="*/ 1 h 172"/>
                    <a:gd name="T68" fmla="*/ 1 w 186"/>
                    <a:gd name="T69" fmla="*/ 1 h 172"/>
                    <a:gd name="T70" fmla="*/ 2 w 186"/>
                    <a:gd name="T71" fmla="*/ 1 h 172"/>
                    <a:gd name="T72" fmla="*/ 2 w 186"/>
                    <a:gd name="T73" fmla="*/ 0 h 172"/>
                    <a:gd name="T74" fmla="*/ 2 w 186"/>
                    <a:gd name="T75" fmla="*/ 0 h 172"/>
                    <a:gd name="T76" fmla="*/ 3 w 186"/>
                    <a:gd name="T77" fmla="*/ 0 h 172"/>
                    <a:gd name="T78" fmla="*/ 3 w 186"/>
                    <a:gd name="T79" fmla="*/ 0 h 172"/>
                    <a:gd name="T80" fmla="*/ 4 w 186"/>
                    <a:gd name="T81" fmla="*/ 0 h 172"/>
                    <a:gd name="T82" fmla="*/ 179 w 186"/>
                    <a:gd name="T83" fmla="*/ 0 h 172"/>
                    <a:gd name="T84" fmla="*/ 180 w 186"/>
                    <a:gd name="T85" fmla="*/ 0 h 172"/>
                    <a:gd name="T86" fmla="*/ 181 w 186"/>
                    <a:gd name="T87" fmla="*/ 0 h 172"/>
                    <a:gd name="T88" fmla="*/ 181 w 186"/>
                    <a:gd name="T89" fmla="*/ 0 h 172"/>
                    <a:gd name="T90" fmla="*/ 182 w 186"/>
                    <a:gd name="T91" fmla="*/ 0 h 172"/>
                    <a:gd name="T92" fmla="*/ 182 w 186"/>
                    <a:gd name="T93" fmla="*/ 1 h 172"/>
                    <a:gd name="T94" fmla="*/ 183 w 186"/>
                    <a:gd name="T95" fmla="*/ 1 h 172"/>
                    <a:gd name="T96" fmla="*/ 183 w 186"/>
                    <a:gd name="T97" fmla="*/ 1 h 172"/>
                    <a:gd name="T98" fmla="*/ 183 w 186"/>
                    <a:gd name="T99" fmla="*/ 2 h 172"/>
                    <a:gd name="T100" fmla="*/ 184 w 186"/>
                    <a:gd name="T101" fmla="*/ 2 h 172"/>
                    <a:gd name="T102" fmla="*/ 184 w 186"/>
                    <a:gd name="T103" fmla="*/ 3 h 172"/>
                    <a:gd name="T104" fmla="*/ 185 w 186"/>
                    <a:gd name="T105" fmla="*/ 3 h 172"/>
                    <a:gd name="T106" fmla="*/ 185 w 186"/>
                    <a:gd name="T107" fmla="*/ 4 h 172"/>
                    <a:gd name="T108" fmla="*/ 185 w 186"/>
                    <a:gd name="T109" fmla="*/ 5 h 172"/>
                    <a:gd name="T110" fmla="*/ 185 w 186"/>
                    <a:gd name="T111" fmla="*/ 165 h 172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86"/>
                    <a:gd name="T169" fmla="*/ 0 h 172"/>
                    <a:gd name="T170" fmla="*/ 186 w 186"/>
                    <a:gd name="T171" fmla="*/ 172 h 172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86" h="172">
                      <a:moveTo>
                        <a:pt x="185" y="165"/>
                      </a:moveTo>
                      <a:lnTo>
                        <a:pt x="185" y="166"/>
                      </a:lnTo>
                      <a:lnTo>
                        <a:pt x="185" y="167"/>
                      </a:lnTo>
                      <a:lnTo>
                        <a:pt x="184" y="167"/>
                      </a:lnTo>
                      <a:lnTo>
                        <a:pt x="184" y="168"/>
                      </a:lnTo>
                      <a:lnTo>
                        <a:pt x="183" y="169"/>
                      </a:lnTo>
                      <a:lnTo>
                        <a:pt x="182" y="170"/>
                      </a:lnTo>
                      <a:lnTo>
                        <a:pt x="181" y="170"/>
                      </a:lnTo>
                      <a:lnTo>
                        <a:pt x="181" y="171"/>
                      </a:lnTo>
                      <a:lnTo>
                        <a:pt x="180" y="171"/>
                      </a:lnTo>
                      <a:lnTo>
                        <a:pt x="179" y="171"/>
                      </a:lnTo>
                      <a:lnTo>
                        <a:pt x="4" y="171"/>
                      </a:lnTo>
                      <a:lnTo>
                        <a:pt x="3" y="171"/>
                      </a:lnTo>
                      <a:lnTo>
                        <a:pt x="3" y="170"/>
                      </a:lnTo>
                      <a:lnTo>
                        <a:pt x="2" y="170"/>
                      </a:lnTo>
                      <a:lnTo>
                        <a:pt x="1" y="169"/>
                      </a:lnTo>
                      <a:lnTo>
                        <a:pt x="0" y="169"/>
                      </a:lnTo>
                      <a:lnTo>
                        <a:pt x="0" y="168"/>
                      </a:lnTo>
                      <a:lnTo>
                        <a:pt x="0" y="167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79" y="0"/>
                      </a:lnTo>
                      <a:lnTo>
                        <a:pt x="180" y="0"/>
                      </a:lnTo>
                      <a:lnTo>
                        <a:pt x="181" y="0"/>
                      </a:lnTo>
                      <a:lnTo>
                        <a:pt x="182" y="0"/>
                      </a:lnTo>
                      <a:lnTo>
                        <a:pt x="182" y="1"/>
                      </a:lnTo>
                      <a:lnTo>
                        <a:pt x="183" y="1"/>
                      </a:lnTo>
                      <a:lnTo>
                        <a:pt x="183" y="2"/>
                      </a:lnTo>
                      <a:lnTo>
                        <a:pt x="184" y="2"/>
                      </a:lnTo>
                      <a:lnTo>
                        <a:pt x="184" y="3"/>
                      </a:lnTo>
                      <a:lnTo>
                        <a:pt x="185" y="3"/>
                      </a:lnTo>
                      <a:lnTo>
                        <a:pt x="185" y="4"/>
                      </a:lnTo>
                      <a:lnTo>
                        <a:pt x="185" y="5"/>
                      </a:lnTo>
                      <a:lnTo>
                        <a:pt x="185" y="165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03" name="Freeform 1198"/>
                <p:cNvSpPr>
                  <a:spLocks/>
                </p:cNvSpPr>
                <p:nvPr/>
              </p:nvSpPr>
              <p:spPr bwMode="auto">
                <a:xfrm>
                  <a:off x="3857" y="1281"/>
                  <a:ext cx="181" cy="171"/>
                </a:xfrm>
                <a:custGeom>
                  <a:avLst/>
                  <a:gdLst>
                    <a:gd name="T0" fmla="*/ 180 w 181"/>
                    <a:gd name="T1" fmla="*/ 3 h 171"/>
                    <a:gd name="T2" fmla="*/ 180 w 181"/>
                    <a:gd name="T3" fmla="*/ 3 h 171"/>
                    <a:gd name="T4" fmla="*/ 180 w 181"/>
                    <a:gd name="T5" fmla="*/ 2 h 171"/>
                    <a:gd name="T6" fmla="*/ 179 w 181"/>
                    <a:gd name="T7" fmla="*/ 2 h 171"/>
                    <a:gd name="T8" fmla="*/ 179 w 181"/>
                    <a:gd name="T9" fmla="*/ 1 h 171"/>
                    <a:gd name="T10" fmla="*/ 178 w 181"/>
                    <a:gd name="T11" fmla="*/ 1 h 171"/>
                    <a:gd name="T12" fmla="*/ 178 w 181"/>
                    <a:gd name="T13" fmla="*/ 0 h 171"/>
                    <a:gd name="T14" fmla="*/ 177 w 181"/>
                    <a:gd name="T15" fmla="*/ 0 h 171"/>
                    <a:gd name="T16" fmla="*/ 177 w 181"/>
                    <a:gd name="T17" fmla="*/ 0 h 171"/>
                    <a:gd name="T18" fmla="*/ 177 w 181"/>
                    <a:gd name="T19" fmla="*/ 0 h 171"/>
                    <a:gd name="T20" fmla="*/ 176 w 181"/>
                    <a:gd name="T21" fmla="*/ 0 h 171"/>
                    <a:gd name="T22" fmla="*/ 176 w 181"/>
                    <a:gd name="T23" fmla="*/ 0 h 171"/>
                    <a:gd name="T24" fmla="*/ 3 w 181"/>
                    <a:gd name="T25" fmla="*/ 0 h 171"/>
                    <a:gd name="T26" fmla="*/ 3 w 181"/>
                    <a:gd name="T27" fmla="*/ 0 h 171"/>
                    <a:gd name="T28" fmla="*/ 2 w 181"/>
                    <a:gd name="T29" fmla="*/ 0 h 171"/>
                    <a:gd name="T30" fmla="*/ 2 w 181"/>
                    <a:gd name="T31" fmla="*/ 0 h 171"/>
                    <a:gd name="T32" fmla="*/ 1 w 181"/>
                    <a:gd name="T33" fmla="*/ 0 h 171"/>
                    <a:gd name="T34" fmla="*/ 1 w 181"/>
                    <a:gd name="T35" fmla="*/ 0 h 171"/>
                    <a:gd name="T36" fmla="*/ 1 w 181"/>
                    <a:gd name="T37" fmla="*/ 1 h 171"/>
                    <a:gd name="T38" fmla="*/ 0 w 181"/>
                    <a:gd name="T39" fmla="*/ 1 h 171"/>
                    <a:gd name="T40" fmla="*/ 0 w 181"/>
                    <a:gd name="T41" fmla="*/ 1 h 171"/>
                    <a:gd name="T42" fmla="*/ 0 w 181"/>
                    <a:gd name="T43" fmla="*/ 2 h 171"/>
                    <a:gd name="T44" fmla="*/ 0 w 181"/>
                    <a:gd name="T45" fmla="*/ 3 h 171"/>
                    <a:gd name="T46" fmla="*/ 0 w 181"/>
                    <a:gd name="T47" fmla="*/ 3 h 171"/>
                    <a:gd name="T48" fmla="*/ 0 w 181"/>
                    <a:gd name="T49" fmla="*/ 166 h 171"/>
                    <a:gd name="T50" fmla="*/ 0 w 181"/>
                    <a:gd name="T51" fmla="*/ 166 h 171"/>
                    <a:gd name="T52" fmla="*/ 0 w 181"/>
                    <a:gd name="T53" fmla="*/ 167 h 171"/>
                    <a:gd name="T54" fmla="*/ 0 w 181"/>
                    <a:gd name="T55" fmla="*/ 168 h 171"/>
                    <a:gd name="T56" fmla="*/ 0 w 181"/>
                    <a:gd name="T57" fmla="*/ 168 h 171"/>
                    <a:gd name="T58" fmla="*/ 1 w 181"/>
                    <a:gd name="T59" fmla="*/ 168 h 171"/>
                    <a:gd name="T60" fmla="*/ 1 w 181"/>
                    <a:gd name="T61" fmla="*/ 169 h 171"/>
                    <a:gd name="T62" fmla="*/ 2 w 181"/>
                    <a:gd name="T63" fmla="*/ 169 h 171"/>
                    <a:gd name="T64" fmla="*/ 2 w 181"/>
                    <a:gd name="T65" fmla="*/ 169 h 171"/>
                    <a:gd name="T66" fmla="*/ 3 w 181"/>
                    <a:gd name="T67" fmla="*/ 170 h 171"/>
                    <a:gd name="T68" fmla="*/ 3 w 181"/>
                    <a:gd name="T69" fmla="*/ 170 h 171"/>
                    <a:gd name="T70" fmla="*/ 176 w 181"/>
                    <a:gd name="T71" fmla="*/ 170 h 171"/>
                    <a:gd name="T72" fmla="*/ 176 w 181"/>
                    <a:gd name="T73" fmla="*/ 169 h 171"/>
                    <a:gd name="T74" fmla="*/ 177 w 181"/>
                    <a:gd name="T75" fmla="*/ 169 h 171"/>
                    <a:gd name="T76" fmla="*/ 177 w 181"/>
                    <a:gd name="T77" fmla="*/ 169 h 171"/>
                    <a:gd name="T78" fmla="*/ 178 w 181"/>
                    <a:gd name="T79" fmla="*/ 169 h 171"/>
                    <a:gd name="T80" fmla="*/ 178 w 181"/>
                    <a:gd name="T81" fmla="*/ 168 h 171"/>
                    <a:gd name="T82" fmla="*/ 178 w 181"/>
                    <a:gd name="T83" fmla="*/ 168 h 171"/>
                    <a:gd name="T84" fmla="*/ 179 w 181"/>
                    <a:gd name="T85" fmla="*/ 168 h 171"/>
                    <a:gd name="T86" fmla="*/ 179 w 181"/>
                    <a:gd name="T87" fmla="*/ 167 h 171"/>
                    <a:gd name="T88" fmla="*/ 180 w 181"/>
                    <a:gd name="T89" fmla="*/ 166 h 171"/>
                    <a:gd name="T90" fmla="*/ 180 w 181"/>
                    <a:gd name="T91" fmla="*/ 166 h 171"/>
                    <a:gd name="T92" fmla="*/ 180 w 181"/>
                    <a:gd name="T93" fmla="*/ 3 h 171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w 181"/>
                    <a:gd name="T142" fmla="*/ 0 h 171"/>
                    <a:gd name="T143" fmla="*/ 181 w 181"/>
                    <a:gd name="T144" fmla="*/ 171 h 171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T141" t="T142" r="T143" b="T144"/>
                  <a:pathLst>
                    <a:path w="181" h="171">
                      <a:moveTo>
                        <a:pt x="180" y="3"/>
                      </a:moveTo>
                      <a:lnTo>
                        <a:pt x="180" y="3"/>
                      </a:lnTo>
                      <a:lnTo>
                        <a:pt x="180" y="2"/>
                      </a:lnTo>
                      <a:lnTo>
                        <a:pt x="179" y="2"/>
                      </a:lnTo>
                      <a:lnTo>
                        <a:pt x="179" y="1"/>
                      </a:lnTo>
                      <a:lnTo>
                        <a:pt x="178" y="1"/>
                      </a:lnTo>
                      <a:lnTo>
                        <a:pt x="178" y="0"/>
                      </a:lnTo>
                      <a:lnTo>
                        <a:pt x="177" y="0"/>
                      </a:lnTo>
                      <a:lnTo>
                        <a:pt x="17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16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1" y="169"/>
                      </a:lnTo>
                      <a:lnTo>
                        <a:pt x="2" y="169"/>
                      </a:lnTo>
                      <a:lnTo>
                        <a:pt x="3" y="170"/>
                      </a:lnTo>
                      <a:lnTo>
                        <a:pt x="176" y="170"/>
                      </a:lnTo>
                      <a:lnTo>
                        <a:pt x="176" y="169"/>
                      </a:lnTo>
                      <a:lnTo>
                        <a:pt x="177" y="169"/>
                      </a:lnTo>
                      <a:lnTo>
                        <a:pt x="178" y="169"/>
                      </a:lnTo>
                      <a:lnTo>
                        <a:pt x="178" y="168"/>
                      </a:lnTo>
                      <a:lnTo>
                        <a:pt x="179" y="168"/>
                      </a:lnTo>
                      <a:lnTo>
                        <a:pt x="179" y="167"/>
                      </a:lnTo>
                      <a:lnTo>
                        <a:pt x="180" y="166"/>
                      </a:lnTo>
                      <a:lnTo>
                        <a:pt x="180" y="3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04" name="Freeform 1199"/>
                <p:cNvSpPr>
                  <a:spLocks/>
                </p:cNvSpPr>
                <p:nvPr/>
              </p:nvSpPr>
              <p:spPr bwMode="auto">
                <a:xfrm>
                  <a:off x="3858" y="1282"/>
                  <a:ext cx="180" cy="168"/>
                </a:xfrm>
                <a:custGeom>
                  <a:avLst/>
                  <a:gdLst>
                    <a:gd name="T0" fmla="*/ 179 w 180"/>
                    <a:gd name="T1" fmla="*/ 163 h 168"/>
                    <a:gd name="T2" fmla="*/ 179 w 180"/>
                    <a:gd name="T3" fmla="*/ 164 h 168"/>
                    <a:gd name="T4" fmla="*/ 178 w 180"/>
                    <a:gd name="T5" fmla="*/ 165 h 168"/>
                    <a:gd name="T6" fmla="*/ 178 w 180"/>
                    <a:gd name="T7" fmla="*/ 165 h 168"/>
                    <a:gd name="T8" fmla="*/ 177 w 180"/>
                    <a:gd name="T9" fmla="*/ 166 h 168"/>
                    <a:gd name="T10" fmla="*/ 177 w 180"/>
                    <a:gd name="T11" fmla="*/ 166 h 168"/>
                    <a:gd name="T12" fmla="*/ 176 w 180"/>
                    <a:gd name="T13" fmla="*/ 167 h 168"/>
                    <a:gd name="T14" fmla="*/ 176 w 180"/>
                    <a:gd name="T15" fmla="*/ 167 h 168"/>
                    <a:gd name="T16" fmla="*/ 2 w 180"/>
                    <a:gd name="T17" fmla="*/ 167 h 168"/>
                    <a:gd name="T18" fmla="*/ 2 w 180"/>
                    <a:gd name="T19" fmla="*/ 167 h 168"/>
                    <a:gd name="T20" fmla="*/ 1 w 180"/>
                    <a:gd name="T21" fmla="*/ 167 h 168"/>
                    <a:gd name="T22" fmla="*/ 1 w 180"/>
                    <a:gd name="T23" fmla="*/ 166 h 168"/>
                    <a:gd name="T24" fmla="*/ 1 w 180"/>
                    <a:gd name="T25" fmla="*/ 166 h 168"/>
                    <a:gd name="T26" fmla="*/ 0 w 180"/>
                    <a:gd name="T27" fmla="*/ 166 h 168"/>
                    <a:gd name="T28" fmla="*/ 0 w 180"/>
                    <a:gd name="T29" fmla="*/ 165 h 168"/>
                    <a:gd name="T30" fmla="*/ 0 w 180"/>
                    <a:gd name="T31" fmla="*/ 165 h 168"/>
                    <a:gd name="T32" fmla="*/ 0 w 180"/>
                    <a:gd name="T33" fmla="*/ 165 h 168"/>
                    <a:gd name="T34" fmla="*/ 0 w 180"/>
                    <a:gd name="T35" fmla="*/ 164 h 168"/>
                    <a:gd name="T36" fmla="*/ 0 w 180"/>
                    <a:gd name="T37" fmla="*/ 163 h 168"/>
                    <a:gd name="T38" fmla="*/ 0 w 180"/>
                    <a:gd name="T39" fmla="*/ 3 h 168"/>
                    <a:gd name="T40" fmla="*/ 0 w 180"/>
                    <a:gd name="T41" fmla="*/ 2 h 168"/>
                    <a:gd name="T42" fmla="*/ 0 w 180"/>
                    <a:gd name="T43" fmla="*/ 1 h 168"/>
                    <a:gd name="T44" fmla="*/ 0 w 180"/>
                    <a:gd name="T45" fmla="*/ 1 h 168"/>
                    <a:gd name="T46" fmla="*/ 0 w 180"/>
                    <a:gd name="T47" fmla="*/ 1 h 168"/>
                    <a:gd name="T48" fmla="*/ 1 w 180"/>
                    <a:gd name="T49" fmla="*/ 0 h 168"/>
                    <a:gd name="T50" fmla="*/ 1 w 180"/>
                    <a:gd name="T51" fmla="*/ 0 h 168"/>
                    <a:gd name="T52" fmla="*/ 2 w 180"/>
                    <a:gd name="T53" fmla="*/ 0 h 168"/>
                    <a:gd name="T54" fmla="*/ 2 w 180"/>
                    <a:gd name="T55" fmla="*/ 0 h 168"/>
                    <a:gd name="T56" fmla="*/ 176 w 180"/>
                    <a:gd name="T57" fmla="*/ 0 h 168"/>
                    <a:gd name="T58" fmla="*/ 176 w 180"/>
                    <a:gd name="T59" fmla="*/ 0 h 168"/>
                    <a:gd name="T60" fmla="*/ 176 w 180"/>
                    <a:gd name="T61" fmla="*/ 0 h 168"/>
                    <a:gd name="T62" fmla="*/ 177 w 180"/>
                    <a:gd name="T63" fmla="*/ 0 h 168"/>
                    <a:gd name="T64" fmla="*/ 177 w 180"/>
                    <a:gd name="T65" fmla="*/ 0 h 168"/>
                    <a:gd name="T66" fmla="*/ 177 w 180"/>
                    <a:gd name="T67" fmla="*/ 1 h 168"/>
                    <a:gd name="T68" fmla="*/ 178 w 180"/>
                    <a:gd name="T69" fmla="*/ 1 h 168"/>
                    <a:gd name="T70" fmla="*/ 178 w 180"/>
                    <a:gd name="T71" fmla="*/ 1 h 168"/>
                    <a:gd name="T72" fmla="*/ 179 w 180"/>
                    <a:gd name="T73" fmla="*/ 2 h 168"/>
                    <a:gd name="T74" fmla="*/ 179 w 180"/>
                    <a:gd name="T75" fmla="*/ 3 h 168"/>
                    <a:gd name="T76" fmla="*/ 179 w 180"/>
                    <a:gd name="T77" fmla="*/ 16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80"/>
                    <a:gd name="T118" fmla="*/ 0 h 168"/>
                    <a:gd name="T119" fmla="*/ 180 w 180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80" h="168">
                      <a:moveTo>
                        <a:pt x="179" y="163"/>
                      </a:moveTo>
                      <a:lnTo>
                        <a:pt x="179" y="164"/>
                      </a:lnTo>
                      <a:lnTo>
                        <a:pt x="178" y="165"/>
                      </a:lnTo>
                      <a:lnTo>
                        <a:pt x="177" y="166"/>
                      </a:lnTo>
                      <a:lnTo>
                        <a:pt x="176" y="167"/>
                      </a:lnTo>
                      <a:lnTo>
                        <a:pt x="2" y="167"/>
                      </a:lnTo>
                      <a:lnTo>
                        <a:pt x="1" y="167"/>
                      </a:lnTo>
                      <a:lnTo>
                        <a:pt x="1" y="166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164"/>
                      </a:lnTo>
                      <a:lnTo>
                        <a:pt x="0" y="163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2" y="0"/>
                      </a:lnTo>
                      <a:lnTo>
                        <a:pt x="176" y="0"/>
                      </a:lnTo>
                      <a:lnTo>
                        <a:pt x="177" y="0"/>
                      </a:lnTo>
                      <a:lnTo>
                        <a:pt x="177" y="1"/>
                      </a:lnTo>
                      <a:lnTo>
                        <a:pt x="178" y="1"/>
                      </a:lnTo>
                      <a:lnTo>
                        <a:pt x="179" y="2"/>
                      </a:lnTo>
                      <a:lnTo>
                        <a:pt x="179" y="3"/>
                      </a:lnTo>
                      <a:lnTo>
                        <a:pt x="179" y="163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05" name="Freeform 1200"/>
                <p:cNvSpPr>
                  <a:spLocks/>
                </p:cNvSpPr>
                <p:nvPr/>
              </p:nvSpPr>
              <p:spPr bwMode="auto">
                <a:xfrm>
                  <a:off x="3877" y="1304"/>
                  <a:ext cx="142" cy="124"/>
                </a:xfrm>
                <a:custGeom>
                  <a:avLst/>
                  <a:gdLst>
                    <a:gd name="T0" fmla="*/ 0 w 142"/>
                    <a:gd name="T1" fmla="*/ 1 h 124"/>
                    <a:gd name="T2" fmla="*/ 1 w 142"/>
                    <a:gd name="T3" fmla="*/ 1 h 124"/>
                    <a:gd name="T4" fmla="*/ 1 w 142"/>
                    <a:gd name="T5" fmla="*/ 1 h 124"/>
                    <a:gd name="T6" fmla="*/ 2 w 142"/>
                    <a:gd name="T7" fmla="*/ 0 h 124"/>
                    <a:gd name="T8" fmla="*/ 2 w 142"/>
                    <a:gd name="T9" fmla="*/ 0 h 124"/>
                    <a:gd name="T10" fmla="*/ 3 w 142"/>
                    <a:gd name="T11" fmla="*/ 0 h 124"/>
                    <a:gd name="T12" fmla="*/ 3 w 142"/>
                    <a:gd name="T13" fmla="*/ 0 h 124"/>
                    <a:gd name="T14" fmla="*/ 4 w 142"/>
                    <a:gd name="T15" fmla="*/ 0 h 124"/>
                    <a:gd name="T16" fmla="*/ 135 w 142"/>
                    <a:gd name="T17" fmla="*/ 0 h 124"/>
                    <a:gd name="T18" fmla="*/ 136 w 142"/>
                    <a:gd name="T19" fmla="*/ 0 h 124"/>
                    <a:gd name="T20" fmla="*/ 137 w 142"/>
                    <a:gd name="T21" fmla="*/ 0 h 124"/>
                    <a:gd name="T22" fmla="*/ 137 w 142"/>
                    <a:gd name="T23" fmla="*/ 0 h 124"/>
                    <a:gd name="T24" fmla="*/ 138 w 142"/>
                    <a:gd name="T25" fmla="*/ 0 h 124"/>
                    <a:gd name="T26" fmla="*/ 138 w 142"/>
                    <a:gd name="T27" fmla="*/ 1 h 124"/>
                    <a:gd name="T28" fmla="*/ 139 w 142"/>
                    <a:gd name="T29" fmla="*/ 1 h 124"/>
                    <a:gd name="T30" fmla="*/ 139 w 142"/>
                    <a:gd name="T31" fmla="*/ 1 h 124"/>
                    <a:gd name="T32" fmla="*/ 140 w 142"/>
                    <a:gd name="T33" fmla="*/ 2 h 124"/>
                    <a:gd name="T34" fmla="*/ 140 w 142"/>
                    <a:gd name="T35" fmla="*/ 3 h 124"/>
                    <a:gd name="T36" fmla="*/ 141 w 142"/>
                    <a:gd name="T37" fmla="*/ 3 h 124"/>
                    <a:gd name="T38" fmla="*/ 141 w 142"/>
                    <a:gd name="T39" fmla="*/ 4 h 124"/>
                    <a:gd name="T40" fmla="*/ 141 w 142"/>
                    <a:gd name="T41" fmla="*/ 5 h 124"/>
                    <a:gd name="T42" fmla="*/ 141 w 142"/>
                    <a:gd name="T43" fmla="*/ 117 h 124"/>
                    <a:gd name="T44" fmla="*/ 141 w 142"/>
                    <a:gd name="T45" fmla="*/ 119 h 124"/>
                    <a:gd name="T46" fmla="*/ 140 w 142"/>
                    <a:gd name="T47" fmla="*/ 119 h 124"/>
                    <a:gd name="T48" fmla="*/ 140 w 142"/>
                    <a:gd name="T49" fmla="*/ 120 h 124"/>
                    <a:gd name="T50" fmla="*/ 139 w 142"/>
                    <a:gd name="T51" fmla="*/ 121 h 124"/>
                    <a:gd name="T52" fmla="*/ 139 w 142"/>
                    <a:gd name="T53" fmla="*/ 121 h 124"/>
                    <a:gd name="T54" fmla="*/ 138 w 142"/>
                    <a:gd name="T55" fmla="*/ 122 h 124"/>
                    <a:gd name="T56" fmla="*/ 138 w 142"/>
                    <a:gd name="T57" fmla="*/ 122 h 124"/>
                    <a:gd name="T58" fmla="*/ 137 w 142"/>
                    <a:gd name="T59" fmla="*/ 122 h 124"/>
                    <a:gd name="T60" fmla="*/ 137 w 142"/>
                    <a:gd name="T61" fmla="*/ 123 h 124"/>
                    <a:gd name="T62" fmla="*/ 136 w 142"/>
                    <a:gd name="T63" fmla="*/ 123 h 124"/>
                    <a:gd name="T64" fmla="*/ 135 w 142"/>
                    <a:gd name="T65" fmla="*/ 123 h 124"/>
                    <a:gd name="T66" fmla="*/ 4 w 142"/>
                    <a:gd name="T67" fmla="*/ 123 h 124"/>
                    <a:gd name="T68" fmla="*/ 3 w 142"/>
                    <a:gd name="T69" fmla="*/ 123 h 124"/>
                    <a:gd name="T70" fmla="*/ 3 w 142"/>
                    <a:gd name="T71" fmla="*/ 123 h 124"/>
                    <a:gd name="T72" fmla="*/ 2 w 142"/>
                    <a:gd name="T73" fmla="*/ 122 h 124"/>
                    <a:gd name="T74" fmla="*/ 2 w 142"/>
                    <a:gd name="T75" fmla="*/ 122 h 124"/>
                    <a:gd name="T76" fmla="*/ 1 w 142"/>
                    <a:gd name="T77" fmla="*/ 122 h 124"/>
                    <a:gd name="T78" fmla="*/ 1 w 142"/>
                    <a:gd name="T79" fmla="*/ 121 h 124"/>
                    <a:gd name="T80" fmla="*/ 0 w 142"/>
                    <a:gd name="T81" fmla="*/ 121 h 124"/>
                    <a:gd name="T82" fmla="*/ 0 w 142"/>
                    <a:gd name="T83" fmla="*/ 120 h 124"/>
                    <a:gd name="T84" fmla="*/ 0 w 142"/>
                    <a:gd name="T85" fmla="*/ 119 h 124"/>
                    <a:gd name="T86" fmla="*/ 0 w 142"/>
                    <a:gd name="T87" fmla="*/ 119 h 124"/>
                    <a:gd name="T88" fmla="*/ 0 w 142"/>
                    <a:gd name="T89" fmla="*/ 117 h 124"/>
                    <a:gd name="T90" fmla="*/ 0 w 142"/>
                    <a:gd name="T91" fmla="*/ 5 h 124"/>
                    <a:gd name="T92" fmla="*/ 0 w 142"/>
                    <a:gd name="T93" fmla="*/ 4 h 124"/>
                    <a:gd name="T94" fmla="*/ 0 w 142"/>
                    <a:gd name="T95" fmla="*/ 3 h 124"/>
                    <a:gd name="T96" fmla="*/ 0 w 142"/>
                    <a:gd name="T97" fmla="*/ 3 h 124"/>
                    <a:gd name="T98" fmla="*/ 0 w 142"/>
                    <a:gd name="T99" fmla="*/ 2 h 124"/>
                    <a:gd name="T100" fmla="*/ 0 w 142"/>
                    <a:gd name="T101" fmla="*/ 1 h 124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42"/>
                    <a:gd name="T154" fmla="*/ 0 h 124"/>
                    <a:gd name="T155" fmla="*/ 142 w 142"/>
                    <a:gd name="T156" fmla="*/ 124 h 124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42" h="124">
                      <a:moveTo>
                        <a:pt x="0" y="1"/>
                      </a:moveTo>
                      <a:lnTo>
                        <a:pt x="1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8" y="1"/>
                      </a:lnTo>
                      <a:lnTo>
                        <a:pt x="139" y="1"/>
                      </a:lnTo>
                      <a:lnTo>
                        <a:pt x="140" y="2"/>
                      </a:lnTo>
                      <a:lnTo>
                        <a:pt x="140" y="3"/>
                      </a:lnTo>
                      <a:lnTo>
                        <a:pt x="141" y="3"/>
                      </a:lnTo>
                      <a:lnTo>
                        <a:pt x="141" y="4"/>
                      </a:lnTo>
                      <a:lnTo>
                        <a:pt x="141" y="5"/>
                      </a:lnTo>
                      <a:lnTo>
                        <a:pt x="141" y="117"/>
                      </a:lnTo>
                      <a:lnTo>
                        <a:pt x="141" y="119"/>
                      </a:lnTo>
                      <a:lnTo>
                        <a:pt x="140" y="119"/>
                      </a:lnTo>
                      <a:lnTo>
                        <a:pt x="140" y="120"/>
                      </a:lnTo>
                      <a:lnTo>
                        <a:pt x="139" y="121"/>
                      </a:lnTo>
                      <a:lnTo>
                        <a:pt x="138" y="122"/>
                      </a:lnTo>
                      <a:lnTo>
                        <a:pt x="137" y="122"/>
                      </a:lnTo>
                      <a:lnTo>
                        <a:pt x="137" y="123"/>
                      </a:lnTo>
                      <a:lnTo>
                        <a:pt x="136" y="123"/>
                      </a:lnTo>
                      <a:lnTo>
                        <a:pt x="135" y="123"/>
                      </a:lnTo>
                      <a:lnTo>
                        <a:pt x="4" y="123"/>
                      </a:lnTo>
                      <a:lnTo>
                        <a:pt x="3" y="123"/>
                      </a:lnTo>
                      <a:lnTo>
                        <a:pt x="2" y="122"/>
                      </a:lnTo>
                      <a:lnTo>
                        <a:pt x="1" y="122"/>
                      </a:lnTo>
                      <a:lnTo>
                        <a:pt x="1" y="121"/>
                      </a:lnTo>
                      <a:lnTo>
                        <a:pt x="0" y="121"/>
                      </a:lnTo>
                      <a:lnTo>
                        <a:pt x="0" y="120"/>
                      </a:lnTo>
                      <a:lnTo>
                        <a:pt x="0" y="119"/>
                      </a:lnTo>
                      <a:lnTo>
                        <a:pt x="0" y="117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</a:path>
                  </a:pathLst>
                </a:custGeom>
                <a:gradFill rotWithShape="0">
                  <a:gsLst>
                    <a:gs pos="0">
                      <a:srgbClr val="1D2B4B"/>
                    </a:gs>
                    <a:gs pos="50000">
                      <a:srgbClr val="618FFD"/>
                    </a:gs>
                    <a:gs pos="100000">
                      <a:srgbClr val="1D2B4B"/>
                    </a:gs>
                  </a:gsLst>
                  <a:lin ang="2700000" scaled="1"/>
                </a:gra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06" name="Freeform 1201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4 h 17"/>
                    <a:gd name="T2" fmla="*/ 151 w 153"/>
                    <a:gd name="T3" fmla="*/ 3 h 17"/>
                    <a:gd name="T4" fmla="*/ 151 w 153"/>
                    <a:gd name="T5" fmla="*/ 2 h 17"/>
                    <a:gd name="T6" fmla="*/ 150 w 153"/>
                    <a:gd name="T7" fmla="*/ 2 h 17"/>
                    <a:gd name="T8" fmla="*/ 150 w 153"/>
                    <a:gd name="T9" fmla="*/ 2 h 17"/>
                    <a:gd name="T10" fmla="*/ 150 w 153"/>
                    <a:gd name="T11" fmla="*/ 1 h 17"/>
                    <a:gd name="T12" fmla="*/ 149 w 153"/>
                    <a:gd name="T13" fmla="*/ 1 h 17"/>
                    <a:gd name="T14" fmla="*/ 149 w 153"/>
                    <a:gd name="T15" fmla="*/ 1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1 h 17"/>
                    <a:gd name="T32" fmla="*/ 1 w 153"/>
                    <a:gd name="T33" fmla="*/ 1 h 17"/>
                    <a:gd name="T34" fmla="*/ 0 w 153"/>
                    <a:gd name="T35" fmla="*/ 2 h 17"/>
                    <a:gd name="T36" fmla="*/ 0 w 153"/>
                    <a:gd name="T37" fmla="*/ 2 h 17"/>
                    <a:gd name="T38" fmla="*/ 0 w 153"/>
                    <a:gd name="T39" fmla="*/ 3 h 17"/>
                    <a:gd name="T40" fmla="*/ 6 w 153"/>
                    <a:gd name="T41" fmla="*/ 16 h 17"/>
                    <a:gd name="T42" fmla="*/ 7 w 153"/>
                    <a:gd name="T43" fmla="*/ 14 h 17"/>
                    <a:gd name="T44" fmla="*/ 7 w 153"/>
                    <a:gd name="T45" fmla="*/ 14 h 17"/>
                    <a:gd name="T46" fmla="*/ 8 w 153"/>
                    <a:gd name="T47" fmla="*/ 13 h 17"/>
                    <a:gd name="T48" fmla="*/ 8 w 153"/>
                    <a:gd name="T49" fmla="*/ 13 h 17"/>
                    <a:gd name="T50" fmla="*/ 8 w 153"/>
                    <a:gd name="T51" fmla="*/ 12 h 17"/>
                    <a:gd name="T52" fmla="*/ 9 w 153"/>
                    <a:gd name="T53" fmla="*/ 12 h 17"/>
                    <a:gd name="T54" fmla="*/ 10 w 153"/>
                    <a:gd name="T55" fmla="*/ 12 h 17"/>
                    <a:gd name="T56" fmla="*/ 140 w 153"/>
                    <a:gd name="T57" fmla="*/ 12 h 17"/>
                    <a:gd name="T58" fmla="*/ 141 w 153"/>
                    <a:gd name="T59" fmla="*/ 12 h 17"/>
                    <a:gd name="T60" fmla="*/ 142 w 153"/>
                    <a:gd name="T61" fmla="*/ 12 h 17"/>
                    <a:gd name="T62" fmla="*/ 142 w 153"/>
                    <a:gd name="T63" fmla="*/ 13 h 17"/>
                    <a:gd name="T64" fmla="*/ 143 w 153"/>
                    <a:gd name="T65" fmla="*/ 13 h 17"/>
                    <a:gd name="T66" fmla="*/ 143 w 153"/>
                    <a:gd name="T67" fmla="*/ 14 h 17"/>
                    <a:gd name="T68" fmla="*/ 143 w 153"/>
                    <a:gd name="T69" fmla="*/ 14 h 17"/>
                    <a:gd name="T70" fmla="*/ 144 w 153"/>
                    <a:gd name="T71" fmla="*/ 14 h 17"/>
                    <a:gd name="T72" fmla="*/ 152 w 153"/>
                    <a:gd name="T73" fmla="*/ 4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53"/>
                    <a:gd name="T112" fmla="*/ 0 h 17"/>
                    <a:gd name="T113" fmla="*/ 153 w 153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53" h="17">
                      <a:moveTo>
                        <a:pt x="152" y="4"/>
                      </a:moveTo>
                      <a:lnTo>
                        <a:pt x="151" y="3"/>
                      </a:lnTo>
                      <a:lnTo>
                        <a:pt x="151" y="2"/>
                      </a:lnTo>
                      <a:lnTo>
                        <a:pt x="150" y="2"/>
                      </a:lnTo>
                      <a:lnTo>
                        <a:pt x="150" y="1"/>
                      </a:lnTo>
                      <a:lnTo>
                        <a:pt x="149" y="1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6" y="16"/>
                      </a:lnTo>
                      <a:lnTo>
                        <a:pt x="7" y="14"/>
                      </a:lnTo>
                      <a:lnTo>
                        <a:pt x="8" y="13"/>
                      </a:lnTo>
                      <a:lnTo>
                        <a:pt x="8" y="12"/>
                      </a:lnTo>
                      <a:lnTo>
                        <a:pt x="9" y="12"/>
                      </a:lnTo>
                      <a:lnTo>
                        <a:pt x="10" y="12"/>
                      </a:lnTo>
                      <a:lnTo>
                        <a:pt x="140" y="12"/>
                      </a:lnTo>
                      <a:lnTo>
                        <a:pt x="141" y="12"/>
                      </a:lnTo>
                      <a:lnTo>
                        <a:pt x="142" y="12"/>
                      </a:lnTo>
                      <a:lnTo>
                        <a:pt x="142" y="13"/>
                      </a:lnTo>
                      <a:lnTo>
                        <a:pt x="143" y="13"/>
                      </a:lnTo>
                      <a:lnTo>
                        <a:pt x="143" y="14"/>
                      </a:lnTo>
                      <a:lnTo>
                        <a:pt x="144" y="14"/>
                      </a:lnTo>
                      <a:lnTo>
                        <a:pt x="152" y="4"/>
                      </a:lnTo>
                    </a:path>
                  </a:pathLst>
                </a:custGeom>
                <a:solidFill>
                  <a:srgbClr val="9F9FA2"/>
                </a:solidFill>
                <a:ln w="12700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07" name="Freeform 1202"/>
                <p:cNvSpPr>
                  <a:spLocks/>
                </p:cNvSpPr>
                <p:nvPr/>
              </p:nvSpPr>
              <p:spPr bwMode="auto">
                <a:xfrm>
                  <a:off x="3870" y="1299"/>
                  <a:ext cx="17" cy="135"/>
                </a:xfrm>
                <a:custGeom>
                  <a:avLst/>
                  <a:gdLst>
                    <a:gd name="T0" fmla="*/ 2 w 17"/>
                    <a:gd name="T1" fmla="*/ 0 h 135"/>
                    <a:gd name="T2" fmla="*/ 1 w 17"/>
                    <a:gd name="T3" fmla="*/ 0 h 135"/>
                    <a:gd name="T4" fmla="*/ 0 w 17"/>
                    <a:gd name="T5" fmla="*/ 1 h 135"/>
                    <a:gd name="T6" fmla="*/ 0 w 17"/>
                    <a:gd name="T7" fmla="*/ 2 h 135"/>
                    <a:gd name="T8" fmla="*/ 0 w 17"/>
                    <a:gd name="T9" fmla="*/ 2 h 135"/>
                    <a:gd name="T10" fmla="*/ 0 w 17"/>
                    <a:gd name="T11" fmla="*/ 3 h 135"/>
                    <a:gd name="T12" fmla="*/ 0 w 17"/>
                    <a:gd name="T13" fmla="*/ 4 h 135"/>
                    <a:gd name="T14" fmla="*/ 0 w 17"/>
                    <a:gd name="T15" fmla="*/ 130 h 135"/>
                    <a:gd name="T16" fmla="*/ 0 w 17"/>
                    <a:gd name="T17" fmla="*/ 130 h 135"/>
                    <a:gd name="T18" fmla="*/ 0 w 17"/>
                    <a:gd name="T19" fmla="*/ 131 h 135"/>
                    <a:gd name="T20" fmla="*/ 0 w 17"/>
                    <a:gd name="T21" fmla="*/ 132 h 135"/>
                    <a:gd name="T22" fmla="*/ 0 w 17"/>
                    <a:gd name="T23" fmla="*/ 132 h 135"/>
                    <a:gd name="T24" fmla="*/ 1 w 17"/>
                    <a:gd name="T25" fmla="*/ 133 h 135"/>
                    <a:gd name="T26" fmla="*/ 2 w 17"/>
                    <a:gd name="T27" fmla="*/ 133 h 135"/>
                    <a:gd name="T28" fmla="*/ 2 w 17"/>
                    <a:gd name="T29" fmla="*/ 134 h 135"/>
                    <a:gd name="T30" fmla="*/ 3 w 17"/>
                    <a:gd name="T31" fmla="*/ 134 h 135"/>
                    <a:gd name="T32" fmla="*/ 16 w 17"/>
                    <a:gd name="T33" fmla="*/ 127 h 135"/>
                    <a:gd name="T34" fmla="*/ 15 w 17"/>
                    <a:gd name="T35" fmla="*/ 126 h 135"/>
                    <a:gd name="T36" fmla="*/ 15 w 17"/>
                    <a:gd name="T37" fmla="*/ 126 h 135"/>
                    <a:gd name="T38" fmla="*/ 14 w 17"/>
                    <a:gd name="T39" fmla="*/ 126 h 135"/>
                    <a:gd name="T40" fmla="*/ 14 w 17"/>
                    <a:gd name="T41" fmla="*/ 125 h 135"/>
                    <a:gd name="T42" fmla="*/ 13 w 17"/>
                    <a:gd name="T43" fmla="*/ 124 h 135"/>
                    <a:gd name="T44" fmla="*/ 13 w 17"/>
                    <a:gd name="T45" fmla="*/ 124 h 135"/>
                    <a:gd name="T46" fmla="*/ 13 w 17"/>
                    <a:gd name="T47" fmla="*/ 10 h 135"/>
                    <a:gd name="T48" fmla="*/ 13 w 17"/>
                    <a:gd name="T49" fmla="*/ 9 h 135"/>
                    <a:gd name="T50" fmla="*/ 13 w 17"/>
                    <a:gd name="T51" fmla="*/ 8 h 135"/>
                    <a:gd name="T52" fmla="*/ 14 w 17"/>
                    <a:gd name="T53" fmla="*/ 8 h 135"/>
                    <a:gd name="T54" fmla="*/ 15 w 17"/>
                    <a:gd name="T55" fmla="*/ 7 h 135"/>
                    <a:gd name="T56" fmla="*/ 15 w 17"/>
                    <a:gd name="T57" fmla="*/ 6 h 135"/>
                    <a:gd name="T58" fmla="*/ 2 w 17"/>
                    <a:gd name="T59" fmla="*/ 0 h 135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w 17"/>
                    <a:gd name="T91" fmla="*/ 0 h 135"/>
                    <a:gd name="T92" fmla="*/ 17 w 17"/>
                    <a:gd name="T93" fmla="*/ 135 h 135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T90" t="T91" r="T92" b="T93"/>
                  <a:pathLst>
                    <a:path w="17" h="135">
                      <a:moveTo>
                        <a:pt x="2" y="0"/>
                      </a:moveTo>
                      <a:lnTo>
                        <a:pt x="1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0" y="130"/>
                      </a:lnTo>
                      <a:lnTo>
                        <a:pt x="0" y="131"/>
                      </a:lnTo>
                      <a:lnTo>
                        <a:pt x="0" y="132"/>
                      </a:lnTo>
                      <a:lnTo>
                        <a:pt x="1" y="133"/>
                      </a:lnTo>
                      <a:lnTo>
                        <a:pt x="2" y="133"/>
                      </a:lnTo>
                      <a:lnTo>
                        <a:pt x="2" y="134"/>
                      </a:lnTo>
                      <a:lnTo>
                        <a:pt x="3" y="134"/>
                      </a:lnTo>
                      <a:lnTo>
                        <a:pt x="16" y="127"/>
                      </a:lnTo>
                      <a:lnTo>
                        <a:pt x="15" y="126"/>
                      </a:lnTo>
                      <a:lnTo>
                        <a:pt x="14" y="126"/>
                      </a:lnTo>
                      <a:lnTo>
                        <a:pt x="14" y="125"/>
                      </a:lnTo>
                      <a:lnTo>
                        <a:pt x="13" y="124"/>
                      </a:lnTo>
                      <a:lnTo>
                        <a:pt x="13" y="10"/>
                      </a:lnTo>
                      <a:lnTo>
                        <a:pt x="13" y="9"/>
                      </a:lnTo>
                      <a:lnTo>
                        <a:pt x="13" y="8"/>
                      </a:lnTo>
                      <a:lnTo>
                        <a:pt x="14" y="8"/>
                      </a:lnTo>
                      <a:lnTo>
                        <a:pt x="15" y="7"/>
                      </a:lnTo>
                      <a:lnTo>
                        <a:pt x="15" y="6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08" name="Freeform 1203"/>
                <p:cNvSpPr>
                  <a:spLocks/>
                </p:cNvSpPr>
                <p:nvPr/>
              </p:nvSpPr>
              <p:spPr bwMode="auto">
                <a:xfrm>
                  <a:off x="3872" y="1300"/>
                  <a:ext cx="155" cy="136"/>
                </a:xfrm>
                <a:custGeom>
                  <a:avLst/>
                  <a:gdLst>
                    <a:gd name="T0" fmla="*/ 0 w 155"/>
                    <a:gd name="T1" fmla="*/ 133 h 136"/>
                    <a:gd name="T2" fmla="*/ 0 w 155"/>
                    <a:gd name="T3" fmla="*/ 134 h 136"/>
                    <a:gd name="T4" fmla="*/ 0 w 155"/>
                    <a:gd name="T5" fmla="*/ 134 h 136"/>
                    <a:gd name="T6" fmla="*/ 1 w 155"/>
                    <a:gd name="T7" fmla="*/ 134 h 136"/>
                    <a:gd name="T8" fmla="*/ 1 w 155"/>
                    <a:gd name="T9" fmla="*/ 134 h 136"/>
                    <a:gd name="T10" fmla="*/ 2 w 155"/>
                    <a:gd name="T11" fmla="*/ 135 h 136"/>
                    <a:gd name="T12" fmla="*/ 2 w 155"/>
                    <a:gd name="T13" fmla="*/ 135 h 136"/>
                    <a:gd name="T14" fmla="*/ 3 w 155"/>
                    <a:gd name="T15" fmla="*/ 135 h 136"/>
                    <a:gd name="T16" fmla="*/ 148 w 155"/>
                    <a:gd name="T17" fmla="*/ 135 h 136"/>
                    <a:gd name="T18" fmla="*/ 150 w 155"/>
                    <a:gd name="T19" fmla="*/ 134 h 136"/>
                    <a:gd name="T20" fmla="*/ 151 w 155"/>
                    <a:gd name="T21" fmla="*/ 134 h 136"/>
                    <a:gd name="T22" fmla="*/ 151 w 155"/>
                    <a:gd name="T23" fmla="*/ 133 h 136"/>
                    <a:gd name="T24" fmla="*/ 152 w 155"/>
                    <a:gd name="T25" fmla="*/ 133 h 136"/>
                    <a:gd name="T26" fmla="*/ 152 w 155"/>
                    <a:gd name="T27" fmla="*/ 133 h 136"/>
                    <a:gd name="T28" fmla="*/ 153 w 155"/>
                    <a:gd name="T29" fmla="*/ 132 h 136"/>
                    <a:gd name="T30" fmla="*/ 153 w 155"/>
                    <a:gd name="T31" fmla="*/ 131 h 136"/>
                    <a:gd name="T32" fmla="*/ 154 w 155"/>
                    <a:gd name="T33" fmla="*/ 131 h 136"/>
                    <a:gd name="T34" fmla="*/ 154 w 155"/>
                    <a:gd name="T35" fmla="*/ 129 h 136"/>
                    <a:gd name="T36" fmla="*/ 154 w 155"/>
                    <a:gd name="T37" fmla="*/ 129 h 136"/>
                    <a:gd name="T38" fmla="*/ 154 w 155"/>
                    <a:gd name="T39" fmla="*/ 3 h 136"/>
                    <a:gd name="T40" fmla="*/ 154 w 155"/>
                    <a:gd name="T41" fmla="*/ 2 h 136"/>
                    <a:gd name="T42" fmla="*/ 154 w 155"/>
                    <a:gd name="T43" fmla="*/ 1 h 136"/>
                    <a:gd name="T44" fmla="*/ 154 w 155"/>
                    <a:gd name="T45" fmla="*/ 1 h 136"/>
                    <a:gd name="T46" fmla="*/ 153 w 155"/>
                    <a:gd name="T47" fmla="*/ 1 h 136"/>
                    <a:gd name="T48" fmla="*/ 153 w 155"/>
                    <a:gd name="T49" fmla="*/ 0 h 136"/>
                    <a:gd name="T50" fmla="*/ 153 w 155"/>
                    <a:gd name="T51" fmla="*/ 0 h 136"/>
                    <a:gd name="T52" fmla="*/ 145 w 155"/>
                    <a:gd name="T53" fmla="*/ 5 h 136"/>
                    <a:gd name="T54" fmla="*/ 145 w 155"/>
                    <a:gd name="T55" fmla="*/ 5 h 136"/>
                    <a:gd name="T56" fmla="*/ 146 w 155"/>
                    <a:gd name="T57" fmla="*/ 6 h 136"/>
                    <a:gd name="T58" fmla="*/ 146 w 155"/>
                    <a:gd name="T59" fmla="*/ 7 h 136"/>
                    <a:gd name="T60" fmla="*/ 146 w 155"/>
                    <a:gd name="T61" fmla="*/ 7 h 136"/>
                    <a:gd name="T62" fmla="*/ 146 w 155"/>
                    <a:gd name="T63" fmla="*/ 7 h 136"/>
                    <a:gd name="T64" fmla="*/ 146 w 155"/>
                    <a:gd name="T65" fmla="*/ 8 h 136"/>
                    <a:gd name="T66" fmla="*/ 146 w 155"/>
                    <a:gd name="T67" fmla="*/ 9 h 136"/>
                    <a:gd name="T68" fmla="*/ 146 w 155"/>
                    <a:gd name="T69" fmla="*/ 9 h 136"/>
                    <a:gd name="T70" fmla="*/ 146 w 155"/>
                    <a:gd name="T71" fmla="*/ 123 h 136"/>
                    <a:gd name="T72" fmla="*/ 146 w 155"/>
                    <a:gd name="T73" fmla="*/ 123 h 136"/>
                    <a:gd name="T74" fmla="*/ 146 w 155"/>
                    <a:gd name="T75" fmla="*/ 124 h 136"/>
                    <a:gd name="T76" fmla="*/ 146 w 155"/>
                    <a:gd name="T77" fmla="*/ 125 h 136"/>
                    <a:gd name="T78" fmla="*/ 146 w 155"/>
                    <a:gd name="T79" fmla="*/ 125 h 136"/>
                    <a:gd name="T80" fmla="*/ 145 w 155"/>
                    <a:gd name="T81" fmla="*/ 126 h 136"/>
                    <a:gd name="T82" fmla="*/ 145 w 155"/>
                    <a:gd name="T83" fmla="*/ 127 h 136"/>
                    <a:gd name="T84" fmla="*/ 144 w 155"/>
                    <a:gd name="T85" fmla="*/ 127 h 136"/>
                    <a:gd name="T86" fmla="*/ 143 w 155"/>
                    <a:gd name="T87" fmla="*/ 127 h 136"/>
                    <a:gd name="T88" fmla="*/ 143 w 155"/>
                    <a:gd name="T89" fmla="*/ 128 h 136"/>
                    <a:gd name="T90" fmla="*/ 142 w 155"/>
                    <a:gd name="T91" fmla="*/ 128 h 136"/>
                    <a:gd name="T92" fmla="*/ 142 w 155"/>
                    <a:gd name="T93" fmla="*/ 128 h 136"/>
                    <a:gd name="T94" fmla="*/ 9 w 155"/>
                    <a:gd name="T95" fmla="*/ 128 h 136"/>
                    <a:gd name="T96" fmla="*/ 8 w 155"/>
                    <a:gd name="T97" fmla="*/ 128 h 136"/>
                    <a:gd name="T98" fmla="*/ 8 w 155"/>
                    <a:gd name="T99" fmla="*/ 128 h 136"/>
                    <a:gd name="T100" fmla="*/ 8 w 155"/>
                    <a:gd name="T101" fmla="*/ 127 h 136"/>
                    <a:gd name="T102" fmla="*/ 7 w 155"/>
                    <a:gd name="T103" fmla="*/ 127 h 136"/>
                    <a:gd name="T104" fmla="*/ 7 w 155"/>
                    <a:gd name="T105" fmla="*/ 127 h 136"/>
                    <a:gd name="T106" fmla="*/ 6 w 155"/>
                    <a:gd name="T107" fmla="*/ 127 h 136"/>
                    <a:gd name="T108" fmla="*/ 6 w 155"/>
                    <a:gd name="T109" fmla="*/ 127 h 136"/>
                    <a:gd name="T110" fmla="*/ 0 w 155"/>
                    <a:gd name="T111" fmla="*/ 133 h 1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55"/>
                    <a:gd name="T169" fmla="*/ 0 h 136"/>
                    <a:gd name="T170" fmla="*/ 155 w 155"/>
                    <a:gd name="T171" fmla="*/ 136 h 136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55" h="136">
                      <a:moveTo>
                        <a:pt x="0" y="133"/>
                      </a:moveTo>
                      <a:lnTo>
                        <a:pt x="0" y="134"/>
                      </a:lnTo>
                      <a:lnTo>
                        <a:pt x="1" y="134"/>
                      </a:lnTo>
                      <a:lnTo>
                        <a:pt x="2" y="135"/>
                      </a:lnTo>
                      <a:lnTo>
                        <a:pt x="3" y="135"/>
                      </a:lnTo>
                      <a:lnTo>
                        <a:pt x="148" y="135"/>
                      </a:lnTo>
                      <a:lnTo>
                        <a:pt x="150" y="134"/>
                      </a:lnTo>
                      <a:lnTo>
                        <a:pt x="151" y="134"/>
                      </a:lnTo>
                      <a:lnTo>
                        <a:pt x="151" y="133"/>
                      </a:lnTo>
                      <a:lnTo>
                        <a:pt x="152" y="133"/>
                      </a:lnTo>
                      <a:lnTo>
                        <a:pt x="153" y="132"/>
                      </a:lnTo>
                      <a:lnTo>
                        <a:pt x="153" y="131"/>
                      </a:lnTo>
                      <a:lnTo>
                        <a:pt x="154" y="131"/>
                      </a:lnTo>
                      <a:lnTo>
                        <a:pt x="154" y="129"/>
                      </a:lnTo>
                      <a:lnTo>
                        <a:pt x="154" y="3"/>
                      </a:lnTo>
                      <a:lnTo>
                        <a:pt x="154" y="2"/>
                      </a:lnTo>
                      <a:lnTo>
                        <a:pt x="154" y="1"/>
                      </a:lnTo>
                      <a:lnTo>
                        <a:pt x="153" y="1"/>
                      </a:lnTo>
                      <a:lnTo>
                        <a:pt x="153" y="0"/>
                      </a:lnTo>
                      <a:lnTo>
                        <a:pt x="145" y="5"/>
                      </a:lnTo>
                      <a:lnTo>
                        <a:pt x="146" y="6"/>
                      </a:lnTo>
                      <a:lnTo>
                        <a:pt x="146" y="7"/>
                      </a:lnTo>
                      <a:lnTo>
                        <a:pt x="146" y="8"/>
                      </a:lnTo>
                      <a:lnTo>
                        <a:pt x="146" y="9"/>
                      </a:lnTo>
                      <a:lnTo>
                        <a:pt x="146" y="123"/>
                      </a:lnTo>
                      <a:lnTo>
                        <a:pt x="146" y="124"/>
                      </a:lnTo>
                      <a:lnTo>
                        <a:pt x="146" y="125"/>
                      </a:lnTo>
                      <a:lnTo>
                        <a:pt x="145" y="126"/>
                      </a:lnTo>
                      <a:lnTo>
                        <a:pt x="145" y="127"/>
                      </a:lnTo>
                      <a:lnTo>
                        <a:pt x="144" y="127"/>
                      </a:lnTo>
                      <a:lnTo>
                        <a:pt x="143" y="127"/>
                      </a:lnTo>
                      <a:lnTo>
                        <a:pt x="143" y="128"/>
                      </a:lnTo>
                      <a:lnTo>
                        <a:pt x="142" y="128"/>
                      </a:lnTo>
                      <a:lnTo>
                        <a:pt x="9" y="128"/>
                      </a:lnTo>
                      <a:lnTo>
                        <a:pt x="8" y="128"/>
                      </a:lnTo>
                      <a:lnTo>
                        <a:pt x="8" y="127"/>
                      </a:lnTo>
                      <a:lnTo>
                        <a:pt x="7" y="127"/>
                      </a:lnTo>
                      <a:lnTo>
                        <a:pt x="6" y="127"/>
                      </a:lnTo>
                      <a:lnTo>
                        <a:pt x="0" y="133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09" name="Freeform 1204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16 h 17"/>
                    <a:gd name="T2" fmla="*/ 151 w 153"/>
                    <a:gd name="T3" fmla="*/ 16 h 17"/>
                    <a:gd name="T4" fmla="*/ 151 w 153"/>
                    <a:gd name="T5" fmla="*/ 10 h 17"/>
                    <a:gd name="T6" fmla="*/ 150 w 153"/>
                    <a:gd name="T7" fmla="*/ 10 h 17"/>
                    <a:gd name="T8" fmla="*/ 150 w 153"/>
                    <a:gd name="T9" fmla="*/ 10 h 17"/>
                    <a:gd name="T10" fmla="*/ 150 w 153"/>
                    <a:gd name="T11" fmla="*/ 5 h 17"/>
                    <a:gd name="T12" fmla="*/ 149 w 153"/>
                    <a:gd name="T13" fmla="*/ 5 h 17"/>
                    <a:gd name="T14" fmla="*/ 149 w 153"/>
                    <a:gd name="T15" fmla="*/ 5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5 h 17"/>
                    <a:gd name="T32" fmla="*/ 1 w 153"/>
                    <a:gd name="T33" fmla="*/ 5 h 17"/>
                    <a:gd name="T34" fmla="*/ 0 w 153"/>
                    <a:gd name="T35" fmla="*/ 10 h 17"/>
                    <a:gd name="T36" fmla="*/ 0 w 153"/>
                    <a:gd name="T37" fmla="*/ 10 h 17"/>
                    <a:gd name="T38" fmla="*/ 0 w 153"/>
                    <a:gd name="T39" fmla="*/ 16 h 17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153"/>
                    <a:gd name="T61" fmla="*/ 0 h 17"/>
                    <a:gd name="T62" fmla="*/ 153 w 153"/>
                    <a:gd name="T63" fmla="*/ 17 h 17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153" h="17">
                      <a:moveTo>
                        <a:pt x="152" y="16"/>
                      </a:moveTo>
                      <a:lnTo>
                        <a:pt x="151" y="16"/>
                      </a:lnTo>
                      <a:lnTo>
                        <a:pt x="151" y="10"/>
                      </a:lnTo>
                      <a:lnTo>
                        <a:pt x="150" y="10"/>
                      </a:lnTo>
                      <a:lnTo>
                        <a:pt x="150" y="5"/>
                      </a:lnTo>
                      <a:lnTo>
                        <a:pt x="149" y="5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5"/>
                      </a:lnTo>
                      <a:lnTo>
                        <a:pt x="0" y="1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10" name="Freeform 1205"/>
                <p:cNvSpPr>
                  <a:spLocks/>
                </p:cNvSpPr>
                <p:nvPr/>
              </p:nvSpPr>
              <p:spPr bwMode="auto">
                <a:xfrm>
                  <a:off x="3843" y="1489"/>
                  <a:ext cx="215" cy="72"/>
                </a:xfrm>
                <a:custGeom>
                  <a:avLst/>
                  <a:gdLst>
                    <a:gd name="T0" fmla="*/ 0 w 215"/>
                    <a:gd name="T1" fmla="*/ 71 h 72"/>
                    <a:gd name="T2" fmla="*/ 0 w 215"/>
                    <a:gd name="T3" fmla="*/ 0 h 72"/>
                    <a:gd name="T4" fmla="*/ 214 w 215"/>
                    <a:gd name="T5" fmla="*/ 0 h 72"/>
                    <a:gd name="T6" fmla="*/ 214 w 215"/>
                    <a:gd name="T7" fmla="*/ 71 h 72"/>
                    <a:gd name="T8" fmla="*/ 0 w 215"/>
                    <a:gd name="T9" fmla="*/ 71 h 7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15"/>
                    <a:gd name="T16" fmla="*/ 0 h 72"/>
                    <a:gd name="T17" fmla="*/ 215 w 215"/>
                    <a:gd name="T18" fmla="*/ 72 h 7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15" h="72">
                      <a:moveTo>
                        <a:pt x="0" y="71"/>
                      </a:moveTo>
                      <a:lnTo>
                        <a:pt x="0" y="0"/>
                      </a:lnTo>
                      <a:lnTo>
                        <a:pt x="214" y="0"/>
                      </a:lnTo>
                      <a:lnTo>
                        <a:pt x="214" y="71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11" name="Freeform 1206"/>
                <p:cNvSpPr>
                  <a:spLocks/>
                </p:cNvSpPr>
                <p:nvPr/>
              </p:nvSpPr>
              <p:spPr bwMode="auto">
                <a:xfrm>
                  <a:off x="3841" y="1489"/>
                  <a:ext cx="219" cy="23"/>
                </a:xfrm>
                <a:custGeom>
                  <a:avLst/>
                  <a:gdLst>
                    <a:gd name="T0" fmla="*/ 79 w 219"/>
                    <a:gd name="T1" fmla="*/ 0 h 23"/>
                    <a:gd name="T2" fmla="*/ 0 w 219"/>
                    <a:gd name="T3" fmla="*/ 0 h 23"/>
                    <a:gd name="T4" fmla="*/ 0 w 219"/>
                    <a:gd name="T5" fmla="*/ 22 h 23"/>
                    <a:gd name="T6" fmla="*/ 218 w 219"/>
                    <a:gd name="T7" fmla="*/ 22 h 23"/>
                    <a:gd name="T8" fmla="*/ 215 w 219"/>
                    <a:gd name="T9" fmla="*/ 0 h 23"/>
                    <a:gd name="T10" fmla="*/ 137 w 219"/>
                    <a:gd name="T11" fmla="*/ 0 h 23"/>
                    <a:gd name="T12" fmla="*/ 79 w 219"/>
                    <a:gd name="T13" fmla="*/ 0 h 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19"/>
                    <a:gd name="T22" fmla="*/ 0 h 23"/>
                    <a:gd name="T23" fmla="*/ 219 w 219"/>
                    <a:gd name="T24" fmla="*/ 23 h 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9" h="23">
                      <a:moveTo>
                        <a:pt x="79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218" y="22"/>
                      </a:lnTo>
                      <a:lnTo>
                        <a:pt x="215" y="0"/>
                      </a:lnTo>
                      <a:lnTo>
                        <a:pt x="137" y="0"/>
                      </a:lnTo>
                      <a:lnTo>
                        <a:pt x="79" y="0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12" name="Freeform 1207"/>
                <p:cNvSpPr>
                  <a:spLocks/>
                </p:cNvSpPr>
                <p:nvPr/>
              </p:nvSpPr>
              <p:spPr bwMode="auto">
                <a:xfrm>
                  <a:off x="3991" y="1495"/>
                  <a:ext cx="56" cy="17"/>
                </a:xfrm>
                <a:custGeom>
                  <a:avLst/>
                  <a:gdLst>
                    <a:gd name="T0" fmla="*/ 0 w 56"/>
                    <a:gd name="T1" fmla="*/ 6 h 17"/>
                    <a:gd name="T2" fmla="*/ 18 w 56"/>
                    <a:gd name="T3" fmla="*/ 6 h 17"/>
                    <a:gd name="T4" fmla="*/ 18 w 56"/>
                    <a:gd name="T5" fmla="*/ 0 h 17"/>
                    <a:gd name="T6" fmla="*/ 35 w 56"/>
                    <a:gd name="T7" fmla="*/ 0 h 17"/>
                    <a:gd name="T8" fmla="*/ 35 w 56"/>
                    <a:gd name="T9" fmla="*/ 6 h 17"/>
                    <a:gd name="T10" fmla="*/ 55 w 56"/>
                    <a:gd name="T11" fmla="*/ 6 h 17"/>
                    <a:gd name="T12" fmla="*/ 55 w 56"/>
                    <a:gd name="T13" fmla="*/ 10 h 17"/>
                    <a:gd name="T14" fmla="*/ 35 w 56"/>
                    <a:gd name="T15" fmla="*/ 10 h 17"/>
                    <a:gd name="T16" fmla="*/ 35 w 56"/>
                    <a:gd name="T17" fmla="*/ 16 h 17"/>
                    <a:gd name="T18" fmla="*/ 18 w 56"/>
                    <a:gd name="T19" fmla="*/ 16 h 17"/>
                    <a:gd name="T20" fmla="*/ 18 w 56"/>
                    <a:gd name="T21" fmla="*/ 10 h 17"/>
                    <a:gd name="T22" fmla="*/ 0 w 56"/>
                    <a:gd name="T23" fmla="*/ 10 h 17"/>
                    <a:gd name="T24" fmla="*/ 0 w 56"/>
                    <a:gd name="T25" fmla="*/ 6 h 17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56"/>
                    <a:gd name="T40" fmla="*/ 0 h 17"/>
                    <a:gd name="T41" fmla="*/ 56 w 56"/>
                    <a:gd name="T42" fmla="*/ 17 h 17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56" h="17">
                      <a:moveTo>
                        <a:pt x="0" y="6"/>
                      </a:moveTo>
                      <a:lnTo>
                        <a:pt x="18" y="6"/>
                      </a:lnTo>
                      <a:lnTo>
                        <a:pt x="18" y="0"/>
                      </a:lnTo>
                      <a:lnTo>
                        <a:pt x="35" y="0"/>
                      </a:lnTo>
                      <a:lnTo>
                        <a:pt x="35" y="6"/>
                      </a:lnTo>
                      <a:lnTo>
                        <a:pt x="55" y="6"/>
                      </a:lnTo>
                      <a:lnTo>
                        <a:pt x="55" y="10"/>
                      </a:lnTo>
                      <a:lnTo>
                        <a:pt x="35" y="10"/>
                      </a:lnTo>
                      <a:lnTo>
                        <a:pt x="35" y="16"/>
                      </a:lnTo>
                      <a:lnTo>
                        <a:pt x="18" y="16"/>
                      </a:lnTo>
                      <a:lnTo>
                        <a:pt x="18" y="10"/>
                      </a:lnTo>
                      <a:lnTo>
                        <a:pt x="0" y="10"/>
                      </a:lnTo>
                      <a:lnTo>
                        <a:pt x="0" y="6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13" name="Freeform 1208"/>
                <p:cNvSpPr>
                  <a:spLocks/>
                </p:cNvSpPr>
                <p:nvPr/>
              </p:nvSpPr>
              <p:spPr bwMode="auto">
                <a:xfrm>
                  <a:off x="3991" y="1501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0 h 17"/>
                    <a:gd name="T4" fmla="*/ 16 w 17"/>
                    <a:gd name="T5" fmla="*/ 5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17"/>
                    <a:gd name="T14" fmla="*/ 17 w 17"/>
                    <a:gd name="T15" fmla="*/ 17 h 1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17">
                      <a:moveTo>
                        <a:pt x="0" y="16"/>
                      </a:moveTo>
                      <a:lnTo>
                        <a:pt x="16" y="10"/>
                      </a:lnTo>
                      <a:lnTo>
                        <a:pt x="16" y="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14" name="Freeform 1209"/>
                <p:cNvSpPr>
                  <a:spLocks/>
                </p:cNvSpPr>
                <p:nvPr/>
              </p:nvSpPr>
              <p:spPr bwMode="auto">
                <a:xfrm>
                  <a:off x="4010" y="149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15" name="Freeform 1210"/>
                <p:cNvSpPr>
                  <a:spLocks/>
                </p:cNvSpPr>
                <p:nvPr/>
              </p:nvSpPr>
              <p:spPr bwMode="auto">
                <a:xfrm>
                  <a:off x="4046" y="1504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16" name="Freeform 1211"/>
                <p:cNvSpPr>
                  <a:spLocks/>
                </p:cNvSpPr>
                <p:nvPr/>
              </p:nvSpPr>
              <p:spPr bwMode="auto">
                <a:xfrm>
                  <a:off x="4027" y="1495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0 h 17"/>
                    <a:gd name="T4" fmla="*/ 0 w 17"/>
                    <a:gd name="T5" fmla="*/ 16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16"/>
                      </a:moveTo>
                      <a:lnTo>
                        <a:pt x="16" y="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17" name="Freeform 1212"/>
                <p:cNvSpPr>
                  <a:spLocks/>
                </p:cNvSpPr>
                <p:nvPr/>
              </p:nvSpPr>
              <p:spPr bwMode="auto">
                <a:xfrm>
                  <a:off x="4011" y="1499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6 h 17"/>
                    <a:gd name="T4" fmla="*/ 16 w 17"/>
                    <a:gd name="T5" fmla="*/ 0 h 17"/>
                    <a:gd name="T6" fmla="*/ 0 w 17"/>
                    <a:gd name="T7" fmla="*/ 0 h 17"/>
                    <a:gd name="T8" fmla="*/ 0 w 17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16"/>
                      </a:moveTo>
                      <a:lnTo>
                        <a:pt x="16" y="16"/>
                      </a:lnTo>
                      <a:lnTo>
                        <a:pt x="16" y="0"/>
                      </a:lnTo>
                      <a:lnTo>
                        <a:pt x="0" y="0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F9FA2"/>
                </a:solidFill>
                <a:ln w="12700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18" name="Freeform 1213"/>
                <p:cNvSpPr>
                  <a:spLocks/>
                </p:cNvSpPr>
                <p:nvPr/>
              </p:nvSpPr>
              <p:spPr bwMode="auto">
                <a:xfrm>
                  <a:off x="3993" y="1502"/>
                  <a:ext cx="54" cy="17"/>
                </a:xfrm>
                <a:custGeom>
                  <a:avLst/>
                  <a:gdLst>
                    <a:gd name="T0" fmla="*/ 0 w 54"/>
                    <a:gd name="T1" fmla="*/ 0 h 17"/>
                    <a:gd name="T2" fmla="*/ 53 w 54"/>
                    <a:gd name="T3" fmla="*/ 0 h 17"/>
                    <a:gd name="T4" fmla="*/ 53 w 54"/>
                    <a:gd name="T5" fmla="*/ 16 h 17"/>
                    <a:gd name="T6" fmla="*/ 0 w 54"/>
                    <a:gd name="T7" fmla="*/ 16 h 17"/>
                    <a:gd name="T8" fmla="*/ 0 w 54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4"/>
                    <a:gd name="T16" fmla="*/ 0 h 17"/>
                    <a:gd name="T17" fmla="*/ 54 w 5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4" h="17">
                      <a:moveTo>
                        <a:pt x="0" y="0"/>
                      </a:moveTo>
                      <a:lnTo>
                        <a:pt x="53" y="0"/>
                      </a:lnTo>
                      <a:lnTo>
                        <a:pt x="53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19" name="Freeform 1214"/>
                <p:cNvSpPr>
                  <a:spLocks/>
                </p:cNvSpPr>
                <p:nvPr/>
              </p:nvSpPr>
              <p:spPr bwMode="auto">
                <a:xfrm>
                  <a:off x="4010" y="1496"/>
                  <a:ext cx="19" cy="17"/>
                </a:xfrm>
                <a:custGeom>
                  <a:avLst/>
                  <a:gdLst>
                    <a:gd name="T0" fmla="*/ 18 w 19"/>
                    <a:gd name="T1" fmla="*/ 12 h 17"/>
                    <a:gd name="T2" fmla="*/ 17 w 19"/>
                    <a:gd name="T3" fmla="*/ 16 h 17"/>
                    <a:gd name="T4" fmla="*/ 17 w 19"/>
                    <a:gd name="T5" fmla="*/ 0 h 17"/>
                    <a:gd name="T6" fmla="*/ 0 w 19"/>
                    <a:gd name="T7" fmla="*/ 0 h 17"/>
                    <a:gd name="T8" fmla="*/ 0 w 19"/>
                    <a:gd name="T9" fmla="*/ 16 h 17"/>
                    <a:gd name="T10" fmla="*/ 0 w 19"/>
                    <a:gd name="T11" fmla="*/ 12 h 1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"/>
                    <a:gd name="T19" fmla="*/ 0 h 17"/>
                    <a:gd name="T20" fmla="*/ 19 w 19"/>
                    <a:gd name="T21" fmla="*/ 17 h 1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" h="17">
                      <a:moveTo>
                        <a:pt x="18" y="12"/>
                      </a:moveTo>
                      <a:lnTo>
                        <a:pt x="17" y="16"/>
                      </a:ln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6"/>
                      </a:lnTo>
                      <a:lnTo>
                        <a:pt x="0" y="12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20" name="Freeform 1215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16 w 17"/>
                    <a:gd name="T1" fmla="*/ 0 h 17"/>
                    <a:gd name="T2" fmla="*/ 16 w 17"/>
                    <a:gd name="T3" fmla="*/ 16 h 17"/>
                    <a:gd name="T4" fmla="*/ 0 w 17"/>
                    <a:gd name="T5" fmla="*/ 16 h 17"/>
                    <a:gd name="T6" fmla="*/ 0 w 17"/>
                    <a:gd name="T7" fmla="*/ 0 h 17"/>
                    <a:gd name="T8" fmla="*/ 16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16" y="0"/>
                      </a:move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  <a:lnTo>
                        <a:pt x="16" y="0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21" name="Freeform 1216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22" name="Freeform 1217"/>
                <p:cNvSpPr>
                  <a:spLocks/>
                </p:cNvSpPr>
                <p:nvPr/>
              </p:nvSpPr>
              <p:spPr bwMode="auto">
                <a:xfrm>
                  <a:off x="3930" y="1497"/>
                  <a:ext cx="44" cy="17"/>
                </a:xfrm>
                <a:custGeom>
                  <a:avLst/>
                  <a:gdLst>
                    <a:gd name="T0" fmla="*/ 14 w 44"/>
                    <a:gd name="T1" fmla="*/ 16 h 17"/>
                    <a:gd name="T2" fmla="*/ 0 w 44"/>
                    <a:gd name="T3" fmla="*/ 16 h 17"/>
                    <a:gd name="T4" fmla="*/ 0 w 44"/>
                    <a:gd name="T5" fmla="*/ 8 h 17"/>
                    <a:gd name="T6" fmla="*/ 14 w 44"/>
                    <a:gd name="T7" fmla="*/ 8 h 17"/>
                    <a:gd name="T8" fmla="*/ 14 w 44"/>
                    <a:gd name="T9" fmla="*/ 0 h 17"/>
                    <a:gd name="T10" fmla="*/ 28 w 44"/>
                    <a:gd name="T11" fmla="*/ 0 h 17"/>
                    <a:gd name="T12" fmla="*/ 28 w 44"/>
                    <a:gd name="T13" fmla="*/ 8 h 17"/>
                    <a:gd name="T14" fmla="*/ 43 w 44"/>
                    <a:gd name="T15" fmla="*/ 8 h 17"/>
                    <a:gd name="T16" fmla="*/ 43 w 44"/>
                    <a:gd name="T17" fmla="*/ 16 h 17"/>
                    <a:gd name="T18" fmla="*/ 28 w 44"/>
                    <a:gd name="T19" fmla="*/ 16 h 17"/>
                    <a:gd name="T20" fmla="*/ 14 w 44"/>
                    <a:gd name="T21" fmla="*/ 16 h 1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44"/>
                    <a:gd name="T34" fmla="*/ 0 h 17"/>
                    <a:gd name="T35" fmla="*/ 44 w 44"/>
                    <a:gd name="T36" fmla="*/ 17 h 17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44" h="17">
                      <a:moveTo>
                        <a:pt x="14" y="16"/>
                      </a:moveTo>
                      <a:lnTo>
                        <a:pt x="0" y="16"/>
                      </a:lnTo>
                      <a:lnTo>
                        <a:pt x="0" y="8"/>
                      </a:lnTo>
                      <a:lnTo>
                        <a:pt x="14" y="8"/>
                      </a:lnTo>
                      <a:lnTo>
                        <a:pt x="14" y="0"/>
                      </a:lnTo>
                      <a:lnTo>
                        <a:pt x="28" y="0"/>
                      </a:lnTo>
                      <a:lnTo>
                        <a:pt x="28" y="8"/>
                      </a:lnTo>
                      <a:lnTo>
                        <a:pt x="43" y="8"/>
                      </a:lnTo>
                      <a:lnTo>
                        <a:pt x="43" y="16"/>
                      </a:lnTo>
                      <a:lnTo>
                        <a:pt x="28" y="16"/>
                      </a:lnTo>
                      <a:lnTo>
                        <a:pt x="14" y="16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23" name="Freeform 1218"/>
                <p:cNvSpPr>
                  <a:spLocks/>
                </p:cNvSpPr>
                <p:nvPr/>
              </p:nvSpPr>
              <p:spPr bwMode="auto">
                <a:xfrm>
                  <a:off x="3945" y="1497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24" name="Freeform 1219"/>
                <p:cNvSpPr>
                  <a:spLocks/>
                </p:cNvSpPr>
                <p:nvPr/>
              </p:nvSpPr>
              <p:spPr bwMode="auto">
                <a:xfrm>
                  <a:off x="3897" y="1494"/>
                  <a:ext cx="20" cy="17"/>
                </a:xfrm>
                <a:custGeom>
                  <a:avLst/>
                  <a:gdLst>
                    <a:gd name="T0" fmla="*/ 5 w 20"/>
                    <a:gd name="T1" fmla="*/ 16 h 17"/>
                    <a:gd name="T2" fmla="*/ 3 w 20"/>
                    <a:gd name="T3" fmla="*/ 15 h 17"/>
                    <a:gd name="T4" fmla="*/ 2 w 20"/>
                    <a:gd name="T5" fmla="*/ 15 h 17"/>
                    <a:gd name="T6" fmla="*/ 1 w 20"/>
                    <a:gd name="T7" fmla="*/ 14 h 17"/>
                    <a:gd name="T8" fmla="*/ 1 w 20"/>
                    <a:gd name="T9" fmla="*/ 12 h 17"/>
                    <a:gd name="T10" fmla="*/ 0 w 20"/>
                    <a:gd name="T11" fmla="*/ 12 h 17"/>
                    <a:gd name="T12" fmla="*/ 0 w 20"/>
                    <a:gd name="T13" fmla="*/ 10 h 17"/>
                    <a:gd name="T14" fmla="*/ 0 w 20"/>
                    <a:gd name="T15" fmla="*/ 8 h 17"/>
                    <a:gd name="T16" fmla="*/ 0 w 20"/>
                    <a:gd name="T17" fmla="*/ 6 h 17"/>
                    <a:gd name="T18" fmla="*/ 0 w 20"/>
                    <a:gd name="T19" fmla="*/ 4 h 17"/>
                    <a:gd name="T20" fmla="*/ 0 w 20"/>
                    <a:gd name="T21" fmla="*/ 3 h 17"/>
                    <a:gd name="T22" fmla="*/ 1 w 20"/>
                    <a:gd name="T23" fmla="*/ 2 h 17"/>
                    <a:gd name="T24" fmla="*/ 2 w 20"/>
                    <a:gd name="T25" fmla="*/ 1 h 17"/>
                    <a:gd name="T26" fmla="*/ 3 w 20"/>
                    <a:gd name="T27" fmla="*/ 0 h 17"/>
                    <a:gd name="T28" fmla="*/ 4 w 20"/>
                    <a:gd name="T29" fmla="*/ 0 h 17"/>
                    <a:gd name="T30" fmla="*/ 5 w 20"/>
                    <a:gd name="T31" fmla="*/ 0 h 17"/>
                    <a:gd name="T32" fmla="*/ 12 w 20"/>
                    <a:gd name="T33" fmla="*/ 0 h 17"/>
                    <a:gd name="T34" fmla="*/ 13 w 20"/>
                    <a:gd name="T35" fmla="*/ 0 h 17"/>
                    <a:gd name="T36" fmla="*/ 15 w 20"/>
                    <a:gd name="T37" fmla="*/ 0 h 17"/>
                    <a:gd name="T38" fmla="*/ 16 w 20"/>
                    <a:gd name="T39" fmla="*/ 1 h 17"/>
                    <a:gd name="T40" fmla="*/ 17 w 20"/>
                    <a:gd name="T41" fmla="*/ 3 h 17"/>
                    <a:gd name="T42" fmla="*/ 17 w 20"/>
                    <a:gd name="T43" fmla="*/ 3 h 17"/>
                    <a:gd name="T44" fmla="*/ 18 w 20"/>
                    <a:gd name="T45" fmla="*/ 5 h 17"/>
                    <a:gd name="T46" fmla="*/ 18 w 20"/>
                    <a:gd name="T47" fmla="*/ 7 h 17"/>
                    <a:gd name="T48" fmla="*/ 18 w 20"/>
                    <a:gd name="T49" fmla="*/ 8 h 17"/>
                    <a:gd name="T50" fmla="*/ 18 w 20"/>
                    <a:gd name="T51" fmla="*/ 10 h 17"/>
                    <a:gd name="T52" fmla="*/ 17 w 20"/>
                    <a:gd name="T53" fmla="*/ 12 h 17"/>
                    <a:gd name="T54" fmla="*/ 16 w 20"/>
                    <a:gd name="T55" fmla="*/ 13 h 17"/>
                    <a:gd name="T56" fmla="*/ 15 w 20"/>
                    <a:gd name="T57" fmla="*/ 15 h 17"/>
                    <a:gd name="T58" fmla="*/ 13 w 20"/>
                    <a:gd name="T59" fmla="*/ 15 h 17"/>
                    <a:gd name="T60" fmla="*/ 13 w 20"/>
                    <a:gd name="T61" fmla="*/ 16 h 17"/>
                    <a:gd name="T62" fmla="*/ 12 w 20"/>
                    <a:gd name="T63" fmla="*/ 16 h 17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20"/>
                    <a:gd name="T97" fmla="*/ 0 h 17"/>
                    <a:gd name="T98" fmla="*/ 20 w 20"/>
                    <a:gd name="T99" fmla="*/ 17 h 17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20" h="17">
                      <a:moveTo>
                        <a:pt x="5" y="16"/>
                      </a:moveTo>
                      <a:lnTo>
                        <a:pt x="5" y="16"/>
                      </a:lnTo>
                      <a:lnTo>
                        <a:pt x="4" y="16"/>
                      </a:lnTo>
                      <a:lnTo>
                        <a:pt x="3" y="15"/>
                      </a:lnTo>
                      <a:lnTo>
                        <a:pt x="2" y="15"/>
                      </a:lnTo>
                      <a:lnTo>
                        <a:pt x="2" y="14"/>
                      </a:lnTo>
                      <a:lnTo>
                        <a:pt x="1" y="14"/>
                      </a:lnTo>
                      <a:lnTo>
                        <a:pt x="1" y="13"/>
                      </a:lnTo>
                      <a:lnTo>
                        <a:pt x="1" y="12"/>
                      </a:lnTo>
                      <a:lnTo>
                        <a:pt x="0" y="12"/>
                      </a:lnTo>
                      <a:lnTo>
                        <a:pt x="0" y="11"/>
                      </a:lnTo>
                      <a:lnTo>
                        <a:pt x="0" y="10"/>
                      </a:lnTo>
                      <a:lnTo>
                        <a:pt x="0" y="9"/>
                      </a:lnTo>
                      <a:lnTo>
                        <a:pt x="0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1" y="3"/>
                      </a:lnTo>
                      <a:lnTo>
                        <a:pt x="1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5" y="0"/>
                      </a:lnTo>
                      <a:lnTo>
                        <a:pt x="12" y="0"/>
                      </a:lnTo>
                      <a:lnTo>
                        <a:pt x="13" y="0"/>
                      </a:lnTo>
                      <a:lnTo>
                        <a:pt x="15" y="0"/>
                      </a:lnTo>
                      <a:lnTo>
                        <a:pt x="16" y="1"/>
                      </a:lnTo>
                      <a:lnTo>
                        <a:pt x="16" y="2"/>
                      </a:lnTo>
                      <a:lnTo>
                        <a:pt x="17" y="3"/>
                      </a:lnTo>
                      <a:lnTo>
                        <a:pt x="18" y="4"/>
                      </a:lnTo>
                      <a:lnTo>
                        <a:pt x="18" y="5"/>
                      </a:lnTo>
                      <a:lnTo>
                        <a:pt x="18" y="6"/>
                      </a:lnTo>
                      <a:lnTo>
                        <a:pt x="18" y="7"/>
                      </a:lnTo>
                      <a:lnTo>
                        <a:pt x="19" y="8"/>
                      </a:lnTo>
                      <a:lnTo>
                        <a:pt x="18" y="8"/>
                      </a:lnTo>
                      <a:lnTo>
                        <a:pt x="18" y="9"/>
                      </a:lnTo>
                      <a:lnTo>
                        <a:pt x="18" y="10"/>
                      </a:lnTo>
                      <a:lnTo>
                        <a:pt x="18" y="11"/>
                      </a:lnTo>
                      <a:lnTo>
                        <a:pt x="17" y="12"/>
                      </a:lnTo>
                      <a:lnTo>
                        <a:pt x="16" y="13"/>
                      </a:lnTo>
                      <a:lnTo>
                        <a:pt x="16" y="14"/>
                      </a:lnTo>
                      <a:lnTo>
                        <a:pt x="15" y="15"/>
                      </a:lnTo>
                      <a:lnTo>
                        <a:pt x="13" y="15"/>
                      </a:lnTo>
                      <a:lnTo>
                        <a:pt x="13" y="16"/>
                      </a:lnTo>
                      <a:lnTo>
                        <a:pt x="12" y="16"/>
                      </a:lnTo>
                      <a:lnTo>
                        <a:pt x="5" y="16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25" name="Freeform 1220"/>
                <p:cNvSpPr>
                  <a:spLocks/>
                </p:cNvSpPr>
                <p:nvPr/>
              </p:nvSpPr>
              <p:spPr bwMode="auto">
                <a:xfrm>
                  <a:off x="3921" y="1489"/>
                  <a:ext cx="17" cy="38"/>
                </a:xfrm>
                <a:custGeom>
                  <a:avLst/>
                  <a:gdLst>
                    <a:gd name="T0" fmla="*/ 8 w 17"/>
                    <a:gd name="T1" fmla="*/ 0 h 38"/>
                    <a:gd name="T2" fmla="*/ 0 w 17"/>
                    <a:gd name="T3" fmla="*/ 22 h 38"/>
                    <a:gd name="T4" fmla="*/ 16 w 17"/>
                    <a:gd name="T5" fmla="*/ 22 h 38"/>
                    <a:gd name="T6" fmla="*/ 16 w 17"/>
                    <a:gd name="T7" fmla="*/ 37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38"/>
                    <a:gd name="T14" fmla="*/ 17 w 17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38">
                      <a:moveTo>
                        <a:pt x="8" y="0"/>
                      </a:moveTo>
                      <a:lnTo>
                        <a:pt x="0" y="22"/>
                      </a:lnTo>
                      <a:lnTo>
                        <a:pt x="16" y="22"/>
                      </a:lnTo>
                      <a:lnTo>
                        <a:pt x="16" y="37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26" name="Freeform 1221"/>
                <p:cNvSpPr>
                  <a:spLocks/>
                </p:cNvSpPr>
                <p:nvPr/>
              </p:nvSpPr>
              <p:spPr bwMode="auto">
                <a:xfrm>
                  <a:off x="3979" y="1489"/>
                  <a:ext cx="17" cy="72"/>
                </a:xfrm>
                <a:custGeom>
                  <a:avLst/>
                  <a:gdLst>
                    <a:gd name="T0" fmla="*/ 0 w 17"/>
                    <a:gd name="T1" fmla="*/ 0 h 72"/>
                    <a:gd name="T2" fmla="*/ 16 w 17"/>
                    <a:gd name="T3" fmla="*/ 22 h 72"/>
                    <a:gd name="T4" fmla="*/ 0 w 17"/>
                    <a:gd name="T5" fmla="*/ 22 h 72"/>
                    <a:gd name="T6" fmla="*/ 0 w 17"/>
                    <a:gd name="T7" fmla="*/ 71 h 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72"/>
                    <a:gd name="T14" fmla="*/ 17 w 17"/>
                    <a:gd name="T15" fmla="*/ 72 h 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72">
                      <a:moveTo>
                        <a:pt x="0" y="0"/>
                      </a:moveTo>
                      <a:lnTo>
                        <a:pt x="16" y="22"/>
                      </a:lnTo>
                      <a:lnTo>
                        <a:pt x="0" y="22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27" name="Freeform 1222"/>
                <p:cNvSpPr>
                  <a:spLocks/>
                </p:cNvSpPr>
                <p:nvPr/>
              </p:nvSpPr>
              <p:spPr bwMode="auto">
                <a:xfrm>
                  <a:off x="3855" y="1532"/>
                  <a:ext cx="250" cy="41"/>
                </a:xfrm>
                <a:custGeom>
                  <a:avLst/>
                  <a:gdLst>
                    <a:gd name="T0" fmla="*/ 0 w 250"/>
                    <a:gd name="T1" fmla="*/ 40 h 41"/>
                    <a:gd name="T2" fmla="*/ 249 w 250"/>
                    <a:gd name="T3" fmla="*/ 40 h 41"/>
                    <a:gd name="T4" fmla="*/ 240 w 250"/>
                    <a:gd name="T5" fmla="*/ 0 h 41"/>
                    <a:gd name="T6" fmla="*/ 10 w 250"/>
                    <a:gd name="T7" fmla="*/ 0 h 41"/>
                    <a:gd name="T8" fmla="*/ 0 w 250"/>
                    <a:gd name="T9" fmla="*/ 40 h 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0"/>
                    <a:gd name="T16" fmla="*/ 0 h 41"/>
                    <a:gd name="T17" fmla="*/ 250 w 250"/>
                    <a:gd name="T18" fmla="*/ 41 h 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0" h="41">
                      <a:moveTo>
                        <a:pt x="0" y="40"/>
                      </a:moveTo>
                      <a:lnTo>
                        <a:pt x="249" y="40"/>
                      </a:lnTo>
                      <a:lnTo>
                        <a:pt x="240" y="0"/>
                      </a:lnTo>
                      <a:lnTo>
                        <a:pt x="10" y="0"/>
                      </a:lnTo>
                      <a:lnTo>
                        <a:pt x="0" y="40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28" name="Freeform 1223"/>
                <p:cNvSpPr>
                  <a:spLocks/>
                </p:cNvSpPr>
                <p:nvPr/>
              </p:nvSpPr>
              <p:spPr bwMode="auto">
                <a:xfrm>
                  <a:off x="3855" y="1572"/>
                  <a:ext cx="251" cy="17"/>
                </a:xfrm>
                <a:custGeom>
                  <a:avLst/>
                  <a:gdLst>
                    <a:gd name="T0" fmla="*/ 0 w 251"/>
                    <a:gd name="T1" fmla="*/ 16 h 17"/>
                    <a:gd name="T2" fmla="*/ 0 w 251"/>
                    <a:gd name="T3" fmla="*/ 0 h 17"/>
                    <a:gd name="T4" fmla="*/ 249 w 251"/>
                    <a:gd name="T5" fmla="*/ 0 h 17"/>
                    <a:gd name="T6" fmla="*/ 250 w 251"/>
                    <a:gd name="T7" fmla="*/ 16 h 17"/>
                    <a:gd name="T8" fmla="*/ 0 w 251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1"/>
                    <a:gd name="T16" fmla="*/ 0 h 17"/>
                    <a:gd name="T17" fmla="*/ 251 w 251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1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249" y="0"/>
                      </a:lnTo>
                      <a:lnTo>
                        <a:pt x="250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CCCC6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29" name="Freeform 1224"/>
                <p:cNvSpPr>
                  <a:spLocks/>
                </p:cNvSpPr>
                <p:nvPr/>
              </p:nvSpPr>
              <p:spPr bwMode="auto">
                <a:xfrm>
                  <a:off x="3872" y="1538"/>
                  <a:ext cx="223" cy="28"/>
                </a:xfrm>
                <a:custGeom>
                  <a:avLst/>
                  <a:gdLst>
                    <a:gd name="T0" fmla="*/ 0 w 223"/>
                    <a:gd name="T1" fmla="*/ 27 h 28"/>
                    <a:gd name="T2" fmla="*/ 222 w 223"/>
                    <a:gd name="T3" fmla="*/ 27 h 28"/>
                    <a:gd name="T4" fmla="*/ 214 w 223"/>
                    <a:gd name="T5" fmla="*/ 0 h 28"/>
                    <a:gd name="T6" fmla="*/ 8 w 223"/>
                    <a:gd name="T7" fmla="*/ 0 h 28"/>
                    <a:gd name="T8" fmla="*/ 0 w 223"/>
                    <a:gd name="T9" fmla="*/ 27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3"/>
                    <a:gd name="T16" fmla="*/ 0 h 28"/>
                    <a:gd name="T17" fmla="*/ 223 w 223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3" h="28">
                      <a:moveTo>
                        <a:pt x="0" y="27"/>
                      </a:moveTo>
                      <a:lnTo>
                        <a:pt x="222" y="27"/>
                      </a:lnTo>
                      <a:lnTo>
                        <a:pt x="214" y="0"/>
                      </a:lnTo>
                      <a:lnTo>
                        <a:pt x="8" y="0"/>
                      </a:lnTo>
                      <a:lnTo>
                        <a:pt x="0" y="27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0274" name="Group 1225"/>
              <p:cNvGrpSpPr>
                <a:grpSpLocks/>
              </p:cNvGrpSpPr>
              <p:nvPr/>
            </p:nvGrpSpPr>
            <p:grpSpPr bwMode="auto">
              <a:xfrm>
                <a:off x="1123" y="2505"/>
                <a:ext cx="245" cy="175"/>
                <a:chOff x="3840" y="1279"/>
                <a:chExt cx="266" cy="310"/>
              </a:xfrm>
            </p:grpSpPr>
            <p:sp>
              <p:nvSpPr>
                <p:cNvPr id="10618" name="Freeform 1226"/>
                <p:cNvSpPr>
                  <a:spLocks/>
                </p:cNvSpPr>
                <p:nvPr/>
              </p:nvSpPr>
              <p:spPr bwMode="auto">
                <a:xfrm>
                  <a:off x="3848" y="1548"/>
                  <a:ext cx="206" cy="20"/>
                </a:xfrm>
                <a:custGeom>
                  <a:avLst/>
                  <a:gdLst>
                    <a:gd name="T0" fmla="*/ 0 w 206"/>
                    <a:gd name="T1" fmla="*/ 19 h 20"/>
                    <a:gd name="T2" fmla="*/ 0 w 206"/>
                    <a:gd name="T3" fmla="*/ 0 h 20"/>
                    <a:gd name="T4" fmla="*/ 205 w 206"/>
                    <a:gd name="T5" fmla="*/ 0 h 20"/>
                    <a:gd name="T6" fmla="*/ 205 w 206"/>
                    <a:gd name="T7" fmla="*/ 19 h 20"/>
                    <a:gd name="T8" fmla="*/ 0 w 206"/>
                    <a:gd name="T9" fmla="*/ 19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6"/>
                    <a:gd name="T16" fmla="*/ 0 h 20"/>
                    <a:gd name="T17" fmla="*/ 206 w 206"/>
                    <a:gd name="T18" fmla="*/ 20 h 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6" h="20">
                      <a:moveTo>
                        <a:pt x="0" y="19"/>
                      </a:moveTo>
                      <a:lnTo>
                        <a:pt x="0" y="0"/>
                      </a:lnTo>
                      <a:lnTo>
                        <a:pt x="205" y="0"/>
                      </a:lnTo>
                      <a:lnTo>
                        <a:pt x="205" y="19"/>
                      </a:lnTo>
                      <a:lnTo>
                        <a:pt x="0" y="19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19" name="Freeform 1227"/>
                <p:cNvSpPr>
                  <a:spLocks/>
                </p:cNvSpPr>
                <p:nvPr/>
              </p:nvSpPr>
              <p:spPr bwMode="auto">
                <a:xfrm>
                  <a:off x="3840" y="1453"/>
                  <a:ext cx="220" cy="34"/>
                </a:xfrm>
                <a:custGeom>
                  <a:avLst/>
                  <a:gdLst>
                    <a:gd name="T0" fmla="*/ 189 w 220"/>
                    <a:gd name="T1" fmla="*/ 0 h 34"/>
                    <a:gd name="T2" fmla="*/ 219 w 220"/>
                    <a:gd name="T3" fmla="*/ 33 h 34"/>
                    <a:gd name="T4" fmla="*/ 0 w 220"/>
                    <a:gd name="T5" fmla="*/ 33 h 34"/>
                    <a:gd name="T6" fmla="*/ 29 w 220"/>
                    <a:gd name="T7" fmla="*/ 0 h 34"/>
                    <a:gd name="T8" fmla="*/ 189 w 220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34"/>
                    <a:gd name="T17" fmla="*/ 220 w 220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34">
                      <a:moveTo>
                        <a:pt x="189" y="0"/>
                      </a:moveTo>
                      <a:lnTo>
                        <a:pt x="219" y="33"/>
                      </a:lnTo>
                      <a:lnTo>
                        <a:pt x="0" y="33"/>
                      </a:lnTo>
                      <a:lnTo>
                        <a:pt x="29" y="0"/>
                      </a:lnTo>
                      <a:lnTo>
                        <a:pt x="189" y="0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20" name="Freeform 1228"/>
                <p:cNvSpPr>
                  <a:spLocks/>
                </p:cNvSpPr>
                <p:nvPr/>
              </p:nvSpPr>
              <p:spPr bwMode="auto">
                <a:xfrm>
                  <a:off x="3897" y="1449"/>
                  <a:ext cx="104" cy="24"/>
                </a:xfrm>
                <a:custGeom>
                  <a:avLst/>
                  <a:gdLst>
                    <a:gd name="T0" fmla="*/ 102 w 104"/>
                    <a:gd name="T1" fmla="*/ 10 h 24"/>
                    <a:gd name="T2" fmla="*/ 101 w 104"/>
                    <a:gd name="T3" fmla="*/ 8 h 24"/>
                    <a:gd name="T4" fmla="*/ 97 w 104"/>
                    <a:gd name="T5" fmla="*/ 6 h 24"/>
                    <a:gd name="T6" fmla="*/ 93 w 104"/>
                    <a:gd name="T7" fmla="*/ 4 h 24"/>
                    <a:gd name="T8" fmla="*/ 87 w 104"/>
                    <a:gd name="T9" fmla="*/ 3 h 24"/>
                    <a:gd name="T10" fmla="*/ 80 w 104"/>
                    <a:gd name="T11" fmla="*/ 2 h 24"/>
                    <a:gd name="T12" fmla="*/ 72 w 104"/>
                    <a:gd name="T13" fmla="*/ 1 h 24"/>
                    <a:gd name="T14" fmla="*/ 64 w 104"/>
                    <a:gd name="T15" fmla="*/ 0 h 24"/>
                    <a:gd name="T16" fmla="*/ 55 w 104"/>
                    <a:gd name="T17" fmla="*/ 0 h 24"/>
                    <a:gd name="T18" fmla="*/ 46 w 104"/>
                    <a:gd name="T19" fmla="*/ 0 h 24"/>
                    <a:gd name="T20" fmla="*/ 37 w 104"/>
                    <a:gd name="T21" fmla="*/ 0 h 24"/>
                    <a:gd name="T22" fmla="*/ 29 w 104"/>
                    <a:gd name="T23" fmla="*/ 1 h 24"/>
                    <a:gd name="T24" fmla="*/ 21 w 104"/>
                    <a:gd name="T25" fmla="*/ 2 h 24"/>
                    <a:gd name="T26" fmla="*/ 14 w 104"/>
                    <a:gd name="T27" fmla="*/ 3 h 24"/>
                    <a:gd name="T28" fmla="*/ 8 w 104"/>
                    <a:gd name="T29" fmla="*/ 4 h 24"/>
                    <a:gd name="T30" fmla="*/ 4 w 104"/>
                    <a:gd name="T31" fmla="*/ 6 h 24"/>
                    <a:gd name="T32" fmla="*/ 1 w 104"/>
                    <a:gd name="T33" fmla="*/ 8 h 24"/>
                    <a:gd name="T34" fmla="*/ 0 w 104"/>
                    <a:gd name="T35" fmla="*/ 10 h 24"/>
                    <a:gd name="T36" fmla="*/ 0 w 104"/>
                    <a:gd name="T37" fmla="*/ 12 h 24"/>
                    <a:gd name="T38" fmla="*/ 1 w 104"/>
                    <a:gd name="T39" fmla="*/ 14 h 24"/>
                    <a:gd name="T40" fmla="*/ 4 w 104"/>
                    <a:gd name="T41" fmla="*/ 16 h 24"/>
                    <a:gd name="T42" fmla="*/ 8 w 104"/>
                    <a:gd name="T43" fmla="*/ 17 h 24"/>
                    <a:gd name="T44" fmla="*/ 14 w 104"/>
                    <a:gd name="T45" fmla="*/ 19 h 24"/>
                    <a:gd name="T46" fmla="*/ 21 w 104"/>
                    <a:gd name="T47" fmla="*/ 20 h 24"/>
                    <a:gd name="T48" fmla="*/ 29 w 104"/>
                    <a:gd name="T49" fmla="*/ 21 h 24"/>
                    <a:gd name="T50" fmla="*/ 37 w 104"/>
                    <a:gd name="T51" fmla="*/ 22 h 24"/>
                    <a:gd name="T52" fmla="*/ 46 w 104"/>
                    <a:gd name="T53" fmla="*/ 23 h 24"/>
                    <a:gd name="T54" fmla="*/ 55 w 104"/>
                    <a:gd name="T55" fmla="*/ 23 h 24"/>
                    <a:gd name="T56" fmla="*/ 64 w 104"/>
                    <a:gd name="T57" fmla="*/ 22 h 24"/>
                    <a:gd name="T58" fmla="*/ 72 w 104"/>
                    <a:gd name="T59" fmla="*/ 21 h 24"/>
                    <a:gd name="T60" fmla="*/ 80 w 104"/>
                    <a:gd name="T61" fmla="*/ 20 h 24"/>
                    <a:gd name="T62" fmla="*/ 87 w 104"/>
                    <a:gd name="T63" fmla="*/ 19 h 24"/>
                    <a:gd name="T64" fmla="*/ 93 w 104"/>
                    <a:gd name="T65" fmla="*/ 17 h 24"/>
                    <a:gd name="T66" fmla="*/ 97 w 104"/>
                    <a:gd name="T67" fmla="*/ 16 h 24"/>
                    <a:gd name="T68" fmla="*/ 101 w 104"/>
                    <a:gd name="T69" fmla="*/ 14 h 24"/>
                    <a:gd name="T70" fmla="*/ 102 w 104"/>
                    <a:gd name="T71" fmla="*/ 12 h 24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104"/>
                    <a:gd name="T109" fmla="*/ 0 h 24"/>
                    <a:gd name="T110" fmla="*/ 104 w 104"/>
                    <a:gd name="T111" fmla="*/ 24 h 24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104" h="24">
                      <a:moveTo>
                        <a:pt x="103" y="11"/>
                      </a:moveTo>
                      <a:lnTo>
                        <a:pt x="102" y="10"/>
                      </a:lnTo>
                      <a:lnTo>
                        <a:pt x="102" y="9"/>
                      </a:lnTo>
                      <a:lnTo>
                        <a:pt x="101" y="8"/>
                      </a:lnTo>
                      <a:lnTo>
                        <a:pt x="99" y="7"/>
                      </a:lnTo>
                      <a:lnTo>
                        <a:pt x="97" y="6"/>
                      </a:lnTo>
                      <a:lnTo>
                        <a:pt x="95" y="6"/>
                      </a:lnTo>
                      <a:lnTo>
                        <a:pt x="93" y="4"/>
                      </a:lnTo>
                      <a:lnTo>
                        <a:pt x="90" y="4"/>
                      </a:lnTo>
                      <a:lnTo>
                        <a:pt x="87" y="3"/>
                      </a:lnTo>
                      <a:lnTo>
                        <a:pt x="84" y="2"/>
                      </a:lnTo>
                      <a:lnTo>
                        <a:pt x="80" y="2"/>
                      </a:lnTo>
                      <a:lnTo>
                        <a:pt x="76" y="1"/>
                      </a:lnTo>
                      <a:lnTo>
                        <a:pt x="72" y="1"/>
                      </a:lnTo>
                      <a:lnTo>
                        <a:pt x="69" y="0"/>
                      </a:lnTo>
                      <a:lnTo>
                        <a:pt x="64" y="0"/>
                      </a:lnTo>
                      <a:lnTo>
                        <a:pt x="60" y="0"/>
                      </a:lnTo>
                      <a:lnTo>
                        <a:pt x="55" y="0"/>
                      </a:lnTo>
                      <a:lnTo>
                        <a:pt x="51" y="0"/>
                      </a:lnTo>
                      <a:lnTo>
                        <a:pt x="46" y="0"/>
                      </a:lnTo>
                      <a:lnTo>
                        <a:pt x="42" y="0"/>
                      </a:lnTo>
                      <a:lnTo>
                        <a:pt x="37" y="0"/>
                      </a:lnTo>
                      <a:lnTo>
                        <a:pt x="33" y="0"/>
                      </a:lnTo>
                      <a:lnTo>
                        <a:pt x="29" y="1"/>
                      </a:lnTo>
                      <a:lnTo>
                        <a:pt x="25" y="1"/>
                      </a:lnTo>
                      <a:lnTo>
                        <a:pt x="21" y="2"/>
                      </a:lnTo>
                      <a:lnTo>
                        <a:pt x="17" y="2"/>
                      </a:lnTo>
                      <a:lnTo>
                        <a:pt x="14" y="3"/>
                      </a:lnTo>
                      <a:lnTo>
                        <a:pt x="12" y="4"/>
                      </a:lnTo>
                      <a:lnTo>
                        <a:pt x="8" y="4"/>
                      </a:lnTo>
                      <a:lnTo>
                        <a:pt x="6" y="6"/>
                      </a:lnTo>
                      <a:lnTo>
                        <a:pt x="4" y="6"/>
                      </a:lnTo>
                      <a:lnTo>
                        <a:pt x="3" y="7"/>
                      </a:lnTo>
                      <a:lnTo>
                        <a:pt x="1" y="8"/>
                      </a:lnTo>
                      <a:lnTo>
                        <a:pt x="0" y="9"/>
                      </a:lnTo>
                      <a:lnTo>
                        <a:pt x="0" y="10"/>
                      </a:lnTo>
                      <a:lnTo>
                        <a:pt x="0" y="11"/>
                      </a:lnTo>
                      <a:lnTo>
                        <a:pt x="0" y="12"/>
                      </a:lnTo>
                      <a:lnTo>
                        <a:pt x="0" y="13"/>
                      </a:lnTo>
                      <a:lnTo>
                        <a:pt x="1" y="14"/>
                      </a:lnTo>
                      <a:lnTo>
                        <a:pt x="3" y="15"/>
                      </a:lnTo>
                      <a:lnTo>
                        <a:pt x="4" y="16"/>
                      </a:lnTo>
                      <a:lnTo>
                        <a:pt x="6" y="17"/>
                      </a:lnTo>
                      <a:lnTo>
                        <a:pt x="8" y="17"/>
                      </a:lnTo>
                      <a:lnTo>
                        <a:pt x="12" y="18"/>
                      </a:lnTo>
                      <a:lnTo>
                        <a:pt x="14" y="19"/>
                      </a:lnTo>
                      <a:lnTo>
                        <a:pt x="17" y="20"/>
                      </a:lnTo>
                      <a:lnTo>
                        <a:pt x="21" y="20"/>
                      </a:lnTo>
                      <a:lnTo>
                        <a:pt x="25" y="21"/>
                      </a:lnTo>
                      <a:lnTo>
                        <a:pt x="29" y="21"/>
                      </a:lnTo>
                      <a:lnTo>
                        <a:pt x="33" y="22"/>
                      </a:lnTo>
                      <a:lnTo>
                        <a:pt x="37" y="22"/>
                      </a:lnTo>
                      <a:lnTo>
                        <a:pt x="42" y="22"/>
                      </a:lnTo>
                      <a:lnTo>
                        <a:pt x="46" y="23"/>
                      </a:lnTo>
                      <a:lnTo>
                        <a:pt x="51" y="23"/>
                      </a:lnTo>
                      <a:lnTo>
                        <a:pt x="55" y="23"/>
                      </a:lnTo>
                      <a:lnTo>
                        <a:pt x="60" y="22"/>
                      </a:lnTo>
                      <a:lnTo>
                        <a:pt x="64" y="22"/>
                      </a:lnTo>
                      <a:lnTo>
                        <a:pt x="69" y="22"/>
                      </a:lnTo>
                      <a:lnTo>
                        <a:pt x="72" y="21"/>
                      </a:lnTo>
                      <a:lnTo>
                        <a:pt x="76" y="21"/>
                      </a:lnTo>
                      <a:lnTo>
                        <a:pt x="80" y="20"/>
                      </a:lnTo>
                      <a:lnTo>
                        <a:pt x="84" y="20"/>
                      </a:lnTo>
                      <a:lnTo>
                        <a:pt x="87" y="19"/>
                      </a:lnTo>
                      <a:lnTo>
                        <a:pt x="90" y="18"/>
                      </a:lnTo>
                      <a:lnTo>
                        <a:pt x="93" y="17"/>
                      </a:lnTo>
                      <a:lnTo>
                        <a:pt x="95" y="17"/>
                      </a:lnTo>
                      <a:lnTo>
                        <a:pt x="97" y="16"/>
                      </a:lnTo>
                      <a:lnTo>
                        <a:pt x="99" y="15"/>
                      </a:lnTo>
                      <a:lnTo>
                        <a:pt x="101" y="14"/>
                      </a:lnTo>
                      <a:lnTo>
                        <a:pt x="102" y="13"/>
                      </a:lnTo>
                      <a:lnTo>
                        <a:pt x="102" y="12"/>
                      </a:lnTo>
                      <a:lnTo>
                        <a:pt x="103" y="11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21" name="Freeform 1229"/>
                <p:cNvSpPr>
                  <a:spLocks/>
                </p:cNvSpPr>
                <p:nvPr/>
              </p:nvSpPr>
              <p:spPr bwMode="auto">
                <a:xfrm>
                  <a:off x="3897" y="1461"/>
                  <a:ext cx="104" cy="17"/>
                </a:xfrm>
                <a:custGeom>
                  <a:avLst/>
                  <a:gdLst>
                    <a:gd name="T0" fmla="*/ 102 w 104"/>
                    <a:gd name="T1" fmla="*/ 6 h 17"/>
                    <a:gd name="T2" fmla="*/ 101 w 104"/>
                    <a:gd name="T3" fmla="*/ 8 h 17"/>
                    <a:gd name="T4" fmla="*/ 97 w 104"/>
                    <a:gd name="T5" fmla="*/ 10 h 17"/>
                    <a:gd name="T6" fmla="*/ 93 w 104"/>
                    <a:gd name="T7" fmla="*/ 11 h 17"/>
                    <a:gd name="T8" fmla="*/ 87 w 104"/>
                    <a:gd name="T9" fmla="*/ 12 h 17"/>
                    <a:gd name="T10" fmla="*/ 80 w 104"/>
                    <a:gd name="T11" fmla="*/ 14 h 17"/>
                    <a:gd name="T12" fmla="*/ 72 w 104"/>
                    <a:gd name="T13" fmla="*/ 14 h 17"/>
                    <a:gd name="T14" fmla="*/ 64 w 104"/>
                    <a:gd name="T15" fmla="*/ 15 h 17"/>
                    <a:gd name="T16" fmla="*/ 55 w 104"/>
                    <a:gd name="T17" fmla="*/ 16 h 17"/>
                    <a:gd name="T18" fmla="*/ 46 w 104"/>
                    <a:gd name="T19" fmla="*/ 16 h 17"/>
                    <a:gd name="T20" fmla="*/ 37 w 104"/>
                    <a:gd name="T21" fmla="*/ 15 h 17"/>
                    <a:gd name="T22" fmla="*/ 29 w 104"/>
                    <a:gd name="T23" fmla="*/ 14 h 17"/>
                    <a:gd name="T24" fmla="*/ 21 w 104"/>
                    <a:gd name="T25" fmla="*/ 14 h 17"/>
                    <a:gd name="T26" fmla="*/ 14 w 104"/>
                    <a:gd name="T27" fmla="*/ 12 h 17"/>
                    <a:gd name="T28" fmla="*/ 8 w 104"/>
                    <a:gd name="T29" fmla="*/ 11 h 17"/>
                    <a:gd name="T30" fmla="*/ 4 w 104"/>
                    <a:gd name="T31" fmla="*/ 10 h 17"/>
                    <a:gd name="T32" fmla="*/ 1 w 104"/>
                    <a:gd name="T33" fmla="*/ 8 h 17"/>
                    <a:gd name="T34" fmla="*/ 0 w 104"/>
                    <a:gd name="T35" fmla="*/ 6 h 17"/>
                    <a:gd name="T36" fmla="*/ 0 w 104"/>
                    <a:gd name="T37" fmla="*/ 0 h 17"/>
                    <a:gd name="T38" fmla="*/ 0 w 104"/>
                    <a:gd name="T39" fmla="*/ 2 h 17"/>
                    <a:gd name="T40" fmla="*/ 3 w 104"/>
                    <a:gd name="T41" fmla="*/ 4 h 17"/>
                    <a:gd name="T42" fmla="*/ 6 w 104"/>
                    <a:gd name="T43" fmla="*/ 5 h 17"/>
                    <a:gd name="T44" fmla="*/ 12 w 104"/>
                    <a:gd name="T45" fmla="*/ 6 h 17"/>
                    <a:gd name="T46" fmla="*/ 17 w 104"/>
                    <a:gd name="T47" fmla="*/ 8 h 17"/>
                    <a:gd name="T48" fmla="*/ 25 w 104"/>
                    <a:gd name="T49" fmla="*/ 9 h 17"/>
                    <a:gd name="T50" fmla="*/ 33 w 104"/>
                    <a:gd name="T51" fmla="*/ 10 h 17"/>
                    <a:gd name="T52" fmla="*/ 42 w 104"/>
                    <a:gd name="T53" fmla="*/ 10 h 17"/>
                    <a:gd name="T54" fmla="*/ 51 w 104"/>
                    <a:gd name="T55" fmla="*/ 10 h 17"/>
                    <a:gd name="T56" fmla="*/ 60 w 104"/>
                    <a:gd name="T57" fmla="*/ 10 h 17"/>
                    <a:gd name="T58" fmla="*/ 69 w 104"/>
                    <a:gd name="T59" fmla="*/ 10 h 17"/>
                    <a:gd name="T60" fmla="*/ 76 w 104"/>
                    <a:gd name="T61" fmla="*/ 9 h 17"/>
                    <a:gd name="T62" fmla="*/ 84 w 104"/>
                    <a:gd name="T63" fmla="*/ 8 h 17"/>
                    <a:gd name="T64" fmla="*/ 90 w 104"/>
                    <a:gd name="T65" fmla="*/ 6 h 17"/>
                    <a:gd name="T66" fmla="*/ 95 w 104"/>
                    <a:gd name="T67" fmla="*/ 5 h 17"/>
                    <a:gd name="T68" fmla="*/ 99 w 104"/>
                    <a:gd name="T69" fmla="*/ 4 h 17"/>
                    <a:gd name="T70" fmla="*/ 102 w 104"/>
                    <a:gd name="T71" fmla="*/ 2 h 17"/>
                    <a:gd name="T72" fmla="*/ 103 w 104"/>
                    <a:gd name="T73" fmla="*/ 0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04"/>
                    <a:gd name="T112" fmla="*/ 0 h 17"/>
                    <a:gd name="T113" fmla="*/ 104 w 104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04" h="17">
                      <a:moveTo>
                        <a:pt x="103" y="5"/>
                      </a:moveTo>
                      <a:lnTo>
                        <a:pt x="102" y="6"/>
                      </a:lnTo>
                      <a:lnTo>
                        <a:pt x="102" y="7"/>
                      </a:lnTo>
                      <a:lnTo>
                        <a:pt x="101" y="8"/>
                      </a:lnTo>
                      <a:lnTo>
                        <a:pt x="99" y="8"/>
                      </a:lnTo>
                      <a:lnTo>
                        <a:pt x="97" y="10"/>
                      </a:lnTo>
                      <a:lnTo>
                        <a:pt x="95" y="10"/>
                      </a:lnTo>
                      <a:lnTo>
                        <a:pt x="93" y="11"/>
                      </a:lnTo>
                      <a:lnTo>
                        <a:pt x="90" y="12"/>
                      </a:lnTo>
                      <a:lnTo>
                        <a:pt x="87" y="12"/>
                      </a:lnTo>
                      <a:lnTo>
                        <a:pt x="84" y="13"/>
                      </a:lnTo>
                      <a:lnTo>
                        <a:pt x="80" y="14"/>
                      </a:lnTo>
                      <a:lnTo>
                        <a:pt x="76" y="14"/>
                      </a:lnTo>
                      <a:lnTo>
                        <a:pt x="72" y="14"/>
                      </a:lnTo>
                      <a:lnTo>
                        <a:pt x="69" y="15"/>
                      </a:lnTo>
                      <a:lnTo>
                        <a:pt x="64" y="15"/>
                      </a:lnTo>
                      <a:lnTo>
                        <a:pt x="60" y="16"/>
                      </a:lnTo>
                      <a:lnTo>
                        <a:pt x="55" y="16"/>
                      </a:lnTo>
                      <a:lnTo>
                        <a:pt x="51" y="16"/>
                      </a:lnTo>
                      <a:lnTo>
                        <a:pt x="46" y="16"/>
                      </a:lnTo>
                      <a:lnTo>
                        <a:pt x="42" y="16"/>
                      </a:lnTo>
                      <a:lnTo>
                        <a:pt x="37" y="15"/>
                      </a:lnTo>
                      <a:lnTo>
                        <a:pt x="33" y="15"/>
                      </a:lnTo>
                      <a:lnTo>
                        <a:pt x="29" y="14"/>
                      </a:lnTo>
                      <a:lnTo>
                        <a:pt x="25" y="14"/>
                      </a:lnTo>
                      <a:lnTo>
                        <a:pt x="21" y="14"/>
                      </a:lnTo>
                      <a:lnTo>
                        <a:pt x="17" y="13"/>
                      </a:lnTo>
                      <a:lnTo>
                        <a:pt x="14" y="12"/>
                      </a:lnTo>
                      <a:lnTo>
                        <a:pt x="12" y="12"/>
                      </a:lnTo>
                      <a:lnTo>
                        <a:pt x="8" y="11"/>
                      </a:lnTo>
                      <a:lnTo>
                        <a:pt x="6" y="10"/>
                      </a:lnTo>
                      <a:lnTo>
                        <a:pt x="4" y="10"/>
                      </a:lnTo>
                      <a:lnTo>
                        <a:pt x="3" y="8"/>
                      </a:lnTo>
                      <a:lnTo>
                        <a:pt x="1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1" y="2"/>
                      </a:lnTo>
                      <a:lnTo>
                        <a:pt x="3" y="4"/>
                      </a:lnTo>
                      <a:lnTo>
                        <a:pt x="4" y="4"/>
                      </a:lnTo>
                      <a:lnTo>
                        <a:pt x="6" y="5"/>
                      </a:lnTo>
                      <a:lnTo>
                        <a:pt x="8" y="6"/>
                      </a:lnTo>
                      <a:lnTo>
                        <a:pt x="12" y="6"/>
                      </a:lnTo>
                      <a:lnTo>
                        <a:pt x="14" y="7"/>
                      </a:lnTo>
                      <a:lnTo>
                        <a:pt x="17" y="8"/>
                      </a:lnTo>
                      <a:lnTo>
                        <a:pt x="21" y="8"/>
                      </a:lnTo>
                      <a:lnTo>
                        <a:pt x="25" y="9"/>
                      </a:lnTo>
                      <a:lnTo>
                        <a:pt x="29" y="10"/>
                      </a:lnTo>
                      <a:lnTo>
                        <a:pt x="33" y="10"/>
                      </a:lnTo>
                      <a:lnTo>
                        <a:pt x="37" y="10"/>
                      </a:lnTo>
                      <a:lnTo>
                        <a:pt x="42" y="10"/>
                      </a:lnTo>
                      <a:lnTo>
                        <a:pt x="46" y="10"/>
                      </a:lnTo>
                      <a:lnTo>
                        <a:pt x="51" y="10"/>
                      </a:lnTo>
                      <a:lnTo>
                        <a:pt x="55" y="10"/>
                      </a:lnTo>
                      <a:lnTo>
                        <a:pt x="60" y="10"/>
                      </a:lnTo>
                      <a:lnTo>
                        <a:pt x="64" y="10"/>
                      </a:lnTo>
                      <a:lnTo>
                        <a:pt x="69" y="10"/>
                      </a:lnTo>
                      <a:lnTo>
                        <a:pt x="72" y="10"/>
                      </a:lnTo>
                      <a:lnTo>
                        <a:pt x="76" y="9"/>
                      </a:lnTo>
                      <a:lnTo>
                        <a:pt x="80" y="8"/>
                      </a:lnTo>
                      <a:lnTo>
                        <a:pt x="84" y="8"/>
                      </a:lnTo>
                      <a:lnTo>
                        <a:pt x="87" y="7"/>
                      </a:lnTo>
                      <a:lnTo>
                        <a:pt x="90" y="6"/>
                      </a:lnTo>
                      <a:lnTo>
                        <a:pt x="93" y="6"/>
                      </a:lnTo>
                      <a:lnTo>
                        <a:pt x="95" y="5"/>
                      </a:lnTo>
                      <a:lnTo>
                        <a:pt x="97" y="4"/>
                      </a:lnTo>
                      <a:lnTo>
                        <a:pt x="99" y="4"/>
                      </a:lnTo>
                      <a:lnTo>
                        <a:pt x="101" y="2"/>
                      </a:lnTo>
                      <a:lnTo>
                        <a:pt x="102" y="2"/>
                      </a:lnTo>
                      <a:lnTo>
                        <a:pt x="102" y="1"/>
                      </a:lnTo>
                      <a:lnTo>
                        <a:pt x="103" y="0"/>
                      </a:lnTo>
                      <a:lnTo>
                        <a:pt x="103" y="5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22" name="Freeform 1230"/>
                <p:cNvSpPr>
                  <a:spLocks/>
                </p:cNvSpPr>
                <p:nvPr/>
              </p:nvSpPr>
              <p:spPr bwMode="auto">
                <a:xfrm>
                  <a:off x="3840" y="1486"/>
                  <a:ext cx="220" cy="77"/>
                </a:xfrm>
                <a:custGeom>
                  <a:avLst/>
                  <a:gdLst>
                    <a:gd name="T0" fmla="*/ 0 w 220"/>
                    <a:gd name="T1" fmla="*/ 76 h 77"/>
                    <a:gd name="T2" fmla="*/ 219 w 220"/>
                    <a:gd name="T3" fmla="*/ 76 h 77"/>
                    <a:gd name="T4" fmla="*/ 219 w 220"/>
                    <a:gd name="T5" fmla="*/ 0 h 77"/>
                    <a:gd name="T6" fmla="*/ 0 w 220"/>
                    <a:gd name="T7" fmla="*/ 0 h 77"/>
                    <a:gd name="T8" fmla="*/ 0 w 220"/>
                    <a:gd name="T9" fmla="*/ 76 h 7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77"/>
                    <a:gd name="T17" fmla="*/ 220 w 220"/>
                    <a:gd name="T18" fmla="*/ 77 h 7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77">
                      <a:moveTo>
                        <a:pt x="0" y="76"/>
                      </a:moveTo>
                      <a:lnTo>
                        <a:pt x="219" y="76"/>
                      </a:lnTo>
                      <a:lnTo>
                        <a:pt x="219" y="0"/>
                      </a:lnTo>
                      <a:lnTo>
                        <a:pt x="0" y="0"/>
                      </a:lnTo>
                      <a:lnTo>
                        <a:pt x="0" y="76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23" name="Freeform 1231"/>
                <p:cNvSpPr>
                  <a:spLocks/>
                </p:cNvSpPr>
                <p:nvPr/>
              </p:nvSpPr>
              <p:spPr bwMode="auto">
                <a:xfrm>
                  <a:off x="3875" y="1449"/>
                  <a:ext cx="69" cy="17"/>
                </a:xfrm>
                <a:custGeom>
                  <a:avLst/>
                  <a:gdLst>
                    <a:gd name="T0" fmla="*/ 0 w 69"/>
                    <a:gd name="T1" fmla="*/ 16 h 17"/>
                    <a:gd name="T2" fmla="*/ 0 w 69"/>
                    <a:gd name="T3" fmla="*/ 0 h 17"/>
                    <a:gd name="T4" fmla="*/ 68 w 69"/>
                    <a:gd name="T5" fmla="*/ 0 h 17"/>
                    <a:gd name="T6" fmla="*/ 68 w 69"/>
                    <a:gd name="T7" fmla="*/ 16 h 17"/>
                    <a:gd name="T8" fmla="*/ 0 w 69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9"/>
                    <a:gd name="T16" fmla="*/ 0 h 17"/>
                    <a:gd name="T17" fmla="*/ 69 w 69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9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68" y="0"/>
                      </a:lnTo>
                      <a:lnTo>
                        <a:pt x="68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24" name="Freeform 1232"/>
                <p:cNvSpPr>
                  <a:spLocks/>
                </p:cNvSpPr>
                <p:nvPr/>
              </p:nvSpPr>
              <p:spPr bwMode="auto">
                <a:xfrm>
                  <a:off x="3931" y="1450"/>
                  <a:ext cx="94" cy="17"/>
                </a:xfrm>
                <a:custGeom>
                  <a:avLst/>
                  <a:gdLst>
                    <a:gd name="T0" fmla="*/ 0 w 94"/>
                    <a:gd name="T1" fmla="*/ 16 h 17"/>
                    <a:gd name="T2" fmla="*/ 0 w 94"/>
                    <a:gd name="T3" fmla="*/ 0 h 17"/>
                    <a:gd name="T4" fmla="*/ 93 w 94"/>
                    <a:gd name="T5" fmla="*/ 0 h 17"/>
                    <a:gd name="T6" fmla="*/ 93 w 94"/>
                    <a:gd name="T7" fmla="*/ 16 h 17"/>
                    <a:gd name="T8" fmla="*/ 0 w 94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4"/>
                    <a:gd name="T16" fmla="*/ 0 h 17"/>
                    <a:gd name="T17" fmla="*/ 94 w 9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4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93" y="0"/>
                      </a:lnTo>
                      <a:lnTo>
                        <a:pt x="93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25" name="Freeform 1233"/>
                <p:cNvSpPr>
                  <a:spLocks/>
                </p:cNvSpPr>
                <p:nvPr/>
              </p:nvSpPr>
              <p:spPr bwMode="auto">
                <a:xfrm>
                  <a:off x="3877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26" name="Freeform 1234"/>
                <p:cNvSpPr>
                  <a:spLocks/>
                </p:cNvSpPr>
                <p:nvPr/>
              </p:nvSpPr>
              <p:spPr bwMode="auto">
                <a:xfrm>
                  <a:off x="388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4 w 17"/>
                    <a:gd name="T7" fmla="*/ 16 h 17"/>
                    <a:gd name="T8" fmla="*/ 8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27" name="Freeform 1235"/>
                <p:cNvSpPr>
                  <a:spLocks/>
                </p:cNvSpPr>
                <p:nvPr/>
              </p:nvSpPr>
              <p:spPr bwMode="auto">
                <a:xfrm>
                  <a:off x="388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28" name="Freeform 1236"/>
                <p:cNvSpPr>
                  <a:spLocks/>
                </p:cNvSpPr>
                <p:nvPr/>
              </p:nvSpPr>
              <p:spPr bwMode="auto">
                <a:xfrm>
                  <a:off x="388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29" name="Freeform 1237"/>
                <p:cNvSpPr>
                  <a:spLocks/>
                </p:cNvSpPr>
                <p:nvPr/>
              </p:nvSpPr>
              <p:spPr bwMode="auto">
                <a:xfrm>
                  <a:off x="388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30" name="Freeform 1238"/>
                <p:cNvSpPr>
                  <a:spLocks/>
                </p:cNvSpPr>
                <p:nvPr/>
              </p:nvSpPr>
              <p:spPr bwMode="auto">
                <a:xfrm>
                  <a:off x="389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31" name="Freeform 1239"/>
                <p:cNvSpPr>
                  <a:spLocks/>
                </p:cNvSpPr>
                <p:nvPr/>
              </p:nvSpPr>
              <p:spPr bwMode="auto">
                <a:xfrm>
                  <a:off x="389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32" name="Freeform 1240"/>
                <p:cNvSpPr>
                  <a:spLocks/>
                </p:cNvSpPr>
                <p:nvPr/>
              </p:nvSpPr>
              <p:spPr bwMode="auto">
                <a:xfrm>
                  <a:off x="3894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33" name="Freeform 1241"/>
                <p:cNvSpPr>
                  <a:spLocks/>
                </p:cNvSpPr>
                <p:nvPr/>
              </p:nvSpPr>
              <p:spPr bwMode="auto">
                <a:xfrm>
                  <a:off x="389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34" name="Freeform 1242"/>
                <p:cNvSpPr>
                  <a:spLocks/>
                </p:cNvSpPr>
                <p:nvPr/>
              </p:nvSpPr>
              <p:spPr bwMode="auto">
                <a:xfrm>
                  <a:off x="390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35" name="Freeform 1243"/>
                <p:cNvSpPr>
                  <a:spLocks/>
                </p:cNvSpPr>
                <p:nvPr/>
              </p:nvSpPr>
              <p:spPr bwMode="auto">
                <a:xfrm>
                  <a:off x="390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0 w 17"/>
                    <a:gd name="T5" fmla="*/ 16 h 17"/>
                    <a:gd name="T6" fmla="*/ 8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0" y="16"/>
                      </a:lnTo>
                      <a:lnTo>
                        <a:pt x="8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36" name="Freeform 1244"/>
                <p:cNvSpPr>
                  <a:spLocks/>
                </p:cNvSpPr>
                <p:nvPr/>
              </p:nvSpPr>
              <p:spPr bwMode="auto">
                <a:xfrm>
                  <a:off x="390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6 h 17"/>
                    <a:gd name="T6" fmla="*/ 8 w 17"/>
                    <a:gd name="T7" fmla="*/ 16 h 17"/>
                    <a:gd name="T8" fmla="*/ 12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37" name="Freeform 1245"/>
                <p:cNvSpPr>
                  <a:spLocks/>
                </p:cNvSpPr>
                <p:nvPr/>
              </p:nvSpPr>
              <p:spPr bwMode="auto">
                <a:xfrm>
                  <a:off x="390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38" name="Freeform 1246"/>
                <p:cNvSpPr>
                  <a:spLocks/>
                </p:cNvSpPr>
                <p:nvPr/>
              </p:nvSpPr>
              <p:spPr bwMode="auto">
                <a:xfrm>
                  <a:off x="391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39" name="Freeform 1247"/>
                <p:cNvSpPr>
                  <a:spLocks/>
                </p:cNvSpPr>
                <p:nvPr/>
              </p:nvSpPr>
              <p:spPr bwMode="auto">
                <a:xfrm>
                  <a:off x="391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40" name="Freeform 1248"/>
                <p:cNvSpPr>
                  <a:spLocks/>
                </p:cNvSpPr>
                <p:nvPr/>
              </p:nvSpPr>
              <p:spPr bwMode="auto">
                <a:xfrm>
                  <a:off x="3916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41" name="Freeform 1249"/>
                <p:cNvSpPr>
                  <a:spLocks/>
                </p:cNvSpPr>
                <p:nvPr/>
              </p:nvSpPr>
              <p:spPr bwMode="auto">
                <a:xfrm>
                  <a:off x="391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42" name="Freeform 1250"/>
                <p:cNvSpPr>
                  <a:spLocks/>
                </p:cNvSpPr>
                <p:nvPr/>
              </p:nvSpPr>
              <p:spPr bwMode="auto">
                <a:xfrm>
                  <a:off x="3921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43" name="Freeform 1251"/>
                <p:cNvSpPr>
                  <a:spLocks/>
                </p:cNvSpPr>
                <p:nvPr/>
              </p:nvSpPr>
              <p:spPr bwMode="auto">
                <a:xfrm>
                  <a:off x="392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44" name="Freeform 1252"/>
                <p:cNvSpPr>
                  <a:spLocks/>
                </p:cNvSpPr>
                <p:nvPr/>
              </p:nvSpPr>
              <p:spPr bwMode="auto">
                <a:xfrm>
                  <a:off x="392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45" name="Freeform 1253"/>
                <p:cNvSpPr>
                  <a:spLocks/>
                </p:cNvSpPr>
                <p:nvPr/>
              </p:nvSpPr>
              <p:spPr bwMode="auto">
                <a:xfrm>
                  <a:off x="3855" y="1279"/>
                  <a:ext cx="187" cy="174"/>
                </a:xfrm>
                <a:custGeom>
                  <a:avLst/>
                  <a:gdLst>
                    <a:gd name="T0" fmla="*/ 180 w 187"/>
                    <a:gd name="T1" fmla="*/ 173 h 174"/>
                    <a:gd name="T2" fmla="*/ 180 w 187"/>
                    <a:gd name="T3" fmla="*/ 173 h 174"/>
                    <a:gd name="T4" fmla="*/ 180 w 187"/>
                    <a:gd name="T5" fmla="*/ 172 h 174"/>
                    <a:gd name="T6" fmla="*/ 182 w 187"/>
                    <a:gd name="T7" fmla="*/ 172 h 174"/>
                    <a:gd name="T8" fmla="*/ 182 w 187"/>
                    <a:gd name="T9" fmla="*/ 172 h 174"/>
                    <a:gd name="T10" fmla="*/ 183 w 187"/>
                    <a:gd name="T11" fmla="*/ 171 h 174"/>
                    <a:gd name="T12" fmla="*/ 183 w 187"/>
                    <a:gd name="T13" fmla="*/ 171 h 174"/>
                    <a:gd name="T14" fmla="*/ 184 w 187"/>
                    <a:gd name="T15" fmla="*/ 171 h 174"/>
                    <a:gd name="T16" fmla="*/ 184 w 187"/>
                    <a:gd name="T17" fmla="*/ 170 h 174"/>
                    <a:gd name="T18" fmla="*/ 184 w 187"/>
                    <a:gd name="T19" fmla="*/ 170 h 174"/>
                    <a:gd name="T20" fmla="*/ 184 w 187"/>
                    <a:gd name="T21" fmla="*/ 169 h 174"/>
                    <a:gd name="T22" fmla="*/ 185 w 187"/>
                    <a:gd name="T23" fmla="*/ 169 h 174"/>
                    <a:gd name="T24" fmla="*/ 185 w 187"/>
                    <a:gd name="T25" fmla="*/ 168 h 174"/>
                    <a:gd name="T26" fmla="*/ 186 w 187"/>
                    <a:gd name="T27" fmla="*/ 167 h 174"/>
                    <a:gd name="T28" fmla="*/ 186 w 187"/>
                    <a:gd name="T29" fmla="*/ 167 h 174"/>
                    <a:gd name="T30" fmla="*/ 186 w 187"/>
                    <a:gd name="T31" fmla="*/ 6 h 174"/>
                    <a:gd name="T32" fmla="*/ 186 w 187"/>
                    <a:gd name="T33" fmla="*/ 5 h 174"/>
                    <a:gd name="T34" fmla="*/ 186 w 187"/>
                    <a:gd name="T35" fmla="*/ 5 h 174"/>
                    <a:gd name="T36" fmla="*/ 185 w 187"/>
                    <a:gd name="T37" fmla="*/ 5 h 174"/>
                    <a:gd name="T38" fmla="*/ 185 w 187"/>
                    <a:gd name="T39" fmla="*/ 3 h 174"/>
                    <a:gd name="T40" fmla="*/ 184 w 187"/>
                    <a:gd name="T41" fmla="*/ 3 h 174"/>
                    <a:gd name="T42" fmla="*/ 184 w 187"/>
                    <a:gd name="T43" fmla="*/ 2 h 174"/>
                    <a:gd name="T44" fmla="*/ 184 w 187"/>
                    <a:gd name="T45" fmla="*/ 1 h 174"/>
                    <a:gd name="T46" fmla="*/ 183 w 187"/>
                    <a:gd name="T47" fmla="*/ 1 h 174"/>
                    <a:gd name="T48" fmla="*/ 183 w 187"/>
                    <a:gd name="T49" fmla="*/ 1 h 174"/>
                    <a:gd name="T50" fmla="*/ 182 w 187"/>
                    <a:gd name="T51" fmla="*/ 1 h 174"/>
                    <a:gd name="T52" fmla="*/ 182 w 187"/>
                    <a:gd name="T53" fmla="*/ 0 h 174"/>
                    <a:gd name="T54" fmla="*/ 180 w 187"/>
                    <a:gd name="T55" fmla="*/ 0 h 174"/>
                    <a:gd name="T56" fmla="*/ 180 w 187"/>
                    <a:gd name="T57" fmla="*/ 0 h 174"/>
                    <a:gd name="T58" fmla="*/ 180 w 187"/>
                    <a:gd name="T59" fmla="*/ 0 h 174"/>
                    <a:gd name="T60" fmla="*/ 5 w 187"/>
                    <a:gd name="T61" fmla="*/ 0 h 174"/>
                    <a:gd name="T62" fmla="*/ 4 w 187"/>
                    <a:gd name="T63" fmla="*/ 0 h 174"/>
                    <a:gd name="T64" fmla="*/ 3 w 187"/>
                    <a:gd name="T65" fmla="*/ 0 h 174"/>
                    <a:gd name="T66" fmla="*/ 3 w 187"/>
                    <a:gd name="T67" fmla="*/ 0 h 174"/>
                    <a:gd name="T68" fmla="*/ 2 w 187"/>
                    <a:gd name="T69" fmla="*/ 0 h 174"/>
                    <a:gd name="T70" fmla="*/ 2 w 187"/>
                    <a:gd name="T71" fmla="*/ 1 h 174"/>
                    <a:gd name="T72" fmla="*/ 1 w 187"/>
                    <a:gd name="T73" fmla="*/ 1 h 174"/>
                    <a:gd name="T74" fmla="*/ 1 w 187"/>
                    <a:gd name="T75" fmla="*/ 1 h 174"/>
                    <a:gd name="T76" fmla="*/ 1 w 187"/>
                    <a:gd name="T77" fmla="*/ 2 h 174"/>
                    <a:gd name="T78" fmla="*/ 0 w 187"/>
                    <a:gd name="T79" fmla="*/ 3 h 174"/>
                    <a:gd name="T80" fmla="*/ 0 w 187"/>
                    <a:gd name="T81" fmla="*/ 3 h 174"/>
                    <a:gd name="T82" fmla="*/ 0 w 187"/>
                    <a:gd name="T83" fmla="*/ 3 h 174"/>
                    <a:gd name="T84" fmla="*/ 0 w 187"/>
                    <a:gd name="T85" fmla="*/ 5 h 174"/>
                    <a:gd name="T86" fmla="*/ 0 w 187"/>
                    <a:gd name="T87" fmla="*/ 5 h 174"/>
                    <a:gd name="T88" fmla="*/ 0 w 187"/>
                    <a:gd name="T89" fmla="*/ 6 h 174"/>
                    <a:gd name="T90" fmla="*/ 0 w 187"/>
                    <a:gd name="T91" fmla="*/ 167 h 174"/>
                    <a:gd name="T92" fmla="*/ 0 w 187"/>
                    <a:gd name="T93" fmla="*/ 167 h 174"/>
                    <a:gd name="T94" fmla="*/ 0 w 187"/>
                    <a:gd name="T95" fmla="*/ 168 h 174"/>
                    <a:gd name="T96" fmla="*/ 0 w 187"/>
                    <a:gd name="T97" fmla="*/ 169 h 174"/>
                    <a:gd name="T98" fmla="*/ 0 w 187"/>
                    <a:gd name="T99" fmla="*/ 169 h 174"/>
                    <a:gd name="T100" fmla="*/ 0 w 187"/>
                    <a:gd name="T101" fmla="*/ 170 h 174"/>
                    <a:gd name="T102" fmla="*/ 1 w 187"/>
                    <a:gd name="T103" fmla="*/ 170 h 174"/>
                    <a:gd name="T104" fmla="*/ 1 w 187"/>
                    <a:gd name="T105" fmla="*/ 171 h 174"/>
                    <a:gd name="T106" fmla="*/ 1 w 187"/>
                    <a:gd name="T107" fmla="*/ 171 h 174"/>
                    <a:gd name="T108" fmla="*/ 2 w 187"/>
                    <a:gd name="T109" fmla="*/ 171 h 174"/>
                    <a:gd name="T110" fmla="*/ 2 w 187"/>
                    <a:gd name="T111" fmla="*/ 172 h 174"/>
                    <a:gd name="T112" fmla="*/ 2 w 187"/>
                    <a:gd name="T113" fmla="*/ 172 h 174"/>
                    <a:gd name="T114" fmla="*/ 3 w 187"/>
                    <a:gd name="T115" fmla="*/ 172 h 174"/>
                    <a:gd name="T116" fmla="*/ 3 w 187"/>
                    <a:gd name="T117" fmla="*/ 172 h 174"/>
                    <a:gd name="T118" fmla="*/ 4 w 187"/>
                    <a:gd name="T119" fmla="*/ 173 h 174"/>
                    <a:gd name="T120" fmla="*/ 5 w 187"/>
                    <a:gd name="T121" fmla="*/ 173 h 174"/>
                    <a:gd name="T122" fmla="*/ 180 w 187"/>
                    <a:gd name="T123" fmla="*/ 173 h 174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w 187"/>
                    <a:gd name="T187" fmla="*/ 0 h 174"/>
                    <a:gd name="T188" fmla="*/ 187 w 187"/>
                    <a:gd name="T189" fmla="*/ 174 h 174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T186" t="T187" r="T188" b="T189"/>
                  <a:pathLst>
                    <a:path w="187" h="174">
                      <a:moveTo>
                        <a:pt x="180" y="173"/>
                      </a:moveTo>
                      <a:lnTo>
                        <a:pt x="180" y="173"/>
                      </a:lnTo>
                      <a:lnTo>
                        <a:pt x="180" y="172"/>
                      </a:lnTo>
                      <a:lnTo>
                        <a:pt x="182" y="172"/>
                      </a:lnTo>
                      <a:lnTo>
                        <a:pt x="183" y="171"/>
                      </a:lnTo>
                      <a:lnTo>
                        <a:pt x="184" y="171"/>
                      </a:lnTo>
                      <a:lnTo>
                        <a:pt x="184" y="170"/>
                      </a:lnTo>
                      <a:lnTo>
                        <a:pt x="184" y="169"/>
                      </a:lnTo>
                      <a:lnTo>
                        <a:pt x="185" y="169"/>
                      </a:lnTo>
                      <a:lnTo>
                        <a:pt x="185" y="168"/>
                      </a:lnTo>
                      <a:lnTo>
                        <a:pt x="186" y="167"/>
                      </a:lnTo>
                      <a:lnTo>
                        <a:pt x="186" y="6"/>
                      </a:lnTo>
                      <a:lnTo>
                        <a:pt x="186" y="5"/>
                      </a:lnTo>
                      <a:lnTo>
                        <a:pt x="185" y="5"/>
                      </a:lnTo>
                      <a:lnTo>
                        <a:pt x="185" y="3"/>
                      </a:lnTo>
                      <a:lnTo>
                        <a:pt x="184" y="3"/>
                      </a:lnTo>
                      <a:lnTo>
                        <a:pt x="184" y="2"/>
                      </a:lnTo>
                      <a:lnTo>
                        <a:pt x="184" y="1"/>
                      </a:lnTo>
                      <a:lnTo>
                        <a:pt x="183" y="1"/>
                      </a:lnTo>
                      <a:lnTo>
                        <a:pt x="182" y="1"/>
                      </a:lnTo>
                      <a:lnTo>
                        <a:pt x="182" y="0"/>
                      </a:lnTo>
                      <a:lnTo>
                        <a:pt x="180" y="0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2" y="1"/>
                      </a:lnTo>
                      <a:lnTo>
                        <a:pt x="1" y="1"/>
                      </a:lnTo>
                      <a:lnTo>
                        <a:pt x="1" y="2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0" y="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0" y="169"/>
                      </a:lnTo>
                      <a:lnTo>
                        <a:pt x="0" y="170"/>
                      </a:lnTo>
                      <a:lnTo>
                        <a:pt x="1" y="170"/>
                      </a:lnTo>
                      <a:lnTo>
                        <a:pt x="1" y="171"/>
                      </a:lnTo>
                      <a:lnTo>
                        <a:pt x="2" y="171"/>
                      </a:lnTo>
                      <a:lnTo>
                        <a:pt x="2" y="172"/>
                      </a:lnTo>
                      <a:lnTo>
                        <a:pt x="3" y="172"/>
                      </a:lnTo>
                      <a:lnTo>
                        <a:pt x="4" y="173"/>
                      </a:lnTo>
                      <a:lnTo>
                        <a:pt x="5" y="173"/>
                      </a:lnTo>
                      <a:lnTo>
                        <a:pt x="180" y="173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46" name="Freeform 1254"/>
                <p:cNvSpPr>
                  <a:spLocks/>
                </p:cNvSpPr>
                <p:nvPr/>
              </p:nvSpPr>
              <p:spPr bwMode="auto">
                <a:xfrm>
                  <a:off x="3855" y="1281"/>
                  <a:ext cx="186" cy="172"/>
                </a:xfrm>
                <a:custGeom>
                  <a:avLst/>
                  <a:gdLst>
                    <a:gd name="T0" fmla="*/ 185 w 186"/>
                    <a:gd name="T1" fmla="*/ 165 h 172"/>
                    <a:gd name="T2" fmla="*/ 185 w 186"/>
                    <a:gd name="T3" fmla="*/ 166 h 172"/>
                    <a:gd name="T4" fmla="*/ 185 w 186"/>
                    <a:gd name="T5" fmla="*/ 167 h 172"/>
                    <a:gd name="T6" fmla="*/ 184 w 186"/>
                    <a:gd name="T7" fmla="*/ 167 h 172"/>
                    <a:gd name="T8" fmla="*/ 184 w 186"/>
                    <a:gd name="T9" fmla="*/ 168 h 172"/>
                    <a:gd name="T10" fmla="*/ 183 w 186"/>
                    <a:gd name="T11" fmla="*/ 169 h 172"/>
                    <a:gd name="T12" fmla="*/ 183 w 186"/>
                    <a:gd name="T13" fmla="*/ 169 h 172"/>
                    <a:gd name="T14" fmla="*/ 182 w 186"/>
                    <a:gd name="T15" fmla="*/ 170 h 172"/>
                    <a:gd name="T16" fmla="*/ 182 w 186"/>
                    <a:gd name="T17" fmla="*/ 170 h 172"/>
                    <a:gd name="T18" fmla="*/ 181 w 186"/>
                    <a:gd name="T19" fmla="*/ 170 h 172"/>
                    <a:gd name="T20" fmla="*/ 181 w 186"/>
                    <a:gd name="T21" fmla="*/ 171 h 172"/>
                    <a:gd name="T22" fmla="*/ 180 w 186"/>
                    <a:gd name="T23" fmla="*/ 171 h 172"/>
                    <a:gd name="T24" fmla="*/ 179 w 186"/>
                    <a:gd name="T25" fmla="*/ 171 h 172"/>
                    <a:gd name="T26" fmla="*/ 4 w 186"/>
                    <a:gd name="T27" fmla="*/ 171 h 172"/>
                    <a:gd name="T28" fmla="*/ 3 w 186"/>
                    <a:gd name="T29" fmla="*/ 171 h 172"/>
                    <a:gd name="T30" fmla="*/ 3 w 186"/>
                    <a:gd name="T31" fmla="*/ 171 h 172"/>
                    <a:gd name="T32" fmla="*/ 3 w 186"/>
                    <a:gd name="T33" fmla="*/ 170 h 172"/>
                    <a:gd name="T34" fmla="*/ 2 w 186"/>
                    <a:gd name="T35" fmla="*/ 170 h 172"/>
                    <a:gd name="T36" fmla="*/ 2 w 186"/>
                    <a:gd name="T37" fmla="*/ 170 h 172"/>
                    <a:gd name="T38" fmla="*/ 1 w 186"/>
                    <a:gd name="T39" fmla="*/ 169 h 172"/>
                    <a:gd name="T40" fmla="*/ 1 w 186"/>
                    <a:gd name="T41" fmla="*/ 169 h 172"/>
                    <a:gd name="T42" fmla="*/ 0 w 186"/>
                    <a:gd name="T43" fmla="*/ 169 h 172"/>
                    <a:gd name="T44" fmla="*/ 0 w 186"/>
                    <a:gd name="T45" fmla="*/ 168 h 172"/>
                    <a:gd name="T46" fmla="*/ 0 w 186"/>
                    <a:gd name="T47" fmla="*/ 167 h 172"/>
                    <a:gd name="T48" fmla="*/ 0 w 186"/>
                    <a:gd name="T49" fmla="*/ 167 h 172"/>
                    <a:gd name="T50" fmla="*/ 0 w 186"/>
                    <a:gd name="T51" fmla="*/ 166 h 172"/>
                    <a:gd name="T52" fmla="*/ 0 w 186"/>
                    <a:gd name="T53" fmla="*/ 165 h 172"/>
                    <a:gd name="T54" fmla="*/ 0 w 186"/>
                    <a:gd name="T55" fmla="*/ 5 h 172"/>
                    <a:gd name="T56" fmla="*/ 0 w 186"/>
                    <a:gd name="T57" fmla="*/ 4 h 172"/>
                    <a:gd name="T58" fmla="*/ 0 w 186"/>
                    <a:gd name="T59" fmla="*/ 3 h 172"/>
                    <a:gd name="T60" fmla="*/ 0 w 186"/>
                    <a:gd name="T61" fmla="*/ 3 h 172"/>
                    <a:gd name="T62" fmla="*/ 0 w 186"/>
                    <a:gd name="T63" fmla="*/ 2 h 172"/>
                    <a:gd name="T64" fmla="*/ 0 w 186"/>
                    <a:gd name="T65" fmla="*/ 2 h 172"/>
                    <a:gd name="T66" fmla="*/ 1 w 186"/>
                    <a:gd name="T67" fmla="*/ 1 h 172"/>
                    <a:gd name="T68" fmla="*/ 1 w 186"/>
                    <a:gd name="T69" fmla="*/ 1 h 172"/>
                    <a:gd name="T70" fmla="*/ 2 w 186"/>
                    <a:gd name="T71" fmla="*/ 1 h 172"/>
                    <a:gd name="T72" fmla="*/ 2 w 186"/>
                    <a:gd name="T73" fmla="*/ 0 h 172"/>
                    <a:gd name="T74" fmla="*/ 2 w 186"/>
                    <a:gd name="T75" fmla="*/ 0 h 172"/>
                    <a:gd name="T76" fmla="*/ 3 w 186"/>
                    <a:gd name="T77" fmla="*/ 0 h 172"/>
                    <a:gd name="T78" fmla="*/ 3 w 186"/>
                    <a:gd name="T79" fmla="*/ 0 h 172"/>
                    <a:gd name="T80" fmla="*/ 4 w 186"/>
                    <a:gd name="T81" fmla="*/ 0 h 172"/>
                    <a:gd name="T82" fmla="*/ 179 w 186"/>
                    <a:gd name="T83" fmla="*/ 0 h 172"/>
                    <a:gd name="T84" fmla="*/ 180 w 186"/>
                    <a:gd name="T85" fmla="*/ 0 h 172"/>
                    <a:gd name="T86" fmla="*/ 181 w 186"/>
                    <a:gd name="T87" fmla="*/ 0 h 172"/>
                    <a:gd name="T88" fmla="*/ 181 w 186"/>
                    <a:gd name="T89" fmla="*/ 0 h 172"/>
                    <a:gd name="T90" fmla="*/ 182 w 186"/>
                    <a:gd name="T91" fmla="*/ 0 h 172"/>
                    <a:gd name="T92" fmla="*/ 182 w 186"/>
                    <a:gd name="T93" fmla="*/ 1 h 172"/>
                    <a:gd name="T94" fmla="*/ 183 w 186"/>
                    <a:gd name="T95" fmla="*/ 1 h 172"/>
                    <a:gd name="T96" fmla="*/ 183 w 186"/>
                    <a:gd name="T97" fmla="*/ 1 h 172"/>
                    <a:gd name="T98" fmla="*/ 183 w 186"/>
                    <a:gd name="T99" fmla="*/ 2 h 172"/>
                    <a:gd name="T100" fmla="*/ 184 w 186"/>
                    <a:gd name="T101" fmla="*/ 2 h 172"/>
                    <a:gd name="T102" fmla="*/ 184 w 186"/>
                    <a:gd name="T103" fmla="*/ 3 h 172"/>
                    <a:gd name="T104" fmla="*/ 185 w 186"/>
                    <a:gd name="T105" fmla="*/ 3 h 172"/>
                    <a:gd name="T106" fmla="*/ 185 w 186"/>
                    <a:gd name="T107" fmla="*/ 4 h 172"/>
                    <a:gd name="T108" fmla="*/ 185 w 186"/>
                    <a:gd name="T109" fmla="*/ 5 h 172"/>
                    <a:gd name="T110" fmla="*/ 185 w 186"/>
                    <a:gd name="T111" fmla="*/ 165 h 172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86"/>
                    <a:gd name="T169" fmla="*/ 0 h 172"/>
                    <a:gd name="T170" fmla="*/ 186 w 186"/>
                    <a:gd name="T171" fmla="*/ 172 h 172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86" h="172">
                      <a:moveTo>
                        <a:pt x="185" y="165"/>
                      </a:moveTo>
                      <a:lnTo>
                        <a:pt x="185" y="166"/>
                      </a:lnTo>
                      <a:lnTo>
                        <a:pt x="185" y="167"/>
                      </a:lnTo>
                      <a:lnTo>
                        <a:pt x="184" y="167"/>
                      </a:lnTo>
                      <a:lnTo>
                        <a:pt x="184" y="168"/>
                      </a:lnTo>
                      <a:lnTo>
                        <a:pt x="183" y="169"/>
                      </a:lnTo>
                      <a:lnTo>
                        <a:pt x="182" y="170"/>
                      </a:lnTo>
                      <a:lnTo>
                        <a:pt x="181" y="170"/>
                      </a:lnTo>
                      <a:lnTo>
                        <a:pt x="181" y="171"/>
                      </a:lnTo>
                      <a:lnTo>
                        <a:pt x="180" y="171"/>
                      </a:lnTo>
                      <a:lnTo>
                        <a:pt x="179" y="171"/>
                      </a:lnTo>
                      <a:lnTo>
                        <a:pt x="4" y="171"/>
                      </a:lnTo>
                      <a:lnTo>
                        <a:pt x="3" y="171"/>
                      </a:lnTo>
                      <a:lnTo>
                        <a:pt x="3" y="170"/>
                      </a:lnTo>
                      <a:lnTo>
                        <a:pt x="2" y="170"/>
                      </a:lnTo>
                      <a:lnTo>
                        <a:pt x="1" y="169"/>
                      </a:lnTo>
                      <a:lnTo>
                        <a:pt x="0" y="169"/>
                      </a:lnTo>
                      <a:lnTo>
                        <a:pt x="0" y="168"/>
                      </a:lnTo>
                      <a:lnTo>
                        <a:pt x="0" y="167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79" y="0"/>
                      </a:lnTo>
                      <a:lnTo>
                        <a:pt x="180" y="0"/>
                      </a:lnTo>
                      <a:lnTo>
                        <a:pt x="181" y="0"/>
                      </a:lnTo>
                      <a:lnTo>
                        <a:pt x="182" y="0"/>
                      </a:lnTo>
                      <a:lnTo>
                        <a:pt x="182" y="1"/>
                      </a:lnTo>
                      <a:lnTo>
                        <a:pt x="183" y="1"/>
                      </a:lnTo>
                      <a:lnTo>
                        <a:pt x="183" y="2"/>
                      </a:lnTo>
                      <a:lnTo>
                        <a:pt x="184" y="2"/>
                      </a:lnTo>
                      <a:lnTo>
                        <a:pt x="184" y="3"/>
                      </a:lnTo>
                      <a:lnTo>
                        <a:pt x="185" y="3"/>
                      </a:lnTo>
                      <a:lnTo>
                        <a:pt x="185" y="4"/>
                      </a:lnTo>
                      <a:lnTo>
                        <a:pt x="185" y="5"/>
                      </a:lnTo>
                      <a:lnTo>
                        <a:pt x="185" y="165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47" name="Freeform 1255"/>
                <p:cNvSpPr>
                  <a:spLocks/>
                </p:cNvSpPr>
                <p:nvPr/>
              </p:nvSpPr>
              <p:spPr bwMode="auto">
                <a:xfrm>
                  <a:off x="3857" y="1281"/>
                  <a:ext cx="181" cy="171"/>
                </a:xfrm>
                <a:custGeom>
                  <a:avLst/>
                  <a:gdLst>
                    <a:gd name="T0" fmla="*/ 180 w 181"/>
                    <a:gd name="T1" fmla="*/ 3 h 171"/>
                    <a:gd name="T2" fmla="*/ 180 w 181"/>
                    <a:gd name="T3" fmla="*/ 3 h 171"/>
                    <a:gd name="T4" fmla="*/ 180 w 181"/>
                    <a:gd name="T5" fmla="*/ 2 h 171"/>
                    <a:gd name="T6" fmla="*/ 179 w 181"/>
                    <a:gd name="T7" fmla="*/ 2 h 171"/>
                    <a:gd name="T8" fmla="*/ 179 w 181"/>
                    <a:gd name="T9" fmla="*/ 1 h 171"/>
                    <a:gd name="T10" fmla="*/ 178 w 181"/>
                    <a:gd name="T11" fmla="*/ 1 h 171"/>
                    <a:gd name="T12" fmla="*/ 178 w 181"/>
                    <a:gd name="T13" fmla="*/ 0 h 171"/>
                    <a:gd name="T14" fmla="*/ 177 w 181"/>
                    <a:gd name="T15" fmla="*/ 0 h 171"/>
                    <a:gd name="T16" fmla="*/ 177 w 181"/>
                    <a:gd name="T17" fmla="*/ 0 h 171"/>
                    <a:gd name="T18" fmla="*/ 177 w 181"/>
                    <a:gd name="T19" fmla="*/ 0 h 171"/>
                    <a:gd name="T20" fmla="*/ 176 w 181"/>
                    <a:gd name="T21" fmla="*/ 0 h 171"/>
                    <a:gd name="T22" fmla="*/ 176 w 181"/>
                    <a:gd name="T23" fmla="*/ 0 h 171"/>
                    <a:gd name="T24" fmla="*/ 3 w 181"/>
                    <a:gd name="T25" fmla="*/ 0 h 171"/>
                    <a:gd name="T26" fmla="*/ 3 w 181"/>
                    <a:gd name="T27" fmla="*/ 0 h 171"/>
                    <a:gd name="T28" fmla="*/ 2 w 181"/>
                    <a:gd name="T29" fmla="*/ 0 h 171"/>
                    <a:gd name="T30" fmla="*/ 2 w 181"/>
                    <a:gd name="T31" fmla="*/ 0 h 171"/>
                    <a:gd name="T32" fmla="*/ 1 w 181"/>
                    <a:gd name="T33" fmla="*/ 0 h 171"/>
                    <a:gd name="T34" fmla="*/ 1 w 181"/>
                    <a:gd name="T35" fmla="*/ 0 h 171"/>
                    <a:gd name="T36" fmla="*/ 1 w 181"/>
                    <a:gd name="T37" fmla="*/ 1 h 171"/>
                    <a:gd name="T38" fmla="*/ 0 w 181"/>
                    <a:gd name="T39" fmla="*/ 1 h 171"/>
                    <a:gd name="T40" fmla="*/ 0 w 181"/>
                    <a:gd name="T41" fmla="*/ 1 h 171"/>
                    <a:gd name="T42" fmla="*/ 0 w 181"/>
                    <a:gd name="T43" fmla="*/ 2 h 171"/>
                    <a:gd name="T44" fmla="*/ 0 w 181"/>
                    <a:gd name="T45" fmla="*/ 3 h 171"/>
                    <a:gd name="T46" fmla="*/ 0 w 181"/>
                    <a:gd name="T47" fmla="*/ 3 h 171"/>
                    <a:gd name="T48" fmla="*/ 0 w 181"/>
                    <a:gd name="T49" fmla="*/ 166 h 171"/>
                    <a:gd name="T50" fmla="*/ 0 w 181"/>
                    <a:gd name="T51" fmla="*/ 166 h 171"/>
                    <a:gd name="T52" fmla="*/ 0 w 181"/>
                    <a:gd name="T53" fmla="*/ 167 h 171"/>
                    <a:gd name="T54" fmla="*/ 0 w 181"/>
                    <a:gd name="T55" fmla="*/ 168 h 171"/>
                    <a:gd name="T56" fmla="*/ 0 w 181"/>
                    <a:gd name="T57" fmla="*/ 168 h 171"/>
                    <a:gd name="T58" fmla="*/ 1 w 181"/>
                    <a:gd name="T59" fmla="*/ 168 h 171"/>
                    <a:gd name="T60" fmla="*/ 1 w 181"/>
                    <a:gd name="T61" fmla="*/ 169 h 171"/>
                    <a:gd name="T62" fmla="*/ 2 w 181"/>
                    <a:gd name="T63" fmla="*/ 169 h 171"/>
                    <a:gd name="T64" fmla="*/ 2 w 181"/>
                    <a:gd name="T65" fmla="*/ 169 h 171"/>
                    <a:gd name="T66" fmla="*/ 3 w 181"/>
                    <a:gd name="T67" fmla="*/ 170 h 171"/>
                    <a:gd name="T68" fmla="*/ 3 w 181"/>
                    <a:gd name="T69" fmla="*/ 170 h 171"/>
                    <a:gd name="T70" fmla="*/ 176 w 181"/>
                    <a:gd name="T71" fmla="*/ 170 h 171"/>
                    <a:gd name="T72" fmla="*/ 176 w 181"/>
                    <a:gd name="T73" fmla="*/ 169 h 171"/>
                    <a:gd name="T74" fmla="*/ 177 w 181"/>
                    <a:gd name="T75" fmla="*/ 169 h 171"/>
                    <a:gd name="T76" fmla="*/ 177 w 181"/>
                    <a:gd name="T77" fmla="*/ 169 h 171"/>
                    <a:gd name="T78" fmla="*/ 178 w 181"/>
                    <a:gd name="T79" fmla="*/ 169 h 171"/>
                    <a:gd name="T80" fmla="*/ 178 w 181"/>
                    <a:gd name="T81" fmla="*/ 168 h 171"/>
                    <a:gd name="T82" fmla="*/ 178 w 181"/>
                    <a:gd name="T83" fmla="*/ 168 h 171"/>
                    <a:gd name="T84" fmla="*/ 179 w 181"/>
                    <a:gd name="T85" fmla="*/ 168 h 171"/>
                    <a:gd name="T86" fmla="*/ 179 w 181"/>
                    <a:gd name="T87" fmla="*/ 167 h 171"/>
                    <a:gd name="T88" fmla="*/ 180 w 181"/>
                    <a:gd name="T89" fmla="*/ 166 h 171"/>
                    <a:gd name="T90" fmla="*/ 180 w 181"/>
                    <a:gd name="T91" fmla="*/ 166 h 171"/>
                    <a:gd name="T92" fmla="*/ 180 w 181"/>
                    <a:gd name="T93" fmla="*/ 3 h 171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w 181"/>
                    <a:gd name="T142" fmla="*/ 0 h 171"/>
                    <a:gd name="T143" fmla="*/ 181 w 181"/>
                    <a:gd name="T144" fmla="*/ 171 h 171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T141" t="T142" r="T143" b="T144"/>
                  <a:pathLst>
                    <a:path w="181" h="171">
                      <a:moveTo>
                        <a:pt x="180" y="3"/>
                      </a:moveTo>
                      <a:lnTo>
                        <a:pt x="180" y="3"/>
                      </a:lnTo>
                      <a:lnTo>
                        <a:pt x="180" y="2"/>
                      </a:lnTo>
                      <a:lnTo>
                        <a:pt x="179" y="2"/>
                      </a:lnTo>
                      <a:lnTo>
                        <a:pt x="179" y="1"/>
                      </a:lnTo>
                      <a:lnTo>
                        <a:pt x="178" y="1"/>
                      </a:lnTo>
                      <a:lnTo>
                        <a:pt x="178" y="0"/>
                      </a:lnTo>
                      <a:lnTo>
                        <a:pt x="177" y="0"/>
                      </a:lnTo>
                      <a:lnTo>
                        <a:pt x="17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16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1" y="169"/>
                      </a:lnTo>
                      <a:lnTo>
                        <a:pt x="2" y="169"/>
                      </a:lnTo>
                      <a:lnTo>
                        <a:pt x="3" y="170"/>
                      </a:lnTo>
                      <a:lnTo>
                        <a:pt x="176" y="170"/>
                      </a:lnTo>
                      <a:lnTo>
                        <a:pt x="176" y="169"/>
                      </a:lnTo>
                      <a:lnTo>
                        <a:pt x="177" y="169"/>
                      </a:lnTo>
                      <a:lnTo>
                        <a:pt x="178" y="169"/>
                      </a:lnTo>
                      <a:lnTo>
                        <a:pt x="178" y="168"/>
                      </a:lnTo>
                      <a:lnTo>
                        <a:pt x="179" y="168"/>
                      </a:lnTo>
                      <a:lnTo>
                        <a:pt x="179" y="167"/>
                      </a:lnTo>
                      <a:lnTo>
                        <a:pt x="180" y="166"/>
                      </a:lnTo>
                      <a:lnTo>
                        <a:pt x="180" y="3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48" name="Freeform 1256"/>
                <p:cNvSpPr>
                  <a:spLocks/>
                </p:cNvSpPr>
                <p:nvPr/>
              </p:nvSpPr>
              <p:spPr bwMode="auto">
                <a:xfrm>
                  <a:off x="3858" y="1282"/>
                  <a:ext cx="180" cy="168"/>
                </a:xfrm>
                <a:custGeom>
                  <a:avLst/>
                  <a:gdLst>
                    <a:gd name="T0" fmla="*/ 179 w 180"/>
                    <a:gd name="T1" fmla="*/ 163 h 168"/>
                    <a:gd name="T2" fmla="*/ 179 w 180"/>
                    <a:gd name="T3" fmla="*/ 164 h 168"/>
                    <a:gd name="T4" fmla="*/ 178 w 180"/>
                    <a:gd name="T5" fmla="*/ 165 h 168"/>
                    <a:gd name="T6" fmla="*/ 178 w 180"/>
                    <a:gd name="T7" fmla="*/ 165 h 168"/>
                    <a:gd name="T8" fmla="*/ 177 w 180"/>
                    <a:gd name="T9" fmla="*/ 166 h 168"/>
                    <a:gd name="T10" fmla="*/ 177 w 180"/>
                    <a:gd name="T11" fmla="*/ 166 h 168"/>
                    <a:gd name="T12" fmla="*/ 176 w 180"/>
                    <a:gd name="T13" fmla="*/ 167 h 168"/>
                    <a:gd name="T14" fmla="*/ 176 w 180"/>
                    <a:gd name="T15" fmla="*/ 167 h 168"/>
                    <a:gd name="T16" fmla="*/ 2 w 180"/>
                    <a:gd name="T17" fmla="*/ 167 h 168"/>
                    <a:gd name="T18" fmla="*/ 2 w 180"/>
                    <a:gd name="T19" fmla="*/ 167 h 168"/>
                    <a:gd name="T20" fmla="*/ 1 w 180"/>
                    <a:gd name="T21" fmla="*/ 167 h 168"/>
                    <a:gd name="T22" fmla="*/ 1 w 180"/>
                    <a:gd name="T23" fmla="*/ 166 h 168"/>
                    <a:gd name="T24" fmla="*/ 1 w 180"/>
                    <a:gd name="T25" fmla="*/ 166 h 168"/>
                    <a:gd name="T26" fmla="*/ 0 w 180"/>
                    <a:gd name="T27" fmla="*/ 166 h 168"/>
                    <a:gd name="T28" fmla="*/ 0 w 180"/>
                    <a:gd name="T29" fmla="*/ 165 h 168"/>
                    <a:gd name="T30" fmla="*/ 0 w 180"/>
                    <a:gd name="T31" fmla="*/ 165 h 168"/>
                    <a:gd name="T32" fmla="*/ 0 w 180"/>
                    <a:gd name="T33" fmla="*/ 165 h 168"/>
                    <a:gd name="T34" fmla="*/ 0 w 180"/>
                    <a:gd name="T35" fmla="*/ 164 h 168"/>
                    <a:gd name="T36" fmla="*/ 0 w 180"/>
                    <a:gd name="T37" fmla="*/ 163 h 168"/>
                    <a:gd name="T38" fmla="*/ 0 w 180"/>
                    <a:gd name="T39" fmla="*/ 3 h 168"/>
                    <a:gd name="T40" fmla="*/ 0 w 180"/>
                    <a:gd name="T41" fmla="*/ 2 h 168"/>
                    <a:gd name="T42" fmla="*/ 0 w 180"/>
                    <a:gd name="T43" fmla="*/ 1 h 168"/>
                    <a:gd name="T44" fmla="*/ 0 w 180"/>
                    <a:gd name="T45" fmla="*/ 1 h 168"/>
                    <a:gd name="T46" fmla="*/ 0 w 180"/>
                    <a:gd name="T47" fmla="*/ 1 h 168"/>
                    <a:gd name="T48" fmla="*/ 1 w 180"/>
                    <a:gd name="T49" fmla="*/ 0 h 168"/>
                    <a:gd name="T50" fmla="*/ 1 w 180"/>
                    <a:gd name="T51" fmla="*/ 0 h 168"/>
                    <a:gd name="T52" fmla="*/ 2 w 180"/>
                    <a:gd name="T53" fmla="*/ 0 h 168"/>
                    <a:gd name="T54" fmla="*/ 2 w 180"/>
                    <a:gd name="T55" fmla="*/ 0 h 168"/>
                    <a:gd name="T56" fmla="*/ 176 w 180"/>
                    <a:gd name="T57" fmla="*/ 0 h 168"/>
                    <a:gd name="T58" fmla="*/ 176 w 180"/>
                    <a:gd name="T59" fmla="*/ 0 h 168"/>
                    <a:gd name="T60" fmla="*/ 176 w 180"/>
                    <a:gd name="T61" fmla="*/ 0 h 168"/>
                    <a:gd name="T62" fmla="*/ 177 w 180"/>
                    <a:gd name="T63" fmla="*/ 0 h 168"/>
                    <a:gd name="T64" fmla="*/ 177 w 180"/>
                    <a:gd name="T65" fmla="*/ 0 h 168"/>
                    <a:gd name="T66" fmla="*/ 177 w 180"/>
                    <a:gd name="T67" fmla="*/ 1 h 168"/>
                    <a:gd name="T68" fmla="*/ 178 w 180"/>
                    <a:gd name="T69" fmla="*/ 1 h 168"/>
                    <a:gd name="T70" fmla="*/ 178 w 180"/>
                    <a:gd name="T71" fmla="*/ 1 h 168"/>
                    <a:gd name="T72" fmla="*/ 179 w 180"/>
                    <a:gd name="T73" fmla="*/ 2 h 168"/>
                    <a:gd name="T74" fmla="*/ 179 w 180"/>
                    <a:gd name="T75" fmla="*/ 3 h 168"/>
                    <a:gd name="T76" fmla="*/ 179 w 180"/>
                    <a:gd name="T77" fmla="*/ 16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80"/>
                    <a:gd name="T118" fmla="*/ 0 h 168"/>
                    <a:gd name="T119" fmla="*/ 180 w 180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80" h="168">
                      <a:moveTo>
                        <a:pt x="179" y="163"/>
                      </a:moveTo>
                      <a:lnTo>
                        <a:pt x="179" y="164"/>
                      </a:lnTo>
                      <a:lnTo>
                        <a:pt x="178" y="165"/>
                      </a:lnTo>
                      <a:lnTo>
                        <a:pt x="177" y="166"/>
                      </a:lnTo>
                      <a:lnTo>
                        <a:pt x="176" y="167"/>
                      </a:lnTo>
                      <a:lnTo>
                        <a:pt x="2" y="167"/>
                      </a:lnTo>
                      <a:lnTo>
                        <a:pt x="1" y="167"/>
                      </a:lnTo>
                      <a:lnTo>
                        <a:pt x="1" y="166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164"/>
                      </a:lnTo>
                      <a:lnTo>
                        <a:pt x="0" y="163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2" y="0"/>
                      </a:lnTo>
                      <a:lnTo>
                        <a:pt x="176" y="0"/>
                      </a:lnTo>
                      <a:lnTo>
                        <a:pt x="177" y="0"/>
                      </a:lnTo>
                      <a:lnTo>
                        <a:pt x="177" y="1"/>
                      </a:lnTo>
                      <a:lnTo>
                        <a:pt x="178" y="1"/>
                      </a:lnTo>
                      <a:lnTo>
                        <a:pt x="179" y="2"/>
                      </a:lnTo>
                      <a:lnTo>
                        <a:pt x="179" y="3"/>
                      </a:lnTo>
                      <a:lnTo>
                        <a:pt x="179" y="163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49" name="Freeform 1257"/>
                <p:cNvSpPr>
                  <a:spLocks/>
                </p:cNvSpPr>
                <p:nvPr/>
              </p:nvSpPr>
              <p:spPr bwMode="auto">
                <a:xfrm>
                  <a:off x="3877" y="1304"/>
                  <a:ext cx="142" cy="124"/>
                </a:xfrm>
                <a:custGeom>
                  <a:avLst/>
                  <a:gdLst>
                    <a:gd name="T0" fmla="*/ 0 w 142"/>
                    <a:gd name="T1" fmla="*/ 1 h 124"/>
                    <a:gd name="T2" fmla="*/ 1 w 142"/>
                    <a:gd name="T3" fmla="*/ 1 h 124"/>
                    <a:gd name="T4" fmla="*/ 1 w 142"/>
                    <a:gd name="T5" fmla="*/ 1 h 124"/>
                    <a:gd name="T6" fmla="*/ 2 w 142"/>
                    <a:gd name="T7" fmla="*/ 0 h 124"/>
                    <a:gd name="T8" fmla="*/ 2 w 142"/>
                    <a:gd name="T9" fmla="*/ 0 h 124"/>
                    <a:gd name="T10" fmla="*/ 3 w 142"/>
                    <a:gd name="T11" fmla="*/ 0 h 124"/>
                    <a:gd name="T12" fmla="*/ 3 w 142"/>
                    <a:gd name="T13" fmla="*/ 0 h 124"/>
                    <a:gd name="T14" fmla="*/ 4 w 142"/>
                    <a:gd name="T15" fmla="*/ 0 h 124"/>
                    <a:gd name="T16" fmla="*/ 135 w 142"/>
                    <a:gd name="T17" fmla="*/ 0 h 124"/>
                    <a:gd name="T18" fmla="*/ 136 w 142"/>
                    <a:gd name="T19" fmla="*/ 0 h 124"/>
                    <a:gd name="T20" fmla="*/ 137 w 142"/>
                    <a:gd name="T21" fmla="*/ 0 h 124"/>
                    <a:gd name="T22" fmla="*/ 137 w 142"/>
                    <a:gd name="T23" fmla="*/ 0 h 124"/>
                    <a:gd name="T24" fmla="*/ 138 w 142"/>
                    <a:gd name="T25" fmla="*/ 0 h 124"/>
                    <a:gd name="T26" fmla="*/ 138 w 142"/>
                    <a:gd name="T27" fmla="*/ 1 h 124"/>
                    <a:gd name="T28" fmla="*/ 139 w 142"/>
                    <a:gd name="T29" fmla="*/ 1 h 124"/>
                    <a:gd name="T30" fmla="*/ 139 w 142"/>
                    <a:gd name="T31" fmla="*/ 1 h 124"/>
                    <a:gd name="T32" fmla="*/ 140 w 142"/>
                    <a:gd name="T33" fmla="*/ 2 h 124"/>
                    <a:gd name="T34" fmla="*/ 140 w 142"/>
                    <a:gd name="T35" fmla="*/ 3 h 124"/>
                    <a:gd name="T36" fmla="*/ 141 w 142"/>
                    <a:gd name="T37" fmla="*/ 3 h 124"/>
                    <a:gd name="T38" fmla="*/ 141 w 142"/>
                    <a:gd name="T39" fmla="*/ 4 h 124"/>
                    <a:gd name="T40" fmla="*/ 141 w 142"/>
                    <a:gd name="T41" fmla="*/ 5 h 124"/>
                    <a:gd name="T42" fmla="*/ 141 w 142"/>
                    <a:gd name="T43" fmla="*/ 117 h 124"/>
                    <a:gd name="T44" fmla="*/ 141 w 142"/>
                    <a:gd name="T45" fmla="*/ 119 h 124"/>
                    <a:gd name="T46" fmla="*/ 140 w 142"/>
                    <a:gd name="T47" fmla="*/ 119 h 124"/>
                    <a:gd name="T48" fmla="*/ 140 w 142"/>
                    <a:gd name="T49" fmla="*/ 120 h 124"/>
                    <a:gd name="T50" fmla="*/ 139 w 142"/>
                    <a:gd name="T51" fmla="*/ 121 h 124"/>
                    <a:gd name="T52" fmla="*/ 139 w 142"/>
                    <a:gd name="T53" fmla="*/ 121 h 124"/>
                    <a:gd name="T54" fmla="*/ 138 w 142"/>
                    <a:gd name="T55" fmla="*/ 122 h 124"/>
                    <a:gd name="T56" fmla="*/ 138 w 142"/>
                    <a:gd name="T57" fmla="*/ 122 h 124"/>
                    <a:gd name="T58" fmla="*/ 137 w 142"/>
                    <a:gd name="T59" fmla="*/ 122 h 124"/>
                    <a:gd name="T60" fmla="*/ 137 w 142"/>
                    <a:gd name="T61" fmla="*/ 123 h 124"/>
                    <a:gd name="T62" fmla="*/ 136 w 142"/>
                    <a:gd name="T63" fmla="*/ 123 h 124"/>
                    <a:gd name="T64" fmla="*/ 135 w 142"/>
                    <a:gd name="T65" fmla="*/ 123 h 124"/>
                    <a:gd name="T66" fmla="*/ 4 w 142"/>
                    <a:gd name="T67" fmla="*/ 123 h 124"/>
                    <a:gd name="T68" fmla="*/ 3 w 142"/>
                    <a:gd name="T69" fmla="*/ 123 h 124"/>
                    <a:gd name="T70" fmla="*/ 3 w 142"/>
                    <a:gd name="T71" fmla="*/ 123 h 124"/>
                    <a:gd name="T72" fmla="*/ 2 w 142"/>
                    <a:gd name="T73" fmla="*/ 122 h 124"/>
                    <a:gd name="T74" fmla="*/ 2 w 142"/>
                    <a:gd name="T75" fmla="*/ 122 h 124"/>
                    <a:gd name="T76" fmla="*/ 1 w 142"/>
                    <a:gd name="T77" fmla="*/ 122 h 124"/>
                    <a:gd name="T78" fmla="*/ 1 w 142"/>
                    <a:gd name="T79" fmla="*/ 121 h 124"/>
                    <a:gd name="T80" fmla="*/ 0 w 142"/>
                    <a:gd name="T81" fmla="*/ 121 h 124"/>
                    <a:gd name="T82" fmla="*/ 0 w 142"/>
                    <a:gd name="T83" fmla="*/ 120 h 124"/>
                    <a:gd name="T84" fmla="*/ 0 w 142"/>
                    <a:gd name="T85" fmla="*/ 119 h 124"/>
                    <a:gd name="T86" fmla="*/ 0 w 142"/>
                    <a:gd name="T87" fmla="*/ 119 h 124"/>
                    <a:gd name="T88" fmla="*/ 0 w 142"/>
                    <a:gd name="T89" fmla="*/ 117 h 124"/>
                    <a:gd name="T90" fmla="*/ 0 w 142"/>
                    <a:gd name="T91" fmla="*/ 5 h 124"/>
                    <a:gd name="T92" fmla="*/ 0 w 142"/>
                    <a:gd name="T93" fmla="*/ 4 h 124"/>
                    <a:gd name="T94" fmla="*/ 0 w 142"/>
                    <a:gd name="T95" fmla="*/ 3 h 124"/>
                    <a:gd name="T96" fmla="*/ 0 w 142"/>
                    <a:gd name="T97" fmla="*/ 3 h 124"/>
                    <a:gd name="T98" fmla="*/ 0 w 142"/>
                    <a:gd name="T99" fmla="*/ 2 h 124"/>
                    <a:gd name="T100" fmla="*/ 0 w 142"/>
                    <a:gd name="T101" fmla="*/ 1 h 124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42"/>
                    <a:gd name="T154" fmla="*/ 0 h 124"/>
                    <a:gd name="T155" fmla="*/ 142 w 142"/>
                    <a:gd name="T156" fmla="*/ 124 h 124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42" h="124">
                      <a:moveTo>
                        <a:pt x="0" y="1"/>
                      </a:moveTo>
                      <a:lnTo>
                        <a:pt x="1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8" y="1"/>
                      </a:lnTo>
                      <a:lnTo>
                        <a:pt x="139" y="1"/>
                      </a:lnTo>
                      <a:lnTo>
                        <a:pt x="140" y="2"/>
                      </a:lnTo>
                      <a:lnTo>
                        <a:pt x="140" y="3"/>
                      </a:lnTo>
                      <a:lnTo>
                        <a:pt x="141" y="3"/>
                      </a:lnTo>
                      <a:lnTo>
                        <a:pt x="141" y="4"/>
                      </a:lnTo>
                      <a:lnTo>
                        <a:pt x="141" y="5"/>
                      </a:lnTo>
                      <a:lnTo>
                        <a:pt x="141" y="117"/>
                      </a:lnTo>
                      <a:lnTo>
                        <a:pt x="141" y="119"/>
                      </a:lnTo>
                      <a:lnTo>
                        <a:pt x="140" y="119"/>
                      </a:lnTo>
                      <a:lnTo>
                        <a:pt x="140" y="120"/>
                      </a:lnTo>
                      <a:lnTo>
                        <a:pt x="139" y="121"/>
                      </a:lnTo>
                      <a:lnTo>
                        <a:pt x="138" y="122"/>
                      </a:lnTo>
                      <a:lnTo>
                        <a:pt x="137" y="122"/>
                      </a:lnTo>
                      <a:lnTo>
                        <a:pt x="137" y="123"/>
                      </a:lnTo>
                      <a:lnTo>
                        <a:pt x="136" y="123"/>
                      </a:lnTo>
                      <a:lnTo>
                        <a:pt x="135" y="123"/>
                      </a:lnTo>
                      <a:lnTo>
                        <a:pt x="4" y="123"/>
                      </a:lnTo>
                      <a:lnTo>
                        <a:pt x="3" y="123"/>
                      </a:lnTo>
                      <a:lnTo>
                        <a:pt x="2" y="122"/>
                      </a:lnTo>
                      <a:lnTo>
                        <a:pt x="1" y="122"/>
                      </a:lnTo>
                      <a:lnTo>
                        <a:pt x="1" y="121"/>
                      </a:lnTo>
                      <a:lnTo>
                        <a:pt x="0" y="121"/>
                      </a:lnTo>
                      <a:lnTo>
                        <a:pt x="0" y="120"/>
                      </a:lnTo>
                      <a:lnTo>
                        <a:pt x="0" y="119"/>
                      </a:lnTo>
                      <a:lnTo>
                        <a:pt x="0" y="117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</a:path>
                  </a:pathLst>
                </a:custGeom>
                <a:gradFill rotWithShape="0">
                  <a:gsLst>
                    <a:gs pos="0">
                      <a:srgbClr val="1D2B4B"/>
                    </a:gs>
                    <a:gs pos="50000">
                      <a:srgbClr val="618FFD"/>
                    </a:gs>
                    <a:gs pos="100000">
                      <a:srgbClr val="1D2B4B"/>
                    </a:gs>
                  </a:gsLst>
                  <a:lin ang="2700000" scaled="1"/>
                </a:gra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50" name="Freeform 1258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4 h 17"/>
                    <a:gd name="T2" fmla="*/ 151 w 153"/>
                    <a:gd name="T3" fmla="*/ 3 h 17"/>
                    <a:gd name="T4" fmla="*/ 151 w 153"/>
                    <a:gd name="T5" fmla="*/ 2 h 17"/>
                    <a:gd name="T6" fmla="*/ 150 w 153"/>
                    <a:gd name="T7" fmla="*/ 2 h 17"/>
                    <a:gd name="T8" fmla="*/ 150 w 153"/>
                    <a:gd name="T9" fmla="*/ 2 h 17"/>
                    <a:gd name="T10" fmla="*/ 150 w 153"/>
                    <a:gd name="T11" fmla="*/ 1 h 17"/>
                    <a:gd name="T12" fmla="*/ 149 w 153"/>
                    <a:gd name="T13" fmla="*/ 1 h 17"/>
                    <a:gd name="T14" fmla="*/ 149 w 153"/>
                    <a:gd name="T15" fmla="*/ 1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1 h 17"/>
                    <a:gd name="T32" fmla="*/ 1 w 153"/>
                    <a:gd name="T33" fmla="*/ 1 h 17"/>
                    <a:gd name="T34" fmla="*/ 0 w 153"/>
                    <a:gd name="T35" fmla="*/ 2 h 17"/>
                    <a:gd name="T36" fmla="*/ 0 w 153"/>
                    <a:gd name="T37" fmla="*/ 2 h 17"/>
                    <a:gd name="T38" fmla="*/ 0 w 153"/>
                    <a:gd name="T39" fmla="*/ 3 h 17"/>
                    <a:gd name="T40" fmla="*/ 6 w 153"/>
                    <a:gd name="T41" fmla="*/ 16 h 17"/>
                    <a:gd name="T42" fmla="*/ 7 w 153"/>
                    <a:gd name="T43" fmla="*/ 14 h 17"/>
                    <a:gd name="T44" fmla="*/ 7 w 153"/>
                    <a:gd name="T45" fmla="*/ 14 h 17"/>
                    <a:gd name="T46" fmla="*/ 8 w 153"/>
                    <a:gd name="T47" fmla="*/ 13 h 17"/>
                    <a:gd name="T48" fmla="*/ 8 w 153"/>
                    <a:gd name="T49" fmla="*/ 13 h 17"/>
                    <a:gd name="T50" fmla="*/ 8 w 153"/>
                    <a:gd name="T51" fmla="*/ 12 h 17"/>
                    <a:gd name="T52" fmla="*/ 9 w 153"/>
                    <a:gd name="T53" fmla="*/ 12 h 17"/>
                    <a:gd name="T54" fmla="*/ 10 w 153"/>
                    <a:gd name="T55" fmla="*/ 12 h 17"/>
                    <a:gd name="T56" fmla="*/ 140 w 153"/>
                    <a:gd name="T57" fmla="*/ 12 h 17"/>
                    <a:gd name="T58" fmla="*/ 141 w 153"/>
                    <a:gd name="T59" fmla="*/ 12 h 17"/>
                    <a:gd name="T60" fmla="*/ 142 w 153"/>
                    <a:gd name="T61" fmla="*/ 12 h 17"/>
                    <a:gd name="T62" fmla="*/ 142 w 153"/>
                    <a:gd name="T63" fmla="*/ 13 h 17"/>
                    <a:gd name="T64" fmla="*/ 143 w 153"/>
                    <a:gd name="T65" fmla="*/ 13 h 17"/>
                    <a:gd name="T66" fmla="*/ 143 w 153"/>
                    <a:gd name="T67" fmla="*/ 14 h 17"/>
                    <a:gd name="T68" fmla="*/ 143 w 153"/>
                    <a:gd name="T69" fmla="*/ 14 h 17"/>
                    <a:gd name="T70" fmla="*/ 144 w 153"/>
                    <a:gd name="T71" fmla="*/ 14 h 17"/>
                    <a:gd name="T72" fmla="*/ 152 w 153"/>
                    <a:gd name="T73" fmla="*/ 4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53"/>
                    <a:gd name="T112" fmla="*/ 0 h 17"/>
                    <a:gd name="T113" fmla="*/ 153 w 153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53" h="17">
                      <a:moveTo>
                        <a:pt x="152" y="4"/>
                      </a:moveTo>
                      <a:lnTo>
                        <a:pt x="151" y="3"/>
                      </a:lnTo>
                      <a:lnTo>
                        <a:pt x="151" y="2"/>
                      </a:lnTo>
                      <a:lnTo>
                        <a:pt x="150" y="2"/>
                      </a:lnTo>
                      <a:lnTo>
                        <a:pt x="150" y="1"/>
                      </a:lnTo>
                      <a:lnTo>
                        <a:pt x="149" y="1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6" y="16"/>
                      </a:lnTo>
                      <a:lnTo>
                        <a:pt x="7" y="14"/>
                      </a:lnTo>
                      <a:lnTo>
                        <a:pt x="8" y="13"/>
                      </a:lnTo>
                      <a:lnTo>
                        <a:pt x="8" y="12"/>
                      </a:lnTo>
                      <a:lnTo>
                        <a:pt x="9" y="12"/>
                      </a:lnTo>
                      <a:lnTo>
                        <a:pt x="10" y="12"/>
                      </a:lnTo>
                      <a:lnTo>
                        <a:pt x="140" y="12"/>
                      </a:lnTo>
                      <a:lnTo>
                        <a:pt x="141" y="12"/>
                      </a:lnTo>
                      <a:lnTo>
                        <a:pt x="142" y="12"/>
                      </a:lnTo>
                      <a:lnTo>
                        <a:pt x="142" y="13"/>
                      </a:lnTo>
                      <a:lnTo>
                        <a:pt x="143" y="13"/>
                      </a:lnTo>
                      <a:lnTo>
                        <a:pt x="143" y="14"/>
                      </a:lnTo>
                      <a:lnTo>
                        <a:pt x="144" y="14"/>
                      </a:lnTo>
                      <a:lnTo>
                        <a:pt x="152" y="4"/>
                      </a:lnTo>
                    </a:path>
                  </a:pathLst>
                </a:custGeom>
                <a:solidFill>
                  <a:srgbClr val="9F9FA2"/>
                </a:solidFill>
                <a:ln w="12700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51" name="Freeform 1259"/>
                <p:cNvSpPr>
                  <a:spLocks/>
                </p:cNvSpPr>
                <p:nvPr/>
              </p:nvSpPr>
              <p:spPr bwMode="auto">
                <a:xfrm>
                  <a:off x="3870" y="1299"/>
                  <a:ext cx="17" cy="135"/>
                </a:xfrm>
                <a:custGeom>
                  <a:avLst/>
                  <a:gdLst>
                    <a:gd name="T0" fmla="*/ 2 w 17"/>
                    <a:gd name="T1" fmla="*/ 0 h 135"/>
                    <a:gd name="T2" fmla="*/ 1 w 17"/>
                    <a:gd name="T3" fmla="*/ 0 h 135"/>
                    <a:gd name="T4" fmla="*/ 0 w 17"/>
                    <a:gd name="T5" fmla="*/ 1 h 135"/>
                    <a:gd name="T6" fmla="*/ 0 w 17"/>
                    <a:gd name="T7" fmla="*/ 2 h 135"/>
                    <a:gd name="T8" fmla="*/ 0 w 17"/>
                    <a:gd name="T9" fmla="*/ 2 h 135"/>
                    <a:gd name="T10" fmla="*/ 0 w 17"/>
                    <a:gd name="T11" fmla="*/ 3 h 135"/>
                    <a:gd name="T12" fmla="*/ 0 w 17"/>
                    <a:gd name="T13" fmla="*/ 4 h 135"/>
                    <a:gd name="T14" fmla="*/ 0 w 17"/>
                    <a:gd name="T15" fmla="*/ 130 h 135"/>
                    <a:gd name="T16" fmla="*/ 0 w 17"/>
                    <a:gd name="T17" fmla="*/ 130 h 135"/>
                    <a:gd name="T18" fmla="*/ 0 w 17"/>
                    <a:gd name="T19" fmla="*/ 131 h 135"/>
                    <a:gd name="T20" fmla="*/ 0 w 17"/>
                    <a:gd name="T21" fmla="*/ 132 h 135"/>
                    <a:gd name="T22" fmla="*/ 0 w 17"/>
                    <a:gd name="T23" fmla="*/ 132 h 135"/>
                    <a:gd name="T24" fmla="*/ 1 w 17"/>
                    <a:gd name="T25" fmla="*/ 133 h 135"/>
                    <a:gd name="T26" fmla="*/ 2 w 17"/>
                    <a:gd name="T27" fmla="*/ 133 h 135"/>
                    <a:gd name="T28" fmla="*/ 2 w 17"/>
                    <a:gd name="T29" fmla="*/ 134 h 135"/>
                    <a:gd name="T30" fmla="*/ 3 w 17"/>
                    <a:gd name="T31" fmla="*/ 134 h 135"/>
                    <a:gd name="T32" fmla="*/ 16 w 17"/>
                    <a:gd name="T33" fmla="*/ 127 h 135"/>
                    <a:gd name="T34" fmla="*/ 15 w 17"/>
                    <a:gd name="T35" fmla="*/ 126 h 135"/>
                    <a:gd name="T36" fmla="*/ 15 w 17"/>
                    <a:gd name="T37" fmla="*/ 126 h 135"/>
                    <a:gd name="T38" fmla="*/ 14 w 17"/>
                    <a:gd name="T39" fmla="*/ 126 h 135"/>
                    <a:gd name="T40" fmla="*/ 14 w 17"/>
                    <a:gd name="T41" fmla="*/ 125 h 135"/>
                    <a:gd name="T42" fmla="*/ 13 w 17"/>
                    <a:gd name="T43" fmla="*/ 124 h 135"/>
                    <a:gd name="T44" fmla="*/ 13 w 17"/>
                    <a:gd name="T45" fmla="*/ 124 h 135"/>
                    <a:gd name="T46" fmla="*/ 13 w 17"/>
                    <a:gd name="T47" fmla="*/ 10 h 135"/>
                    <a:gd name="T48" fmla="*/ 13 w 17"/>
                    <a:gd name="T49" fmla="*/ 9 h 135"/>
                    <a:gd name="T50" fmla="*/ 13 w 17"/>
                    <a:gd name="T51" fmla="*/ 8 h 135"/>
                    <a:gd name="T52" fmla="*/ 14 w 17"/>
                    <a:gd name="T53" fmla="*/ 8 h 135"/>
                    <a:gd name="T54" fmla="*/ 15 w 17"/>
                    <a:gd name="T55" fmla="*/ 7 h 135"/>
                    <a:gd name="T56" fmla="*/ 15 w 17"/>
                    <a:gd name="T57" fmla="*/ 6 h 135"/>
                    <a:gd name="T58" fmla="*/ 2 w 17"/>
                    <a:gd name="T59" fmla="*/ 0 h 135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w 17"/>
                    <a:gd name="T91" fmla="*/ 0 h 135"/>
                    <a:gd name="T92" fmla="*/ 17 w 17"/>
                    <a:gd name="T93" fmla="*/ 135 h 135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T90" t="T91" r="T92" b="T93"/>
                  <a:pathLst>
                    <a:path w="17" h="135">
                      <a:moveTo>
                        <a:pt x="2" y="0"/>
                      </a:moveTo>
                      <a:lnTo>
                        <a:pt x="1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0" y="130"/>
                      </a:lnTo>
                      <a:lnTo>
                        <a:pt x="0" y="131"/>
                      </a:lnTo>
                      <a:lnTo>
                        <a:pt x="0" y="132"/>
                      </a:lnTo>
                      <a:lnTo>
                        <a:pt x="1" y="133"/>
                      </a:lnTo>
                      <a:lnTo>
                        <a:pt x="2" y="133"/>
                      </a:lnTo>
                      <a:lnTo>
                        <a:pt x="2" y="134"/>
                      </a:lnTo>
                      <a:lnTo>
                        <a:pt x="3" y="134"/>
                      </a:lnTo>
                      <a:lnTo>
                        <a:pt x="16" y="127"/>
                      </a:lnTo>
                      <a:lnTo>
                        <a:pt x="15" y="126"/>
                      </a:lnTo>
                      <a:lnTo>
                        <a:pt x="14" y="126"/>
                      </a:lnTo>
                      <a:lnTo>
                        <a:pt x="14" y="125"/>
                      </a:lnTo>
                      <a:lnTo>
                        <a:pt x="13" y="124"/>
                      </a:lnTo>
                      <a:lnTo>
                        <a:pt x="13" y="10"/>
                      </a:lnTo>
                      <a:lnTo>
                        <a:pt x="13" y="9"/>
                      </a:lnTo>
                      <a:lnTo>
                        <a:pt x="13" y="8"/>
                      </a:lnTo>
                      <a:lnTo>
                        <a:pt x="14" y="8"/>
                      </a:lnTo>
                      <a:lnTo>
                        <a:pt x="15" y="7"/>
                      </a:lnTo>
                      <a:lnTo>
                        <a:pt x="15" y="6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52" name="Freeform 1260"/>
                <p:cNvSpPr>
                  <a:spLocks/>
                </p:cNvSpPr>
                <p:nvPr/>
              </p:nvSpPr>
              <p:spPr bwMode="auto">
                <a:xfrm>
                  <a:off x="3872" y="1300"/>
                  <a:ext cx="155" cy="136"/>
                </a:xfrm>
                <a:custGeom>
                  <a:avLst/>
                  <a:gdLst>
                    <a:gd name="T0" fmla="*/ 0 w 155"/>
                    <a:gd name="T1" fmla="*/ 133 h 136"/>
                    <a:gd name="T2" fmla="*/ 0 w 155"/>
                    <a:gd name="T3" fmla="*/ 134 h 136"/>
                    <a:gd name="T4" fmla="*/ 0 w 155"/>
                    <a:gd name="T5" fmla="*/ 134 h 136"/>
                    <a:gd name="T6" fmla="*/ 1 w 155"/>
                    <a:gd name="T7" fmla="*/ 134 h 136"/>
                    <a:gd name="T8" fmla="*/ 1 w 155"/>
                    <a:gd name="T9" fmla="*/ 134 h 136"/>
                    <a:gd name="T10" fmla="*/ 2 w 155"/>
                    <a:gd name="T11" fmla="*/ 135 h 136"/>
                    <a:gd name="T12" fmla="*/ 2 w 155"/>
                    <a:gd name="T13" fmla="*/ 135 h 136"/>
                    <a:gd name="T14" fmla="*/ 3 w 155"/>
                    <a:gd name="T15" fmla="*/ 135 h 136"/>
                    <a:gd name="T16" fmla="*/ 148 w 155"/>
                    <a:gd name="T17" fmla="*/ 135 h 136"/>
                    <a:gd name="T18" fmla="*/ 150 w 155"/>
                    <a:gd name="T19" fmla="*/ 134 h 136"/>
                    <a:gd name="T20" fmla="*/ 151 w 155"/>
                    <a:gd name="T21" fmla="*/ 134 h 136"/>
                    <a:gd name="T22" fmla="*/ 151 w 155"/>
                    <a:gd name="T23" fmla="*/ 133 h 136"/>
                    <a:gd name="T24" fmla="*/ 152 w 155"/>
                    <a:gd name="T25" fmla="*/ 133 h 136"/>
                    <a:gd name="T26" fmla="*/ 152 w 155"/>
                    <a:gd name="T27" fmla="*/ 133 h 136"/>
                    <a:gd name="T28" fmla="*/ 153 w 155"/>
                    <a:gd name="T29" fmla="*/ 132 h 136"/>
                    <a:gd name="T30" fmla="*/ 153 w 155"/>
                    <a:gd name="T31" fmla="*/ 131 h 136"/>
                    <a:gd name="T32" fmla="*/ 154 w 155"/>
                    <a:gd name="T33" fmla="*/ 131 h 136"/>
                    <a:gd name="T34" fmla="*/ 154 w 155"/>
                    <a:gd name="T35" fmla="*/ 129 h 136"/>
                    <a:gd name="T36" fmla="*/ 154 w 155"/>
                    <a:gd name="T37" fmla="*/ 129 h 136"/>
                    <a:gd name="T38" fmla="*/ 154 w 155"/>
                    <a:gd name="T39" fmla="*/ 3 h 136"/>
                    <a:gd name="T40" fmla="*/ 154 w 155"/>
                    <a:gd name="T41" fmla="*/ 2 h 136"/>
                    <a:gd name="T42" fmla="*/ 154 w 155"/>
                    <a:gd name="T43" fmla="*/ 1 h 136"/>
                    <a:gd name="T44" fmla="*/ 154 w 155"/>
                    <a:gd name="T45" fmla="*/ 1 h 136"/>
                    <a:gd name="T46" fmla="*/ 153 w 155"/>
                    <a:gd name="T47" fmla="*/ 1 h 136"/>
                    <a:gd name="T48" fmla="*/ 153 w 155"/>
                    <a:gd name="T49" fmla="*/ 0 h 136"/>
                    <a:gd name="T50" fmla="*/ 153 w 155"/>
                    <a:gd name="T51" fmla="*/ 0 h 136"/>
                    <a:gd name="T52" fmla="*/ 145 w 155"/>
                    <a:gd name="T53" fmla="*/ 5 h 136"/>
                    <a:gd name="T54" fmla="*/ 145 w 155"/>
                    <a:gd name="T55" fmla="*/ 5 h 136"/>
                    <a:gd name="T56" fmla="*/ 146 w 155"/>
                    <a:gd name="T57" fmla="*/ 6 h 136"/>
                    <a:gd name="T58" fmla="*/ 146 w 155"/>
                    <a:gd name="T59" fmla="*/ 7 h 136"/>
                    <a:gd name="T60" fmla="*/ 146 w 155"/>
                    <a:gd name="T61" fmla="*/ 7 h 136"/>
                    <a:gd name="T62" fmla="*/ 146 w 155"/>
                    <a:gd name="T63" fmla="*/ 7 h 136"/>
                    <a:gd name="T64" fmla="*/ 146 w 155"/>
                    <a:gd name="T65" fmla="*/ 8 h 136"/>
                    <a:gd name="T66" fmla="*/ 146 w 155"/>
                    <a:gd name="T67" fmla="*/ 9 h 136"/>
                    <a:gd name="T68" fmla="*/ 146 w 155"/>
                    <a:gd name="T69" fmla="*/ 9 h 136"/>
                    <a:gd name="T70" fmla="*/ 146 w 155"/>
                    <a:gd name="T71" fmla="*/ 123 h 136"/>
                    <a:gd name="T72" fmla="*/ 146 w 155"/>
                    <a:gd name="T73" fmla="*/ 123 h 136"/>
                    <a:gd name="T74" fmla="*/ 146 w 155"/>
                    <a:gd name="T75" fmla="*/ 124 h 136"/>
                    <a:gd name="T76" fmla="*/ 146 w 155"/>
                    <a:gd name="T77" fmla="*/ 125 h 136"/>
                    <a:gd name="T78" fmla="*/ 146 w 155"/>
                    <a:gd name="T79" fmla="*/ 125 h 136"/>
                    <a:gd name="T80" fmla="*/ 145 w 155"/>
                    <a:gd name="T81" fmla="*/ 126 h 136"/>
                    <a:gd name="T82" fmla="*/ 145 w 155"/>
                    <a:gd name="T83" fmla="*/ 127 h 136"/>
                    <a:gd name="T84" fmla="*/ 144 w 155"/>
                    <a:gd name="T85" fmla="*/ 127 h 136"/>
                    <a:gd name="T86" fmla="*/ 143 w 155"/>
                    <a:gd name="T87" fmla="*/ 127 h 136"/>
                    <a:gd name="T88" fmla="*/ 143 w 155"/>
                    <a:gd name="T89" fmla="*/ 128 h 136"/>
                    <a:gd name="T90" fmla="*/ 142 w 155"/>
                    <a:gd name="T91" fmla="*/ 128 h 136"/>
                    <a:gd name="T92" fmla="*/ 142 w 155"/>
                    <a:gd name="T93" fmla="*/ 128 h 136"/>
                    <a:gd name="T94" fmla="*/ 9 w 155"/>
                    <a:gd name="T95" fmla="*/ 128 h 136"/>
                    <a:gd name="T96" fmla="*/ 8 w 155"/>
                    <a:gd name="T97" fmla="*/ 128 h 136"/>
                    <a:gd name="T98" fmla="*/ 8 w 155"/>
                    <a:gd name="T99" fmla="*/ 128 h 136"/>
                    <a:gd name="T100" fmla="*/ 8 w 155"/>
                    <a:gd name="T101" fmla="*/ 127 h 136"/>
                    <a:gd name="T102" fmla="*/ 7 w 155"/>
                    <a:gd name="T103" fmla="*/ 127 h 136"/>
                    <a:gd name="T104" fmla="*/ 7 w 155"/>
                    <a:gd name="T105" fmla="*/ 127 h 136"/>
                    <a:gd name="T106" fmla="*/ 6 w 155"/>
                    <a:gd name="T107" fmla="*/ 127 h 136"/>
                    <a:gd name="T108" fmla="*/ 6 w 155"/>
                    <a:gd name="T109" fmla="*/ 127 h 136"/>
                    <a:gd name="T110" fmla="*/ 0 w 155"/>
                    <a:gd name="T111" fmla="*/ 133 h 1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55"/>
                    <a:gd name="T169" fmla="*/ 0 h 136"/>
                    <a:gd name="T170" fmla="*/ 155 w 155"/>
                    <a:gd name="T171" fmla="*/ 136 h 136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55" h="136">
                      <a:moveTo>
                        <a:pt x="0" y="133"/>
                      </a:moveTo>
                      <a:lnTo>
                        <a:pt x="0" y="134"/>
                      </a:lnTo>
                      <a:lnTo>
                        <a:pt x="1" y="134"/>
                      </a:lnTo>
                      <a:lnTo>
                        <a:pt x="2" y="135"/>
                      </a:lnTo>
                      <a:lnTo>
                        <a:pt x="3" y="135"/>
                      </a:lnTo>
                      <a:lnTo>
                        <a:pt x="148" y="135"/>
                      </a:lnTo>
                      <a:lnTo>
                        <a:pt x="150" y="134"/>
                      </a:lnTo>
                      <a:lnTo>
                        <a:pt x="151" y="134"/>
                      </a:lnTo>
                      <a:lnTo>
                        <a:pt x="151" y="133"/>
                      </a:lnTo>
                      <a:lnTo>
                        <a:pt x="152" y="133"/>
                      </a:lnTo>
                      <a:lnTo>
                        <a:pt x="153" y="132"/>
                      </a:lnTo>
                      <a:lnTo>
                        <a:pt x="153" y="131"/>
                      </a:lnTo>
                      <a:lnTo>
                        <a:pt x="154" y="131"/>
                      </a:lnTo>
                      <a:lnTo>
                        <a:pt x="154" y="129"/>
                      </a:lnTo>
                      <a:lnTo>
                        <a:pt x="154" y="3"/>
                      </a:lnTo>
                      <a:lnTo>
                        <a:pt x="154" y="2"/>
                      </a:lnTo>
                      <a:lnTo>
                        <a:pt x="154" y="1"/>
                      </a:lnTo>
                      <a:lnTo>
                        <a:pt x="153" y="1"/>
                      </a:lnTo>
                      <a:lnTo>
                        <a:pt x="153" y="0"/>
                      </a:lnTo>
                      <a:lnTo>
                        <a:pt x="145" y="5"/>
                      </a:lnTo>
                      <a:lnTo>
                        <a:pt x="146" y="6"/>
                      </a:lnTo>
                      <a:lnTo>
                        <a:pt x="146" y="7"/>
                      </a:lnTo>
                      <a:lnTo>
                        <a:pt x="146" y="8"/>
                      </a:lnTo>
                      <a:lnTo>
                        <a:pt x="146" y="9"/>
                      </a:lnTo>
                      <a:lnTo>
                        <a:pt x="146" y="123"/>
                      </a:lnTo>
                      <a:lnTo>
                        <a:pt x="146" y="124"/>
                      </a:lnTo>
                      <a:lnTo>
                        <a:pt x="146" y="125"/>
                      </a:lnTo>
                      <a:lnTo>
                        <a:pt x="145" y="126"/>
                      </a:lnTo>
                      <a:lnTo>
                        <a:pt x="145" y="127"/>
                      </a:lnTo>
                      <a:lnTo>
                        <a:pt x="144" y="127"/>
                      </a:lnTo>
                      <a:lnTo>
                        <a:pt x="143" y="127"/>
                      </a:lnTo>
                      <a:lnTo>
                        <a:pt x="143" y="128"/>
                      </a:lnTo>
                      <a:lnTo>
                        <a:pt x="142" y="128"/>
                      </a:lnTo>
                      <a:lnTo>
                        <a:pt x="9" y="128"/>
                      </a:lnTo>
                      <a:lnTo>
                        <a:pt x="8" y="128"/>
                      </a:lnTo>
                      <a:lnTo>
                        <a:pt x="8" y="127"/>
                      </a:lnTo>
                      <a:lnTo>
                        <a:pt x="7" y="127"/>
                      </a:lnTo>
                      <a:lnTo>
                        <a:pt x="6" y="127"/>
                      </a:lnTo>
                      <a:lnTo>
                        <a:pt x="0" y="133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53" name="Freeform 1261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16 h 17"/>
                    <a:gd name="T2" fmla="*/ 151 w 153"/>
                    <a:gd name="T3" fmla="*/ 16 h 17"/>
                    <a:gd name="T4" fmla="*/ 151 w 153"/>
                    <a:gd name="T5" fmla="*/ 10 h 17"/>
                    <a:gd name="T6" fmla="*/ 150 w 153"/>
                    <a:gd name="T7" fmla="*/ 10 h 17"/>
                    <a:gd name="T8" fmla="*/ 150 w 153"/>
                    <a:gd name="T9" fmla="*/ 10 h 17"/>
                    <a:gd name="T10" fmla="*/ 150 w 153"/>
                    <a:gd name="T11" fmla="*/ 5 h 17"/>
                    <a:gd name="T12" fmla="*/ 149 w 153"/>
                    <a:gd name="T13" fmla="*/ 5 h 17"/>
                    <a:gd name="T14" fmla="*/ 149 w 153"/>
                    <a:gd name="T15" fmla="*/ 5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5 h 17"/>
                    <a:gd name="T32" fmla="*/ 1 w 153"/>
                    <a:gd name="T33" fmla="*/ 5 h 17"/>
                    <a:gd name="T34" fmla="*/ 0 w 153"/>
                    <a:gd name="T35" fmla="*/ 10 h 17"/>
                    <a:gd name="T36" fmla="*/ 0 w 153"/>
                    <a:gd name="T37" fmla="*/ 10 h 17"/>
                    <a:gd name="T38" fmla="*/ 0 w 153"/>
                    <a:gd name="T39" fmla="*/ 16 h 17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153"/>
                    <a:gd name="T61" fmla="*/ 0 h 17"/>
                    <a:gd name="T62" fmla="*/ 153 w 153"/>
                    <a:gd name="T63" fmla="*/ 17 h 17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153" h="17">
                      <a:moveTo>
                        <a:pt x="152" y="16"/>
                      </a:moveTo>
                      <a:lnTo>
                        <a:pt x="151" y="16"/>
                      </a:lnTo>
                      <a:lnTo>
                        <a:pt x="151" y="10"/>
                      </a:lnTo>
                      <a:lnTo>
                        <a:pt x="150" y="10"/>
                      </a:lnTo>
                      <a:lnTo>
                        <a:pt x="150" y="5"/>
                      </a:lnTo>
                      <a:lnTo>
                        <a:pt x="149" y="5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5"/>
                      </a:lnTo>
                      <a:lnTo>
                        <a:pt x="0" y="1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54" name="Freeform 1262"/>
                <p:cNvSpPr>
                  <a:spLocks/>
                </p:cNvSpPr>
                <p:nvPr/>
              </p:nvSpPr>
              <p:spPr bwMode="auto">
                <a:xfrm>
                  <a:off x="3843" y="1489"/>
                  <a:ext cx="215" cy="72"/>
                </a:xfrm>
                <a:custGeom>
                  <a:avLst/>
                  <a:gdLst>
                    <a:gd name="T0" fmla="*/ 0 w 215"/>
                    <a:gd name="T1" fmla="*/ 71 h 72"/>
                    <a:gd name="T2" fmla="*/ 0 w 215"/>
                    <a:gd name="T3" fmla="*/ 0 h 72"/>
                    <a:gd name="T4" fmla="*/ 214 w 215"/>
                    <a:gd name="T5" fmla="*/ 0 h 72"/>
                    <a:gd name="T6" fmla="*/ 214 w 215"/>
                    <a:gd name="T7" fmla="*/ 71 h 72"/>
                    <a:gd name="T8" fmla="*/ 0 w 215"/>
                    <a:gd name="T9" fmla="*/ 71 h 7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15"/>
                    <a:gd name="T16" fmla="*/ 0 h 72"/>
                    <a:gd name="T17" fmla="*/ 215 w 215"/>
                    <a:gd name="T18" fmla="*/ 72 h 7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15" h="72">
                      <a:moveTo>
                        <a:pt x="0" y="71"/>
                      </a:moveTo>
                      <a:lnTo>
                        <a:pt x="0" y="0"/>
                      </a:lnTo>
                      <a:lnTo>
                        <a:pt x="214" y="0"/>
                      </a:lnTo>
                      <a:lnTo>
                        <a:pt x="214" y="71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55" name="Freeform 1263"/>
                <p:cNvSpPr>
                  <a:spLocks/>
                </p:cNvSpPr>
                <p:nvPr/>
              </p:nvSpPr>
              <p:spPr bwMode="auto">
                <a:xfrm>
                  <a:off x="3841" y="1489"/>
                  <a:ext cx="219" cy="23"/>
                </a:xfrm>
                <a:custGeom>
                  <a:avLst/>
                  <a:gdLst>
                    <a:gd name="T0" fmla="*/ 79 w 219"/>
                    <a:gd name="T1" fmla="*/ 0 h 23"/>
                    <a:gd name="T2" fmla="*/ 0 w 219"/>
                    <a:gd name="T3" fmla="*/ 0 h 23"/>
                    <a:gd name="T4" fmla="*/ 0 w 219"/>
                    <a:gd name="T5" fmla="*/ 22 h 23"/>
                    <a:gd name="T6" fmla="*/ 218 w 219"/>
                    <a:gd name="T7" fmla="*/ 22 h 23"/>
                    <a:gd name="T8" fmla="*/ 215 w 219"/>
                    <a:gd name="T9" fmla="*/ 0 h 23"/>
                    <a:gd name="T10" fmla="*/ 137 w 219"/>
                    <a:gd name="T11" fmla="*/ 0 h 23"/>
                    <a:gd name="T12" fmla="*/ 79 w 219"/>
                    <a:gd name="T13" fmla="*/ 0 h 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19"/>
                    <a:gd name="T22" fmla="*/ 0 h 23"/>
                    <a:gd name="T23" fmla="*/ 219 w 219"/>
                    <a:gd name="T24" fmla="*/ 23 h 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9" h="23">
                      <a:moveTo>
                        <a:pt x="79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218" y="22"/>
                      </a:lnTo>
                      <a:lnTo>
                        <a:pt x="215" y="0"/>
                      </a:lnTo>
                      <a:lnTo>
                        <a:pt x="137" y="0"/>
                      </a:lnTo>
                      <a:lnTo>
                        <a:pt x="79" y="0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56" name="Freeform 1264"/>
                <p:cNvSpPr>
                  <a:spLocks/>
                </p:cNvSpPr>
                <p:nvPr/>
              </p:nvSpPr>
              <p:spPr bwMode="auto">
                <a:xfrm>
                  <a:off x="3991" y="1495"/>
                  <a:ext cx="56" cy="17"/>
                </a:xfrm>
                <a:custGeom>
                  <a:avLst/>
                  <a:gdLst>
                    <a:gd name="T0" fmla="*/ 0 w 56"/>
                    <a:gd name="T1" fmla="*/ 6 h 17"/>
                    <a:gd name="T2" fmla="*/ 18 w 56"/>
                    <a:gd name="T3" fmla="*/ 6 h 17"/>
                    <a:gd name="T4" fmla="*/ 18 w 56"/>
                    <a:gd name="T5" fmla="*/ 0 h 17"/>
                    <a:gd name="T6" fmla="*/ 35 w 56"/>
                    <a:gd name="T7" fmla="*/ 0 h 17"/>
                    <a:gd name="T8" fmla="*/ 35 w 56"/>
                    <a:gd name="T9" fmla="*/ 6 h 17"/>
                    <a:gd name="T10" fmla="*/ 55 w 56"/>
                    <a:gd name="T11" fmla="*/ 6 h 17"/>
                    <a:gd name="T12" fmla="*/ 55 w 56"/>
                    <a:gd name="T13" fmla="*/ 10 h 17"/>
                    <a:gd name="T14" fmla="*/ 35 w 56"/>
                    <a:gd name="T15" fmla="*/ 10 h 17"/>
                    <a:gd name="T16" fmla="*/ 35 w 56"/>
                    <a:gd name="T17" fmla="*/ 16 h 17"/>
                    <a:gd name="T18" fmla="*/ 18 w 56"/>
                    <a:gd name="T19" fmla="*/ 16 h 17"/>
                    <a:gd name="T20" fmla="*/ 18 w 56"/>
                    <a:gd name="T21" fmla="*/ 10 h 17"/>
                    <a:gd name="T22" fmla="*/ 0 w 56"/>
                    <a:gd name="T23" fmla="*/ 10 h 17"/>
                    <a:gd name="T24" fmla="*/ 0 w 56"/>
                    <a:gd name="T25" fmla="*/ 6 h 17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56"/>
                    <a:gd name="T40" fmla="*/ 0 h 17"/>
                    <a:gd name="T41" fmla="*/ 56 w 56"/>
                    <a:gd name="T42" fmla="*/ 17 h 17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56" h="17">
                      <a:moveTo>
                        <a:pt x="0" y="6"/>
                      </a:moveTo>
                      <a:lnTo>
                        <a:pt x="18" y="6"/>
                      </a:lnTo>
                      <a:lnTo>
                        <a:pt x="18" y="0"/>
                      </a:lnTo>
                      <a:lnTo>
                        <a:pt x="35" y="0"/>
                      </a:lnTo>
                      <a:lnTo>
                        <a:pt x="35" y="6"/>
                      </a:lnTo>
                      <a:lnTo>
                        <a:pt x="55" y="6"/>
                      </a:lnTo>
                      <a:lnTo>
                        <a:pt x="55" y="10"/>
                      </a:lnTo>
                      <a:lnTo>
                        <a:pt x="35" y="10"/>
                      </a:lnTo>
                      <a:lnTo>
                        <a:pt x="35" y="16"/>
                      </a:lnTo>
                      <a:lnTo>
                        <a:pt x="18" y="16"/>
                      </a:lnTo>
                      <a:lnTo>
                        <a:pt x="18" y="10"/>
                      </a:lnTo>
                      <a:lnTo>
                        <a:pt x="0" y="10"/>
                      </a:lnTo>
                      <a:lnTo>
                        <a:pt x="0" y="6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57" name="Freeform 1265"/>
                <p:cNvSpPr>
                  <a:spLocks/>
                </p:cNvSpPr>
                <p:nvPr/>
              </p:nvSpPr>
              <p:spPr bwMode="auto">
                <a:xfrm>
                  <a:off x="3991" y="1501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0 h 17"/>
                    <a:gd name="T4" fmla="*/ 16 w 17"/>
                    <a:gd name="T5" fmla="*/ 5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17"/>
                    <a:gd name="T14" fmla="*/ 17 w 17"/>
                    <a:gd name="T15" fmla="*/ 17 h 1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17">
                      <a:moveTo>
                        <a:pt x="0" y="16"/>
                      </a:moveTo>
                      <a:lnTo>
                        <a:pt x="16" y="10"/>
                      </a:lnTo>
                      <a:lnTo>
                        <a:pt x="16" y="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58" name="Freeform 1266"/>
                <p:cNvSpPr>
                  <a:spLocks/>
                </p:cNvSpPr>
                <p:nvPr/>
              </p:nvSpPr>
              <p:spPr bwMode="auto">
                <a:xfrm>
                  <a:off x="4010" y="149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59" name="Freeform 1267"/>
                <p:cNvSpPr>
                  <a:spLocks/>
                </p:cNvSpPr>
                <p:nvPr/>
              </p:nvSpPr>
              <p:spPr bwMode="auto">
                <a:xfrm>
                  <a:off x="4046" y="1504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60" name="Freeform 1268"/>
                <p:cNvSpPr>
                  <a:spLocks/>
                </p:cNvSpPr>
                <p:nvPr/>
              </p:nvSpPr>
              <p:spPr bwMode="auto">
                <a:xfrm>
                  <a:off x="4027" y="1495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0 h 17"/>
                    <a:gd name="T4" fmla="*/ 0 w 17"/>
                    <a:gd name="T5" fmla="*/ 16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16"/>
                      </a:moveTo>
                      <a:lnTo>
                        <a:pt x="16" y="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61" name="Freeform 1269"/>
                <p:cNvSpPr>
                  <a:spLocks/>
                </p:cNvSpPr>
                <p:nvPr/>
              </p:nvSpPr>
              <p:spPr bwMode="auto">
                <a:xfrm>
                  <a:off x="4011" y="1499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6 h 17"/>
                    <a:gd name="T4" fmla="*/ 16 w 17"/>
                    <a:gd name="T5" fmla="*/ 0 h 17"/>
                    <a:gd name="T6" fmla="*/ 0 w 17"/>
                    <a:gd name="T7" fmla="*/ 0 h 17"/>
                    <a:gd name="T8" fmla="*/ 0 w 17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16"/>
                      </a:moveTo>
                      <a:lnTo>
                        <a:pt x="16" y="16"/>
                      </a:lnTo>
                      <a:lnTo>
                        <a:pt x="16" y="0"/>
                      </a:lnTo>
                      <a:lnTo>
                        <a:pt x="0" y="0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F9FA2"/>
                </a:solidFill>
                <a:ln w="12700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62" name="Freeform 1270"/>
                <p:cNvSpPr>
                  <a:spLocks/>
                </p:cNvSpPr>
                <p:nvPr/>
              </p:nvSpPr>
              <p:spPr bwMode="auto">
                <a:xfrm>
                  <a:off x="3993" y="1502"/>
                  <a:ext cx="54" cy="17"/>
                </a:xfrm>
                <a:custGeom>
                  <a:avLst/>
                  <a:gdLst>
                    <a:gd name="T0" fmla="*/ 0 w 54"/>
                    <a:gd name="T1" fmla="*/ 0 h 17"/>
                    <a:gd name="T2" fmla="*/ 53 w 54"/>
                    <a:gd name="T3" fmla="*/ 0 h 17"/>
                    <a:gd name="T4" fmla="*/ 53 w 54"/>
                    <a:gd name="T5" fmla="*/ 16 h 17"/>
                    <a:gd name="T6" fmla="*/ 0 w 54"/>
                    <a:gd name="T7" fmla="*/ 16 h 17"/>
                    <a:gd name="T8" fmla="*/ 0 w 54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4"/>
                    <a:gd name="T16" fmla="*/ 0 h 17"/>
                    <a:gd name="T17" fmla="*/ 54 w 5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4" h="17">
                      <a:moveTo>
                        <a:pt x="0" y="0"/>
                      </a:moveTo>
                      <a:lnTo>
                        <a:pt x="53" y="0"/>
                      </a:lnTo>
                      <a:lnTo>
                        <a:pt x="53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63" name="Freeform 1271"/>
                <p:cNvSpPr>
                  <a:spLocks/>
                </p:cNvSpPr>
                <p:nvPr/>
              </p:nvSpPr>
              <p:spPr bwMode="auto">
                <a:xfrm>
                  <a:off x="4010" y="1496"/>
                  <a:ext cx="19" cy="17"/>
                </a:xfrm>
                <a:custGeom>
                  <a:avLst/>
                  <a:gdLst>
                    <a:gd name="T0" fmla="*/ 18 w 19"/>
                    <a:gd name="T1" fmla="*/ 12 h 17"/>
                    <a:gd name="T2" fmla="*/ 17 w 19"/>
                    <a:gd name="T3" fmla="*/ 16 h 17"/>
                    <a:gd name="T4" fmla="*/ 17 w 19"/>
                    <a:gd name="T5" fmla="*/ 0 h 17"/>
                    <a:gd name="T6" fmla="*/ 0 w 19"/>
                    <a:gd name="T7" fmla="*/ 0 h 17"/>
                    <a:gd name="T8" fmla="*/ 0 w 19"/>
                    <a:gd name="T9" fmla="*/ 16 h 17"/>
                    <a:gd name="T10" fmla="*/ 0 w 19"/>
                    <a:gd name="T11" fmla="*/ 12 h 1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"/>
                    <a:gd name="T19" fmla="*/ 0 h 17"/>
                    <a:gd name="T20" fmla="*/ 19 w 19"/>
                    <a:gd name="T21" fmla="*/ 17 h 1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" h="17">
                      <a:moveTo>
                        <a:pt x="18" y="12"/>
                      </a:moveTo>
                      <a:lnTo>
                        <a:pt x="17" y="16"/>
                      </a:ln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6"/>
                      </a:lnTo>
                      <a:lnTo>
                        <a:pt x="0" y="12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64" name="Freeform 1272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16 w 17"/>
                    <a:gd name="T1" fmla="*/ 0 h 17"/>
                    <a:gd name="T2" fmla="*/ 16 w 17"/>
                    <a:gd name="T3" fmla="*/ 16 h 17"/>
                    <a:gd name="T4" fmla="*/ 0 w 17"/>
                    <a:gd name="T5" fmla="*/ 16 h 17"/>
                    <a:gd name="T6" fmla="*/ 0 w 17"/>
                    <a:gd name="T7" fmla="*/ 0 h 17"/>
                    <a:gd name="T8" fmla="*/ 16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16" y="0"/>
                      </a:move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  <a:lnTo>
                        <a:pt x="16" y="0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65" name="Freeform 1273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66" name="Freeform 1274"/>
                <p:cNvSpPr>
                  <a:spLocks/>
                </p:cNvSpPr>
                <p:nvPr/>
              </p:nvSpPr>
              <p:spPr bwMode="auto">
                <a:xfrm>
                  <a:off x="3930" y="1497"/>
                  <a:ext cx="44" cy="17"/>
                </a:xfrm>
                <a:custGeom>
                  <a:avLst/>
                  <a:gdLst>
                    <a:gd name="T0" fmla="*/ 14 w 44"/>
                    <a:gd name="T1" fmla="*/ 16 h 17"/>
                    <a:gd name="T2" fmla="*/ 0 w 44"/>
                    <a:gd name="T3" fmla="*/ 16 h 17"/>
                    <a:gd name="T4" fmla="*/ 0 w 44"/>
                    <a:gd name="T5" fmla="*/ 8 h 17"/>
                    <a:gd name="T6" fmla="*/ 14 w 44"/>
                    <a:gd name="T7" fmla="*/ 8 h 17"/>
                    <a:gd name="T8" fmla="*/ 14 w 44"/>
                    <a:gd name="T9" fmla="*/ 0 h 17"/>
                    <a:gd name="T10" fmla="*/ 28 w 44"/>
                    <a:gd name="T11" fmla="*/ 0 h 17"/>
                    <a:gd name="T12" fmla="*/ 28 w 44"/>
                    <a:gd name="T13" fmla="*/ 8 h 17"/>
                    <a:gd name="T14" fmla="*/ 43 w 44"/>
                    <a:gd name="T15" fmla="*/ 8 h 17"/>
                    <a:gd name="T16" fmla="*/ 43 w 44"/>
                    <a:gd name="T17" fmla="*/ 16 h 17"/>
                    <a:gd name="T18" fmla="*/ 28 w 44"/>
                    <a:gd name="T19" fmla="*/ 16 h 17"/>
                    <a:gd name="T20" fmla="*/ 14 w 44"/>
                    <a:gd name="T21" fmla="*/ 16 h 1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44"/>
                    <a:gd name="T34" fmla="*/ 0 h 17"/>
                    <a:gd name="T35" fmla="*/ 44 w 44"/>
                    <a:gd name="T36" fmla="*/ 17 h 17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44" h="17">
                      <a:moveTo>
                        <a:pt x="14" y="16"/>
                      </a:moveTo>
                      <a:lnTo>
                        <a:pt x="0" y="16"/>
                      </a:lnTo>
                      <a:lnTo>
                        <a:pt x="0" y="8"/>
                      </a:lnTo>
                      <a:lnTo>
                        <a:pt x="14" y="8"/>
                      </a:lnTo>
                      <a:lnTo>
                        <a:pt x="14" y="0"/>
                      </a:lnTo>
                      <a:lnTo>
                        <a:pt x="28" y="0"/>
                      </a:lnTo>
                      <a:lnTo>
                        <a:pt x="28" y="8"/>
                      </a:lnTo>
                      <a:lnTo>
                        <a:pt x="43" y="8"/>
                      </a:lnTo>
                      <a:lnTo>
                        <a:pt x="43" y="16"/>
                      </a:lnTo>
                      <a:lnTo>
                        <a:pt x="28" y="16"/>
                      </a:lnTo>
                      <a:lnTo>
                        <a:pt x="14" y="16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67" name="Freeform 1275"/>
                <p:cNvSpPr>
                  <a:spLocks/>
                </p:cNvSpPr>
                <p:nvPr/>
              </p:nvSpPr>
              <p:spPr bwMode="auto">
                <a:xfrm>
                  <a:off x="3945" y="1497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68" name="Freeform 1276"/>
                <p:cNvSpPr>
                  <a:spLocks/>
                </p:cNvSpPr>
                <p:nvPr/>
              </p:nvSpPr>
              <p:spPr bwMode="auto">
                <a:xfrm>
                  <a:off x="3897" y="1494"/>
                  <a:ext cx="20" cy="17"/>
                </a:xfrm>
                <a:custGeom>
                  <a:avLst/>
                  <a:gdLst>
                    <a:gd name="T0" fmla="*/ 5 w 20"/>
                    <a:gd name="T1" fmla="*/ 16 h 17"/>
                    <a:gd name="T2" fmla="*/ 3 w 20"/>
                    <a:gd name="T3" fmla="*/ 15 h 17"/>
                    <a:gd name="T4" fmla="*/ 2 w 20"/>
                    <a:gd name="T5" fmla="*/ 15 h 17"/>
                    <a:gd name="T6" fmla="*/ 1 w 20"/>
                    <a:gd name="T7" fmla="*/ 14 h 17"/>
                    <a:gd name="T8" fmla="*/ 1 w 20"/>
                    <a:gd name="T9" fmla="*/ 12 h 17"/>
                    <a:gd name="T10" fmla="*/ 0 w 20"/>
                    <a:gd name="T11" fmla="*/ 12 h 17"/>
                    <a:gd name="T12" fmla="*/ 0 w 20"/>
                    <a:gd name="T13" fmla="*/ 10 h 17"/>
                    <a:gd name="T14" fmla="*/ 0 w 20"/>
                    <a:gd name="T15" fmla="*/ 8 h 17"/>
                    <a:gd name="T16" fmla="*/ 0 w 20"/>
                    <a:gd name="T17" fmla="*/ 6 h 17"/>
                    <a:gd name="T18" fmla="*/ 0 w 20"/>
                    <a:gd name="T19" fmla="*/ 4 h 17"/>
                    <a:gd name="T20" fmla="*/ 0 w 20"/>
                    <a:gd name="T21" fmla="*/ 3 h 17"/>
                    <a:gd name="T22" fmla="*/ 1 w 20"/>
                    <a:gd name="T23" fmla="*/ 2 h 17"/>
                    <a:gd name="T24" fmla="*/ 2 w 20"/>
                    <a:gd name="T25" fmla="*/ 1 h 17"/>
                    <a:gd name="T26" fmla="*/ 3 w 20"/>
                    <a:gd name="T27" fmla="*/ 0 h 17"/>
                    <a:gd name="T28" fmla="*/ 4 w 20"/>
                    <a:gd name="T29" fmla="*/ 0 h 17"/>
                    <a:gd name="T30" fmla="*/ 5 w 20"/>
                    <a:gd name="T31" fmla="*/ 0 h 17"/>
                    <a:gd name="T32" fmla="*/ 12 w 20"/>
                    <a:gd name="T33" fmla="*/ 0 h 17"/>
                    <a:gd name="T34" fmla="*/ 13 w 20"/>
                    <a:gd name="T35" fmla="*/ 0 h 17"/>
                    <a:gd name="T36" fmla="*/ 15 w 20"/>
                    <a:gd name="T37" fmla="*/ 0 h 17"/>
                    <a:gd name="T38" fmla="*/ 16 w 20"/>
                    <a:gd name="T39" fmla="*/ 1 h 17"/>
                    <a:gd name="T40" fmla="*/ 17 w 20"/>
                    <a:gd name="T41" fmla="*/ 3 h 17"/>
                    <a:gd name="T42" fmla="*/ 17 w 20"/>
                    <a:gd name="T43" fmla="*/ 3 h 17"/>
                    <a:gd name="T44" fmla="*/ 18 w 20"/>
                    <a:gd name="T45" fmla="*/ 5 h 17"/>
                    <a:gd name="T46" fmla="*/ 18 w 20"/>
                    <a:gd name="T47" fmla="*/ 7 h 17"/>
                    <a:gd name="T48" fmla="*/ 18 w 20"/>
                    <a:gd name="T49" fmla="*/ 8 h 17"/>
                    <a:gd name="T50" fmla="*/ 18 w 20"/>
                    <a:gd name="T51" fmla="*/ 10 h 17"/>
                    <a:gd name="T52" fmla="*/ 17 w 20"/>
                    <a:gd name="T53" fmla="*/ 12 h 17"/>
                    <a:gd name="T54" fmla="*/ 16 w 20"/>
                    <a:gd name="T55" fmla="*/ 13 h 17"/>
                    <a:gd name="T56" fmla="*/ 15 w 20"/>
                    <a:gd name="T57" fmla="*/ 15 h 17"/>
                    <a:gd name="T58" fmla="*/ 13 w 20"/>
                    <a:gd name="T59" fmla="*/ 15 h 17"/>
                    <a:gd name="T60" fmla="*/ 13 w 20"/>
                    <a:gd name="T61" fmla="*/ 16 h 17"/>
                    <a:gd name="T62" fmla="*/ 12 w 20"/>
                    <a:gd name="T63" fmla="*/ 16 h 17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20"/>
                    <a:gd name="T97" fmla="*/ 0 h 17"/>
                    <a:gd name="T98" fmla="*/ 20 w 20"/>
                    <a:gd name="T99" fmla="*/ 17 h 17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20" h="17">
                      <a:moveTo>
                        <a:pt x="5" y="16"/>
                      </a:moveTo>
                      <a:lnTo>
                        <a:pt x="5" y="16"/>
                      </a:lnTo>
                      <a:lnTo>
                        <a:pt x="4" y="16"/>
                      </a:lnTo>
                      <a:lnTo>
                        <a:pt x="3" y="15"/>
                      </a:lnTo>
                      <a:lnTo>
                        <a:pt x="2" y="15"/>
                      </a:lnTo>
                      <a:lnTo>
                        <a:pt x="2" y="14"/>
                      </a:lnTo>
                      <a:lnTo>
                        <a:pt x="1" y="14"/>
                      </a:lnTo>
                      <a:lnTo>
                        <a:pt x="1" y="13"/>
                      </a:lnTo>
                      <a:lnTo>
                        <a:pt x="1" y="12"/>
                      </a:lnTo>
                      <a:lnTo>
                        <a:pt x="0" y="12"/>
                      </a:lnTo>
                      <a:lnTo>
                        <a:pt x="0" y="11"/>
                      </a:lnTo>
                      <a:lnTo>
                        <a:pt x="0" y="10"/>
                      </a:lnTo>
                      <a:lnTo>
                        <a:pt x="0" y="9"/>
                      </a:lnTo>
                      <a:lnTo>
                        <a:pt x="0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1" y="3"/>
                      </a:lnTo>
                      <a:lnTo>
                        <a:pt x="1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5" y="0"/>
                      </a:lnTo>
                      <a:lnTo>
                        <a:pt x="12" y="0"/>
                      </a:lnTo>
                      <a:lnTo>
                        <a:pt x="13" y="0"/>
                      </a:lnTo>
                      <a:lnTo>
                        <a:pt x="15" y="0"/>
                      </a:lnTo>
                      <a:lnTo>
                        <a:pt x="16" y="1"/>
                      </a:lnTo>
                      <a:lnTo>
                        <a:pt x="16" y="2"/>
                      </a:lnTo>
                      <a:lnTo>
                        <a:pt x="17" y="3"/>
                      </a:lnTo>
                      <a:lnTo>
                        <a:pt x="18" y="4"/>
                      </a:lnTo>
                      <a:lnTo>
                        <a:pt x="18" y="5"/>
                      </a:lnTo>
                      <a:lnTo>
                        <a:pt x="18" y="6"/>
                      </a:lnTo>
                      <a:lnTo>
                        <a:pt x="18" y="7"/>
                      </a:lnTo>
                      <a:lnTo>
                        <a:pt x="19" y="8"/>
                      </a:lnTo>
                      <a:lnTo>
                        <a:pt x="18" y="8"/>
                      </a:lnTo>
                      <a:lnTo>
                        <a:pt x="18" y="9"/>
                      </a:lnTo>
                      <a:lnTo>
                        <a:pt x="18" y="10"/>
                      </a:lnTo>
                      <a:lnTo>
                        <a:pt x="18" y="11"/>
                      </a:lnTo>
                      <a:lnTo>
                        <a:pt x="17" y="12"/>
                      </a:lnTo>
                      <a:lnTo>
                        <a:pt x="16" y="13"/>
                      </a:lnTo>
                      <a:lnTo>
                        <a:pt x="16" y="14"/>
                      </a:lnTo>
                      <a:lnTo>
                        <a:pt x="15" y="15"/>
                      </a:lnTo>
                      <a:lnTo>
                        <a:pt x="13" y="15"/>
                      </a:lnTo>
                      <a:lnTo>
                        <a:pt x="13" y="16"/>
                      </a:lnTo>
                      <a:lnTo>
                        <a:pt x="12" y="16"/>
                      </a:lnTo>
                      <a:lnTo>
                        <a:pt x="5" y="16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69" name="Freeform 1277"/>
                <p:cNvSpPr>
                  <a:spLocks/>
                </p:cNvSpPr>
                <p:nvPr/>
              </p:nvSpPr>
              <p:spPr bwMode="auto">
                <a:xfrm>
                  <a:off x="3921" y="1489"/>
                  <a:ext cx="17" cy="38"/>
                </a:xfrm>
                <a:custGeom>
                  <a:avLst/>
                  <a:gdLst>
                    <a:gd name="T0" fmla="*/ 8 w 17"/>
                    <a:gd name="T1" fmla="*/ 0 h 38"/>
                    <a:gd name="T2" fmla="*/ 0 w 17"/>
                    <a:gd name="T3" fmla="*/ 22 h 38"/>
                    <a:gd name="T4" fmla="*/ 16 w 17"/>
                    <a:gd name="T5" fmla="*/ 22 h 38"/>
                    <a:gd name="T6" fmla="*/ 16 w 17"/>
                    <a:gd name="T7" fmla="*/ 37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38"/>
                    <a:gd name="T14" fmla="*/ 17 w 17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38">
                      <a:moveTo>
                        <a:pt x="8" y="0"/>
                      </a:moveTo>
                      <a:lnTo>
                        <a:pt x="0" y="22"/>
                      </a:lnTo>
                      <a:lnTo>
                        <a:pt x="16" y="22"/>
                      </a:lnTo>
                      <a:lnTo>
                        <a:pt x="16" y="37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70" name="Freeform 1278"/>
                <p:cNvSpPr>
                  <a:spLocks/>
                </p:cNvSpPr>
                <p:nvPr/>
              </p:nvSpPr>
              <p:spPr bwMode="auto">
                <a:xfrm>
                  <a:off x="3979" y="1489"/>
                  <a:ext cx="17" cy="72"/>
                </a:xfrm>
                <a:custGeom>
                  <a:avLst/>
                  <a:gdLst>
                    <a:gd name="T0" fmla="*/ 0 w 17"/>
                    <a:gd name="T1" fmla="*/ 0 h 72"/>
                    <a:gd name="T2" fmla="*/ 16 w 17"/>
                    <a:gd name="T3" fmla="*/ 22 h 72"/>
                    <a:gd name="T4" fmla="*/ 0 w 17"/>
                    <a:gd name="T5" fmla="*/ 22 h 72"/>
                    <a:gd name="T6" fmla="*/ 0 w 17"/>
                    <a:gd name="T7" fmla="*/ 71 h 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72"/>
                    <a:gd name="T14" fmla="*/ 17 w 17"/>
                    <a:gd name="T15" fmla="*/ 72 h 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72">
                      <a:moveTo>
                        <a:pt x="0" y="0"/>
                      </a:moveTo>
                      <a:lnTo>
                        <a:pt x="16" y="22"/>
                      </a:lnTo>
                      <a:lnTo>
                        <a:pt x="0" y="22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71" name="Freeform 1279"/>
                <p:cNvSpPr>
                  <a:spLocks/>
                </p:cNvSpPr>
                <p:nvPr/>
              </p:nvSpPr>
              <p:spPr bwMode="auto">
                <a:xfrm>
                  <a:off x="3855" y="1532"/>
                  <a:ext cx="250" cy="41"/>
                </a:xfrm>
                <a:custGeom>
                  <a:avLst/>
                  <a:gdLst>
                    <a:gd name="T0" fmla="*/ 0 w 250"/>
                    <a:gd name="T1" fmla="*/ 40 h 41"/>
                    <a:gd name="T2" fmla="*/ 249 w 250"/>
                    <a:gd name="T3" fmla="*/ 40 h 41"/>
                    <a:gd name="T4" fmla="*/ 240 w 250"/>
                    <a:gd name="T5" fmla="*/ 0 h 41"/>
                    <a:gd name="T6" fmla="*/ 10 w 250"/>
                    <a:gd name="T7" fmla="*/ 0 h 41"/>
                    <a:gd name="T8" fmla="*/ 0 w 250"/>
                    <a:gd name="T9" fmla="*/ 40 h 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0"/>
                    <a:gd name="T16" fmla="*/ 0 h 41"/>
                    <a:gd name="T17" fmla="*/ 250 w 250"/>
                    <a:gd name="T18" fmla="*/ 41 h 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0" h="41">
                      <a:moveTo>
                        <a:pt x="0" y="40"/>
                      </a:moveTo>
                      <a:lnTo>
                        <a:pt x="249" y="40"/>
                      </a:lnTo>
                      <a:lnTo>
                        <a:pt x="240" y="0"/>
                      </a:lnTo>
                      <a:lnTo>
                        <a:pt x="10" y="0"/>
                      </a:lnTo>
                      <a:lnTo>
                        <a:pt x="0" y="40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72" name="Freeform 1280"/>
                <p:cNvSpPr>
                  <a:spLocks/>
                </p:cNvSpPr>
                <p:nvPr/>
              </p:nvSpPr>
              <p:spPr bwMode="auto">
                <a:xfrm>
                  <a:off x="3855" y="1572"/>
                  <a:ext cx="251" cy="17"/>
                </a:xfrm>
                <a:custGeom>
                  <a:avLst/>
                  <a:gdLst>
                    <a:gd name="T0" fmla="*/ 0 w 251"/>
                    <a:gd name="T1" fmla="*/ 16 h 17"/>
                    <a:gd name="T2" fmla="*/ 0 w 251"/>
                    <a:gd name="T3" fmla="*/ 0 h 17"/>
                    <a:gd name="T4" fmla="*/ 249 w 251"/>
                    <a:gd name="T5" fmla="*/ 0 h 17"/>
                    <a:gd name="T6" fmla="*/ 250 w 251"/>
                    <a:gd name="T7" fmla="*/ 16 h 17"/>
                    <a:gd name="T8" fmla="*/ 0 w 251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1"/>
                    <a:gd name="T16" fmla="*/ 0 h 17"/>
                    <a:gd name="T17" fmla="*/ 251 w 251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1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249" y="0"/>
                      </a:lnTo>
                      <a:lnTo>
                        <a:pt x="250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CCCC6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73" name="Freeform 1281"/>
                <p:cNvSpPr>
                  <a:spLocks/>
                </p:cNvSpPr>
                <p:nvPr/>
              </p:nvSpPr>
              <p:spPr bwMode="auto">
                <a:xfrm>
                  <a:off x="3872" y="1538"/>
                  <a:ext cx="223" cy="28"/>
                </a:xfrm>
                <a:custGeom>
                  <a:avLst/>
                  <a:gdLst>
                    <a:gd name="T0" fmla="*/ 0 w 223"/>
                    <a:gd name="T1" fmla="*/ 27 h 28"/>
                    <a:gd name="T2" fmla="*/ 222 w 223"/>
                    <a:gd name="T3" fmla="*/ 27 h 28"/>
                    <a:gd name="T4" fmla="*/ 214 w 223"/>
                    <a:gd name="T5" fmla="*/ 0 h 28"/>
                    <a:gd name="T6" fmla="*/ 8 w 223"/>
                    <a:gd name="T7" fmla="*/ 0 h 28"/>
                    <a:gd name="T8" fmla="*/ 0 w 223"/>
                    <a:gd name="T9" fmla="*/ 27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3"/>
                    <a:gd name="T16" fmla="*/ 0 h 28"/>
                    <a:gd name="T17" fmla="*/ 223 w 223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3" h="28">
                      <a:moveTo>
                        <a:pt x="0" y="27"/>
                      </a:moveTo>
                      <a:lnTo>
                        <a:pt x="222" y="27"/>
                      </a:lnTo>
                      <a:lnTo>
                        <a:pt x="214" y="0"/>
                      </a:lnTo>
                      <a:lnTo>
                        <a:pt x="8" y="0"/>
                      </a:lnTo>
                      <a:lnTo>
                        <a:pt x="0" y="27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0275" name="Group 1282"/>
              <p:cNvGrpSpPr>
                <a:grpSpLocks/>
              </p:cNvGrpSpPr>
              <p:nvPr/>
            </p:nvGrpSpPr>
            <p:grpSpPr bwMode="auto">
              <a:xfrm>
                <a:off x="1510" y="2820"/>
                <a:ext cx="245" cy="176"/>
                <a:chOff x="3840" y="1279"/>
                <a:chExt cx="266" cy="310"/>
              </a:xfrm>
            </p:grpSpPr>
            <p:sp>
              <p:nvSpPr>
                <p:cNvPr id="10562" name="Freeform 1283"/>
                <p:cNvSpPr>
                  <a:spLocks/>
                </p:cNvSpPr>
                <p:nvPr/>
              </p:nvSpPr>
              <p:spPr bwMode="auto">
                <a:xfrm>
                  <a:off x="3848" y="1548"/>
                  <a:ext cx="206" cy="20"/>
                </a:xfrm>
                <a:custGeom>
                  <a:avLst/>
                  <a:gdLst>
                    <a:gd name="T0" fmla="*/ 0 w 206"/>
                    <a:gd name="T1" fmla="*/ 19 h 20"/>
                    <a:gd name="T2" fmla="*/ 0 w 206"/>
                    <a:gd name="T3" fmla="*/ 0 h 20"/>
                    <a:gd name="T4" fmla="*/ 205 w 206"/>
                    <a:gd name="T5" fmla="*/ 0 h 20"/>
                    <a:gd name="T6" fmla="*/ 205 w 206"/>
                    <a:gd name="T7" fmla="*/ 19 h 20"/>
                    <a:gd name="T8" fmla="*/ 0 w 206"/>
                    <a:gd name="T9" fmla="*/ 19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6"/>
                    <a:gd name="T16" fmla="*/ 0 h 20"/>
                    <a:gd name="T17" fmla="*/ 206 w 206"/>
                    <a:gd name="T18" fmla="*/ 20 h 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6" h="20">
                      <a:moveTo>
                        <a:pt x="0" y="19"/>
                      </a:moveTo>
                      <a:lnTo>
                        <a:pt x="0" y="0"/>
                      </a:lnTo>
                      <a:lnTo>
                        <a:pt x="205" y="0"/>
                      </a:lnTo>
                      <a:lnTo>
                        <a:pt x="205" y="19"/>
                      </a:lnTo>
                      <a:lnTo>
                        <a:pt x="0" y="19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63" name="Freeform 1284"/>
                <p:cNvSpPr>
                  <a:spLocks/>
                </p:cNvSpPr>
                <p:nvPr/>
              </p:nvSpPr>
              <p:spPr bwMode="auto">
                <a:xfrm>
                  <a:off x="3840" y="1453"/>
                  <a:ext cx="220" cy="34"/>
                </a:xfrm>
                <a:custGeom>
                  <a:avLst/>
                  <a:gdLst>
                    <a:gd name="T0" fmla="*/ 189 w 220"/>
                    <a:gd name="T1" fmla="*/ 0 h 34"/>
                    <a:gd name="T2" fmla="*/ 219 w 220"/>
                    <a:gd name="T3" fmla="*/ 33 h 34"/>
                    <a:gd name="T4" fmla="*/ 0 w 220"/>
                    <a:gd name="T5" fmla="*/ 33 h 34"/>
                    <a:gd name="T6" fmla="*/ 29 w 220"/>
                    <a:gd name="T7" fmla="*/ 0 h 34"/>
                    <a:gd name="T8" fmla="*/ 189 w 220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34"/>
                    <a:gd name="T17" fmla="*/ 220 w 220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34">
                      <a:moveTo>
                        <a:pt x="189" y="0"/>
                      </a:moveTo>
                      <a:lnTo>
                        <a:pt x="219" y="33"/>
                      </a:lnTo>
                      <a:lnTo>
                        <a:pt x="0" y="33"/>
                      </a:lnTo>
                      <a:lnTo>
                        <a:pt x="29" y="0"/>
                      </a:lnTo>
                      <a:lnTo>
                        <a:pt x="189" y="0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64" name="Freeform 1285"/>
                <p:cNvSpPr>
                  <a:spLocks/>
                </p:cNvSpPr>
                <p:nvPr/>
              </p:nvSpPr>
              <p:spPr bwMode="auto">
                <a:xfrm>
                  <a:off x="3897" y="1449"/>
                  <a:ext cx="104" cy="24"/>
                </a:xfrm>
                <a:custGeom>
                  <a:avLst/>
                  <a:gdLst>
                    <a:gd name="T0" fmla="*/ 102 w 104"/>
                    <a:gd name="T1" fmla="*/ 10 h 24"/>
                    <a:gd name="T2" fmla="*/ 101 w 104"/>
                    <a:gd name="T3" fmla="*/ 8 h 24"/>
                    <a:gd name="T4" fmla="*/ 97 w 104"/>
                    <a:gd name="T5" fmla="*/ 6 h 24"/>
                    <a:gd name="T6" fmla="*/ 93 w 104"/>
                    <a:gd name="T7" fmla="*/ 4 h 24"/>
                    <a:gd name="T8" fmla="*/ 87 w 104"/>
                    <a:gd name="T9" fmla="*/ 3 h 24"/>
                    <a:gd name="T10" fmla="*/ 80 w 104"/>
                    <a:gd name="T11" fmla="*/ 2 h 24"/>
                    <a:gd name="T12" fmla="*/ 72 w 104"/>
                    <a:gd name="T13" fmla="*/ 1 h 24"/>
                    <a:gd name="T14" fmla="*/ 64 w 104"/>
                    <a:gd name="T15" fmla="*/ 0 h 24"/>
                    <a:gd name="T16" fmla="*/ 55 w 104"/>
                    <a:gd name="T17" fmla="*/ 0 h 24"/>
                    <a:gd name="T18" fmla="*/ 46 w 104"/>
                    <a:gd name="T19" fmla="*/ 0 h 24"/>
                    <a:gd name="T20" fmla="*/ 37 w 104"/>
                    <a:gd name="T21" fmla="*/ 0 h 24"/>
                    <a:gd name="T22" fmla="*/ 29 w 104"/>
                    <a:gd name="T23" fmla="*/ 1 h 24"/>
                    <a:gd name="T24" fmla="*/ 21 w 104"/>
                    <a:gd name="T25" fmla="*/ 2 h 24"/>
                    <a:gd name="T26" fmla="*/ 14 w 104"/>
                    <a:gd name="T27" fmla="*/ 3 h 24"/>
                    <a:gd name="T28" fmla="*/ 8 w 104"/>
                    <a:gd name="T29" fmla="*/ 4 h 24"/>
                    <a:gd name="T30" fmla="*/ 4 w 104"/>
                    <a:gd name="T31" fmla="*/ 6 h 24"/>
                    <a:gd name="T32" fmla="*/ 1 w 104"/>
                    <a:gd name="T33" fmla="*/ 8 h 24"/>
                    <a:gd name="T34" fmla="*/ 0 w 104"/>
                    <a:gd name="T35" fmla="*/ 10 h 24"/>
                    <a:gd name="T36" fmla="*/ 0 w 104"/>
                    <a:gd name="T37" fmla="*/ 12 h 24"/>
                    <a:gd name="T38" fmla="*/ 1 w 104"/>
                    <a:gd name="T39" fmla="*/ 14 h 24"/>
                    <a:gd name="T40" fmla="*/ 4 w 104"/>
                    <a:gd name="T41" fmla="*/ 16 h 24"/>
                    <a:gd name="T42" fmla="*/ 8 w 104"/>
                    <a:gd name="T43" fmla="*/ 17 h 24"/>
                    <a:gd name="T44" fmla="*/ 14 w 104"/>
                    <a:gd name="T45" fmla="*/ 19 h 24"/>
                    <a:gd name="T46" fmla="*/ 21 w 104"/>
                    <a:gd name="T47" fmla="*/ 20 h 24"/>
                    <a:gd name="T48" fmla="*/ 29 w 104"/>
                    <a:gd name="T49" fmla="*/ 21 h 24"/>
                    <a:gd name="T50" fmla="*/ 37 w 104"/>
                    <a:gd name="T51" fmla="*/ 22 h 24"/>
                    <a:gd name="T52" fmla="*/ 46 w 104"/>
                    <a:gd name="T53" fmla="*/ 23 h 24"/>
                    <a:gd name="T54" fmla="*/ 55 w 104"/>
                    <a:gd name="T55" fmla="*/ 23 h 24"/>
                    <a:gd name="T56" fmla="*/ 64 w 104"/>
                    <a:gd name="T57" fmla="*/ 22 h 24"/>
                    <a:gd name="T58" fmla="*/ 72 w 104"/>
                    <a:gd name="T59" fmla="*/ 21 h 24"/>
                    <a:gd name="T60" fmla="*/ 80 w 104"/>
                    <a:gd name="T61" fmla="*/ 20 h 24"/>
                    <a:gd name="T62" fmla="*/ 87 w 104"/>
                    <a:gd name="T63" fmla="*/ 19 h 24"/>
                    <a:gd name="T64" fmla="*/ 93 w 104"/>
                    <a:gd name="T65" fmla="*/ 17 h 24"/>
                    <a:gd name="T66" fmla="*/ 97 w 104"/>
                    <a:gd name="T67" fmla="*/ 16 h 24"/>
                    <a:gd name="T68" fmla="*/ 101 w 104"/>
                    <a:gd name="T69" fmla="*/ 14 h 24"/>
                    <a:gd name="T70" fmla="*/ 102 w 104"/>
                    <a:gd name="T71" fmla="*/ 12 h 24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104"/>
                    <a:gd name="T109" fmla="*/ 0 h 24"/>
                    <a:gd name="T110" fmla="*/ 104 w 104"/>
                    <a:gd name="T111" fmla="*/ 24 h 24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104" h="24">
                      <a:moveTo>
                        <a:pt x="103" y="11"/>
                      </a:moveTo>
                      <a:lnTo>
                        <a:pt x="102" y="10"/>
                      </a:lnTo>
                      <a:lnTo>
                        <a:pt x="102" y="9"/>
                      </a:lnTo>
                      <a:lnTo>
                        <a:pt x="101" y="8"/>
                      </a:lnTo>
                      <a:lnTo>
                        <a:pt x="99" y="7"/>
                      </a:lnTo>
                      <a:lnTo>
                        <a:pt x="97" y="6"/>
                      </a:lnTo>
                      <a:lnTo>
                        <a:pt x="95" y="6"/>
                      </a:lnTo>
                      <a:lnTo>
                        <a:pt x="93" y="4"/>
                      </a:lnTo>
                      <a:lnTo>
                        <a:pt x="90" y="4"/>
                      </a:lnTo>
                      <a:lnTo>
                        <a:pt x="87" y="3"/>
                      </a:lnTo>
                      <a:lnTo>
                        <a:pt x="84" y="2"/>
                      </a:lnTo>
                      <a:lnTo>
                        <a:pt x="80" y="2"/>
                      </a:lnTo>
                      <a:lnTo>
                        <a:pt x="76" y="1"/>
                      </a:lnTo>
                      <a:lnTo>
                        <a:pt x="72" y="1"/>
                      </a:lnTo>
                      <a:lnTo>
                        <a:pt x="69" y="0"/>
                      </a:lnTo>
                      <a:lnTo>
                        <a:pt x="64" y="0"/>
                      </a:lnTo>
                      <a:lnTo>
                        <a:pt x="60" y="0"/>
                      </a:lnTo>
                      <a:lnTo>
                        <a:pt x="55" y="0"/>
                      </a:lnTo>
                      <a:lnTo>
                        <a:pt x="51" y="0"/>
                      </a:lnTo>
                      <a:lnTo>
                        <a:pt x="46" y="0"/>
                      </a:lnTo>
                      <a:lnTo>
                        <a:pt x="42" y="0"/>
                      </a:lnTo>
                      <a:lnTo>
                        <a:pt x="37" y="0"/>
                      </a:lnTo>
                      <a:lnTo>
                        <a:pt x="33" y="0"/>
                      </a:lnTo>
                      <a:lnTo>
                        <a:pt x="29" y="1"/>
                      </a:lnTo>
                      <a:lnTo>
                        <a:pt x="25" y="1"/>
                      </a:lnTo>
                      <a:lnTo>
                        <a:pt x="21" y="2"/>
                      </a:lnTo>
                      <a:lnTo>
                        <a:pt x="17" y="2"/>
                      </a:lnTo>
                      <a:lnTo>
                        <a:pt x="14" y="3"/>
                      </a:lnTo>
                      <a:lnTo>
                        <a:pt x="12" y="4"/>
                      </a:lnTo>
                      <a:lnTo>
                        <a:pt x="8" y="4"/>
                      </a:lnTo>
                      <a:lnTo>
                        <a:pt x="6" y="6"/>
                      </a:lnTo>
                      <a:lnTo>
                        <a:pt x="4" y="6"/>
                      </a:lnTo>
                      <a:lnTo>
                        <a:pt x="3" y="7"/>
                      </a:lnTo>
                      <a:lnTo>
                        <a:pt x="1" y="8"/>
                      </a:lnTo>
                      <a:lnTo>
                        <a:pt x="0" y="9"/>
                      </a:lnTo>
                      <a:lnTo>
                        <a:pt x="0" y="10"/>
                      </a:lnTo>
                      <a:lnTo>
                        <a:pt x="0" y="11"/>
                      </a:lnTo>
                      <a:lnTo>
                        <a:pt x="0" y="12"/>
                      </a:lnTo>
                      <a:lnTo>
                        <a:pt x="0" y="13"/>
                      </a:lnTo>
                      <a:lnTo>
                        <a:pt x="1" y="14"/>
                      </a:lnTo>
                      <a:lnTo>
                        <a:pt x="3" y="15"/>
                      </a:lnTo>
                      <a:lnTo>
                        <a:pt x="4" y="16"/>
                      </a:lnTo>
                      <a:lnTo>
                        <a:pt x="6" y="17"/>
                      </a:lnTo>
                      <a:lnTo>
                        <a:pt x="8" y="17"/>
                      </a:lnTo>
                      <a:lnTo>
                        <a:pt x="12" y="18"/>
                      </a:lnTo>
                      <a:lnTo>
                        <a:pt x="14" y="19"/>
                      </a:lnTo>
                      <a:lnTo>
                        <a:pt x="17" y="20"/>
                      </a:lnTo>
                      <a:lnTo>
                        <a:pt x="21" y="20"/>
                      </a:lnTo>
                      <a:lnTo>
                        <a:pt x="25" y="21"/>
                      </a:lnTo>
                      <a:lnTo>
                        <a:pt x="29" y="21"/>
                      </a:lnTo>
                      <a:lnTo>
                        <a:pt x="33" y="22"/>
                      </a:lnTo>
                      <a:lnTo>
                        <a:pt x="37" y="22"/>
                      </a:lnTo>
                      <a:lnTo>
                        <a:pt x="42" y="22"/>
                      </a:lnTo>
                      <a:lnTo>
                        <a:pt x="46" y="23"/>
                      </a:lnTo>
                      <a:lnTo>
                        <a:pt x="51" y="23"/>
                      </a:lnTo>
                      <a:lnTo>
                        <a:pt x="55" y="23"/>
                      </a:lnTo>
                      <a:lnTo>
                        <a:pt x="60" y="22"/>
                      </a:lnTo>
                      <a:lnTo>
                        <a:pt x="64" y="22"/>
                      </a:lnTo>
                      <a:lnTo>
                        <a:pt x="69" y="22"/>
                      </a:lnTo>
                      <a:lnTo>
                        <a:pt x="72" y="21"/>
                      </a:lnTo>
                      <a:lnTo>
                        <a:pt x="76" y="21"/>
                      </a:lnTo>
                      <a:lnTo>
                        <a:pt x="80" y="20"/>
                      </a:lnTo>
                      <a:lnTo>
                        <a:pt x="84" y="20"/>
                      </a:lnTo>
                      <a:lnTo>
                        <a:pt x="87" y="19"/>
                      </a:lnTo>
                      <a:lnTo>
                        <a:pt x="90" y="18"/>
                      </a:lnTo>
                      <a:lnTo>
                        <a:pt x="93" y="17"/>
                      </a:lnTo>
                      <a:lnTo>
                        <a:pt x="95" y="17"/>
                      </a:lnTo>
                      <a:lnTo>
                        <a:pt x="97" y="16"/>
                      </a:lnTo>
                      <a:lnTo>
                        <a:pt x="99" y="15"/>
                      </a:lnTo>
                      <a:lnTo>
                        <a:pt x="101" y="14"/>
                      </a:lnTo>
                      <a:lnTo>
                        <a:pt x="102" y="13"/>
                      </a:lnTo>
                      <a:lnTo>
                        <a:pt x="102" y="12"/>
                      </a:lnTo>
                      <a:lnTo>
                        <a:pt x="103" y="11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65" name="Freeform 1286"/>
                <p:cNvSpPr>
                  <a:spLocks/>
                </p:cNvSpPr>
                <p:nvPr/>
              </p:nvSpPr>
              <p:spPr bwMode="auto">
                <a:xfrm>
                  <a:off x="3897" y="1461"/>
                  <a:ext cx="104" cy="17"/>
                </a:xfrm>
                <a:custGeom>
                  <a:avLst/>
                  <a:gdLst>
                    <a:gd name="T0" fmla="*/ 102 w 104"/>
                    <a:gd name="T1" fmla="*/ 6 h 17"/>
                    <a:gd name="T2" fmla="*/ 101 w 104"/>
                    <a:gd name="T3" fmla="*/ 8 h 17"/>
                    <a:gd name="T4" fmla="*/ 97 w 104"/>
                    <a:gd name="T5" fmla="*/ 10 h 17"/>
                    <a:gd name="T6" fmla="*/ 93 w 104"/>
                    <a:gd name="T7" fmla="*/ 11 h 17"/>
                    <a:gd name="T8" fmla="*/ 87 w 104"/>
                    <a:gd name="T9" fmla="*/ 12 h 17"/>
                    <a:gd name="T10" fmla="*/ 80 w 104"/>
                    <a:gd name="T11" fmla="*/ 14 h 17"/>
                    <a:gd name="T12" fmla="*/ 72 w 104"/>
                    <a:gd name="T13" fmla="*/ 14 h 17"/>
                    <a:gd name="T14" fmla="*/ 64 w 104"/>
                    <a:gd name="T15" fmla="*/ 15 h 17"/>
                    <a:gd name="T16" fmla="*/ 55 w 104"/>
                    <a:gd name="T17" fmla="*/ 16 h 17"/>
                    <a:gd name="T18" fmla="*/ 46 w 104"/>
                    <a:gd name="T19" fmla="*/ 16 h 17"/>
                    <a:gd name="T20" fmla="*/ 37 w 104"/>
                    <a:gd name="T21" fmla="*/ 15 h 17"/>
                    <a:gd name="T22" fmla="*/ 29 w 104"/>
                    <a:gd name="T23" fmla="*/ 14 h 17"/>
                    <a:gd name="T24" fmla="*/ 21 w 104"/>
                    <a:gd name="T25" fmla="*/ 14 h 17"/>
                    <a:gd name="T26" fmla="*/ 14 w 104"/>
                    <a:gd name="T27" fmla="*/ 12 h 17"/>
                    <a:gd name="T28" fmla="*/ 8 w 104"/>
                    <a:gd name="T29" fmla="*/ 11 h 17"/>
                    <a:gd name="T30" fmla="*/ 4 w 104"/>
                    <a:gd name="T31" fmla="*/ 10 h 17"/>
                    <a:gd name="T32" fmla="*/ 1 w 104"/>
                    <a:gd name="T33" fmla="*/ 8 h 17"/>
                    <a:gd name="T34" fmla="*/ 0 w 104"/>
                    <a:gd name="T35" fmla="*/ 6 h 17"/>
                    <a:gd name="T36" fmla="*/ 0 w 104"/>
                    <a:gd name="T37" fmla="*/ 0 h 17"/>
                    <a:gd name="T38" fmla="*/ 0 w 104"/>
                    <a:gd name="T39" fmla="*/ 2 h 17"/>
                    <a:gd name="T40" fmla="*/ 3 w 104"/>
                    <a:gd name="T41" fmla="*/ 4 h 17"/>
                    <a:gd name="T42" fmla="*/ 6 w 104"/>
                    <a:gd name="T43" fmla="*/ 5 h 17"/>
                    <a:gd name="T44" fmla="*/ 12 w 104"/>
                    <a:gd name="T45" fmla="*/ 6 h 17"/>
                    <a:gd name="T46" fmla="*/ 17 w 104"/>
                    <a:gd name="T47" fmla="*/ 8 h 17"/>
                    <a:gd name="T48" fmla="*/ 25 w 104"/>
                    <a:gd name="T49" fmla="*/ 9 h 17"/>
                    <a:gd name="T50" fmla="*/ 33 w 104"/>
                    <a:gd name="T51" fmla="*/ 10 h 17"/>
                    <a:gd name="T52" fmla="*/ 42 w 104"/>
                    <a:gd name="T53" fmla="*/ 10 h 17"/>
                    <a:gd name="T54" fmla="*/ 51 w 104"/>
                    <a:gd name="T55" fmla="*/ 10 h 17"/>
                    <a:gd name="T56" fmla="*/ 60 w 104"/>
                    <a:gd name="T57" fmla="*/ 10 h 17"/>
                    <a:gd name="T58" fmla="*/ 69 w 104"/>
                    <a:gd name="T59" fmla="*/ 10 h 17"/>
                    <a:gd name="T60" fmla="*/ 76 w 104"/>
                    <a:gd name="T61" fmla="*/ 9 h 17"/>
                    <a:gd name="T62" fmla="*/ 84 w 104"/>
                    <a:gd name="T63" fmla="*/ 8 h 17"/>
                    <a:gd name="T64" fmla="*/ 90 w 104"/>
                    <a:gd name="T65" fmla="*/ 6 h 17"/>
                    <a:gd name="T66" fmla="*/ 95 w 104"/>
                    <a:gd name="T67" fmla="*/ 5 h 17"/>
                    <a:gd name="T68" fmla="*/ 99 w 104"/>
                    <a:gd name="T69" fmla="*/ 4 h 17"/>
                    <a:gd name="T70" fmla="*/ 102 w 104"/>
                    <a:gd name="T71" fmla="*/ 2 h 17"/>
                    <a:gd name="T72" fmla="*/ 103 w 104"/>
                    <a:gd name="T73" fmla="*/ 0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04"/>
                    <a:gd name="T112" fmla="*/ 0 h 17"/>
                    <a:gd name="T113" fmla="*/ 104 w 104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04" h="17">
                      <a:moveTo>
                        <a:pt x="103" y="5"/>
                      </a:moveTo>
                      <a:lnTo>
                        <a:pt x="102" y="6"/>
                      </a:lnTo>
                      <a:lnTo>
                        <a:pt x="102" y="7"/>
                      </a:lnTo>
                      <a:lnTo>
                        <a:pt x="101" y="8"/>
                      </a:lnTo>
                      <a:lnTo>
                        <a:pt x="99" y="8"/>
                      </a:lnTo>
                      <a:lnTo>
                        <a:pt x="97" y="10"/>
                      </a:lnTo>
                      <a:lnTo>
                        <a:pt x="95" y="10"/>
                      </a:lnTo>
                      <a:lnTo>
                        <a:pt x="93" y="11"/>
                      </a:lnTo>
                      <a:lnTo>
                        <a:pt x="90" y="12"/>
                      </a:lnTo>
                      <a:lnTo>
                        <a:pt x="87" y="12"/>
                      </a:lnTo>
                      <a:lnTo>
                        <a:pt x="84" y="13"/>
                      </a:lnTo>
                      <a:lnTo>
                        <a:pt x="80" y="14"/>
                      </a:lnTo>
                      <a:lnTo>
                        <a:pt x="76" y="14"/>
                      </a:lnTo>
                      <a:lnTo>
                        <a:pt x="72" y="14"/>
                      </a:lnTo>
                      <a:lnTo>
                        <a:pt x="69" y="15"/>
                      </a:lnTo>
                      <a:lnTo>
                        <a:pt x="64" y="15"/>
                      </a:lnTo>
                      <a:lnTo>
                        <a:pt x="60" y="16"/>
                      </a:lnTo>
                      <a:lnTo>
                        <a:pt x="55" y="16"/>
                      </a:lnTo>
                      <a:lnTo>
                        <a:pt x="51" y="16"/>
                      </a:lnTo>
                      <a:lnTo>
                        <a:pt x="46" y="16"/>
                      </a:lnTo>
                      <a:lnTo>
                        <a:pt x="42" y="16"/>
                      </a:lnTo>
                      <a:lnTo>
                        <a:pt x="37" y="15"/>
                      </a:lnTo>
                      <a:lnTo>
                        <a:pt x="33" y="15"/>
                      </a:lnTo>
                      <a:lnTo>
                        <a:pt x="29" y="14"/>
                      </a:lnTo>
                      <a:lnTo>
                        <a:pt x="25" y="14"/>
                      </a:lnTo>
                      <a:lnTo>
                        <a:pt x="21" y="14"/>
                      </a:lnTo>
                      <a:lnTo>
                        <a:pt x="17" y="13"/>
                      </a:lnTo>
                      <a:lnTo>
                        <a:pt x="14" y="12"/>
                      </a:lnTo>
                      <a:lnTo>
                        <a:pt x="12" y="12"/>
                      </a:lnTo>
                      <a:lnTo>
                        <a:pt x="8" y="11"/>
                      </a:lnTo>
                      <a:lnTo>
                        <a:pt x="6" y="10"/>
                      </a:lnTo>
                      <a:lnTo>
                        <a:pt x="4" y="10"/>
                      </a:lnTo>
                      <a:lnTo>
                        <a:pt x="3" y="8"/>
                      </a:lnTo>
                      <a:lnTo>
                        <a:pt x="1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1" y="2"/>
                      </a:lnTo>
                      <a:lnTo>
                        <a:pt x="3" y="4"/>
                      </a:lnTo>
                      <a:lnTo>
                        <a:pt x="4" y="4"/>
                      </a:lnTo>
                      <a:lnTo>
                        <a:pt x="6" y="5"/>
                      </a:lnTo>
                      <a:lnTo>
                        <a:pt x="8" y="6"/>
                      </a:lnTo>
                      <a:lnTo>
                        <a:pt x="12" y="6"/>
                      </a:lnTo>
                      <a:lnTo>
                        <a:pt x="14" y="7"/>
                      </a:lnTo>
                      <a:lnTo>
                        <a:pt x="17" y="8"/>
                      </a:lnTo>
                      <a:lnTo>
                        <a:pt x="21" y="8"/>
                      </a:lnTo>
                      <a:lnTo>
                        <a:pt x="25" y="9"/>
                      </a:lnTo>
                      <a:lnTo>
                        <a:pt x="29" y="10"/>
                      </a:lnTo>
                      <a:lnTo>
                        <a:pt x="33" y="10"/>
                      </a:lnTo>
                      <a:lnTo>
                        <a:pt x="37" y="10"/>
                      </a:lnTo>
                      <a:lnTo>
                        <a:pt x="42" y="10"/>
                      </a:lnTo>
                      <a:lnTo>
                        <a:pt x="46" y="10"/>
                      </a:lnTo>
                      <a:lnTo>
                        <a:pt x="51" y="10"/>
                      </a:lnTo>
                      <a:lnTo>
                        <a:pt x="55" y="10"/>
                      </a:lnTo>
                      <a:lnTo>
                        <a:pt x="60" y="10"/>
                      </a:lnTo>
                      <a:lnTo>
                        <a:pt x="64" y="10"/>
                      </a:lnTo>
                      <a:lnTo>
                        <a:pt x="69" y="10"/>
                      </a:lnTo>
                      <a:lnTo>
                        <a:pt x="72" y="10"/>
                      </a:lnTo>
                      <a:lnTo>
                        <a:pt x="76" y="9"/>
                      </a:lnTo>
                      <a:lnTo>
                        <a:pt x="80" y="8"/>
                      </a:lnTo>
                      <a:lnTo>
                        <a:pt x="84" y="8"/>
                      </a:lnTo>
                      <a:lnTo>
                        <a:pt x="87" y="7"/>
                      </a:lnTo>
                      <a:lnTo>
                        <a:pt x="90" y="6"/>
                      </a:lnTo>
                      <a:lnTo>
                        <a:pt x="93" y="6"/>
                      </a:lnTo>
                      <a:lnTo>
                        <a:pt x="95" y="5"/>
                      </a:lnTo>
                      <a:lnTo>
                        <a:pt x="97" y="4"/>
                      </a:lnTo>
                      <a:lnTo>
                        <a:pt x="99" y="4"/>
                      </a:lnTo>
                      <a:lnTo>
                        <a:pt x="101" y="2"/>
                      </a:lnTo>
                      <a:lnTo>
                        <a:pt x="102" y="2"/>
                      </a:lnTo>
                      <a:lnTo>
                        <a:pt x="102" y="1"/>
                      </a:lnTo>
                      <a:lnTo>
                        <a:pt x="103" y="0"/>
                      </a:lnTo>
                      <a:lnTo>
                        <a:pt x="103" y="5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66" name="Freeform 1287"/>
                <p:cNvSpPr>
                  <a:spLocks/>
                </p:cNvSpPr>
                <p:nvPr/>
              </p:nvSpPr>
              <p:spPr bwMode="auto">
                <a:xfrm>
                  <a:off x="3840" y="1486"/>
                  <a:ext cx="220" cy="77"/>
                </a:xfrm>
                <a:custGeom>
                  <a:avLst/>
                  <a:gdLst>
                    <a:gd name="T0" fmla="*/ 0 w 220"/>
                    <a:gd name="T1" fmla="*/ 76 h 77"/>
                    <a:gd name="T2" fmla="*/ 219 w 220"/>
                    <a:gd name="T3" fmla="*/ 76 h 77"/>
                    <a:gd name="T4" fmla="*/ 219 w 220"/>
                    <a:gd name="T5" fmla="*/ 0 h 77"/>
                    <a:gd name="T6" fmla="*/ 0 w 220"/>
                    <a:gd name="T7" fmla="*/ 0 h 77"/>
                    <a:gd name="T8" fmla="*/ 0 w 220"/>
                    <a:gd name="T9" fmla="*/ 76 h 7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77"/>
                    <a:gd name="T17" fmla="*/ 220 w 220"/>
                    <a:gd name="T18" fmla="*/ 77 h 7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77">
                      <a:moveTo>
                        <a:pt x="0" y="76"/>
                      </a:moveTo>
                      <a:lnTo>
                        <a:pt x="219" y="76"/>
                      </a:lnTo>
                      <a:lnTo>
                        <a:pt x="219" y="0"/>
                      </a:lnTo>
                      <a:lnTo>
                        <a:pt x="0" y="0"/>
                      </a:lnTo>
                      <a:lnTo>
                        <a:pt x="0" y="76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67" name="Freeform 1288"/>
                <p:cNvSpPr>
                  <a:spLocks/>
                </p:cNvSpPr>
                <p:nvPr/>
              </p:nvSpPr>
              <p:spPr bwMode="auto">
                <a:xfrm>
                  <a:off x="3875" y="1449"/>
                  <a:ext cx="69" cy="17"/>
                </a:xfrm>
                <a:custGeom>
                  <a:avLst/>
                  <a:gdLst>
                    <a:gd name="T0" fmla="*/ 0 w 69"/>
                    <a:gd name="T1" fmla="*/ 16 h 17"/>
                    <a:gd name="T2" fmla="*/ 0 w 69"/>
                    <a:gd name="T3" fmla="*/ 0 h 17"/>
                    <a:gd name="T4" fmla="*/ 68 w 69"/>
                    <a:gd name="T5" fmla="*/ 0 h 17"/>
                    <a:gd name="T6" fmla="*/ 68 w 69"/>
                    <a:gd name="T7" fmla="*/ 16 h 17"/>
                    <a:gd name="T8" fmla="*/ 0 w 69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9"/>
                    <a:gd name="T16" fmla="*/ 0 h 17"/>
                    <a:gd name="T17" fmla="*/ 69 w 69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9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68" y="0"/>
                      </a:lnTo>
                      <a:lnTo>
                        <a:pt x="68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68" name="Freeform 1289"/>
                <p:cNvSpPr>
                  <a:spLocks/>
                </p:cNvSpPr>
                <p:nvPr/>
              </p:nvSpPr>
              <p:spPr bwMode="auto">
                <a:xfrm>
                  <a:off x="3931" y="1450"/>
                  <a:ext cx="94" cy="17"/>
                </a:xfrm>
                <a:custGeom>
                  <a:avLst/>
                  <a:gdLst>
                    <a:gd name="T0" fmla="*/ 0 w 94"/>
                    <a:gd name="T1" fmla="*/ 16 h 17"/>
                    <a:gd name="T2" fmla="*/ 0 w 94"/>
                    <a:gd name="T3" fmla="*/ 0 h 17"/>
                    <a:gd name="T4" fmla="*/ 93 w 94"/>
                    <a:gd name="T5" fmla="*/ 0 h 17"/>
                    <a:gd name="T6" fmla="*/ 93 w 94"/>
                    <a:gd name="T7" fmla="*/ 16 h 17"/>
                    <a:gd name="T8" fmla="*/ 0 w 94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4"/>
                    <a:gd name="T16" fmla="*/ 0 h 17"/>
                    <a:gd name="T17" fmla="*/ 94 w 9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4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93" y="0"/>
                      </a:lnTo>
                      <a:lnTo>
                        <a:pt x="93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69" name="Freeform 1290"/>
                <p:cNvSpPr>
                  <a:spLocks/>
                </p:cNvSpPr>
                <p:nvPr/>
              </p:nvSpPr>
              <p:spPr bwMode="auto">
                <a:xfrm>
                  <a:off x="3877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70" name="Freeform 1291"/>
                <p:cNvSpPr>
                  <a:spLocks/>
                </p:cNvSpPr>
                <p:nvPr/>
              </p:nvSpPr>
              <p:spPr bwMode="auto">
                <a:xfrm>
                  <a:off x="388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4 w 17"/>
                    <a:gd name="T7" fmla="*/ 16 h 17"/>
                    <a:gd name="T8" fmla="*/ 8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71" name="Freeform 1292"/>
                <p:cNvSpPr>
                  <a:spLocks/>
                </p:cNvSpPr>
                <p:nvPr/>
              </p:nvSpPr>
              <p:spPr bwMode="auto">
                <a:xfrm>
                  <a:off x="388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72" name="Freeform 1293"/>
                <p:cNvSpPr>
                  <a:spLocks/>
                </p:cNvSpPr>
                <p:nvPr/>
              </p:nvSpPr>
              <p:spPr bwMode="auto">
                <a:xfrm>
                  <a:off x="388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73" name="Freeform 1294"/>
                <p:cNvSpPr>
                  <a:spLocks/>
                </p:cNvSpPr>
                <p:nvPr/>
              </p:nvSpPr>
              <p:spPr bwMode="auto">
                <a:xfrm>
                  <a:off x="388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74" name="Freeform 1295"/>
                <p:cNvSpPr>
                  <a:spLocks/>
                </p:cNvSpPr>
                <p:nvPr/>
              </p:nvSpPr>
              <p:spPr bwMode="auto">
                <a:xfrm>
                  <a:off x="389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75" name="Freeform 1296"/>
                <p:cNvSpPr>
                  <a:spLocks/>
                </p:cNvSpPr>
                <p:nvPr/>
              </p:nvSpPr>
              <p:spPr bwMode="auto">
                <a:xfrm>
                  <a:off x="389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76" name="Freeform 1297"/>
                <p:cNvSpPr>
                  <a:spLocks/>
                </p:cNvSpPr>
                <p:nvPr/>
              </p:nvSpPr>
              <p:spPr bwMode="auto">
                <a:xfrm>
                  <a:off x="3894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77" name="Freeform 1298"/>
                <p:cNvSpPr>
                  <a:spLocks/>
                </p:cNvSpPr>
                <p:nvPr/>
              </p:nvSpPr>
              <p:spPr bwMode="auto">
                <a:xfrm>
                  <a:off x="389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78" name="Freeform 1299"/>
                <p:cNvSpPr>
                  <a:spLocks/>
                </p:cNvSpPr>
                <p:nvPr/>
              </p:nvSpPr>
              <p:spPr bwMode="auto">
                <a:xfrm>
                  <a:off x="390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79" name="Freeform 1300"/>
                <p:cNvSpPr>
                  <a:spLocks/>
                </p:cNvSpPr>
                <p:nvPr/>
              </p:nvSpPr>
              <p:spPr bwMode="auto">
                <a:xfrm>
                  <a:off x="390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0 w 17"/>
                    <a:gd name="T5" fmla="*/ 16 h 17"/>
                    <a:gd name="T6" fmla="*/ 8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0" y="16"/>
                      </a:lnTo>
                      <a:lnTo>
                        <a:pt x="8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80" name="Freeform 1301"/>
                <p:cNvSpPr>
                  <a:spLocks/>
                </p:cNvSpPr>
                <p:nvPr/>
              </p:nvSpPr>
              <p:spPr bwMode="auto">
                <a:xfrm>
                  <a:off x="390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6 h 17"/>
                    <a:gd name="T6" fmla="*/ 8 w 17"/>
                    <a:gd name="T7" fmla="*/ 16 h 17"/>
                    <a:gd name="T8" fmla="*/ 12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81" name="Freeform 1302"/>
                <p:cNvSpPr>
                  <a:spLocks/>
                </p:cNvSpPr>
                <p:nvPr/>
              </p:nvSpPr>
              <p:spPr bwMode="auto">
                <a:xfrm>
                  <a:off x="390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82" name="Freeform 1303"/>
                <p:cNvSpPr>
                  <a:spLocks/>
                </p:cNvSpPr>
                <p:nvPr/>
              </p:nvSpPr>
              <p:spPr bwMode="auto">
                <a:xfrm>
                  <a:off x="391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83" name="Freeform 1304"/>
                <p:cNvSpPr>
                  <a:spLocks/>
                </p:cNvSpPr>
                <p:nvPr/>
              </p:nvSpPr>
              <p:spPr bwMode="auto">
                <a:xfrm>
                  <a:off x="391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84" name="Freeform 1305"/>
                <p:cNvSpPr>
                  <a:spLocks/>
                </p:cNvSpPr>
                <p:nvPr/>
              </p:nvSpPr>
              <p:spPr bwMode="auto">
                <a:xfrm>
                  <a:off x="3916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85" name="Freeform 1306"/>
                <p:cNvSpPr>
                  <a:spLocks/>
                </p:cNvSpPr>
                <p:nvPr/>
              </p:nvSpPr>
              <p:spPr bwMode="auto">
                <a:xfrm>
                  <a:off x="391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86" name="Freeform 1307"/>
                <p:cNvSpPr>
                  <a:spLocks/>
                </p:cNvSpPr>
                <p:nvPr/>
              </p:nvSpPr>
              <p:spPr bwMode="auto">
                <a:xfrm>
                  <a:off x="3921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87" name="Freeform 1308"/>
                <p:cNvSpPr>
                  <a:spLocks/>
                </p:cNvSpPr>
                <p:nvPr/>
              </p:nvSpPr>
              <p:spPr bwMode="auto">
                <a:xfrm>
                  <a:off x="392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88" name="Freeform 1309"/>
                <p:cNvSpPr>
                  <a:spLocks/>
                </p:cNvSpPr>
                <p:nvPr/>
              </p:nvSpPr>
              <p:spPr bwMode="auto">
                <a:xfrm>
                  <a:off x="392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89" name="Freeform 1310"/>
                <p:cNvSpPr>
                  <a:spLocks/>
                </p:cNvSpPr>
                <p:nvPr/>
              </p:nvSpPr>
              <p:spPr bwMode="auto">
                <a:xfrm>
                  <a:off x="3855" y="1279"/>
                  <a:ext cx="187" cy="174"/>
                </a:xfrm>
                <a:custGeom>
                  <a:avLst/>
                  <a:gdLst>
                    <a:gd name="T0" fmla="*/ 180 w 187"/>
                    <a:gd name="T1" fmla="*/ 173 h 174"/>
                    <a:gd name="T2" fmla="*/ 180 w 187"/>
                    <a:gd name="T3" fmla="*/ 173 h 174"/>
                    <a:gd name="T4" fmla="*/ 180 w 187"/>
                    <a:gd name="T5" fmla="*/ 172 h 174"/>
                    <a:gd name="T6" fmla="*/ 182 w 187"/>
                    <a:gd name="T7" fmla="*/ 172 h 174"/>
                    <a:gd name="T8" fmla="*/ 182 w 187"/>
                    <a:gd name="T9" fmla="*/ 172 h 174"/>
                    <a:gd name="T10" fmla="*/ 183 w 187"/>
                    <a:gd name="T11" fmla="*/ 171 h 174"/>
                    <a:gd name="T12" fmla="*/ 183 w 187"/>
                    <a:gd name="T13" fmla="*/ 171 h 174"/>
                    <a:gd name="T14" fmla="*/ 184 w 187"/>
                    <a:gd name="T15" fmla="*/ 171 h 174"/>
                    <a:gd name="T16" fmla="*/ 184 w 187"/>
                    <a:gd name="T17" fmla="*/ 170 h 174"/>
                    <a:gd name="T18" fmla="*/ 184 w 187"/>
                    <a:gd name="T19" fmla="*/ 170 h 174"/>
                    <a:gd name="T20" fmla="*/ 184 w 187"/>
                    <a:gd name="T21" fmla="*/ 169 h 174"/>
                    <a:gd name="T22" fmla="*/ 185 w 187"/>
                    <a:gd name="T23" fmla="*/ 169 h 174"/>
                    <a:gd name="T24" fmla="*/ 185 w 187"/>
                    <a:gd name="T25" fmla="*/ 168 h 174"/>
                    <a:gd name="T26" fmla="*/ 186 w 187"/>
                    <a:gd name="T27" fmla="*/ 167 h 174"/>
                    <a:gd name="T28" fmla="*/ 186 w 187"/>
                    <a:gd name="T29" fmla="*/ 167 h 174"/>
                    <a:gd name="T30" fmla="*/ 186 w 187"/>
                    <a:gd name="T31" fmla="*/ 6 h 174"/>
                    <a:gd name="T32" fmla="*/ 186 w 187"/>
                    <a:gd name="T33" fmla="*/ 5 h 174"/>
                    <a:gd name="T34" fmla="*/ 186 w 187"/>
                    <a:gd name="T35" fmla="*/ 5 h 174"/>
                    <a:gd name="T36" fmla="*/ 185 w 187"/>
                    <a:gd name="T37" fmla="*/ 5 h 174"/>
                    <a:gd name="T38" fmla="*/ 185 w 187"/>
                    <a:gd name="T39" fmla="*/ 3 h 174"/>
                    <a:gd name="T40" fmla="*/ 184 w 187"/>
                    <a:gd name="T41" fmla="*/ 3 h 174"/>
                    <a:gd name="T42" fmla="*/ 184 w 187"/>
                    <a:gd name="T43" fmla="*/ 2 h 174"/>
                    <a:gd name="T44" fmla="*/ 184 w 187"/>
                    <a:gd name="T45" fmla="*/ 1 h 174"/>
                    <a:gd name="T46" fmla="*/ 183 w 187"/>
                    <a:gd name="T47" fmla="*/ 1 h 174"/>
                    <a:gd name="T48" fmla="*/ 183 w 187"/>
                    <a:gd name="T49" fmla="*/ 1 h 174"/>
                    <a:gd name="T50" fmla="*/ 182 w 187"/>
                    <a:gd name="T51" fmla="*/ 1 h 174"/>
                    <a:gd name="T52" fmla="*/ 182 w 187"/>
                    <a:gd name="T53" fmla="*/ 0 h 174"/>
                    <a:gd name="T54" fmla="*/ 180 w 187"/>
                    <a:gd name="T55" fmla="*/ 0 h 174"/>
                    <a:gd name="T56" fmla="*/ 180 w 187"/>
                    <a:gd name="T57" fmla="*/ 0 h 174"/>
                    <a:gd name="T58" fmla="*/ 180 w 187"/>
                    <a:gd name="T59" fmla="*/ 0 h 174"/>
                    <a:gd name="T60" fmla="*/ 5 w 187"/>
                    <a:gd name="T61" fmla="*/ 0 h 174"/>
                    <a:gd name="T62" fmla="*/ 4 w 187"/>
                    <a:gd name="T63" fmla="*/ 0 h 174"/>
                    <a:gd name="T64" fmla="*/ 3 w 187"/>
                    <a:gd name="T65" fmla="*/ 0 h 174"/>
                    <a:gd name="T66" fmla="*/ 3 w 187"/>
                    <a:gd name="T67" fmla="*/ 0 h 174"/>
                    <a:gd name="T68" fmla="*/ 2 w 187"/>
                    <a:gd name="T69" fmla="*/ 0 h 174"/>
                    <a:gd name="T70" fmla="*/ 2 w 187"/>
                    <a:gd name="T71" fmla="*/ 1 h 174"/>
                    <a:gd name="T72" fmla="*/ 1 w 187"/>
                    <a:gd name="T73" fmla="*/ 1 h 174"/>
                    <a:gd name="T74" fmla="*/ 1 w 187"/>
                    <a:gd name="T75" fmla="*/ 1 h 174"/>
                    <a:gd name="T76" fmla="*/ 1 w 187"/>
                    <a:gd name="T77" fmla="*/ 2 h 174"/>
                    <a:gd name="T78" fmla="*/ 0 w 187"/>
                    <a:gd name="T79" fmla="*/ 3 h 174"/>
                    <a:gd name="T80" fmla="*/ 0 w 187"/>
                    <a:gd name="T81" fmla="*/ 3 h 174"/>
                    <a:gd name="T82" fmla="*/ 0 w 187"/>
                    <a:gd name="T83" fmla="*/ 3 h 174"/>
                    <a:gd name="T84" fmla="*/ 0 w 187"/>
                    <a:gd name="T85" fmla="*/ 5 h 174"/>
                    <a:gd name="T86" fmla="*/ 0 w 187"/>
                    <a:gd name="T87" fmla="*/ 5 h 174"/>
                    <a:gd name="T88" fmla="*/ 0 w 187"/>
                    <a:gd name="T89" fmla="*/ 6 h 174"/>
                    <a:gd name="T90" fmla="*/ 0 w 187"/>
                    <a:gd name="T91" fmla="*/ 167 h 174"/>
                    <a:gd name="T92" fmla="*/ 0 w 187"/>
                    <a:gd name="T93" fmla="*/ 167 h 174"/>
                    <a:gd name="T94" fmla="*/ 0 w 187"/>
                    <a:gd name="T95" fmla="*/ 168 h 174"/>
                    <a:gd name="T96" fmla="*/ 0 w 187"/>
                    <a:gd name="T97" fmla="*/ 169 h 174"/>
                    <a:gd name="T98" fmla="*/ 0 w 187"/>
                    <a:gd name="T99" fmla="*/ 169 h 174"/>
                    <a:gd name="T100" fmla="*/ 0 w 187"/>
                    <a:gd name="T101" fmla="*/ 170 h 174"/>
                    <a:gd name="T102" fmla="*/ 1 w 187"/>
                    <a:gd name="T103" fmla="*/ 170 h 174"/>
                    <a:gd name="T104" fmla="*/ 1 w 187"/>
                    <a:gd name="T105" fmla="*/ 171 h 174"/>
                    <a:gd name="T106" fmla="*/ 1 w 187"/>
                    <a:gd name="T107" fmla="*/ 171 h 174"/>
                    <a:gd name="T108" fmla="*/ 2 w 187"/>
                    <a:gd name="T109" fmla="*/ 171 h 174"/>
                    <a:gd name="T110" fmla="*/ 2 w 187"/>
                    <a:gd name="T111" fmla="*/ 172 h 174"/>
                    <a:gd name="T112" fmla="*/ 2 w 187"/>
                    <a:gd name="T113" fmla="*/ 172 h 174"/>
                    <a:gd name="T114" fmla="*/ 3 w 187"/>
                    <a:gd name="T115" fmla="*/ 172 h 174"/>
                    <a:gd name="T116" fmla="*/ 3 w 187"/>
                    <a:gd name="T117" fmla="*/ 172 h 174"/>
                    <a:gd name="T118" fmla="*/ 4 w 187"/>
                    <a:gd name="T119" fmla="*/ 173 h 174"/>
                    <a:gd name="T120" fmla="*/ 5 w 187"/>
                    <a:gd name="T121" fmla="*/ 173 h 174"/>
                    <a:gd name="T122" fmla="*/ 180 w 187"/>
                    <a:gd name="T123" fmla="*/ 173 h 174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w 187"/>
                    <a:gd name="T187" fmla="*/ 0 h 174"/>
                    <a:gd name="T188" fmla="*/ 187 w 187"/>
                    <a:gd name="T189" fmla="*/ 174 h 174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T186" t="T187" r="T188" b="T189"/>
                  <a:pathLst>
                    <a:path w="187" h="174">
                      <a:moveTo>
                        <a:pt x="180" y="173"/>
                      </a:moveTo>
                      <a:lnTo>
                        <a:pt x="180" y="173"/>
                      </a:lnTo>
                      <a:lnTo>
                        <a:pt x="180" y="172"/>
                      </a:lnTo>
                      <a:lnTo>
                        <a:pt x="182" y="172"/>
                      </a:lnTo>
                      <a:lnTo>
                        <a:pt x="183" y="171"/>
                      </a:lnTo>
                      <a:lnTo>
                        <a:pt x="184" y="171"/>
                      </a:lnTo>
                      <a:lnTo>
                        <a:pt x="184" y="170"/>
                      </a:lnTo>
                      <a:lnTo>
                        <a:pt x="184" y="169"/>
                      </a:lnTo>
                      <a:lnTo>
                        <a:pt x="185" y="169"/>
                      </a:lnTo>
                      <a:lnTo>
                        <a:pt x="185" y="168"/>
                      </a:lnTo>
                      <a:lnTo>
                        <a:pt x="186" y="167"/>
                      </a:lnTo>
                      <a:lnTo>
                        <a:pt x="186" y="6"/>
                      </a:lnTo>
                      <a:lnTo>
                        <a:pt x="186" y="5"/>
                      </a:lnTo>
                      <a:lnTo>
                        <a:pt x="185" y="5"/>
                      </a:lnTo>
                      <a:lnTo>
                        <a:pt x="185" y="3"/>
                      </a:lnTo>
                      <a:lnTo>
                        <a:pt x="184" y="3"/>
                      </a:lnTo>
                      <a:lnTo>
                        <a:pt x="184" y="2"/>
                      </a:lnTo>
                      <a:lnTo>
                        <a:pt x="184" y="1"/>
                      </a:lnTo>
                      <a:lnTo>
                        <a:pt x="183" y="1"/>
                      </a:lnTo>
                      <a:lnTo>
                        <a:pt x="182" y="1"/>
                      </a:lnTo>
                      <a:lnTo>
                        <a:pt x="182" y="0"/>
                      </a:lnTo>
                      <a:lnTo>
                        <a:pt x="180" y="0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2" y="1"/>
                      </a:lnTo>
                      <a:lnTo>
                        <a:pt x="1" y="1"/>
                      </a:lnTo>
                      <a:lnTo>
                        <a:pt x="1" y="2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0" y="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0" y="169"/>
                      </a:lnTo>
                      <a:lnTo>
                        <a:pt x="0" y="170"/>
                      </a:lnTo>
                      <a:lnTo>
                        <a:pt x="1" y="170"/>
                      </a:lnTo>
                      <a:lnTo>
                        <a:pt x="1" y="171"/>
                      </a:lnTo>
                      <a:lnTo>
                        <a:pt x="2" y="171"/>
                      </a:lnTo>
                      <a:lnTo>
                        <a:pt x="2" y="172"/>
                      </a:lnTo>
                      <a:lnTo>
                        <a:pt x="3" y="172"/>
                      </a:lnTo>
                      <a:lnTo>
                        <a:pt x="4" y="173"/>
                      </a:lnTo>
                      <a:lnTo>
                        <a:pt x="5" y="173"/>
                      </a:lnTo>
                      <a:lnTo>
                        <a:pt x="180" y="173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90" name="Freeform 1311"/>
                <p:cNvSpPr>
                  <a:spLocks/>
                </p:cNvSpPr>
                <p:nvPr/>
              </p:nvSpPr>
              <p:spPr bwMode="auto">
                <a:xfrm>
                  <a:off x="3855" y="1281"/>
                  <a:ext cx="186" cy="172"/>
                </a:xfrm>
                <a:custGeom>
                  <a:avLst/>
                  <a:gdLst>
                    <a:gd name="T0" fmla="*/ 185 w 186"/>
                    <a:gd name="T1" fmla="*/ 165 h 172"/>
                    <a:gd name="T2" fmla="*/ 185 w 186"/>
                    <a:gd name="T3" fmla="*/ 166 h 172"/>
                    <a:gd name="T4" fmla="*/ 185 w 186"/>
                    <a:gd name="T5" fmla="*/ 167 h 172"/>
                    <a:gd name="T6" fmla="*/ 184 w 186"/>
                    <a:gd name="T7" fmla="*/ 167 h 172"/>
                    <a:gd name="T8" fmla="*/ 184 w 186"/>
                    <a:gd name="T9" fmla="*/ 168 h 172"/>
                    <a:gd name="T10" fmla="*/ 183 w 186"/>
                    <a:gd name="T11" fmla="*/ 169 h 172"/>
                    <a:gd name="T12" fmla="*/ 183 w 186"/>
                    <a:gd name="T13" fmla="*/ 169 h 172"/>
                    <a:gd name="T14" fmla="*/ 182 w 186"/>
                    <a:gd name="T15" fmla="*/ 170 h 172"/>
                    <a:gd name="T16" fmla="*/ 182 w 186"/>
                    <a:gd name="T17" fmla="*/ 170 h 172"/>
                    <a:gd name="T18" fmla="*/ 181 w 186"/>
                    <a:gd name="T19" fmla="*/ 170 h 172"/>
                    <a:gd name="T20" fmla="*/ 181 w 186"/>
                    <a:gd name="T21" fmla="*/ 171 h 172"/>
                    <a:gd name="T22" fmla="*/ 180 w 186"/>
                    <a:gd name="T23" fmla="*/ 171 h 172"/>
                    <a:gd name="T24" fmla="*/ 179 w 186"/>
                    <a:gd name="T25" fmla="*/ 171 h 172"/>
                    <a:gd name="T26" fmla="*/ 4 w 186"/>
                    <a:gd name="T27" fmla="*/ 171 h 172"/>
                    <a:gd name="T28" fmla="*/ 3 w 186"/>
                    <a:gd name="T29" fmla="*/ 171 h 172"/>
                    <a:gd name="T30" fmla="*/ 3 w 186"/>
                    <a:gd name="T31" fmla="*/ 171 h 172"/>
                    <a:gd name="T32" fmla="*/ 3 w 186"/>
                    <a:gd name="T33" fmla="*/ 170 h 172"/>
                    <a:gd name="T34" fmla="*/ 2 w 186"/>
                    <a:gd name="T35" fmla="*/ 170 h 172"/>
                    <a:gd name="T36" fmla="*/ 2 w 186"/>
                    <a:gd name="T37" fmla="*/ 170 h 172"/>
                    <a:gd name="T38" fmla="*/ 1 w 186"/>
                    <a:gd name="T39" fmla="*/ 169 h 172"/>
                    <a:gd name="T40" fmla="*/ 1 w 186"/>
                    <a:gd name="T41" fmla="*/ 169 h 172"/>
                    <a:gd name="T42" fmla="*/ 0 w 186"/>
                    <a:gd name="T43" fmla="*/ 169 h 172"/>
                    <a:gd name="T44" fmla="*/ 0 w 186"/>
                    <a:gd name="T45" fmla="*/ 168 h 172"/>
                    <a:gd name="T46" fmla="*/ 0 w 186"/>
                    <a:gd name="T47" fmla="*/ 167 h 172"/>
                    <a:gd name="T48" fmla="*/ 0 w 186"/>
                    <a:gd name="T49" fmla="*/ 167 h 172"/>
                    <a:gd name="T50" fmla="*/ 0 w 186"/>
                    <a:gd name="T51" fmla="*/ 166 h 172"/>
                    <a:gd name="T52" fmla="*/ 0 w 186"/>
                    <a:gd name="T53" fmla="*/ 165 h 172"/>
                    <a:gd name="T54" fmla="*/ 0 w 186"/>
                    <a:gd name="T55" fmla="*/ 5 h 172"/>
                    <a:gd name="T56" fmla="*/ 0 w 186"/>
                    <a:gd name="T57" fmla="*/ 4 h 172"/>
                    <a:gd name="T58" fmla="*/ 0 w 186"/>
                    <a:gd name="T59" fmla="*/ 3 h 172"/>
                    <a:gd name="T60" fmla="*/ 0 w 186"/>
                    <a:gd name="T61" fmla="*/ 3 h 172"/>
                    <a:gd name="T62" fmla="*/ 0 w 186"/>
                    <a:gd name="T63" fmla="*/ 2 h 172"/>
                    <a:gd name="T64" fmla="*/ 0 w 186"/>
                    <a:gd name="T65" fmla="*/ 2 h 172"/>
                    <a:gd name="T66" fmla="*/ 1 w 186"/>
                    <a:gd name="T67" fmla="*/ 1 h 172"/>
                    <a:gd name="T68" fmla="*/ 1 w 186"/>
                    <a:gd name="T69" fmla="*/ 1 h 172"/>
                    <a:gd name="T70" fmla="*/ 2 w 186"/>
                    <a:gd name="T71" fmla="*/ 1 h 172"/>
                    <a:gd name="T72" fmla="*/ 2 w 186"/>
                    <a:gd name="T73" fmla="*/ 0 h 172"/>
                    <a:gd name="T74" fmla="*/ 2 w 186"/>
                    <a:gd name="T75" fmla="*/ 0 h 172"/>
                    <a:gd name="T76" fmla="*/ 3 w 186"/>
                    <a:gd name="T77" fmla="*/ 0 h 172"/>
                    <a:gd name="T78" fmla="*/ 3 w 186"/>
                    <a:gd name="T79" fmla="*/ 0 h 172"/>
                    <a:gd name="T80" fmla="*/ 4 w 186"/>
                    <a:gd name="T81" fmla="*/ 0 h 172"/>
                    <a:gd name="T82" fmla="*/ 179 w 186"/>
                    <a:gd name="T83" fmla="*/ 0 h 172"/>
                    <a:gd name="T84" fmla="*/ 180 w 186"/>
                    <a:gd name="T85" fmla="*/ 0 h 172"/>
                    <a:gd name="T86" fmla="*/ 181 w 186"/>
                    <a:gd name="T87" fmla="*/ 0 h 172"/>
                    <a:gd name="T88" fmla="*/ 181 w 186"/>
                    <a:gd name="T89" fmla="*/ 0 h 172"/>
                    <a:gd name="T90" fmla="*/ 182 w 186"/>
                    <a:gd name="T91" fmla="*/ 0 h 172"/>
                    <a:gd name="T92" fmla="*/ 182 w 186"/>
                    <a:gd name="T93" fmla="*/ 1 h 172"/>
                    <a:gd name="T94" fmla="*/ 183 w 186"/>
                    <a:gd name="T95" fmla="*/ 1 h 172"/>
                    <a:gd name="T96" fmla="*/ 183 w 186"/>
                    <a:gd name="T97" fmla="*/ 1 h 172"/>
                    <a:gd name="T98" fmla="*/ 183 w 186"/>
                    <a:gd name="T99" fmla="*/ 2 h 172"/>
                    <a:gd name="T100" fmla="*/ 184 w 186"/>
                    <a:gd name="T101" fmla="*/ 2 h 172"/>
                    <a:gd name="T102" fmla="*/ 184 w 186"/>
                    <a:gd name="T103" fmla="*/ 3 h 172"/>
                    <a:gd name="T104" fmla="*/ 185 w 186"/>
                    <a:gd name="T105" fmla="*/ 3 h 172"/>
                    <a:gd name="T106" fmla="*/ 185 w 186"/>
                    <a:gd name="T107" fmla="*/ 4 h 172"/>
                    <a:gd name="T108" fmla="*/ 185 w 186"/>
                    <a:gd name="T109" fmla="*/ 5 h 172"/>
                    <a:gd name="T110" fmla="*/ 185 w 186"/>
                    <a:gd name="T111" fmla="*/ 165 h 172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86"/>
                    <a:gd name="T169" fmla="*/ 0 h 172"/>
                    <a:gd name="T170" fmla="*/ 186 w 186"/>
                    <a:gd name="T171" fmla="*/ 172 h 172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86" h="172">
                      <a:moveTo>
                        <a:pt x="185" y="165"/>
                      </a:moveTo>
                      <a:lnTo>
                        <a:pt x="185" y="166"/>
                      </a:lnTo>
                      <a:lnTo>
                        <a:pt x="185" y="167"/>
                      </a:lnTo>
                      <a:lnTo>
                        <a:pt x="184" y="167"/>
                      </a:lnTo>
                      <a:lnTo>
                        <a:pt x="184" y="168"/>
                      </a:lnTo>
                      <a:lnTo>
                        <a:pt x="183" y="169"/>
                      </a:lnTo>
                      <a:lnTo>
                        <a:pt x="182" y="170"/>
                      </a:lnTo>
                      <a:lnTo>
                        <a:pt x="181" y="170"/>
                      </a:lnTo>
                      <a:lnTo>
                        <a:pt x="181" y="171"/>
                      </a:lnTo>
                      <a:lnTo>
                        <a:pt x="180" y="171"/>
                      </a:lnTo>
                      <a:lnTo>
                        <a:pt x="179" y="171"/>
                      </a:lnTo>
                      <a:lnTo>
                        <a:pt x="4" y="171"/>
                      </a:lnTo>
                      <a:lnTo>
                        <a:pt x="3" y="171"/>
                      </a:lnTo>
                      <a:lnTo>
                        <a:pt x="3" y="170"/>
                      </a:lnTo>
                      <a:lnTo>
                        <a:pt x="2" y="170"/>
                      </a:lnTo>
                      <a:lnTo>
                        <a:pt x="1" y="169"/>
                      </a:lnTo>
                      <a:lnTo>
                        <a:pt x="0" y="169"/>
                      </a:lnTo>
                      <a:lnTo>
                        <a:pt x="0" y="168"/>
                      </a:lnTo>
                      <a:lnTo>
                        <a:pt x="0" y="167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79" y="0"/>
                      </a:lnTo>
                      <a:lnTo>
                        <a:pt x="180" y="0"/>
                      </a:lnTo>
                      <a:lnTo>
                        <a:pt x="181" y="0"/>
                      </a:lnTo>
                      <a:lnTo>
                        <a:pt x="182" y="0"/>
                      </a:lnTo>
                      <a:lnTo>
                        <a:pt x="182" y="1"/>
                      </a:lnTo>
                      <a:lnTo>
                        <a:pt x="183" y="1"/>
                      </a:lnTo>
                      <a:lnTo>
                        <a:pt x="183" y="2"/>
                      </a:lnTo>
                      <a:lnTo>
                        <a:pt x="184" y="2"/>
                      </a:lnTo>
                      <a:lnTo>
                        <a:pt x="184" y="3"/>
                      </a:lnTo>
                      <a:lnTo>
                        <a:pt x="185" y="3"/>
                      </a:lnTo>
                      <a:lnTo>
                        <a:pt x="185" y="4"/>
                      </a:lnTo>
                      <a:lnTo>
                        <a:pt x="185" y="5"/>
                      </a:lnTo>
                      <a:lnTo>
                        <a:pt x="185" y="165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91" name="Freeform 1312"/>
                <p:cNvSpPr>
                  <a:spLocks/>
                </p:cNvSpPr>
                <p:nvPr/>
              </p:nvSpPr>
              <p:spPr bwMode="auto">
                <a:xfrm>
                  <a:off x="3857" y="1281"/>
                  <a:ext cx="181" cy="171"/>
                </a:xfrm>
                <a:custGeom>
                  <a:avLst/>
                  <a:gdLst>
                    <a:gd name="T0" fmla="*/ 180 w 181"/>
                    <a:gd name="T1" fmla="*/ 3 h 171"/>
                    <a:gd name="T2" fmla="*/ 180 w 181"/>
                    <a:gd name="T3" fmla="*/ 3 h 171"/>
                    <a:gd name="T4" fmla="*/ 180 w 181"/>
                    <a:gd name="T5" fmla="*/ 2 h 171"/>
                    <a:gd name="T6" fmla="*/ 179 w 181"/>
                    <a:gd name="T7" fmla="*/ 2 h 171"/>
                    <a:gd name="T8" fmla="*/ 179 w 181"/>
                    <a:gd name="T9" fmla="*/ 1 h 171"/>
                    <a:gd name="T10" fmla="*/ 178 w 181"/>
                    <a:gd name="T11" fmla="*/ 1 h 171"/>
                    <a:gd name="T12" fmla="*/ 178 w 181"/>
                    <a:gd name="T13" fmla="*/ 0 h 171"/>
                    <a:gd name="T14" fmla="*/ 177 w 181"/>
                    <a:gd name="T15" fmla="*/ 0 h 171"/>
                    <a:gd name="T16" fmla="*/ 177 w 181"/>
                    <a:gd name="T17" fmla="*/ 0 h 171"/>
                    <a:gd name="T18" fmla="*/ 177 w 181"/>
                    <a:gd name="T19" fmla="*/ 0 h 171"/>
                    <a:gd name="T20" fmla="*/ 176 w 181"/>
                    <a:gd name="T21" fmla="*/ 0 h 171"/>
                    <a:gd name="T22" fmla="*/ 176 w 181"/>
                    <a:gd name="T23" fmla="*/ 0 h 171"/>
                    <a:gd name="T24" fmla="*/ 3 w 181"/>
                    <a:gd name="T25" fmla="*/ 0 h 171"/>
                    <a:gd name="T26" fmla="*/ 3 w 181"/>
                    <a:gd name="T27" fmla="*/ 0 h 171"/>
                    <a:gd name="T28" fmla="*/ 2 w 181"/>
                    <a:gd name="T29" fmla="*/ 0 h 171"/>
                    <a:gd name="T30" fmla="*/ 2 w 181"/>
                    <a:gd name="T31" fmla="*/ 0 h 171"/>
                    <a:gd name="T32" fmla="*/ 1 w 181"/>
                    <a:gd name="T33" fmla="*/ 0 h 171"/>
                    <a:gd name="T34" fmla="*/ 1 w 181"/>
                    <a:gd name="T35" fmla="*/ 0 h 171"/>
                    <a:gd name="T36" fmla="*/ 1 w 181"/>
                    <a:gd name="T37" fmla="*/ 1 h 171"/>
                    <a:gd name="T38" fmla="*/ 0 w 181"/>
                    <a:gd name="T39" fmla="*/ 1 h 171"/>
                    <a:gd name="T40" fmla="*/ 0 w 181"/>
                    <a:gd name="T41" fmla="*/ 1 h 171"/>
                    <a:gd name="T42" fmla="*/ 0 w 181"/>
                    <a:gd name="T43" fmla="*/ 2 h 171"/>
                    <a:gd name="T44" fmla="*/ 0 w 181"/>
                    <a:gd name="T45" fmla="*/ 3 h 171"/>
                    <a:gd name="T46" fmla="*/ 0 w 181"/>
                    <a:gd name="T47" fmla="*/ 3 h 171"/>
                    <a:gd name="T48" fmla="*/ 0 w 181"/>
                    <a:gd name="T49" fmla="*/ 166 h 171"/>
                    <a:gd name="T50" fmla="*/ 0 w 181"/>
                    <a:gd name="T51" fmla="*/ 166 h 171"/>
                    <a:gd name="T52" fmla="*/ 0 w 181"/>
                    <a:gd name="T53" fmla="*/ 167 h 171"/>
                    <a:gd name="T54" fmla="*/ 0 w 181"/>
                    <a:gd name="T55" fmla="*/ 168 h 171"/>
                    <a:gd name="T56" fmla="*/ 0 w 181"/>
                    <a:gd name="T57" fmla="*/ 168 h 171"/>
                    <a:gd name="T58" fmla="*/ 1 w 181"/>
                    <a:gd name="T59" fmla="*/ 168 h 171"/>
                    <a:gd name="T60" fmla="*/ 1 w 181"/>
                    <a:gd name="T61" fmla="*/ 169 h 171"/>
                    <a:gd name="T62" fmla="*/ 2 w 181"/>
                    <a:gd name="T63" fmla="*/ 169 h 171"/>
                    <a:gd name="T64" fmla="*/ 2 w 181"/>
                    <a:gd name="T65" fmla="*/ 169 h 171"/>
                    <a:gd name="T66" fmla="*/ 3 w 181"/>
                    <a:gd name="T67" fmla="*/ 170 h 171"/>
                    <a:gd name="T68" fmla="*/ 3 w 181"/>
                    <a:gd name="T69" fmla="*/ 170 h 171"/>
                    <a:gd name="T70" fmla="*/ 176 w 181"/>
                    <a:gd name="T71" fmla="*/ 170 h 171"/>
                    <a:gd name="T72" fmla="*/ 176 w 181"/>
                    <a:gd name="T73" fmla="*/ 169 h 171"/>
                    <a:gd name="T74" fmla="*/ 177 w 181"/>
                    <a:gd name="T75" fmla="*/ 169 h 171"/>
                    <a:gd name="T76" fmla="*/ 177 w 181"/>
                    <a:gd name="T77" fmla="*/ 169 h 171"/>
                    <a:gd name="T78" fmla="*/ 178 w 181"/>
                    <a:gd name="T79" fmla="*/ 169 h 171"/>
                    <a:gd name="T80" fmla="*/ 178 w 181"/>
                    <a:gd name="T81" fmla="*/ 168 h 171"/>
                    <a:gd name="T82" fmla="*/ 178 w 181"/>
                    <a:gd name="T83" fmla="*/ 168 h 171"/>
                    <a:gd name="T84" fmla="*/ 179 w 181"/>
                    <a:gd name="T85" fmla="*/ 168 h 171"/>
                    <a:gd name="T86" fmla="*/ 179 w 181"/>
                    <a:gd name="T87" fmla="*/ 167 h 171"/>
                    <a:gd name="T88" fmla="*/ 180 w 181"/>
                    <a:gd name="T89" fmla="*/ 166 h 171"/>
                    <a:gd name="T90" fmla="*/ 180 w 181"/>
                    <a:gd name="T91" fmla="*/ 166 h 171"/>
                    <a:gd name="T92" fmla="*/ 180 w 181"/>
                    <a:gd name="T93" fmla="*/ 3 h 171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w 181"/>
                    <a:gd name="T142" fmla="*/ 0 h 171"/>
                    <a:gd name="T143" fmla="*/ 181 w 181"/>
                    <a:gd name="T144" fmla="*/ 171 h 171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T141" t="T142" r="T143" b="T144"/>
                  <a:pathLst>
                    <a:path w="181" h="171">
                      <a:moveTo>
                        <a:pt x="180" y="3"/>
                      </a:moveTo>
                      <a:lnTo>
                        <a:pt x="180" y="3"/>
                      </a:lnTo>
                      <a:lnTo>
                        <a:pt x="180" y="2"/>
                      </a:lnTo>
                      <a:lnTo>
                        <a:pt x="179" y="2"/>
                      </a:lnTo>
                      <a:lnTo>
                        <a:pt x="179" y="1"/>
                      </a:lnTo>
                      <a:lnTo>
                        <a:pt x="178" y="1"/>
                      </a:lnTo>
                      <a:lnTo>
                        <a:pt x="178" y="0"/>
                      </a:lnTo>
                      <a:lnTo>
                        <a:pt x="177" y="0"/>
                      </a:lnTo>
                      <a:lnTo>
                        <a:pt x="17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16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1" y="169"/>
                      </a:lnTo>
                      <a:lnTo>
                        <a:pt x="2" y="169"/>
                      </a:lnTo>
                      <a:lnTo>
                        <a:pt x="3" y="170"/>
                      </a:lnTo>
                      <a:lnTo>
                        <a:pt x="176" y="170"/>
                      </a:lnTo>
                      <a:lnTo>
                        <a:pt x="176" y="169"/>
                      </a:lnTo>
                      <a:lnTo>
                        <a:pt x="177" y="169"/>
                      </a:lnTo>
                      <a:lnTo>
                        <a:pt x="178" y="169"/>
                      </a:lnTo>
                      <a:lnTo>
                        <a:pt x="178" y="168"/>
                      </a:lnTo>
                      <a:lnTo>
                        <a:pt x="179" y="168"/>
                      </a:lnTo>
                      <a:lnTo>
                        <a:pt x="179" y="167"/>
                      </a:lnTo>
                      <a:lnTo>
                        <a:pt x="180" y="166"/>
                      </a:lnTo>
                      <a:lnTo>
                        <a:pt x="180" y="3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92" name="Freeform 1313"/>
                <p:cNvSpPr>
                  <a:spLocks/>
                </p:cNvSpPr>
                <p:nvPr/>
              </p:nvSpPr>
              <p:spPr bwMode="auto">
                <a:xfrm>
                  <a:off x="3858" y="1282"/>
                  <a:ext cx="180" cy="168"/>
                </a:xfrm>
                <a:custGeom>
                  <a:avLst/>
                  <a:gdLst>
                    <a:gd name="T0" fmla="*/ 179 w 180"/>
                    <a:gd name="T1" fmla="*/ 163 h 168"/>
                    <a:gd name="T2" fmla="*/ 179 w 180"/>
                    <a:gd name="T3" fmla="*/ 164 h 168"/>
                    <a:gd name="T4" fmla="*/ 178 w 180"/>
                    <a:gd name="T5" fmla="*/ 165 h 168"/>
                    <a:gd name="T6" fmla="*/ 178 w 180"/>
                    <a:gd name="T7" fmla="*/ 165 h 168"/>
                    <a:gd name="T8" fmla="*/ 177 w 180"/>
                    <a:gd name="T9" fmla="*/ 166 h 168"/>
                    <a:gd name="T10" fmla="*/ 177 w 180"/>
                    <a:gd name="T11" fmla="*/ 166 h 168"/>
                    <a:gd name="T12" fmla="*/ 176 w 180"/>
                    <a:gd name="T13" fmla="*/ 167 h 168"/>
                    <a:gd name="T14" fmla="*/ 176 w 180"/>
                    <a:gd name="T15" fmla="*/ 167 h 168"/>
                    <a:gd name="T16" fmla="*/ 2 w 180"/>
                    <a:gd name="T17" fmla="*/ 167 h 168"/>
                    <a:gd name="T18" fmla="*/ 2 w 180"/>
                    <a:gd name="T19" fmla="*/ 167 h 168"/>
                    <a:gd name="T20" fmla="*/ 1 w 180"/>
                    <a:gd name="T21" fmla="*/ 167 h 168"/>
                    <a:gd name="T22" fmla="*/ 1 w 180"/>
                    <a:gd name="T23" fmla="*/ 166 h 168"/>
                    <a:gd name="T24" fmla="*/ 1 w 180"/>
                    <a:gd name="T25" fmla="*/ 166 h 168"/>
                    <a:gd name="T26" fmla="*/ 0 w 180"/>
                    <a:gd name="T27" fmla="*/ 166 h 168"/>
                    <a:gd name="T28" fmla="*/ 0 w 180"/>
                    <a:gd name="T29" fmla="*/ 165 h 168"/>
                    <a:gd name="T30" fmla="*/ 0 w 180"/>
                    <a:gd name="T31" fmla="*/ 165 h 168"/>
                    <a:gd name="T32" fmla="*/ 0 w 180"/>
                    <a:gd name="T33" fmla="*/ 165 h 168"/>
                    <a:gd name="T34" fmla="*/ 0 w 180"/>
                    <a:gd name="T35" fmla="*/ 164 h 168"/>
                    <a:gd name="T36" fmla="*/ 0 w 180"/>
                    <a:gd name="T37" fmla="*/ 163 h 168"/>
                    <a:gd name="T38" fmla="*/ 0 w 180"/>
                    <a:gd name="T39" fmla="*/ 3 h 168"/>
                    <a:gd name="T40" fmla="*/ 0 w 180"/>
                    <a:gd name="T41" fmla="*/ 2 h 168"/>
                    <a:gd name="T42" fmla="*/ 0 w 180"/>
                    <a:gd name="T43" fmla="*/ 1 h 168"/>
                    <a:gd name="T44" fmla="*/ 0 w 180"/>
                    <a:gd name="T45" fmla="*/ 1 h 168"/>
                    <a:gd name="T46" fmla="*/ 0 w 180"/>
                    <a:gd name="T47" fmla="*/ 1 h 168"/>
                    <a:gd name="T48" fmla="*/ 1 w 180"/>
                    <a:gd name="T49" fmla="*/ 0 h 168"/>
                    <a:gd name="T50" fmla="*/ 1 w 180"/>
                    <a:gd name="T51" fmla="*/ 0 h 168"/>
                    <a:gd name="T52" fmla="*/ 2 w 180"/>
                    <a:gd name="T53" fmla="*/ 0 h 168"/>
                    <a:gd name="T54" fmla="*/ 2 w 180"/>
                    <a:gd name="T55" fmla="*/ 0 h 168"/>
                    <a:gd name="T56" fmla="*/ 176 w 180"/>
                    <a:gd name="T57" fmla="*/ 0 h 168"/>
                    <a:gd name="T58" fmla="*/ 176 w 180"/>
                    <a:gd name="T59" fmla="*/ 0 h 168"/>
                    <a:gd name="T60" fmla="*/ 176 w 180"/>
                    <a:gd name="T61" fmla="*/ 0 h 168"/>
                    <a:gd name="T62" fmla="*/ 177 w 180"/>
                    <a:gd name="T63" fmla="*/ 0 h 168"/>
                    <a:gd name="T64" fmla="*/ 177 w 180"/>
                    <a:gd name="T65" fmla="*/ 0 h 168"/>
                    <a:gd name="T66" fmla="*/ 177 w 180"/>
                    <a:gd name="T67" fmla="*/ 1 h 168"/>
                    <a:gd name="T68" fmla="*/ 178 w 180"/>
                    <a:gd name="T69" fmla="*/ 1 h 168"/>
                    <a:gd name="T70" fmla="*/ 178 w 180"/>
                    <a:gd name="T71" fmla="*/ 1 h 168"/>
                    <a:gd name="T72" fmla="*/ 179 w 180"/>
                    <a:gd name="T73" fmla="*/ 2 h 168"/>
                    <a:gd name="T74" fmla="*/ 179 w 180"/>
                    <a:gd name="T75" fmla="*/ 3 h 168"/>
                    <a:gd name="T76" fmla="*/ 179 w 180"/>
                    <a:gd name="T77" fmla="*/ 16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80"/>
                    <a:gd name="T118" fmla="*/ 0 h 168"/>
                    <a:gd name="T119" fmla="*/ 180 w 180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80" h="168">
                      <a:moveTo>
                        <a:pt x="179" y="163"/>
                      </a:moveTo>
                      <a:lnTo>
                        <a:pt x="179" y="164"/>
                      </a:lnTo>
                      <a:lnTo>
                        <a:pt x="178" y="165"/>
                      </a:lnTo>
                      <a:lnTo>
                        <a:pt x="177" y="166"/>
                      </a:lnTo>
                      <a:lnTo>
                        <a:pt x="176" y="167"/>
                      </a:lnTo>
                      <a:lnTo>
                        <a:pt x="2" y="167"/>
                      </a:lnTo>
                      <a:lnTo>
                        <a:pt x="1" y="167"/>
                      </a:lnTo>
                      <a:lnTo>
                        <a:pt x="1" y="166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164"/>
                      </a:lnTo>
                      <a:lnTo>
                        <a:pt x="0" y="163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2" y="0"/>
                      </a:lnTo>
                      <a:lnTo>
                        <a:pt x="176" y="0"/>
                      </a:lnTo>
                      <a:lnTo>
                        <a:pt x="177" y="0"/>
                      </a:lnTo>
                      <a:lnTo>
                        <a:pt x="177" y="1"/>
                      </a:lnTo>
                      <a:lnTo>
                        <a:pt x="178" y="1"/>
                      </a:lnTo>
                      <a:lnTo>
                        <a:pt x="179" y="2"/>
                      </a:lnTo>
                      <a:lnTo>
                        <a:pt x="179" y="3"/>
                      </a:lnTo>
                      <a:lnTo>
                        <a:pt x="179" y="163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93" name="Freeform 1314"/>
                <p:cNvSpPr>
                  <a:spLocks/>
                </p:cNvSpPr>
                <p:nvPr/>
              </p:nvSpPr>
              <p:spPr bwMode="auto">
                <a:xfrm>
                  <a:off x="3877" y="1304"/>
                  <a:ext cx="142" cy="124"/>
                </a:xfrm>
                <a:custGeom>
                  <a:avLst/>
                  <a:gdLst>
                    <a:gd name="T0" fmla="*/ 0 w 142"/>
                    <a:gd name="T1" fmla="*/ 1 h 124"/>
                    <a:gd name="T2" fmla="*/ 1 w 142"/>
                    <a:gd name="T3" fmla="*/ 1 h 124"/>
                    <a:gd name="T4" fmla="*/ 1 w 142"/>
                    <a:gd name="T5" fmla="*/ 1 h 124"/>
                    <a:gd name="T6" fmla="*/ 2 w 142"/>
                    <a:gd name="T7" fmla="*/ 0 h 124"/>
                    <a:gd name="T8" fmla="*/ 2 w 142"/>
                    <a:gd name="T9" fmla="*/ 0 h 124"/>
                    <a:gd name="T10" fmla="*/ 3 w 142"/>
                    <a:gd name="T11" fmla="*/ 0 h 124"/>
                    <a:gd name="T12" fmla="*/ 3 w 142"/>
                    <a:gd name="T13" fmla="*/ 0 h 124"/>
                    <a:gd name="T14" fmla="*/ 4 w 142"/>
                    <a:gd name="T15" fmla="*/ 0 h 124"/>
                    <a:gd name="T16" fmla="*/ 135 w 142"/>
                    <a:gd name="T17" fmla="*/ 0 h 124"/>
                    <a:gd name="T18" fmla="*/ 136 w 142"/>
                    <a:gd name="T19" fmla="*/ 0 h 124"/>
                    <a:gd name="T20" fmla="*/ 137 w 142"/>
                    <a:gd name="T21" fmla="*/ 0 h 124"/>
                    <a:gd name="T22" fmla="*/ 137 w 142"/>
                    <a:gd name="T23" fmla="*/ 0 h 124"/>
                    <a:gd name="T24" fmla="*/ 138 w 142"/>
                    <a:gd name="T25" fmla="*/ 0 h 124"/>
                    <a:gd name="T26" fmla="*/ 138 w 142"/>
                    <a:gd name="T27" fmla="*/ 1 h 124"/>
                    <a:gd name="T28" fmla="*/ 139 w 142"/>
                    <a:gd name="T29" fmla="*/ 1 h 124"/>
                    <a:gd name="T30" fmla="*/ 139 w 142"/>
                    <a:gd name="T31" fmla="*/ 1 h 124"/>
                    <a:gd name="T32" fmla="*/ 140 w 142"/>
                    <a:gd name="T33" fmla="*/ 2 h 124"/>
                    <a:gd name="T34" fmla="*/ 140 w 142"/>
                    <a:gd name="T35" fmla="*/ 3 h 124"/>
                    <a:gd name="T36" fmla="*/ 141 w 142"/>
                    <a:gd name="T37" fmla="*/ 3 h 124"/>
                    <a:gd name="T38" fmla="*/ 141 w 142"/>
                    <a:gd name="T39" fmla="*/ 4 h 124"/>
                    <a:gd name="T40" fmla="*/ 141 w 142"/>
                    <a:gd name="T41" fmla="*/ 5 h 124"/>
                    <a:gd name="T42" fmla="*/ 141 w 142"/>
                    <a:gd name="T43" fmla="*/ 117 h 124"/>
                    <a:gd name="T44" fmla="*/ 141 w 142"/>
                    <a:gd name="T45" fmla="*/ 119 h 124"/>
                    <a:gd name="T46" fmla="*/ 140 w 142"/>
                    <a:gd name="T47" fmla="*/ 119 h 124"/>
                    <a:gd name="T48" fmla="*/ 140 w 142"/>
                    <a:gd name="T49" fmla="*/ 120 h 124"/>
                    <a:gd name="T50" fmla="*/ 139 w 142"/>
                    <a:gd name="T51" fmla="*/ 121 h 124"/>
                    <a:gd name="T52" fmla="*/ 139 w 142"/>
                    <a:gd name="T53" fmla="*/ 121 h 124"/>
                    <a:gd name="T54" fmla="*/ 138 w 142"/>
                    <a:gd name="T55" fmla="*/ 122 h 124"/>
                    <a:gd name="T56" fmla="*/ 138 w 142"/>
                    <a:gd name="T57" fmla="*/ 122 h 124"/>
                    <a:gd name="T58" fmla="*/ 137 w 142"/>
                    <a:gd name="T59" fmla="*/ 122 h 124"/>
                    <a:gd name="T60" fmla="*/ 137 w 142"/>
                    <a:gd name="T61" fmla="*/ 123 h 124"/>
                    <a:gd name="T62" fmla="*/ 136 w 142"/>
                    <a:gd name="T63" fmla="*/ 123 h 124"/>
                    <a:gd name="T64" fmla="*/ 135 w 142"/>
                    <a:gd name="T65" fmla="*/ 123 h 124"/>
                    <a:gd name="T66" fmla="*/ 4 w 142"/>
                    <a:gd name="T67" fmla="*/ 123 h 124"/>
                    <a:gd name="T68" fmla="*/ 3 w 142"/>
                    <a:gd name="T69" fmla="*/ 123 h 124"/>
                    <a:gd name="T70" fmla="*/ 3 w 142"/>
                    <a:gd name="T71" fmla="*/ 123 h 124"/>
                    <a:gd name="T72" fmla="*/ 2 w 142"/>
                    <a:gd name="T73" fmla="*/ 122 h 124"/>
                    <a:gd name="T74" fmla="*/ 2 w 142"/>
                    <a:gd name="T75" fmla="*/ 122 h 124"/>
                    <a:gd name="T76" fmla="*/ 1 w 142"/>
                    <a:gd name="T77" fmla="*/ 122 h 124"/>
                    <a:gd name="T78" fmla="*/ 1 w 142"/>
                    <a:gd name="T79" fmla="*/ 121 h 124"/>
                    <a:gd name="T80" fmla="*/ 0 w 142"/>
                    <a:gd name="T81" fmla="*/ 121 h 124"/>
                    <a:gd name="T82" fmla="*/ 0 w 142"/>
                    <a:gd name="T83" fmla="*/ 120 h 124"/>
                    <a:gd name="T84" fmla="*/ 0 w 142"/>
                    <a:gd name="T85" fmla="*/ 119 h 124"/>
                    <a:gd name="T86" fmla="*/ 0 w 142"/>
                    <a:gd name="T87" fmla="*/ 119 h 124"/>
                    <a:gd name="T88" fmla="*/ 0 w 142"/>
                    <a:gd name="T89" fmla="*/ 117 h 124"/>
                    <a:gd name="T90" fmla="*/ 0 w 142"/>
                    <a:gd name="T91" fmla="*/ 5 h 124"/>
                    <a:gd name="T92" fmla="*/ 0 w 142"/>
                    <a:gd name="T93" fmla="*/ 4 h 124"/>
                    <a:gd name="T94" fmla="*/ 0 w 142"/>
                    <a:gd name="T95" fmla="*/ 3 h 124"/>
                    <a:gd name="T96" fmla="*/ 0 w 142"/>
                    <a:gd name="T97" fmla="*/ 3 h 124"/>
                    <a:gd name="T98" fmla="*/ 0 w 142"/>
                    <a:gd name="T99" fmla="*/ 2 h 124"/>
                    <a:gd name="T100" fmla="*/ 0 w 142"/>
                    <a:gd name="T101" fmla="*/ 1 h 124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42"/>
                    <a:gd name="T154" fmla="*/ 0 h 124"/>
                    <a:gd name="T155" fmla="*/ 142 w 142"/>
                    <a:gd name="T156" fmla="*/ 124 h 124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42" h="124">
                      <a:moveTo>
                        <a:pt x="0" y="1"/>
                      </a:moveTo>
                      <a:lnTo>
                        <a:pt x="1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8" y="1"/>
                      </a:lnTo>
                      <a:lnTo>
                        <a:pt x="139" y="1"/>
                      </a:lnTo>
                      <a:lnTo>
                        <a:pt x="140" y="2"/>
                      </a:lnTo>
                      <a:lnTo>
                        <a:pt x="140" y="3"/>
                      </a:lnTo>
                      <a:lnTo>
                        <a:pt x="141" y="3"/>
                      </a:lnTo>
                      <a:lnTo>
                        <a:pt x="141" y="4"/>
                      </a:lnTo>
                      <a:lnTo>
                        <a:pt x="141" y="5"/>
                      </a:lnTo>
                      <a:lnTo>
                        <a:pt x="141" y="117"/>
                      </a:lnTo>
                      <a:lnTo>
                        <a:pt x="141" y="119"/>
                      </a:lnTo>
                      <a:lnTo>
                        <a:pt x="140" y="119"/>
                      </a:lnTo>
                      <a:lnTo>
                        <a:pt x="140" y="120"/>
                      </a:lnTo>
                      <a:lnTo>
                        <a:pt x="139" y="121"/>
                      </a:lnTo>
                      <a:lnTo>
                        <a:pt x="138" y="122"/>
                      </a:lnTo>
                      <a:lnTo>
                        <a:pt x="137" y="122"/>
                      </a:lnTo>
                      <a:lnTo>
                        <a:pt x="137" y="123"/>
                      </a:lnTo>
                      <a:lnTo>
                        <a:pt x="136" y="123"/>
                      </a:lnTo>
                      <a:lnTo>
                        <a:pt x="135" y="123"/>
                      </a:lnTo>
                      <a:lnTo>
                        <a:pt x="4" y="123"/>
                      </a:lnTo>
                      <a:lnTo>
                        <a:pt x="3" y="123"/>
                      </a:lnTo>
                      <a:lnTo>
                        <a:pt x="2" y="122"/>
                      </a:lnTo>
                      <a:lnTo>
                        <a:pt x="1" y="122"/>
                      </a:lnTo>
                      <a:lnTo>
                        <a:pt x="1" y="121"/>
                      </a:lnTo>
                      <a:lnTo>
                        <a:pt x="0" y="121"/>
                      </a:lnTo>
                      <a:lnTo>
                        <a:pt x="0" y="120"/>
                      </a:lnTo>
                      <a:lnTo>
                        <a:pt x="0" y="119"/>
                      </a:lnTo>
                      <a:lnTo>
                        <a:pt x="0" y="117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</a:path>
                  </a:pathLst>
                </a:custGeom>
                <a:gradFill rotWithShape="0">
                  <a:gsLst>
                    <a:gs pos="0">
                      <a:srgbClr val="1D2B4B"/>
                    </a:gs>
                    <a:gs pos="50000">
                      <a:srgbClr val="618FFD"/>
                    </a:gs>
                    <a:gs pos="100000">
                      <a:srgbClr val="1D2B4B"/>
                    </a:gs>
                  </a:gsLst>
                  <a:lin ang="2700000" scaled="1"/>
                </a:gra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94" name="Freeform 1315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4 h 17"/>
                    <a:gd name="T2" fmla="*/ 151 w 153"/>
                    <a:gd name="T3" fmla="*/ 3 h 17"/>
                    <a:gd name="T4" fmla="*/ 151 w 153"/>
                    <a:gd name="T5" fmla="*/ 2 h 17"/>
                    <a:gd name="T6" fmla="*/ 150 w 153"/>
                    <a:gd name="T7" fmla="*/ 2 h 17"/>
                    <a:gd name="T8" fmla="*/ 150 w 153"/>
                    <a:gd name="T9" fmla="*/ 2 h 17"/>
                    <a:gd name="T10" fmla="*/ 150 w 153"/>
                    <a:gd name="T11" fmla="*/ 1 h 17"/>
                    <a:gd name="T12" fmla="*/ 149 w 153"/>
                    <a:gd name="T13" fmla="*/ 1 h 17"/>
                    <a:gd name="T14" fmla="*/ 149 w 153"/>
                    <a:gd name="T15" fmla="*/ 1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1 h 17"/>
                    <a:gd name="T32" fmla="*/ 1 w 153"/>
                    <a:gd name="T33" fmla="*/ 1 h 17"/>
                    <a:gd name="T34" fmla="*/ 0 w 153"/>
                    <a:gd name="T35" fmla="*/ 2 h 17"/>
                    <a:gd name="T36" fmla="*/ 0 w 153"/>
                    <a:gd name="T37" fmla="*/ 2 h 17"/>
                    <a:gd name="T38" fmla="*/ 0 w 153"/>
                    <a:gd name="T39" fmla="*/ 3 h 17"/>
                    <a:gd name="T40" fmla="*/ 6 w 153"/>
                    <a:gd name="T41" fmla="*/ 16 h 17"/>
                    <a:gd name="T42" fmla="*/ 7 w 153"/>
                    <a:gd name="T43" fmla="*/ 14 h 17"/>
                    <a:gd name="T44" fmla="*/ 7 w 153"/>
                    <a:gd name="T45" fmla="*/ 14 h 17"/>
                    <a:gd name="T46" fmla="*/ 8 w 153"/>
                    <a:gd name="T47" fmla="*/ 13 h 17"/>
                    <a:gd name="T48" fmla="*/ 8 w 153"/>
                    <a:gd name="T49" fmla="*/ 13 h 17"/>
                    <a:gd name="T50" fmla="*/ 8 w 153"/>
                    <a:gd name="T51" fmla="*/ 12 h 17"/>
                    <a:gd name="T52" fmla="*/ 9 w 153"/>
                    <a:gd name="T53" fmla="*/ 12 h 17"/>
                    <a:gd name="T54" fmla="*/ 10 w 153"/>
                    <a:gd name="T55" fmla="*/ 12 h 17"/>
                    <a:gd name="T56" fmla="*/ 140 w 153"/>
                    <a:gd name="T57" fmla="*/ 12 h 17"/>
                    <a:gd name="T58" fmla="*/ 141 w 153"/>
                    <a:gd name="T59" fmla="*/ 12 h 17"/>
                    <a:gd name="T60" fmla="*/ 142 w 153"/>
                    <a:gd name="T61" fmla="*/ 12 h 17"/>
                    <a:gd name="T62" fmla="*/ 142 w 153"/>
                    <a:gd name="T63" fmla="*/ 13 h 17"/>
                    <a:gd name="T64" fmla="*/ 143 w 153"/>
                    <a:gd name="T65" fmla="*/ 13 h 17"/>
                    <a:gd name="T66" fmla="*/ 143 w 153"/>
                    <a:gd name="T67" fmla="*/ 14 h 17"/>
                    <a:gd name="T68" fmla="*/ 143 w 153"/>
                    <a:gd name="T69" fmla="*/ 14 h 17"/>
                    <a:gd name="T70" fmla="*/ 144 w 153"/>
                    <a:gd name="T71" fmla="*/ 14 h 17"/>
                    <a:gd name="T72" fmla="*/ 152 w 153"/>
                    <a:gd name="T73" fmla="*/ 4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53"/>
                    <a:gd name="T112" fmla="*/ 0 h 17"/>
                    <a:gd name="T113" fmla="*/ 153 w 153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53" h="17">
                      <a:moveTo>
                        <a:pt x="152" y="4"/>
                      </a:moveTo>
                      <a:lnTo>
                        <a:pt x="151" y="3"/>
                      </a:lnTo>
                      <a:lnTo>
                        <a:pt x="151" y="2"/>
                      </a:lnTo>
                      <a:lnTo>
                        <a:pt x="150" y="2"/>
                      </a:lnTo>
                      <a:lnTo>
                        <a:pt x="150" y="1"/>
                      </a:lnTo>
                      <a:lnTo>
                        <a:pt x="149" y="1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6" y="16"/>
                      </a:lnTo>
                      <a:lnTo>
                        <a:pt x="7" y="14"/>
                      </a:lnTo>
                      <a:lnTo>
                        <a:pt x="8" y="13"/>
                      </a:lnTo>
                      <a:lnTo>
                        <a:pt x="8" y="12"/>
                      </a:lnTo>
                      <a:lnTo>
                        <a:pt x="9" y="12"/>
                      </a:lnTo>
                      <a:lnTo>
                        <a:pt x="10" y="12"/>
                      </a:lnTo>
                      <a:lnTo>
                        <a:pt x="140" y="12"/>
                      </a:lnTo>
                      <a:lnTo>
                        <a:pt x="141" y="12"/>
                      </a:lnTo>
                      <a:lnTo>
                        <a:pt x="142" y="12"/>
                      </a:lnTo>
                      <a:lnTo>
                        <a:pt x="142" y="13"/>
                      </a:lnTo>
                      <a:lnTo>
                        <a:pt x="143" y="13"/>
                      </a:lnTo>
                      <a:lnTo>
                        <a:pt x="143" y="14"/>
                      </a:lnTo>
                      <a:lnTo>
                        <a:pt x="144" y="14"/>
                      </a:lnTo>
                      <a:lnTo>
                        <a:pt x="152" y="4"/>
                      </a:lnTo>
                    </a:path>
                  </a:pathLst>
                </a:custGeom>
                <a:solidFill>
                  <a:srgbClr val="9F9FA2"/>
                </a:solidFill>
                <a:ln w="12700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95" name="Freeform 1316"/>
                <p:cNvSpPr>
                  <a:spLocks/>
                </p:cNvSpPr>
                <p:nvPr/>
              </p:nvSpPr>
              <p:spPr bwMode="auto">
                <a:xfrm>
                  <a:off x="3870" y="1299"/>
                  <a:ext cx="17" cy="135"/>
                </a:xfrm>
                <a:custGeom>
                  <a:avLst/>
                  <a:gdLst>
                    <a:gd name="T0" fmla="*/ 2 w 17"/>
                    <a:gd name="T1" fmla="*/ 0 h 135"/>
                    <a:gd name="T2" fmla="*/ 1 w 17"/>
                    <a:gd name="T3" fmla="*/ 0 h 135"/>
                    <a:gd name="T4" fmla="*/ 0 w 17"/>
                    <a:gd name="T5" fmla="*/ 1 h 135"/>
                    <a:gd name="T6" fmla="*/ 0 w 17"/>
                    <a:gd name="T7" fmla="*/ 2 h 135"/>
                    <a:gd name="T8" fmla="*/ 0 w 17"/>
                    <a:gd name="T9" fmla="*/ 2 h 135"/>
                    <a:gd name="T10" fmla="*/ 0 w 17"/>
                    <a:gd name="T11" fmla="*/ 3 h 135"/>
                    <a:gd name="T12" fmla="*/ 0 w 17"/>
                    <a:gd name="T13" fmla="*/ 4 h 135"/>
                    <a:gd name="T14" fmla="*/ 0 w 17"/>
                    <a:gd name="T15" fmla="*/ 130 h 135"/>
                    <a:gd name="T16" fmla="*/ 0 w 17"/>
                    <a:gd name="T17" fmla="*/ 130 h 135"/>
                    <a:gd name="T18" fmla="*/ 0 w 17"/>
                    <a:gd name="T19" fmla="*/ 131 h 135"/>
                    <a:gd name="T20" fmla="*/ 0 w 17"/>
                    <a:gd name="T21" fmla="*/ 132 h 135"/>
                    <a:gd name="T22" fmla="*/ 0 w 17"/>
                    <a:gd name="T23" fmla="*/ 132 h 135"/>
                    <a:gd name="T24" fmla="*/ 1 w 17"/>
                    <a:gd name="T25" fmla="*/ 133 h 135"/>
                    <a:gd name="T26" fmla="*/ 2 w 17"/>
                    <a:gd name="T27" fmla="*/ 133 h 135"/>
                    <a:gd name="T28" fmla="*/ 2 w 17"/>
                    <a:gd name="T29" fmla="*/ 134 h 135"/>
                    <a:gd name="T30" fmla="*/ 3 w 17"/>
                    <a:gd name="T31" fmla="*/ 134 h 135"/>
                    <a:gd name="T32" fmla="*/ 16 w 17"/>
                    <a:gd name="T33" fmla="*/ 127 h 135"/>
                    <a:gd name="T34" fmla="*/ 15 w 17"/>
                    <a:gd name="T35" fmla="*/ 126 h 135"/>
                    <a:gd name="T36" fmla="*/ 15 w 17"/>
                    <a:gd name="T37" fmla="*/ 126 h 135"/>
                    <a:gd name="T38" fmla="*/ 14 w 17"/>
                    <a:gd name="T39" fmla="*/ 126 h 135"/>
                    <a:gd name="T40" fmla="*/ 14 w 17"/>
                    <a:gd name="T41" fmla="*/ 125 h 135"/>
                    <a:gd name="T42" fmla="*/ 13 w 17"/>
                    <a:gd name="T43" fmla="*/ 124 h 135"/>
                    <a:gd name="T44" fmla="*/ 13 w 17"/>
                    <a:gd name="T45" fmla="*/ 124 h 135"/>
                    <a:gd name="T46" fmla="*/ 13 w 17"/>
                    <a:gd name="T47" fmla="*/ 10 h 135"/>
                    <a:gd name="T48" fmla="*/ 13 w 17"/>
                    <a:gd name="T49" fmla="*/ 9 h 135"/>
                    <a:gd name="T50" fmla="*/ 13 w 17"/>
                    <a:gd name="T51" fmla="*/ 8 h 135"/>
                    <a:gd name="T52" fmla="*/ 14 w 17"/>
                    <a:gd name="T53" fmla="*/ 8 h 135"/>
                    <a:gd name="T54" fmla="*/ 15 w 17"/>
                    <a:gd name="T55" fmla="*/ 7 h 135"/>
                    <a:gd name="T56" fmla="*/ 15 w 17"/>
                    <a:gd name="T57" fmla="*/ 6 h 135"/>
                    <a:gd name="T58" fmla="*/ 2 w 17"/>
                    <a:gd name="T59" fmla="*/ 0 h 135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w 17"/>
                    <a:gd name="T91" fmla="*/ 0 h 135"/>
                    <a:gd name="T92" fmla="*/ 17 w 17"/>
                    <a:gd name="T93" fmla="*/ 135 h 135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T90" t="T91" r="T92" b="T93"/>
                  <a:pathLst>
                    <a:path w="17" h="135">
                      <a:moveTo>
                        <a:pt x="2" y="0"/>
                      </a:moveTo>
                      <a:lnTo>
                        <a:pt x="1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0" y="130"/>
                      </a:lnTo>
                      <a:lnTo>
                        <a:pt x="0" y="131"/>
                      </a:lnTo>
                      <a:lnTo>
                        <a:pt x="0" y="132"/>
                      </a:lnTo>
                      <a:lnTo>
                        <a:pt x="1" y="133"/>
                      </a:lnTo>
                      <a:lnTo>
                        <a:pt x="2" y="133"/>
                      </a:lnTo>
                      <a:lnTo>
                        <a:pt x="2" y="134"/>
                      </a:lnTo>
                      <a:lnTo>
                        <a:pt x="3" y="134"/>
                      </a:lnTo>
                      <a:lnTo>
                        <a:pt x="16" y="127"/>
                      </a:lnTo>
                      <a:lnTo>
                        <a:pt x="15" y="126"/>
                      </a:lnTo>
                      <a:lnTo>
                        <a:pt x="14" y="126"/>
                      </a:lnTo>
                      <a:lnTo>
                        <a:pt x="14" y="125"/>
                      </a:lnTo>
                      <a:lnTo>
                        <a:pt x="13" y="124"/>
                      </a:lnTo>
                      <a:lnTo>
                        <a:pt x="13" y="10"/>
                      </a:lnTo>
                      <a:lnTo>
                        <a:pt x="13" y="9"/>
                      </a:lnTo>
                      <a:lnTo>
                        <a:pt x="13" y="8"/>
                      </a:lnTo>
                      <a:lnTo>
                        <a:pt x="14" y="8"/>
                      </a:lnTo>
                      <a:lnTo>
                        <a:pt x="15" y="7"/>
                      </a:lnTo>
                      <a:lnTo>
                        <a:pt x="15" y="6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96" name="Freeform 1317"/>
                <p:cNvSpPr>
                  <a:spLocks/>
                </p:cNvSpPr>
                <p:nvPr/>
              </p:nvSpPr>
              <p:spPr bwMode="auto">
                <a:xfrm>
                  <a:off x="3872" y="1300"/>
                  <a:ext cx="155" cy="136"/>
                </a:xfrm>
                <a:custGeom>
                  <a:avLst/>
                  <a:gdLst>
                    <a:gd name="T0" fmla="*/ 0 w 155"/>
                    <a:gd name="T1" fmla="*/ 133 h 136"/>
                    <a:gd name="T2" fmla="*/ 0 w 155"/>
                    <a:gd name="T3" fmla="*/ 134 h 136"/>
                    <a:gd name="T4" fmla="*/ 0 w 155"/>
                    <a:gd name="T5" fmla="*/ 134 h 136"/>
                    <a:gd name="T6" fmla="*/ 1 w 155"/>
                    <a:gd name="T7" fmla="*/ 134 h 136"/>
                    <a:gd name="T8" fmla="*/ 1 w 155"/>
                    <a:gd name="T9" fmla="*/ 134 h 136"/>
                    <a:gd name="T10" fmla="*/ 2 w 155"/>
                    <a:gd name="T11" fmla="*/ 135 h 136"/>
                    <a:gd name="T12" fmla="*/ 2 w 155"/>
                    <a:gd name="T13" fmla="*/ 135 h 136"/>
                    <a:gd name="T14" fmla="*/ 3 w 155"/>
                    <a:gd name="T15" fmla="*/ 135 h 136"/>
                    <a:gd name="T16" fmla="*/ 148 w 155"/>
                    <a:gd name="T17" fmla="*/ 135 h 136"/>
                    <a:gd name="T18" fmla="*/ 150 w 155"/>
                    <a:gd name="T19" fmla="*/ 134 h 136"/>
                    <a:gd name="T20" fmla="*/ 151 w 155"/>
                    <a:gd name="T21" fmla="*/ 134 h 136"/>
                    <a:gd name="T22" fmla="*/ 151 w 155"/>
                    <a:gd name="T23" fmla="*/ 133 h 136"/>
                    <a:gd name="T24" fmla="*/ 152 w 155"/>
                    <a:gd name="T25" fmla="*/ 133 h 136"/>
                    <a:gd name="T26" fmla="*/ 152 w 155"/>
                    <a:gd name="T27" fmla="*/ 133 h 136"/>
                    <a:gd name="T28" fmla="*/ 153 w 155"/>
                    <a:gd name="T29" fmla="*/ 132 h 136"/>
                    <a:gd name="T30" fmla="*/ 153 w 155"/>
                    <a:gd name="T31" fmla="*/ 131 h 136"/>
                    <a:gd name="T32" fmla="*/ 154 w 155"/>
                    <a:gd name="T33" fmla="*/ 131 h 136"/>
                    <a:gd name="T34" fmla="*/ 154 w 155"/>
                    <a:gd name="T35" fmla="*/ 129 h 136"/>
                    <a:gd name="T36" fmla="*/ 154 w 155"/>
                    <a:gd name="T37" fmla="*/ 129 h 136"/>
                    <a:gd name="T38" fmla="*/ 154 w 155"/>
                    <a:gd name="T39" fmla="*/ 3 h 136"/>
                    <a:gd name="T40" fmla="*/ 154 w 155"/>
                    <a:gd name="T41" fmla="*/ 2 h 136"/>
                    <a:gd name="T42" fmla="*/ 154 w 155"/>
                    <a:gd name="T43" fmla="*/ 1 h 136"/>
                    <a:gd name="T44" fmla="*/ 154 w 155"/>
                    <a:gd name="T45" fmla="*/ 1 h 136"/>
                    <a:gd name="T46" fmla="*/ 153 w 155"/>
                    <a:gd name="T47" fmla="*/ 1 h 136"/>
                    <a:gd name="T48" fmla="*/ 153 w 155"/>
                    <a:gd name="T49" fmla="*/ 0 h 136"/>
                    <a:gd name="T50" fmla="*/ 153 w 155"/>
                    <a:gd name="T51" fmla="*/ 0 h 136"/>
                    <a:gd name="T52" fmla="*/ 145 w 155"/>
                    <a:gd name="T53" fmla="*/ 5 h 136"/>
                    <a:gd name="T54" fmla="*/ 145 w 155"/>
                    <a:gd name="T55" fmla="*/ 5 h 136"/>
                    <a:gd name="T56" fmla="*/ 146 w 155"/>
                    <a:gd name="T57" fmla="*/ 6 h 136"/>
                    <a:gd name="T58" fmla="*/ 146 w 155"/>
                    <a:gd name="T59" fmla="*/ 7 h 136"/>
                    <a:gd name="T60" fmla="*/ 146 w 155"/>
                    <a:gd name="T61" fmla="*/ 7 h 136"/>
                    <a:gd name="T62" fmla="*/ 146 w 155"/>
                    <a:gd name="T63" fmla="*/ 7 h 136"/>
                    <a:gd name="T64" fmla="*/ 146 w 155"/>
                    <a:gd name="T65" fmla="*/ 8 h 136"/>
                    <a:gd name="T66" fmla="*/ 146 w 155"/>
                    <a:gd name="T67" fmla="*/ 9 h 136"/>
                    <a:gd name="T68" fmla="*/ 146 w 155"/>
                    <a:gd name="T69" fmla="*/ 9 h 136"/>
                    <a:gd name="T70" fmla="*/ 146 w 155"/>
                    <a:gd name="T71" fmla="*/ 123 h 136"/>
                    <a:gd name="T72" fmla="*/ 146 w 155"/>
                    <a:gd name="T73" fmla="*/ 123 h 136"/>
                    <a:gd name="T74" fmla="*/ 146 w 155"/>
                    <a:gd name="T75" fmla="*/ 124 h 136"/>
                    <a:gd name="T76" fmla="*/ 146 w 155"/>
                    <a:gd name="T77" fmla="*/ 125 h 136"/>
                    <a:gd name="T78" fmla="*/ 146 w 155"/>
                    <a:gd name="T79" fmla="*/ 125 h 136"/>
                    <a:gd name="T80" fmla="*/ 145 w 155"/>
                    <a:gd name="T81" fmla="*/ 126 h 136"/>
                    <a:gd name="T82" fmla="*/ 145 w 155"/>
                    <a:gd name="T83" fmla="*/ 127 h 136"/>
                    <a:gd name="T84" fmla="*/ 144 w 155"/>
                    <a:gd name="T85" fmla="*/ 127 h 136"/>
                    <a:gd name="T86" fmla="*/ 143 w 155"/>
                    <a:gd name="T87" fmla="*/ 127 h 136"/>
                    <a:gd name="T88" fmla="*/ 143 w 155"/>
                    <a:gd name="T89" fmla="*/ 128 h 136"/>
                    <a:gd name="T90" fmla="*/ 142 w 155"/>
                    <a:gd name="T91" fmla="*/ 128 h 136"/>
                    <a:gd name="T92" fmla="*/ 142 w 155"/>
                    <a:gd name="T93" fmla="*/ 128 h 136"/>
                    <a:gd name="T94" fmla="*/ 9 w 155"/>
                    <a:gd name="T95" fmla="*/ 128 h 136"/>
                    <a:gd name="T96" fmla="*/ 8 w 155"/>
                    <a:gd name="T97" fmla="*/ 128 h 136"/>
                    <a:gd name="T98" fmla="*/ 8 w 155"/>
                    <a:gd name="T99" fmla="*/ 128 h 136"/>
                    <a:gd name="T100" fmla="*/ 8 w 155"/>
                    <a:gd name="T101" fmla="*/ 127 h 136"/>
                    <a:gd name="T102" fmla="*/ 7 w 155"/>
                    <a:gd name="T103" fmla="*/ 127 h 136"/>
                    <a:gd name="T104" fmla="*/ 7 w 155"/>
                    <a:gd name="T105" fmla="*/ 127 h 136"/>
                    <a:gd name="T106" fmla="*/ 6 w 155"/>
                    <a:gd name="T107" fmla="*/ 127 h 136"/>
                    <a:gd name="T108" fmla="*/ 6 w 155"/>
                    <a:gd name="T109" fmla="*/ 127 h 136"/>
                    <a:gd name="T110" fmla="*/ 0 w 155"/>
                    <a:gd name="T111" fmla="*/ 133 h 1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55"/>
                    <a:gd name="T169" fmla="*/ 0 h 136"/>
                    <a:gd name="T170" fmla="*/ 155 w 155"/>
                    <a:gd name="T171" fmla="*/ 136 h 136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55" h="136">
                      <a:moveTo>
                        <a:pt x="0" y="133"/>
                      </a:moveTo>
                      <a:lnTo>
                        <a:pt x="0" y="134"/>
                      </a:lnTo>
                      <a:lnTo>
                        <a:pt x="1" y="134"/>
                      </a:lnTo>
                      <a:lnTo>
                        <a:pt x="2" y="135"/>
                      </a:lnTo>
                      <a:lnTo>
                        <a:pt x="3" y="135"/>
                      </a:lnTo>
                      <a:lnTo>
                        <a:pt x="148" y="135"/>
                      </a:lnTo>
                      <a:lnTo>
                        <a:pt x="150" y="134"/>
                      </a:lnTo>
                      <a:lnTo>
                        <a:pt x="151" y="134"/>
                      </a:lnTo>
                      <a:lnTo>
                        <a:pt x="151" y="133"/>
                      </a:lnTo>
                      <a:lnTo>
                        <a:pt x="152" y="133"/>
                      </a:lnTo>
                      <a:lnTo>
                        <a:pt x="153" y="132"/>
                      </a:lnTo>
                      <a:lnTo>
                        <a:pt x="153" y="131"/>
                      </a:lnTo>
                      <a:lnTo>
                        <a:pt x="154" y="131"/>
                      </a:lnTo>
                      <a:lnTo>
                        <a:pt x="154" y="129"/>
                      </a:lnTo>
                      <a:lnTo>
                        <a:pt x="154" y="3"/>
                      </a:lnTo>
                      <a:lnTo>
                        <a:pt x="154" y="2"/>
                      </a:lnTo>
                      <a:lnTo>
                        <a:pt x="154" y="1"/>
                      </a:lnTo>
                      <a:lnTo>
                        <a:pt x="153" y="1"/>
                      </a:lnTo>
                      <a:lnTo>
                        <a:pt x="153" y="0"/>
                      </a:lnTo>
                      <a:lnTo>
                        <a:pt x="145" y="5"/>
                      </a:lnTo>
                      <a:lnTo>
                        <a:pt x="146" y="6"/>
                      </a:lnTo>
                      <a:lnTo>
                        <a:pt x="146" y="7"/>
                      </a:lnTo>
                      <a:lnTo>
                        <a:pt x="146" y="8"/>
                      </a:lnTo>
                      <a:lnTo>
                        <a:pt x="146" y="9"/>
                      </a:lnTo>
                      <a:lnTo>
                        <a:pt x="146" y="123"/>
                      </a:lnTo>
                      <a:lnTo>
                        <a:pt x="146" y="124"/>
                      </a:lnTo>
                      <a:lnTo>
                        <a:pt x="146" y="125"/>
                      </a:lnTo>
                      <a:lnTo>
                        <a:pt x="145" y="126"/>
                      </a:lnTo>
                      <a:lnTo>
                        <a:pt x="145" y="127"/>
                      </a:lnTo>
                      <a:lnTo>
                        <a:pt x="144" y="127"/>
                      </a:lnTo>
                      <a:lnTo>
                        <a:pt x="143" y="127"/>
                      </a:lnTo>
                      <a:lnTo>
                        <a:pt x="143" y="128"/>
                      </a:lnTo>
                      <a:lnTo>
                        <a:pt x="142" y="128"/>
                      </a:lnTo>
                      <a:lnTo>
                        <a:pt x="9" y="128"/>
                      </a:lnTo>
                      <a:lnTo>
                        <a:pt x="8" y="128"/>
                      </a:lnTo>
                      <a:lnTo>
                        <a:pt x="8" y="127"/>
                      </a:lnTo>
                      <a:lnTo>
                        <a:pt x="7" y="127"/>
                      </a:lnTo>
                      <a:lnTo>
                        <a:pt x="6" y="127"/>
                      </a:lnTo>
                      <a:lnTo>
                        <a:pt x="0" y="133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97" name="Freeform 1318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16 h 17"/>
                    <a:gd name="T2" fmla="*/ 151 w 153"/>
                    <a:gd name="T3" fmla="*/ 16 h 17"/>
                    <a:gd name="T4" fmla="*/ 151 w 153"/>
                    <a:gd name="T5" fmla="*/ 10 h 17"/>
                    <a:gd name="T6" fmla="*/ 150 w 153"/>
                    <a:gd name="T7" fmla="*/ 10 h 17"/>
                    <a:gd name="T8" fmla="*/ 150 w 153"/>
                    <a:gd name="T9" fmla="*/ 10 h 17"/>
                    <a:gd name="T10" fmla="*/ 150 w 153"/>
                    <a:gd name="T11" fmla="*/ 5 h 17"/>
                    <a:gd name="T12" fmla="*/ 149 w 153"/>
                    <a:gd name="T13" fmla="*/ 5 h 17"/>
                    <a:gd name="T14" fmla="*/ 149 w 153"/>
                    <a:gd name="T15" fmla="*/ 5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5 h 17"/>
                    <a:gd name="T32" fmla="*/ 1 w 153"/>
                    <a:gd name="T33" fmla="*/ 5 h 17"/>
                    <a:gd name="T34" fmla="*/ 0 w 153"/>
                    <a:gd name="T35" fmla="*/ 10 h 17"/>
                    <a:gd name="T36" fmla="*/ 0 w 153"/>
                    <a:gd name="T37" fmla="*/ 10 h 17"/>
                    <a:gd name="T38" fmla="*/ 0 w 153"/>
                    <a:gd name="T39" fmla="*/ 16 h 17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153"/>
                    <a:gd name="T61" fmla="*/ 0 h 17"/>
                    <a:gd name="T62" fmla="*/ 153 w 153"/>
                    <a:gd name="T63" fmla="*/ 17 h 17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153" h="17">
                      <a:moveTo>
                        <a:pt x="152" y="16"/>
                      </a:moveTo>
                      <a:lnTo>
                        <a:pt x="151" y="16"/>
                      </a:lnTo>
                      <a:lnTo>
                        <a:pt x="151" y="10"/>
                      </a:lnTo>
                      <a:lnTo>
                        <a:pt x="150" y="10"/>
                      </a:lnTo>
                      <a:lnTo>
                        <a:pt x="150" y="5"/>
                      </a:lnTo>
                      <a:lnTo>
                        <a:pt x="149" y="5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5"/>
                      </a:lnTo>
                      <a:lnTo>
                        <a:pt x="0" y="1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98" name="Freeform 1319"/>
                <p:cNvSpPr>
                  <a:spLocks/>
                </p:cNvSpPr>
                <p:nvPr/>
              </p:nvSpPr>
              <p:spPr bwMode="auto">
                <a:xfrm>
                  <a:off x="3843" y="1489"/>
                  <a:ext cx="215" cy="72"/>
                </a:xfrm>
                <a:custGeom>
                  <a:avLst/>
                  <a:gdLst>
                    <a:gd name="T0" fmla="*/ 0 w 215"/>
                    <a:gd name="T1" fmla="*/ 71 h 72"/>
                    <a:gd name="T2" fmla="*/ 0 w 215"/>
                    <a:gd name="T3" fmla="*/ 0 h 72"/>
                    <a:gd name="T4" fmla="*/ 214 w 215"/>
                    <a:gd name="T5" fmla="*/ 0 h 72"/>
                    <a:gd name="T6" fmla="*/ 214 w 215"/>
                    <a:gd name="T7" fmla="*/ 71 h 72"/>
                    <a:gd name="T8" fmla="*/ 0 w 215"/>
                    <a:gd name="T9" fmla="*/ 71 h 7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15"/>
                    <a:gd name="T16" fmla="*/ 0 h 72"/>
                    <a:gd name="T17" fmla="*/ 215 w 215"/>
                    <a:gd name="T18" fmla="*/ 72 h 7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15" h="72">
                      <a:moveTo>
                        <a:pt x="0" y="71"/>
                      </a:moveTo>
                      <a:lnTo>
                        <a:pt x="0" y="0"/>
                      </a:lnTo>
                      <a:lnTo>
                        <a:pt x="214" y="0"/>
                      </a:lnTo>
                      <a:lnTo>
                        <a:pt x="214" y="71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99" name="Freeform 1320"/>
                <p:cNvSpPr>
                  <a:spLocks/>
                </p:cNvSpPr>
                <p:nvPr/>
              </p:nvSpPr>
              <p:spPr bwMode="auto">
                <a:xfrm>
                  <a:off x="3841" y="1489"/>
                  <a:ext cx="219" cy="23"/>
                </a:xfrm>
                <a:custGeom>
                  <a:avLst/>
                  <a:gdLst>
                    <a:gd name="T0" fmla="*/ 79 w 219"/>
                    <a:gd name="T1" fmla="*/ 0 h 23"/>
                    <a:gd name="T2" fmla="*/ 0 w 219"/>
                    <a:gd name="T3" fmla="*/ 0 h 23"/>
                    <a:gd name="T4" fmla="*/ 0 w 219"/>
                    <a:gd name="T5" fmla="*/ 22 h 23"/>
                    <a:gd name="T6" fmla="*/ 218 w 219"/>
                    <a:gd name="T7" fmla="*/ 22 h 23"/>
                    <a:gd name="T8" fmla="*/ 215 w 219"/>
                    <a:gd name="T9" fmla="*/ 0 h 23"/>
                    <a:gd name="T10" fmla="*/ 137 w 219"/>
                    <a:gd name="T11" fmla="*/ 0 h 23"/>
                    <a:gd name="T12" fmla="*/ 79 w 219"/>
                    <a:gd name="T13" fmla="*/ 0 h 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19"/>
                    <a:gd name="T22" fmla="*/ 0 h 23"/>
                    <a:gd name="T23" fmla="*/ 219 w 219"/>
                    <a:gd name="T24" fmla="*/ 23 h 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9" h="23">
                      <a:moveTo>
                        <a:pt x="79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218" y="22"/>
                      </a:lnTo>
                      <a:lnTo>
                        <a:pt x="215" y="0"/>
                      </a:lnTo>
                      <a:lnTo>
                        <a:pt x="137" y="0"/>
                      </a:lnTo>
                      <a:lnTo>
                        <a:pt x="79" y="0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00" name="Freeform 1321"/>
                <p:cNvSpPr>
                  <a:spLocks/>
                </p:cNvSpPr>
                <p:nvPr/>
              </p:nvSpPr>
              <p:spPr bwMode="auto">
                <a:xfrm>
                  <a:off x="3991" y="1495"/>
                  <a:ext cx="56" cy="17"/>
                </a:xfrm>
                <a:custGeom>
                  <a:avLst/>
                  <a:gdLst>
                    <a:gd name="T0" fmla="*/ 0 w 56"/>
                    <a:gd name="T1" fmla="*/ 6 h 17"/>
                    <a:gd name="T2" fmla="*/ 18 w 56"/>
                    <a:gd name="T3" fmla="*/ 6 h 17"/>
                    <a:gd name="T4" fmla="*/ 18 w 56"/>
                    <a:gd name="T5" fmla="*/ 0 h 17"/>
                    <a:gd name="T6" fmla="*/ 35 w 56"/>
                    <a:gd name="T7" fmla="*/ 0 h 17"/>
                    <a:gd name="T8" fmla="*/ 35 w 56"/>
                    <a:gd name="T9" fmla="*/ 6 h 17"/>
                    <a:gd name="T10" fmla="*/ 55 w 56"/>
                    <a:gd name="T11" fmla="*/ 6 h 17"/>
                    <a:gd name="T12" fmla="*/ 55 w 56"/>
                    <a:gd name="T13" fmla="*/ 10 h 17"/>
                    <a:gd name="T14" fmla="*/ 35 w 56"/>
                    <a:gd name="T15" fmla="*/ 10 h 17"/>
                    <a:gd name="T16" fmla="*/ 35 w 56"/>
                    <a:gd name="T17" fmla="*/ 16 h 17"/>
                    <a:gd name="T18" fmla="*/ 18 w 56"/>
                    <a:gd name="T19" fmla="*/ 16 h 17"/>
                    <a:gd name="T20" fmla="*/ 18 w 56"/>
                    <a:gd name="T21" fmla="*/ 10 h 17"/>
                    <a:gd name="T22" fmla="*/ 0 w 56"/>
                    <a:gd name="T23" fmla="*/ 10 h 17"/>
                    <a:gd name="T24" fmla="*/ 0 w 56"/>
                    <a:gd name="T25" fmla="*/ 6 h 17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56"/>
                    <a:gd name="T40" fmla="*/ 0 h 17"/>
                    <a:gd name="T41" fmla="*/ 56 w 56"/>
                    <a:gd name="T42" fmla="*/ 17 h 17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56" h="17">
                      <a:moveTo>
                        <a:pt x="0" y="6"/>
                      </a:moveTo>
                      <a:lnTo>
                        <a:pt x="18" y="6"/>
                      </a:lnTo>
                      <a:lnTo>
                        <a:pt x="18" y="0"/>
                      </a:lnTo>
                      <a:lnTo>
                        <a:pt x="35" y="0"/>
                      </a:lnTo>
                      <a:lnTo>
                        <a:pt x="35" y="6"/>
                      </a:lnTo>
                      <a:lnTo>
                        <a:pt x="55" y="6"/>
                      </a:lnTo>
                      <a:lnTo>
                        <a:pt x="55" y="10"/>
                      </a:lnTo>
                      <a:lnTo>
                        <a:pt x="35" y="10"/>
                      </a:lnTo>
                      <a:lnTo>
                        <a:pt x="35" y="16"/>
                      </a:lnTo>
                      <a:lnTo>
                        <a:pt x="18" y="16"/>
                      </a:lnTo>
                      <a:lnTo>
                        <a:pt x="18" y="10"/>
                      </a:lnTo>
                      <a:lnTo>
                        <a:pt x="0" y="10"/>
                      </a:lnTo>
                      <a:lnTo>
                        <a:pt x="0" y="6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01" name="Freeform 1322"/>
                <p:cNvSpPr>
                  <a:spLocks/>
                </p:cNvSpPr>
                <p:nvPr/>
              </p:nvSpPr>
              <p:spPr bwMode="auto">
                <a:xfrm>
                  <a:off x="3991" y="1501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0 h 17"/>
                    <a:gd name="T4" fmla="*/ 16 w 17"/>
                    <a:gd name="T5" fmla="*/ 5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17"/>
                    <a:gd name="T14" fmla="*/ 17 w 17"/>
                    <a:gd name="T15" fmla="*/ 17 h 1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17">
                      <a:moveTo>
                        <a:pt x="0" y="16"/>
                      </a:moveTo>
                      <a:lnTo>
                        <a:pt x="16" y="10"/>
                      </a:lnTo>
                      <a:lnTo>
                        <a:pt x="16" y="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02" name="Freeform 1323"/>
                <p:cNvSpPr>
                  <a:spLocks/>
                </p:cNvSpPr>
                <p:nvPr/>
              </p:nvSpPr>
              <p:spPr bwMode="auto">
                <a:xfrm>
                  <a:off x="4010" y="149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03" name="Freeform 1324"/>
                <p:cNvSpPr>
                  <a:spLocks/>
                </p:cNvSpPr>
                <p:nvPr/>
              </p:nvSpPr>
              <p:spPr bwMode="auto">
                <a:xfrm>
                  <a:off x="4046" y="1504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04" name="Freeform 1325"/>
                <p:cNvSpPr>
                  <a:spLocks/>
                </p:cNvSpPr>
                <p:nvPr/>
              </p:nvSpPr>
              <p:spPr bwMode="auto">
                <a:xfrm>
                  <a:off x="4027" y="1495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0 h 17"/>
                    <a:gd name="T4" fmla="*/ 0 w 17"/>
                    <a:gd name="T5" fmla="*/ 16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16"/>
                      </a:moveTo>
                      <a:lnTo>
                        <a:pt x="16" y="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05" name="Freeform 1326"/>
                <p:cNvSpPr>
                  <a:spLocks/>
                </p:cNvSpPr>
                <p:nvPr/>
              </p:nvSpPr>
              <p:spPr bwMode="auto">
                <a:xfrm>
                  <a:off x="4011" y="1499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6 h 17"/>
                    <a:gd name="T4" fmla="*/ 16 w 17"/>
                    <a:gd name="T5" fmla="*/ 0 h 17"/>
                    <a:gd name="T6" fmla="*/ 0 w 17"/>
                    <a:gd name="T7" fmla="*/ 0 h 17"/>
                    <a:gd name="T8" fmla="*/ 0 w 17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16"/>
                      </a:moveTo>
                      <a:lnTo>
                        <a:pt x="16" y="16"/>
                      </a:lnTo>
                      <a:lnTo>
                        <a:pt x="16" y="0"/>
                      </a:lnTo>
                      <a:lnTo>
                        <a:pt x="0" y="0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F9FA2"/>
                </a:solidFill>
                <a:ln w="12700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06" name="Freeform 1327"/>
                <p:cNvSpPr>
                  <a:spLocks/>
                </p:cNvSpPr>
                <p:nvPr/>
              </p:nvSpPr>
              <p:spPr bwMode="auto">
                <a:xfrm>
                  <a:off x="3993" y="1502"/>
                  <a:ext cx="54" cy="17"/>
                </a:xfrm>
                <a:custGeom>
                  <a:avLst/>
                  <a:gdLst>
                    <a:gd name="T0" fmla="*/ 0 w 54"/>
                    <a:gd name="T1" fmla="*/ 0 h 17"/>
                    <a:gd name="T2" fmla="*/ 53 w 54"/>
                    <a:gd name="T3" fmla="*/ 0 h 17"/>
                    <a:gd name="T4" fmla="*/ 53 w 54"/>
                    <a:gd name="T5" fmla="*/ 16 h 17"/>
                    <a:gd name="T6" fmla="*/ 0 w 54"/>
                    <a:gd name="T7" fmla="*/ 16 h 17"/>
                    <a:gd name="T8" fmla="*/ 0 w 54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4"/>
                    <a:gd name="T16" fmla="*/ 0 h 17"/>
                    <a:gd name="T17" fmla="*/ 54 w 5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4" h="17">
                      <a:moveTo>
                        <a:pt x="0" y="0"/>
                      </a:moveTo>
                      <a:lnTo>
                        <a:pt x="53" y="0"/>
                      </a:lnTo>
                      <a:lnTo>
                        <a:pt x="53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07" name="Freeform 1328"/>
                <p:cNvSpPr>
                  <a:spLocks/>
                </p:cNvSpPr>
                <p:nvPr/>
              </p:nvSpPr>
              <p:spPr bwMode="auto">
                <a:xfrm>
                  <a:off x="4010" y="1496"/>
                  <a:ext cx="19" cy="17"/>
                </a:xfrm>
                <a:custGeom>
                  <a:avLst/>
                  <a:gdLst>
                    <a:gd name="T0" fmla="*/ 18 w 19"/>
                    <a:gd name="T1" fmla="*/ 12 h 17"/>
                    <a:gd name="T2" fmla="*/ 17 w 19"/>
                    <a:gd name="T3" fmla="*/ 16 h 17"/>
                    <a:gd name="T4" fmla="*/ 17 w 19"/>
                    <a:gd name="T5" fmla="*/ 0 h 17"/>
                    <a:gd name="T6" fmla="*/ 0 w 19"/>
                    <a:gd name="T7" fmla="*/ 0 h 17"/>
                    <a:gd name="T8" fmla="*/ 0 w 19"/>
                    <a:gd name="T9" fmla="*/ 16 h 17"/>
                    <a:gd name="T10" fmla="*/ 0 w 19"/>
                    <a:gd name="T11" fmla="*/ 12 h 1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"/>
                    <a:gd name="T19" fmla="*/ 0 h 17"/>
                    <a:gd name="T20" fmla="*/ 19 w 19"/>
                    <a:gd name="T21" fmla="*/ 17 h 1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" h="17">
                      <a:moveTo>
                        <a:pt x="18" y="12"/>
                      </a:moveTo>
                      <a:lnTo>
                        <a:pt x="17" y="16"/>
                      </a:ln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6"/>
                      </a:lnTo>
                      <a:lnTo>
                        <a:pt x="0" y="12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08" name="Freeform 1329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16 w 17"/>
                    <a:gd name="T1" fmla="*/ 0 h 17"/>
                    <a:gd name="T2" fmla="*/ 16 w 17"/>
                    <a:gd name="T3" fmla="*/ 16 h 17"/>
                    <a:gd name="T4" fmla="*/ 0 w 17"/>
                    <a:gd name="T5" fmla="*/ 16 h 17"/>
                    <a:gd name="T6" fmla="*/ 0 w 17"/>
                    <a:gd name="T7" fmla="*/ 0 h 17"/>
                    <a:gd name="T8" fmla="*/ 16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16" y="0"/>
                      </a:move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  <a:lnTo>
                        <a:pt x="16" y="0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09" name="Freeform 1330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10" name="Freeform 1331"/>
                <p:cNvSpPr>
                  <a:spLocks/>
                </p:cNvSpPr>
                <p:nvPr/>
              </p:nvSpPr>
              <p:spPr bwMode="auto">
                <a:xfrm>
                  <a:off x="3930" y="1497"/>
                  <a:ext cx="44" cy="17"/>
                </a:xfrm>
                <a:custGeom>
                  <a:avLst/>
                  <a:gdLst>
                    <a:gd name="T0" fmla="*/ 14 w 44"/>
                    <a:gd name="T1" fmla="*/ 16 h 17"/>
                    <a:gd name="T2" fmla="*/ 0 w 44"/>
                    <a:gd name="T3" fmla="*/ 16 h 17"/>
                    <a:gd name="T4" fmla="*/ 0 w 44"/>
                    <a:gd name="T5" fmla="*/ 8 h 17"/>
                    <a:gd name="T6" fmla="*/ 14 w 44"/>
                    <a:gd name="T7" fmla="*/ 8 h 17"/>
                    <a:gd name="T8" fmla="*/ 14 w 44"/>
                    <a:gd name="T9" fmla="*/ 0 h 17"/>
                    <a:gd name="T10" fmla="*/ 28 w 44"/>
                    <a:gd name="T11" fmla="*/ 0 h 17"/>
                    <a:gd name="T12" fmla="*/ 28 w 44"/>
                    <a:gd name="T13" fmla="*/ 8 h 17"/>
                    <a:gd name="T14" fmla="*/ 43 w 44"/>
                    <a:gd name="T15" fmla="*/ 8 h 17"/>
                    <a:gd name="T16" fmla="*/ 43 w 44"/>
                    <a:gd name="T17" fmla="*/ 16 h 17"/>
                    <a:gd name="T18" fmla="*/ 28 w 44"/>
                    <a:gd name="T19" fmla="*/ 16 h 17"/>
                    <a:gd name="T20" fmla="*/ 14 w 44"/>
                    <a:gd name="T21" fmla="*/ 16 h 1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44"/>
                    <a:gd name="T34" fmla="*/ 0 h 17"/>
                    <a:gd name="T35" fmla="*/ 44 w 44"/>
                    <a:gd name="T36" fmla="*/ 17 h 17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44" h="17">
                      <a:moveTo>
                        <a:pt x="14" y="16"/>
                      </a:moveTo>
                      <a:lnTo>
                        <a:pt x="0" y="16"/>
                      </a:lnTo>
                      <a:lnTo>
                        <a:pt x="0" y="8"/>
                      </a:lnTo>
                      <a:lnTo>
                        <a:pt x="14" y="8"/>
                      </a:lnTo>
                      <a:lnTo>
                        <a:pt x="14" y="0"/>
                      </a:lnTo>
                      <a:lnTo>
                        <a:pt x="28" y="0"/>
                      </a:lnTo>
                      <a:lnTo>
                        <a:pt x="28" y="8"/>
                      </a:lnTo>
                      <a:lnTo>
                        <a:pt x="43" y="8"/>
                      </a:lnTo>
                      <a:lnTo>
                        <a:pt x="43" y="16"/>
                      </a:lnTo>
                      <a:lnTo>
                        <a:pt x="28" y="16"/>
                      </a:lnTo>
                      <a:lnTo>
                        <a:pt x="14" y="16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11" name="Freeform 1332"/>
                <p:cNvSpPr>
                  <a:spLocks/>
                </p:cNvSpPr>
                <p:nvPr/>
              </p:nvSpPr>
              <p:spPr bwMode="auto">
                <a:xfrm>
                  <a:off x="3945" y="1497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12" name="Freeform 1333"/>
                <p:cNvSpPr>
                  <a:spLocks/>
                </p:cNvSpPr>
                <p:nvPr/>
              </p:nvSpPr>
              <p:spPr bwMode="auto">
                <a:xfrm>
                  <a:off x="3897" y="1494"/>
                  <a:ext cx="20" cy="17"/>
                </a:xfrm>
                <a:custGeom>
                  <a:avLst/>
                  <a:gdLst>
                    <a:gd name="T0" fmla="*/ 5 w 20"/>
                    <a:gd name="T1" fmla="*/ 16 h 17"/>
                    <a:gd name="T2" fmla="*/ 3 w 20"/>
                    <a:gd name="T3" fmla="*/ 15 h 17"/>
                    <a:gd name="T4" fmla="*/ 2 w 20"/>
                    <a:gd name="T5" fmla="*/ 15 h 17"/>
                    <a:gd name="T6" fmla="*/ 1 w 20"/>
                    <a:gd name="T7" fmla="*/ 14 h 17"/>
                    <a:gd name="T8" fmla="*/ 1 w 20"/>
                    <a:gd name="T9" fmla="*/ 12 h 17"/>
                    <a:gd name="T10" fmla="*/ 0 w 20"/>
                    <a:gd name="T11" fmla="*/ 12 h 17"/>
                    <a:gd name="T12" fmla="*/ 0 w 20"/>
                    <a:gd name="T13" fmla="*/ 10 h 17"/>
                    <a:gd name="T14" fmla="*/ 0 w 20"/>
                    <a:gd name="T15" fmla="*/ 8 h 17"/>
                    <a:gd name="T16" fmla="*/ 0 w 20"/>
                    <a:gd name="T17" fmla="*/ 6 h 17"/>
                    <a:gd name="T18" fmla="*/ 0 w 20"/>
                    <a:gd name="T19" fmla="*/ 4 h 17"/>
                    <a:gd name="T20" fmla="*/ 0 w 20"/>
                    <a:gd name="T21" fmla="*/ 3 h 17"/>
                    <a:gd name="T22" fmla="*/ 1 w 20"/>
                    <a:gd name="T23" fmla="*/ 2 h 17"/>
                    <a:gd name="T24" fmla="*/ 2 w 20"/>
                    <a:gd name="T25" fmla="*/ 1 h 17"/>
                    <a:gd name="T26" fmla="*/ 3 w 20"/>
                    <a:gd name="T27" fmla="*/ 0 h 17"/>
                    <a:gd name="T28" fmla="*/ 4 w 20"/>
                    <a:gd name="T29" fmla="*/ 0 h 17"/>
                    <a:gd name="T30" fmla="*/ 5 w 20"/>
                    <a:gd name="T31" fmla="*/ 0 h 17"/>
                    <a:gd name="T32" fmla="*/ 12 w 20"/>
                    <a:gd name="T33" fmla="*/ 0 h 17"/>
                    <a:gd name="T34" fmla="*/ 13 w 20"/>
                    <a:gd name="T35" fmla="*/ 0 h 17"/>
                    <a:gd name="T36" fmla="*/ 15 w 20"/>
                    <a:gd name="T37" fmla="*/ 0 h 17"/>
                    <a:gd name="T38" fmla="*/ 16 w 20"/>
                    <a:gd name="T39" fmla="*/ 1 h 17"/>
                    <a:gd name="T40" fmla="*/ 17 w 20"/>
                    <a:gd name="T41" fmla="*/ 3 h 17"/>
                    <a:gd name="T42" fmla="*/ 17 w 20"/>
                    <a:gd name="T43" fmla="*/ 3 h 17"/>
                    <a:gd name="T44" fmla="*/ 18 w 20"/>
                    <a:gd name="T45" fmla="*/ 5 h 17"/>
                    <a:gd name="T46" fmla="*/ 18 w 20"/>
                    <a:gd name="T47" fmla="*/ 7 h 17"/>
                    <a:gd name="T48" fmla="*/ 18 w 20"/>
                    <a:gd name="T49" fmla="*/ 8 h 17"/>
                    <a:gd name="T50" fmla="*/ 18 w 20"/>
                    <a:gd name="T51" fmla="*/ 10 h 17"/>
                    <a:gd name="T52" fmla="*/ 17 w 20"/>
                    <a:gd name="T53" fmla="*/ 12 h 17"/>
                    <a:gd name="T54" fmla="*/ 16 w 20"/>
                    <a:gd name="T55" fmla="*/ 13 h 17"/>
                    <a:gd name="T56" fmla="*/ 15 w 20"/>
                    <a:gd name="T57" fmla="*/ 15 h 17"/>
                    <a:gd name="T58" fmla="*/ 13 w 20"/>
                    <a:gd name="T59" fmla="*/ 15 h 17"/>
                    <a:gd name="T60" fmla="*/ 13 w 20"/>
                    <a:gd name="T61" fmla="*/ 16 h 17"/>
                    <a:gd name="T62" fmla="*/ 12 w 20"/>
                    <a:gd name="T63" fmla="*/ 16 h 17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20"/>
                    <a:gd name="T97" fmla="*/ 0 h 17"/>
                    <a:gd name="T98" fmla="*/ 20 w 20"/>
                    <a:gd name="T99" fmla="*/ 17 h 17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20" h="17">
                      <a:moveTo>
                        <a:pt x="5" y="16"/>
                      </a:moveTo>
                      <a:lnTo>
                        <a:pt x="5" y="16"/>
                      </a:lnTo>
                      <a:lnTo>
                        <a:pt x="4" y="16"/>
                      </a:lnTo>
                      <a:lnTo>
                        <a:pt x="3" y="15"/>
                      </a:lnTo>
                      <a:lnTo>
                        <a:pt x="2" y="15"/>
                      </a:lnTo>
                      <a:lnTo>
                        <a:pt x="2" y="14"/>
                      </a:lnTo>
                      <a:lnTo>
                        <a:pt x="1" y="14"/>
                      </a:lnTo>
                      <a:lnTo>
                        <a:pt x="1" y="13"/>
                      </a:lnTo>
                      <a:lnTo>
                        <a:pt x="1" y="12"/>
                      </a:lnTo>
                      <a:lnTo>
                        <a:pt x="0" y="12"/>
                      </a:lnTo>
                      <a:lnTo>
                        <a:pt x="0" y="11"/>
                      </a:lnTo>
                      <a:lnTo>
                        <a:pt x="0" y="10"/>
                      </a:lnTo>
                      <a:lnTo>
                        <a:pt x="0" y="9"/>
                      </a:lnTo>
                      <a:lnTo>
                        <a:pt x="0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1" y="3"/>
                      </a:lnTo>
                      <a:lnTo>
                        <a:pt x="1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5" y="0"/>
                      </a:lnTo>
                      <a:lnTo>
                        <a:pt x="12" y="0"/>
                      </a:lnTo>
                      <a:lnTo>
                        <a:pt x="13" y="0"/>
                      </a:lnTo>
                      <a:lnTo>
                        <a:pt x="15" y="0"/>
                      </a:lnTo>
                      <a:lnTo>
                        <a:pt x="16" y="1"/>
                      </a:lnTo>
                      <a:lnTo>
                        <a:pt x="16" y="2"/>
                      </a:lnTo>
                      <a:lnTo>
                        <a:pt x="17" y="3"/>
                      </a:lnTo>
                      <a:lnTo>
                        <a:pt x="18" y="4"/>
                      </a:lnTo>
                      <a:lnTo>
                        <a:pt x="18" y="5"/>
                      </a:lnTo>
                      <a:lnTo>
                        <a:pt x="18" y="6"/>
                      </a:lnTo>
                      <a:lnTo>
                        <a:pt x="18" y="7"/>
                      </a:lnTo>
                      <a:lnTo>
                        <a:pt x="19" y="8"/>
                      </a:lnTo>
                      <a:lnTo>
                        <a:pt x="18" y="8"/>
                      </a:lnTo>
                      <a:lnTo>
                        <a:pt x="18" y="9"/>
                      </a:lnTo>
                      <a:lnTo>
                        <a:pt x="18" y="10"/>
                      </a:lnTo>
                      <a:lnTo>
                        <a:pt x="18" y="11"/>
                      </a:lnTo>
                      <a:lnTo>
                        <a:pt x="17" y="12"/>
                      </a:lnTo>
                      <a:lnTo>
                        <a:pt x="16" y="13"/>
                      </a:lnTo>
                      <a:lnTo>
                        <a:pt x="16" y="14"/>
                      </a:lnTo>
                      <a:lnTo>
                        <a:pt x="15" y="15"/>
                      </a:lnTo>
                      <a:lnTo>
                        <a:pt x="13" y="15"/>
                      </a:lnTo>
                      <a:lnTo>
                        <a:pt x="13" y="16"/>
                      </a:lnTo>
                      <a:lnTo>
                        <a:pt x="12" y="16"/>
                      </a:lnTo>
                      <a:lnTo>
                        <a:pt x="5" y="16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13" name="Freeform 1334"/>
                <p:cNvSpPr>
                  <a:spLocks/>
                </p:cNvSpPr>
                <p:nvPr/>
              </p:nvSpPr>
              <p:spPr bwMode="auto">
                <a:xfrm>
                  <a:off x="3921" y="1489"/>
                  <a:ext cx="17" cy="38"/>
                </a:xfrm>
                <a:custGeom>
                  <a:avLst/>
                  <a:gdLst>
                    <a:gd name="T0" fmla="*/ 8 w 17"/>
                    <a:gd name="T1" fmla="*/ 0 h 38"/>
                    <a:gd name="T2" fmla="*/ 0 w 17"/>
                    <a:gd name="T3" fmla="*/ 22 h 38"/>
                    <a:gd name="T4" fmla="*/ 16 w 17"/>
                    <a:gd name="T5" fmla="*/ 22 h 38"/>
                    <a:gd name="T6" fmla="*/ 16 w 17"/>
                    <a:gd name="T7" fmla="*/ 37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38"/>
                    <a:gd name="T14" fmla="*/ 17 w 17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38">
                      <a:moveTo>
                        <a:pt x="8" y="0"/>
                      </a:moveTo>
                      <a:lnTo>
                        <a:pt x="0" y="22"/>
                      </a:lnTo>
                      <a:lnTo>
                        <a:pt x="16" y="22"/>
                      </a:lnTo>
                      <a:lnTo>
                        <a:pt x="16" y="37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14" name="Freeform 1335"/>
                <p:cNvSpPr>
                  <a:spLocks/>
                </p:cNvSpPr>
                <p:nvPr/>
              </p:nvSpPr>
              <p:spPr bwMode="auto">
                <a:xfrm>
                  <a:off x="3979" y="1489"/>
                  <a:ext cx="17" cy="72"/>
                </a:xfrm>
                <a:custGeom>
                  <a:avLst/>
                  <a:gdLst>
                    <a:gd name="T0" fmla="*/ 0 w 17"/>
                    <a:gd name="T1" fmla="*/ 0 h 72"/>
                    <a:gd name="T2" fmla="*/ 16 w 17"/>
                    <a:gd name="T3" fmla="*/ 22 h 72"/>
                    <a:gd name="T4" fmla="*/ 0 w 17"/>
                    <a:gd name="T5" fmla="*/ 22 h 72"/>
                    <a:gd name="T6" fmla="*/ 0 w 17"/>
                    <a:gd name="T7" fmla="*/ 71 h 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72"/>
                    <a:gd name="T14" fmla="*/ 17 w 17"/>
                    <a:gd name="T15" fmla="*/ 72 h 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72">
                      <a:moveTo>
                        <a:pt x="0" y="0"/>
                      </a:moveTo>
                      <a:lnTo>
                        <a:pt x="16" y="22"/>
                      </a:lnTo>
                      <a:lnTo>
                        <a:pt x="0" y="22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15" name="Freeform 1336"/>
                <p:cNvSpPr>
                  <a:spLocks/>
                </p:cNvSpPr>
                <p:nvPr/>
              </p:nvSpPr>
              <p:spPr bwMode="auto">
                <a:xfrm>
                  <a:off x="3855" y="1532"/>
                  <a:ext cx="250" cy="41"/>
                </a:xfrm>
                <a:custGeom>
                  <a:avLst/>
                  <a:gdLst>
                    <a:gd name="T0" fmla="*/ 0 w 250"/>
                    <a:gd name="T1" fmla="*/ 40 h 41"/>
                    <a:gd name="T2" fmla="*/ 249 w 250"/>
                    <a:gd name="T3" fmla="*/ 40 h 41"/>
                    <a:gd name="T4" fmla="*/ 240 w 250"/>
                    <a:gd name="T5" fmla="*/ 0 h 41"/>
                    <a:gd name="T6" fmla="*/ 10 w 250"/>
                    <a:gd name="T7" fmla="*/ 0 h 41"/>
                    <a:gd name="T8" fmla="*/ 0 w 250"/>
                    <a:gd name="T9" fmla="*/ 40 h 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0"/>
                    <a:gd name="T16" fmla="*/ 0 h 41"/>
                    <a:gd name="T17" fmla="*/ 250 w 250"/>
                    <a:gd name="T18" fmla="*/ 41 h 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0" h="41">
                      <a:moveTo>
                        <a:pt x="0" y="40"/>
                      </a:moveTo>
                      <a:lnTo>
                        <a:pt x="249" y="40"/>
                      </a:lnTo>
                      <a:lnTo>
                        <a:pt x="240" y="0"/>
                      </a:lnTo>
                      <a:lnTo>
                        <a:pt x="10" y="0"/>
                      </a:lnTo>
                      <a:lnTo>
                        <a:pt x="0" y="40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16" name="Freeform 1337"/>
                <p:cNvSpPr>
                  <a:spLocks/>
                </p:cNvSpPr>
                <p:nvPr/>
              </p:nvSpPr>
              <p:spPr bwMode="auto">
                <a:xfrm>
                  <a:off x="3855" y="1572"/>
                  <a:ext cx="251" cy="17"/>
                </a:xfrm>
                <a:custGeom>
                  <a:avLst/>
                  <a:gdLst>
                    <a:gd name="T0" fmla="*/ 0 w 251"/>
                    <a:gd name="T1" fmla="*/ 16 h 17"/>
                    <a:gd name="T2" fmla="*/ 0 w 251"/>
                    <a:gd name="T3" fmla="*/ 0 h 17"/>
                    <a:gd name="T4" fmla="*/ 249 w 251"/>
                    <a:gd name="T5" fmla="*/ 0 h 17"/>
                    <a:gd name="T6" fmla="*/ 250 w 251"/>
                    <a:gd name="T7" fmla="*/ 16 h 17"/>
                    <a:gd name="T8" fmla="*/ 0 w 251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1"/>
                    <a:gd name="T16" fmla="*/ 0 h 17"/>
                    <a:gd name="T17" fmla="*/ 251 w 251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1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249" y="0"/>
                      </a:lnTo>
                      <a:lnTo>
                        <a:pt x="250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CCCC6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17" name="Freeform 1338"/>
                <p:cNvSpPr>
                  <a:spLocks/>
                </p:cNvSpPr>
                <p:nvPr/>
              </p:nvSpPr>
              <p:spPr bwMode="auto">
                <a:xfrm>
                  <a:off x="3872" y="1538"/>
                  <a:ext cx="223" cy="28"/>
                </a:xfrm>
                <a:custGeom>
                  <a:avLst/>
                  <a:gdLst>
                    <a:gd name="T0" fmla="*/ 0 w 223"/>
                    <a:gd name="T1" fmla="*/ 27 h 28"/>
                    <a:gd name="T2" fmla="*/ 222 w 223"/>
                    <a:gd name="T3" fmla="*/ 27 h 28"/>
                    <a:gd name="T4" fmla="*/ 214 w 223"/>
                    <a:gd name="T5" fmla="*/ 0 h 28"/>
                    <a:gd name="T6" fmla="*/ 8 w 223"/>
                    <a:gd name="T7" fmla="*/ 0 h 28"/>
                    <a:gd name="T8" fmla="*/ 0 w 223"/>
                    <a:gd name="T9" fmla="*/ 27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3"/>
                    <a:gd name="T16" fmla="*/ 0 h 28"/>
                    <a:gd name="T17" fmla="*/ 223 w 223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3" h="28">
                      <a:moveTo>
                        <a:pt x="0" y="27"/>
                      </a:moveTo>
                      <a:lnTo>
                        <a:pt x="222" y="27"/>
                      </a:lnTo>
                      <a:lnTo>
                        <a:pt x="214" y="0"/>
                      </a:lnTo>
                      <a:lnTo>
                        <a:pt x="8" y="0"/>
                      </a:lnTo>
                      <a:lnTo>
                        <a:pt x="0" y="27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0276" name="Group 1339"/>
              <p:cNvGrpSpPr>
                <a:grpSpLocks/>
              </p:cNvGrpSpPr>
              <p:nvPr/>
            </p:nvGrpSpPr>
            <p:grpSpPr bwMode="auto">
              <a:xfrm>
                <a:off x="2239" y="3096"/>
                <a:ext cx="245" cy="175"/>
                <a:chOff x="3840" y="1279"/>
                <a:chExt cx="266" cy="310"/>
              </a:xfrm>
            </p:grpSpPr>
            <p:sp>
              <p:nvSpPr>
                <p:cNvPr id="10506" name="Freeform 1340"/>
                <p:cNvSpPr>
                  <a:spLocks/>
                </p:cNvSpPr>
                <p:nvPr/>
              </p:nvSpPr>
              <p:spPr bwMode="auto">
                <a:xfrm>
                  <a:off x="3848" y="1548"/>
                  <a:ext cx="206" cy="20"/>
                </a:xfrm>
                <a:custGeom>
                  <a:avLst/>
                  <a:gdLst>
                    <a:gd name="T0" fmla="*/ 0 w 206"/>
                    <a:gd name="T1" fmla="*/ 19 h 20"/>
                    <a:gd name="T2" fmla="*/ 0 w 206"/>
                    <a:gd name="T3" fmla="*/ 0 h 20"/>
                    <a:gd name="T4" fmla="*/ 205 w 206"/>
                    <a:gd name="T5" fmla="*/ 0 h 20"/>
                    <a:gd name="T6" fmla="*/ 205 w 206"/>
                    <a:gd name="T7" fmla="*/ 19 h 20"/>
                    <a:gd name="T8" fmla="*/ 0 w 206"/>
                    <a:gd name="T9" fmla="*/ 19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6"/>
                    <a:gd name="T16" fmla="*/ 0 h 20"/>
                    <a:gd name="T17" fmla="*/ 206 w 206"/>
                    <a:gd name="T18" fmla="*/ 20 h 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6" h="20">
                      <a:moveTo>
                        <a:pt x="0" y="19"/>
                      </a:moveTo>
                      <a:lnTo>
                        <a:pt x="0" y="0"/>
                      </a:lnTo>
                      <a:lnTo>
                        <a:pt x="205" y="0"/>
                      </a:lnTo>
                      <a:lnTo>
                        <a:pt x="205" y="19"/>
                      </a:lnTo>
                      <a:lnTo>
                        <a:pt x="0" y="19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07" name="Freeform 1341"/>
                <p:cNvSpPr>
                  <a:spLocks/>
                </p:cNvSpPr>
                <p:nvPr/>
              </p:nvSpPr>
              <p:spPr bwMode="auto">
                <a:xfrm>
                  <a:off x="3840" y="1453"/>
                  <a:ext cx="220" cy="34"/>
                </a:xfrm>
                <a:custGeom>
                  <a:avLst/>
                  <a:gdLst>
                    <a:gd name="T0" fmla="*/ 189 w 220"/>
                    <a:gd name="T1" fmla="*/ 0 h 34"/>
                    <a:gd name="T2" fmla="*/ 219 w 220"/>
                    <a:gd name="T3" fmla="*/ 33 h 34"/>
                    <a:gd name="T4" fmla="*/ 0 w 220"/>
                    <a:gd name="T5" fmla="*/ 33 h 34"/>
                    <a:gd name="T6" fmla="*/ 29 w 220"/>
                    <a:gd name="T7" fmla="*/ 0 h 34"/>
                    <a:gd name="T8" fmla="*/ 189 w 220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34"/>
                    <a:gd name="T17" fmla="*/ 220 w 220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34">
                      <a:moveTo>
                        <a:pt x="189" y="0"/>
                      </a:moveTo>
                      <a:lnTo>
                        <a:pt x="219" y="33"/>
                      </a:lnTo>
                      <a:lnTo>
                        <a:pt x="0" y="33"/>
                      </a:lnTo>
                      <a:lnTo>
                        <a:pt x="29" y="0"/>
                      </a:lnTo>
                      <a:lnTo>
                        <a:pt x="189" y="0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08" name="Freeform 1342"/>
                <p:cNvSpPr>
                  <a:spLocks/>
                </p:cNvSpPr>
                <p:nvPr/>
              </p:nvSpPr>
              <p:spPr bwMode="auto">
                <a:xfrm>
                  <a:off x="3897" y="1449"/>
                  <a:ext cx="104" cy="24"/>
                </a:xfrm>
                <a:custGeom>
                  <a:avLst/>
                  <a:gdLst>
                    <a:gd name="T0" fmla="*/ 102 w 104"/>
                    <a:gd name="T1" fmla="*/ 10 h 24"/>
                    <a:gd name="T2" fmla="*/ 101 w 104"/>
                    <a:gd name="T3" fmla="*/ 8 h 24"/>
                    <a:gd name="T4" fmla="*/ 97 w 104"/>
                    <a:gd name="T5" fmla="*/ 6 h 24"/>
                    <a:gd name="T6" fmla="*/ 93 w 104"/>
                    <a:gd name="T7" fmla="*/ 4 h 24"/>
                    <a:gd name="T8" fmla="*/ 87 w 104"/>
                    <a:gd name="T9" fmla="*/ 3 h 24"/>
                    <a:gd name="T10" fmla="*/ 80 w 104"/>
                    <a:gd name="T11" fmla="*/ 2 h 24"/>
                    <a:gd name="T12" fmla="*/ 72 w 104"/>
                    <a:gd name="T13" fmla="*/ 1 h 24"/>
                    <a:gd name="T14" fmla="*/ 64 w 104"/>
                    <a:gd name="T15" fmla="*/ 0 h 24"/>
                    <a:gd name="T16" fmla="*/ 55 w 104"/>
                    <a:gd name="T17" fmla="*/ 0 h 24"/>
                    <a:gd name="T18" fmla="*/ 46 w 104"/>
                    <a:gd name="T19" fmla="*/ 0 h 24"/>
                    <a:gd name="T20" fmla="*/ 37 w 104"/>
                    <a:gd name="T21" fmla="*/ 0 h 24"/>
                    <a:gd name="T22" fmla="*/ 29 w 104"/>
                    <a:gd name="T23" fmla="*/ 1 h 24"/>
                    <a:gd name="T24" fmla="*/ 21 w 104"/>
                    <a:gd name="T25" fmla="*/ 2 h 24"/>
                    <a:gd name="T26" fmla="*/ 14 w 104"/>
                    <a:gd name="T27" fmla="*/ 3 h 24"/>
                    <a:gd name="T28" fmla="*/ 8 w 104"/>
                    <a:gd name="T29" fmla="*/ 4 h 24"/>
                    <a:gd name="T30" fmla="*/ 4 w 104"/>
                    <a:gd name="T31" fmla="*/ 6 h 24"/>
                    <a:gd name="T32" fmla="*/ 1 w 104"/>
                    <a:gd name="T33" fmla="*/ 8 h 24"/>
                    <a:gd name="T34" fmla="*/ 0 w 104"/>
                    <a:gd name="T35" fmla="*/ 10 h 24"/>
                    <a:gd name="T36" fmla="*/ 0 w 104"/>
                    <a:gd name="T37" fmla="*/ 12 h 24"/>
                    <a:gd name="T38" fmla="*/ 1 w 104"/>
                    <a:gd name="T39" fmla="*/ 14 h 24"/>
                    <a:gd name="T40" fmla="*/ 4 w 104"/>
                    <a:gd name="T41" fmla="*/ 16 h 24"/>
                    <a:gd name="T42" fmla="*/ 8 w 104"/>
                    <a:gd name="T43" fmla="*/ 17 h 24"/>
                    <a:gd name="T44" fmla="*/ 14 w 104"/>
                    <a:gd name="T45" fmla="*/ 19 h 24"/>
                    <a:gd name="T46" fmla="*/ 21 w 104"/>
                    <a:gd name="T47" fmla="*/ 20 h 24"/>
                    <a:gd name="T48" fmla="*/ 29 w 104"/>
                    <a:gd name="T49" fmla="*/ 21 h 24"/>
                    <a:gd name="T50" fmla="*/ 37 w 104"/>
                    <a:gd name="T51" fmla="*/ 22 h 24"/>
                    <a:gd name="T52" fmla="*/ 46 w 104"/>
                    <a:gd name="T53" fmla="*/ 23 h 24"/>
                    <a:gd name="T54" fmla="*/ 55 w 104"/>
                    <a:gd name="T55" fmla="*/ 23 h 24"/>
                    <a:gd name="T56" fmla="*/ 64 w 104"/>
                    <a:gd name="T57" fmla="*/ 22 h 24"/>
                    <a:gd name="T58" fmla="*/ 72 w 104"/>
                    <a:gd name="T59" fmla="*/ 21 h 24"/>
                    <a:gd name="T60" fmla="*/ 80 w 104"/>
                    <a:gd name="T61" fmla="*/ 20 h 24"/>
                    <a:gd name="T62" fmla="*/ 87 w 104"/>
                    <a:gd name="T63" fmla="*/ 19 h 24"/>
                    <a:gd name="T64" fmla="*/ 93 w 104"/>
                    <a:gd name="T65" fmla="*/ 17 h 24"/>
                    <a:gd name="T66" fmla="*/ 97 w 104"/>
                    <a:gd name="T67" fmla="*/ 16 h 24"/>
                    <a:gd name="T68" fmla="*/ 101 w 104"/>
                    <a:gd name="T69" fmla="*/ 14 h 24"/>
                    <a:gd name="T70" fmla="*/ 102 w 104"/>
                    <a:gd name="T71" fmla="*/ 12 h 24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104"/>
                    <a:gd name="T109" fmla="*/ 0 h 24"/>
                    <a:gd name="T110" fmla="*/ 104 w 104"/>
                    <a:gd name="T111" fmla="*/ 24 h 24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104" h="24">
                      <a:moveTo>
                        <a:pt x="103" y="11"/>
                      </a:moveTo>
                      <a:lnTo>
                        <a:pt x="102" y="10"/>
                      </a:lnTo>
                      <a:lnTo>
                        <a:pt x="102" y="9"/>
                      </a:lnTo>
                      <a:lnTo>
                        <a:pt x="101" y="8"/>
                      </a:lnTo>
                      <a:lnTo>
                        <a:pt x="99" y="7"/>
                      </a:lnTo>
                      <a:lnTo>
                        <a:pt x="97" y="6"/>
                      </a:lnTo>
                      <a:lnTo>
                        <a:pt x="95" y="6"/>
                      </a:lnTo>
                      <a:lnTo>
                        <a:pt x="93" y="4"/>
                      </a:lnTo>
                      <a:lnTo>
                        <a:pt x="90" y="4"/>
                      </a:lnTo>
                      <a:lnTo>
                        <a:pt x="87" y="3"/>
                      </a:lnTo>
                      <a:lnTo>
                        <a:pt x="84" y="2"/>
                      </a:lnTo>
                      <a:lnTo>
                        <a:pt x="80" y="2"/>
                      </a:lnTo>
                      <a:lnTo>
                        <a:pt x="76" y="1"/>
                      </a:lnTo>
                      <a:lnTo>
                        <a:pt x="72" y="1"/>
                      </a:lnTo>
                      <a:lnTo>
                        <a:pt x="69" y="0"/>
                      </a:lnTo>
                      <a:lnTo>
                        <a:pt x="64" y="0"/>
                      </a:lnTo>
                      <a:lnTo>
                        <a:pt x="60" y="0"/>
                      </a:lnTo>
                      <a:lnTo>
                        <a:pt x="55" y="0"/>
                      </a:lnTo>
                      <a:lnTo>
                        <a:pt x="51" y="0"/>
                      </a:lnTo>
                      <a:lnTo>
                        <a:pt x="46" y="0"/>
                      </a:lnTo>
                      <a:lnTo>
                        <a:pt x="42" y="0"/>
                      </a:lnTo>
                      <a:lnTo>
                        <a:pt x="37" y="0"/>
                      </a:lnTo>
                      <a:lnTo>
                        <a:pt x="33" y="0"/>
                      </a:lnTo>
                      <a:lnTo>
                        <a:pt x="29" y="1"/>
                      </a:lnTo>
                      <a:lnTo>
                        <a:pt x="25" y="1"/>
                      </a:lnTo>
                      <a:lnTo>
                        <a:pt x="21" y="2"/>
                      </a:lnTo>
                      <a:lnTo>
                        <a:pt x="17" y="2"/>
                      </a:lnTo>
                      <a:lnTo>
                        <a:pt x="14" y="3"/>
                      </a:lnTo>
                      <a:lnTo>
                        <a:pt x="12" y="4"/>
                      </a:lnTo>
                      <a:lnTo>
                        <a:pt x="8" y="4"/>
                      </a:lnTo>
                      <a:lnTo>
                        <a:pt x="6" y="6"/>
                      </a:lnTo>
                      <a:lnTo>
                        <a:pt x="4" y="6"/>
                      </a:lnTo>
                      <a:lnTo>
                        <a:pt x="3" y="7"/>
                      </a:lnTo>
                      <a:lnTo>
                        <a:pt x="1" y="8"/>
                      </a:lnTo>
                      <a:lnTo>
                        <a:pt x="0" y="9"/>
                      </a:lnTo>
                      <a:lnTo>
                        <a:pt x="0" y="10"/>
                      </a:lnTo>
                      <a:lnTo>
                        <a:pt x="0" y="11"/>
                      </a:lnTo>
                      <a:lnTo>
                        <a:pt x="0" y="12"/>
                      </a:lnTo>
                      <a:lnTo>
                        <a:pt x="0" y="13"/>
                      </a:lnTo>
                      <a:lnTo>
                        <a:pt x="1" y="14"/>
                      </a:lnTo>
                      <a:lnTo>
                        <a:pt x="3" y="15"/>
                      </a:lnTo>
                      <a:lnTo>
                        <a:pt x="4" y="16"/>
                      </a:lnTo>
                      <a:lnTo>
                        <a:pt x="6" y="17"/>
                      </a:lnTo>
                      <a:lnTo>
                        <a:pt x="8" y="17"/>
                      </a:lnTo>
                      <a:lnTo>
                        <a:pt x="12" y="18"/>
                      </a:lnTo>
                      <a:lnTo>
                        <a:pt x="14" y="19"/>
                      </a:lnTo>
                      <a:lnTo>
                        <a:pt x="17" y="20"/>
                      </a:lnTo>
                      <a:lnTo>
                        <a:pt x="21" y="20"/>
                      </a:lnTo>
                      <a:lnTo>
                        <a:pt x="25" y="21"/>
                      </a:lnTo>
                      <a:lnTo>
                        <a:pt x="29" y="21"/>
                      </a:lnTo>
                      <a:lnTo>
                        <a:pt x="33" y="22"/>
                      </a:lnTo>
                      <a:lnTo>
                        <a:pt x="37" y="22"/>
                      </a:lnTo>
                      <a:lnTo>
                        <a:pt x="42" y="22"/>
                      </a:lnTo>
                      <a:lnTo>
                        <a:pt x="46" y="23"/>
                      </a:lnTo>
                      <a:lnTo>
                        <a:pt x="51" y="23"/>
                      </a:lnTo>
                      <a:lnTo>
                        <a:pt x="55" y="23"/>
                      </a:lnTo>
                      <a:lnTo>
                        <a:pt x="60" y="22"/>
                      </a:lnTo>
                      <a:lnTo>
                        <a:pt x="64" y="22"/>
                      </a:lnTo>
                      <a:lnTo>
                        <a:pt x="69" y="22"/>
                      </a:lnTo>
                      <a:lnTo>
                        <a:pt x="72" y="21"/>
                      </a:lnTo>
                      <a:lnTo>
                        <a:pt x="76" y="21"/>
                      </a:lnTo>
                      <a:lnTo>
                        <a:pt x="80" y="20"/>
                      </a:lnTo>
                      <a:lnTo>
                        <a:pt x="84" y="20"/>
                      </a:lnTo>
                      <a:lnTo>
                        <a:pt x="87" y="19"/>
                      </a:lnTo>
                      <a:lnTo>
                        <a:pt x="90" y="18"/>
                      </a:lnTo>
                      <a:lnTo>
                        <a:pt x="93" y="17"/>
                      </a:lnTo>
                      <a:lnTo>
                        <a:pt x="95" y="17"/>
                      </a:lnTo>
                      <a:lnTo>
                        <a:pt x="97" y="16"/>
                      </a:lnTo>
                      <a:lnTo>
                        <a:pt x="99" y="15"/>
                      </a:lnTo>
                      <a:lnTo>
                        <a:pt x="101" y="14"/>
                      </a:lnTo>
                      <a:lnTo>
                        <a:pt x="102" y="13"/>
                      </a:lnTo>
                      <a:lnTo>
                        <a:pt x="102" y="12"/>
                      </a:lnTo>
                      <a:lnTo>
                        <a:pt x="103" y="11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09" name="Freeform 1343"/>
                <p:cNvSpPr>
                  <a:spLocks/>
                </p:cNvSpPr>
                <p:nvPr/>
              </p:nvSpPr>
              <p:spPr bwMode="auto">
                <a:xfrm>
                  <a:off x="3897" y="1461"/>
                  <a:ext cx="104" cy="17"/>
                </a:xfrm>
                <a:custGeom>
                  <a:avLst/>
                  <a:gdLst>
                    <a:gd name="T0" fmla="*/ 102 w 104"/>
                    <a:gd name="T1" fmla="*/ 6 h 17"/>
                    <a:gd name="T2" fmla="*/ 101 w 104"/>
                    <a:gd name="T3" fmla="*/ 8 h 17"/>
                    <a:gd name="T4" fmla="*/ 97 w 104"/>
                    <a:gd name="T5" fmla="*/ 10 h 17"/>
                    <a:gd name="T6" fmla="*/ 93 w 104"/>
                    <a:gd name="T7" fmla="*/ 11 h 17"/>
                    <a:gd name="T8" fmla="*/ 87 w 104"/>
                    <a:gd name="T9" fmla="*/ 12 h 17"/>
                    <a:gd name="T10" fmla="*/ 80 w 104"/>
                    <a:gd name="T11" fmla="*/ 14 h 17"/>
                    <a:gd name="T12" fmla="*/ 72 w 104"/>
                    <a:gd name="T13" fmla="*/ 14 h 17"/>
                    <a:gd name="T14" fmla="*/ 64 w 104"/>
                    <a:gd name="T15" fmla="*/ 15 h 17"/>
                    <a:gd name="T16" fmla="*/ 55 w 104"/>
                    <a:gd name="T17" fmla="*/ 16 h 17"/>
                    <a:gd name="T18" fmla="*/ 46 w 104"/>
                    <a:gd name="T19" fmla="*/ 16 h 17"/>
                    <a:gd name="T20" fmla="*/ 37 w 104"/>
                    <a:gd name="T21" fmla="*/ 15 h 17"/>
                    <a:gd name="T22" fmla="*/ 29 w 104"/>
                    <a:gd name="T23" fmla="*/ 14 h 17"/>
                    <a:gd name="T24" fmla="*/ 21 w 104"/>
                    <a:gd name="T25" fmla="*/ 14 h 17"/>
                    <a:gd name="T26" fmla="*/ 14 w 104"/>
                    <a:gd name="T27" fmla="*/ 12 h 17"/>
                    <a:gd name="T28" fmla="*/ 8 w 104"/>
                    <a:gd name="T29" fmla="*/ 11 h 17"/>
                    <a:gd name="T30" fmla="*/ 4 w 104"/>
                    <a:gd name="T31" fmla="*/ 10 h 17"/>
                    <a:gd name="T32" fmla="*/ 1 w 104"/>
                    <a:gd name="T33" fmla="*/ 8 h 17"/>
                    <a:gd name="T34" fmla="*/ 0 w 104"/>
                    <a:gd name="T35" fmla="*/ 6 h 17"/>
                    <a:gd name="T36" fmla="*/ 0 w 104"/>
                    <a:gd name="T37" fmla="*/ 0 h 17"/>
                    <a:gd name="T38" fmla="*/ 0 w 104"/>
                    <a:gd name="T39" fmla="*/ 2 h 17"/>
                    <a:gd name="T40" fmla="*/ 3 w 104"/>
                    <a:gd name="T41" fmla="*/ 4 h 17"/>
                    <a:gd name="T42" fmla="*/ 6 w 104"/>
                    <a:gd name="T43" fmla="*/ 5 h 17"/>
                    <a:gd name="T44" fmla="*/ 12 w 104"/>
                    <a:gd name="T45" fmla="*/ 6 h 17"/>
                    <a:gd name="T46" fmla="*/ 17 w 104"/>
                    <a:gd name="T47" fmla="*/ 8 h 17"/>
                    <a:gd name="T48" fmla="*/ 25 w 104"/>
                    <a:gd name="T49" fmla="*/ 9 h 17"/>
                    <a:gd name="T50" fmla="*/ 33 w 104"/>
                    <a:gd name="T51" fmla="*/ 10 h 17"/>
                    <a:gd name="T52" fmla="*/ 42 w 104"/>
                    <a:gd name="T53" fmla="*/ 10 h 17"/>
                    <a:gd name="T54" fmla="*/ 51 w 104"/>
                    <a:gd name="T55" fmla="*/ 10 h 17"/>
                    <a:gd name="T56" fmla="*/ 60 w 104"/>
                    <a:gd name="T57" fmla="*/ 10 h 17"/>
                    <a:gd name="T58" fmla="*/ 69 w 104"/>
                    <a:gd name="T59" fmla="*/ 10 h 17"/>
                    <a:gd name="T60" fmla="*/ 76 w 104"/>
                    <a:gd name="T61" fmla="*/ 9 h 17"/>
                    <a:gd name="T62" fmla="*/ 84 w 104"/>
                    <a:gd name="T63" fmla="*/ 8 h 17"/>
                    <a:gd name="T64" fmla="*/ 90 w 104"/>
                    <a:gd name="T65" fmla="*/ 6 h 17"/>
                    <a:gd name="T66" fmla="*/ 95 w 104"/>
                    <a:gd name="T67" fmla="*/ 5 h 17"/>
                    <a:gd name="T68" fmla="*/ 99 w 104"/>
                    <a:gd name="T69" fmla="*/ 4 h 17"/>
                    <a:gd name="T70" fmla="*/ 102 w 104"/>
                    <a:gd name="T71" fmla="*/ 2 h 17"/>
                    <a:gd name="T72" fmla="*/ 103 w 104"/>
                    <a:gd name="T73" fmla="*/ 0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04"/>
                    <a:gd name="T112" fmla="*/ 0 h 17"/>
                    <a:gd name="T113" fmla="*/ 104 w 104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04" h="17">
                      <a:moveTo>
                        <a:pt x="103" y="5"/>
                      </a:moveTo>
                      <a:lnTo>
                        <a:pt x="102" y="6"/>
                      </a:lnTo>
                      <a:lnTo>
                        <a:pt x="102" y="7"/>
                      </a:lnTo>
                      <a:lnTo>
                        <a:pt x="101" y="8"/>
                      </a:lnTo>
                      <a:lnTo>
                        <a:pt x="99" y="8"/>
                      </a:lnTo>
                      <a:lnTo>
                        <a:pt x="97" y="10"/>
                      </a:lnTo>
                      <a:lnTo>
                        <a:pt x="95" y="10"/>
                      </a:lnTo>
                      <a:lnTo>
                        <a:pt x="93" y="11"/>
                      </a:lnTo>
                      <a:lnTo>
                        <a:pt x="90" y="12"/>
                      </a:lnTo>
                      <a:lnTo>
                        <a:pt x="87" y="12"/>
                      </a:lnTo>
                      <a:lnTo>
                        <a:pt x="84" y="13"/>
                      </a:lnTo>
                      <a:lnTo>
                        <a:pt x="80" y="14"/>
                      </a:lnTo>
                      <a:lnTo>
                        <a:pt x="76" y="14"/>
                      </a:lnTo>
                      <a:lnTo>
                        <a:pt x="72" y="14"/>
                      </a:lnTo>
                      <a:lnTo>
                        <a:pt x="69" y="15"/>
                      </a:lnTo>
                      <a:lnTo>
                        <a:pt x="64" y="15"/>
                      </a:lnTo>
                      <a:lnTo>
                        <a:pt x="60" y="16"/>
                      </a:lnTo>
                      <a:lnTo>
                        <a:pt x="55" y="16"/>
                      </a:lnTo>
                      <a:lnTo>
                        <a:pt x="51" y="16"/>
                      </a:lnTo>
                      <a:lnTo>
                        <a:pt x="46" y="16"/>
                      </a:lnTo>
                      <a:lnTo>
                        <a:pt x="42" y="16"/>
                      </a:lnTo>
                      <a:lnTo>
                        <a:pt x="37" y="15"/>
                      </a:lnTo>
                      <a:lnTo>
                        <a:pt x="33" y="15"/>
                      </a:lnTo>
                      <a:lnTo>
                        <a:pt x="29" y="14"/>
                      </a:lnTo>
                      <a:lnTo>
                        <a:pt x="25" y="14"/>
                      </a:lnTo>
                      <a:lnTo>
                        <a:pt x="21" y="14"/>
                      </a:lnTo>
                      <a:lnTo>
                        <a:pt x="17" y="13"/>
                      </a:lnTo>
                      <a:lnTo>
                        <a:pt x="14" y="12"/>
                      </a:lnTo>
                      <a:lnTo>
                        <a:pt x="12" y="12"/>
                      </a:lnTo>
                      <a:lnTo>
                        <a:pt x="8" y="11"/>
                      </a:lnTo>
                      <a:lnTo>
                        <a:pt x="6" y="10"/>
                      </a:lnTo>
                      <a:lnTo>
                        <a:pt x="4" y="10"/>
                      </a:lnTo>
                      <a:lnTo>
                        <a:pt x="3" y="8"/>
                      </a:lnTo>
                      <a:lnTo>
                        <a:pt x="1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1" y="2"/>
                      </a:lnTo>
                      <a:lnTo>
                        <a:pt x="3" y="4"/>
                      </a:lnTo>
                      <a:lnTo>
                        <a:pt x="4" y="4"/>
                      </a:lnTo>
                      <a:lnTo>
                        <a:pt x="6" y="5"/>
                      </a:lnTo>
                      <a:lnTo>
                        <a:pt x="8" y="6"/>
                      </a:lnTo>
                      <a:lnTo>
                        <a:pt x="12" y="6"/>
                      </a:lnTo>
                      <a:lnTo>
                        <a:pt x="14" y="7"/>
                      </a:lnTo>
                      <a:lnTo>
                        <a:pt x="17" y="8"/>
                      </a:lnTo>
                      <a:lnTo>
                        <a:pt x="21" y="8"/>
                      </a:lnTo>
                      <a:lnTo>
                        <a:pt x="25" y="9"/>
                      </a:lnTo>
                      <a:lnTo>
                        <a:pt x="29" y="10"/>
                      </a:lnTo>
                      <a:lnTo>
                        <a:pt x="33" y="10"/>
                      </a:lnTo>
                      <a:lnTo>
                        <a:pt x="37" y="10"/>
                      </a:lnTo>
                      <a:lnTo>
                        <a:pt x="42" y="10"/>
                      </a:lnTo>
                      <a:lnTo>
                        <a:pt x="46" y="10"/>
                      </a:lnTo>
                      <a:lnTo>
                        <a:pt x="51" y="10"/>
                      </a:lnTo>
                      <a:lnTo>
                        <a:pt x="55" y="10"/>
                      </a:lnTo>
                      <a:lnTo>
                        <a:pt x="60" y="10"/>
                      </a:lnTo>
                      <a:lnTo>
                        <a:pt x="64" y="10"/>
                      </a:lnTo>
                      <a:lnTo>
                        <a:pt x="69" y="10"/>
                      </a:lnTo>
                      <a:lnTo>
                        <a:pt x="72" y="10"/>
                      </a:lnTo>
                      <a:lnTo>
                        <a:pt x="76" y="9"/>
                      </a:lnTo>
                      <a:lnTo>
                        <a:pt x="80" y="8"/>
                      </a:lnTo>
                      <a:lnTo>
                        <a:pt x="84" y="8"/>
                      </a:lnTo>
                      <a:lnTo>
                        <a:pt x="87" y="7"/>
                      </a:lnTo>
                      <a:lnTo>
                        <a:pt x="90" y="6"/>
                      </a:lnTo>
                      <a:lnTo>
                        <a:pt x="93" y="6"/>
                      </a:lnTo>
                      <a:lnTo>
                        <a:pt x="95" y="5"/>
                      </a:lnTo>
                      <a:lnTo>
                        <a:pt x="97" y="4"/>
                      </a:lnTo>
                      <a:lnTo>
                        <a:pt x="99" y="4"/>
                      </a:lnTo>
                      <a:lnTo>
                        <a:pt x="101" y="2"/>
                      </a:lnTo>
                      <a:lnTo>
                        <a:pt x="102" y="2"/>
                      </a:lnTo>
                      <a:lnTo>
                        <a:pt x="102" y="1"/>
                      </a:lnTo>
                      <a:lnTo>
                        <a:pt x="103" y="0"/>
                      </a:lnTo>
                      <a:lnTo>
                        <a:pt x="103" y="5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10" name="Freeform 1344"/>
                <p:cNvSpPr>
                  <a:spLocks/>
                </p:cNvSpPr>
                <p:nvPr/>
              </p:nvSpPr>
              <p:spPr bwMode="auto">
                <a:xfrm>
                  <a:off x="3840" y="1486"/>
                  <a:ext cx="220" cy="77"/>
                </a:xfrm>
                <a:custGeom>
                  <a:avLst/>
                  <a:gdLst>
                    <a:gd name="T0" fmla="*/ 0 w 220"/>
                    <a:gd name="T1" fmla="*/ 76 h 77"/>
                    <a:gd name="T2" fmla="*/ 219 w 220"/>
                    <a:gd name="T3" fmla="*/ 76 h 77"/>
                    <a:gd name="T4" fmla="*/ 219 w 220"/>
                    <a:gd name="T5" fmla="*/ 0 h 77"/>
                    <a:gd name="T6" fmla="*/ 0 w 220"/>
                    <a:gd name="T7" fmla="*/ 0 h 77"/>
                    <a:gd name="T8" fmla="*/ 0 w 220"/>
                    <a:gd name="T9" fmla="*/ 76 h 7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77"/>
                    <a:gd name="T17" fmla="*/ 220 w 220"/>
                    <a:gd name="T18" fmla="*/ 77 h 7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77">
                      <a:moveTo>
                        <a:pt x="0" y="76"/>
                      </a:moveTo>
                      <a:lnTo>
                        <a:pt x="219" y="76"/>
                      </a:lnTo>
                      <a:lnTo>
                        <a:pt x="219" y="0"/>
                      </a:lnTo>
                      <a:lnTo>
                        <a:pt x="0" y="0"/>
                      </a:lnTo>
                      <a:lnTo>
                        <a:pt x="0" y="76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11" name="Freeform 1345"/>
                <p:cNvSpPr>
                  <a:spLocks/>
                </p:cNvSpPr>
                <p:nvPr/>
              </p:nvSpPr>
              <p:spPr bwMode="auto">
                <a:xfrm>
                  <a:off x="3875" y="1449"/>
                  <a:ext cx="69" cy="17"/>
                </a:xfrm>
                <a:custGeom>
                  <a:avLst/>
                  <a:gdLst>
                    <a:gd name="T0" fmla="*/ 0 w 69"/>
                    <a:gd name="T1" fmla="*/ 16 h 17"/>
                    <a:gd name="T2" fmla="*/ 0 w 69"/>
                    <a:gd name="T3" fmla="*/ 0 h 17"/>
                    <a:gd name="T4" fmla="*/ 68 w 69"/>
                    <a:gd name="T5" fmla="*/ 0 h 17"/>
                    <a:gd name="T6" fmla="*/ 68 w 69"/>
                    <a:gd name="T7" fmla="*/ 16 h 17"/>
                    <a:gd name="T8" fmla="*/ 0 w 69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9"/>
                    <a:gd name="T16" fmla="*/ 0 h 17"/>
                    <a:gd name="T17" fmla="*/ 69 w 69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9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68" y="0"/>
                      </a:lnTo>
                      <a:lnTo>
                        <a:pt x="68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12" name="Freeform 1346"/>
                <p:cNvSpPr>
                  <a:spLocks/>
                </p:cNvSpPr>
                <p:nvPr/>
              </p:nvSpPr>
              <p:spPr bwMode="auto">
                <a:xfrm>
                  <a:off x="3931" y="1450"/>
                  <a:ext cx="94" cy="17"/>
                </a:xfrm>
                <a:custGeom>
                  <a:avLst/>
                  <a:gdLst>
                    <a:gd name="T0" fmla="*/ 0 w 94"/>
                    <a:gd name="T1" fmla="*/ 16 h 17"/>
                    <a:gd name="T2" fmla="*/ 0 w 94"/>
                    <a:gd name="T3" fmla="*/ 0 h 17"/>
                    <a:gd name="T4" fmla="*/ 93 w 94"/>
                    <a:gd name="T5" fmla="*/ 0 h 17"/>
                    <a:gd name="T6" fmla="*/ 93 w 94"/>
                    <a:gd name="T7" fmla="*/ 16 h 17"/>
                    <a:gd name="T8" fmla="*/ 0 w 94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4"/>
                    <a:gd name="T16" fmla="*/ 0 h 17"/>
                    <a:gd name="T17" fmla="*/ 94 w 9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4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93" y="0"/>
                      </a:lnTo>
                      <a:lnTo>
                        <a:pt x="93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13" name="Freeform 1347"/>
                <p:cNvSpPr>
                  <a:spLocks/>
                </p:cNvSpPr>
                <p:nvPr/>
              </p:nvSpPr>
              <p:spPr bwMode="auto">
                <a:xfrm>
                  <a:off x="3877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14" name="Freeform 1348"/>
                <p:cNvSpPr>
                  <a:spLocks/>
                </p:cNvSpPr>
                <p:nvPr/>
              </p:nvSpPr>
              <p:spPr bwMode="auto">
                <a:xfrm>
                  <a:off x="388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4 w 17"/>
                    <a:gd name="T7" fmla="*/ 16 h 17"/>
                    <a:gd name="T8" fmla="*/ 8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15" name="Freeform 1349"/>
                <p:cNvSpPr>
                  <a:spLocks/>
                </p:cNvSpPr>
                <p:nvPr/>
              </p:nvSpPr>
              <p:spPr bwMode="auto">
                <a:xfrm>
                  <a:off x="388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16" name="Freeform 1350"/>
                <p:cNvSpPr>
                  <a:spLocks/>
                </p:cNvSpPr>
                <p:nvPr/>
              </p:nvSpPr>
              <p:spPr bwMode="auto">
                <a:xfrm>
                  <a:off x="388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17" name="Freeform 1351"/>
                <p:cNvSpPr>
                  <a:spLocks/>
                </p:cNvSpPr>
                <p:nvPr/>
              </p:nvSpPr>
              <p:spPr bwMode="auto">
                <a:xfrm>
                  <a:off x="388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18" name="Freeform 1352"/>
                <p:cNvSpPr>
                  <a:spLocks/>
                </p:cNvSpPr>
                <p:nvPr/>
              </p:nvSpPr>
              <p:spPr bwMode="auto">
                <a:xfrm>
                  <a:off x="389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19" name="Freeform 1353"/>
                <p:cNvSpPr>
                  <a:spLocks/>
                </p:cNvSpPr>
                <p:nvPr/>
              </p:nvSpPr>
              <p:spPr bwMode="auto">
                <a:xfrm>
                  <a:off x="389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20" name="Freeform 1354"/>
                <p:cNvSpPr>
                  <a:spLocks/>
                </p:cNvSpPr>
                <p:nvPr/>
              </p:nvSpPr>
              <p:spPr bwMode="auto">
                <a:xfrm>
                  <a:off x="3894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21" name="Freeform 1355"/>
                <p:cNvSpPr>
                  <a:spLocks/>
                </p:cNvSpPr>
                <p:nvPr/>
              </p:nvSpPr>
              <p:spPr bwMode="auto">
                <a:xfrm>
                  <a:off x="389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22" name="Freeform 1356"/>
                <p:cNvSpPr>
                  <a:spLocks/>
                </p:cNvSpPr>
                <p:nvPr/>
              </p:nvSpPr>
              <p:spPr bwMode="auto">
                <a:xfrm>
                  <a:off x="390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23" name="Freeform 1357"/>
                <p:cNvSpPr>
                  <a:spLocks/>
                </p:cNvSpPr>
                <p:nvPr/>
              </p:nvSpPr>
              <p:spPr bwMode="auto">
                <a:xfrm>
                  <a:off x="390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0 w 17"/>
                    <a:gd name="T5" fmla="*/ 16 h 17"/>
                    <a:gd name="T6" fmla="*/ 8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0" y="16"/>
                      </a:lnTo>
                      <a:lnTo>
                        <a:pt x="8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24" name="Freeform 1358"/>
                <p:cNvSpPr>
                  <a:spLocks/>
                </p:cNvSpPr>
                <p:nvPr/>
              </p:nvSpPr>
              <p:spPr bwMode="auto">
                <a:xfrm>
                  <a:off x="390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6 h 17"/>
                    <a:gd name="T6" fmla="*/ 8 w 17"/>
                    <a:gd name="T7" fmla="*/ 16 h 17"/>
                    <a:gd name="T8" fmla="*/ 12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25" name="Freeform 1359"/>
                <p:cNvSpPr>
                  <a:spLocks/>
                </p:cNvSpPr>
                <p:nvPr/>
              </p:nvSpPr>
              <p:spPr bwMode="auto">
                <a:xfrm>
                  <a:off x="390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26" name="Freeform 1360"/>
                <p:cNvSpPr>
                  <a:spLocks/>
                </p:cNvSpPr>
                <p:nvPr/>
              </p:nvSpPr>
              <p:spPr bwMode="auto">
                <a:xfrm>
                  <a:off x="391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27" name="Freeform 1361"/>
                <p:cNvSpPr>
                  <a:spLocks/>
                </p:cNvSpPr>
                <p:nvPr/>
              </p:nvSpPr>
              <p:spPr bwMode="auto">
                <a:xfrm>
                  <a:off x="391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28" name="Freeform 1362"/>
                <p:cNvSpPr>
                  <a:spLocks/>
                </p:cNvSpPr>
                <p:nvPr/>
              </p:nvSpPr>
              <p:spPr bwMode="auto">
                <a:xfrm>
                  <a:off x="3916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29" name="Freeform 1363"/>
                <p:cNvSpPr>
                  <a:spLocks/>
                </p:cNvSpPr>
                <p:nvPr/>
              </p:nvSpPr>
              <p:spPr bwMode="auto">
                <a:xfrm>
                  <a:off x="391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30" name="Freeform 1364"/>
                <p:cNvSpPr>
                  <a:spLocks/>
                </p:cNvSpPr>
                <p:nvPr/>
              </p:nvSpPr>
              <p:spPr bwMode="auto">
                <a:xfrm>
                  <a:off x="3921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31" name="Freeform 1365"/>
                <p:cNvSpPr>
                  <a:spLocks/>
                </p:cNvSpPr>
                <p:nvPr/>
              </p:nvSpPr>
              <p:spPr bwMode="auto">
                <a:xfrm>
                  <a:off x="392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32" name="Freeform 1366"/>
                <p:cNvSpPr>
                  <a:spLocks/>
                </p:cNvSpPr>
                <p:nvPr/>
              </p:nvSpPr>
              <p:spPr bwMode="auto">
                <a:xfrm>
                  <a:off x="392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33" name="Freeform 1367"/>
                <p:cNvSpPr>
                  <a:spLocks/>
                </p:cNvSpPr>
                <p:nvPr/>
              </p:nvSpPr>
              <p:spPr bwMode="auto">
                <a:xfrm>
                  <a:off x="3855" y="1279"/>
                  <a:ext cx="187" cy="174"/>
                </a:xfrm>
                <a:custGeom>
                  <a:avLst/>
                  <a:gdLst>
                    <a:gd name="T0" fmla="*/ 180 w 187"/>
                    <a:gd name="T1" fmla="*/ 173 h 174"/>
                    <a:gd name="T2" fmla="*/ 180 w 187"/>
                    <a:gd name="T3" fmla="*/ 173 h 174"/>
                    <a:gd name="T4" fmla="*/ 180 w 187"/>
                    <a:gd name="T5" fmla="*/ 172 h 174"/>
                    <a:gd name="T6" fmla="*/ 182 w 187"/>
                    <a:gd name="T7" fmla="*/ 172 h 174"/>
                    <a:gd name="T8" fmla="*/ 182 w 187"/>
                    <a:gd name="T9" fmla="*/ 172 h 174"/>
                    <a:gd name="T10" fmla="*/ 183 w 187"/>
                    <a:gd name="T11" fmla="*/ 171 h 174"/>
                    <a:gd name="T12" fmla="*/ 183 w 187"/>
                    <a:gd name="T13" fmla="*/ 171 h 174"/>
                    <a:gd name="T14" fmla="*/ 184 w 187"/>
                    <a:gd name="T15" fmla="*/ 171 h 174"/>
                    <a:gd name="T16" fmla="*/ 184 w 187"/>
                    <a:gd name="T17" fmla="*/ 170 h 174"/>
                    <a:gd name="T18" fmla="*/ 184 w 187"/>
                    <a:gd name="T19" fmla="*/ 170 h 174"/>
                    <a:gd name="T20" fmla="*/ 184 w 187"/>
                    <a:gd name="T21" fmla="*/ 169 h 174"/>
                    <a:gd name="T22" fmla="*/ 185 w 187"/>
                    <a:gd name="T23" fmla="*/ 169 h 174"/>
                    <a:gd name="T24" fmla="*/ 185 w 187"/>
                    <a:gd name="T25" fmla="*/ 168 h 174"/>
                    <a:gd name="T26" fmla="*/ 186 w 187"/>
                    <a:gd name="T27" fmla="*/ 167 h 174"/>
                    <a:gd name="T28" fmla="*/ 186 w 187"/>
                    <a:gd name="T29" fmla="*/ 167 h 174"/>
                    <a:gd name="T30" fmla="*/ 186 w 187"/>
                    <a:gd name="T31" fmla="*/ 6 h 174"/>
                    <a:gd name="T32" fmla="*/ 186 w 187"/>
                    <a:gd name="T33" fmla="*/ 5 h 174"/>
                    <a:gd name="T34" fmla="*/ 186 w 187"/>
                    <a:gd name="T35" fmla="*/ 5 h 174"/>
                    <a:gd name="T36" fmla="*/ 185 w 187"/>
                    <a:gd name="T37" fmla="*/ 5 h 174"/>
                    <a:gd name="T38" fmla="*/ 185 w 187"/>
                    <a:gd name="T39" fmla="*/ 3 h 174"/>
                    <a:gd name="T40" fmla="*/ 184 w 187"/>
                    <a:gd name="T41" fmla="*/ 3 h 174"/>
                    <a:gd name="T42" fmla="*/ 184 w 187"/>
                    <a:gd name="T43" fmla="*/ 2 h 174"/>
                    <a:gd name="T44" fmla="*/ 184 w 187"/>
                    <a:gd name="T45" fmla="*/ 1 h 174"/>
                    <a:gd name="T46" fmla="*/ 183 w 187"/>
                    <a:gd name="T47" fmla="*/ 1 h 174"/>
                    <a:gd name="T48" fmla="*/ 183 w 187"/>
                    <a:gd name="T49" fmla="*/ 1 h 174"/>
                    <a:gd name="T50" fmla="*/ 182 w 187"/>
                    <a:gd name="T51" fmla="*/ 1 h 174"/>
                    <a:gd name="T52" fmla="*/ 182 w 187"/>
                    <a:gd name="T53" fmla="*/ 0 h 174"/>
                    <a:gd name="T54" fmla="*/ 180 w 187"/>
                    <a:gd name="T55" fmla="*/ 0 h 174"/>
                    <a:gd name="T56" fmla="*/ 180 w 187"/>
                    <a:gd name="T57" fmla="*/ 0 h 174"/>
                    <a:gd name="T58" fmla="*/ 180 w 187"/>
                    <a:gd name="T59" fmla="*/ 0 h 174"/>
                    <a:gd name="T60" fmla="*/ 5 w 187"/>
                    <a:gd name="T61" fmla="*/ 0 h 174"/>
                    <a:gd name="T62" fmla="*/ 4 w 187"/>
                    <a:gd name="T63" fmla="*/ 0 h 174"/>
                    <a:gd name="T64" fmla="*/ 3 w 187"/>
                    <a:gd name="T65" fmla="*/ 0 h 174"/>
                    <a:gd name="T66" fmla="*/ 3 w 187"/>
                    <a:gd name="T67" fmla="*/ 0 h 174"/>
                    <a:gd name="T68" fmla="*/ 2 w 187"/>
                    <a:gd name="T69" fmla="*/ 0 h 174"/>
                    <a:gd name="T70" fmla="*/ 2 w 187"/>
                    <a:gd name="T71" fmla="*/ 1 h 174"/>
                    <a:gd name="T72" fmla="*/ 1 w 187"/>
                    <a:gd name="T73" fmla="*/ 1 h 174"/>
                    <a:gd name="T74" fmla="*/ 1 w 187"/>
                    <a:gd name="T75" fmla="*/ 1 h 174"/>
                    <a:gd name="T76" fmla="*/ 1 w 187"/>
                    <a:gd name="T77" fmla="*/ 2 h 174"/>
                    <a:gd name="T78" fmla="*/ 0 w 187"/>
                    <a:gd name="T79" fmla="*/ 3 h 174"/>
                    <a:gd name="T80" fmla="*/ 0 w 187"/>
                    <a:gd name="T81" fmla="*/ 3 h 174"/>
                    <a:gd name="T82" fmla="*/ 0 w 187"/>
                    <a:gd name="T83" fmla="*/ 3 h 174"/>
                    <a:gd name="T84" fmla="*/ 0 w 187"/>
                    <a:gd name="T85" fmla="*/ 5 h 174"/>
                    <a:gd name="T86" fmla="*/ 0 w 187"/>
                    <a:gd name="T87" fmla="*/ 5 h 174"/>
                    <a:gd name="T88" fmla="*/ 0 w 187"/>
                    <a:gd name="T89" fmla="*/ 6 h 174"/>
                    <a:gd name="T90" fmla="*/ 0 w 187"/>
                    <a:gd name="T91" fmla="*/ 167 h 174"/>
                    <a:gd name="T92" fmla="*/ 0 w 187"/>
                    <a:gd name="T93" fmla="*/ 167 h 174"/>
                    <a:gd name="T94" fmla="*/ 0 w 187"/>
                    <a:gd name="T95" fmla="*/ 168 h 174"/>
                    <a:gd name="T96" fmla="*/ 0 w 187"/>
                    <a:gd name="T97" fmla="*/ 169 h 174"/>
                    <a:gd name="T98" fmla="*/ 0 w 187"/>
                    <a:gd name="T99" fmla="*/ 169 h 174"/>
                    <a:gd name="T100" fmla="*/ 0 w 187"/>
                    <a:gd name="T101" fmla="*/ 170 h 174"/>
                    <a:gd name="T102" fmla="*/ 1 w 187"/>
                    <a:gd name="T103" fmla="*/ 170 h 174"/>
                    <a:gd name="T104" fmla="*/ 1 w 187"/>
                    <a:gd name="T105" fmla="*/ 171 h 174"/>
                    <a:gd name="T106" fmla="*/ 1 w 187"/>
                    <a:gd name="T107" fmla="*/ 171 h 174"/>
                    <a:gd name="T108" fmla="*/ 2 w 187"/>
                    <a:gd name="T109" fmla="*/ 171 h 174"/>
                    <a:gd name="T110" fmla="*/ 2 w 187"/>
                    <a:gd name="T111" fmla="*/ 172 h 174"/>
                    <a:gd name="T112" fmla="*/ 2 w 187"/>
                    <a:gd name="T113" fmla="*/ 172 h 174"/>
                    <a:gd name="T114" fmla="*/ 3 w 187"/>
                    <a:gd name="T115" fmla="*/ 172 h 174"/>
                    <a:gd name="T116" fmla="*/ 3 w 187"/>
                    <a:gd name="T117" fmla="*/ 172 h 174"/>
                    <a:gd name="T118" fmla="*/ 4 w 187"/>
                    <a:gd name="T119" fmla="*/ 173 h 174"/>
                    <a:gd name="T120" fmla="*/ 5 w 187"/>
                    <a:gd name="T121" fmla="*/ 173 h 174"/>
                    <a:gd name="T122" fmla="*/ 180 w 187"/>
                    <a:gd name="T123" fmla="*/ 173 h 174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w 187"/>
                    <a:gd name="T187" fmla="*/ 0 h 174"/>
                    <a:gd name="T188" fmla="*/ 187 w 187"/>
                    <a:gd name="T189" fmla="*/ 174 h 174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T186" t="T187" r="T188" b="T189"/>
                  <a:pathLst>
                    <a:path w="187" h="174">
                      <a:moveTo>
                        <a:pt x="180" y="173"/>
                      </a:moveTo>
                      <a:lnTo>
                        <a:pt x="180" y="173"/>
                      </a:lnTo>
                      <a:lnTo>
                        <a:pt x="180" y="172"/>
                      </a:lnTo>
                      <a:lnTo>
                        <a:pt x="182" y="172"/>
                      </a:lnTo>
                      <a:lnTo>
                        <a:pt x="183" y="171"/>
                      </a:lnTo>
                      <a:lnTo>
                        <a:pt x="184" y="171"/>
                      </a:lnTo>
                      <a:lnTo>
                        <a:pt x="184" y="170"/>
                      </a:lnTo>
                      <a:lnTo>
                        <a:pt x="184" y="169"/>
                      </a:lnTo>
                      <a:lnTo>
                        <a:pt x="185" y="169"/>
                      </a:lnTo>
                      <a:lnTo>
                        <a:pt x="185" y="168"/>
                      </a:lnTo>
                      <a:lnTo>
                        <a:pt x="186" y="167"/>
                      </a:lnTo>
                      <a:lnTo>
                        <a:pt x="186" y="6"/>
                      </a:lnTo>
                      <a:lnTo>
                        <a:pt x="186" y="5"/>
                      </a:lnTo>
                      <a:lnTo>
                        <a:pt x="185" y="5"/>
                      </a:lnTo>
                      <a:lnTo>
                        <a:pt x="185" y="3"/>
                      </a:lnTo>
                      <a:lnTo>
                        <a:pt x="184" y="3"/>
                      </a:lnTo>
                      <a:lnTo>
                        <a:pt x="184" y="2"/>
                      </a:lnTo>
                      <a:lnTo>
                        <a:pt x="184" y="1"/>
                      </a:lnTo>
                      <a:lnTo>
                        <a:pt x="183" y="1"/>
                      </a:lnTo>
                      <a:lnTo>
                        <a:pt x="182" y="1"/>
                      </a:lnTo>
                      <a:lnTo>
                        <a:pt x="182" y="0"/>
                      </a:lnTo>
                      <a:lnTo>
                        <a:pt x="180" y="0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2" y="1"/>
                      </a:lnTo>
                      <a:lnTo>
                        <a:pt x="1" y="1"/>
                      </a:lnTo>
                      <a:lnTo>
                        <a:pt x="1" y="2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0" y="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0" y="169"/>
                      </a:lnTo>
                      <a:lnTo>
                        <a:pt x="0" y="170"/>
                      </a:lnTo>
                      <a:lnTo>
                        <a:pt x="1" y="170"/>
                      </a:lnTo>
                      <a:lnTo>
                        <a:pt x="1" y="171"/>
                      </a:lnTo>
                      <a:lnTo>
                        <a:pt x="2" y="171"/>
                      </a:lnTo>
                      <a:lnTo>
                        <a:pt x="2" y="172"/>
                      </a:lnTo>
                      <a:lnTo>
                        <a:pt x="3" y="172"/>
                      </a:lnTo>
                      <a:lnTo>
                        <a:pt x="4" y="173"/>
                      </a:lnTo>
                      <a:lnTo>
                        <a:pt x="5" y="173"/>
                      </a:lnTo>
                      <a:lnTo>
                        <a:pt x="180" y="173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34" name="Freeform 1368"/>
                <p:cNvSpPr>
                  <a:spLocks/>
                </p:cNvSpPr>
                <p:nvPr/>
              </p:nvSpPr>
              <p:spPr bwMode="auto">
                <a:xfrm>
                  <a:off x="3855" y="1281"/>
                  <a:ext cx="186" cy="172"/>
                </a:xfrm>
                <a:custGeom>
                  <a:avLst/>
                  <a:gdLst>
                    <a:gd name="T0" fmla="*/ 185 w 186"/>
                    <a:gd name="T1" fmla="*/ 165 h 172"/>
                    <a:gd name="T2" fmla="*/ 185 w 186"/>
                    <a:gd name="T3" fmla="*/ 166 h 172"/>
                    <a:gd name="T4" fmla="*/ 185 w 186"/>
                    <a:gd name="T5" fmla="*/ 167 h 172"/>
                    <a:gd name="T6" fmla="*/ 184 w 186"/>
                    <a:gd name="T7" fmla="*/ 167 h 172"/>
                    <a:gd name="T8" fmla="*/ 184 w 186"/>
                    <a:gd name="T9" fmla="*/ 168 h 172"/>
                    <a:gd name="T10" fmla="*/ 183 w 186"/>
                    <a:gd name="T11" fmla="*/ 169 h 172"/>
                    <a:gd name="T12" fmla="*/ 183 w 186"/>
                    <a:gd name="T13" fmla="*/ 169 h 172"/>
                    <a:gd name="T14" fmla="*/ 182 w 186"/>
                    <a:gd name="T15" fmla="*/ 170 h 172"/>
                    <a:gd name="T16" fmla="*/ 182 w 186"/>
                    <a:gd name="T17" fmla="*/ 170 h 172"/>
                    <a:gd name="T18" fmla="*/ 181 w 186"/>
                    <a:gd name="T19" fmla="*/ 170 h 172"/>
                    <a:gd name="T20" fmla="*/ 181 w 186"/>
                    <a:gd name="T21" fmla="*/ 171 h 172"/>
                    <a:gd name="T22" fmla="*/ 180 w 186"/>
                    <a:gd name="T23" fmla="*/ 171 h 172"/>
                    <a:gd name="T24" fmla="*/ 179 w 186"/>
                    <a:gd name="T25" fmla="*/ 171 h 172"/>
                    <a:gd name="T26" fmla="*/ 4 w 186"/>
                    <a:gd name="T27" fmla="*/ 171 h 172"/>
                    <a:gd name="T28" fmla="*/ 3 w 186"/>
                    <a:gd name="T29" fmla="*/ 171 h 172"/>
                    <a:gd name="T30" fmla="*/ 3 w 186"/>
                    <a:gd name="T31" fmla="*/ 171 h 172"/>
                    <a:gd name="T32" fmla="*/ 3 w 186"/>
                    <a:gd name="T33" fmla="*/ 170 h 172"/>
                    <a:gd name="T34" fmla="*/ 2 w 186"/>
                    <a:gd name="T35" fmla="*/ 170 h 172"/>
                    <a:gd name="T36" fmla="*/ 2 w 186"/>
                    <a:gd name="T37" fmla="*/ 170 h 172"/>
                    <a:gd name="T38" fmla="*/ 1 w 186"/>
                    <a:gd name="T39" fmla="*/ 169 h 172"/>
                    <a:gd name="T40" fmla="*/ 1 w 186"/>
                    <a:gd name="T41" fmla="*/ 169 h 172"/>
                    <a:gd name="T42" fmla="*/ 0 w 186"/>
                    <a:gd name="T43" fmla="*/ 169 h 172"/>
                    <a:gd name="T44" fmla="*/ 0 w 186"/>
                    <a:gd name="T45" fmla="*/ 168 h 172"/>
                    <a:gd name="T46" fmla="*/ 0 w 186"/>
                    <a:gd name="T47" fmla="*/ 167 h 172"/>
                    <a:gd name="T48" fmla="*/ 0 w 186"/>
                    <a:gd name="T49" fmla="*/ 167 h 172"/>
                    <a:gd name="T50" fmla="*/ 0 w 186"/>
                    <a:gd name="T51" fmla="*/ 166 h 172"/>
                    <a:gd name="T52" fmla="*/ 0 w 186"/>
                    <a:gd name="T53" fmla="*/ 165 h 172"/>
                    <a:gd name="T54" fmla="*/ 0 w 186"/>
                    <a:gd name="T55" fmla="*/ 5 h 172"/>
                    <a:gd name="T56" fmla="*/ 0 w 186"/>
                    <a:gd name="T57" fmla="*/ 4 h 172"/>
                    <a:gd name="T58" fmla="*/ 0 w 186"/>
                    <a:gd name="T59" fmla="*/ 3 h 172"/>
                    <a:gd name="T60" fmla="*/ 0 w 186"/>
                    <a:gd name="T61" fmla="*/ 3 h 172"/>
                    <a:gd name="T62" fmla="*/ 0 w 186"/>
                    <a:gd name="T63" fmla="*/ 2 h 172"/>
                    <a:gd name="T64" fmla="*/ 0 w 186"/>
                    <a:gd name="T65" fmla="*/ 2 h 172"/>
                    <a:gd name="T66" fmla="*/ 1 w 186"/>
                    <a:gd name="T67" fmla="*/ 1 h 172"/>
                    <a:gd name="T68" fmla="*/ 1 w 186"/>
                    <a:gd name="T69" fmla="*/ 1 h 172"/>
                    <a:gd name="T70" fmla="*/ 2 w 186"/>
                    <a:gd name="T71" fmla="*/ 1 h 172"/>
                    <a:gd name="T72" fmla="*/ 2 w 186"/>
                    <a:gd name="T73" fmla="*/ 0 h 172"/>
                    <a:gd name="T74" fmla="*/ 2 w 186"/>
                    <a:gd name="T75" fmla="*/ 0 h 172"/>
                    <a:gd name="T76" fmla="*/ 3 w 186"/>
                    <a:gd name="T77" fmla="*/ 0 h 172"/>
                    <a:gd name="T78" fmla="*/ 3 w 186"/>
                    <a:gd name="T79" fmla="*/ 0 h 172"/>
                    <a:gd name="T80" fmla="*/ 4 w 186"/>
                    <a:gd name="T81" fmla="*/ 0 h 172"/>
                    <a:gd name="T82" fmla="*/ 179 w 186"/>
                    <a:gd name="T83" fmla="*/ 0 h 172"/>
                    <a:gd name="T84" fmla="*/ 180 w 186"/>
                    <a:gd name="T85" fmla="*/ 0 h 172"/>
                    <a:gd name="T86" fmla="*/ 181 w 186"/>
                    <a:gd name="T87" fmla="*/ 0 h 172"/>
                    <a:gd name="T88" fmla="*/ 181 w 186"/>
                    <a:gd name="T89" fmla="*/ 0 h 172"/>
                    <a:gd name="T90" fmla="*/ 182 w 186"/>
                    <a:gd name="T91" fmla="*/ 0 h 172"/>
                    <a:gd name="T92" fmla="*/ 182 w 186"/>
                    <a:gd name="T93" fmla="*/ 1 h 172"/>
                    <a:gd name="T94" fmla="*/ 183 w 186"/>
                    <a:gd name="T95" fmla="*/ 1 h 172"/>
                    <a:gd name="T96" fmla="*/ 183 w 186"/>
                    <a:gd name="T97" fmla="*/ 1 h 172"/>
                    <a:gd name="T98" fmla="*/ 183 w 186"/>
                    <a:gd name="T99" fmla="*/ 2 h 172"/>
                    <a:gd name="T100" fmla="*/ 184 w 186"/>
                    <a:gd name="T101" fmla="*/ 2 h 172"/>
                    <a:gd name="T102" fmla="*/ 184 w 186"/>
                    <a:gd name="T103" fmla="*/ 3 h 172"/>
                    <a:gd name="T104" fmla="*/ 185 w 186"/>
                    <a:gd name="T105" fmla="*/ 3 h 172"/>
                    <a:gd name="T106" fmla="*/ 185 w 186"/>
                    <a:gd name="T107" fmla="*/ 4 h 172"/>
                    <a:gd name="T108" fmla="*/ 185 w 186"/>
                    <a:gd name="T109" fmla="*/ 5 h 172"/>
                    <a:gd name="T110" fmla="*/ 185 w 186"/>
                    <a:gd name="T111" fmla="*/ 165 h 172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86"/>
                    <a:gd name="T169" fmla="*/ 0 h 172"/>
                    <a:gd name="T170" fmla="*/ 186 w 186"/>
                    <a:gd name="T171" fmla="*/ 172 h 172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86" h="172">
                      <a:moveTo>
                        <a:pt x="185" y="165"/>
                      </a:moveTo>
                      <a:lnTo>
                        <a:pt x="185" y="166"/>
                      </a:lnTo>
                      <a:lnTo>
                        <a:pt x="185" y="167"/>
                      </a:lnTo>
                      <a:lnTo>
                        <a:pt x="184" y="167"/>
                      </a:lnTo>
                      <a:lnTo>
                        <a:pt x="184" y="168"/>
                      </a:lnTo>
                      <a:lnTo>
                        <a:pt x="183" y="169"/>
                      </a:lnTo>
                      <a:lnTo>
                        <a:pt x="182" y="170"/>
                      </a:lnTo>
                      <a:lnTo>
                        <a:pt x="181" y="170"/>
                      </a:lnTo>
                      <a:lnTo>
                        <a:pt x="181" y="171"/>
                      </a:lnTo>
                      <a:lnTo>
                        <a:pt x="180" y="171"/>
                      </a:lnTo>
                      <a:lnTo>
                        <a:pt x="179" y="171"/>
                      </a:lnTo>
                      <a:lnTo>
                        <a:pt x="4" y="171"/>
                      </a:lnTo>
                      <a:lnTo>
                        <a:pt x="3" y="171"/>
                      </a:lnTo>
                      <a:lnTo>
                        <a:pt x="3" y="170"/>
                      </a:lnTo>
                      <a:lnTo>
                        <a:pt x="2" y="170"/>
                      </a:lnTo>
                      <a:lnTo>
                        <a:pt x="1" y="169"/>
                      </a:lnTo>
                      <a:lnTo>
                        <a:pt x="0" y="169"/>
                      </a:lnTo>
                      <a:lnTo>
                        <a:pt x="0" y="168"/>
                      </a:lnTo>
                      <a:lnTo>
                        <a:pt x="0" y="167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79" y="0"/>
                      </a:lnTo>
                      <a:lnTo>
                        <a:pt x="180" y="0"/>
                      </a:lnTo>
                      <a:lnTo>
                        <a:pt x="181" y="0"/>
                      </a:lnTo>
                      <a:lnTo>
                        <a:pt x="182" y="0"/>
                      </a:lnTo>
                      <a:lnTo>
                        <a:pt x="182" y="1"/>
                      </a:lnTo>
                      <a:lnTo>
                        <a:pt x="183" y="1"/>
                      </a:lnTo>
                      <a:lnTo>
                        <a:pt x="183" y="2"/>
                      </a:lnTo>
                      <a:lnTo>
                        <a:pt x="184" y="2"/>
                      </a:lnTo>
                      <a:lnTo>
                        <a:pt x="184" y="3"/>
                      </a:lnTo>
                      <a:lnTo>
                        <a:pt x="185" y="3"/>
                      </a:lnTo>
                      <a:lnTo>
                        <a:pt x="185" y="4"/>
                      </a:lnTo>
                      <a:lnTo>
                        <a:pt x="185" y="5"/>
                      </a:lnTo>
                      <a:lnTo>
                        <a:pt x="185" y="165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35" name="Freeform 1369"/>
                <p:cNvSpPr>
                  <a:spLocks/>
                </p:cNvSpPr>
                <p:nvPr/>
              </p:nvSpPr>
              <p:spPr bwMode="auto">
                <a:xfrm>
                  <a:off x="3857" y="1281"/>
                  <a:ext cx="181" cy="171"/>
                </a:xfrm>
                <a:custGeom>
                  <a:avLst/>
                  <a:gdLst>
                    <a:gd name="T0" fmla="*/ 180 w 181"/>
                    <a:gd name="T1" fmla="*/ 3 h 171"/>
                    <a:gd name="T2" fmla="*/ 180 w 181"/>
                    <a:gd name="T3" fmla="*/ 3 h 171"/>
                    <a:gd name="T4" fmla="*/ 180 w 181"/>
                    <a:gd name="T5" fmla="*/ 2 h 171"/>
                    <a:gd name="T6" fmla="*/ 179 w 181"/>
                    <a:gd name="T7" fmla="*/ 2 h 171"/>
                    <a:gd name="T8" fmla="*/ 179 w 181"/>
                    <a:gd name="T9" fmla="*/ 1 h 171"/>
                    <a:gd name="T10" fmla="*/ 178 w 181"/>
                    <a:gd name="T11" fmla="*/ 1 h 171"/>
                    <a:gd name="T12" fmla="*/ 178 w 181"/>
                    <a:gd name="T13" fmla="*/ 0 h 171"/>
                    <a:gd name="T14" fmla="*/ 177 w 181"/>
                    <a:gd name="T15" fmla="*/ 0 h 171"/>
                    <a:gd name="T16" fmla="*/ 177 w 181"/>
                    <a:gd name="T17" fmla="*/ 0 h 171"/>
                    <a:gd name="T18" fmla="*/ 177 w 181"/>
                    <a:gd name="T19" fmla="*/ 0 h 171"/>
                    <a:gd name="T20" fmla="*/ 176 w 181"/>
                    <a:gd name="T21" fmla="*/ 0 h 171"/>
                    <a:gd name="T22" fmla="*/ 176 w 181"/>
                    <a:gd name="T23" fmla="*/ 0 h 171"/>
                    <a:gd name="T24" fmla="*/ 3 w 181"/>
                    <a:gd name="T25" fmla="*/ 0 h 171"/>
                    <a:gd name="T26" fmla="*/ 3 w 181"/>
                    <a:gd name="T27" fmla="*/ 0 h 171"/>
                    <a:gd name="T28" fmla="*/ 2 w 181"/>
                    <a:gd name="T29" fmla="*/ 0 h 171"/>
                    <a:gd name="T30" fmla="*/ 2 w 181"/>
                    <a:gd name="T31" fmla="*/ 0 h 171"/>
                    <a:gd name="T32" fmla="*/ 1 w 181"/>
                    <a:gd name="T33" fmla="*/ 0 h 171"/>
                    <a:gd name="T34" fmla="*/ 1 w 181"/>
                    <a:gd name="T35" fmla="*/ 0 h 171"/>
                    <a:gd name="T36" fmla="*/ 1 w 181"/>
                    <a:gd name="T37" fmla="*/ 1 h 171"/>
                    <a:gd name="T38" fmla="*/ 0 w 181"/>
                    <a:gd name="T39" fmla="*/ 1 h 171"/>
                    <a:gd name="T40" fmla="*/ 0 w 181"/>
                    <a:gd name="T41" fmla="*/ 1 h 171"/>
                    <a:gd name="T42" fmla="*/ 0 w 181"/>
                    <a:gd name="T43" fmla="*/ 2 h 171"/>
                    <a:gd name="T44" fmla="*/ 0 w 181"/>
                    <a:gd name="T45" fmla="*/ 3 h 171"/>
                    <a:gd name="T46" fmla="*/ 0 w 181"/>
                    <a:gd name="T47" fmla="*/ 3 h 171"/>
                    <a:gd name="T48" fmla="*/ 0 w 181"/>
                    <a:gd name="T49" fmla="*/ 166 h 171"/>
                    <a:gd name="T50" fmla="*/ 0 w 181"/>
                    <a:gd name="T51" fmla="*/ 166 h 171"/>
                    <a:gd name="T52" fmla="*/ 0 w 181"/>
                    <a:gd name="T53" fmla="*/ 167 h 171"/>
                    <a:gd name="T54" fmla="*/ 0 w 181"/>
                    <a:gd name="T55" fmla="*/ 168 h 171"/>
                    <a:gd name="T56" fmla="*/ 0 w 181"/>
                    <a:gd name="T57" fmla="*/ 168 h 171"/>
                    <a:gd name="T58" fmla="*/ 1 w 181"/>
                    <a:gd name="T59" fmla="*/ 168 h 171"/>
                    <a:gd name="T60" fmla="*/ 1 w 181"/>
                    <a:gd name="T61" fmla="*/ 169 h 171"/>
                    <a:gd name="T62" fmla="*/ 2 w 181"/>
                    <a:gd name="T63" fmla="*/ 169 h 171"/>
                    <a:gd name="T64" fmla="*/ 2 w 181"/>
                    <a:gd name="T65" fmla="*/ 169 h 171"/>
                    <a:gd name="T66" fmla="*/ 3 w 181"/>
                    <a:gd name="T67" fmla="*/ 170 h 171"/>
                    <a:gd name="T68" fmla="*/ 3 w 181"/>
                    <a:gd name="T69" fmla="*/ 170 h 171"/>
                    <a:gd name="T70" fmla="*/ 176 w 181"/>
                    <a:gd name="T71" fmla="*/ 170 h 171"/>
                    <a:gd name="T72" fmla="*/ 176 w 181"/>
                    <a:gd name="T73" fmla="*/ 169 h 171"/>
                    <a:gd name="T74" fmla="*/ 177 w 181"/>
                    <a:gd name="T75" fmla="*/ 169 h 171"/>
                    <a:gd name="T76" fmla="*/ 177 w 181"/>
                    <a:gd name="T77" fmla="*/ 169 h 171"/>
                    <a:gd name="T78" fmla="*/ 178 w 181"/>
                    <a:gd name="T79" fmla="*/ 169 h 171"/>
                    <a:gd name="T80" fmla="*/ 178 w 181"/>
                    <a:gd name="T81" fmla="*/ 168 h 171"/>
                    <a:gd name="T82" fmla="*/ 178 w 181"/>
                    <a:gd name="T83" fmla="*/ 168 h 171"/>
                    <a:gd name="T84" fmla="*/ 179 w 181"/>
                    <a:gd name="T85" fmla="*/ 168 h 171"/>
                    <a:gd name="T86" fmla="*/ 179 w 181"/>
                    <a:gd name="T87" fmla="*/ 167 h 171"/>
                    <a:gd name="T88" fmla="*/ 180 w 181"/>
                    <a:gd name="T89" fmla="*/ 166 h 171"/>
                    <a:gd name="T90" fmla="*/ 180 w 181"/>
                    <a:gd name="T91" fmla="*/ 166 h 171"/>
                    <a:gd name="T92" fmla="*/ 180 w 181"/>
                    <a:gd name="T93" fmla="*/ 3 h 171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w 181"/>
                    <a:gd name="T142" fmla="*/ 0 h 171"/>
                    <a:gd name="T143" fmla="*/ 181 w 181"/>
                    <a:gd name="T144" fmla="*/ 171 h 171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T141" t="T142" r="T143" b="T144"/>
                  <a:pathLst>
                    <a:path w="181" h="171">
                      <a:moveTo>
                        <a:pt x="180" y="3"/>
                      </a:moveTo>
                      <a:lnTo>
                        <a:pt x="180" y="3"/>
                      </a:lnTo>
                      <a:lnTo>
                        <a:pt x="180" y="2"/>
                      </a:lnTo>
                      <a:lnTo>
                        <a:pt x="179" y="2"/>
                      </a:lnTo>
                      <a:lnTo>
                        <a:pt x="179" y="1"/>
                      </a:lnTo>
                      <a:lnTo>
                        <a:pt x="178" y="1"/>
                      </a:lnTo>
                      <a:lnTo>
                        <a:pt x="178" y="0"/>
                      </a:lnTo>
                      <a:lnTo>
                        <a:pt x="177" y="0"/>
                      </a:lnTo>
                      <a:lnTo>
                        <a:pt x="17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16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1" y="169"/>
                      </a:lnTo>
                      <a:lnTo>
                        <a:pt x="2" y="169"/>
                      </a:lnTo>
                      <a:lnTo>
                        <a:pt x="3" y="170"/>
                      </a:lnTo>
                      <a:lnTo>
                        <a:pt x="176" y="170"/>
                      </a:lnTo>
                      <a:lnTo>
                        <a:pt x="176" y="169"/>
                      </a:lnTo>
                      <a:lnTo>
                        <a:pt x="177" y="169"/>
                      </a:lnTo>
                      <a:lnTo>
                        <a:pt x="178" y="169"/>
                      </a:lnTo>
                      <a:lnTo>
                        <a:pt x="178" y="168"/>
                      </a:lnTo>
                      <a:lnTo>
                        <a:pt x="179" y="168"/>
                      </a:lnTo>
                      <a:lnTo>
                        <a:pt x="179" y="167"/>
                      </a:lnTo>
                      <a:lnTo>
                        <a:pt x="180" y="166"/>
                      </a:lnTo>
                      <a:lnTo>
                        <a:pt x="180" y="3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36" name="Freeform 1370"/>
                <p:cNvSpPr>
                  <a:spLocks/>
                </p:cNvSpPr>
                <p:nvPr/>
              </p:nvSpPr>
              <p:spPr bwMode="auto">
                <a:xfrm>
                  <a:off x="3858" y="1282"/>
                  <a:ext cx="180" cy="168"/>
                </a:xfrm>
                <a:custGeom>
                  <a:avLst/>
                  <a:gdLst>
                    <a:gd name="T0" fmla="*/ 179 w 180"/>
                    <a:gd name="T1" fmla="*/ 163 h 168"/>
                    <a:gd name="T2" fmla="*/ 179 w 180"/>
                    <a:gd name="T3" fmla="*/ 164 h 168"/>
                    <a:gd name="T4" fmla="*/ 178 w 180"/>
                    <a:gd name="T5" fmla="*/ 165 h 168"/>
                    <a:gd name="T6" fmla="*/ 178 w 180"/>
                    <a:gd name="T7" fmla="*/ 165 h 168"/>
                    <a:gd name="T8" fmla="*/ 177 w 180"/>
                    <a:gd name="T9" fmla="*/ 166 h 168"/>
                    <a:gd name="T10" fmla="*/ 177 w 180"/>
                    <a:gd name="T11" fmla="*/ 166 h 168"/>
                    <a:gd name="T12" fmla="*/ 176 w 180"/>
                    <a:gd name="T13" fmla="*/ 167 h 168"/>
                    <a:gd name="T14" fmla="*/ 176 w 180"/>
                    <a:gd name="T15" fmla="*/ 167 h 168"/>
                    <a:gd name="T16" fmla="*/ 2 w 180"/>
                    <a:gd name="T17" fmla="*/ 167 h 168"/>
                    <a:gd name="T18" fmla="*/ 2 w 180"/>
                    <a:gd name="T19" fmla="*/ 167 h 168"/>
                    <a:gd name="T20" fmla="*/ 1 w 180"/>
                    <a:gd name="T21" fmla="*/ 167 h 168"/>
                    <a:gd name="T22" fmla="*/ 1 w 180"/>
                    <a:gd name="T23" fmla="*/ 166 h 168"/>
                    <a:gd name="T24" fmla="*/ 1 w 180"/>
                    <a:gd name="T25" fmla="*/ 166 h 168"/>
                    <a:gd name="T26" fmla="*/ 0 w 180"/>
                    <a:gd name="T27" fmla="*/ 166 h 168"/>
                    <a:gd name="T28" fmla="*/ 0 w 180"/>
                    <a:gd name="T29" fmla="*/ 165 h 168"/>
                    <a:gd name="T30" fmla="*/ 0 w 180"/>
                    <a:gd name="T31" fmla="*/ 165 h 168"/>
                    <a:gd name="T32" fmla="*/ 0 w 180"/>
                    <a:gd name="T33" fmla="*/ 165 h 168"/>
                    <a:gd name="T34" fmla="*/ 0 w 180"/>
                    <a:gd name="T35" fmla="*/ 164 h 168"/>
                    <a:gd name="T36" fmla="*/ 0 w 180"/>
                    <a:gd name="T37" fmla="*/ 163 h 168"/>
                    <a:gd name="T38" fmla="*/ 0 w 180"/>
                    <a:gd name="T39" fmla="*/ 3 h 168"/>
                    <a:gd name="T40" fmla="*/ 0 w 180"/>
                    <a:gd name="T41" fmla="*/ 2 h 168"/>
                    <a:gd name="T42" fmla="*/ 0 w 180"/>
                    <a:gd name="T43" fmla="*/ 1 h 168"/>
                    <a:gd name="T44" fmla="*/ 0 w 180"/>
                    <a:gd name="T45" fmla="*/ 1 h 168"/>
                    <a:gd name="T46" fmla="*/ 0 w 180"/>
                    <a:gd name="T47" fmla="*/ 1 h 168"/>
                    <a:gd name="T48" fmla="*/ 1 w 180"/>
                    <a:gd name="T49" fmla="*/ 0 h 168"/>
                    <a:gd name="T50" fmla="*/ 1 w 180"/>
                    <a:gd name="T51" fmla="*/ 0 h 168"/>
                    <a:gd name="T52" fmla="*/ 2 w 180"/>
                    <a:gd name="T53" fmla="*/ 0 h 168"/>
                    <a:gd name="T54" fmla="*/ 2 w 180"/>
                    <a:gd name="T55" fmla="*/ 0 h 168"/>
                    <a:gd name="T56" fmla="*/ 176 w 180"/>
                    <a:gd name="T57" fmla="*/ 0 h 168"/>
                    <a:gd name="T58" fmla="*/ 176 w 180"/>
                    <a:gd name="T59" fmla="*/ 0 h 168"/>
                    <a:gd name="T60" fmla="*/ 176 w 180"/>
                    <a:gd name="T61" fmla="*/ 0 h 168"/>
                    <a:gd name="T62" fmla="*/ 177 w 180"/>
                    <a:gd name="T63" fmla="*/ 0 h 168"/>
                    <a:gd name="T64" fmla="*/ 177 w 180"/>
                    <a:gd name="T65" fmla="*/ 0 h 168"/>
                    <a:gd name="T66" fmla="*/ 177 w 180"/>
                    <a:gd name="T67" fmla="*/ 1 h 168"/>
                    <a:gd name="T68" fmla="*/ 178 w 180"/>
                    <a:gd name="T69" fmla="*/ 1 h 168"/>
                    <a:gd name="T70" fmla="*/ 178 w 180"/>
                    <a:gd name="T71" fmla="*/ 1 h 168"/>
                    <a:gd name="T72" fmla="*/ 179 w 180"/>
                    <a:gd name="T73" fmla="*/ 2 h 168"/>
                    <a:gd name="T74" fmla="*/ 179 w 180"/>
                    <a:gd name="T75" fmla="*/ 3 h 168"/>
                    <a:gd name="T76" fmla="*/ 179 w 180"/>
                    <a:gd name="T77" fmla="*/ 16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80"/>
                    <a:gd name="T118" fmla="*/ 0 h 168"/>
                    <a:gd name="T119" fmla="*/ 180 w 180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80" h="168">
                      <a:moveTo>
                        <a:pt x="179" y="163"/>
                      </a:moveTo>
                      <a:lnTo>
                        <a:pt x="179" y="164"/>
                      </a:lnTo>
                      <a:lnTo>
                        <a:pt x="178" y="165"/>
                      </a:lnTo>
                      <a:lnTo>
                        <a:pt x="177" y="166"/>
                      </a:lnTo>
                      <a:lnTo>
                        <a:pt x="176" y="167"/>
                      </a:lnTo>
                      <a:lnTo>
                        <a:pt x="2" y="167"/>
                      </a:lnTo>
                      <a:lnTo>
                        <a:pt x="1" y="167"/>
                      </a:lnTo>
                      <a:lnTo>
                        <a:pt x="1" y="166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164"/>
                      </a:lnTo>
                      <a:lnTo>
                        <a:pt x="0" y="163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2" y="0"/>
                      </a:lnTo>
                      <a:lnTo>
                        <a:pt x="176" y="0"/>
                      </a:lnTo>
                      <a:lnTo>
                        <a:pt x="177" y="0"/>
                      </a:lnTo>
                      <a:lnTo>
                        <a:pt x="177" y="1"/>
                      </a:lnTo>
                      <a:lnTo>
                        <a:pt x="178" y="1"/>
                      </a:lnTo>
                      <a:lnTo>
                        <a:pt x="179" y="2"/>
                      </a:lnTo>
                      <a:lnTo>
                        <a:pt x="179" y="3"/>
                      </a:lnTo>
                      <a:lnTo>
                        <a:pt x="179" y="163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37" name="Freeform 1371"/>
                <p:cNvSpPr>
                  <a:spLocks/>
                </p:cNvSpPr>
                <p:nvPr/>
              </p:nvSpPr>
              <p:spPr bwMode="auto">
                <a:xfrm>
                  <a:off x="3877" y="1304"/>
                  <a:ext cx="142" cy="124"/>
                </a:xfrm>
                <a:custGeom>
                  <a:avLst/>
                  <a:gdLst>
                    <a:gd name="T0" fmla="*/ 0 w 142"/>
                    <a:gd name="T1" fmla="*/ 1 h 124"/>
                    <a:gd name="T2" fmla="*/ 1 w 142"/>
                    <a:gd name="T3" fmla="*/ 1 h 124"/>
                    <a:gd name="T4" fmla="*/ 1 w 142"/>
                    <a:gd name="T5" fmla="*/ 1 h 124"/>
                    <a:gd name="T6" fmla="*/ 2 w 142"/>
                    <a:gd name="T7" fmla="*/ 0 h 124"/>
                    <a:gd name="T8" fmla="*/ 2 w 142"/>
                    <a:gd name="T9" fmla="*/ 0 h 124"/>
                    <a:gd name="T10" fmla="*/ 3 w 142"/>
                    <a:gd name="T11" fmla="*/ 0 h 124"/>
                    <a:gd name="T12" fmla="*/ 3 w 142"/>
                    <a:gd name="T13" fmla="*/ 0 h 124"/>
                    <a:gd name="T14" fmla="*/ 4 w 142"/>
                    <a:gd name="T15" fmla="*/ 0 h 124"/>
                    <a:gd name="T16" fmla="*/ 135 w 142"/>
                    <a:gd name="T17" fmla="*/ 0 h 124"/>
                    <a:gd name="T18" fmla="*/ 136 w 142"/>
                    <a:gd name="T19" fmla="*/ 0 h 124"/>
                    <a:gd name="T20" fmla="*/ 137 w 142"/>
                    <a:gd name="T21" fmla="*/ 0 h 124"/>
                    <a:gd name="T22" fmla="*/ 137 w 142"/>
                    <a:gd name="T23" fmla="*/ 0 h 124"/>
                    <a:gd name="T24" fmla="*/ 138 w 142"/>
                    <a:gd name="T25" fmla="*/ 0 h 124"/>
                    <a:gd name="T26" fmla="*/ 138 w 142"/>
                    <a:gd name="T27" fmla="*/ 1 h 124"/>
                    <a:gd name="T28" fmla="*/ 139 w 142"/>
                    <a:gd name="T29" fmla="*/ 1 h 124"/>
                    <a:gd name="T30" fmla="*/ 139 w 142"/>
                    <a:gd name="T31" fmla="*/ 1 h 124"/>
                    <a:gd name="T32" fmla="*/ 140 w 142"/>
                    <a:gd name="T33" fmla="*/ 2 h 124"/>
                    <a:gd name="T34" fmla="*/ 140 w 142"/>
                    <a:gd name="T35" fmla="*/ 3 h 124"/>
                    <a:gd name="T36" fmla="*/ 141 w 142"/>
                    <a:gd name="T37" fmla="*/ 3 h 124"/>
                    <a:gd name="T38" fmla="*/ 141 w 142"/>
                    <a:gd name="T39" fmla="*/ 4 h 124"/>
                    <a:gd name="T40" fmla="*/ 141 w 142"/>
                    <a:gd name="T41" fmla="*/ 5 h 124"/>
                    <a:gd name="T42" fmla="*/ 141 w 142"/>
                    <a:gd name="T43" fmla="*/ 117 h 124"/>
                    <a:gd name="T44" fmla="*/ 141 w 142"/>
                    <a:gd name="T45" fmla="*/ 119 h 124"/>
                    <a:gd name="T46" fmla="*/ 140 w 142"/>
                    <a:gd name="T47" fmla="*/ 119 h 124"/>
                    <a:gd name="T48" fmla="*/ 140 w 142"/>
                    <a:gd name="T49" fmla="*/ 120 h 124"/>
                    <a:gd name="T50" fmla="*/ 139 w 142"/>
                    <a:gd name="T51" fmla="*/ 121 h 124"/>
                    <a:gd name="T52" fmla="*/ 139 w 142"/>
                    <a:gd name="T53" fmla="*/ 121 h 124"/>
                    <a:gd name="T54" fmla="*/ 138 w 142"/>
                    <a:gd name="T55" fmla="*/ 122 h 124"/>
                    <a:gd name="T56" fmla="*/ 138 w 142"/>
                    <a:gd name="T57" fmla="*/ 122 h 124"/>
                    <a:gd name="T58" fmla="*/ 137 w 142"/>
                    <a:gd name="T59" fmla="*/ 122 h 124"/>
                    <a:gd name="T60" fmla="*/ 137 w 142"/>
                    <a:gd name="T61" fmla="*/ 123 h 124"/>
                    <a:gd name="T62" fmla="*/ 136 w 142"/>
                    <a:gd name="T63" fmla="*/ 123 h 124"/>
                    <a:gd name="T64" fmla="*/ 135 w 142"/>
                    <a:gd name="T65" fmla="*/ 123 h 124"/>
                    <a:gd name="T66" fmla="*/ 4 w 142"/>
                    <a:gd name="T67" fmla="*/ 123 h 124"/>
                    <a:gd name="T68" fmla="*/ 3 w 142"/>
                    <a:gd name="T69" fmla="*/ 123 h 124"/>
                    <a:gd name="T70" fmla="*/ 3 w 142"/>
                    <a:gd name="T71" fmla="*/ 123 h 124"/>
                    <a:gd name="T72" fmla="*/ 2 w 142"/>
                    <a:gd name="T73" fmla="*/ 122 h 124"/>
                    <a:gd name="T74" fmla="*/ 2 w 142"/>
                    <a:gd name="T75" fmla="*/ 122 h 124"/>
                    <a:gd name="T76" fmla="*/ 1 w 142"/>
                    <a:gd name="T77" fmla="*/ 122 h 124"/>
                    <a:gd name="T78" fmla="*/ 1 w 142"/>
                    <a:gd name="T79" fmla="*/ 121 h 124"/>
                    <a:gd name="T80" fmla="*/ 0 w 142"/>
                    <a:gd name="T81" fmla="*/ 121 h 124"/>
                    <a:gd name="T82" fmla="*/ 0 w 142"/>
                    <a:gd name="T83" fmla="*/ 120 h 124"/>
                    <a:gd name="T84" fmla="*/ 0 w 142"/>
                    <a:gd name="T85" fmla="*/ 119 h 124"/>
                    <a:gd name="T86" fmla="*/ 0 w 142"/>
                    <a:gd name="T87" fmla="*/ 119 h 124"/>
                    <a:gd name="T88" fmla="*/ 0 w 142"/>
                    <a:gd name="T89" fmla="*/ 117 h 124"/>
                    <a:gd name="T90" fmla="*/ 0 w 142"/>
                    <a:gd name="T91" fmla="*/ 5 h 124"/>
                    <a:gd name="T92" fmla="*/ 0 w 142"/>
                    <a:gd name="T93" fmla="*/ 4 h 124"/>
                    <a:gd name="T94" fmla="*/ 0 w 142"/>
                    <a:gd name="T95" fmla="*/ 3 h 124"/>
                    <a:gd name="T96" fmla="*/ 0 w 142"/>
                    <a:gd name="T97" fmla="*/ 3 h 124"/>
                    <a:gd name="T98" fmla="*/ 0 w 142"/>
                    <a:gd name="T99" fmla="*/ 2 h 124"/>
                    <a:gd name="T100" fmla="*/ 0 w 142"/>
                    <a:gd name="T101" fmla="*/ 1 h 124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42"/>
                    <a:gd name="T154" fmla="*/ 0 h 124"/>
                    <a:gd name="T155" fmla="*/ 142 w 142"/>
                    <a:gd name="T156" fmla="*/ 124 h 124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42" h="124">
                      <a:moveTo>
                        <a:pt x="0" y="1"/>
                      </a:moveTo>
                      <a:lnTo>
                        <a:pt x="1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8" y="1"/>
                      </a:lnTo>
                      <a:lnTo>
                        <a:pt x="139" y="1"/>
                      </a:lnTo>
                      <a:lnTo>
                        <a:pt x="140" y="2"/>
                      </a:lnTo>
                      <a:lnTo>
                        <a:pt x="140" y="3"/>
                      </a:lnTo>
                      <a:lnTo>
                        <a:pt x="141" y="3"/>
                      </a:lnTo>
                      <a:lnTo>
                        <a:pt x="141" y="4"/>
                      </a:lnTo>
                      <a:lnTo>
                        <a:pt x="141" y="5"/>
                      </a:lnTo>
                      <a:lnTo>
                        <a:pt x="141" y="117"/>
                      </a:lnTo>
                      <a:lnTo>
                        <a:pt x="141" y="119"/>
                      </a:lnTo>
                      <a:lnTo>
                        <a:pt x="140" y="119"/>
                      </a:lnTo>
                      <a:lnTo>
                        <a:pt x="140" y="120"/>
                      </a:lnTo>
                      <a:lnTo>
                        <a:pt x="139" y="121"/>
                      </a:lnTo>
                      <a:lnTo>
                        <a:pt x="138" y="122"/>
                      </a:lnTo>
                      <a:lnTo>
                        <a:pt x="137" y="122"/>
                      </a:lnTo>
                      <a:lnTo>
                        <a:pt x="137" y="123"/>
                      </a:lnTo>
                      <a:lnTo>
                        <a:pt x="136" y="123"/>
                      </a:lnTo>
                      <a:lnTo>
                        <a:pt x="135" y="123"/>
                      </a:lnTo>
                      <a:lnTo>
                        <a:pt x="4" y="123"/>
                      </a:lnTo>
                      <a:lnTo>
                        <a:pt x="3" y="123"/>
                      </a:lnTo>
                      <a:lnTo>
                        <a:pt x="2" y="122"/>
                      </a:lnTo>
                      <a:lnTo>
                        <a:pt x="1" y="122"/>
                      </a:lnTo>
                      <a:lnTo>
                        <a:pt x="1" y="121"/>
                      </a:lnTo>
                      <a:lnTo>
                        <a:pt x="0" y="121"/>
                      </a:lnTo>
                      <a:lnTo>
                        <a:pt x="0" y="120"/>
                      </a:lnTo>
                      <a:lnTo>
                        <a:pt x="0" y="119"/>
                      </a:lnTo>
                      <a:lnTo>
                        <a:pt x="0" y="117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</a:path>
                  </a:pathLst>
                </a:custGeom>
                <a:gradFill rotWithShape="0">
                  <a:gsLst>
                    <a:gs pos="0">
                      <a:srgbClr val="1D2B4B"/>
                    </a:gs>
                    <a:gs pos="50000">
                      <a:srgbClr val="618FFD"/>
                    </a:gs>
                    <a:gs pos="100000">
                      <a:srgbClr val="1D2B4B"/>
                    </a:gs>
                  </a:gsLst>
                  <a:lin ang="2700000" scaled="1"/>
                </a:gra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38" name="Freeform 1372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4 h 17"/>
                    <a:gd name="T2" fmla="*/ 151 w 153"/>
                    <a:gd name="T3" fmla="*/ 3 h 17"/>
                    <a:gd name="T4" fmla="*/ 151 w 153"/>
                    <a:gd name="T5" fmla="*/ 2 h 17"/>
                    <a:gd name="T6" fmla="*/ 150 w 153"/>
                    <a:gd name="T7" fmla="*/ 2 h 17"/>
                    <a:gd name="T8" fmla="*/ 150 w 153"/>
                    <a:gd name="T9" fmla="*/ 2 h 17"/>
                    <a:gd name="T10" fmla="*/ 150 w 153"/>
                    <a:gd name="T11" fmla="*/ 1 h 17"/>
                    <a:gd name="T12" fmla="*/ 149 w 153"/>
                    <a:gd name="T13" fmla="*/ 1 h 17"/>
                    <a:gd name="T14" fmla="*/ 149 w 153"/>
                    <a:gd name="T15" fmla="*/ 1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1 h 17"/>
                    <a:gd name="T32" fmla="*/ 1 w 153"/>
                    <a:gd name="T33" fmla="*/ 1 h 17"/>
                    <a:gd name="T34" fmla="*/ 0 w 153"/>
                    <a:gd name="T35" fmla="*/ 2 h 17"/>
                    <a:gd name="T36" fmla="*/ 0 w 153"/>
                    <a:gd name="T37" fmla="*/ 2 h 17"/>
                    <a:gd name="T38" fmla="*/ 0 w 153"/>
                    <a:gd name="T39" fmla="*/ 3 h 17"/>
                    <a:gd name="T40" fmla="*/ 6 w 153"/>
                    <a:gd name="T41" fmla="*/ 16 h 17"/>
                    <a:gd name="T42" fmla="*/ 7 w 153"/>
                    <a:gd name="T43" fmla="*/ 14 h 17"/>
                    <a:gd name="T44" fmla="*/ 7 w 153"/>
                    <a:gd name="T45" fmla="*/ 14 h 17"/>
                    <a:gd name="T46" fmla="*/ 8 w 153"/>
                    <a:gd name="T47" fmla="*/ 13 h 17"/>
                    <a:gd name="T48" fmla="*/ 8 w 153"/>
                    <a:gd name="T49" fmla="*/ 13 h 17"/>
                    <a:gd name="T50" fmla="*/ 8 w 153"/>
                    <a:gd name="T51" fmla="*/ 12 h 17"/>
                    <a:gd name="T52" fmla="*/ 9 w 153"/>
                    <a:gd name="T53" fmla="*/ 12 h 17"/>
                    <a:gd name="T54" fmla="*/ 10 w 153"/>
                    <a:gd name="T55" fmla="*/ 12 h 17"/>
                    <a:gd name="T56" fmla="*/ 140 w 153"/>
                    <a:gd name="T57" fmla="*/ 12 h 17"/>
                    <a:gd name="T58" fmla="*/ 141 w 153"/>
                    <a:gd name="T59" fmla="*/ 12 h 17"/>
                    <a:gd name="T60" fmla="*/ 142 w 153"/>
                    <a:gd name="T61" fmla="*/ 12 h 17"/>
                    <a:gd name="T62" fmla="*/ 142 w 153"/>
                    <a:gd name="T63" fmla="*/ 13 h 17"/>
                    <a:gd name="T64" fmla="*/ 143 w 153"/>
                    <a:gd name="T65" fmla="*/ 13 h 17"/>
                    <a:gd name="T66" fmla="*/ 143 w 153"/>
                    <a:gd name="T67" fmla="*/ 14 h 17"/>
                    <a:gd name="T68" fmla="*/ 143 w 153"/>
                    <a:gd name="T69" fmla="*/ 14 h 17"/>
                    <a:gd name="T70" fmla="*/ 144 w 153"/>
                    <a:gd name="T71" fmla="*/ 14 h 17"/>
                    <a:gd name="T72" fmla="*/ 152 w 153"/>
                    <a:gd name="T73" fmla="*/ 4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53"/>
                    <a:gd name="T112" fmla="*/ 0 h 17"/>
                    <a:gd name="T113" fmla="*/ 153 w 153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53" h="17">
                      <a:moveTo>
                        <a:pt x="152" y="4"/>
                      </a:moveTo>
                      <a:lnTo>
                        <a:pt x="151" y="3"/>
                      </a:lnTo>
                      <a:lnTo>
                        <a:pt x="151" y="2"/>
                      </a:lnTo>
                      <a:lnTo>
                        <a:pt x="150" y="2"/>
                      </a:lnTo>
                      <a:lnTo>
                        <a:pt x="150" y="1"/>
                      </a:lnTo>
                      <a:lnTo>
                        <a:pt x="149" y="1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6" y="16"/>
                      </a:lnTo>
                      <a:lnTo>
                        <a:pt x="7" y="14"/>
                      </a:lnTo>
                      <a:lnTo>
                        <a:pt x="8" y="13"/>
                      </a:lnTo>
                      <a:lnTo>
                        <a:pt x="8" y="12"/>
                      </a:lnTo>
                      <a:lnTo>
                        <a:pt x="9" y="12"/>
                      </a:lnTo>
                      <a:lnTo>
                        <a:pt x="10" y="12"/>
                      </a:lnTo>
                      <a:lnTo>
                        <a:pt x="140" y="12"/>
                      </a:lnTo>
                      <a:lnTo>
                        <a:pt x="141" y="12"/>
                      </a:lnTo>
                      <a:lnTo>
                        <a:pt x="142" y="12"/>
                      </a:lnTo>
                      <a:lnTo>
                        <a:pt x="142" y="13"/>
                      </a:lnTo>
                      <a:lnTo>
                        <a:pt x="143" y="13"/>
                      </a:lnTo>
                      <a:lnTo>
                        <a:pt x="143" y="14"/>
                      </a:lnTo>
                      <a:lnTo>
                        <a:pt x="144" y="14"/>
                      </a:lnTo>
                      <a:lnTo>
                        <a:pt x="152" y="4"/>
                      </a:lnTo>
                    </a:path>
                  </a:pathLst>
                </a:custGeom>
                <a:solidFill>
                  <a:srgbClr val="9F9FA2"/>
                </a:solidFill>
                <a:ln w="12700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39" name="Freeform 1373"/>
                <p:cNvSpPr>
                  <a:spLocks/>
                </p:cNvSpPr>
                <p:nvPr/>
              </p:nvSpPr>
              <p:spPr bwMode="auto">
                <a:xfrm>
                  <a:off x="3870" y="1299"/>
                  <a:ext cx="17" cy="135"/>
                </a:xfrm>
                <a:custGeom>
                  <a:avLst/>
                  <a:gdLst>
                    <a:gd name="T0" fmla="*/ 2 w 17"/>
                    <a:gd name="T1" fmla="*/ 0 h 135"/>
                    <a:gd name="T2" fmla="*/ 1 w 17"/>
                    <a:gd name="T3" fmla="*/ 0 h 135"/>
                    <a:gd name="T4" fmla="*/ 0 w 17"/>
                    <a:gd name="T5" fmla="*/ 1 h 135"/>
                    <a:gd name="T6" fmla="*/ 0 w 17"/>
                    <a:gd name="T7" fmla="*/ 2 h 135"/>
                    <a:gd name="T8" fmla="*/ 0 w 17"/>
                    <a:gd name="T9" fmla="*/ 2 h 135"/>
                    <a:gd name="T10" fmla="*/ 0 w 17"/>
                    <a:gd name="T11" fmla="*/ 3 h 135"/>
                    <a:gd name="T12" fmla="*/ 0 w 17"/>
                    <a:gd name="T13" fmla="*/ 4 h 135"/>
                    <a:gd name="T14" fmla="*/ 0 w 17"/>
                    <a:gd name="T15" fmla="*/ 130 h 135"/>
                    <a:gd name="T16" fmla="*/ 0 w 17"/>
                    <a:gd name="T17" fmla="*/ 130 h 135"/>
                    <a:gd name="T18" fmla="*/ 0 w 17"/>
                    <a:gd name="T19" fmla="*/ 131 h 135"/>
                    <a:gd name="T20" fmla="*/ 0 w 17"/>
                    <a:gd name="T21" fmla="*/ 132 h 135"/>
                    <a:gd name="T22" fmla="*/ 0 w 17"/>
                    <a:gd name="T23" fmla="*/ 132 h 135"/>
                    <a:gd name="T24" fmla="*/ 1 w 17"/>
                    <a:gd name="T25" fmla="*/ 133 h 135"/>
                    <a:gd name="T26" fmla="*/ 2 w 17"/>
                    <a:gd name="T27" fmla="*/ 133 h 135"/>
                    <a:gd name="T28" fmla="*/ 2 w 17"/>
                    <a:gd name="T29" fmla="*/ 134 h 135"/>
                    <a:gd name="T30" fmla="*/ 3 w 17"/>
                    <a:gd name="T31" fmla="*/ 134 h 135"/>
                    <a:gd name="T32" fmla="*/ 16 w 17"/>
                    <a:gd name="T33" fmla="*/ 127 h 135"/>
                    <a:gd name="T34" fmla="*/ 15 w 17"/>
                    <a:gd name="T35" fmla="*/ 126 h 135"/>
                    <a:gd name="T36" fmla="*/ 15 w 17"/>
                    <a:gd name="T37" fmla="*/ 126 h 135"/>
                    <a:gd name="T38" fmla="*/ 14 w 17"/>
                    <a:gd name="T39" fmla="*/ 126 h 135"/>
                    <a:gd name="T40" fmla="*/ 14 w 17"/>
                    <a:gd name="T41" fmla="*/ 125 h 135"/>
                    <a:gd name="T42" fmla="*/ 13 w 17"/>
                    <a:gd name="T43" fmla="*/ 124 h 135"/>
                    <a:gd name="T44" fmla="*/ 13 w 17"/>
                    <a:gd name="T45" fmla="*/ 124 h 135"/>
                    <a:gd name="T46" fmla="*/ 13 w 17"/>
                    <a:gd name="T47" fmla="*/ 10 h 135"/>
                    <a:gd name="T48" fmla="*/ 13 w 17"/>
                    <a:gd name="T49" fmla="*/ 9 h 135"/>
                    <a:gd name="T50" fmla="*/ 13 w 17"/>
                    <a:gd name="T51" fmla="*/ 8 h 135"/>
                    <a:gd name="T52" fmla="*/ 14 w 17"/>
                    <a:gd name="T53" fmla="*/ 8 h 135"/>
                    <a:gd name="T54" fmla="*/ 15 w 17"/>
                    <a:gd name="T55" fmla="*/ 7 h 135"/>
                    <a:gd name="T56" fmla="*/ 15 w 17"/>
                    <a:gd name="T57" fmla="*/ 6 h 135"/>
                    <a:gd name="T58" fmla="*/ 2 w 17"/>
                    <a:gd name="T59" fmla="*/ 0 h 135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w 17"/>
                    <a:gd name="T91" fmla="*/ 0 h 135"/>
                    <a:gd name="T92" fmla="*/ 17 w 17"/>
                    <a:gd name="T93" fmla="*/ 135 h 135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T90" t="T91" r="T92" b="T93"/>
                  <a:pathLst>
                    <a:path w="17" h="135">
                      <a:moveTo>
                        <a:pt x="2" y="0"/>
                      </a:moveTo>
                      <a:lnTo>
                        <a:pt x="1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0" y="130"/>
                      </a:lnTo>
                      <a:lnTo>
                        <a:pt x="0" y="131"/>
                      </a:lnTo>
                      <a:lnTo>
                        <a:pt x="0" y="132"/>
                      </a:lnTo>
                      <a:lnTo>
                        <a:pt x="1" y="133"/>
                      </a:lnTo>
                      <a:lnTo>
                        <a:pt x="2" y="133"/>
                      </a:lnTo>
                      <a:lnTo>
                        <a:pt x="2" y="134"/>
                      </a:lnTo>
                      <a:lnTo>
                        <a:pt x="3" y="134"/>
                      </a:lnTo>
                      <a:lnTo>
                        <a:pt x="16" y="127"/>
                      </a:lnTo>
                      <a:lnTo>
                        <a:pt x="15" y="126"/>
                      </a:lnTo>
                      <a:lnTo>
                        <a:pt x="14" y="126"/>
                      </a:lnTo>
                      <a:lnTo>
                        <a:pt x="14" y="125"/>
                      </a:lnTo>
                      <a:lnTo>
                        <a:pt x="13" y="124"/>
                      </a:lnTo>
                      <a:lnTo>
                        <a:pt x="13" y="10"/>
                      </a:lnTo>
                      <a:lnTo>
                        <a:pt x="13" y="9"/>
                      </a:lnTo>
                      <a:lnTo>
                        <a:pt x="13" y="8"/>
                      </a:lnTo>
                      <a:lnTo>
                        <a:pt x="14" y="8"/>
                      </a:lnTo>
                      <a:lnTo>
                        <a:pt x="15" y="7"/>
                      </a:lnTo>
                      <a:lnTo>
                        <a:pt x="15" y="6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40" name="Freeform 1374"/>
                <p:cNvSpPr>
                  <a:spLocks/>
                </p:cNvSpPr>
                <p:nvPr/>
              </p:nvSpPr>
              <p:spPr bwMode="auto">
                <a:xfrm>
                  <a:off x="3872" y="1300"/>
                  <a:ext cx="155" cy="136"/>
                </a:xfrm>
                <a:custGeom>
                  <a:avLst/>
                  <a:gdLst>
                    <a:gd name="T0" fmla="*/ 0 w 155"/>
                    <a:gd name="T1" fmla="*/ 133 h 136"/>
                    <a:gd name="T2" fmla="*/ 0 w 155"/>
                    <a:gd name="T3" fmla="*/ 134 h 136"/>
                    <a:gd name="T4" fmla="*/ 0 w 155"/>
                    <a:gd name="T5" fmla="*/ 134 h 136"/>
                    <a:gd name="T6" fmla="*/ 1 w 155"/>
                    <a:gd name="T7" fmla="*/ 134 h 136"/>
                    <a:gd name="T8" fmla="*/ 1 w 155"/>
                    <a:gd name="T9" fmla="*/ 134 h 136"/>
                    <a:gd name="T10" fmla="*/ 2 w 155"/>
                    <a:gd name="T11" fmla="*/ 135 h 136"/>
                    <a:gd name="T12" fmla="*/ 2 w 155"/>
                    <a:gd name="T13" fmla="*/ 135 h 136"/>
                    <a:gd name="T14" fmla="*/ 3 w 155"/>
                    <a:gd name="T15" fmla="*/ 135 h 136"/>
                    <a:gd name="T16" fmla="*/ 148 w 155"/>
                    <a:gd name="T17" fmla="*/ 135 h 136"/>
                    <a:gd name="T18" fmla="*/ 150 w 155"/>
                    <a:gd name="T19" fmla="*/ 134 h 136"/>
                    <a:gd name="T20" fmla="*/ 151 w 155"/>
                    <a:gd name="T21" fmla="*/ 134 h 136"/>
                    <a:gd name="T22" fmla="*/ 151 w 155"/>
                    <a:gd name="T23" fmla="*/ 133 h 136"/>
                    <a:gd name="T24" fmla="*/ 152 w 155"/>
                    <a:gd name="T25" fmla="*/ 133 h 136"/>
                    <a:gd name="T26" fmla="*/ 152 w 155"/>
                    <a:gd name="T27" fmla="*/ 133 h 136"/>
                    <a:gd name="T28" fmla="*/ 153 w 155"/>
                    <a:gd name="T29" fmla="*/ 132 h 136"/>
                    <a:gd name="T30" fmla="*/ 153 w 155"/>
                    <a:gd name="T31" fmla="*/ 131 h 136"/>
                    <a:gd name="T32" fmla="*/ 154 w 155"/>
                    <a:gd name="T33" fmla="*/ 131 h 136"/>
                    <a:gd name="T34" fmla="*/ 154 w 155"/>
                    <a:gd name="T35" fmla="*/ 129 h 136"/>
                    <a:gd name="T36" fmla="*/ 154 w 155"/>
                    <a:gd name="T37" fmla="*/ 129 h 136"/>
                    <a:gd name="T38" fmla="*/ 154 w 155"/>
                    <a:gd name="T39" fmla="*/ 3 h 136"/>
                    <a:gd name="T40" fmla="*/ 154 w 155"/>
                    <a:gd name="T41" fmla="*/ 2 h 136"/>
                    <a:gd name="T42" fmla="*/ 154 w 155"/>
                    <a:gd name="T43" fmla="*/ 1 h 136"/>
                    <a:gd name="T44" fmla="*/ 154 w 155"/>
                    <a:gd name="T45" fmla="*/ 1 h 136"/>
                    <a:gd name="T46" fmla="*/ 153 w 155"/>
                    <a:gd name="T47" fmla="*/ 1 h 136"/>
                    <a:gd name="T48" fmla="*/ 153 w 155"/>
                    <a:gd name="T49" fmla="*/ 0 h 136"/>
                    <a:gd name="T50" fmla="*/ 153 w 155"/>
                    <a:gd name="T51" fmla="*/ 0 h 136"/>
                    <a:gd name="T52" fmla="*/ 145 w 155"/>
                    <a:gd name="T53" fmla="*/ 5 h 136"/>
                    <a:gd name="T54" fmla="*/ 145 w 155"/>
                    <a:gd name="T55" fmla="*/ 5 h 136"/>
                    <a:gd name="T56" fmla="*/ 146 w 155"/>
                    <a:gd name="T57" fmla="*/ 6 h 136"/>
                    <a:gd name="T58" fmla="*/ 146 w 155"/>
                    <a:gd name="T59" fmla="*/ 7 h 136"/>
                    <a:gd name="T60" fmla="*/ 146 w 155"/>
                    <a:gd name="T61" fmla="*/ 7 h 136"/>
                    <a:gd name="T62" fmla="*/ 146 w 155"/>
                    <a:gd name="T63" fmla="*/ 7 h 136"/>
                    <a:gd name="T64" fmla="*/ 146 w 155"/>
                    <a:gd name="T65" fmla="*/ 8 h 136"/>
                    <a:gd name="T66" fmla="*/ 146 w 155"/>
                    <a:gd name="T67" fmla="*/ 9 h 136"/>
                    <a:gd name="T68" fmla="*/ 146 w 155"/>
                    <a:gd name="T69" fmla="*/ 9 h 136"/>
                    <a:gd name="T70" fmla="*/ 146 w 155"/>
                    <a:gd name="T71" fmla="*/ 123 h 136"/>
                    <a:gd name="T72" fmla="*/ 146 w 155"/>
                    <a:gd name="T73" fmla="*/ 123 h 136"/>
                    <a:gd name="T74" fmla="*/ 146 w 155"/>
                    <a:gd name="T75" fmla="*/ 124 h 136"/>
                    <a:gd name="T76" fmla="*/ 146 w 155"/>
                    <a:gd name="T77" fmla="*/ 125 h 136"/>
                    <a:gd name="T78" fmla="*/ 146 w 155"/>
                    <a:gd name="T79" fmla="*/ 125 h 136"/>
                    <a:gd name="T80" fmla="*/ 145 w 155"/>
                    <a:gd name="T81" fmla="*/ 126 h 136"/>
                    <a:gd name="T82" fmla="*/ 145 w 155"/>
                    <a:gd name="T83" fmla="*/ 127 h 136"/>
                    <a:gd name="T84" fmla="*/ 144 w 155"/>
                    <a:gd name="T85" fmla="*/ 127 h 136"/>
                    <a:gd name="T86" fmla="*/ 143 w 155"/>
                    <a:gd name="T87" fmla="*/ 127 h 136"/>
                    <a:gd name="T88" fmla="*/ 143 w 155"/>
                    <a:gd name="T89" fmla="*/ 128 h 136"/>
                    <a:gd name="T90" fmla="*/ 142 w 155"/>
                    <a:gd name="T91" fmla="*/ 128 h 136"/>
                    <a:gd name="T92" fmla="*/ 142 w 155"/>
                    <a:gd name="T93" fmla="*/ 128 h 136"/>
                    <a:gd name="T94" fmla="*/ 9 w 155"/>
                    <a:gd name="T95" fmla="*/ 128 h 136"/>
                    <a:gd name="T96" fmla="*/ 8 w 155"/>
                    <a:gd name="T97" fmla="*/ 128 h 136"/>
                    <a:gd name="T98" fmla="*/ 8 w 155"/>
                    <a:gd name="T99" fmla="*/ 128 h 136"/>
                    <a:gd name="T100" fmla="*/ 8 w 155"/>
                    <a:gd name="T101" fmla="*/ 127 h 136"/>
                    <a:gd name="T102" fmla="*/ 7 w 155"/>
                    <a:gd name="T103" fmla="*/ 127 h 136"/>
                    <a:gd name="T104" fmla="*/ 7 w 155"/>
                    <a:gd name="T105" fmla="*/ 127 h 136"/>
                    <a:gd name="T106" fmla="*/ 6 w 155"/>
                    <a:gd name="T107" fmla="*/ 127 h 136"/>
                    <a:gd name="T108" fmla="*/ 6 w 155"/>
                    <a:gd name="T109" fmla="*/ 127 h 136"/>
                    <a:gd name="T110" fmla="*/ 0 w 155"/>
                    <a:gd name="T111" fmla="*/ 133 h 1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55"/>
                    <a:gd name="T169" fmla="*/ 0 h 136"/>
                    <a:gd name="T170" fmla="*/ 155 w 155"/>
                    <a:gd name="T171" fmla="*/ 136 h 136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55" h="136">
                      <a:moveTo>
                        <a:pt x="0" y="133"/>
                      </a:moveTo>
                      <a:lnTo>
                        <a:pt x="0" y="134"/>
                      </a:lnTo>
                      <a:lnTo>
                        <a:pt x="1" y="134"/>
                      </a:lnTo>
                      <a:lnTo>
                        <a:pt x="2" y="135"/>
                      </a:lnTo>
                      <a:lnTo>
                        <a:pt x="3" y="135"/>
                      </a:lnTo>
                      <a:lnTo>
                        <a:pt x="148" y="135"/>
                      </a:lnTo>
                      <a:lnTo>
                        <a:pt x="150" y="134"/>
                      </a:lnTo>
                      <a:lnTo>
                        <a:pt x="151" y="134"/>
                      </a:lnTo>
                      <a:lnTo>
                        <a:pt x="151" y="133"/>
                      </a:lnTo>
                      <a:lnTo>
                        <a:pt x="152" y="133"/>
                      </a:lnTo>
                      <a:lnTo>
                        <a:pt x="153" y="132"/>
                      </a:lnTo>
                      <a:lnTo>
                        <a:pt x="153" y="131"/>
                      </a:lnTo>
                      <a:lnTo>
                        <a:pt x="154" y="131"/>
                      </a:lnTo>
                      <a:lnTo>
                        <a:pt x="154" y="129"/>
                      </a:lnTo>
                      <a:lnTo>
                        <a:pt x="154" y="3"/>
                      </a:lnTo>
                      <a:lnTo>
                        <a:pt x="154" y="2"/>
                      </a:lnTo>
                      <a:lnTo>
                        <a:pt x="154" y="1"/>
                      </a:lnTo>
                      <a:lnTo>
                        <a:pt x="153" y="1"/>
                      </a:lnTo>
                      <a:lnTo>
                        <a:pt x="153" y="0"/>
                      </a:lnTo>
                      <a:lnTo>
                        <a:pt x="145" y="5"/>
                      </a:lnTo>
                      <a:lnTo>
                        <a:pt x="146" y="6"/>
                      </a:lnTo>
                      <a:lnTo>
                        <a:pt x="146" y="7"/>
                      </a:lnTo>
                      <a:lnTo>
                        <a:pt x="146" y="8"/>
                      </a:lnTo>
                      <a:lnTo>
                        <a:pt x="146" y="9"/>
                      </a:lnTo>
                      <a:lnTo>
                        <a:pt x="146" y="123"/>
                      </a:lnTo>
                      <a:lnTo>
                        <a:pt x="146" y="124"/>
                      </a:lnTo>
                      <a:lnTo>
                        <a:pt x="146" y="125"/>
                      </a:lnTo>
                      <a:lnTo>
                        <a:pt x="145" y="126"/>
                      </a:lnTo>
                      <a:lnTo>
                        <a:pt x="145" y="127"/>
                      </a:lnTo>
                      <a:lnTo>
                        <a:pt x="144" y="127"/>
                      </a:lnTo>
                      <a:lnTo>
                        <a:pt x="143" y="127"/>
                      </a:lnTo>
                      <a:lnTo>
                        <a:pt x="143" y="128"/>
                      </a:lnTo>
                      <a:lnTo>
                        <a:pt x="142" y="128"/>
                      </a:lnTo>
                      <a:lnTo>
                        <a:pt x="9" y="128"/>
                      </a:lnTo>
                      <a:lnTo>
                        <a:pt x="8" y="128"/>
                      </a:lnTo>
                      <a:lnTo>
                        <a:pt x="8" y="127"/>
                      </a:lnTo>
                      <a:lnTo>
                        <a:pt x="7" y="127"/>
                      </a:lnTo>
                      <a:lnTo>
                        <a:pt x="6" y="127"/>
                      </a:lnTo>
                      <a:lnTo>
                        <a:pt x="0" y="133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41" name="Freeform 1375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16 h 17"/>
                    <a:gd name="T2" fmla="*/ 151 w 153"/>
                    <a:gd name="T3" fmla="*/ 16 h 17"/>
                    <a:gd name="T4" fmla="*/ 151 w 153"/>
                    <a:gd name="T5" fmla="*/ 10 h 17"/>
                    <a:gd name="T6" fmla="*/ 150 w 153"/>
                    <a:gd name="T7" fmla="*/ 10 h 17"/>
                    <a:gd name="T8" fmla="*/ 150 w 153"/>
                    <a:gd name="T9" fmla="*/ 10 h 17"/>
                    <a:gd name="T10" fmla="*/ 150 w 153"/>
                    <a:gd name="T11" fmla="*/ 5 h 17"/>
                    <a:gd name="T12" fmla="*/ 149 w 153"/>
                    <a:gd name="T13" fmla="*/ 5 h 17"/>
                    <a:gd name="T14" fmla="*/ 149 w 153"/>
                    <a:gd name="T15" fmla="*/ 5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5 h 17"/>
                    <a:gd name="T32" fmla="*/ 1 w 153"/>
                    <a:gd name="T33" fmla="*/ 5 h 17"/>
                    <a:gd name="T34" fmla="*/ 0 w 153"/>
                    <a:gd name="T35" fmla="*/ 10 h 17"/>
                    <a:gd name="T36" fmla="*/ 0 w 153"/>
                    <a:gd name="T37" fmla="*/ 10 h 17"/>
                    <a:gd name="T38" fmla="*/ 0 w 153"/>
                    <a:gd name="T39" fmla="*/ 16 h 17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153"/>
                    <a:gd name="T61" fmla="*/ 0 h 17"/>
                    <a:gd name="T62" fmla="*/ 153 w 153"/>
                    <a:gd name="T63" fmla="*/ 17 h 17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153" h="17">
                      <a:moveTo>
                        <a:pt x="152" y="16"/>
                      </a:moveTo>
                      <a:lnTo>
                        <a:pt x="151" y="16"/>
                      </a:lnTo>
                      <a:lnTo>
                        <a:pt x="151" y="10"/>
                      </a:lnTo>
                      <a:lnTo>
                        <a:pt x="150" y="10"/>
                      </a:lnTo>
                      <a:lnTo>
                        <a:pt x="150" y="5"/>
                      </a:lnTo>
                      <a:lnTo>
                        <a:pt x="149" y="5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5"/>
                      </a:lnTo>
                      <a:lnTo>
                        <a:pt x="0" y="1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42" name="Freeform 1376"/>
                <p:cNvSpPr>
                  <a:spLocks/>
                </p:cNvSpPr>
                <p:nvPr/>
              </p:nvSpPr>
              <p:spPr bwMode="auto">
                <a:xfrm>
                  <a:off x="3843" y="1489"/>
                  <a:ext cx="215" cy="72"/>
                </a:xfrm>
                <a:custGeom>
                  <a:avLst/>
                  <a:gdLst>
                    <a:gd name="T0" fmla="*/ 0 w 215"/>
                    <a:gd name="T1" fmla="*/ 71 h 72"/>
                    <a:gd name="T2" fmla="*/ 0 w 215"/>
                    <a:gd name="T3" fmla="*/ 0 h 72"/>
                    <a:gd name="T4" fmla="*/ 214 w 215"/>
                    <a:gd name="T5" fmla="*/ 0 h 72"/>
                    <a:gd name="T6" fmla="*/ 214 w 215"/>
                    <a:gd name="T7" fmla="*/ 71 h 72"/>
                    <a:gd name="T8" fmla="*/ 0 w 215"/>
                    <a:gd name="T9" fmla="*/ 71 h 7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15"/>
                    <a:gd name="T16" fmla="*/ 0 h 72"/>
                    <a:gd name="T17" fmla="*/ 215 w 215"/>
                    <a:gd name="T18" fmla="*/ 72 h 7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15" h="72">
                      <a:moveTo>
                        <a:pt x="0" y="71"/>
                      </a:moveTo>
                      <a:lnTo>
                        <a:pt x="0" y="0"/>
                      </a:lnTo>
                      <a:lnTo>
                        <a:pt x="214" y="0"/>
                      </a:lnTo>
                      <a:lnTo>
                        <a:pt x="214" y="71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43" name="Freeform 1377"/>
                <p:cNvSpPr>
                  <a:spLocks/>
                </p:cNvSpPr>
                <p:nvPr/>
              </p:nvSpPr>
              <p:spPr bwMode="auto">
                <a:xfrm>
                  <a:off x="3841" y="1489"/>
                  <a:ext cx="219" cy="23"/>
                </a:xfrm>
                <a:custGeom>
                  <a:avLst/>
                  <a:gdLst>
                    <a:gd name="T0" fmla="*/ 79 w 219"/>
                    <a:gd name="T1" fmla="*/ 0 h 23"/>
                    <a:gd name="T2" fmla="*/ 0 w 219"/>
                    <a:gd name="T3" fmla="*/ 0 h 23"/>
                    <a:gd name="T4" fmla="*/ 0 w 219"/>
                    <a:gd name="T5" fmla="*/ 22 h 23"/>
                    <a:gd name="T6" fmla="*/ 218 w 219"/>
                    <a:gd name="T7" fmla="*/ 22 h 23"/>
                    <a:gd name="T8" fmla="*/ 215 w 219"/>
                    <a:gd name="T9" fmla="*/ 0 h 23"/>
                    <a:gd name="T10" fmla="*/ 137 w 219"/>
                    <a:gd name="T11" fmla="*/ 0 h 23"/>
                    <a:gd name="T12" fmla="*/ 79 w 219"/>
                    <a:gd name="T13" fmla="*/ 0 h 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19"/>
                    <a:gd name="T22" fmla="*/ 0 h 23"/>
                    <a:gd name="T23" fmla="*/ 219 w 219"/>
                    <a:gd name="T24" fmla="*/ 23 h 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9" h="23">
                      <a:moveTo>
                        <a:pt x="79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218" y="22"/>
                      </a:lnTo>
                      <a:lnTo>
                        <a:pt x="215" y="0"/>
                      </a:lnTo>
                      <a:lnTo>
                        <a:pt x="137" y="0"/>
                      </a:lnTo>
                      <a:lnTo>
                        <a:pt x="79" y="0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44" name="Freeform 1378"/>
                <p:cNvSpPr>
                  <a:spLocks/>
                </p:cNvSpPr>
                <p:nvPr/>
              </p:nvSpPr>
              <p:spPr bwMode="auto">
                <a:xfrm>
                  <a:off x="3991" y="1495"/>
                  <a:ext cx="56" cy="17"/>
                </a:xfrm>
                <a:custGeom>
                  <a:avLst/>
                  <a:gdLst>
                    <a:gd name="T0" fmla="*/ 0 w 56"/>
                    <a:gd name="T1" fmla="*/ 6 h 17"/>
                    <a:gd name="T2" fmla="*/ 18 w 56"/>
                    <a:gd name="T3" fmla="*/ 6 h 17"/>
                    <a:gd name="T4" fmla="*/ 18 w 56"/>
                    <a:gd name="T5" fmla="*/ 0 h 17"/>
                    <a:gd name="T6" fmla="*/ 35 w 56"/>
                    <a:gd name="T7" fmla="*/ 0 h 17"/>
                    <a:gd name="T8" fmla="*/ 35 w 56"/>
                    <a:gd name="T9" fmla="*/ 6 h 17"/>
                    <a:gd name="T10" fmla="*/ 55 w 56"/>
                    <a:gd name="T11" fmla="*/ 6 h 17"/>
                    <a:gd name="T12" fmla="*/ 55 w 56"/>
                    <a:gd name="T13" fmla="*/ 10 h 17"/>
                    <a:gd name="T14" fmla="*/ 35 w 56"/>
                    <a:gd name="T15" fmla="*/ 10 h 17"/>
                    <a:gd name="T16" fmla="*/ 35 w 56"/>
                    <a:gd name="T17" fmla="*/ 16 h 17"/>
                    <a:gd name="T18" fmla="*/ 18 w 56"/>
                    <a:gd name="T19" fmla="*/ 16 h 17"/>
                    <a:gd name="T20" fmla="*/ 18 w 56"/>
                    <a:gd name="T21" fmla="*/ 10 h 17"/>
                    <a:gd name="T22" fmla="*/ 0 w 56"/>
                    <a:gd name="T23" fmla="*/ 10 h 17"/>
                    <a:gd name="T24" fmla="*/ 0 w 56"/>
                    <a:gd name="T25" fmla="*/ 6 h 17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56"/>
                    <a:gd name="T40" fmla="*/ 0 h 17"/>
                    <a:gd name="T41" fmla="*/ 56 w 56"/>
                    <a:gd name="T42" fmla="*/ 17 h 17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56" h="17">
                      <a:moveTo>
                        <a:pt x="0" y="6"/>
                      </a:moveTo>
                      <a:lnTo>
                        <a:pt x="18" y="6"/>
                      </a:lnTo>
                      <a:lnTo>
                        <a:pt x="18" y="0"/>
                      </a:lnTo>
                      <a:lnTo>
                        <a:pt x="35" y="0"/>
                      </a:lnTo>
                      <a:lnTo>
                        <a:pt x="35" y="6"/>
                      </a:lnTo>
                      <a:lnTo>
                        <a:pt x="55" y="6"/>
                      </a:lnTo>
                      <a:lnTo>
                        <a:pt x="55" y="10"/>
                      </a:lnTo>
                      <a:lnTo>
                        <a:pt x="35" y="10"/>
                      </a:lnTo>
                      <a:lnTo>
                        <a:pt x="35" y="16"/>
                      </a:lnTo>
                      <a:lnTo>
                        <a:pt x="18" y="16"/>
                      </a:lnTo>
                      <a:lnTo>
                        <a:pt x="18" y="10"/>
                      </a:lnTo>
                      <a:lnTo>
                        <a:pt x="0" y="10"/>
                      </a:lnTo>
                      <a:lnTo>
                        <a:pt x="0" y="6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45" name="Freeform 1379"/>
                <p:cNvSpPr>
                  <a:spLocks/>
                </p:cNvSpPr>
                <p:nvPr/>
              </p:nvSpPr>
              <p:spPr bwMode="auto">
                <a:xfrm>
                  <a:off x="3991" y="1501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0 h 17"/>
                    <a:gd name="T4" fmla="*/ 16 w 17"/>
                    <a:gd name="T5" fmla="*/ 5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17"/>
                    <a:gd name="T14" fmla="*/ 17 w 17"/>
                    <a:gd name="T15" fmla="*/ 17 h 1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17">
                      <a:moveTo>
                        <a:pt x="0" y="16"/>
                      </a:moveTo>
                      <a:lnTo>
                        <a:pt x="16" y="10"/>
                      </a:lnTo>
                      <a:lnTo>
                        <a:pt x="16" y="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46" name="Freeform 1380"/>
                <p:cNvSpPr>
                  <a:spLocks/>
                </p:cNvSpPr>
                <p:nvPr/>
              </p:nvSpPr>
              <p:spPr bwMode="auto">
                <a:xfrm>
                  <a:off x="4010" y="149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47" name="Freeform 1381"/>
                <p:cNvSpPr>
                  <a:spLocks/>
                </p:cNvSpPr>
                <p:nvPr/>
              </p:nvSpPr>
              <p:spPr bwMode="auto">
                <a:xfrm>
                  <a:off x="4046" y="1504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48" name="Freeform 1382"/>
                <p:cNvSpPr>
                  <a:spLocks/>
                </p:cNvSpPr>
                <p:nvPr/>
              </p:nvSpPr>
              <p:spPr bwMode="auto">
                <a:xfrm>
                  <a:off x="4027" y="1495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0 h 17"/>
                    <a:gd name="T4" fmla="*/ 0 w 17"/>
                    <a:gd name="T5" fmla="*/ 16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16"/>
                      </a:moveTo>
                      <a:lnTo>
                        <a:pt x="16" y="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49" name="Freeform 1383"/>
                <p:cNvSpPr>
                  <a:spLocks/>
                </p:cNvSpPr>
                <p:nvPr/>
              </p:nvSpPr>
              <p:spPr bwMode="auto">
                <a:xfrm>
                  <a:off x="4011" y="1499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6 h 17"/>
                    <a:gd name="T4" fmla="*/ 16 w 17"/>
                    <a:gd name="T5" fmla="*/ 0 h 17"/>
                    <a:gd name="T6" fmla="*/ 0 w 17"/>
                    <a:gd name="T7" fmla="*/ 0 h 17"/>
                    <a:gd name="T8" fmla="*/ 0 w 17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16"/>
                      </a:moveTo>
                      <a:lnTo>
                        <a:pt x="16" y="16"/>
                      </a:lnTo>
                      <a:lnTo>
                        <a:pt x="16" y="0"/>
                      </a:lnTo>
                      <a:lnTo>
                        <a:pt x="0" y="0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F9FA2"/>
                </a:solidFill>
                <a:ln w="12700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50" name="Freeform 1384"/>
                <p:cNvSpPr>
                  <a:spLocks/>
                </p:cNvSpPr>
                <p:nvPr/>
              </p:nvSpPr>
              <p:spPr bwMode="auto">
                <a:xfrm>
                  <a:off x="3993" y="1502"/>
                  <a:ext cx="54" cy="17"/>
                </a:xfrm>
                <a:custGeom>
                  <a:avLst/>
                  <a:gdLst>
                    <a:gd name="T0" fmla="*/ 0 w 54"/>
                    <a:gd name="T1" fmla="*/ 0 h 17"/>
                    <a:gd name="T2" fmla="*/ 53 w 54"/>
                    <a:gd name="T3" fmla="*/ 0 h 17"/>
                    <a:gd name="T4" fmla="*/ 53 w 54"/>
                    <a:gd name="T5" fmla="*/ 16 h 17"/>
                    <a:gd name="T6" fmla="*/ 0 w 54"/>
                    <a:gd name="T7" fmla="*/ 16 h 17"/>
                    <a:gd name="T8" fmla="*/ 0 w 54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4"/>
                    <a:gd name="T16" fmla="*/ 0 h 17"/>
                    <a:gd name="T17" fmla="*/ 54 w 5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4" h="17">
                      <a:moveTo>
                        <a:pt x="0" y="0"/>
                      </a:moveTo>
                      <a:lnTo>
                        <a:pt x="53" y="0"/>
                      </a:lnTo>
                      <a:lnTo>
                        <a:pt x="53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51" name="Freeform 1385"/>
                <p:cNvSpPr>
                  <a:spLocks/>
                </p:cNvSpPr>
                <p:nvPr/>
              </p:nvSpPr>
              <p:spPr bwMode="auto">
                <a:xfrm>
                  <a:off x="4010" y="1496"/>
                  <a:ext cx="19" cy="17"/>
                </a:xfrm>
                <a:custGeom>
                  <a:avLst/>
                  <a:gdLst>
                    <a:gd name="T0" fmla="*/ 18 w 19"/>
                    <a:gd name="T1" fmla="*/ 12 h 17"/>
                    <a:gd name="T2" fmla="*/ 17 w 19"/>
                    <a:gd name="T3" fmla="*/ 16 h 17"/>
                    <a:gd name="T4" fmla="*/ 17 w 19"/>
                    <a:gd name="T5" fmla="*/ 0 h 17"/>
                    <a:gd name="T6" fmla="*/ 0 w 19"/>
                    <a:gd name="T7" fmla="*/ 0 h 17"/>
                    <a:gd name="T8" fmla="*/ 0 w 19"/>
                    <a:gd name="T9" fmla="*/ 16 h 17"/>
                    <a:gd name="T10" fmla="*/ 0 w 19"/>
                    <a:gd name="T11" fmla="*/ 12 h 1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"/>
                    <a:gd name="T19" fmla="*/ 0 h 17"/>
                    <a:gd name="T20" fmla="*/ 19 w 19"/>
                    <a:gd name="T21" fmla="*/ 17 h 1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" h="17">
                      <a:moveTo>
                        <a:pt x="18" y="12"/>
                      </a:moveTo>
                      <a:lnTo>
                        <a:pt x="17" y="16"/>
                      </a:ln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6"/>
                      </a:lnTo>
                      <a:lnTo>
                        <a:pt x="0" y="12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52" name="Freeform 1386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16 w 17"/>
                    <a:gd name="T1" fmla="*/ 0 h 17"/>
                    <a:gd name="T2" fmla="*/ 16 w 17"/>
                    <a:gd name="T3" fmla="*/ 16 h 17"/>
                    <a:gd name="T4" fmla="*/ 0 w 17"/>
                    <a:gd name="T5" fmla="*/ 16 h 17"/>
                    <a:gd name="T6" fmla="*/ 0 w 17"/>
                    <a:gd name="T7" fmla="*/ 0 h 17"/>
                    <a:gd name="T8" fmla="*/ 16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16" y="0"/>
                      </a:move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  <a:lnTo>
                        <a:pt x="16" y="0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53" name="Freeform 1387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54" name="Freeform 1388"/>
                <p:cNvSpPr>
                  <a:spLocks/>
                </p:cNvSpPr>
                <p:nvPr/>
              </p:nvSpPr>
              <p:spPr bwMode="auto">
                <a:xfrm>
                  <a:off x="3930" y="1497"/>
                  <a:ext cx="44" cy="17"/>
                </a:xfrm>
                <a:custGeom>
                  <a:avLst/>
                  <a:gdLst>
                    <a:gd name="T0" fmla="*/ 14 w 44"/>
                    <a:gd name="T1" fmla="*/ 16 h 17"/>
                    <a:gd name="T2" fmla="*/ 0 w 44"/>
                    <a:gd name="T3" fmla="*/ 16 h 17"/>
                    <a:gd name="T4" fmla="*/ 0 w 44"/>
                    <a:gd name="T5" fmla="*/ 8 h 17"/>
                    <a:gd name="T6" fmla="*/ 14 w 44"/>
                    <a:gd name="T7" fmla="*/ 8 h 17"/>
                    <a:gd name="T8" fmla="*/ 14 w 44"/>
                    <a:gd name="T9" fmla="*/ 0 h 17"/>
                    <a:gd name="T10" fmla="*/ 28 w 44"/>
                    <a:gd name="T11" fmla="*/ 0 h 17"/>
                    <a:gd name="T12" fmla="*/ 28 w 44"/>
                    <a:gd name="T13" fmla="*/ 8 h 17"/>
                    <a:gd name="T14" fmla="*/ 43 w 44"/>
                    <a:gd name="T15" fmla="*/ 8 h 17"/>
                    <a:gd name="T16" fmla="*/ 43 w 44"/>
                    <a:gd name="T17" fmla="*/ 16 h 17"/>
                    <a:gd name="T18" fmla="*/ 28 w 44"/>
                    <a:gd name="T19" fmla="*/ 16 h 17"/>
                    <a:gd name="T20" fmla="*/ 14 w 44"/>
                    <a:gd name="T21" fmla="*/ 16 h 1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44"/>
                    <a:gd name="T34" fmla="*/ 0 h 17"/>
                    <a:gd name="T35" fmla="*/ 44 w 44"/>
                    <a:gd name="T36" fmla="*/ 17 h 17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44" h="17">
                      <a:moveTo>
                        <a:pt x="14" y="16"/>
                      </a:moveTo>
                      <a:lnTo>
                        <a:pt x="0" y="16"/>
                      </a:lnTo>
                      <a:lnTo>
                        <a:pt x="0" y="8"/>
                      </a:lnTo>
                      <a:lnTo>
                        <a:pt x="14" y="8"/>
                      </a:lnTo>
                      <a:lnTo>
                        <a:pt x="14" y="0"/>
                      </a:lnTo>
                      <a:lnTo>
                        <a:pt x="28" y="0"/>
                      </a:lnTo>
                      <a:lnTo>
                        <a:pt x="28" y="8"/>
                      </a:lnTo>
                      <a:lnTo>
                        <a:pt x="43" y="8"/>
                      </a:lnTo>
                      <a:lnTo>
                        <a:pt x="43" y="16"/>
                      </a:lnTo>
                      <a:lnTo>
                        <a:pt x="28" y="16"/>
                      </a:lnTo>
                      <a:lnTo>
                        <a:pt x="14" y="16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55" name="Freeform 1389"/>
                <p:cNvSpPr>
                  <a:spLocks/>
                </p:cNvSpPr>
                <p:nvPr/>
              </p:nvSpPr>
              <p:spPr bwMode="auto">
                <a:xfrm>
                  <a:off x="3945" y="1497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56" name="Freeform 1390"/>
                <p:cNvSpPr>
                  <a:spLocks/>
                </p:cNvSpPr>
                <p:nvPr/>
              </p:nvSpPr>
              <p:spPr bwMode="auto">
                <a:xfrm>
                  <a:off x="3897" y="1494"/>
                  <a:ext cx="20" cy="17"/>
                </a:xfrm>
                <a:custGeom>
                  <a:avLst/>
                  <a:gdLst>
                    <a:gd name="T0" fmla="*/ 5 w 20"/>
                    <a:gd name="T1" fmla="*/ 16 h 17"/>
                    <a:gd name="T2" fmla="*/ 3 w 20"/>
                    <a:gd name="T3" fmla="*/ 15 h 17"/>
                    <a:gd name="T4" fmla="*/ 2 w 20"/>
                    <a:gd name="T5" fmla="*/ 15 h 17"/>
                    <a:gd name="T6" fmla="*/ 1 w 20"/>
                    <a:gd name="T7" fmla="*/ 14 h 17"/>
                    <a:gd name="T8" fmla="*/ 1 w 20"/>
                    <a:gd name="T9" fmla="*/ 12 h 17"/>
                    <a:gd name="T10" fmla="*/ 0 w 20"/>
                    <a:gd name="T11" fmla="*/ 12 h 17"/>
                    <a:gd name="T12" fmla="*/ 0 w 20"/>
                    <a:gd name="T13" fmla="*/ 10 h 17"/>
                    <a:gd name="T14" fmla="*/ 0 w 20"/>
                    <a:gd name="T15" fmla="*/ 8 h 17"/>
                    <a:gd name="T16" fmla="*/ 0 w 20"/>
                    <a:gd name="T17" fmla="*/ 6 h 17"/>
                    <a:gd name="T18" fmla="*/ 0 w 20"/>
                    <a:gd name="T19" fmla="*/ 4 h 17"/>
                    <a:gd name="T20" fmla="*/ 0 w 20"/>
                    <a:gd name="T21" fmla="*/ 3 h 17"/>
                    <a:gd name="T22" fmla="*/ 1 w 20"/>
                    <a:gd name="T23" fmla="*/ 2 h 17"/>
                    <a:gd name="T24" fmla="*/ 2 w 20"/>
                    <a:gd name="T25" fmla="*/ 1 h 17"/>
                    <a:gd name="T26" fmla="*/ 3 w 20"/>
                    <a:gd name="T27" fmla="*/ 0 h 17"/>
                    <a:gd name="T28" fmla="*/ 4 w 20"/>
                    <a:gd name="T29" fmla="*/ 0 h 17"/>
                    <a:gd name="T30" fmla="*/ 5 w 20"/>
                    <a:gd name="T31" fmla="*/ 0 h 17"/>
                    <a:gd name="T32" fmla="*/ 12 w 20"/>
                    <a:gd name="T33" fmla="*/ 0 h 17"/>
                    <a:gd name="T34" fmla="*/ 13 w 20"/>
                    <a:gd name="T35" fmla="*/ 0 h 17"/>
                    <a:gd name="T36" fmla="*/ 15 w 20"/>
                    <a:gd name="T37" fmla="*/ 0 h 17"/>
                    <a:gd name="T38" fmla="*/ 16 w 20"/>
                    <a:gd name="T39" fmla="*/ 1 h 17"/>
                    <a:gd name="T40" fmla="*/ 17 w 20"/>
                    <a:gd name="T41" fmla="*/ 3 h 17"/>
                    <a:gd name="T42" fmla="*/ 17 w 20"/>
                    <a:gd name="T43" fmla="*/ 3 h 17"/>
                    <a:gd name="T44" fmla="*/ 18 w 20"/>
                    <a:gd name="T45" fmla="*/ 5 h 17"/>
                    <a:gd name="T46" fmla="*/ 18 w 20"/>
                    <a:gd name="T47" fmla="*/ 7 h 17"/>
                    <a:gd name="T48" fmla="*/ 18 w 20"/>
                    <a:gd name="T49" fmla="*/ 8 h 17"/>
                    <a:gd name="T50" fmla="*/ 18 w 20"/>
                    <a:gd name="T51" fmla="*/ 10 h 17"/>
                    <a:gd name="T52" fmla="*/ 17 w 20"/>
                    <a:gd name="T53" fmla="*/ 12 h 17"/>
                    <a:gd name="T54" fmla="*/ 16 w 20"/>
                    <a:gd name="T55" fmla="*/ 13 h 17"/>
                    <a:gd name="T56" fmla="*/ 15 w 20"/>
                    <a:gd name="T57" fmla="*/ 15 h 17"/>
                    <a:gd name="T58" fmla="*/ 13 w 20"/>
                    <a:gd name="T59" fmla="*/ 15 h 17"/>
                    <a:gd name="T60" fmla="*/ 13 w 20"/>
                    <a:gd name="T61" fmla="*/ 16 h 17"/>
                    <a:gd name="T62" fmla="*/ 12 w 20"/>
                    <a:gd name="T63" fmla="*/ 16 h 17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20"/>
                    <a:gd name="T97" fmla="*/ 0 h 17"/>
                    <a:gd name="T98" fmla="*/ 20 w 20"/>
                    <a:gd name="T99" fmla="*/ 17 h 17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20" h="17">
                      <a:moveTo>
                        <a:pt x="5" y="16"/>
                      </a:moveTo>
                      <a:lnTo>
                        <a:pt x="5" y="16"/>
                      </a:lnTo>
                      <a:lnTo>
                        <a:pt x="4" y="16"/>
                      </a:lnTo>
                      <a:lnTo>
                        <a:pt x="3" y="15"/>
                      </a:lnTo>
                      <a:lnTo>
                        <a:pt x="2" y="15"/>
                      </a:lnTo>
                      <a:lnTo>
                        <a:pt x="2" y="14"/>
                      </a:lnTo>
                      <a:lnTo>
                        <a:pt x="1" y="14"/>
                      </a:lnTo>
                      <a:lnTo>
                        <a:pt x="1" y="13"/>
                      </a:lnTo>
                      <a:lnTo>
                        <a:pt x="1" y="12"/>
                      </a:lnTo>
                      <a:lnTo>
                        <a:pt x="0" y="12"/>
                      </a:lnTo>
                      <a:lnTo>
                        <a:pt x="0" y="11"/>
                      </a:lnTo>
                      <a:lnTo>
                        <a:pt x="0" y="10"/>
                      </a:lnTo>
                      <a:lnTo>
                        <a:pt x="0" y="9"/>
                      </a:lnTo>
                      <a:lnTo>
                        <a:pt x="0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1" y="3"/>
                      </a:lnTo>
                      <a:lnTo>
                        <a:pt x="1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5" y="0"/>
                      </a:lnTo>
                      <a:lnTo>
                        <a:pt x="12" y="0"/>
                      </a:lnTo>
                      <a:lnTo>
                        <a:pt x="13" y="0"/>
                      </a:lnTo>
                      <a:lnTo>
                        <a:pt x="15" y="0"/>
                      </a:lnTo>
                      <a:lnTo>
                        <a:pt x="16" y="1"/>
                      </a:lnTo>
                      <a:lnTo>
                        <a:pt x="16" y="2"/>
                      </a:lnTo>
                      <a:lnTo>
                        <a:pt x="17" y="3"/>
                      </a:lnTo>
                      <a:lnTo>
                        <a:pt x="18" y="4"/>
                      </a:lnTo>
                      <a:lnTo>
                        <a:pt x="18" y="5"/>
                      </a:lnTo>
                      <a:lnTo>
                        <a:pt x="18" y="6"/>
                      </a:lnTo>
                      <a:lnTo>
                        <a:pt x="18" y="7"/>
                      </a:lnTo>
                      <a:lnTo>
                        <a:pt x="19" y="8"/>
                      </a:lnTo>
                      <a:lnTo>
                        <a:pt x="18" y="8"/>
                      </a:lnTo>
                      <a:lnTo>
                        <a:pt x="18" y="9"/>
                      </a:lnTo>
                      <a:lnTo>
                        <a:pt x="18" y="10"/>
                      </a:lnTo>
                      <a:lnTo>
                        <a:pt x="18" y="11"/>
                      </a:lnTo>
                      <a:lnTo>
                        <a:pt x="17" y="12"/>
                      </a:lnTo>
                      <a:lnTo>
                        <a:pt x="16" y="13"/>
                      </a:lnTo>
                      <a:lnTo>
                        <a:pt x="16" y="14"/>
                      </a:lnTo>
                      <a:lnTo>
                        <a:pt x="15" y="15"/>
                      </a:lnTo>
                      <a:lnTo>
                        <a:pt x="13" y="15"/>
                      </a:lnTo>
                      <a:lnTo>
                        <a:pt x="13" y="16"/>
                      </a:lnTo>
                      <a:lnTo>
                        <a:pt x="12" y="16"/>
                      </a:lnTo>
                      <a:lnTo>
                        <a:pt x="5" y="16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57" name="Freeform 1391"/>
                <p:cNvSpPr>
                  <a:spLocks/>
                </p:cNvSpPr>
                <p:nvPr/>
              </p:nvSpPr>
              <p:spPr bwMode="auto">
                <a:xfrm>
                  <a:off x="3921" y="1489"/>
                  <a:ext cx="17" cy="38"/>
                </a:xfrm>
                <a:custGeom>
                  <a:avLst/>
                  <a:gdLst>
                    <a:gd name="T0" fmla="*/ 8 w 17"/>
                    <a:gd name="T1" fmla="*/ 0 h 38"/>
                    <a:gd name="T2" fmla="*/ 0 w 17"/>
                    <a:gd name="T3" fmla="*/ 22 h 38"/>
                    <a:gd name="T4" fmla="*/ 16 w 17"/>
                    <a:gd name="T5" fmla="*/ 22 h 38"/>
                    <a:gd name="T6" fmla="*/ 16 w 17"/>
                    <a:gd name="T7" fmla="*/ 37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38"/>
                    <a:gd name="T14" fmla="*/ 17 w 17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38">
                      <a:moveTo>
                        <a:pt x="8" y="0"/>
                      </a:moveTo>
                      <a:lnTo>
                        <a:pt x="0" y="22"/>
                      </a:lnTo>
                      <a:lnTo>
                        <a:pt x="16" y="22"/>
                      </a:lnTo>
                      <a:lnTo>
                        <a:pt x="16" y="37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58" name="Freeform 1392"/>
                <p:cNvSpPr>
                  <a:spLocks/>
                </p:cNvSpPr>
                <p:nvPr/>
              </p:nvSpPr>
              <p:spPr bwMode="auto">
                <a:xfrm>
                  <a:off x="3979" y="1489"/>
                  <a:ext cx="17" cy="72"/>
                </a:xfrm>
                <a:custGeom>
                  <a:avLst/>
                  <a:gdLst>
                    <a:gd name="T0" fmla="*/ 0 w 17"/>
                    <a:gd name="T1" fmla="*/ 0 h 72"/>
                    <a:gd name="T2" fmla="*/ 16 w 17"/>
                    <a:gd name="T3" fmla="*/ 22 h 72"/>
                    <a:gd name="T4" fmla="*/ 0 w 17"/>
                    <a:gd name="T5" fmla="*/ 22 h 72"/>
                    <a:gd name="T6" fmla="*/ 0 w 17"/>
                    <a:gd name="T7" fmla="*/ 71 h 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72"/>
                    <a:gd name="T14" fmla="*/ 17 w 17"/>
                    <a:gd name="T15" fmla="*/ 72 h 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72">
                      <a:moveTo>
                        <a:pt x="0" y="0"/>
                      </a:moveTo>
                      <a:lnTo>
                        <a:pt x="16" y="22"/>
                      </a:lnTo>
                      <a:lnTo>
                        <a:pt x="0" y="22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59" name="Freeform 1393"/>
                <p:cNvSpPr>
                  <a:spLocks/>
                </p:cNvSpPr>
                <p:nvPr/>
              </p:nvSpPr>
              <p:spPr bwMode="auto">
                <a:xfrm>
                  <a:off x="3855" y="1532"/>
                  <a:ext cx="250" cy="41"/>
                </a:xfrm>
                <a:custGeom>
                  <a:avLst/>
                  <a:gdLst>
                    <a:gd name="T0" fmla="*/ 0 w 250"/>
                    <a:gd name="T1" fmla="*/ 40 h 41"/>
                    <a:gd name="T2" fmla="*/ 249 w 250"/>
                    <a:gd name="T3" fmla="*/ 40 h 41"/>
                    <a:gd name="T4" fmla="*/ 240 w 250"/>
                    <a:gd name="T5" fmla="*/ 0 h 41"/>
                    <a:gd name="T6" fmla="*/ 10 w 250"/>
                    <a:gd name="T7" fmla="*/ 0 h 41"/>
                    <a:gd name="T8" fmla="*/ 0 w 250"/>
                    <a:gd name="T9" fmla="*/ 40 h 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0"/>
                    <a:gd name="T16" fmla="*/ 0 h 41"/>
                    <a:gd name="T17" fmla="*/ 250 w 250"/>
                    <a:gd name="T18" fmla="*/ 41 h 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0" h="41">
                      <a:moveTo>
                        <a:pt x="0" y="40"/>
                      </a:moveTo>
                      <a:lnTo>
                        <a:pt x="249" y="40"/>
                      </a:lnTo>
                      <a:lnTo>
                        <a:pt x="240" y="0"/>
                      </a:lnTo>
                      <a:lnTo>
                        <a:pt x="10" y="0"/>
                      </a:lnTo>
                      <a:lnTo>
                        <a:pt x="0" y="40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60" name="Freeform 1394"/>
                <p:cNvSpPr>
                  <a:spLocks/>
                </p:cNvSpPr>
                <p:nvPr/>
              </p:nvSpPr>
              <p:spPr bwMode="auto">
                <a:xfrm>
                  <a:off x="3855" y="1572"/>
                  <a:ext cx="251" cy="17"/>
                </a:xfrm>
                <a:custGeom>
                  <a:avLst/>
                  <a:gdLst>
                    <a:gd name="T0" fmla="*/ 0 w 251"/>
                    <a:gd name="T1" fmla="*/ 16 h 17"/>
                    <a:gd name="T2" fmla="*/ 0 w 251"/>
                    <a:gd name="T3" fmla="*/ 0 h 17"/>
                    <a:gd name="T4" fmla="*/ 249 w 251"/>
                    <a:gd name="T5" fmla="*/ 0 h 17"/>
                    <a:gd name="T6" fmla="*/ 250 w 251"/>
                    <a:gd name="T7" fmla="*/ 16 h 17"/>
                    <a:gd name="T8" fmla="*/ 0 w 251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1"/>
                    <a:gd name="T16" fmla="*/ 0 h 17"/>
                    <a:gd name="T17" fmla="*/ 251 w 251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1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249" y="0"/>
                      </a:lnTo>
                      <a:lnTo>
                        <a:pt x="250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CCCC6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61" name="Freeform 1395"/>
                <p:cNvSpPr>
                  <a:spLocks/>
                </p:cNvSpPr>
                <p:nvPr/>
              </p:nvSpPr>
              <p:spPr bwMode="auto">
                <a:xfrm>
                  <a:off x="3872" y="1538"/>
                  <a:ext cx="223" cy="28"/>
                </a:xfrm>
                <a:custGeom>
                  <a:avLst/>
                  <a:gdLst>
                    <a:gd name="T0" fmla="*/ 0 w 223"/>
                    <a:gd name="T1" fmla="*/ 27 h 28"/>
                    <a:gd name="T2" fmla="*/ 222 w 223"/>
                    <a:gd name="T3" fmla="*/ 27 h 28"/>
                    <a:gd name="T4" fmla="*/ 214 w 223"/>
                    <a:gd name="T5" fmla="*/ 0 h 28"/>
                    <a:gd name="T6" fmla="*/ 8 w 223"/>
                    <a:gd name="T7" fmla="*/ 0 h 28"/>
                    <a:gd name="T8" fmla="*/ 0 w 223"/>
                    <a:gd name="T9" fmla="*/ 27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3"/>
                    <a:gd name="T16" fmla="*/ 0 h 28"/>
                    <a:gd name="T17" fmla="*/ 223 w 223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3" h="28">
                      <a:moveTo>
                        <a:pt x="0" y="27"/>
                      </a:moveTo>
                      <a:lnTo>
                        <a:pt x="222" y="27"/>
                      </a:lnTo>
                      <a:lnTo>
                        <a:pt x="214" y="0"/>
                      </a:lnTo>
                      <a:lnTo>
                        <a:pt x="8" y="0"/>
                      </a:lnTo>
                      <a:lnTo>
                        <a:pt x="0" y="27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0277" name="Group 1396"/>
              <p:cNvGrpSpPr>
                <a:grpSpLocks/>
              </p:cNvGrpSpPr>
              <p:nvPr/>
            </p:nvGrpSpPr>
            <p:grpSpPr bwMode="auto">
              <a:xfrm>
                <a:off x="2900" y="2939"/>
                <a:ext cx="245" cy="175"/>
                <a:chOff x="3840" y="1279"/>
                <a:chExt cx="266" cy="310"/>
              </a:xfrm>
            </p:grpSpPr>
            <p:sp>
              <p:nvSpPr>
                <p:cNvPr id="10450" name="Freeform 1397"/>
                <p:cNvSpPr>
                  <a:spLocks/>
                </p:cNvSpPr>
                <p:nvPr/>
              </p:nvSpPr>
              <p:spPr bwMode="auto">
                <a:xfrm>
                  <a:off x="3848" y="1548"/>
                  <a:ext cx="206" cy="20"/>
                </a:xfrm>
                <a:custGeom>
                  <a:avLst/>
                  <a:gdLst>
                    <a:gd name="T0" fmla="*/ 0 w 206"/>
                    <a:gd name="T1" fmla="*/ 19 h 20"/>
                    <a:gd name="T2" fmla="*/ 0 w 206"/>
                    <a:gd name="T3" fmla="*/ 0 h 20"/>
                    <a:gd name="T4" fmla="*/ 205 w 206"/>
                    <a:gd name="T5" fmla="*/ 0 h 20"/>
                    <a:gd name="T6" fmla="*/ 205 w 206"/>
                    <a:gd name="T7" fmla="*/ 19 h 20"/>
                    <a:gd name="T8" fmla="*/ 0 w 206"/>
                    <a:gd name="T9" fmla="*/ 19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6"/>
                    <a:gd name="T16" fmla="*/ 0 h 20"/>
                    <a:gd name="T17" fmla="*/ 206 w 206"/>
                    <a:gd name="T18" fmla="*/ 20 h 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6" h="20">
                      <a:moveTo>
                        <a:pt x="0" y="19"/>
                      </a:moveTo>
                      <a:lnTo>
                        <a:pt x="0" y="0"/>
                      </a:lnTo>
                      <a:lnTo>
                        <a:pt x="205" y="0"/>
                      </a:lnTo>
                      <a:lnTo>
                        <a:pt x="205" y="19"/>
                      </a:lnTo>
                      <a:lnTo>
                        <a:pt x="0" y="19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1" name="Freeform 1398"/>
                <p:cNvSpPr>
                  <a:spLocks/>
                </p:cNvSpPr>
                <p:nvPr/>
              </p:nvSpPr>
              <p:spPr bwMode="auto">
                <a:xfrm>
                  <a:off x="3840" y="1453"/>
                  <a:ext cx="220" cy="34"/>
                </a:xfrm>
                <a:custGeom>
                  <a:avLst/>
                  <a:gdLst>
                    <a:gd name="T0" fmla="*/ 189 w 220"/>
                    <a:gd name="T1" fmla="*/ 0 h 34"/>
                    <a:gd name="T2" fmla="*/ 219 w 220"/>
                    <a:gd name="T3" fmla="*/ 33 h 34"/>
                    <a:gd name="T4" fmla="*/ 0 w 220"/>
                    <a:gd name="T5" fmla="*/ 33 h 34"/>
                    <a:gd name="T6" fmla="*/ 29 w 220"/>
                    <a:gd name="T7" fmla="*/ 0 h 34"/>
                    <a:gd name="T8" fmla="*/ 189 w 220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34"/>
                    <a:gd name="T17" fmla="*/ 220 w 220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34">
                      <a:moveTo>
                        <a:pt x="189" y="0"/>
                      </a:moveTo>
                      <a:lnTo>
                        <a:pt x="219" y="33"/>
                      </a:lnTo>
                      <a:lnTo>
                        <a:pt x="0" y="33"/>
                      </a:lnTo>
                      <a:lnTo>
                        <a:pt x="29" y="0"/>
                      </a:lnTo>
                      <a:lnTo>
                        <a:pt x="189" y="0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2" name="Freeform 1399"/>
                <p:cNvSpPr>
                  <a:spLocks/>
                </p:cNvSpPr>
                <p:nvPr/>
              </p:nvSpPr>
              <p:spPr bwMode="auto">
                <a:xfrm>
                  <a:off x="3897" y="1449"/>
                  <a:ext cx="104" cy="24"/>
                </a:xfrm>
                <a:custGeom>
                  <a:avLst/>
                  <a:gdLst>
                    <a:gd name="T0" fmla="*/ 102 w 104"/>
                    <a:gd name="T1" fmla="*/ 10 h 24"/>
                    <a:gd name="T2" fmla="*/ 101 w 104"/>
                    <a:gd name="T3" fmla="*/ 8 h 24"/>
                    <a:gd name="T4" fmla="*/ 97 w 104"/>
                    <a:gd name="T5" fmla="*/ 6 h 24"/>
                    <a:gd name="T6" fmla="*/ 93 w 104"/>
                    <a:gd name="T7" fmla="*/ 4 h 24"/>
                    <a:gd name="T8" fmla="*/ 87 w 104"/>
                    <a:gd name="T9" fmla="*/ 3 h 24"/>
                    <a:gd name="T10" fmla="*/ 80 w 104"/>
                    <a:gd name="T11" fmla="*/ 2 h 24"/>
                    <a:gd name="T12" fmla="*/ 72 w 104"/>
                    <a:gd name="T13" fmla="*/ 1 h 24"/>
                    <a:gd name="T14" fmla="*/ 64 w 104"/>
                    <a:gd name="T15" fmla="*/ 0 h 24"/>
                    <a:gd name="T16" fmla="*/ 55 w 104"/>
                    <a:gd name="T17" fmla="*/ 0 h 24"/>
                    <a:gd name="T18" fmla="*/ 46 w 104"/>
                    <a:gd name="T19" fmla="*/ 0 h 24"/>
                    <a:gd name="T20" fmla="*/ 37 w 104"/>
                    <a:gd name="T21" fmla="*/ 0 h 24"/>
                    <a:gd name="T22" fmla="*/ 29 w 104"/>
                    <a:gd name="T23" fmla="*/ 1 h 24"/>
                    <a:gd name="T24" fmla="*/ 21 w 104"/>
                    <a:gd name="T25" fmla="*/ 2 h 24"/>
                    <a:gd name="T26" fmla="*/ 14 w 104"/>
                    <a:gd name="T27" fmla="*/ 3 h 24"/>
                    <a:gd name="T28" fmla="*/ 8 w 104"/>
                    <a:gd name="T29" fmla="*/ 4 h 24"/>
                    <a:gd name="T30" fmla="*/ 4 w 104"/>
                    <a:gd name="T31" fmla="*/ 6 h 24"/>
                    <a:gd name="T32" fmla="*/ 1 w 104"/>
                    <a:gd name="T33" fmla="*/ 8 h 24"/>
                    <a:gd name="T34" fmla="*/ 0 w 104"/>
                    <a:gd name="T35" fmla="*/ 10 h 24"/>
                    <a:gd name="T36" fmla="*/ 0 w 104"/>
                    <a:gd name="T37" fmla="*/ 12 h 24"/>
                    <a:gd name="T38" fmla="*/ 1 w 104"/>
                    <a:gd name="T39" fmla="*/ 14 h 24"/>
                    <a:gd name="T40" fmla="*/ 4 w 104"/>
                    <a:gd name="T41" fmla="*/ 16 h 24"/>
                    <a:gd name="T42" fmla="*/ 8 w 104"/>
                    <a:gd name="T43" fmla="*/ 17 h 24"/>
                    <a:gd name="T44" fmla="*/ 14 w 104"/>
                    <a:gd name="T45" fmla="*/ 19 h 24"/>
                    <a:gd name="T46" fmla="*/ 21 w 104"/>
                    <a:gd name="T47" fmla="*/ 20 h 24"/>
                    <a:gd name="T48" fmla="*/ 29 w 104"/>
                    <a:gd name="T49" fmla="*/ 21 h 24"/>
                    <a:gd name="T50" fmla="*/ 37 w 104"/>
                    <a:gd name="T51" fmla="*/ 22 h 24"/>
                    <a:gd name="T52" fmla="*/ 46 w 104"/>
                    <a:gd name="T53" fmla="*/ 23 h 24"/>
                    <a:gd name="T54" fmla="*/ 55 w 104"/>
                    <a:gd name="T55" fmla="*/ 23 h 24"/>
                    <a:gd name="T56" fmla="*/ 64 w 104"/>
                    <a:gd name="T57" fmla="*/ 22 h 24"/>
                    <a:gd name="T58" fmla="*/ 72 w 104"/>
                    <a:gd name="T59" fmla="*/ 21 h 24"/>
                    <a:gd name="T60" fmla="*/ 80 w 104"/>
                    <a:gd name="T61" fmla="*/ 20 h 24"/>
                    <a:gd name="T62" fmla="*/ 87 w 104"/>
                    <a:gd name="T63" fmla="*/ 19 h 24"/>
                    <a:gd name="T64" fmla="*/ 93 w 104"/>
                    <a:gd name="T65" fmla="*/ 17 h 24"/>
                    <a:gd name="T66" fmla="*/ 97 w 104"/>
                    <a:gd name="T67" fmla="*/ 16 h 24"/>
                    <a:gd name="T68" fmla="*/ 101 w 104"/>
                    <a:gd name="T69" fmla="*/ 14 h 24"/>
                    <a:gd name="T70" fmla="*/ 102 w 104"/>
                    <a:gd name="T71" fmla="*/ 12 h 24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104"/>
                    <a:gd name="T109" fmla="*/ 0 h 24"/>
                    <a:gd name="T110" fmla="*/ 104 w 104"/>
                    <a:gd name="T111" fmla="*/ 24 h 24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104" h="24">
                      <a:moveTo>
                        <a:pt x="103" y="11"/>
                      </a:moveTo>
                      <a:lnTo>
                        <a:pt x="102" y="10"/>
                      </a:lnTo>
                      <a:lnTo>
                        <a:pt x="102" y="9"/>
                      </a:lnTo>
                      <a:lnTo>
                        <a:pt x="101" y="8"/>
                      </a:lnTo>
                      <a:lnTo>
                        <a:pt x="99" y="7"/>
                      </a:lnTo>
                      <a:lnTo>
                        <a:pt x="97" y="6"/>
                      </a:lnTo>
                      <a:lnTo>
                        <a:pt x="95" y="6"/>
                      </a:lnTo>
                      <a:lnTo>
                        <a:pt x="93" y="4"/>
                      </a:lnTo>
                      <a:lnTo>
                        <a:pt x="90" y="4"/>
                      </a:lnTo>
                      <a:lnTo>
                        <a:pt x="87" y="3"/>
                      </a:lnTo>
                      <a:lnTo>
                        <a:pt x="84" y="2"/>
                      </a:lnTo>
                      <a:lnTo>
                        <a:pt x="80" y="2"/>
                      </a:lnTo>
                      <a:lnTo>
                        <a:pt x="76" y="1"/>
                      </a:lnTo>
                      <a:lnTo>
                        <a:pt x="72" y="1"/>
                      </a:lnTo>
                      <a:lnTo>
                        <a:pt x="69" y="0"/>
                      </a:lnTo>
                      <a:lnTo>
                        <a:pt x="64" y="0"/>
                      </a:lnTo>
                      <a:lnTo>
                        <a:pt x="60" y="0"/>
                      </a:lnTo>
                      <a:lnTo>
                        <a:pt x="55" y="0"/>
                      </a:lnTo>
                      <a:lnTo>
                        <a:pt x="51" y="0"/>
                      </a:lnTo>
                      <a:lnTo>
                        <a:pt x="46" y="0"/>
                      </a:lnTo>
                      <a:lnTo>
                        <a:pt x="42" y="0"/>
                      </a:lnTo>
                      <a:lnTo>
                        <a:pt x="37" y="0"/>
                      </a:lnTo>
                      <a:lnTo>
                        <a:pt x="33" y="0"/>
                      </a:lnTo>
                      <a:lnTo>
                        <a:pt x="29" y="1"/>
                      </a:lnTo>
                      <a:lnTo>
                        <a:pt x="25" y="1"/>
                      </a:lnTo>
                      <a:lnTo>
                        <a:pt x="21" y="2"/>
                      </a:lnTo>
                      <a:lnTo>
                        <a:pt x="17" y="2"/>
                      </a:lnTo>
                      <a:lnTo>
                        <a:pt x="14" y="3"/>
                      </a:lnTo>
                      <a:lnTo>
                        <a:pt x="12" y="4"/>
                      </a:lnTo>
                      <a:lnTo>
                        <a:pt x="8" y="4"/>
                      </a:lnTo>
                      <a:lnTo>
                        <a:pt x="6" y="6"/>
                      </a:lnTo>
                      <a:lnTo>
                        <a:pt x="4" y="6"/>
                      </a:lnTo>
                      <a:lnTo>
                        <a:pt x="3" y="7"/>
                      </a:lnTo>
                      <a:lnTo>
                        <a:pt x="1" y="8"/>
                      </a:lnTo>
                      <a:lnTo>
                        <a:pt x="0" y="9"/>
                      </a:lnTo>
                      <a:lnTo>
                        <a:pt x="0" y="10"/>
                      </a:lnTo>
                      <a:lnTo>
                        <a:pt x="0" y="11"/>
                      </a:lnTo>
                      <a:lnTo>
                        <a:pt x="0" y="12"/>
                      </a:lnTo>
                      <a:lnTo>
                        <a:pt x="0" y="13"/>
                      </a:lnTo>
                      <a:lnTo>
                        <a:pt x="1" y="14"/>
                      </a:lnTo>
                      <a:lnTo>
                        <a:pt x="3" y="15"/>
                      </a:lnTo>
                      <a:lnTo>
                        <a:pt x="4" y="16"/>
                      </a:lnTo>
                      <a:lnTo>
                        <a:pt x="6" y="17"/>
                      </a:lnTo>
                      <a:lnTo>
                        <a:pt x="8" y="17"/>
                      </a:lnTo>
                      <a:lnTo>
                        <a:pt x="12" y="18"/>
                      </a:lnTo>
                      <a:lnTo>
                        <a:pt x="14" y="19"/>
                      </a:lnTo>
                      <a:lnTo>
                        <a:pt x="17" y="20"/>
                      </a:lnTo>
                      <a:lnTo>
                        <a:pt x="21" y="20"/>
                      </a:lnTo>
                      <a:lnTo>
                        <a:pt x="25" y="21"/>
                      </a:lnTo>
                      <a:lnTo>
                        <a:pt x="29" y="21"/>
                      </a:lnTo>
                      <a:lnTo>
                        <a:pt x="33" y="22"/>
                      </a:lnTo>
                      <a:lnTo>
                        <a:pt x="37" y="22"/>
                      </a:lnTo>
                      <a:lnTo>
                        <a:pt x="42" y="22"/>
                      </a:lnTo>
                      <a:lnTo>
                        <a:pt x="46" y="23"/>
                      </a:lnTo>
                      <a:lnTo>
                        <a:pt x="51" y="23"/>
                      </a:lnTo>
                      <a:lnTo>
                        <a:pt x="55" y="23"/>
                      </a:lnTo>
                      <a:lnTo>
                        <a:pt x="60" y="22"/>
                      </a:lnTo>
                      <a:lnTo>
                        <a:pt x="64" y="22"/>
                      </a:lnTo>
                      <a:lnTo>
                        <a:pt x="69" y="22"/>
                      </a:lnTo>
                      <a:lnTo>
                        <a:pt x="72" y="21"/>
                      </a:lnTo>
                      <a:lnTo>
                        <a:pt x="76" y="21"/>
                      </a:lnTo>
                      <a:lnTo>
                        <a:pt x="80" y="20"/>
                      </a:lnTo>
                      <a:lnTo>
                        <a:pt x="84" y="20"/>
                      </a:lnTo>
                      <a:lnTo>
                        <a:pt x="87" y="19"/>
                      </a:lnTo>
                      <a:lnTo>
                        <a:pt x="90" y="18"/>
                      </a:lnTo>
                      <a:lnTo>
                        <a:pt x="93" y="17"/>
                      </a:lnTo>
                      <a:lnTo>
                        <a:pt x="95" y="17"/>
                      </a:lnTo>
                      <a:lnTo>
                        <a:pt x="97" y="16"/>
                      </a:lnTo>
                      <a:lnTo>
                        <a:pt x="99" y="15"/>
                      </a:lnTo>
                      <a:lnTo>
                        <a:pt x="101" y="14"/>
                      </a:lnTo>
                      <a:lnTo>
                        <a:pt x="102" y="13"/>
                      </a:lnTo>
                      <a:lnTo>
                        <a:pt x="102" y="12"/>
                      </a:lnTo>
                      <a:lnTo>
                        <a:pt x="103" y="11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3" name="Freeform 1400"/>
                <p:cNvSpPr>
                  <a:spLocks/>
                </p:cNvSpPr>
                <p:nvPr/>
              </p:nvSpPr>
              <p:spPr bwMode="auto">
                <a:xfrm>
                  <a:off x="3897" y="1461"/>
                  <a:ext cx="104" cy="17"/>
                </a:xfrm>
                <a:custGeom>
                  <a:avLst/>
                  <a:gdLst>
                    <a:gd name="T0" fmla="*/ 102 w 104"/>
                    <a:gd name="T1" fmla="*/ 6 h 17"/>
                    <a:gd name="T2" fmla="*/ 101 w 104"/>
                    <a:gd name="T3" fmla="*/ 8 h 17"/>
                    <a:gd name="T4" fmla="*/ 97 w 104"/>
                    <a:gd name="T5" fmla="*/ 10 h 17"/>
                    <a:gd name="T6" fmla="*/ 93 w 104"/>
                    <a:gd name="T7" fmla="*/ 11 h 17"/>
                    <a:gd name="T8" fmla="*/ 87 w 104"/>
                    <a:gd name="T9" fmla="*/ 12 h 17"/>
                    <a:gd name="T10" fmla="*/ 80 w 104"/>
                    <a:gd name="T11" fmla="*/ 14 h 17"/>
                    <a:gd name="T12" fmla="*/ 72 w 104"/>
                    <a:gd name="T13" fmla="*/ 14 h 17"/>
                    <a:gd name="T14" fmla="*/ 64 w 104"/>
                    <a:gd name="T15" fmla="*/ 15 h 17"/>
                    <a:gd name="T16" fmla="*/ 55 w 104"/>
                    <a:gd name="T17" fmla="*/ 16 h 17"/>
                    <a:gd name="T18" fmla="*/ 46 w 104"/>
                    <a:gd name="T19" fmla="*/ 16 h 17"/>
                    <a:gd name="T20" fmla="*/ 37 w 104"/>
                    <a:gd name="T21" fmla="*/ 15 h 17"/>
                    <a:gd name="T22" fmla="*/ 29 w 104"/>
                    <a:gd name="T23" fmla="*/ 14 h 17"/>
                    <a:gd name="T24" fmla="*/ 21 w 104"/>
                    <a:gd name="T25" fmla="*/ 14 h 17"/>
                    <a:gd name="T26" fmla="*/ 14 w 104"/>
                    <a:gd name="T27" fmla="*/ 12 h 17"/>
                    <a:gd name="T28" fmla="*/ 8 w 104"/>
                    <a:gd name="T29" fmla="*/ 11 h 17"/>
                    <a:gd name="T30" fmla="*/ 4 w 104"/>
                    <a:gd name="T31" fmla="*/ 10 h 17"/>
                    <a:gd name="T32" fmla="*/ 1 w 104"/>
                    <a:gd name="T33" fmla="*/ 8 h 17"/>
                    <a:gd name="T34" fmla="*/ 0 w 104"/>
                    <a:gd name="T35" fmla="*/ 6 h 17"/>
                    <a:gd name="T36" fmla="*/ 0 w 104"/>
                    <a:gd name="T37" fmla="*/ 0 h 17"/>
                    <a:gd name="T38" fmla="*/ 0 w 104"/>
                    <a:gd name="T39" fmla="*/ 2 h 17"/>
                    <a:gd name="T40" fmla="*/ 3 w 104"/>
                    <a:gd name="T41" fmla="*/ 4 h 17"/>
                    <a:gd name="T42" fmla="*/ 6 w 104"/>
                    <a:gd name="T43" fmla="*/ 5 h 17"/>
                    <a:gd name="T44" fmla="*/ 12 w 104"/>
                    <a:gd name="T45" fmla="*/ 6 h 17"/>
                    <a:gd name="T46" fmla="*/ 17 w 104"/>
                    <a:gd name="T47" fmla="*/ 8 h 17"/>
                    <a:gd name="T48" fmla="*/ 25 w 104"/>
                    <a:gd name="T49" fmla="*/ 9 h 17"/>
                    <a:gd name="T50" fmla="*/ 33 w 104"/>
                    <a:gd name="T51" fmla="*/ 10 h 17"/>
                    <a:gd name="T52" fmla="*/ 42 w 104"/>
                    <a:gd name="T53" fmla="*/ 10 h 17"/>
                    <a:gd name="T54" fmla="*/ 51 w 104"/>
                    <a:gd name="T55" fmla="*/ 10 h 17"/>
                    <a:gd name="T56" fmla="*/ 60 w 104"/>
                    <a:gd name="T57" fmla="*/ 10 h 17"/>
                    <a:gd name="T58" fmla="*/ 69 w 104"/>
                    <a:gd name="T59" fmla="*/ 10 h 17"/>
                    <a:gd name="T60" fmla="*/ 76 w 104"/>
                    <a:gd name="T61" fmla="*/ 9 h 17"/>
                    <a:gd name="T62" fmla="*/ 84 w 104"/>
                    <a:gd name="T63" fmla="*/ 8 h 17"/>
                    <a:gd name="T64" fmla="*/ 90 w 104"/>
                    <a:gd name="T65" fmla="*/ 6 h 17"/>
                    <a:gd name="T66" fmla="*/ 95 w 104"/>
                    <a:gd name="T67" fmla="*/ 5 h 17"/>
                    <a:gd name="T68" fmla="*/ 99 w 104"/>
                    <a:gd name="T69" fmla="*/ 4 h 17"/>
                    <a:gd name="T70" fmla="*/ 102 w 104"/>
                    <a:gd name="T71" fmla="*/ 2 h 17"/>
                    <a:gd name="T72" fmla="*/ 103 w 104"/>
                    <a:gd name="T73" fmla="*/ 0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04"/>
                    <a:gd name="T112" fmla="*/ 0 h 17"/>
                    <a:gd name="T113" fmla="*/ 104 w 104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04" h="17">
                      <a:moveTo>
                        <a:pt x="103" y="5"/>
                      </a:moveTo>
                      <a:lnTo>
                        <a:pt x="102" y="6"/>
                      </a:lnTo>
                      <a:lnTo>
                        <a:pt x="102" y="7"/>
                      </a:lnTo>
                      <a:lnTo>
                        <a:pt x="101" y="8"/>
                      </a:lnTo>
                      <a:lnTo>
                        <a:pt x="99" y="8"/>
                      </a:lnTo>
                      <a:lnTo>
                        <a:pt x="97" y="10"/>
                      </a:lnTo>
                      <a:lnTo>
                        <a:pt x="95" y="10"/>
                      </a:lnTo>
                      <a:lnTo>
                        <a:pt x="93" y="11"/>
                      </a:lnTo>
                      <a:lnTo>
                        <a:pt x="90" y="12"/>
                      </a:lnTo>
                      <a:lnTo>
                        <a:pt x="87" y="12"/>
                      </a:lnTo>
                      <a:lnTo>
                        <a:pt x="84" y="13"/>
                      </a:lnTo>
                      <a:lnTo>
                        <a:pt x="80" y="14"/>
                      </a:lnTo>
                      <a:lnTo>
                        <a:pt x="76" y="14"/>
                      </a:lnTo>
                      <a:lnTo>
                        <a:pt x="72" y="14"/>
                      </a:lnTo>
                      <a:lnTo>
                        <a:pt x="69" y="15"/>
                      </a:lnTo>
                      <a:lnTo>
                        <a:pt x="64" y="15"/>
                      </a:lnTo>
                      <a:lnTo>
                        <a:pt x="60" y="16"/>
                      </a:lnTo>
                      <a:lnTo>
                        <a:pt x="55" y="16"/>
                      </a:lnTo>
                      <a:lnTo>
                        <a:pt x="51" y="16"/>
                      </a:lnTo>
                      <a:lnTo>
                        <a:pt x="46" y="16"/>
                      </a:lnTo>
                      <a:lnTo>
                        <a:pt x="42" y="16"/>
                      </a:lnTo>
                      <a:lnTo>
                        <a:pt x="37" y="15"/>
                      </a:lnTo>
                      <a:lnTo>
                        <a:pt x="33" y="15"/>
                      </a:lnTo>
                      <a:lnTo>
                        <a:pt x="29" y="14"/>
                      </a:lnTo>
                      <a:lnTo>
                        <a:pt x="25" y="14"/>
                      </a:lnTo>
                      <a:lnTo>
                        <a:pt x="21" y="14"/>
                      </a:lnTo>
                      <a:lnTo>
                        <a:pt x="17" y="13"/>
                      </a:lnTo>
                      <a:lnTo>
                        <a:pt x="14" y="12"/>
                      </a:lnTo>
                      <a:lnTo>
                        <a:pt x="12" y="12"/>
                      </a:lnTo>
                      <a:lnTo>
                        <a:pt x="8" y="11"/>
                      </a:lnTo>
                      <a:lnTo>
                        <a:pt x="6" y="10"/>
                      </a:lnTo>
                      <a:lnTo>
                        <a:pt x="4" y="10"/>
                      </a:lnTo>
                      <a:lnTo>
                        <a:pt x="3" y="8"/>
                      </a:lnTo>
                      <a:lnTo>
                        <a:pt x="1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1" y="2"/>
                      </a:lnTo>
                      <a:lnTo>
                        <a:pt x="3" y="4"/>
                      </a:lnTo>
                      <a:lnTo>
                        <a:pt x="4" y="4"/>
                      </a:lnTo>
                      <a:lnTo>
                        <a:pt x="6" y="5"/>
                      </a:lnTo>
                      <a:lnTo>
                        <a:pt x="8" y="6"/>
                      </a:lnTo>
                      <a:lnTo>
                        <a:pt x="12" y="6"/>
                      </a:lnTo>
                      <a:lnTo>
                        <a:pt x="14" y="7"/>
                      </a:lnTo>
                      <a:lnTo>
                        <a:pt x="17" y="8"/>
                      </a:lnTo>
                      <a:lnTo>
                        <a:pt x="21" y="8"/>
                      </a:lnTo>
                      <a:lnTo>
                        <a:pt x="25" y="9"/>
                      </a:lnTo>
                      <a:lnTo>
                        <a:pt x="29" y="10"/>
                      </a:lnTo>
                      <a:lnTo>
                        <a:pt x="33" y="10"/>
                      </a:lnTo>
                      <a:lnTo>
                        <a:pt x="37" y="10"/>
                      </a:lnTo>
                      <a:lnTo>
                        <a:pt x="42" y="10"/>
                      </a:lnTo>
                      <a:lnTo>
                        <a:pt x="46" y="10"/>
                      </a:lnTo>
                      <a:lnTo>
                        <a:pt x="51" y="10"/>
                      </a:lnTo>
                      <a:lnTo>
                        <a:pt x="55" y="10"/>
                      </a:lnTo>
                      <a:lnTo>
                        <a:pt x="60" y="10"/>
                      </a:lnTo>
                      <a:lnTo>
                        <a:pt x="64" y="10"/>
                      </a:lnTo>
                      <a:lnTo>
                        <a:pt x="69" y="10"/>
                      </a:lnTo>
                      <a:lnTo>
                        <a:pt x="72" y="10"/>
                      </a:lnTo>
                      <a:lnTo>
                        <a:pt x="76" y="9"/>
                      </a:lnTo>
                      <a:lnTo>
                        <a:pt x="80" y="8"/>
                      </a:lnTo>
                      <a:lnTo>
                        <a:pt x="84" y="8"/>
                      </a:lnTo>
                      <a:lnTo>
                        <a:pt x="87" y="7"/>
                      </a:lnTo>
                      <a:lnTo>
                        <a:pt x="90" y="6"/>
                      </a:lnTo>
                      <a:lnTo>
                        <a:pt x="93" y="6"/>
                      </a:lnTo>
                      <a:lnTo>
                        <a:pt x="95" y="5"/>
                      </a:lnTo>
                      <a:lnTo>
                        <a:pt x="97" y="4"/>
                      </a:lnTo>
                      <a:lnTo>
                        <a:pt x="99" y="4"/>
                      </a:lnTo>
                      <a:lnTo>
                        <a:pt x="101" y="2"/>
                      </a:lnTo>
                      <a:lnTo>
                        <a:pt x="102" y="2"/>
                      </a:lnTo>
                      <a:lnTo>
                        <a:pt x="102" y="1"/>
                      </a:lnTo>
                      <a:lnTo>
                        <a:pt x="103" y="0"/>
                      </a:lnTo>
                      <a:lnTo>
                        <a:pt x="103" y="5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4" name="Freeform 1401"/>
                <p:cNvSpPr>
                  <a:spLocks/>
                </p:cNvSpPr>
                <p:nvPr/>
              </p:nvSpPr>
              <p:spPr bwMode="auto">
                <a:xfrm>
                  <a:off x="3840" y="1486"/>
                  <a:ext cx="220" cy="77"/>
                </a:xfrm>
                <a:custGeom>
                  <a:avLst/>
                  <a:gdLst>
                    <a:gd name="T0" fmla="*/ 0 w 220"/>
                    <a:gd name="T1" fmla="*/ 76 h 77"/>
                    <a:gd name="T2" fmla="*/ 219 w 220"/>
                    <a:gd name="T3" fmla="*/ 76 h 77"/>
                    <a:gd name="T4" fmla="*/ 219 w 220"/>
                    <a:gd name="T5" fmla="*/ 0 h 77"/>
                    <a:gd name="T6" fmla="*/ 0 w 220"/>
                    <a:gd name="T7" fmla="*/ 0 h 77"/>
                    <a:gd name="T8" fmla="*/ 0 w 220"/>
                    <a:gd name="T9" fmla="*/ 76 h 7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77"/>
                    <a:gd name="T17" fmla="*/ 220 w 220"/>
                    <a:gd name="T18" fmla="*/ 77 h 7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77">
                      <a:moveTo>
                        <a:pt x="0" y="76"/>
                      </a:moveTo>
                      <a:lnTo>
                        <a:pt x="219" y="76"/>
                      </a:lnTo>
                      <a:lnTo>
                        <a:pt x="219" y="0"/>
                      </a:lnTo>
                      <a:lnTo>
                        <a:pt x="0" y="0"/>
                      </a:lnTo>
                      <a:lnTo>
                        <a:pt x="0" y="76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5" name="Freeform 1402"/>
                <p:cNvSpPr>
                  <a:spLocks/>
                </p:cNvSpPr>
                <p:nvPr/>
              </p:nvSpPr>
              <p:spPr bwMode="auto">
                <a:xfrm>
                  <a:off x="3875" y="1449"/>
                  <a:ext cx="69" cy="17"/>
                </a:xfrm>
                <a:custGeom>
                  <a:avLst/>
                  <a:gdLst>
                    <a:gd name="T0" fmla="*/ 0 w 69"/>
                    <a:gd name="T1" fmla="*/ 16 h 17"/>
                    <a:gd name="T2" fmla="*/ 0 w 69"/>
                    <a:gd name="T3" fmla="*/ 0 h 17"/>
                    <a:gd name="T4" fmla="*/ 68 w 69"/>
                    <a:gd name="T5" fmla="*/ 0 h 17"/>
                    <a:gd name="T6" fmla="*/ 68 w 69"/>
                    <a:gd name="T7" fmla="*/ 16 h 17"/>
                    <a:gd name="T8" fmla="*/ 0 w 69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9"/>
                    <a:gd name="T16" fmla="*/ 0 h 17"/>
                    <a:gd name="T17" fmla="*/ 69 w 69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9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68" y="0"/>
                      </a:lnTo>
                      <a:lnTo>
                        <a:pt x="68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6" name="Freeform 1403"/>
                <p:cNvSpPr>
                  <a:spLocks/>
                </p:cNvSpPr>
                <p:nvPr/>
              </p:nvSpPr>
              <p:spPr bwMode="auto">
                <a:xfrm>
                  <a:off x="3931" y="1450"/>
                  <a:ext cx="94" cy="17"/>
                </a:xfrm>
                <a:custGeom>
                  <a:avLst/>
                  <a:gdLst>
                    <a:gd name="T0" fmla="*/ 0 w 94"/>
                    <a:gd name="T1" fmla="*/ 16 h 17"/>
                    <a:gd name="T2" fmla="*/ 0 w 94"/>
                    <a:gd name="T3" fmla="*/ 0 h 17"/>
                    <a:gd name="T4" fmla="*/ 93 w 94"/>
                    <a:gd name="T5" fmla="*/ 0 h 17"/>
                    <a:gd name="T6" fmla="*/ 93 w 94"/>
                    <a:gd name="T7" fmla="*/ 16 h 17"/>
                    <a:gd name="T8" fmla="*/ 0 w 94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4"/>
                    <a:gd name="T16" fmla="*/ 0 h 17"/>
                    <a:gd name="T17" fmla="*/ 94 w 9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4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93" y="0"/>
                      </a:lnTo>
                      <a:lnTo>
                        <a:pt x="93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7" name="Freeform 1404"/>
                <p:cNvSpPr>
                  <a:spLocks/>
                </p:cNvSpPr>
                <p:nvPr/>
              </p:nvSpPr>
              <p:spPr bwMode="auto">
                <a:xfrm>
                  <a:off x="3877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8" name="Freeform 1405"/>
                <p:cNvSpPr>
                  <a:spLocks/>
                </p:cNvSpPr>
                <p:nvPr/>
              </p:nvSpPr>
              <p:spPr bwMode="auto">
                <a:xfrm>
                  <a:off x="388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4 w 17"/>
                    <a:gd name="T7" fmla="*/ 16 h 17"/>
                    <a:gd name="T8" fmla="*/ 8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9" name="Freeform 1406"/>
                <p:cNvSpPr>
                  <a:spLocks/>
                </p:cNvSpPr>
                <p:nvPr/>
              </p:nvSpPr>
              <p:spPr bwMode="auto">
                <a:xfrm>
                  <a:off x="388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0" name="Freeform 1407"/>
                <p:cNvSpPr>
                  <a:spLocks/>
                </p:cNvSpPr>
                <p:nvPr/>
              </p:nvSpPr>
              <p:spPr bwMode="auto">
                <a:xfrm>
                  <a:off x="388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1" name="Freeform 1408"/>
                <p:cNvSpPr>
                  <a:spLocks/>
                </p:cNvSpPr>
                <p:nvPr/>
              </p:nvSpPr>
              <p:spPr bwMode="auto">
                <a:xfrm>
                  <a:off x="388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2" name="Freeform 1409"/>
                <p:cNvSpPr>
                  <a:spLocks/>
                </p:cNvSpPr>
                <p:nvPr/>
              </p:nvSpPr>
              <p:spPr bwMode="auto">
                <a:xfrm>
                  <a:off x="389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3" name="Freeform 1410"/>
                <p:cNvSpPr>
                  <a:spLocks/>
                </p:cNvSpPr>
                <p:nvPr/>
              </p:nvSpPr>
              <p:spPr bwMode="auto">
                <a:xfrm>
                  <a:off x="389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4" name="Freeform 1411"/>
                <p:cNvSpPr>
                  <a:spLocks/>
                </p:cNvSpPr>
                <p:nvPr/>
              </p:nvSpPr>
              <p:spPr bwMode="auto">
                <a:xfrm>
                  <a:off x="3894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5" name="Freeform 1412"/>
                <p:cNvSpPr>
                  <a:spLocks/>
                </p:cNvSpPr>
                <p:nvPr/>
              </p:nvSpPr>
              <p:spPr bwMode="auto">
                <a:xfrm>
                  <a:off x="389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6" name="Freeform 1413"/>
                <p:cNvSpPr>
                  <a:spLocks/>
                </p:cNvSpPr>
                <p:nvPr/>
              </p:nvSpPr>
              <p:spPr bwMode="auto">
                <a:xfrm>
                  <a:off x="390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7" name="Freeform 1414"/>
                <p:cNvSpPr>
                  <a:spLocks/>
                </p:cNvSpPr>
                <p:nvPr/>
              </p:nvSpPr>
              <p:spPr bwMode="auto">
                <a:xfrm>
                  <a:off x="390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0 w 17"/>
                    <a:gd name="T5" fmla="*/ 16 h 17"/>
                    <a:gd name="T6" fmla="*/ 8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0" y="16"/>
                      </a:lnTo>
                      <a:lnTo>
                        <a:pt x="8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8" name="Freeform 1415"/>
                <p:cNvSpPr>
                  <a:spLocks/>
                </p:cNvSpPr>
                <p:nvPr/>
              </p:nvSpPr>
              <p:spPr bwMode="auto">
                <a:xfrm>
                  <a:off x="390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6 h 17"/>
                    <a:gd name="T6" fmla="*/ 8 w 17"/>
                    <a:gd name="T7" fmla="*/ 16 h 17"/>
                    <a:gd name="T8" fmla="*/ 12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9" name="Freeform 1416"/>
                <p:cNvSpPr>
                  <a:spLocks/>
                </p:cNvSpPr>
                <p:nvPr/>
              </p:nvSpPr>
              <p:spPr bwMode="auto">
                <a:xfrm>
                  <a:off x="390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70" name="Freeform 1417"/>
                <p:cNvSpPr>
                  <a:spLocks/>
                </p:cNvSpPr>
                <p:nvPr/>
              </p:nvSpPr>
              <p:spPr bwMode="auto">
                <a:xfrm>
                  <a:off x="391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71" name="Freeform 1418"/>
                <p:cNvSpPr>
                  <a:spLocks/>
                </p:cNvSpPr>
                <p:nvPr/>
              </p:nvSpPr>
              <p:spPr bwMode="auto">
                <a:xfrm>
                  <a:off x="391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72" name="Freeform 1419"/>
                <p:cNvSpPr>
                  <a:spLocks/>
                </p:cNvSpPr>
                <p:nvPr/>
              </p:nvSpPr>
              <p:spPr bwMode="auto">
                <a:xfrm>
                  <a:off x="3916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73" name="Freeform 1420"/>
                <p:cNvSpPr>
                  <a:spLocks/>
                </p:cNvSpPr>
                <p:nvPr/>
              </p:nvSpPr>
              <p:spPr bwMode="auto">
                <a:xfrm>
                  <a:off x="391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74" name="Freeform 1421"/>
                <p:cNvSpPr>
                  <a:spLocks/>
                </p:cNvSpPr>
                <p:nvPr/>
              </p:nvSpPr>
              <p:spPr bwMode="auto">
                <a:xfrm>
                  <a:off x="3921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75" name="Freeform 1422"/>
                <p:cNvSpPr>
                  <a:spLocks/>
                </p:cNvSpPr>
                <p:nvPr/>
              </p:nvSpPr>
              <p:spPr bwMode="auto">
                <a:xfrm>
                  <a:off x="392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76" name="Freeform 1423"/>
                <p:cNvSpPr>
                  <a:spLocks/>
                </p:cNvSpPr>
                <p:nvPr/>
              </p:nvSpPr>
              <p:spPr bwMode="auto">
                <a:xfrm>
                  <a:off x="392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77" name="Freeform 1424"/>
                <p:cNvSpPr>
                  <a:spLocks/>
                </p:cNvSpPr>
                <p:nvPr/>
              </p:nvSpPr>
              <p:spPr bwMode="auto">
                <a:xfrm>
                  <a:off x="3855" y="1279"/>
                  <a:ext cx="187" cy="174"/>
                </a:xfrm>
                <a:custGeom>
                  <a:avLst/>
                  <a:gdLst>
                    <a:gd name="T0" fmla="*/ 180 w 187"/>
                    <a:gd name="T1" fmla="*/ 173 h 174"/>
                    <a:gd name="T2" fmla="*/ 180 w 187"/>
                    <a:gd name="T3" fmla="*/ 173 h 174"/>
                    <a:gd name="T4" fmla="*/ 180 w 187"/>
                    <a:gd name="T5" fmla="*/ 172 h 174"/>
                    <a:gd name="T6" fmla="*/ 182 w 187"/>
                    <a:gd name="T7" fmla="*/ 172 h 174"/>
                    <a:gd name="T8" fmla="*/ 182 w 187"/>
                    <a:gd name="T9" fmla="*/ 172 h 174"/>
                    <a:gd name="T10" fmla="*/ 183 w 187"/>
                    <a:gd name="T11" fmla="*/ 171 h 174"/>
                    <a:gd name="T12" fmla="*/ 183 w 187"/>
                    <a:gd name="T13" fmla="*/ 171 h 174"/>
                    <a:gd name="T14" fmla="*/ 184 w 187"/>
                    <a:gd name="T15" fmla="*/ 171 h 174"/>
                    <a:gd name="T16" fmla="*/ 184 w 187"/>
                    <a:gd name="T17" fmla="*/ 170 h 174"/>
                    <a:gd name="T18" fmla="*/ 184 w 187"/>
                    <a:gd name="T19" fmla="*/ 170 h 174"/>
                    <a:gd name="T20" fmla="*/ 184 w 187"/>
                    <a:gd name="T21" fmla="*/ 169 h 174"/>
                    <a:gd name="T22" fmla="*/ 185 w 187"/>
                    <a:gd name="T23" fmla="*/ 169 h 174"/>
                    <a:gd name="T24" fmla="*/ 185 w 187"/>
                    <a:gd name="T25" fmla="*/ 168 h 174"/>
                    <a:gd name="T26" fmla="*/ 186 w 187"/>
                    <a:gd name="T27" fmla="*/ 167 h 174"/>
                    <a:gd name="T28" fmla="*/ 186 w 187"/>
                    <a:gd name="T29" fmla="*/ 167 h 174"/>
                    <a:gd name="T30" fmla="*/ 186 w 187"/>
                    <a:gd name="T31" fmla="*/ 6 h 174"/>
                    <a:gd name="T32" fmla="*/ 186 w 187"/>
                    <a:gd name="T33" fmla="*/ 5 h 174"/>
                    <a:gd name="T34" fmla="*/ 186 w 187"/>
                    <a:gd name="T35" fmla="*/ 5 h 174"/>
                    <a:gd name="T36" fmla="*/ 185 w 187"/>
                    <a:gd name="T37" fmla="*/ 5 h 174"/>
                    <a:gd name="T38" fmla="*/ 185 w 187"/>
                    <a:gd name="T39" fmla="*/ 3 h 174"/>
                    <a:gd name="T40" fmla="*/ 184 w 187"/>
                    <a:gd name="T41" fmla="*/ 3 h 174"/>
                    <a:gd name="T42" fmla="*/ 184 w 187"/>
                    <a:gd name="T43" fmla="*/ 2 h 174"/>
                    <a:gd name="T44" fmla="*/ 184 w 187"/>
                    <a:gd name="T45" fmla="*/ 1 h 174"/>
                    <a:gd name="T46" fmla="*/ 183 w 187"/>
                    <a:gd name="T47" fmla="*/ 1 h 174"/>
                    <a:gd name="T48" fmla="*/ 183 w 187"/>
                    <a:gd name="T49" fmla="*/ 1 h 174"/>
                    <a:gd name="T50" fmla="*/ 182 w 187"/>
                    <a:gd name="T51" fmla="*/ 1 h 174"/>
                    <a:gd name="T52" fmla="*/ 182 w 187"/>
                    <a:gd name="T53" fmla="*/ 0 h 174"/>
                    <a:gd name="T54" fmla="*/ 180 w 187"/>
                    <a:gd name="T55" fmla="*/ 0 h 174"/>
                    <a:gd name="T56" fmla="*/ 180 w 187"/>
                    <a:gd name="T57" fmla="*/ 0 h 174"/>
                    <a:gd name="T58" fmla="*/ 180 w 187"/>
                    <a:gd name="T59" fmla="*/ 0 h 174"/>
                    <a:gd name="T60" fmla="*/ 5 w 187"/>
                    <a:gd name="T61" fmla="*/ 0 h 174"/>
                    <a:gd name="T62" fmla="*/ 4 w 187"/>
                    <a:gd name="T63" fmla="*/ 0 h 174"/>
                    <a:gd name="T64" fmla="*/ 3 w 187"/>
                    <a:gd name="T65" fmla="*/ 0 h 174"/>
                    <a:gd name="T66" fmla="*/ 3 w 187"/>
                    <a:gd name="T67" fmla="*/ 0 h 174"/>
                    <a:gd name="T68" fmla="*/ 2 w 187"/>
                    <a:gd name="T69" fmla="*/ 0 h 174"/>
                    <a:gd name="T70" fmla="*/ 2 w 187"/>
                    <a:gd name="T71" fmla="*/ 1 h 174"/>
                    <a:gd name="T72" fmla="*/ 1 w 187"/>
                    <a:gd name="T73" fmla="*/ 1 h 174"/>
                    <a:gd name="T74" fmla="*/ 1 w 187"/>
                    <a:gd name="T75" fmla="*/ 1 h 174"/>
                    <a:gd name="T76" fmla="*/ 1 w 187"/>
                    <a:gd name="T77" fmla="*/ 2 h 174"/>
                    <a:gd name="T78" fmla="*/ 0 w 187"/>
                    <a:gd name="T79" fmla="*/ 3 h 174"/>
                    <a:gd name="T80" fmla="*/ 0 w 187"/>
                    <a:gd name="T81" fmla="*/ 3 h 174"/>
                    <a:gd name="T82" fmla="*/ 0 w 187"/>
                    <a:gd name="T83" fmla="*/ 3 h 174"/>
                    <a:gd name="T84" fmla="*/ 0 w 187"/>
                    <a:gd name="T85" fmla="*/ 5 h 174"/>
                    <a:gd name="T86" fmla="*/ 0 w 187"/>
                    <a:gd name="T87" fmla="*/ 5 h 174"/>
                    <a:gd name="T88" fmla="*/ 0 w 187"/>
                    <a:gd name="T89" fmla="*/ 6 h 174"/>
                    <a:gd name="T90" fmla="*/ 0 w 187"/>
                    <a:gd name="T91" fmla="*/ 167 h 174"/>
                    <a:gd name="T92" fmla="*/ 0 w 187"/>
                    <a:gd name="T93" fmla="*/ 167 h 174"/>
                    <a:gd name="T94" fmla="*/ 0 w 187"/>
                    <a:gd name="T95" fmla="*/ 168 h 174"/>
                    <a:gd name="T96" fmla="*/ 0 w 187"/>
                    <a:gd name="T97" fmla="*/ 169 h 174"/>
                    <a:gd name="T98" fmla="*/ 0 w 187"/>
                    <a:gd name="T99" fmla="*/ 169 h 174"/>
                    <a:gd name="T100" fmla="*/ 0 w 187"/>
                    <a:gd name="T101" fmla="*/ 170 h 174"/>
                    <a:gd name="T102" fmla="*/ 1 w 187"/>
                    <a:gd name="T103" fmla="*/ 170 h 174"/>
                    <a:gd name="T104" fmla="*/ 1 w 187"/>
                    <a:gd name="T105" fmla="*/ 171 h 174"/>
                    <a:gd name="T106" fmla="*/ 1 w 187"/>
                    <a:gd name="T107" fmla="*/ 171 h 174"/>
                    <a:gd name="T108" fmla="*/ 2 w 187"/>
                    <a:gd name="T109" fmla="*/ 171 h 174"/>
                    <a:gd name="T110" fmla="*/ 2 w 187"/>
                    <a:gd name="T111" fmla="*/ 172 h 174"/>
                    <a:gd name="T112" fmla="*/ 2 w 187"/>
                    <a:gd name="T113" fmla="*/ 172 h 174"/>
                    <a:gd name="T114" fmla="*/ 3 w 187"/>
                    <a:gd name="T115" fmla="*/ 172 h 174"/>
                    <a:gd name="T116" fmla="*/ 3 w 187"/>
                    <a:gd name="T117" fmla="*/ 172 h 174"/>
                    <a:gd name="T118" fmla="*/ 4 w 187"/>
                    <a:gd name="T119" fmla="*/ 173 h 174"/>
                    <a:gd name="T120" fmla="*/ 5 w 187"/>
                    <a:gd name="T121" fmla="*/ 173 h 174"/>
                    <a:gd name="T122" fmla="*/ 180 w 187"/>
                    <a:gd name="T123" fmla="*/ 173 h 174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w 187"/>
                    <a:gd name="T187" fmla="*/ 0 h 174"/>
                    <a:gd name="T188" fmla="*/ 187 w 187"/>
                    <a:gd name="T189" fmla="*/ 174 h 174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T186" t="T187" r="T188" b="T189"/>
                  <a:pathLst>
                    <a:path w="187" h="174">
                      <a:moveTo>
                        <a:pt x="180" y="173"/>
                      </a:moveTo>
                      <a:lnTo>
                        <a:pt x="180" y="173"/>
                      </a:lnTo>
                      <a:lnTo>
                        <a:pt x="180" y="172"/>
                      </a:lnTo>
                      <a:lnTo>
                        <a:pt x="182" y="172"/>
                      </a:lnTo>
                      <a:lnTo>
                        <a:pt x="183" y="171"/>
                      </a:lnTo>
                      <a:lnTo>
                        <a:pt x="184" y="171"/>
                      </a:lnTo>
                      <a:lnTo>
                        <a:pt x="184" y="170"/>
                      </a:lnTo>
                      <a:lnTo>
                        <a:pt x="184" y="169"/>
                      </a:lnTo>
                      <a:lnTo>
                        <a:pt x="185" y="169"/>
                      </a:lnTo>
                      <a:lnTo>
                        <a:pt x="185" y="168"/>
                      </a:lnTo>
                      <a:lnTo>
                        <a:pt x="186" y="167"/>
                      </a:lnTo>
                      <a:lnTo>
                        <a:pt x="186" y="6"/>
                      </a:lnTo>
                      <a:lnTo>
                        <a:pt x="186" y="5"/>
                      </a:lnTo>
                      <a:lnTo>
                        <a:pt x="185" y="5"/>
                      </a:lnTo>
                      <a:lnTo>
                        <a:pt x="185" y="3"/>
                      </a:lnTo>
                      <a:lnTo>
                        <a:pt x="184" y="3"/>
                      </a:lnTo>
                      <a:lnTo>
                        <a:pt x="184" y="2"/>
                      </a:lnTo>
                      <a:lnTo>
                        <a:pt x="184" y="1"/>
                      </a:lnTo>
                      <a:lnTo>
                        <a:pt x="183" y="1"/>
                      </a:lnTo>
                      <a:lnTo>
                        <a:pt x="182" y="1"/>
                      </a:lnTo>
                      <a:lnTo>
                        <a:pt x="182" y="0"/>
                      </a:lnTo>
                      <a:lnTo>
                        <a:pt x="180" y="0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2" y="1"/>
                      </a:lnTo>
                      <a:lnTo>
                        <a:pt x="1" y="1"/>
                      </a:lnTo>
                      <a:lnTo>
                        <a:pt x="1" y="2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0" y="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0" y="169"/>
                      </a:lnTo>
                      <a:lnTo>
                        <a:pt x="0" y="170"/>
                      </a:lnTo>
                      <a:lnTo>
                        <a:pt x="1" y="170"/>
                      </a:lnTo>
                      <a:lnTo>
                        <a:pt x="1" y="171"/>
                      </a:lnTo>
                      <a:lnTo>
                        <a:pt x="2" y="171"/>
                      </a:lnTo>
                      <a:lnTo>
                        <a:pt x="2" y="172"/>
                      </a:lnTo>
                      <a:lnTo>
                        <a:pt x="3" y="172"/>
                      </a:lnTo>
                      <a:lnTo>
                        <a:pt x="4" y="173"/>
                      </a:lnTo>
                      <a:lnTo>
                        <a:pt x="5" y="173"/>
                      </a:lnTo>
                      <a:lnTo>
                        <a:pt x="180" y="173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78" name="Freeform 1425"/>
                <p:cNvSpPr>
                  <a:spLocks/>
                </p:cNvSpPr>
                <p:nvPr/>
              </p:nvSpPr>
              <p:spPr bwMode="auto">
                <a:xfrm>
                  <a:off x="3855" y="1281"/>
                  <a:ext cx="186" cy="172"/>
                </a:xfrm>
                <a:custGeom>
                  <a:avLst/>
                  <a:gdLst>
                    <a:gd name="T0" fmla="*/ 185 w 186"/>
                    <a:gd name="T1" fmla="*/ 165 h 172"/>
                    <a:gd name="T2" fmla="*/ 185 w 186"/>
                    <a:gd name="T3" fmla="*/ 166 h 172"/>
                    <a:gd name="T4" fmla="*/ 185 w 186"/>
                    <a:gd name="T5" fmla="*/ 167 h 172"/>
                    <a:gd name="T6" fmla="*/ 184 w 186"/>
                    <a:gd name="T7" fmla="*/ 167 h 172"/>
                    <a:gd name="T8" fmla="*/ 184 w 186"/>
                    <a:gd name="T9" fmla="*/ 168 h 172"/>
                    <a:gd name="T10" fmla="*/ 183 w 186"/>
                    <a:gd name="T11" fmla="*/ 169 h 172"/>
                    <a:gd name="T12" fmla="*/ 183 w 186"/>
                    <a:gd name="T13" fmla="*/ 169 h 172"/>
                    <a:gd name="T14" fmla="*/ 182 w 186"/>
                    <a:gd name="T15" fmla="*/ 170 h 172"/>
                    <a:gd name="T16" fmla="*/ 182 w 186"/>
                    <a:gd name="T17" fmla="*/ 170 h 172"/>
                    <a:gd name="T18" fmla="*/ 181 w 186"/>
                    <a:gd name="T19" fmla="*/ 170 h 172"/>
                    <a:gd name="T20" fmla="*/ 181 w 186"/>
                    <a:gd name="T21" fmla="*/ 171 h 172"/>
                    <a:gd name="T22" fmla="*/ 180 w 186"/>
                    <a:gd name="T23" fmla="*/ 171 h 172"/>
                    <a:gd name="T24" fmla="*/ 179 w 186"/>
                    <a:gd name="T25" fmla="*/ 171 h 172"/>
                    <a:gd name="T26" fmla="*/ 4 w 186"/>
                    <a:gd name="T27" fmla="*/ 171 h 172"/>
                    <a:gd name="T28" fmla="*/ 3 w 186"/>
                    <a:gd name="T29" fmla="*/ 171 h 172"/>
                    <a:gd name="T30" fmla="*/ 3 w 186"/>
                    <a:gd name="T31" fmla="*/ 171 h 172"/>
                    <a:gd name="T32" fmla="*/ 3 w 186"/>
                    <a:gd name="T33" fmla="*/ 170 h 172"/>
                    <a:gd name="T34" fmla="*/ 2 w 186"/>
                    <a:gd name="T35" fmla="*/ 170 h 172"/>
                    <a:gd name="T36" fmla="*/ 2 w 186"/>
                    <a:gd name="T37" fmla="*/ 170 h 172"/>
                    <a:gd name="T38" fmla="*/ 1 w 186"/>
                    <a:gd name="T39" fmla="*/ 169 h 172"/>
                    <a:gd name="T40" fmla="*/ 1 w 186"/>
                    <a:gd name="T41" fmla="*/ 169 h 172"/>
                    <a:gd name="T42" fmla="*/ 0 w 186"/>
                    <a:gd name="T43" fmla="*/ 169 h 172"/>
                    <a:gd name="T44" fmla="*/ 0 w 186"/>
                    <a:gd name="T45" fmla="*/ 168 h 172"/>
                    <a:gd name="T46" fmla="*/ 0 w 186"/>
                    <a:gd name="T47" fmla="*/ 167 h 172"/>
                    <a:gd name="T48" fmla="*/ 0 w 186"/>
                    <a:gd name="T49" fmla="*/ 167 h 172"/>
                    <a:gd name="T50" fmla="*/ 0 w 186"/>
                    <a:gd name="T51" fmla="*/ 166 h 172"/>
                    <a:gd name="T52" fmla="*/ 0 w 186"/>
                    <a:gd name="T53" fmla="*/ 165 h 172"/>
                    <a:gd name="T54" fmla="*/ 0 w 186"/>
                    <a:gd name="T55" fmla="*/ 5 h 172"/>
                    <a:gd name="T56" fmla="*/ 0 w 186"/>
                    <a:gd name="T57" fmla="*/ 4 h 172"/>
                    <a:gd name="T58" fmla="*/ 0 w 186"/>
                    <a:gd name="T59" fmla="*/ 3 h 172"/>
                    <a:gd name="T60" fmla="*/ 0 w 186"/>
                    <a:gd name="T61" fmla="*/ 3 h 172"/>
                    <a:gd name="T62" fmla="*/ 0 w 186"/>
                    <a:gd name="T63" fmla="*/ 2 h 172"/>
                    <a:gd name="T64" fmla="*/ 0 w 186"/>
                    <a:gd name="T65" fmla="*/ 2 h 172"/>
                    <a:gd name="T66" fmla="*/ 1 w 186"/>
                    <a:gd name="T67" fmla="*/ 1 h 172"/>
                    <a:gd name="T68" fmla="*/ 1 w 186"/>
                    <a:gd name="T69" fmla="*/ 1 h 172"/>
                    <a:gd name="T70" fmla="*/ 2 w 186"/>
                    <a:gd name="T71" fmla="*/ 1 h 172"/>
                    <a:gd name="T72" fmla="*/ 2 w 186"/>
                    <a:gd name="T73" fmla="*/ 0 h 172"/>
                    <a:gd name="T74" fmla="*/ 2 w 186"/>
                    <a:gd name="T75" fmla="*/ 0 h 172"/>
                    <a:gd name="T76" fmla="*/ 3 w 186"/>
                    <a:gd name="T77" fmla="*/ 0 h 172"/>
                    <a:gd name="T78" fmla="*/ 3 w 186"/>
                    <a:gd name="T79" fmla="*/ 0 h 172"/>
                    <a:gd name="T80" fmla="*/ 4 w 186"/>
                    <a:gd name="T81" fmla="*/ 0 h 172"/>
                    <a:gd name="T82" fmla="*/ 179 w 186"/>
                    <a:gd name="T83" fmla="*/ 0 h 172"/>
                    <a:gd name="T84" fmla="*/ 180 w 186"/>
                    <a:gd name="T85" fmla="*/ 0 h 172"/>
                    <a:gd name="T86" fmla="*/ 181 w 186"/>
                    <a:gd name="T87" fmla="*/ 0 h 172"/>
                    <a:gd name="T88" fmla="*/ 181 w 186"/>
                    <a:gd name="T89" fmla="*/ 0 h 172"/>
                    <a:gd name="T90" fmla="*/ 182 w 186"/>
                    <a:gd name="T91" fmla="*/ 0 h 172"/>
                    <a:gd name="T92" fmla="*/ 182 w 186"/>
                    <a:gd name="T93" fmla="*/ 1 h 172"/>
                    <a:gd name="T94" fmla="*/ 183 w 186"/>
                    <a:gd name="T95" fmla="*/ 1 h 172"/>
                    <a:gd name="T96" fmla="*/ 183 w 186"/>
                    <a:gd name="T97" fmla="*/ 1 h 172"/>
                    <a:gd name="T98" fmla="*/ 183 w 186"/>
                    <a:gd name="T99" fmla="*/ 2 h 172"/>
                    <a:gd name="T100" fmla="*/ 184 w 186"/>
                    <a:gd name="T101" fmla="*/ 2 h 172"/>
                    <a:gd name="T102" fmla="*/ 184 w 186"/>
                    <a:gd name="T103" fmla="*/ 3 h 172"/>
                    <a:gd name="T104" fmla="*/ 185 w 186"/>
                    <a:gd name="T105" fmla="*/ 3 h 172"/>
                    <a:gd name="T106" fmla="*/ 185 w 186"/>
                    <a:gd name="T107" fmla="*/ 4 h 172"/>
                    <a:gd name="T108" fmla="*/ 185 w 186"/>
                    <a:gd name="T109" fmla="*/ 5 h 172"/>
                    <a:gd name="T110" fmla="*/ 185 w 186"/>
                    <a:gd name="T111" fmla="*/ 165 h 172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86"/>
                    <a:gd name="T169" fmla="*/ 0 h 172"/>
                    <a:gd name="T170" fmla="*/ 186 w 186"/>
                    <a:gd name="T171" fmla="*/ 172 h 172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86" h="172">
                      <a:moveTo>
                        <a:pt x="185" y="165"/>
                      </a:moveTo>
                      <a:lnTo>
                        <a:pt x="185" y="166"/>
                      </a:lnTo>
                      <a:lnTo>
                        <a:pt x="185" y="167"/>
                      </a:lnTo>
                      <a:lnTo>
                        <a:pt x="184" y="167"/>
                      </a:lnTo>
                      <a:lnTo>
                        <a:pt x="184" y="168"/>
                      </a:lnTo>
                      <a:lnTo>
                        <a:pt x="183" y="169"/>
                      </a:lnTo>
                      <a:lnTo>
                        <a:pt x="182" y="170"/>
                      </a:lnTo>
                      <a:lnTo>
                        <a:pt x="181" y="170"/>
                      </a:lnTo>
                      <a:lnTo>
                        <a:pt x="181" y="171"/>
                      </a:lnTo>
                      <a:lnTo>
                        <a:pt x="180" y="171"/>
                      </a:lnTo>
                      <a:lnTo>
                        <a:pt x="179" y="171"/>
                      </a:lnTo>
                      <a:lnTo>
                        <a:pt x="4" y="171"/>
                      </a:lnTo>
                      <a:lnTo>
                        <a:pt x="3" y="171"/>
                      </a:lnTo>
                      <a:lnTo>
                        <a:pt x="3" y="170"/>
                      </a:lnTo>
                      <a:lnTo>
                        <a:pt x="2" y="170"/>
                      </a:lnTo>
                      <a:lnTo>
                        <a:pt x="1" y="169"/>
                      </a:lnTo>
                      <a:lnTo>
                        <a:pt x="0" y="169"/>
                      </a:lnTo>
                      <a:lnTo>
                        <a:pt x="0" y="168"/>
                      </a:lnTo>
                      <a:lnTo>
                        <a:pt x="0" y="167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79" y="0"/>
                      </a:lnTo>
                      <a:lnTo>
                        <a:pt x="180" y="0"/>
                      </a:lnTo>
                      <a:lnTo>
                        <a:pt x="181" y="0"/>
                      </a:lnTo>
                      <a:lnTo>
                        <a:pt x="182" y="0"/>
                      </a:lnTo>
                      <a:lnTo>
                        <a:pt x="182" y="1"/>
                      </a:lnTo>
                      <a:lnTo>
                        <a:pt x="183" y="1"/>
                      </a:lnTo>
                      <a:lnTo>
                        <a:pt x="183" y="2"/>
                      </a:lnTo>
                      <a:lnTo>
                        <a:pt x="184" y="2"/>
                      </a:lnTo>
                      <a:lnTo>
                        <a:pt x="184" y="3"/>
                      </a:lnTo>
                      <a:lnTo>
                        <a:pt x="185" y="3"/>
                      </a:lnTo>
                      <a:lnTo>
                        <a:pt x="185" y="4"/>
                      </a:lnTo>
                      <a:lnTo>
                        <a:pt x="185" y="5"/>
                      </a:lnTo>
                      <a:lnTo>
                        <a:pt x="185" y="165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79" name="Freeform 1426"/>
                <p:cNvSpPr>
                  <a:spLocks/>
                </p:cNvSpPr>
                <p:nvPr/>
              </p:nvSpPr>
              <p:spPr bwMode="auto">
                <a:xfrm>
                  <a:off x="3857" y="1281"/>
                  <a:ext cx="181" cy="171"/>
                </a:xfrm>
                <a:custGeom>
                  <a:avLst/>
                  <a:gdLst>
                    <a:gd name="T0" fmla="*/ 180 w 181"/>
                    <a:gd name="T1" fmla="*/ 3 h 171"/>
                    <a:gd name="T2" fmla="*/ 180 w 181"/>
                    <a:gd name="T3" fmla="*/ 3 h 171"/>
                    <a:gd name="T4" fmla="*/ 180 w 181"/>
                    <a:gd name="T5" fmla="*/ 2 h 171"/>
                    <a:gd name="T6" fmla="*/ 179 w 181"/>
                    <a:gd name="T7" fmla="*/ 2 h 171"/>
                    <a:gd name="T8" fmla="*/ 179 w 181"/>
                    <a:gd name="T9" fmla="*/ 1 h 171"/>
                    <a:gd name="T10" fmla="*/ 178 w 181"/>
                    <a:gd name="T11" fmla="*/ 1 h 171"/>
                    <a:gd name="T12" fmla="*/ 178 w 181"/>
                    <a:gd name="T13" fmla="*/ 0 h 171"/>
                    <a:gd name="T14" fmla="*/ 177 w 181"/>
                    <a:gd name="T15" fmla="*/ 0 h 171"/>
                    <a:gd name="T16" fmla="*/ 177 w 181"/>
                    <a:gd name="T17" fmla="*/ 0 h 171"/>
                    <a:gd name="T18" fmla="*/ 177 w 181"/>
                    <a:gd name="T19" fmla="*/ 0 h 171"/>
                    <a:gd name="T20" fmla="*/ 176 w 181"/>
                    <a:gd name="T21" fmla="*/ 0 h 171"/>
                    <a:gd name="T22" fmla="*/ 176 w 181"/>
                    <a:gd name="T23" fmla="*/ 0 h 171"/>
                    <a:gd name="T24" fmla="*/ 3 w 181"/>
                    <a:gd name="T25" fmla="*/ 0 h 171"/>
                    <a:gd name="T26" fmla="*/ 3 w 181"/>
                    <a:gd name="T27" fmla="*/ 0 h 171"/>
                    <a:gd name="T28" fmla="*/ 2 w 181"/>
                    <a:gd name="T29" fmla="*/ 0 h 171"/>
                    <a:gd name="T30" fmla="*/ 2 w 181"/>
                    <a:gd name="T31" fmla="*/ 0 h 171"/>
                    <a:gd name="T32" fmla="*/ 1 w 181"/>
                    <a:gd name="T33" fmla="*/ 0 h 171"/>
                    <a:gd name="T34" fmla="*/ 1 w 181"/>
                    <a:gd name="T35" fmla="*/ 0 h 171"/>
                    <a:gd name="T36" fmla="*/ 1 w 181"/>
                    <a:gd name="T37" fmla="*/ 1 h 171"/>
                    <a:gd name="T38" fmla="*/ 0 w 181"/>
                    <a:gd name="T39" fmla="*/ 1 h 171"/>
                    <a:gd name="T40" fmla="*/ 0 w 181"/>
                    <a:gd name="T41" fmla="*/ 1 h 171"/>
                    <a:gd name="T42" fmla="*/ 0 w 181"/>
                    <a:gd name="T43" fmla="*/ 2 h 171"/>
                    <a:gd name="T44" fmla="*/ 0 w 181"/>
                    <a:gd name="T45" fmla="*/ 3 h 171"/>
                    <a:gd name="T46" fmla="*/ 0 w 181"/>
                    <a:gd name="T47" fmla="*/ 3 h 171"/>
                    <a:gd name="T48" fmla="*/ 0 w 181"/>
                    <a:gd name="T49" fmla="*/ 166 h 171"/>
                    <a:gd name="T50" fmla="*/ 0 w 181"/>
                    <a:gd name="T51" fmla="*/ 166 h 171"/>
                    <a:gd name="T52" fmla="*/ 0 w 181"/>
                    <a:gd name="T53" fmla="*/ 167 h 171"/>
                    <a:gd name="T54" fmla="*/ 0 w 181"/>
                    <a:gd name="T55" fmla="*/ 168 h 171"/>
                    <a:gd name="T56" fmla="*/ 0 w 181"/>
                    <a:gd name="T57" fmla="*/ 168 h 171"/>
                    <a:gd name="T58" fmla="*/ 1 w 181"/>
                    <a:gd name="T59" fmla="*/ 168 h 171"/>
                    <a:gd name="T60" fmla="*/ 1 w 181"/>
                    <a:gd name="T61" fmla="*/ 169 h 171"/>
                    <a:gd name="T62" fmla="*/ 2 w 181"/>
                    <a:gd name="T63" fmla="*/ 169 h 171"/>
                    <a:gd name="T64" fmla="*/ 2 w 181"/>
                    <a:gd name="T65" fmla="*/ 169 h 171"/>
                    <a:gd name="T66" fmla="*/ 3 w 181"/>
                    <a:gd name="T67" fmla="*/ 170 h 171"/>
                    <a:gd name="T68" fmla="*/ 3 w 181"/>
                    <a:gd name="T69" fmla="*/ 170 h 171"/>
                    <a:gd name="T70" fmla="*/ 176 w 181"/>
                    <a:gd name="T71" fmla="*/ 170 h 171"/>
                    <a:gd name="T72" fmla="*/ 176 w 181"/>
                    <a:gd name="T73" fmla="*/ 169 h 171"/>
                    <a:gd name="T74" fmla="*/ 177 w 181"/>
                    <a:gd name="T75" fmla="*/ 169 h 171"/>
                    <a:gd name="T76" fmla="*/ 177 w 181"/>
                    <a:gd name="T77" fmla="*/ 169 h 171"/>
                    <a:gd name="T78" fmla="*/ 178 w 181"/>
                    <a:gd name="T79" fmla="*/ 169 h 171"/>
                    <a:gd name="T80" fmla="*/ 178 w 181"/>
                    <a:gd name="T81" fmla="*/ 168 h 171"/>
                    <a:gd name="T82" fmla="*/ 178 w 181"/>
                    <a:gd name="T83" fmla="*/ 168 h 171"/>
                    <a:gd name="T84" fmla="*/ 179 w 181"/>
                    <a:gd name="T85" fmla="*/ 168 h 171"/>
                    <a:gd name="T86" fmla="*/ 179 w 181"/>
                    <a:gd name="T87" fmla="*/ 167 h 171"/>
                    <a:gd name="T88" fmla="*/ 180 w 181"/>
                    <a:gd name="T89" fmla="*/ 166 h 171"/>
                    <a:gd name="T90" fmla="*/ 180 w 181"/>
                    <a:gd name="T91" fmla="*/ 166 h 171"/>
                    <a:gd name="T92" fmla="*/ 180 w 181"/>
                    <a:gd name="T93" fmla="*/ 3 h 171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w 181"/>
                    <a:gd name="T142" fmla="*/ 0 h 171"/>
                    <a:gd name="T143" fmla="*/ 181 w 181"/>
                    <a:gd name="T144" fmla="*/ 171 h 171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T141" t="T142" r="T143" b="T144"/>
                  <a:pathLst>
                    <a:path w="181" h="171">
                      <a:moveTo>
                        <a:pt x="180" y="3"/>
                      </a:moveTo>
                      <a:lnTo>
                        <a:pt x="180" y="3"/>
                      </a:lnTo>
                      <a:lnTo>
                        <a:pt x="180" y="2"/>
                      </a:lnTo>
                      <a:lnTo>
                        <a:pt x="179" y="2"/>
                      </a:lnTo>
                      <a:lnTo>
                        <a:pt x="179" y="1"/>
                      </a:lnTo>
                      <a:lnTo>
                        <a:pt x="178" y="1"/>
                      </a:lnTo>
                      <a:lnTo>
                        <a:pt x="178" y="0"/>
                      </a:lnTo>
                      <a:lnTo>
                        <a:pt x="177" y="0"/>
                      </a:lnTo>
                      <a:lnTo>
                        <a:pt x="17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16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1" y="169"/>
                      </a:lnTo>
                      <a:lnTo>
                        <a:pt x="2" y="169"/>
                      </a:lnTo>
                      <a:lnTo>
                        <a:pt x="3" y="170"/>
                      </a:lnTo>
                      <a:lnTo>
                        <a:pt x="176" y="170"/>
                      </a:lnTo>
                      <a:lnTo>
                        <a:pt x="176" y="169"/>
                      </a:lnTo>
                      <a:lnTo>
                        <a:pt x="177" y="169"/>
                      </a:lnTo>
                      <a:lnTo>
                        <a:pt x="178" y="169"/>
                      </a:lnTo>
                      <a:lnTo>
                        <a:pt x="178" y="168"/>
                      </a:lnTo>
                      <a:lnTo>
                        <a:pt x="179" y="168"/>
                      </a:lnTo>
                      <a:lnTo>
                        <a:pt x="179" y="167"/>
                      </a:lnTo>
                      <a:lnTo>
                        <a:pt x="180" y="166"/>
                      </a:lnTo>
                      <a:lnTo>
                        <a:pt x="180" y="3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80" name="Freeform 1427"/>
                <p:cNvSpPr>
                  <a:spLocks/>
                </p:cNvSpPr>
                <p:nvPr/>
              </p:nvSpPr>
              <p:spPr bwMode="auto">
                <a:xfrm>
                  <a:off x="3858" y="1282"/>
                  <a:ext cx="180" cy="168"/>
                </a:xfrm>
                <a:custGeom>
                  <a:avLst/>
                  <a:gdLst>
                    <a:gd name="T0" fmla="*/ 179 w 180"/>
                    <a:gd name="T1" fmla="*/ 163 h 168"/>
                    <a:gd name="T2" fmla="*/ 179 w 180"/>
                    <a:gd name="T3" fmla="*/ 164 h 168"/>
                    <a:gd name="T4" fmla="*/ 178 w 180"/>
                    <a:gd name="T5" fmla="*/ 165 h 168"/>
                    <a:gd name="T6" fmla="*/ 178 w 180"/>
                    <a:gd name="T7" fmla="*/ 165 h 168"/>
                    <a:gd name="T8" fmla="*/ 177 w 180"/>
                    <a:gd name="T9" fmla="*/ 166 h 168"/>
                    <a:gd name="T10" fmla="*/ 177 w 180"/>
                    <a:gd name="T11" fmla="*/ 166 h 168"/>
                    <a:gd name="T12" fmla="*/ 176 w 180"/>
                    <a:gd name="T13" fmla="*/ 167 h 168"/>
                    <a:gd name="T14" fmla="*/ 176 w 180"/>
                    <a:gd name="T15" fmla="*/ 167 h 168"/>
                    <a:gd name="T16" fmla="*/ 2 w 180"/>
                    <a:gd name="T17" fmla="*/ 167 h 168"/>
                    <a:gd name="T18" fmla="*/ 2 w 180"/>
                    <a:gd name="T19" fmla="*/ 167 h 168"/>
                    <a:gd name="T20" fmla="*/ 1 w 180"/>
                    <a:gd name="T21" fmla="*/ 167 h 168"/>
                    <a:gd name="T22" fmla="*/ 1 w 180"/>
                    <a:gd name="T23" fmla="*/ 166 h 168"/>
                    <a:gd name="T24" fmla="*/ 1 w 180"/>
                    <a:gd name="T25" fmla="*/ 166 h 168"/>
                    <a:gd name="T26" fmla="*/ 0 w 180"/>
                    <a:gd name="T27" fmla="*/ 166 h 168"/>
                    <a:gd name="T28" fmla="*/ 0 w 180"/>
                    <a:gd name="T29" fmla="*/ 165 h 168"/>
                    <a:gd name="T30" fmla="*/ 0 w 180"/>
                    <a:gd name="T31" fmla="*/ 165 h 168"/>
                    <a:gd name="T32" fmla="*/ 0 w 180"/>
                    <a:gd name="T33" fmla="*/ 165 h 168"/>
                    <a:gd name="T34" fmla="*/ 0 w 180"/>
                    <a:gd name="T35" fmla="*/ 164 h 168"/>
                    <a:gd name="T36" fmla="*/ 0 w 180"/>
                    <a:gd name="T37" fmla="*/ 163 h 168"/>
                    <a:gd name="T38" fmla="*/ 0 w 180"/>
                    <a:gd name="T39" fmla="*/ 3 h 168"/>
                    <a:gd name="T40" fmla="*/ 0 w 180"/>
                    <a:gd name="T41" fmla="*/ 2 h 168"/>
                    <a:gd name="T42" fmla="*/ 0 w 180"/>
                    <a:gd name="T43" fmla="*/ 1 h 168"/>
                    <a:gd name="T44" fmla="*/ 0 w 180"/>
                    <a:gd name="T45" fmla="*/ 1 h 168"/>
                    <a:gd name="T46" fmla="*/ 0 w 180"/>
                    <a:gd name="T47" fmla="*/ 1 h 168"/>
                    <a:gd name="T48" fmla="*/ 1 w 180"/>
                    <a:gd name="T49" fmla="*/ 0 h 168"/>
                    <a:gd name="T50" fmla="*/ 1 w 180"/>
                    <a:gd name="T51" fmla="*/ 0 h 168"/>
                    <a:gd name="T52" fmla="*/ 2 w 180"/>
                    <a:gd name="T53" fmla="*/ 0 h 168"/>
                    <a:gd name="T54" fmla="*/ 2 w 180"/>
                    <a:gd name="T55" fmla="*/ 0 h 168"/>
                    <a:gd name="T56" fmla="*/ 176 w 180"/>
                    <a:gd name="T57" fmla="*/ 0 h 168"/>
                    <a:gd name="T58" fmla="*/ 176 w 180"/>
                    <a:gd name="T59" fmla="*/ 0 h 168"/>
                    <a:gd name="T60" fmla="*/ 176 w 180"/>
                    <a:gd name="T61" fmla="*/ 0 h 168"/>
                    <a:gd name="T62" fmla="*/ 177 w 180"/>
                    <a:gd name="T63" fmla="*/ 0 h 168"/>
                    <a:gd name="T64" fmla="*/ 177 w 180"/>
                    <a:gd name="T65" fmla="*/ 0 h 168"/>
                    <a:gd name="T66" fmla="*/ 177 w 180"/>
                    <a:gd name="T67" fmla="*/ 1 h 168"/>
                    <a:gd name="T68" fmla="*/ 178 w 180"/>
                    <a:gd name="T69" fmla="*/ 1 h 168"/>
                    <a:gd name="T70" fmla="*/ 178 w 180"/>
                    <a:gd name="T71" fmla="*/ 1 h 168"/>
                    <a:gd name="T72" fmla="*/ 179 w 180"/>
                    <a:gd name="T73" fmla="*/ 2 h 168"/>
                    <a:gd name="T74" fmla="*/ 179 w 180"/>
                    <a:gd name="T75" fmla="*/ 3 h 168"/>
                    <a:gd name="T76" fmla="*/ 179 w 180"/>
                    <a:gd name="T77" fmla="*/ 16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80"/>
                    <a:gd name="T118" fmla="*/ 0 h 168"/>
                    <a:gd name="T119" fmla="*/ 180 w 180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80" h="168">
                      <a:moveTo>
                        <a:pt x="179" y="163"/>
                      </a:moveTo>
                      <a:lnTo>
                        <a:pt x="179" y="164"/>
                      </a:lnTo>
                      <a:lnTo>
                        <a:pt x="178" y="165"/>
                      </a:lnTo>
                      <a:lnTo>
                        <a:pt x="177" y="166"/>
                      </a:lnTo>
                      <a:lnTo>
                        <a:pt x="176" y="167"/>
                      </a:lnTo>
                      <a:lnTo>
                        <a:pt x="2" y="167"/>
                      </a:lnTo>
                      <a:lnTo>
                        <a:pt x="1" y="167"/>
                      </a:lnTo>
                      <a:lnTo>
                        <a:pt x="1" y="166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164"/>
                      </a:lnTo>
                      <a:lnTo>
                        <a:pt x="0" y="163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2" y="0"/>
                      </a:lnTo>
                      <a:lnTo>
                        <a:pt x="176" y="0"/>
                      </a:lnTo>
                      <a:lnTo>
                        <a:pt x="177" y="0"/>
                      </a:lnTo>
                      <a:lnTo>
                        <a:pt x="177" y="1"/>
                      </a:lnTo>
                      <a:lnTo>
                        <a:pt x="178" y="1"/>
                      </a:lnTo>
                      <a:lnTo>
                        <a:pt x="179" y="2"/>
                      </a:lnTo>
                      <a:lnTo>
                        <a:pt x="179" y="3"/>
                      </a:lnTo>
                      <a:lnTo>
                        <a:pt x="179" y="163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81" name="Freeform 1428"/>
                <p:cNvSpPr>
                  <a:spLocks/>
                </p:cNvSpPr>
                <p:nvPr/>
              </p:nvSpPr>
              <p:spPr bwMode="auto">
                <a:xfrm>
                  <a:off x="3877" y="1304"/>
                  <a:ext cx="142" cy="124"/>
                </a:xfrm>
                <a:custGeom>
                  <a:avLst/>
                  <a:gdLst>
                    <a:gd name="T0" fmla="*/ 0 w 142"/>
                    <a:gd name="T1" fmla="*/ 1 h 124"/>
                    <a:gd name="T2" fmla="*/ 1 w 142"/>
                    <a:gd name="T3" fmla="*/ 1 h 124"/>
                    <a:gd name="T4" fmla="*/ 1 w 142"/>
                    <a:gd name="T5" fmla="*/ 1 h 124"/>
                    <a:gd name="T6" fmla="*/ 2 w 142"/>
                    <a:gd name="T7" fmla="*/ 0 h 124"/>
                    <a:gd name="T8" fmla="*/ 2 w 142"/>
                    <a:gd name="T9" fmla="*/ 0 h 124"/>
                    <a:gd name="T10" fmla="*/ 3 w 142"/>
                    <a:gd name="T11" fmla="*/ 0 h 124"/>
                    <a:gd name="T12" fmla="*/ 3 w 142"/>
                    <a:gd name="T13" fmla="*/ 0 h 124"/>
                    <a:gd name="T14" fmla="*/ 4 w 142"/>
                    <a:gd name="T15" fmla="*/ 0 h 124"/>
                    <a:gd name="T16" fmla="*/ 135 w 142"/>
                    <a:gd name="T17" fmla="*/ 0 h 124"/>
                    <a:gd name="T18" fmla="*/ 136 w 142"/>
                    <a:gd name="T19" fmla="*/ 0 h 124"/>
                    <a:gd name="T20" fmla="*/ 137 w 142"/>
                    <a:gd name="T21" fmla="*/ 0 h 124"/>
                    <a:gd name="T22" fmla="*/ 137 w 142"/>
                    <a:gd name="T23" fmla="*/ 0 h 124"/>
                    <a:gd name="T24" fmla="*/ 138 w 142"/>
                    <a:gd name="T25" fmla="*/ 0 h 124"/>
                    <a:gd name="T26" fmla="*/ 138 w 142"/>
                    <a:gd name="T27" fmla="*/ 1 h 124"/>
                    <a:gd name="T28" fmla="*/ 139 w 142"/>
                    <a:gd name="T29" fmla="*/ 1 h 124"/>
                    <a:gd name="T30" fmla="*/ 139 w 142"/>
                    <a:gd name="T31" fmla="*/ 1 h 124"/>
                    <a:gd name="T32" fmla="*/ 140 w 142"/>
                    <a:gd name="T33" fmla="*/ 2 h 124"/>
                    <a:gd name="T34" fmla="*/ 140 w 142"/>
                    <a:gd name="T35" fmla="*/ 3 h 124"/>
                    <a:gd name="T36" fmla="*/ 141 w 142"/>
                    <a:gd name="T37" fmla="*/ 3 h 124"/>
                    <a:gd name="T38" fmla="*/ 141 w 142"/>
                    <a:gd name="T39" fmla="*/ 4 h 124"/>
                    <a:gd name="T40" fmla="*/ 141 w 142"/>
                    <a:gd name="T41" fmla="*/ 5 h 124"/>
                    <a:gd name="T42" fmla="*/ 141 w 142"/>
                    <a:gd name="T43" fmla="*/ 117 h 124"/>
                    <a:gd name="T44" fmla="*/ 141 w 142"/>
                    <a:gd name="T45" fmla="*/ 119 h 124"/>
                    <a:gd name="T46" fmla="*/ 140 w 142"/>
                    <a:gd name="T47" fmla="*/ 119 h 124"/>
                    <a:gd name="T48" fmla="*/ 140 w 142"/>
                    <a:gd name="T49" fmla="*/ 120 h 124"/>
                    <a:gd name="T50" fmla="*/ 139 w 142"/>
                    <a:gd name="T51" fmla="*/ 121 h 124"/>
                    <a:gd name="T52" fmla="*/ 139 w 142"/>
                    <a:gd name="T53" fmla="*/ 121 h 124"/>
                    <a:gd name="T54" fmla="*/ 138 w 142"/>
                    <a:gd name="T55" fmla="*/ 122 h 124"/>
                    <a:gd name="T56" fmla="*/ 138 w 142"/>
                    <a:gd name="T57" fmla="*/ 122 h 124"/>
                    <a:gd name="T58" fmla="*/ 137 w 142"/>
                    <a:gd name="T59" fmla="*/ 122 h 124"/>
                    <a:gd name="T60" fmla="*/ 137 w 142"/>
                    <a:gd name="T61" fmla="*/ 123 h 124"/>
                    <a:gd name="T62" fmla="*/ 136 w 142"/>
                    <a:gd name="T63" fmla="*/ 123 h 124"/>
                    <a:gd name="T64" fmla="*/ 135 w 142"/>
                    <a:gd name="T65" fmla="*/ 123 h 124"/>
                    <a:gd name="T66" fmla="*/ 4 w 142"/>
                    <a:gd name="T67" fmla="*/ 123 h 124"/>
                    <a:gd name="T68" fmla="*/ 3 w 142"/>
                    <a:gd name="T69" fmla="*/ 123 h 124"/>
                    <a:gd name="T70" fmla="*/ 3 w 142"/>
                    <a:gd name="T71" fmla="*/ 123 h 124"/>
                    <a:gd name="T72" fmla="*/ 2 w 142"/>
                    <a:gd name="T73" fmla="*/ 122 h 124"/>
                    <a:gd name="T74" fmla="*/ 2 w 142"/>
                    <a:gd name="T75" fmla="*/ 122 h 124"/>
                    <a:gd name="T76" fmla="*/ 1 w 142"/>
                    <a:gd name="T77" fmla="*/ 122 h 124"/>
                    <a:gd name="T78" fmla="*/ 1 w 142"/>
                    <a:gd name="T79" fmla="*/ 121 h 124"/>
                    <a:gd name="T80" fmla="*/ 0 w 142"/>
                    <a:gd name="T81" fmla="*/ 121 h 124"/>
                    <a:gd name="T82" fmla="*/ 0 w 142"/>
                    <a:gd name="T83" fmla="*/ 120 h 124"/>
                    <a:gd name="T84" fmla="*/ 0 w 142"/>
                    <a:gd name="T85" fmla="*/ 119 h 124"/>
                    <a:gd name="T86" fmla="*/ 0 w 142"/>
                    <a:gd name="T87" fmla="*/ 119 h 124"/>
                    <a:gd name="T88" fmla="*/ 0 w 142"/>
                    <a:gd name="T89" fmla="*/ 117 h 124"/>
                    <a:gd name="T90" fmla="*/ 0 w 142"/>
                    <a:gd name="T91" fmla="*/ 5 h 124"/>
                    <a:gd name="T92" fmla="*/ 0 w 142"/>
                    <a:gd name="T93" fmla="*/ 4 h 124"/>
                    <a:gd name="T94" fmla="*/ 0 w 142"/>
                    <a:gd name="T95" fmla="*/ 3 h 124"/>
                    <a:gd name="T96" fmla="*/ 0 w 142"/>
                    <a:gd name="T97" fmla="*/ 3 h 124"/>
                    <a:gd name="T98" fmla="*/ 0 w 142"/>
                    <a:gd name="T99" fmla="*/ 2 h 124"/>
                    <a:gd name="T100" fmla="*/ 0 w 142"/>
                    <a:gd name="T101" fmla="*/ 1 h 124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42"/>
                    <a:gd name="T154" fmla="*/ 0 h 124"/>
                    <a:gd name="T155" fmla="*/ 142 w 142"/>
                    <a:gd name="T156" fmla="*/ 124 h 124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42" h="124">
                      <a:moveTo>
                        <a:pt x="0" y="1"/>
                      </a:moveTo>
                      <a:lnTo>
                        <a:pt x="1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8" y="1"/>
                      </a:lnTo>
                      <a:lnTo>
                        <a:pt x="139" y="1"/>
                      </a:lnTo>
                      <a:lnTo>
                        <a:pt x="140" y="2"/>
                      </a:lnTo>
                      <a:lnTo>
                        <a:pt x="140" y="3"/>
                      </a:lnTo>
                      <a:lnTo>
                        <a:pt x="141" y="3"/>
                      </a:lnTo>
                      <a:lnTo>
                        <a:pt x="141" y="4"/>
                      </a:lnTo>
                      <a:lnTo>
                        <a:pt x="141" y="5"/>
                      </a:lnTo>
                      <a:lnTo>
                        <a:pt x="141" y="117"/>
                      </a:lnTo>
                      <a:lnTo>
                        <a:pt x="141" y="119"/>
                      </a:lnTo>
                      <a:lnTo>
                        <a:pt x="140" y="119"/>
                      </a:lnTo>
                      <a:lnTo>
                        <a:pt x="140" y="120"/>
                      </a:lnTo>
                      <a:lnTo>
                        <a:pt x="139" y="121"/>
                      </a:lnTo>
                      <a:lnTo>
                        <a:pt x="138" y="122"/>
                      </a:lnTo>
                      <a:lnTo>
                        <a:pt x="137" y="122"/>
                      </a:lnTo>
                      <a:lnTo>
                        <a:pt x="137" y="123"/>
                      </a:lnTo>
                      <a:lnTo>
                        <a:pt x="136" y="123"/>
                      </a:lnTo>
                      <a:lnTo>
                        <a:pt x="135" y="123"/>
                      </a:lnTo>
                      <a:lnTo>
                        <a:pt x="4" y="123"/>
                      </a:lnTo>
                      <a:lnTo>
                        <a:pt x="3" y="123"/>
                      </a:lnTo>
                      <a:lnTo>
                        <a:pt x="2" y="122"/>
                      </a:lnTo>
                      <a:lnTo>
                        <a:pt x="1" y="122"/>
                      </a:lnTo>
                      <a:lnTo>
                        <a:pt x="1" y="121"/>
                      </a:lnTo>
                      <a:lnTo>
                        <a:pt x="0" y="121"/>
                      </a:lnTo>
                      <a:lnTo>
                        <a:pt x="0" y="120"/>
                      </a:lnTo>
                      <a:lnTo>
                        <a:pt x="0" y="119"/>
                      </a:lnTo>
                      <a:lnTo>
                        <a:pt x="0" y="117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</a:path>
                  </a:pathLst>
                </a:custGeom>
                <a:gradFill rotWithShape="0">
                  <a:gsLst>
                    <a:gs pos="0">
                      <a:srgbClr val="1D2B4B"/>
                    </a:gs>
                    <a:gs pos="50000">
                      <a:srgbClr val="618FFD"/>
                    </a:gs>
                    <a:gs pos="100000">
                      <a:srgbClr val="1D2B4B"/>
                    </a:gs>
                  </a:gsLst>
                  <a:lin ang="2700000" scaled="1"/>
                </a:gra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82" name="Freeform 1429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4 h 17"/>
                    <a:gd name="T2" fmla="*/ 151 w 153"/>
                    <a:gd name="T3" fmla="*/ 3 h 17"/>
                    <a:gd name="T4" fmla="*/ 151 w 153"/>
                    <a:gd name="T5" fmla="*/ 2 h 17"/>
                    <a:gd name="T6" fmla="*/ 150 w 153"/>
                    <a:gd name="T7" fmla="*/ 2 h 17"/>
                    <a:gd name="T8" fmla="*/ 150 w 153"/>
                    <a:gd name="T9" fmla="*/ 2 h 17"/>
                    <a:gd name="T10" fmla="*/ 150 w 153"/>
                    <a:gd name="T11" fmla="*/ 1 h 17"/>
                    <a:gd name="T12" fmla="*/ 149 w 153"/>
                    <a:gd name="T13" fmla="*/ 1 h 17"/>
                    <a:gd name="T14" fmla="*/ 149 w 153"/>
                    <a:gd name="T15" fmla="*/ 1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1 h 17"/>
                    <a:gd name="T32" fmla="*/ 1 w 153"/>
                    <a:gd name="T33" fmla="*/ 1 h 17"/>
                    <a:gd name="T34" fmla="*/ 0 w 153"/>
                    <a:gd name="T35" fmla="*/ 2 h 17"/>
                    <a:gd name="T36" fmla="*/ 0 w 153"/>
                    <a:gd name="T37" fmla="*/ 2 h 17"/>
                    <a:gd name="T38" fmla="*/ 0 w 153"/>
                    <a:gd name="T39" fmla="*/ 3 h 17"/>
                    <a:gd name="T40" fmla="*/ 6 w 153"/>
                    <a:gd name="T41" fmla="*/ 16 h 17"/>
                    <a:gd name="T42" fmla="*/ 7 w 153"/>
                    <a:gd name="T43" fmla="*/ 14 h 17"/>
                    <a:gd name="T44" fmla="*/ 7 w 153"/>
                    <a:gd name="T45" fmla="*/ 14 h 17"/>
                    <a:gd name="T46" fmla="*/ 8 w 153"/>
                    <a:gd name="T47" fmla="*/ 13 h 17"/>
                    <a:gd name="T48" fmla="*/ 8 w 153"/>
                    <a:gd name="T49" fmla="*/ 13 h 17"/>
                    <a:gd name="T50" fmla="*/ 8 w 153"/>
                    <a:gd name="T51" fmla="*/ 12 h 17"/>
                    <a:gd name="T52" fmla="*/ 9 w 153"/>
                    <a:gd name="T53" fmla="*/ 12 h 17"/>
                    <a:gd name="T54" fmla="*/ 10 w 153"/>
                    <a:gd name="T55" fmla="*/ 12 h 17"/>
                    <a:gd name="T56" fmla="*/ 140 w 153"/>
                    <a:gd name="T57" fmla="*/ 12 h 17"/>
                    <a:gd name="T58" fmla="*/ 141 w 153"/>
                    <a:gd name="T59" fmla="*/ 12 h 17"/>
                    <a:gd name="T60" fmla="*/ 142 w 153"/>
                    <a:gd name="T61" fmla="*/ 12 h 17"/>
                    <a:gd name="T62" fmla="*/ 142 w 153"/>
                    <a:gd name="T63" fmla="*/ 13 h 17"/>
                    <a:gd name="T64" fmla="*/ 143 w 153"/>
                    <a:gd name="T65" fmla="*/ 13 h 17"/>
                    <a:gd name="T66" fmla="*/ 143 w 153"/>
                    <a:gd name="T67" fmla="*/ 14 h 17"/>
                    <a:gd name="T68" fmla="*/ 143 w 153"/>
                    <a:gd name="T69" fmla="*/ 14 h 17"/>
                    <a:gd name="T70" fmla="*/ 144 w 153"/>
                    <a:gd name="T71" fmla="*/ 14 h 17"/>
                    <a:gd name="T72" fmla="*/ 152 w 153"/>
                    <a:gd name="T73" fmla="*/ 4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53"/>
                    <a:gd name="T112" fmla="*/ 0 h 17"/>
                    <a:gd name="T113" fmla="*/ 153 w 153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53" h="17">
                      <a:moveTo>
                        <a:pt x="152" y="4"/>
                      </a:moveTo>
                      <a:lnTo>
                        <a:pt x="151" y="3"/>
                      </a:lnTo>
                      <a:lnTo>
                        <a:pt x="151" y="2"/>
                      </a:lnTo>
                      <a:lnTo>
                        <a:pt x="150" y="2"/>
                      </a:lnTo>
                      <a:lnTo>
                        <a:pt x="150" y="1"/>
                      </a:lnTo>
                      <a:lnTo>
                        <a:pt x="149" y="1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6" y="16"/>
                      </a:lnTo>
                      <a:lnTo>
                        <a:pt x="7" y="14"/>
                      </a:lnTo>
                      <a:lnTo>
                        <a:pt x="8" y="13"/>
                      </a:lnTo>
                      <a:lnTo>
                        <a:pt x="8" y="12"/>
                      </a:lnTo>
                      <a:lnTo>
                        <a:pt x="9" y="12"/>
                      </a:lnTo>
                      <a:lnTo>
                        <a:pt x="10" y="12"/>
                      </a:lnTo>
                      <a:lnTo>
                        <a:pt x="140" y="12"/>
                      </a:lnTo>
                      <a:lnTo>
                        <a:pt x="141" y="12"/>
                      </a:lnTo>
                      <a:lnTo>
                        <a:pt x="142" y="12"/>
                      </a:lnTo>
                      <a:lnTo>
                        <a:pt x="142" y="13"/>
                      </a:lnTo>
                      <a:lnTo>
                        <a:pt x="143" y="13"/>
                      </a:lnTo>
                      <a:lnTo>
                        <a:pt x="143" y="14"/>
                      </a:lnTo>
                      <a:lnTo>
                        <a:pt x="144" y="14"/>
                      </a:lnTo>
                      <a:lnTo>
                        <a:pt x="152" y="4"/>
                      </a:lnTo>
                    </a:path>
                  </a:pathLst>
                </a:custGeom>
                <a:solidFill>
                  <a:srgbClr val="9F9FA2"/>
                </a:solidFill>
                <a:ln w="12700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83" name="Freeform 1430"/>
                <p:cNvSpPr>
                  <a:spLocks/>
                </p:cNvSpPr>
                <p:nvPr/>
              </p:nvSpPr>
              <p:spPr bwMode="auto">
                <a:xfrm>
                  <a:off x="3870" y="1299"/>
                  <a:ext cx="17" cy="135"/>
                </a:xfrm>
                <a:custGeom>
                  <a:avLst/>
                  <a:gdLst>
                    <a:gd name="T0" fmla="*/ 2 w 17"/>
                    <a:gd name="T1" fmla="*/ 0 h 135"/>
                    <a:gd name="T2" fmla="*/ 1 w 17"/>
                    <a:gd name="T3" fmla="*/ 0 h 135"/>
                    <a:gd name="T4" fmla="*/ 0 w 17"/>
                    <a:gd name="T5" fmla="*/ 1 h 135"/>
                    <a:gd name="T6" fmla="*/ 0 w 17"/>
                    <a:gd name="T7" fmla="*/ 2 h 135"/>
                    <a:gd name="T8" fmla="*/ 0 w 17"/>
                    <a:gd name="T9" fmla="*/ 2 h 135"/>
                    <a:gd name="T10" fmla="*/ 0 w 17"/>
                    <a:gd name="T11" fmla="*/ 3 h 135"/>
                    <a:gd name="T12" fmla="*/ 0 w 17"/>
                    <a:gd name="T13" fmla="*/ 4 h 135"/>
                    <a:gd name="T14" fmla="*/ 0 w 17"/>
                    <a:gd name="T15" fmla="*/ 130 h 135"/>
                    <a:gd name="T16" fmla="*/ 0 w 17"/>
                    <a:gd name="T17" fmla="*/ 130 h 135"/>
                    <a:gd name="T18" fmla="*/ 0 w 17"/>
                    <a:gd name="T19" fmla="*/ 131 h 135"/>
                    <a:gd name="T20" fmla="*/ 0 w 17"/>
                    <a:gd name="T21" fmla="*/ 132 h 135"/>
                    <a:gd name="T22" fmla="*/ 0 w 17"/>
                    <a:gd name="T23" fmla="*/ 132 h 135"/>
                    <a:gd name="T24" fmla="*/ 1 w 17"/>
                    <a:gd name="T25" fmla="*/ 133 h 135"/>
                    <a:gd name="T26" fmla="*/ 2 w 17"/>
                    <a:gd name="T27" fmla="*/ 133 h 135"/>
                    <a:gd name="T28" fmla="*/ 2 w 17"/>
                    <a:gd name="T29" fmla="*/ 134 h 135"/>
                    <a:gd name="T30" fmla="*/ 3 w 17"/>
                    <a:gd name="T31" fmla="*/ 134 h 135"/>
                    <a:gd name="T32" fmla="*/ 16 w 17"/>
                    <a:gd name="T33" fmla="*/ 127 h 135"/>
                    <a:gd name="T34" fmla="*/ 15 w 17"/>
                    <a:gd name="T35" fmla="*/ 126 h 135"/>
                    <a:gd name="T36" fmla="*/ 15 w 17"/>
                    <a:gd name="T37" fmla="*/ 126 h 135"/>
                    <a:gd name="T38" fmla="*/ 14 w 17"/>
                    <a:gd name="T39" fmla="*/ 126 h 135"/>
                    <a:gd name="T40" fmla="*/ 14 w 17"/>
                    <a:gd name="T41" fmla="*/ 125 h 135"/>
                    <a:gd name="T42" fmla="*/ 13 w 17"/>
                    <a:gd name="T43" fmla="*/ 124 h 135"/>
                    <a:gd name="T44" fmla="*/ 13 w 17"/>
                    <a:gd name="T45" fmla="*/ 124 h 135"/>
                    <a:gd name="T46" fmla="*/ 13 w 17"/>
                    <a:gd name="T47" fmla="*/ 10 h 135"/>
                    <a:gd name="T48" fmla="*/ 13 w 17"/>
                    <a:gd name="T49" fmla="*/ 9 h 135"/>
                    <a:gd name="T50" fmla="*/ 13 w 17"/>
                    <a:gd name="T51" fmla="*/ 8 h 135"/>
                    <a:gd name="T52" fmla="*/ 14 w 17"/>
                    <a:gd name="T53" fmla="*/ 8 h 135"/>
                    <a:gd name="T54" fmla="*/ 15 w 17"/>
                    <a:gd name="T55" fmla="*/ 7 h 135"/>
                    <a:gd name="T56" fmla="*/ 15 w 17"/>
                    <a:gd name="T57" fmla="*/ 6 h 135"/>
                    <a:gd name="T58" fmla="*/ 2 w 17"/>
                    <a:gd name="T59" fmla="*/ 0 h 135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w 17"/>
                    <a:gd name="T91" fmla="*/ 0 h 135"/>
                    <a:gd name="T92" fmla="*/ 17 w 17"/>
                    <a:gd name="T93" fmla="*/ 135 h 135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T90" t="T91" r="T92" b="T93"/>
                  <a:pathLst>
                    <a:path w="17" h="135">
                      <a:moveTo>
                        <a:pt x="2" y="0"/>
                      </a:moveTo>
                      <a:lnTo>
                        <a:pt x="1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0" y="130"/>
                      </a:lnTo>
                      <a:lnTo>
                        <a:pt x="0" y="131"/>
                      </a:lnTo>
                      <a:lnTo>
                        <a:pt x="0" y="132"/>
                      </a:lnTo>
                      <a:lnTo>
                        <a:pt x="1" y="133"/>
                      </a:lnTo>
                      <a:lnTo>
                        <a:pt x="2" y="133"/>
                      </a:lnTo>
                      <a:lnTo>
                        <a:pt x="2" y="134"/>
                      </a:lnTo>
                      <a:lnTo>
                        <a:pt x="3" y="134"/>
                      </a:lnTo>
                      <a:lnTo>
                        <a:pt x="16" y="127"/>
                      </a:lnTo>
                      <a:lnTo>
                        <a:pt x="15" y="126"/>
                      </a:lnTo>
                      <a:lnTo>
                        <a:pt x="14" y="126"/>
                      </a:lnTo>
                      <a:lnTo>
                        <a:pt x="14" y="125"/>
                      </a:lnTo>
                      <a:lnTo>
                        <a:pt x="13" y="124"/>
                      </a:lnTo>
                      <a:lnTo>
                        <a:pt x="13" y="10"/>
                      </a:lnTo>
                      <a:lnTo>
                        <a:pt x="13" y="9"/>
                      </a:lnTo>
                      <a:lnTo>
                        <a:pt x="13" y="8"/>
                      </a:lnTo>
                      <a:lnTo>
                        <a:pt x="14" y="8"/>
                      </a:lnTo>
                      <a:lnTo>
                        <a:pt x="15" y="7"/>
                      </a:lnTo>
                      <a:lnTo>
                        <a:pt x="15" y="6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84" name="Freeform 1431"/>
                <p:cNvSpPr>
                  <a:spLocks/>
                </p:cNvSpPr>
                <p:nvPr/>
              </p:nvSpPr>
              <p:spPr bwMode="auto">
                <a:xfrm>
                  <a:off x="3872" y="1300"/>
                  <a:ext cx="155" cy="136"/>
                </a:xfrm>
                <a:custGeom>
                  <a:avLst/>
                  <a:gdLst>
                    <a:gd name="T0" fmla="*/ 0 w 155"/>
                    <a:gd name="T1" fmla="*/ 133 h 136"/>
                    <a:gd name="T2" fmla="*/ 0 w 155"/>
                    <a:gd name="T3" fmla="*/ 134 h 136"/>
                    <a:gd name="T4" fmla="*/ 0 w 155"/>
                    <a:gd name="T5" fmla="*/ 134 h 136"/>
                    <a:gd name="T6" fmla="*/ 1 w 155"/>
                    <a:gd name="T7" fmla="*/ 134 h 136"/>
                    <a:gd name="T8" fmla="*/ 1 w 155"/>
                    <a:gd name="T9" fmla="*/ 134 h 136"/>
                    <a:gd name="T10" fmla="*/ 2 w 155"/>
                    <a:gd name="T11" fmla="*/ 135 h 136"/>
                    <a:gd name="T12" fmla="*/ 2 w 155"/>
                    <a:gd name="T13" fmla="*/ 135 h 136"/>
                    <a:gd name="T14" fmla="*/ 3 w 155"/>
                    <a:gd name="T15" fmla="*/ 135 h 136"/>
                    <a:gd name="T16" fmla="*/ 148 w 155"/>
                    <a:gd name="T17" fmla="*/ 135 h 136"/>
                    <a:gd name="T18" fmla="*/ 150 w 155"/>
                    <a:gd name="T19" fmla="*/ 134 h 136"/>
                    <a:gd name="T20" fmla="*/ 151 w 155"/>
                    <a:gd name="T21" fmla="*/ 134 h 136"/>
                    <a:gd name="T22" fmla="*/ 151 w 155"/>
                    <a:gd name="T23" fmla="*/ 133 h 136"/>
                    <a:gd name="T24" fmla="*/ 152 w 155"/>
                    <a:gd name="T25" fmla="*/ 133 h 136"/>
                    <a:gd name="T26" fmla="*/ 152 w 155"/>
                    <a:gd name="T27" fmla="*/ 133 h 136"/>
                    <a:gd name="T28" fmla="*/ 153 w 155"/>
                    <a:gd name="T29" fmla="*/ 132 h 136"/>
                    <a:gd name="T30" fmla="*/ 153 w 155"/>
                    <a:gd name="T31" fmla="*/ 131 h 136"/>
                    <a:gd name="T32" fmla="*/ 154 w 155"/>
                    <a:gd name="T33" fmla="*/ 131 h 136"/>
                    <a:gd name="T34" fmla="*/ 154 w 155"/>
                    <a:gd name="T35" fmla="*/ 129 h 136"/>
                    <a:gd name="T36" fmla="*/ 154 w 155"/>
                    <a:gd name="T37" fmla="*/ 129 h 136"/>
                    <a:gd name="T38" fmla="*/ 154 w 155"/>
                    <a:gd name="T39" fmla="*/ 3 h 136"/>
                    <a:gd name="T40" fmla="*/ 154 w 155"/>
                    <a:gd name="T41" fmla="*/ 2 h 136"/>
                    <a:gd name="T42" fmla="*/ 154 w 155"/>
                    <a:gd name="T43" fmla="*/ 1 h 136"/>
                    <a:gd name="T44" fmla="*/ 154 w 155"/>
                    <a:gd name="T45" fmla="*/ 1 h 136"/>
                    <a:gd name="T46" fmla="*/ 153 w 155"/>
                    <a:gd name="T47" fmla="*/ 1 h 136"/>
                    <a:gd name="T48" fmla="*/ 153 w 155"/>
                    <a:gd name="T49" fmla="*/ 0 h 136"/>
                    <a:gd name="T50" fmla="*/ 153 w 155"/>
                    <a:gd name="T51" fmla="*/ 0 h 136"/>
                    <a:gd name="T52" fmla="*/ 145 w 155"/>
                    <a:gd name="T53" fmla="*/ 5 h 136"/>
                    <a:gd name="T54" fmla="*/ 145 w 155"/>
                    <a:gd name="T55" fmla="*/ 5 h 136"/>
                    <a:gd name="T56" fmla="*/ 146 w 155"/>
                    <a:gd name="T57" fmla="*/ 6 h 136"/>
                    <a:gd name="T58" fmla="*/ 146 w 155"/>
                    <a:gd name="T59" fmla="*/ 7 h 136"/>
                    <a:gd name="T60" fmla="*/ 146 w 155"/>
                    <a:gd name="T61" fmla="*/ 7 h 136"/>
                    <a:gd name="T62" fmla="*/ 146 w 155"/>
                    <a:gd name="T63" fmla="*/ 7 h 136"/>
                    <a:gd name="T64" fmla="*/ 146 w 155"/>
                    <a:gd name="T65" fmla="*/ 8 h 136"/>
                    <a:gd name="T66" fmla="*/ 146 w 155"/>
                    <a:gd name="T67" fmla="*/ 9 h 136"/>
                    <a:gd name="T68" fmla="*/ 146 w 155"/>
                    <a:gd name="T69" fmla="*/ 9 h 136"/>
                    <a:gd name="T70" fmla="*/ 146 w 155"/>
                    <a:gd name="T71" fmla="*/ 123 h 136"/>
                    <a:gd name="T72" fmla="*/ 146 w 155"/>
                    <a:gd name="T73" fmla="*/ 123 h 136"/>
                    <a:gd name="T74" fmla="*/ 146 w 155"/>
                    <a:gd name="T75" fmla="*/ 124 h 136"/>
                    <a:gd name="T76" fmla="*/ 146 w 155"/>
                    <a:gd name="T77" fmla="*/ 125 h 136"/>
                    <a:gd name="T78" fmla="*/ 146 w 155"/>
                    <a:gd name="T79" fmla="*/ 125 h 136"/>
                    <a:gd name="T80" fmla="*/ 145 w 155"/>
                    <a:gd name="T81" fmla="*/ 126 h 136"/>
                    <a:gd name="T82" fmla="*/ 145 w 155"/>
                    <a:gd name="T83" fmla="*/ 127 h 136"/>
                    <a:gd name="T84" fmla="*/ 144 w 155"/>
                    <a:gd name="T85" fmla="*/ 127 h 136"/>
                    <a:gd name="T86" fmla="*/ 143 w 155"/>
                    <a:gd name="T87" fmla="*/ 127 h 136"/>
                    <a:gd name="T88" fmla="*/ 143 w 155"/>
                    <a:gd name="T89" fmla="*/ 128 h 136"/>
                    <a:gd name="T90" fmla="*/ 142 w 155"/>
                    <a:gd name="T91" fmla="*/ 128 h 136"/>
                    <a:gd name="T92" fmla="*/ 142 w 155"/>
                    <a:gd name="T93" fmla="*/ 128 h 136"/>
                    <a:gd name="T94" fmla="*/ 9 w 155"/>
                    <a:gd name="T95" fmla="*/ 128 h 136"/>
                    <a:gd name="T96" fmla="*/ 8 w 155"/>
                    <a:gd name="T97" fmla="*/ 128 h 136"/>
                    <a:gd name="T98" fmla="*/ 8 w 155"/>
                    <a:gd name="T99" fmla="*/ 128 h 136"/>
                    <a:gd name="T100" fmla="*/ 8 w 155"/>
                    <a:gd name="T101" fmla="*/ 127 h 136"/>
                    <a:gd name="T102" fmla="*/ 7 w 155"/>
                    <a:gd name="T103" fmla="*/ 127 h 136"/>
                    <a:gd name="T104" fmla="*/ 7 w 155"/>
                    <a:gd name="T105" fmla="*/ 127 h 136"/>
                    <a:gd name="T106" fmla="*/ 6 w 155"/>
                    <a:gd name="T107" fmla="*/ 127 h 136"/>
                    <a:gd name="T108" fmla="*/ 6 w 155"/>
                    <a:gd name="T109" fmla="*/ 127 h 136"/>
                    <a:gd name="T110" fmla="*/ 0 w 155"/>
                    <a:gd name="T111" fmla="*/ 133 h 1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55"/>
                    <a:gd name="T169" fmla="*/ 0 h 136"/>
                    <a:gd name="T170" fmla="*/ 155 w 155"/>
                    <a:gd name="T171" fmla="*/ 136 h 136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55" h="136">
                      <a:moveTo>
                        <a:pt x="0" y="133"/>
                      </a:moveTo>
                      <a:lnTo>
                        <a:pt x="0" y="134"/>
                      </a:lnTo>
                      <a:lnTo>
                        <a:pt x="1" y="134"/>
                      </a:lnTo>
                      <a:lnTo>
                        <a:pt x="2" y="135"/>
                      </a:lnTo>
                      <a:lnTo>
                        <a:pt x="3" y="135"/>
                      </a:lnTo>
                      <a:lnTo>
                        <a:pt x="148" y="135"/>
                      </a:lnTo>
                      <a:lnTo>
                        <a:pt x="150" y="134"/>
                      </a:lnTo>
                      <a:lnTo>
                        <a:pt x="151" y="134"/>
                      </a:lnTo>
                      <a:lnTo>
                        <a:pt x="151" y="133"/>
                      </a:lnTo>
                      <a:lnTo>
                        <a:pt x="152" y="133"/>
                      </a:lnTo>
                      <a:lnTo>
                        <a:pt x="153" y="132"/>
                      </a:lnTo>
                      <a:lnTo>
                        <a:pt x="153" y="131"/>
                      </a:lnTo>
                      <a:lnTo>
                        <a:pt x="154" y="131"/>
                      </a:lnTo>
                      <a:lnTo>
                        <a:pt x="154" y="129"/>
                      </a:lnTo>
                      <a:lnTo>
                        <a:pt x="154" y="3"/>
                      </a:lnTo>
                      <a:lnTo>
                        <a:pt x="154" y="2"/>
                      </a:lnTo>
                      <a:lnTo>
                        <a:pt x="154" y="1"/>
                      </a:lnTo>
                      <a:lnTo>
                        <a:pt x="153" y="1"/>
                      </a:lnTo>
                      <a:lnTo>
                        <a:pt x="153" y="0"/>
                      </a:lnTo>
                      <a:lnTo>
                        <a:pt x="145" y="5"/>
                      </a:lnTo>
                      <a:lnTo>
                        <a:pt x="146" y="6"/>
                      </a:lnTo>
                      <a:lnTo>
                        <a:pt x="146" y="7"/>
                      </a:lnTo>
                      <a:lnTo>
                        <a:pt x="146" y="8"/>
                      </a:lnTo>
                      <a:lnTo>
                        <a:pt x="146" y="9"/>
                      </a:lnTo>
                      <a:lnTo>
                        <a:pt x="146" y="123"/>
                      </a:lnTo>
                      <a:lnTo>
                        <a:pt x="146" y="124"/>
                      </a:lnTo>
                      <a:lnTo>
                        <a:pt x="146" y="125"/>
                      </a:lnTo>
                      <a:lnTo>
                        <a:pt x="145" y="126"/>
                      </a:lnTo>
                      <a:lnTo>
                        <a:pt x="145" y="127"/>
                      </a:lnTo>
                      <a:lnTo>
                        <a:pt x="144" y="127"/>
                      </a:lnTo>
                      <a:lnTo>
                        <a:pt x="143" y="127"/>
                      </a:lnTo>
                      <a:lnTo>
                        <a:pt x="143" y="128"/>
                      </a:lnTo>
                      <a:lnTo>
                        <a:pt x="142" y="128"/>
                      </a:lnTo>
                      <a:lnTo>
                        <a:pt x="9" y="128"/>
                      </a:lnTo>
                      <a:lnTo>
                        <a:pt x="8" y="128"/>
                      </a:lnTo>
                      <a:lnTo>
                        <a:pt x="8" y="127"/>
                      </a:lnTo>
                      <a:lnTo>
                        <a:pt x="7" y="127"/>
                      </a:lnTo>
                      <a:lnTo>
                        <a:pt x="6" y="127"/>
                      </a:lnTo>
                      <a:lnTo>
                        <a:pt x="0" y="133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85" name="Freeform 1432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16 h 17"/>
                    <a:gd name="T2" fmla="*/ 151 w 153"/>
                    <a:gd name="T3" fmla="*/ 16 h 17"/>
                    <a:gd name="T4" fmla="*/ 151 w 153"/>
                    <a:gd name="T5" fmla="*/ 10 h 17"/>
                    <a:gd name="T6" fmla="*/ 150 w 153"/>
                    <a:gd name="T7" fmla="*/ 10 h 17"/>
                    <a:gd name="T8" fmla="*/ 150 w 153"/>
                    <a:gd name="T9" fmla="*/ 10 h 17"/>
                    <a:gd name="T10" fmla="*/ 150 w 153"/>
                    <a:gd name="T11" fmla="*/ 5 h 17"/>
                    <a:gd name="T12" fmla="*/ 149 w 153"/>
                    <a:gd name="T13" fmla="*/ 5 h 17"/>
                    <a:gd name="T14" fmla="*/ 149 w 153"/>
                    <a:gd name="T15" fmla="*/ 5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5 h 17"/>
                    <a:gd name="T32" fmla="*/ 1 w 153"/>
                    <a:gd name="T33" fmla="*/ 5 h 17"/>
                    <a:gd name="T34" fmla="*/ 0 w 153"/>
                    <a:gd name="T35" fmla="*/ 10 h 17"/>
                    <a:gd name="T36" fmla="*/ 0 w 153"/>
                    <a:gd name="T37" fmla="*/ 10 h 17"/>
                    <a:gd name="T38" fmla="*/ 0 w 153"/>
                    <a:gd name="T39" fmla="*/ 16 h 17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153"/>
                    <a:gd name="T61" fmla="*/ 0 h 17"/>
                    <a:gd name="T62" fmla="*/ 153 w 153"/>
                    <a:gd name="T63" fmla="*/ 17 h 17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153" h="17">
                      <a:moveTo>
                        <a:pt x="152" y="16"/>
                      </a:moveTo>
                      <a:lnTo>
                        <a:pt x="151" y="16"/>
                      </a:lnTo>
                      <a:lnTo>
                        <a:pt x="151" y="10"/>
                      </a:lnTo>
                      <a:lnTo>
                        <a:pt x="150" y="10"/>
                      </a:lnTo>
                      <a:lnTo>
                        <a:pt x="150" y="5"/>
                      </a:lnTo>
                      <a:lnTo>
                        <a:pt x="149" y="5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5"/>
                      </a:lnTo>
                      <a:lnTo>
                        <a:pt x="0" y="1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86" name="Freeform 1433"/>
                <p:cNvSpPr>
                  <a:spLocks/>
                </p:cNvSpPr>
                <p:nvPr/>
              </p:nvSpPr>
              <p:spPr bwMode="auto">
                <a:xfrm>
                  <a:off x="3843" y="1489"/>
                  <a:ext cx="215" cy="72"/>
                </a:xfrm>
                <a:custGeom>
                  <a:avLst/>
                  <a:gdLst>
                    <a:gd name="T0" fmla="*/ 0 w 215"/>
                    <a:gd name="T1" fmla="*/ 71 h 72"/>
                    <a:gd name="T2" fmla="*/ 0 w 215"/>
                    <a:gd name="T3" fmla="*/ 0 h 72"/>
                    <a:gd name="T4" fmla="*/ 214 w 215"/>
                    <a:gd name="T5" fmla="*/ 0 h 72"/>
                    <a:gd name="T6" fmla="*/ 214 w 215"/>
                    <a:gd name="T7" fmla="*/ 71 h 72"/>
                    <a:gd name="T8" fmla="*/ 0 w 215"/>
                    <a:gd name="T9" fmla="*/ 71 h 7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15"/>
                    <a:gd name="T16" fmla="*/ 0 h 72"/>
                    <a:gd name="T17" fmla="*/ 215 w 215"/>
                    <a:gd name="T18" fmla="*/ 72 h 7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15" h="72">
                      <a:moveTo>
                        <a:pt x="0" y="71"/>
                      </a:moveTo>
                      <a:lnTo>
                        <a:pt x="0" y="0"/>
                      </a:lnTo>
                      <a:lnTo>
                        <a:pt x="214" y="0"/>
                      </a:lnTo>
                      <a:lnTo>
                        <a:pt x="214" y="71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87" name="Freeform 1434"/>
                <p:cNvSpPr>
                  <a:spLocks/>
                </p:cNvSpPr>
                <p:nvPr/>
              </p:nvSpPr>
              <p:spPr bwMode="auto">
                <a:xfrm>
                  <a:off x="3841" y="1489"/>
                  <a:ext cx="219" cy="23"/>
                </a:xfrm>
                <a:custGeom>
                  <a:avLst/>
                  <a:gdLst>
                    <a:gd name="T0" fmla="*/ 79 w 219"/>
                    <a:gd name="T1" fmla="*/ 0 h 23"/>
                    <a:gd name="T2" fmla="*/ 0 w 219"/>
                    <a:gd name="T3" fmla="*/ 0 h 23"/>
                    <a:gd name="T4" fmla="*/ 0 w 219"/>
                    <a:gd name="T5" fmla="*/ 22 h 23"/>
                    <a:gd name="T6" fmla="*/ 218 w 219"/>
                    <a:gd name="T7" fmla="*/ 22 h 23"/>
                    <a:gd name="T8" fmla="*/ 215 w 219"/>
                    <a:gd name="T9" fmla="*/ 0 h 23"/>
                    <a:gd name="T10" fmla="*/ 137 w 219"/>
                    <a:gd name="T11" fmla="*/ 0 h 23"/>
                    <a:gd name="T12" fmla="*/ 79 w 219"/>
                    <a:gd name="T13" fmla="*/ 0 h 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19"/>
                    <a:gd name="T22" fmla="*/ 0 h 23"/>
                    <a:gd name="T23" fmla="*/ 219 w 219"/>
                    <a:gd name="T24" fmla="*/ 23 h 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9" h="23">
                      <a:moveTo>
                        <a:pt x="79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218" y="22"/>
                      </a:lnTo>
                      <a:lnTo>
                        <a:pt x="215" y="0"/>
                      </a:lnTo>
                      <a:lnTo>
                        <a:pt x="137" y="0"/>
                      </a:lnTo>
                      <a:lnTo>
                        <a:pt x="79" y="0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88" name="Freeform 1435"/>
                <p:cNvSpPr>
                  <a:spLocks/>
                </p:cNvSpPr>
                <p:nvPr/>
              </p:nvSpPr>
              <p:spPr bwMode="auto">
                <a:xfrm>
                  <a:off x="3991" y="1495"/>
                  <a:ext cx="56" cy="17"/>
                </a:xfrm>
                <a:custGeom>
                  <a:avLst/>
                  <a:gdLst>
                    <a:gd name="T0" fmla="*/ 0 w 56"/>
                    <a:gd name="T1" fmla="*/ 6 h 17"/>
                    <a:gd name="T2" fmla="*/ 18 w 56"/>
                    <a:gd name="T3" fmla="*/ 6 h 17"/>
                    <a:gd name="T4" fmla="*/ 18 w 56"/>
                    <a:gd name="T5" fmla="*/ 0 h 17"/>
                    <a:gd name="T6" fmla="*/ 35 w 56"/>
                    <a:gd name="T7" fmla="*/ 0 h 17"/>
                    <a:gd name="T8" fmla="*/ 35 w 56"/>
                    <a:gd name="T9" fmla="*/ 6 h 17"/>
                    <a:gd name="T10" fmla="*/ 55 w 56"/>
                    <a:gd name="T11" fmla="*/ 6 h 17"/>
                    <a:gd name="T12" fmla="*/ 55 w 56"/>
                    <a:gd name="T13" fmla="*/ 10 h 17"/>
                    <a:gd name="T14" fmla="*/ 35 w 56"/>
                    <a:gd name="T15" fmla="*/ 10 h 17"/>
                    <a:gd name="T16" fmla="*/ 35 w 56"/>
                    <a:gd name="T17" fmla="*/ 16 h 17"/>
                    <a:gd name="T18" fmla="*/ 18 w 56"/>
                    <a:gd name="T19" fmla="*/ 16 h 17"/>
                    <a:gd name="T20" fmla="*/ 18 w 56"/>
                    <a:gd name="T21" fmla="*/ 10 h 17"/>
                    <a:gd name="T22" fmla="*/ 0 w 56"/>
                    <a:gd name="T23" fmla="*/ 10 h 17"/>
                    <a:gd name="T24" fmla="*/ 0 w 56"/>
                    <a:gd name="T25" fmla="*/ 6 h 17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56"/>
                    <a:gd name="T40" fmla="*/ 0 h 17"/>
                    <a:gd name="T41" fmla="*/ 56 w 56"/>
                    <a:gd name="T42" fmla="*/ 17 h 17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56" h="17">
                      <a:moveTo>
                        <a:pt x="0" y="6"/>
                      </a:moveTo>
                      <a:lnTo>
                        <a:pt x="18" y="6"/>
                      </a:lnTo>
                      <a:lnTo>
                        <a:pt x="18" y="0"/>
                      </a:lnTo>
                      <a:lnTo>
                        <a:pt x="35" y="0"/>
                      </a:lnTo>
                      <a:lnTo>
                        <a:pt x="35" y="6"/>
                      </a:lnTo>
                      <a:lnTo>
                        <a:pt x="55" y="6"/>
                      </a:lnTo>
                      <a:lnTo>
                        <a:pt x="55" y="10"/>
                      </a:lnTo>
                      <a:lnTo>
                        <a:pt x="35" y="10"/>
                      </a:lnTo>
                      <a:lnTo>
                        <a:pt x="35" y="16"/>
                      </a:lnTo>
                      <a:lnTo>
                        <a:pt x="18" y="16"/>
                      </a:lnTo>
                      <a:lnTo>
                        <a:pt x="18" y="10"/>
                      </a:lnTo>
                      <a:lnTo>
                        <a:pt x="0" y="10"/>
                      </a:lnTo>
                      <a:lnTo>
                        <a:pt x="0" y="6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89" name="Freeform 1436"/>
                <p:cNvSpPr>
                  <a:spLocks/>
                </p:cNvSpPr>
                <p:nvPr/>
              </p:nvSpPr>
              <p:spPr bwMode="auto">
                <a:xfrm>
                  <a:off x="3991" y="1501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0 h 17"/>
                    <a:gd name="T4" fmla="*/ 16 w 17"/>
                    <a:gd name="T5" fmla="*/ 5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17"/>
                    <a:gd name="T14" fmla="*/ 17 w 17"/>
                    <a:gd name="T15" fmla="*/ 17 h 1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17">
                      <a:moveTo>
                        <a:pt x="0" y="16"/>
                      </a:moveTo>
                      <a:lnTo>
                        <a:pt x="16" y="10"/>
                      </a:lnTo>
                      <a:lnTo>
                        <a:pt x="16" y="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90" name="Freeform 1437"/>
                <p:cNvSpPr>
                  <a:spLocks/>
                </p:cNvSpPr>
                <p:nvPr/>
              </p:nvSpPr>
              <p:spPr bwMode="auto">
                <a:xfrm>
                  <a:off x="4010" y="149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91" name="Freeform 1438"/>
                <p:cNvSpPr>
                  <a:spLocks/>
                </p:cNvSpPr>
                <p:nvPr/>
              </p:nvSpPr>
              <p:spPr bwMode="auto">
                <a:xfrm>
                  <a:off x="4046" y="1504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92" name="Freeform 1439"/>
                <p:cNvSpPr>
                  <a:spLocks/>
                </p:cNvSpPr>
                <p:nvPr/>
              </p:nvSpPr>
              <p:spPr bwMode="auto">
                <a:xfrm>
                  <a:off x="4027" y="1495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0 h 17"/>
                    <a:gd name="T4" fmla="*/ 0 w 17"/>
                    <a:gd name="T5" fmla="*/ 16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16"/>
                      </a:moveTo>
                      <a:lnTo>
                        <a:pt x="16" y="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93" name="Freeform 1440"/>
                <p:cNvSpPr>
                  <a:spLocks/>
                </p:cNvSpPr>
                <p:nvPr/>
              </p:nvSpPr>
              <p:spPr bwMode="auto">
                <a:xfrm>
                  <a:off x="4011" y="1499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6 h 17"/>
                    <a:gd name="T4" fmla="*/ 16 w 17"/>
                    <a:gd name="T5" fmla="*/ 0 h 17"/>
                    <a:gd name="T6" fmla="*/ 0 w 17"/>
                    <a:gd name="T7" fmla="*/ 0 h 17"/>
                    <a:gd name="T8" fmla="*/ 0 w 17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16"/>
                      </a:moveTo>
                      <a:lnTo>
                        <a:pt x="16" y="16"/>
                      </a:lnTo>
                      <a:lnTo>
                        <a:pt x="16" y="0"/>
                      </a:lnTo>
                      <a:lnTo>
                        <a:pt x="0" y="0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F9FA2"/>
                </a:solidFill>
                <a:ln w="12700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94" name="Freeform 1441"/>
                <p:cNvSpPr>
                  <a:spLocks/>
                </p:cNvSpPr>
                <p:nvPr/>
              </p:nvSpPr>
              <p:spPr bwMode="auto">
                <a:xfrm>
                  <a:off x="3993" y="1502"/>
                  <a:ext cx="54" cy="17"/>
                </a:xfrm>
                <a:custGeom>
                  <a:avLst/>
                  <a:gdLst>
                    <a:gd name="T0" fmla="*/ 0 w 54"/>
                    <a:gd name="T1" fmla="*/ 0 h 17"/>
                    <a:gd name="T2" fmla="*/ 53 w 54"/>
                    <a:gd name="T3" fmla="*/ 0 h 17"/>
                    <a:gd name="T4" fmla="*/ 53 w 54"/>
                    <a:gd name="T5" fmla="*/ 16 h 17"/>
                    <a:gd name="T6" fmla="*/ 0 w 54"/>
                    <a:gd name="T7" fmla="*/ 16 h 17"/>
                    <a:gd name="T8" fmla="*/ 0 w 54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4"/>
                    <a:gd name="T16" fmla="*/ 0 h 17"/>
                    <a:gd name="T17" fmla="*/ 54 w 5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4" h="17">
                      <a:moveTo>
                        <a:pt x="0" y="0"/>
                      </a:moveTo>
                      <a:lnTo>
                        <a:pt x="53" y="0"/>
                      </a:lnTo>
                      <a:lnTo>
                        <a:pt x="53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95" name="Freeform 1442"/>
                <p:cNvSpPr>
                  <a:spLocks/>
                </p:cNvSpPr>
                <p:nvPr/>
              </p:nvSpPr>
              <p:spPr bwMode="auto">
                <a:xfrm>
                  <a:off x="4010" y="1496"/>
                  <a:ext cx="19" cy="17"/>
                </a:xfrm>
                <a:custGeom>
                  <a:avLst/>
                  <a:gdLst>
                    <a:gd name="T0" fmla="*/ 18 w 19"/>
                    <a:gd name="T1" fmla="*/ 12 h 17"/>
                    <a:gd name="T2" fmla="*/ 17 w 19"/>
                    <a:gd name="T3" fmla="*/ 16 h 17"/>
                    <a:gd name="T4" fmla="*/ 17 w 19"/>
                    <a:gd name="T5" fmla="*/ 0 h 17"/>
                    <a:gd name="T6" fmla="*/ 0 w 19"/>
                    <a:gd name="T7" fmla="*/ 0 h 17"/>
                    <a:gd name="T8" fmla="*/ 0 w 19"/>
                    <a:gd name="T9" fmla="*/ 16 h 17"/>
                    <a:gd name="T10" fmla="*/ 0 w 19"/>
                    <a:gd name="T11" fmla="*/ 12 h 1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"/>
                    <a:gd name="T19" fmla="*/ 0 h 17"/>
                    <a:gd name="T20" fmla="*/ 19 w 19"/>
                    <a:gd name="T21" fmla="*/ 17 h 1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" h="17">
                      <a:moveTo>
                        <a:pt x="18" y="12"/>
                      </a:moveTo>
                      <a:lnTo>
                        <a:pt x="17" y="16"/>
                      </a:ln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6"/>
                      </a:lnTo>
                      <a:lnTo>
                        <a:pt x="0" y="12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96" name="Freeform 1443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16 w 17"/>
                    <a:gd name="T1" fmla="*/ 0 h 17"/>
                    <a:gd name="T2" fmla="*/ 16 w 17"/>
                    <a:gd name="T3" fmla="*/ 16 h 17"/>
                    <a:gd name="T4" fmla="*/ 0 w 17"/>
                    <a:gd name="T5" fmla="*/ 16 h 17"/>
                    <a:gd name="T6" fmla="*/ 0 w 17"/>
                    <a:gd name="T7" fmla="*/ 0 h 17"/>
                    <a:gd name="T8" fmla="*/ 16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16" y="0"/>
                      </a:move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  <a:lnTo>
                        <a:pt x="16" y="0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97" name="Freeform 1444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98" name="Freeform 1445"/>
                <p:cNvSpPr>
                  <a:spLocks/>
                </p:cNvSpPr>
                <p:nvPr/>
              </p:nvSpPr>
              <p:spPr bwMode="auto">
                <a:xfrm>
                  <a:off x="3930" y="1497"/>
                  <a:ext cx="44" cy="17"/>
                </a:xfrm>
                <a:custGeom>
                  <a:avLst/>
                  <a:gdLst>
                    <a:gd name="T0" fmla="*/ 14 w 44"/>
                    <a:gd name="T1" fmla="*/ 16 h 17"/>
                    <a:gd name="T2" fmla="*/ 0 w 44"/>
                    <a:gd name="T3" fmla="*/ 16 h 17"/>
                    <a:gd name="T4" fmla="*/ 0 w 44"/>
                    <a:gd name="T5" fmla="*/ 8 h 17"/>
                    <a:gd name="T6" fmla="*/ 14 w 44"/>
                    <a:gd name="T7" fmla="*/ 8 h 17"/>
                    <a:gd name="T8" fmla="*/ 14 w 44"/>
                    <a:gd name="T9" fmla="*/ 0 h 17"/>
                    <a:gd name="T10" fmla="*/ 28 w 44"/>
                    <a:gd name="T11" fmla="*/ 0 h 17"/>
                    <a:gd name="T12" fmla="*/ 28 w 44"/>
                    <a:gd name="T13" fmla="*/ 8 h 17"/>
                    <a:gd name="T14" fmla="*/ 43 w 44"/>
                    <a:gd name="T15" fmla="*/ 8 h 17"/>
                    <a:gd name="T16" fmla="*/ 43 w 44"/>
                    <a:gd name="T17" fmla="*/ 16 h 17"/>
                    <a:gd name="T18" fmla="*/ 28 w 44"/>
                    <a:gd name="T19" fmla="*/ 16 h 17"/>
                    <a:gd name="T20" fmla="*/ 14 w 44"/>
                    <a:gd name="T21" fmla="*/ 16 h 1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44"/>
                    <a:gd name="T34" fmla="*/ 0 h 17"/>
                    <a:gd name="T35" fmla="*/ 44 w 44"/>
                    <a:gd name="T36" fmla="*/ 17 h 17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44" h="17">
                      <a:moveTo>
                        <a:pt x="14" y="16"/>
                      </a:moveTo>
                      <a:lnTo>
                        <a:pt x="0" y="16"/>
                      </a:lnTo>
                      <a:lnTo>
                        <a:pt x="0" y="8"/>
                      </a:lnTo>
                      <a:lnTo>
                        <a:pt x="14" y="8"/>
                      </a:lnTo>
                      <a:lnTo>
                        <a:pt x="14" y="0"/>
                      </a:lnTo>
                      <a:lnTo>
                        <a:pt x="28" y="0"/>
                      </a:lnTo>
                      <a:lnTo>
                        <a:pt x="28" y="8"/>
                      </a:lnTo>
                      <a:lnTo>
                        <a:pt x="43" y="8"/>
                      </a:lnTo>
                      <a:lnTo>
                        <a:pt x="43" y="16"/>
                      </a:lnTo>
                      <a:lnTo>
                        <a:pt x="28" y="16"/>
                      </a:lnTo>
                      <a:lnTo>
                        <a:pt x="14" y="16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99" name="Freeform 1446"/>
                <p:cNvSpPr>
                  <a:spLocks/>
                </p:cNvSpPr>
                <p:nvPr/>
              </p:nvSpPr>
              <p:spPr bwMode="auto">
                <a:xfrm>
                  <a:off x="3945" y="1497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00" name="Freeform 1447"/>
                <p:cNvSpPr>
                  <a:spLocks/>
                </p:cNvSpPr>
                <p:nvPr/>
              </p:nvSpPr>
              <p:spPr bwMode="auto">
                <a:xfrm>
                  <a:off x="3897" y="1494"/>
                  <a:ext cx="20" cy="17"/>
                </a:xfrm>
                <a:custGeom>
                  <a:avLst/>
                  <a:gdLst>
                    <a:gd name="T0" fmla="*/ 5 w 20"/>
                    <a:gd name="T1" fmla="*/ 16 h 17"/>
                    <a:gd name="T2" fmla="*/ 3 w 20"/>
                    <a:gd name="T3" fmla="*/ 15 h 17"/>
                    <a:gd name="T4" fmla="*/ 2 w 20"/>
                    <a:gd name="T5" fmla="*/ 15 h 17"/>
                    <a:gd name="T6" fmla="*/ 1 w 20"/>
                    <a:gd name="T7" fmla="*/ 14 h 17"/>
                    <a:gd name="T8" fmla="*/ 1 w 20"/>
                    <a:gd name="T9" fmla="*/ 12 h 17"/>
                    <a:gd name="T10" fmla="*/ 0 w 20"/>
                    <a:gd name="T11" fmla="*/ 12 h 17"/>
                    <a:gd name="T12" fmla="*/ 0 w 20"/>
                    <a:gd name="T13" fmla="*/ 10 h 17"/>
                    <a:gd name="T14" fmla="*/ 0 w 20"/>
                    <a:gd name="T15" fmla="*/ 8 h 17"/>
                    <a:gd name="T16" fmla="*/ 0 w 20"/>
                    <a:gd name="T17" fmla="*/ 6 h 17"/>
                    <a:gd name="T18" fmla="*/ 0 w 20"/>
                    <a:gd name="T19" fmla="*/ 4 h 17"/>
                    <a:gd name="T20" fmla="*/ 0 w 20"/>
                    <a:gd name="T21" fmla="*/ 3 h 17"/>
                    <a:gd name="T22" fmla="*/ 1 w 20"/>
                    <a:gd name="T23" fmla="*/ 2 h 17"/>
                    <a:gd name="T24" fmla="*/ 2 w 20"/>
                    <a:gd name="T25" fmla="*/ 1 h 17"/>
                    <a:gd name="T26" fmla="*/ 3 w 20"/>
                    <a:gd name="T27" fmla="*/ 0 h 17"/>
                    <a:gd name="T28" fmla="*/ 4 w 20"/>
                    <a:gd name="T29" fmla="*/ 0 h 17"/>
                    <a:gd name="T30" fmla="*/ 5 w 20"/>
                    <a:gd name="T31" fmla="*/ 0 h 17"/>
                    <a:gd name="T32" fmla="*/ 12 w 20"/>
                    <a:gd name="T33" fmla="*/ 0 h 17"/>
                    <a:gd name="T34" fmla="*/ 13 w 20"/>
                    <a:gd name="T35" fmla="*/ 0 h 17"/>
                    <a:gd name="T36" fmla="*/ 15 w 20"/>
                    <a:gd name="T37" fmla="*/ 0 h 17"/>
                    <a:gd name="T38" fmla="*/ 16 w 20"/>
                    <a:gd name="T39" fmla="*/ 1 h 17"/>
                    <a:gd name="T40" fmla="*/ 17 w 20"/>
                    <a:gd name="T41" fmla="*/ 3 h 17"/>
                    <a:gd name="T42" fmla="*/ 17 w 20"/>
                    <a:gd name="T43" fmla="*/ 3 h 17"/>
                    <a:gd name="T44" fmla="*/ 18 w 20"/>
                    <a:gd name="T45" fmla="*/ 5 h 17"/>
                    <a:gd name="T46" fmla="*/ 18 w 20"/>
                    <a:gd name="T47" fmla="*/ 7 h 17"/>
                    <a:gd name="T48" fmla="*/ 18 w 20"/>
                    <a:gd name="T49" fmla="*/ 8 h 17"/>
                    <a:gd name="T50" fmla="*/ 18 w 20"/>
                    <a:gd name="T51" fmla="*/ 10 h 17"/>
                    <a:gd name="T52" fmla="*/ 17 w 20"/>
                    <a:gd name="T53" fmla="*/ 12 h 17"/>
                    <a:gd name="T54" fmla="*/ 16 w 20"/>
                    <a:gd name="T55" fmla="*/ 13 h 17"/>
                    <a:gd name="T56" fmla="*/ 15 w 20"/>
                    <a:gd name="T57" fmla="*/ 15 h 17"/>
                    <a:gd name="T58" fmla="*/ 13 w 20"/>
                    <a:gd name="T59" fmla="*/ 15 h 17"/>
                    <a:gd name="T60" fmla="*/ 13 w 20"/>
                    <a:gd name="T61" fmla="*/ 16 h 17"/>
                    <a:gd name="T62" fmla="*/ 12 w 20"/>
                    <a:gd name="T63" fmla="*/ 16 h 17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20"/>
                    <a:gd name="T97" fmla="*/ 0 h 17"/>
                    <a:gd name="T98" fmla="*/ 20 w 20"/>
                    <a:gd name="T99" fmla="*/ 17 h 17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20" h="17">
                      <a:moveTo>
                        <a:pt x="5" y="16"/>
                      </a:moveTo>
                      <a:lnTo>
                        <a:pt x="5" y="16"/>
                      </a:lnTo>
                      <a:lnTo>
                        <a:pt x="4" y="16"/>
                      </a:lnTo>
                      <a:lnTo>
                        <a:pt x="3" y="15"/>
                      </a:lnTo>
                      <a:lnTo>
                        <a:pt x="2" y="15"/>
                      </a:lnTo>
                      <a:lnTo>
                        <a:pt x="2" y="14"/>
                      </a:lnTo>
                      <a:lnTo>
                        <a:pt x="1" y="14"/>
                      </a:lnTo>
                      <a:lnTo>
                        <a:pt x="1" y="13"/>
                      </a:lnTo>
                      <a:lnTo>
                        <a:pt x="1" y="12"/>
                      </a:lnTo>
                      <a:lnTo>
                        <a:pt x="0" y="12"/>
                      </a:lnTo>
                      <a:lnTo>
                        <a:pt x="0" y="11"/>
                      </a:lnTo>
                      <a:lnTo>
                        <a:pt x="0" y="10"/>
                      </a:lnTo>
                      <a:lnTo>
                        <a:pt x="0" y="9"/>
                      </a:lnTo>
                      <a:lnTo>
                        <a:pt x="0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1" y="3"/>
                      </a:lnTo>
                      <a:lnTo>
                        <a:pt x="1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5" y="0"/>
                      </a:lnTo>
                      <a:lnTo>
                        <a:pt x="12" y="0"/>
                      </a:lnTo>
                      <a:lnTo>
                        <a:pt x="13" y="0"/>
                      </a:lnTo>
                      <a:lnTo>
                        <a:pt x="15" y="0"/>
                      </a:lnTo>
                      <a:lnTo>
                        <a:pt x="16" y="1"/>
                      </a:lnTo>
                      <a:lnTo>
                        <a:pt x="16" y="2"/>
                      </a:lnTo>
                      <a:lnTo>
                        <a:pt x="17" y="3"/>
                      </a:lnTo>
                      <a:lnTo>
                        <a:pt x="18" y="4"/>
                      </a:lnTo>
                      <a:lnTo>
                        <a:pt x="18" y="5"/>
                      </a:lnTo>
                      <a:lnTo>
                        <a:pt x="18" y="6"/>
                      </a:lnTo>
                      <a:lnTo>
                        <a:pt x="18" y="7"/>
                      </a:lnTo>
                      <a:lnTo>
                        <a:pt x="19" y="8"/>
                      </a:lnTo>
                      <a:lnTo>
                        <a:pt x="18" y="8"/>
                      </a:lnTo>
                      <a:lnTo>
                        <a:pt x="18" y="9"/>
                      </a:lnTo>
                      <a:lnTo>
                        <a:pt x="18" y="10"/>
                      </a:lnTo>
                      <a:lnTo>
                        <a:pt x="18" y="11"/>
                      </a:lnTo>
                      <a:lnTo>
                        <a:pt x="17" y="12"/>
                      </a:lnTo>
                      <a:lnTo>
                        <a:pt x="16" y="13"/>
                      </a:lnTo>
                      <a:lnTo>
                        <a:pt x="16" y="14"/>
                      </a:lnTo>
                      <a:lnTo>
                        <a:pt x="15" y="15"/>
                      </a:lnTo>
                      <a:lnTo>
                        <a:pt x="13" y="15"/>
                      </a:lnTo>
                      <a:lnTo>
                        <a:pt x="13" y="16"/>
                      </a:lnTo>
                      <a:lnTo>
                        <a:pt x="12" y="16"/>
                      </a:lnTo>
                      <a:lnTo>
                        <a:pt x="5" y="16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01" name="Freeform 1448"/>
                <p:cNvSpPr>
                  <a:spLocks/>
                </p:cNvSpPr>
                <p:nvPr/>
              </p:nvSpPr>
              <p:spPr bwMode="auto">
                <a:xfrm>
                  <a:off x="3921" y="1489"/>
                  <a:ext cx="17" cy="38"/>
                </a:xfrm>
                <a:custGeom>
                  <a:avLst/>
                  <a:gdLst>
                    <a:gd name="T0" fmla="*/ 8 w 17"/>
                    <a:gd name="T1" fmla="*/ 0 h 38"/>
                    <a:gd name="T2" fmla="*/ 0 w 17"/>
                    <a:gd name="T3" fmla="*/ 22 h 38"/>
                    <a:gd name="T4" fmla="*/ 16 w 17"/>
                    <a:gd name="T5" fmla="*/ 22 h 38"/>
                    <a:gd name="T6" fmla="*/ 16 w 17"/>
                    <a:gd name="T7" fmla="*/ 37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38"/>
                    <a:gd name="T14" fmla="*/ 17 w 17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38">
                      <a:moveTo>
                        <a:pt x="8" y="0"/>
                      </a:moveTo>
                      <a:lnTo>
                        <a:pt x="0" y="22"/>
                      </a:lnTo>
                      <a:lnTo>
                        <a:pt x="16" y="22"/>
                      </a:lnTo>
                      <a:lnTo>
                        <a:pt x="16" y="37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02" name="Freeform 1449"/>
                <p:cNvSpPr>
                  <a:spLocks/>
                </p:cNvSpPr>
                <p:nvPr/>
              </p:nvSpPr>
              <p:spPr bwMode="auto">
                <a:xfrm>
                  <a:off x="3979" y="1489"/>
                  <a:ext cx="17" cy="72"/>
                </a:xfrm>
                <a:custGeom>
                  <a:avLst/>
                  <a:gdLst>
                    <a:gd name="T0" fmla="*/ 0 w 17"/>
                    <a:gd name="T1" fmla="*/ 0 h 72"/>
                    <a:gd name="T2" fmla="*/ 16 w 17"/>
                    <a:gd name="T3" fmla="*/ 22 h 72"/>
                    <a:gd name="T4" fmla="*/ 0 w 17"/>
                    <a:gd name="T5" fmla="*/ 22 h 72"/>
                    <a:gd name="T6" fmla="*/ 0 w 17"/>
                    <a:gd name="T7" fmla="*/ 71 h 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72"/>
                    <a:gd name="T14" fmla="*/ 17 w 17"/>
                    <a:gd name="T15" fmla="*/ 72 h 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72">
                      <a:moveTo>
                        <a:pt x="0" y="0"/>
                      </a:moveTo>
                      <a:lnTo>
                        <a:pt x="16" y="22"/>
                      </a:lnTo>
                      <a:lnTo>
                        <a:pt x="0" y="22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03" name="Freeform 1450"/>
                <p:cNvSpPr>
                  <a:spLocks/>
                </p:cNvSpPr>
                <p:nvPr/>
              </p:nvSpPr>
              <p:spPr bwMode="auto">
                <a:xfrm>
                  <a:off x="3855" y="1532"/>
                  <a:ext cx="250" cy="41"/>
                </a:xfrm>
                <a:custGeom>
                  <a:avLst/>
                  <a:gdLst>
                    <a:gd name="T0" fmla="*/ 0 w 250"/>
                    <a:gd name="T1" fmla="*/ 40 h 41"/>
                    <a:gd name="T2" fmla="*/ 249 w 250"/>
                    <a:gd name="T3" fmla="*/ 40 h 41"/>
                    <a:gd name="T4" fmla="*/ 240 w 250"/>
                    <a:gd name="T5" fmla="*/ 0 h 41"/>
                    <a:gd name="T6" fmla="*/ 10 w 250"/>
                    <a:gd name="T7" fmla="*/ 0 h 41"/>
                    <a:gd name="T8" fmla="*/ 0 w 250"/>
                    <a:gd name="T9" fmla="*/ 40 h 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0"/>
                    <a:gd name="T16" fmla="*/ 0 h 41"/>
                    <a:gd name="T17" fmla="*/ 250 w 250"/>
                    <a:gd name="T18" fmla="*/ 41 h 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0" h="41">
                      <a:moveTo>
                        <a:pt x="0" y="40"/>
                      </a:moveTo>
                      <a:lnTo>
                        <a:pt x="249" y="40"/>
                      </a:lnTo>
                      <a:lnTo>
                        <a:pt x="240" y="0"/>
                      </a:lnTo>
                      <a:lnTo>
                        <a:pt x="10" y="0"/>
                      </a:lnTo>
                      <a:lnTo>
                        <a:pt x="0" y="40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04" name="Freeform 1451"/>
                <p:cNvSpPr>
                  <a:spLocks/>
                </p:cNvSpPr>
                <p:nvPr/>
              </p:nvSpPr>
              <p:spPr bwMode="auto">
                <a:xfrm>
                  <a:off x="3855" y="1572"/>
                  <a:ext cx="251" cy="17"/>
                </a:xfrm>
                <a:custGeom>
                  <a:avLst/>
                  <a:gdLst>
                    <a:gd name="T0" fmla="*/ 0 w 251"/>
                    <a:gd name="T1" fmla="*/ 16 h 17"/>
                    <a:gd name="T2" fmla="*/ 0 w 251"/>
                    <a:gd name="T3" fmla="*/ 0 h 17"/>
                    <a:gd name="T4" fmla="*/ 249 w 251"/>
                    <a:gd name="T5" fmla="*/ 0 h 17"/>
                    <a:gd name="T6" fmla="*/ 250 w 251"/>
                    <a:gd name="T7" fmla="*/ 16 h 17"/>
                    <a:gd name="T8" fmla="*/ 0 w 251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1"/>
                    <a:gd name="T16" fmla="*/ 0 h 17"/>
                    <a:gd name="T17" fmla="*/ 251 w 251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1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249" y="0"/>
                      </a:lnTo>
                      <a:lnTo>
                        <a:pt x="250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CCCC6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05" name="Freeform 1452"/>
                <p:cNvSpPr>
                  <a:spLocks/>
                </p:cNvSpPr>
                <p:nvPr/>
              </p:nvSpPr>
              <p:spPr bwMode="auto">
                <a:xfrm>
                  <a:off x="3872" y="1538"/>
                  <a:ext cx="223" cy="28"/>
                </a:xfrm>
                <a:custGeom>
                  <a:avLst/>
                  <a:gdLst>
                    <a:gd name="T0" fmla="*/ 0 w 223"/>
                    <a:gd name="T1" fmla="*/ 27 h 28"/>
                    <a:gd name="T2" fmla="*/ 222 w 223"/>
                    <a:gd name="T3" fmla="*/ 27 h 28"/>
                    <a:gd name="T4" fmla="*/ 214 w 223"/>
                    <a:gd name="T5" fmla="*/ 0 h 28"/>
                    <a:gd name="T6" fmla="*/ 8 w 223"/>
                    <a:gd name="T7" fmla="*/ 0 h 28"/>
                    <a:gd name="T8" fmla="*/ 0 w 223"/>
                    <a:gd name="T9" fmla="*/ 27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3"/>
                    <a:gd name="T16" fmla="*/ 0 h 28"/>
                    <a:gd name="T17" fmla="*/ 223 w 223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3" h="28">
                      <a:moveTo>
                        <a:pt x="0" y="27"/>
                      </a:moveTo>
                      <a:lnTo>
                        <a:pt x="222" y="27"/>
                      </a:lnTo>
                      <a:lnTo>
                        <a:pt x="214" y="0"/>
                      </a:lnTo>
                      <a:lnTo>
                        <a:pt x="8" y="0"/>
                      </a:lnTo>
                      <a:lnTo>
                        <a:pt x="0" y="27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0278" name="Group 1453"/>
              <p:cNvGrpSpPr>
                <a:grpSpLocks/>
              </p:cNvGrpSpPr>
              <p:nvPr/>
            </p:nvGrpSpPr>
            <p:grpSpPr bwMode="auto">
              <a:xfrm>
                <a:off x="3737" y="1767"/>
                <a:ext cx="245" cy="175"/>
                <a:chOff x="3840" y="1279"/>
                <a:chExt cx="266" cy="310"/>
              </a:xfrm>
            </p:grpSpPr>
            <p:sp>
              <p:nvSpPr>
                <p:cNvPr id="10394" name="Freeform 1454"/>
                <p:cNvSpPr>
                  <a:spLocks/>
                </p:cNvSpPr>
                <p:nvPr/>
              </p:nvSpPr>
              <p:spPr bwMode="auto">
                <a:xfrm>
                  <a:off x="3848" y="1548"/>
                  <a:ext cx="206" cy="20"/>
                </a:xfrm>
                <a:custGeom>
                  <a:avLst/>
                  <a:gdLst>
                    <a:gd name="T0" fmla="*/ 0 w 206"/>
                    <a:gd name="T1" fmla="*/ 19 h 20"/>
                    <a:gd name="T2" fmla="*/ 0 w 206"/>
                    <a:gd name="T3" fmla="*/ 0 h 20"/>
                    <a:gd name="T4" fmla="*/ 205 w 206"/>
                    <a:gd name="T5" fmla="*/ 0 h 20"/>
                    <a:gd name="T6" fmla="*/ 205 w 206"/>
                    <a:gd name="T7" fmla="*/ 19 h 20"/>
                    <a:gd name="T8" fmla="*/ 0 w 206"/>
                    <a:gd name="T9" fmla="*/ 19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6"/>
                    <a:gd name="T16" fmla="*/ 0 h 20"/>
                    <a:gd name="T17" fmla="*/ 206 w 206"/>
                    <a:gd name="T18" fmla="*/ 20 h 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6" h="20">
                      <a:moveTo>
                        <a:pt x="0" y="19"/>
                      </a:moveTo>
                      <a:lnTo>
                        <a:pt x="0" y="0"/>
                      </a:lnTo>
                      <a:lnTo>
                        <a:pt x="205" y="0"/>
                      </a:lnTo>
                      <a:lnTo>
                        <a:pt x="205" y="19"/>
                      </a:lnTo>
                      <a:lnTo>
                        <a:pt x="0" y="19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5" name="Freeform 1455"/>
                <p:cNvSpPr>
                  <a:spLocks/>
                </p:cNvSpPr>
                <p:nvPr/>
              </p:nvSpPr>
              <p:spPr bwMode="auto">
                <a:xfrm>
                  <a:off x="3840" y="1453"/>
                  <a:ext cx="220" cy="34"/>
                </a:xfrm>
                <a:custGeom>
                  <a:avLst/>
                  <a:gdLst>
                    <a:gd name="T0" fmla="*/ 189 w 220"/>
                    <a:gd name="T1" fmla="*/ 0 h 34"/>
                    <a:gd name="T2" fmla="*/ 219 w 220"/>
                    <a:gd name="T3" fmla="*/ 33 h 34"/>
                    <a:gd name="T4" fmla="*/ 0 w 220"/>
                    <a:gd name="T5" fmla="*/ 33 h 34"/>
                    <a:gd name="T6" fmla="*/ 29 w 220"/>
                    <a:gd name="T7" fmla="*/ 0 h 34"/>
                    <a:gd name="T8" fmla="*/ 189 w 220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34"/>
                    <a:gd name="T17" fmla="*/ 220 w 220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34">
                      <a:moveTo>
                        <a:pt x="189" y="0"/>
                      </a:moveTo>
                      <a:lnTo>
                        <a:pt x="219" y="33"/>
                      </a:lnTo>
                      <a:lnTo>
                        <a:pt x="0" y="33"/>
                      </a:lnTo>
                      <a:lnTo>
                        <a:pt x="29" y="0"/>
                      </a:lnTo>
                      <a:lnTo>
                        <a:pt x="189" y="0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6" name="Freeform 1456"/>
                <p:cNvSpPr>
                  <a:spLocks/>
                </p:cNvSpPr>
                <p:nvPr/>
              </p:nvSpPr>
              <p:spPr bwMode="auto">
                <a:xfrm>
                  <a:off x="3897" y="1449"/>
                  <a:ext cx="104" cy="24"/>
                </a:xfrm>
                <a:custGeom>
                  <a:avLst/>
                  <a:gdLst>
                    <a:gd name="T0" fmla="*/ 102 w 104"/>
                    <a:gd name="T1" fmla="*/ 10 h 24"/>
                    <a:gd name="T2" fmla="*/ 101 w 104"/>
                    <a:gd name="T3" fmla="*/ 8 h 24"/>
                    <a:gd name="T4" fmla="*/ 97 w 104"/>
                    <a:gd name="T5" fmla="*/ 6 h 24"/>
                    <a:gd name="T6" fmla="*/ 93 w 104"/>
                    <a:gd name="T7" fmla="*/ 4 h 24"/>
                    <a:gd name="T8" fmla="*/ 87 w 104"/>
                    <a:gd name="T9" fmla="*/ 3 h 24"/>
                    <a:gd name="T10" fmla="*/ 80 w 104"/>
                    <a:gd name="T11" fmla="*/ 2 h 24"/>
                    <a:gd name="T12" fmla="*/ 72 w 104"/>
                    <a:gd name="T13" fmla="*/ 1 h 24"/>
                    <a:gd name="T14" fmla="*/ 64 w 104"/>
                    <a:gd name="T15" fmla="*/ 0 h 24"/>
                    <a:gd name="T16" fmla="*/ 55 w 104"/>
                    <a:gd name="T17" fmla="*/ 0 h 24"/>
                    <a:gd name="T18" fmla="*/ 46 w 104"/>
                    <a:gd name="T19" fmla="*/ 0 h 24"/>
                    <a:gd name="T20" fmla="*/ 37 w 104"/>
                    <a:gd name="T21" fmla="*/ 0 h 24"/>
                    <a:gd name="T22" fmla="*/ 29 w 104"/>
                    <a:gd name="T23" fmla="*/ 1 h 24"/>
                    <a:gd name="T24" fmla="*/ 21 w 104"/>
                    <a:gd name="T25" fmla="*/ 2 h 24"/>
                    <a:gd name="T26" fmla="*/ 14 w 104"/>
                    <a:gd name="T27" fmla="*/ 3 h 24"/>
                    <a:gd name="T28" fmla="*/ 8 w 104"/>
                    <a:gd name="T29" fmla="*/ 4 h 24"/>
                    <a:gd name="T30" fmla="*/ 4 w 104"/>
                    <a:gd name="T31" fmla="*/ 6 h 24"/>
                    <a:gd name="T32" fmla="*/ 1 w 104"/>
                    <a:gd name="T33" fmla="*/ 8 h 24"/>
                    <a:gd name="T34" fmla="*/ 0 w 104"/>
                    <a:gd name="T35" fmla="*/ 10 h 24"/>
                    <a:gd name="T36" fmla="*/ 0 w 104"/>
                    <a:gd name="T37" fmla="*/ 12 h 24"/>
                    <a:gd name="T38" fmla="*/ 1 w 104"/>
                    <a:gd name="T39" fmla="*/ 14 h 24"/>
                    <a:gd name="T40" fmla="*/ 4 w 104"/>
                    <a:gd name="T41" fmla="*/ 16 h 24"/>
                    <a:gd name="T42" fmla="*/ 8 w 104"/>
                    <a:gd name="T43" fmla="*/ 17 h 24"/>
                    <a:gd name="T44" fmla="*/ 14 w 104"/>
                    <a:gd name="T45" fmla="*/ 19 h 24"/>
                    <a:gd name="T46" fmla="*/ 21 w 104"/>
                    <a:gd name="T47" fmla="*/ 20 h 24"/>
                    <a:gd name="T48" fmla="*/ 29 w 104"/>
                    <a:gd name="T49" fmla="*/ 21 h 24"/>
                    <a:gd name="T50" fmla="*/ 37 w 104"/>
                    <a:gd name="T51" fmla="*/ 22 h 24"/>
                    <a:gd name="T52" fmla="*/ 46 w 104"/>
                    <a:gd name="T53" fmla="*/ 23 h 24"/>
                    <a:gd name="T54" fmla="*/ 55 w 104"/>
                    <a:gd name="T55" fmla="*/ 23 h 24"/>
                    <a:gd name="T56" fmla="*/ 64 w 104"/>
                    <a:gd name="T57" fmla="*/ 22 h 24"/>
                    <a:gd name="T58" fmla="*/ 72 w 104"/>
                    <a:gd name="T59" fmla="*/ 21 h 24"/>
                    <a:gd name="T60" fmla="*/ 80 w 104"/>
                    <a:gd name="T61" fmla="*/ 20 h 24"/>
                    <a:gd name="T62" fmla="*/ 87 w 104"/>
                    <a:gd name="T63" fmla="*/ 19 h 24"/>
                    <a:gd name="T64" fmla="*/ 93 w 104"/>
                    <a:gd name="T65" fmla="*/ 17 h 24"/>
                    <a:gd name="T66" fmla="*/ 97 w 104"/>
                    <a:gd name="T67" fmla="*/ 16 h 24"/>
                    <a:gd name="T68" fmla="*/ 101 w 104"/>
                    <a:gd name="T69" fmla="*/ 14 h 24"/>
                    <a:gd name="T70" fmla="*/ 102 w 104"/>
                    <a:gd name="T71" fmla="*/ 12 h 24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104"/>
                    <a:gd name="T109" fmla="*/ 0 h 24"/>
                    <a:gd name="T110" fmla="*/ 104 w 104"/>
                    <a:gd name="T111" fmla="*/ 24 h 24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104" h="24">
                      <a:moveTo>
                        <a:pt x="103" y="11"/>
                      </a:moveTo>
                      <a:lnTo>
                        <a:pt x="102" y="10"/>
                      </a:lnTo>
                      <a:lnTo>
                        <a:pt x="102" y="9"/>
                      </a:lnTo>
                      <a:lnTo>
                        <a:pt x="101" y="8"/>
                      </a:lnTo>
                      <a:lnTo>
                        <a:pt x="99" y="7"/>
                      </a:lnTo>
                      <a:lnTo>
                        <a:pt x="97" y="6"/>
                      </a:lnTo>
                      <a:lnTo>
                        <a:pt x="95" y="6"/>
                      </a:lnTo>
                      <a:lnTo>
                        <a:pt x="93" y="4"/>
                      </a:lnTo>
                      <a:lnTo>
                        <a:pt x="90" y="4"/>
                      </a:lnTo>
                      <a:lnTo>
                        <a:pt x="87" y="3"/>
                      </a:lnTo>
                      <a:lnTo>
                        <a:pt x="84" y="2"/>
                      </a:lnTo>
                      <a:lnTo>
                        <a:pt x="80" y="2"/>
                      </a:lnTo>
                      <a:lnTo>
                        <a:pt x="76" y="1"/>
                      </a:lnTo>
                      <a:lnTo>
                        <a:pt x="72" y="1"/>
                      </a:lnTo>
                      <a:lnTo>
                        <a:pt x="69" y="0"/>
                      </a:lnTo>
                      <a:lnTo>
                        <a:pt x="64" y="0"/>
                      </a:lnTo>
                      <a:lnTo>
                        <a:pt x="60" y="0"/>
                      </a:lnTo>
                      <a:lnTo>
                        <a:pt x="55" y="0"/>
                      </a:lnTo>
                      <a:lnTo>
                        <a:pt x="51" y="0"/>
                      </a:lnTo>
                      <a:lnTo>
                        <a:pt x="46" y="0"/>
                      </a:lnTo>
                      <a:lnTo>
                        <a:pt x="42" y="0"/>
                      </a:lnTo>
                      <a:lnTo>
                        <a:pt x="37" y="0"/>
                      </a:lnTo>
                      <a:lnTo>
                        <a:pt x="33" y="0"/>
                      </a:lnTo>
                      <a:lnTo>
                        <a:pt x="29" y="1"/>
                      </a:lnTo>
                      <a:lnTo>
                        <a:pt x="25" y="1"/>
                      </a:lnTo>
                      <a:lnTo>
                        <a:pt x="21" y="2"/>
                      </a:lnTo>
                      <a:lnTo>
                        <a:pt x="17" y="2"/>
                      </a:lnTo>
                      <a:lnTo>
                        <a:pt x="14" y="3"/>
                      </a:lnTo>
                      <a:lnTo>
                        <a:pt x="12" y="4"/>
                      </a:lnTo>
                      <a:lnTo>
                        <a:pt x="8" y="4"/>
                      </a:lnTo>
                      <a:lnTo>
                        <a:pt x="6" y="6"/>
                      </a:lnTo>
                      <a:lnTo>
                        <a:pt x="4" y="6"/>
                      </a:lnTo>
                      <a:lnTo>
                        <a:pt x="3" y="7"/>
                      </a:lnTo>
                      <a:lnTo>
                        <a:pt x="1" y="8"/>
                      </a:lnTo>
                      <a:lnTo>
                        <a:pt x="0" y="9"/>
                      </a:lnTo>
                      <a:lnTo>
                        <a:pt x="0" y="10"/>
                      </a:lnTo>
                      <a:lnTo>
                        <a:pt x="0" y="11"/>
                      </a:lnTo>
                      <a:lnTo>
                        <a:pt x="0" y="12"/>
                      </a:lnTo>
                      <a:lnTo>
                        <a:pt x="0" y="13"/>
                      </a:lnTo>
                      <a:lnTo>
                        <a:pt x="1" y="14"/>
                      </a:lnTo>
                      <a:lnTo>
                        <a:pt x="3" y="15"/>
                      </a:lnTo>
                      <a:lnTo>
                        <a:pt x="4" y="16"/>
                      </a:lnTo>
                      <a:lnTo>
                        <a:pt x="6" y="17"/>
                      </a:lnTo>
                      <a:lnTo>
                        <a:pt x="8" y="17"/>
                      </a:lnTo>
                      <a:lnTo>
                        <a:pt x="12" y="18"/>
                      </a:lnTo>
                      <a:lnTo>
                        <a:pt x="14" y="19"/>
                      </a:lnTo>
                      <a:lnTo>
                        <a:pt x="17" y="20"/>
                      </a:lnTo>
                      <a:lnTo>
                        <a:pt x="21" y="20"/>
                      </a:lnTo>
                      <a:lnTo>
                        <a:pt x="25" y="21"/>
                      </a:lnTo>
                      <a:lnTo>
                        <a:pt x="29" y="21"/>
                      </a:lnTo>
                      <a:lnTo>
                        <a:pt x="33" y="22"/>
                      </a:lnTo>
                      <a:lnTo>
                        <a:pt x="37" y="22"/>
                      </a:lnTo>
                      <a:lnTo>
                        <a:pt x="42" y="22"/>
                      </a:lnTo>
                      <a:lnTo>
                        <a:pt x="46" y="23"/>
                      </a:lnTo>
                      <a:lnTo>
                        <a:pt x="51" y="23"/>
                      </a:lnTo>
                      <a:lnTo>
                        <a:pt x="55" y="23"/>
                      </a:lnTo>
                      <a:lnTo>
                        <a:pt x="60" y="22"/>
                      </a:lnTo>
                      <a:lnTo>
                        <a:pt x="64" y="22"/>
                      </a:lnTo>
                      <a:lnTo>
                        <a:pt x="69" y="22"/>
                      </a:lnTo>
                      <a:lnTo>
                        <a:pt x="72" y="21"/>
                      </a:lnTo>
                      <a:lnTo>
                        <a:pt x="76" y="21"/>
                      </a:lnTo>
                      <a:lnTo>
                        <a:pt x="80" y="20"/>
                      </a:lnTo>
                      <a:lnTo>
                        <a:pt x="84" y="20"/>
                      </a:lnTo>
                      <a:lnTo>
                        <a:pt x="87" y="19"/>
                      </a:lnTo>
                      <a:lnTo>
                        <a:pt x="90" y="18"/>
                      </a:lnTo>
                      <a:lnTo>
                        <a:pt x="93" y="17"/>
                      </a:lnTo>
                      <a:lnTo>
                        <a:pt x="95" y="17"/>
                      </a:lnTo>
                      <a:lnTo>
                        <a:pt x="97" y="16"/>
                      </a:lnTo>
                      <a:lnTo>
                        <a:pt x="99" y="15"/>
                      </a:lnTo>
                      <a:lnTo>
                        <a:pt x="101" y="14"/>
                      </a:lnTo>
                      <a:lnTo>
                        <a:pt x="102" y="13"/>
                      </a:lnTo>
                      <a:lnTo>
                        <a:pt x="102" y="12"/>
                      </a:lnTo>
                      <a:lnTo>
                        <a:pt x="103" y="11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7" name="Freeform 1457"/>
                <p:cNvSpPr>
                  <a:spLocks/>
                </p:cNvSpPr>
                <p:nvPr/>
              </p:nvSpPr>
              <p:spPr bwMode="auto">
                <a:xfrm>
                  <a:off x="3897" y="1461"/>
                  <a:ext cx="104" cy="17"/>
                </a:xfrm>
                <a:custGeom>
                  <a:avLst/>
                  <a:gdLst>
                    <a:gd name="T0" fmla="*/ 102 w 104"/>
                    <a:gd name="T1" fmla="*/ 6 h 17"/>
                    <a:gd name="T2" fmla="*/ 101 w 104"/>
                    <a:gd name="T3" fmla="*/ 8 h 17"/>
                    <a:gd name="T4" fmla="*/ 97 w 104"/>
                    <a:gd name="T5" fmla="*/ 10 h 17"/>
                    <a:gd name="T6" fmla="*/ 93 w 104"/>
                    <a:gd name="T7" fmla="*/ 11 h 17"/>
                    <a:gd name="T8" fmla="*/ 87 w 104"/>
                    <a:gd name="T9" fmla="*/ 12 h 17"/>
                    <a:gd name="T10" fmla="*/ 80 w 104"/>
                    <a:gd name="T11" fmla="*/ 14 h 17"/>
                    <a:gd name="T12" fmla="*/ 72 w 104"/>
                    <a:gd name="T13" fmla="*/ 14 h 17"/>
                    <a:gd name="T14" fmla="*/ 64 w 104"/>
                    <a:gd name="T15" fmla="*/ 15 h 17"/>
                    <a:gd name="T16" fmla="*/ 55 w 104"/>
                    <a:gd name="T17" fmla="*/ 16 h 17"/>
                    <a:gd name="T18" fmla="*/ 46 w 104"/>
                    <a:gd name="T19" fmla="*/ 16 h 17"/>
                    <a:gd name="T20" fmla="*/ 37 w 104"/>
                    <a:gd name="T21" fmla="*/ 15 h 17"/>
                    <a:gd name="T22" fmla="*/ 29 w 104"/>
                    <a:gd name="T23" fmla="*/ 14 h 17"/>
                    <a:gd name="T24" fmla="*/ 21 w 104"/>
                    <a:gd name="T25" fmla="*/ 14 h 17"/>
                    <a:gd name="T26" fmla="*/ 14 w 104"/>
                    <a:gd name="T27" fmla="*/ 12 h 17"/>
                    <a:gd name="T28" fmla="*/ 8 w 104"/>
                    <a:gd name="T29" fmla="*/ 11 h 17"/>
                    <a:gd name="T30" fmla="*/ 4 w 104"/>
                    <a:gd name="T31" fmla="*/ 10 h 17"/>
                    <a:gd name="T32" fmla="*/ 1 w 104"/>
                    <a:gd name="T33" fmla="*/ 8 h 17"/>
                    <a:gd name="T34" fmla="*/ 0 w 104"/>
                    <a:gd name="T35" fmla="*/ 6 h 17"/>
                    <a:gd name="T36" fmla="*/ 0 w 104"/>
                    <a:gd name="T37" fmla="*/ 0 h 17"/>
                    <a:gd name="T38" fmla="*/ 0 w 104"/>
                    <a:gd name="T39" fmla="*/ 2 h 17"/>
                    <a:gd name="T40" fmla="*/ 3 w 104"/>
                    <a:gd name="T41" fmla="*/ 4 h 17"/>
                    <a:gd name="T42" fmla="*/ 6 w 104"/>
                    <a:gd name="T43" fmla="*/ 5 h 17"/>
                    <a:gd name="T44" fmla="*/ 12 w 104"/>
                    <a:gd name="T45" fmla="*/ 6 h 17"/>
                    <a:gd name="T46" fmla="*/ 17 w 104"/>
                    <a:gd name="T47" fmla="*/ 8 h 17"/>
                    <a:gd name="T48" fmla="*/ 25 w 104"/>
                    <a:gd name="T49" fmla="*/ 9 h 17"/>
                    <a:gd name="T50" fmla="*/ 33 w 104"/>
                    <a:gd name="T51" fmla="*/ 10 h 17"/>
                    <a:gd name="T52" fmla="*/ 42 w 104"/>
                    <a:gd name="T53" fmla="*/ 10 h 17"/>
                    <a:gd name="T54" fmla="*/ 51 w 104"/>
                    <a:gd name="T55" fmla="*/ 10 h 17"/>
                    <a:gd name="T56" fmla="*/ 60 w 104"/>
                    <a:gd name="T57" fmla="*/ 10 h 17"/>
                    <a:gd name="T58" fmla="*/ 69 w 104"/>
                    <a:gd name="T59" fmla="*/ 10 h 17"/>
                    <a:gd name="T60" fmla="*/ 76 w 104"/>
                    <a:gd name="T61" fmla="*/ 9 h 17"/>
                    <a:gd name="T62" fmla="*/ 84 w 104"/>
                    <a:gd name="T63" fmla="*/ 8 h 17"/>
                    <a:gd name="T64" fmla="*/ 90 w 104"/>
                    <a:gd name="T65" fmla="*/ 6 h 17"/>
                    <a:gd name="T66" fmla="*/ 95 w 104"/>
                    <a:gd name="T67" fmla="*/ 5 h 17"/>
                    <a:gd name="T68" fmla="*/ 99 w 104"/>
                    <a:gd name="T69" fmla="*/ 4 h 17"/>
                    <a:gd name="T70" fmla="*/ 102 w 104"/>
                    <a:gd name="T71" fmla="*/ 2 h 17"/>
                    <a:gd name="T72" fmla="*/ 103 w 104"/>
                    <a:gd name="T73" fmla="*/ 0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04"/>
                    <a:gd name="T112" fmla="*/ 0 h 17"/>
                    <a:gd name="T113" fmla="*/ 104 w 104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04" h="17">
                      <a:moveTo>
                        <a:pt x="103" y="5"/>
                      </a:moveTo>
                      <a:lnTo>
                        <a:pt x="102" y="6"/>
                      </a:lnTo>
                      <a:lnTo>
                        <a:pt x="102" y="7"/>
                      </a:lnTo>
                      <a:lnTo>
                        <a:pt x="101" y="8"/>
                      </a:lnTo>
                      <a:lnTo>
                        <a:pt x="99" y="8"/>
                      </a:lnTo>
                      <a:lnTo>
                        <a:pt x="97" y="10"/>
                      </a:lnTo>
                      <a:lnTo>
                        <a:pt x="95" y="10"/>
                      </a:lnTo>
                      <a:lnTo>
                        <a:pt x="93" y="11"/>
                      </a:lnTo>
                      <a:lnTo>
                        <a:pt x="90" y="12"/>
                      </a:lnTo>
                      <a:lnTo>
                        <a:pt x="87" y="12"/>
                      </a:lnTo>
                      <a:lnTo>
                        <a:pt x="84" y="13"/>
                      </a:lnTo>
                      <a:lnTo>
                        <a:pt x="80" y="14"/>
                      </a:lnTo>
                      <a:lnTo>
                        <a:pt x="76" y="14"/>
                      </a:lnTo>
                      <a:lnTo>
                        <a:pt x="72" y="14"/>
                      </a:lnTo>
                      <a:lnTo>
                        <a:pt x="69" y="15"/>
                      </a:lnTo>
                      <a:lnTo>
                        <a:pt x="64" y="15"/>
                      </a:lnTo>
                      <a:lnTo>
                        <a:pt x="60" y="16"/>
                      </a:lnTo>
                      <a:lnTo>
                        <a:pt x="55" y="16"/>
                      </a:lnTo>
                      <a:lnTo>
                        <a:pt x="51" y="16"/>
                      </a:lnTo>
                      <a:lnTo>
                        <a:pt x="46" y="16"/>
                      </a:lnTo>
                      <a:lnTo>
                        <a:pt x="42" y="16"/>
                      </a:lnTo>
                      <a:lnTo>
                        <a:pt x="37" y="15"/>
                      </a:lnTo>
                      <a:lnTo>
                        <a:pt x="33" y="15"/>
                      </a:lnTo>
                      <a:lnTo>
                        <a:pt x="29" y="14"/>
                      </a:lnTo>
                      <a:lnTo>
                        <a:pt x="25" y="14"/>
                      </a:lnTo>
                      <a:lnTo>
                        <a:pt x="21" y="14"/>
                      </a:lnTo>
                      <a:lnTo>
                        <a:pt x="17" y="13"/>
                      </a:lnTo>
                      <a:lnTo>
                        <a:pt x="14" y="12"/>
                      </a:lnTo>
                      <a:lnTo>
                        <a:pt x="12" y="12"/>
                      </a:lnTo>
                      <a:lnTo>
                        <a:pt x="8" y="11"/>
                      </a:lnTo>
                      <a:lnTo>
                        <a:pt x="6" y="10"/>
                      </a:lnTo>
                      <a:lnTo>
                        <a:pt x="4" y="10"/>
                      </a:lnTo>
                      <a:lnTo>
                        <a:pt x="3" y="8"/>
                      </a:lnTo>
                      <a:lnTo>
                        <a:pt x="1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1" y="2"/>
                      </a:lnTo>
                      <a:lnTo>
                        <a:pt x="3" y="4"/>
                      </a:lnTo>
                      <a:lnTo>
                        <a:pt x="4" y="4"/>
                      </a:lnTo>
                      <a:lnTo>
                        <a:pt x="6" y="5"/>
                      </a:lnTo>
                      <a:lnTo>
                        <a:pt x="8" y="6"/>
                      </a:lnTo>
                      <a:lnTo>
                        <a:pt x="12" y="6"/>
                      </a:lnTo>
                      <a:lnTo>
                        <a:pt x="14" y="7"/>
                      </a:lnTo>
                      <a:lnTo>
                        <a:pt x="17" y="8"/>
                      </a:lnTo>
                      <a:lnTo>
                        <a:pt x="21" y="8"/>
                      </a:lnTo>
                      <a:lnTo>
                        <a:pt x="25" y="9"/>
                      </a:lnTo>
                      <a:lnTo>
                        <a:pt x="29" y="10"/>
                      </a:lnTo>
                      <a:lnTo>
                        <a:pt x="33" y="10"/>
                      </a:lnTo>
                      <a:lnTo>
                        <a:pt x="37" y="10"/>
                      </a:lnTo>
                      <a:lnTo>
                        <a:pt x="42" y="10"/>
                      </a:lnTo>
                      <a:lnTo>
                        <a:pt x="46" y="10"/>
                      </a:lnTo>
                      <a:lnTo>
                        <a:pt x="51" y="10"/>
                      </a:lnTo>
                      <a:lnTo>
                        <a:pt x="55" y="10"/>
                      </a:lnTo>
                      <a:lnTo>
                        <a:pt x="60" y="10"/>
                      </a:lnTo>
                      <a:lnTo>
                        <a:pt x="64" y="10"/>
                      </a:lnTo>
                      <a:lnTo>
                        <a:pt x="69" y="10"/>
                      </a:lnTo>
                      <a:lnTo>
                        <a:pt x="72" y="10"/>
                      </a:lnTo>
                      <a:lnTo>
                        <a:pt x="76" y="9"/>
                      </a:lnTo>
                      <a:lnTo>
                        <a:pt x="80" y="8"/>
                      </a:lnTo>
                      <a:lnTo>
                        <a:pt x="84" y="8"/>
                      </a:lnTo>
                      <a:lnTo>
                        <a:pt x="87" y="7"/>
                      </a:lnTo>
                      <a:lnTo>
                        <a:pt x="90" y="6"/>
                      </a:lnTo>
                      <a:lnTo>
                        <a:pt x="93" y="6"/>
                      </a:lnTo>
                      <a:lnTo>
                        <a:pt x="95" y="5"/>
                      </a:lnTo>
                      <a:lnTo>
                        <a:pt x="97" y="4"/>
                      </a:lnTo>
                      <a:lnTo>
                        <a:pt x="99" y="4"/>
                      </a:lnTo>
                      <a:lnTo>
                        <a:pt x="101" y="2"/>
                      </a:lnTo>
                      <a:lnTo>
                        <a:pt x="102" y="2"/>
                      </a:lnTo>
                      <a:lnTo>
                        <a:pt x="102" y="1"/>
                      </a:lnTo>
                      <a:lnTo>
                        <a:pt x="103" y="0"/>
                      </a:lnTo>
                      <a:lnTo>
                        <a:pt x="103" y="5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8" name="Freeform 1458"/>
                <p:cNvSpPr>
                  <a:spLocks/>
                </p:cNvSpPr>
                <p:nvPr/>
              </p:nvSpPr>
              <p:spPr bwMode="auto">
                <a:xfrm>
                  <a:off x="3840" y="1486"/>
                  <a:ext cx="220" cy="77"/>
                </a:xfrm>
                <a:custGeom>
                  <a:avLst/>
                  <a:gdLst>
                    <a:gd name="T0" fmla="*/ 0 w 220"/>
                    <a:gd name="T1" fmla="*/ 76 h 77"/>
                    <a:gd name="T2" fmla="*/ 219 w 220"/>
                    <a:gd name="T3" fmla="*/ 76 h 77"/>
                    <a:gd name="T4" fmla="*/ 219 w 220"/>
                    <a:gd name="T5" fmla="*/ 0 h 77"/>
                    <a:gd name="T6" fmla="*/ 0 w 220"/>
                    <a:gd name="T7" fmla="*/ 0 h 77"/>
                    <a:gd name="T8" fmla="*/ 0 w 220"/>
                    <a:gd name="T9" fmla="*/ 76 h 7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77"/>
                    <a:gd name="T17" fmla="*/ 220 w 220"/>
                    <a:gd name="T18" fmla="*/ 77 h 7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77">
                      <a:moveTo>
                        <a:pt x="0" y="76"/>
                      </a:moveTo>
                      <a:lnTo>
                        <a:pt x="219" y="76"/>
                      </a:lnTo>
                      <a:lnTo>
                        <a:pt x="219" y="0"/>
                      </a:lnTo>
                      <a:lnTo>
                        <a:pt x="0" y="0"/>
                      </a:lnTo>
                      <a:lnTo>
                        <a:pt x="0" y="76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9" name="Freeform 1459"/>
                <p:cNvSpPr>
                  <a:spLocks/>
                </p:cNvSpPr>
                <p:nvPr/>
              </p:nvSpPr>
              <p:spPr bwMode="auto">
                <a:xfrm>
                  <a:off x="3875" y="1449"/>
                  <a:ext cx="69" cy="17"/>
                </a:xfrm>
                <a:custGeom>
                  <a:avLst/>
                  <a:gdLst>
                    <a:gd name="T0" fmla="*/ 0 w 69"/>
                    <a:gd name="T1" fmla="*/ 16 h 17"/>
                    <a:gd name="T2" fmla="*/ 0 w 69"/>
                    <a:gd name="T3" fmla="*/ 0 h 17"/>
                    <a:gd name="T4" fmla="*/ 68 w 69"/>
                    <a:gd name="T5" fmla="*/ 0 h 17"/>
                    <a:gd name="T6" fmla="*/ 68 w 69"/>
                    <a:gd name="T7" fmla="*/ 16 h 17"/>
                    <a:gd name="T8" fmla="*/ 0 w 69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9"/>
                    <a:gd name="T16" fmla="*/ 0 h 17"/>
                    <a:gd name="T17" fmla="*/ 69 w 69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9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68" y="0"/>
                      </a:lnTo>
                      <a:lnTo>
                        <a:pt x="68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0" name="Freeform 1460"/>
                <p:cNvSpPr>
                  <a:spLocks/>
                </p:cNvSpPr>
                <p:nvPr/>
              </p:nvSpPr>
              <p:spPr bwMode="auto">
                <a:xfrm>
                  <a:off x="3931" y="1450"/>
                  <a:ext cx="94" cy="17"/>
                </a:xfrm>
                <a:custGeom>
                  <a:avLst/>
                  <a:gdLst>
                    <a:gd name="T0" fmla="*/ 0 w 94"/>
                    <a:gd name="T1" fmla="*/ 16 h 17"/>
                    <a:gd name="T2" fmla="*/ 0 w 94"/>
                    <a:gd name="T3" fmla="*/ 0 h 17"/>
                    <a:gd name="T4" fmla="*/ 93 w 94"/>
                    <a:gd name="T5" fmla="*/ 0 h 17"/>
                    <a:gd name="T6" fmla="*/ 93 w 94"/>
                    <a:gd name="T7" fmla="*/ 16 h 17"/>
                    <a:gd name="T8" fmla="*/ 0 w 94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4"/>
                    <a:gd name="T16" fmla="*/ 0 h 17"/>
                    <a:gd name="T17" fmla="*/ 94 w 9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4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93" y="0"/>
                      </a:lnTo>
                      <a:lnTo>
                        <a:pt x="93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1" name="Freeform 1461"/>
                <p:cNvSpPr>
                  <a:spLocks/>
                </p:cNvSpPr>
                <p:nvPr/>
              </p:nvSpPr>
              <p:spPr bwMode="auto">
                <a:xfrm>
                  <a:off x="3877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2" name="Freeform 1462"/>
                <p:cNvSpPr>
                  <a:spLocks/>
                </p:cNvSpPr>
                <p:nvPr/>
              </p:nvSpPr>
              <p:spPr bwMode="auto">
                <a:xfrm>
                  <a:off x="388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4 w 17"/>
                    <a:gd name="T7" fmla="*/ 16 h 17"/>
                    <a:gd name="T8" fmla="*/ 8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3" name="Freeform 1463"/>
                <p:cNvSpPr>
                  <a:spLocks/>
                </p:cNvSpPr>
                <p:nvPr/>
              </p:nvSpPr>
              <p:spPr bwMode="auto">
                <a:xfrm>
                  <a:off x="388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4" name="Freeform 1464"/>
                <p:cNvSpPr>
                  <a:spLocks/>
                </p:cNvSpPr>
                <p:nvPr/>
              </p:nvSpPr>
              <p:spPr bwMode="auto">
                <a:xfrm>
                  <a:off x="388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5" name="Freeform 1465"/>
                <p:cNvSpPr>
                  <a:spLocks/>
                </p:cNvSpPr>
                <p:nvPr/>
              </p:nvSpPr>
              <p:spPr bwMode="auto">
                <a:xfrm>
                  <a:off x="388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6" name="Freeform 1466"/>
                <p:cNvSpPr>
                  <a:spLocks/>
                </p:cNvSpPr>
                <p:nvPr/>
              </p:nvSpPr>
              <p:spPr bwMode="auto">
                <a:xfrm>
                  <a:off x="389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7" name="Freeform 1467"/>
                <p:cNvSpPr>
                  <a:spLocks/>
                </p:cNvSpPr>
                <p:nvPr/>
              </p:nvSpPr>
              <p:spPr bwMode="auto">
                <a:xfrm>
                  <a:off x="389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8" name="Freeform 1468"/>
                <p:cNvSpPr>
                  <a:spLocks/>
                </p:cNvSpPr>
                <p:nvPr/>
              </p:nvSpPr>
              <p:spPr bwMode="auto">
                <a:xfrm>
                  <a:off x="3894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9" name="Freeform 1469"/>
                <p:cNvSpPr>
                  <a:spLocks/>
                </p:cNvSpPr>
                <p:nvPr/>
              </p:nvSpPr>
              <p:spPr bwMode="auto">
                <a:xfrm>
                  <a:off x="389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0" name="Freeform 1470"/>
                <p:cNvSpPr>
                  <a:spLocks/>
                </p:cNvSpPr>
                <p:nvPr/>
              </p:nvSpPr>
              <p:spPr bwMode="auto">
                <a:xfrm>
                  <a:off x="390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1" name="Freeform 1471"/>
                <p:cNvSpPr>
                  <a:spLocks/>
                </p:cNvSpPr>
                <p:nvPr/>
              </p:nvSpPr>
              <p:spPr bwMode="auto">
                <a:xfrm>
                  <a:off x="390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0 w 17"/>
                    <a:gd name="T5" fmla="*/ 16 h 17"/>
                    <a:gd name="T6" fmla="*/ 8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0" y="16"/>
                      </a:lnTo>
                      <a:lnTo>
                        <a:pt x="8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2" name="Freeform 1472"/>
                <p:cNvSpPr>
                  <a:spLocks/>
                </p:cNvSpPr>
                <p:nvPr/>
              </p:nvSpPr>
              <p:spPr bwMode="auto">
                <a:xfrm>
                  <a:off x="390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6 h 17"/>
                    <a:gd name="T6" fmla="*/ 8 w 17"/>
                    <a:gd name="T7" fmla="*/ 16 h 17"/>
                    <a:gd name="T8" fmla="*/ 12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3" name="Freeform 1473"/>
                <p:cNvSpPr>
                  <a:spLocks/>
                </p:cNvSpPr>
                <p:nvPr/>
              </p:nvSpPr>
              <p:spPr bwMode="auto">
                <a:xfrm>
                  <a:off x="390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4" name="Freeform 1474"/>
                <p:cNvSpPr>
                  <a:spLocks/>
                </p:cNvSpPr>
                <p:nvPr/>
              </p:nvSpPr>
              <p:spPr bwMode="auto">
                <a:xfrm>
                  <a:off x="391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5" name="Freeform 1475"/>
                <p:cNvSpPr>
                  <a:spLocks/>
                </p:cNvSpPr>
                <p:nvPr/>
              </p:nvSpPr>
              <p:spPr bwMode="auto">
                <a:xfrm>
                  <a:off x="391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6" name="Freeform 1476"/>
                <p:cNvSpPr>
                  <a:spLocks/>
                </p:cNvSpPr>
                <p:nvPr/>
              </p:nvSpPr>
              <p:spPr bwMode="auto">
                <a:xfrm>
                  <a:off x="3916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7" name="Freeform 1477"/>
                <p:cNvSpPr>
                  <a:spLocks/>
                </p:cNvSpPr>
                <p:nvPr/>
              </p:nvSpPr>
              <p:spPr bwMode="auto">
                <a:xfrm>
                  <a:off x="391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8" name="Freeform 1478"/>
                <p:cNvSpPr>
                  <a:spLocks/>
                </p:cNvSpPr>
                <p:nvPr/>
              </p:nvSpPr>
              <p:spPr bwMode="auto">
                <a:xfrm>
                  <a:off x="3921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9" name="Freeform 1479"/>
                <p:cNvSpPr>
                  <a:spLocks/>
                </p:cNvSpPr>
                <p:nvPr/>
              </p:nvSpPr>
              <p:spPr bwMode="auto">
                <a:xfrm>
                  <a:off x="392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0" name="Freeform 1480"/>
                <p:cNvSpPr>
                  <a:spLocks/>
                </p:cNvSpPr>
                <p:nvPr/>
              </p:nvSpPr>
              <p:spPr bwMode="auto">
                <a:xfrm>
                  <a:off x="392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1" name="Freeform 1481"/>
                <p:cNvSpPr>
                  <a:spLocks/>
                </p:cNvSpPr>
                <p:nvPr/>
              </p:nvSpPr>
              <p:spPr bwMode="auto">
                <a:xfrm>
                  <a:off x="3855" y="1279"/>
                  <a:ext cx="187" cy="174"/>
                </a:xfrm>
                <a:custGeom>
                  <a:avLst/>
                  <a:gdLst>
                    <a:gd name="T0" fmla="*/ 180 w 187"/>
                    <a:gd name="T1" fmla="*/ 173 h 174"/>
                    <a:gd name="T2" fmla="*/ 180 w 187"/>
                    <a:gd name="T3" fmla="*/ 173 h 174"/>
                    <a:gd name="T4" fmla="*/ 180 w 187"/>
                    <a:gd name="T5" fmla="*/ 172 h 174"/>
                    <a:gd name="T6" fmla="*/ 182 w 187"/>
                    <a:gd name="T7" fmla="*/ 172 h 174"/>
                    <a:gd name="T8" fmla="*/ 182 w 187"/>
                    <a:gd name="T9" fmla="*/ 172 h 174"/>
                    <a:gd name="T10" fmla="*/ 183 w 187"/>
                    <a:gd name="T11" fmla="*/ 171 h 174"/>
                    <a:gd name="T12" fmla="*/ 183 w 187"/>
                    <a:gd name="T13" fmla="*/ 171 h 174"/>
                    <a:gd name="T14" fmla="*/ 184 w 187"/>
                    <a:gd name="T15" fmla="*/ 171 h 174"/>
                    <a:gd name="T16" fmla="*/ 184 w 187"/>
                    <a:gd name="T17" fmla="*/ 170 h 174"/>
                    <a:gd name="T18" fmla="*/ 184 w 187"/>
                    <a:gd name="T19" fmla="*/ 170 h 174"/>
                    <a:gd name="T20" fmla="*/ 184 w 187"/>
                    <a:gd name="T21" fmla="*/ 169 h 174"/>
                    <a:gd name="T22" fmla="*/ 185 w 187"/>
                    <a:gd name="T23" fmla="*/ 169 h 174"/>
                    <a:gd name="T24" fmla="*/ 185 w 187"/>
                    <a:gd name="T25" fmla="*/ 168 h 174"/>
                    <a:gd name="T26" fmla="*/ 186 w 187"/>
                    <a:gd name="T27" fmla="*/ 167 h 174"/>
                    <a:gd name="T28" fmla="*/ 186 w 187"/>
                    <a:gd name="T29" fmla="*/ 167 h 174"/>
                    <a:gd name="T30" fmla="*/ 186 w 187"/>
                    <a:gd name="T31" fmla="*/ 6 h 174"/>
                    <a:gd name="T32" fmla="*/ 186 w 187"/>
                    <a:gd name="T33" fmla="*/ 5 h 174"/>
                    <a:gd name="T34" fmla="*/ 186 w 187"/>
                    <a:gd name="T35" fmla="*/ 5 h 174"/>
                    <a:gd name="T36" fmla="*/ 185 w 187"/>
                    <a:gd name="T37" fmla="*/ 5 h 174"/>
                    <a:gd name="T38" fmla="*/ 185 w 187"/>
                    <a:gd name="T39" fmla="*/ 3 h 174"/>
                    <a:gd name="T40" fmla="*/ 184 w 187"/>
                    <a:gd name="T41" fmla="*/ 3 h 174"/>
                    <a:gd name="T42" fmla="*/ 184 w 187"/>
                    <a:gd name="T43" fmla="*/ 2 h 174"/>
                    <a:gd name="T44" fmla="*/ 184 w 187"/>
                    <a:gd name="T45" fmla="*/ 1 h 174"/>
                    <a:gd name="T46" fmla="*/ 183 w 187"/>
                    <a:gd name="T47" fmla="*/ 1 h 174"/>
                    <a:gd name="T48" fmla="*/ 183 w 187"/>
                    <a:gd name="T49" fmla="*/ 1 h 174"/>
                    <a:gd name="T50" fmla="*/ 182 w 187"/>
                    <a:gd name="T51" fmla="*/ 1 h 174"/>
                    <a:gd name="T52" fmla="*/ 182 w 187"/>
                    <a:gd name="T53" fmla="*/ 0 h 174"/>
                    <a:gd name="T54" fmla="*/ 180 w 187"/>
                    <a:gd name="T55" fmla="*/ 0 h 174"/>
                    <a:gd name="T56" fmla="*/ 180 w 187"/>
                    <a:gd name="T57" fmla="*/ 0 h 174"/>
                    <a:gd name="T58" fmla="*/ 180 w 187"/>
                    <a:gd name="T59" fmla="*/ 0 h 174"/>
                    <a:gd name="T60" fmla="*/ 5 w 187"/>
                    <a:gd name="T61" fmla="*/ 0 h 174"/>
                    <a:gd name="T62" fmla="*/ 4 w 187"/>
                    <a:gd name="T63" fmla="*/ 0 h 174"/>
                    <a:gd name="T64" fmla="*/ 3 w 187"/>
                    <a:gd name="T65" fmla="*/ 0 h 174"/>
                    <a:gd name="T66" fmla="*/ 3 w 187"/>
                    <a:gd name="T67" fmla="*/ 0 h 174"/>
                    <a:gd name="T68" fmla="*/ 2 w 187"/>
                    <a:gd name="T69" fmla="*/ 0 h 174"/>
                    <a:gd name="T70" fmla="*/ 2 w 187"/>
                    <a:gd name="T71" fmla="*/ 1 h 174"/>
                    <a:gd name="T72" fmla="*/ 1 w 187"/>
                    <a:gd name="T73" fmla="*/ 1 h 174"/>
                    <a:gd name="T74" fmla="*/ 1 w 187"/>
                    <a:gd name="T75" fmla="*/ 1 h 174"/>
                    <a:gd name="T76" fmla="*/ 1 w 187"/>
                    <a:gd name="T77" fmla="*/ 2 h 174"/>
                    <a:gd name="T78" fmla="*/ 0 w 187"/>
                    <a:gd name="T79" fmla="*/ 3 h 174"/>
                    <a:gd name="T80" fmla="*/ 0 w 187"/>
                    <a:gd name="T81" fmla="*/ 3 h 174"/>
                    <a:gd name="T82" fmla="*/ 0 w 187"/>
                    <a:gd name="T83" fmla="*/ 3 h 174"/>
                    <a:gd name="T84" fmla="*/ 0 w 187"/>
                    <a:gd name="T85" fmla="*/ 5 h 174"/>
                    <a:gd name="T86" fmla="*/ 0 w 187"/>
                    <a:gd name="T87" fmla="*/ 5 h 174"/>
                    <a:gd name="T88" fmla="*/ 0 w 187"/>
                    <a:gd name="T89" fmla="*/ 6 h 174"/>
                    <a:gd name="T90" fmla="*/ 0 w 187"/>
                    <a:gd name="T91" fmla="*/ 167 h 174"/>
                    <a:gd name="T92" fmla="*/ 0 w 187"/>
                    <a:gd name="T93" fmla="*/ 167 h 174"/>
                    <a:gd name="T94" fmla="*/ 0 w 187"/>
                    <a:gd name="T95" fmla="*/ 168 h 174"/>
                    <a:gd name="T96" fmla="*/ 0 w 187"/>
                    <a:gd name="T97" fmla="*/ 169 h 174"/>
                    <a:gd name="T98" fmla="*/ 0 w 187"/>
                    <a:gd name="T99" fmla="*/ 169 h 174"/>
                    <a:gd name="T100" fmla="*/ 0 w 187"/>
                    <a:gd name="T101" fmla="*/ 170 h 174"/>
                    <a:gd name="T102" fmla="*/ 1 w 187"/>
                    <a:gd name="T103" fmla="*/ 170 h 174"/>
                    <a:gd name="T104" fmla="*/ 1 w 187"/>
                    <a:gd name="T105" fmla="*/ 171 h 174"/>
                    <a:gd name="T106" fmla="*/ 1 w 187"/>
                    <a:gd name="T107" fmla="*/ 171 h 174"/>
                    <a:gd name="T108" fmla="*/ 2 w 187"/>
                    <a:gd name="T109" fmla="*/ 171 h 174"/>
                    <a:gd name="T110" fmla="*/ 2 w 187"/>
                    <a:gd name="T111" fmla="*/ 172 h 174"/>
                    <a:gd name="T112" fmla="*/ 2 w 187"/>
                    <a:gd name="T113" fmla="*/ 172 h 174"/>
                    <a:gd name="T114" fmla="*/ 3 w 187"/>
                    <a:gd name="T115" fmla="*/ 172 h 174"/>
                    <a:gd name="T116" fmla="*/ 3 w 187"/>
                    <a:gd name="T117" fmla="*/ 172 h 174"/>
                    <a:gd name="T118" fmla="*/ 4 w 187"/>
                    <a:gd name="T119" fmla="*/ 173 h 174"/>
                    <a:gd name="T120" fmla="*/ 5 w 187"/>
                    <a:gd name="T121" fmla="*/ 173 h 174"/>
                    <a:gd name="T122" fmla="*/ 180 w 187"/>
                    <a:gd name="T123" fmla="*/ 173 h 174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w 187"/>
                    <a:gd name="T187" fmla="*/ 0 h 174"/>
                    <a:gd name="T188" fmla="*/ 187 w 187"/>
                    <a:gd name="T189" fmla="*/ 174 h 174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T186" t="T187" r="T188" b="T189"/>
                  <a:pathLst>
                    <a:path w="187" h="174">
                      <a:moveTo>
                        <a:pt x="180" y="173"/>
                      </a:moveTo>
                      <a:lnTo>
                        <a:pt x="180" y="173"/>
                      </a:lnTo>
                      <a:lnTo>
                        <a:pt x="180" y="172"/>
                      </a:lnTo>
                      <a:lnTo>
                        <a:pt x="182" y="172"/>
                      </a:lnTo>
                      <a:lnTo>
                        <a:pt x="183" y="171"/>
                      </a:lnTo>
                      <a:lnTo>
                        <a:pt x="184" y="171"/>
                      </a:lnTo>
                      <a:lnTo>
                        <a:pt x="184" y="170"/>
                      </a:lnTo>
                      <a:lnTo>
                        <a:pt x="184" y="169"/>
                      </a:lnTo>
                      <a:lnTo>
                        <a:pt x="185" y="169"/>
                      </a:lnTo>
                      <a:lnTo>
                        <a:pt x="185" y="168"/>
                      </a:lnTo>
                      <a:lnTo>
                        <a:pt x="186" y="167"/>
                      </a:lnTo>
                      <a:lnTo>
                        <a:pt x="186" y="6"/>
                      </a:lnTo>
                      <a:lnTo>
                        <a:pt x="186" y="5"/>
                      </a:lnTo>
                      <a:lnTo>
                        <a:pt x="185" y="5"/>
                      </a:lnTo>
                      <a:lnTo>
                        <a:pt x="185" y="3"/>
                      </a:lnTo>
                      <a:lnTo>
                        <a:pt x="184" y="3"/>
                      </a:lnTo>
                      <a:lnTo>
                        <a:pt x="184" y="2"/>
                      </a:lnTo>
                      <a:lnTo>
                        <a:pt x="184" y="1"/>
                      </a:lnTo>
                      <a:lnTo>
                        <a:pt x="183" y="1"/>
                      </a:lnTo>
                      <a:lnTo>
                        <a:pt x="182" y="1"/>
                      </a:lnTo>
                      <a:lnTo>
                        <a:pt x="182" y="0"/>
                      </a:lnTo>
                      <a:lnTo>
                        <a:pt x="180" y="0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2" y="1"/>
                      </a:lnTo>
                      <a:lnTo>
                        <a:pt x="1" y="1"/>
                      </a:lnTo>
                      <a:lnTo>
                        <a:pt x="1" y="2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0" y="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0" y="169"/>
                      </a:lnTo>
                      <a:lnTo>
                        <a:pt x="0" y="170"/>
                      </a:lnTo>
                      <a:lnTo>
                        <a:pt x="1" y="170"/>
                      </a:lnTo>
                      <a:lnTo>
                        <a:pt x="1" y="171"/>
                      </a:lnTo>
                      <a:lnTo>
                        <a:pt x="2" y="171"/>
                      </a:lnTo>
                      <a:lnTo>
                        <a:pt x="2" y="172"/>
                      </a:lnTo>
                      <a:lnTo>
                        <a:pt x="3" y="172"/>
                      </a:lnTo>
                      <a:lnTo>
                        <a:pt x="4" y="173"/>
                      </a:lnTo>
                      <a:lnTo>
                        <a:pt x="5" y="173"/>
                      </a:lnTo>
                      <a:lnTo>
                        <a:pt x="180" y="173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2" name="Freeform 1482"/>
                <p:cNvSpPr>
                  <a:spLocks/>
                </p:cNvSpPr>
                <p:nvPr/>
              </p:nvSpPr>
              <p:spPr bwMode="auto">
                <a:xfrm>
                  <a:off x="3855" y="1281"/>
                  <a:ext cx="186" cy="172"/>
                </a:xfrm>
                <a:custGeom>
                  <a:avLst/>
                  <a:gdLst>
                    <a:gd name="T0" fmla="*/ 185 w 186"/>
                    <a:gd name="T1" fmla="*/ 165 h 172"/>
                    <a:gd name="T2" fmla="*/ 185 w 186"/>
                    <a:gd name="T3" fmla="*/ 166 h 172"/>
                    <a:gd name="T4" fmla="*/ 185 w 186"/>
                    <a:gd name="T5" fmla="*/ 167 h 172"/>
                    <a:gd name="T6" fmla="*/ 184 w 186"/>
                    <a:gd name="T7" fmla="*/ 167 h 172"/>
                    <a:gd name="T8" fmla="*/ 184 w 186"/>
                    <a:gd name="T9" fmla="*/ 168 h 172"/>
                    <a:gd name="T10" fmla="*/ 183 w 186"/>
                    <a:gd name="T11" fmla="*/ 169 h 172"/>
                    <a:gd name="T12" fmla="*/ 183 w 186"/>
                    <a:gd name="T13" fmla="*/ 169 h 172"/>
                    <a:gd name="T14" fmla="*/ 182 w 186"/>
                    <a:gd name="T15" fmla="*/ 170 h 172"/>
                    <a:gd name="T16" fmla="*/ 182 w 186"/>
                    <a:gd name="T17" fmla="*/ 170 h 172"/>
                    <a:gd name="T18" fmla="*/ 181 w 186"/>
                    <a:gd name="T19" fmla="*/ 170 h 172"/>
                    <a:gd name="T20" fmla="*/ 181 w 186"/>
                    <a:gd name="T21" fmla="*/ 171 h 172"/>
                    <a:gd name="T22" fmla="*/ 180 w 186"/>
                    <a:gd name="T23" fmla="*/ 171 h 172"/>
                    <a:gd name="T24" fmla="*/ 179 w 186"/>
                    <a:gd name="T25" fmla="*/ 171 h 172"/>
                    <a:gd name="T26" fmla="*/ 4 w 186"/>
                    <a:gd name="T27" fmla="*/ 171 h 172"/>
                    <a:gd name="T28" fmla="*/ 3 w 186"/>
                    <a:gd name="T29" fmla="*/ 171 h 172"/>
                    <a:gd name="T30" fmla="*/ 3 w 186"/>
                    <a:gd name="T31" fmla="*/ 171 h 172"/>
                    <a:gd name="T32" fmla="*/ 3 w 186"/>
                    <a:gd name="T33" fmla="*/ 170 h 172"/>
                    <a:gd name="T34" fmla="*/ 2 w 186"/>
                    <a:gd name="T35" fmla="*/ 170 h 172"/>
                    <a:gd name="T36" fmla="*/ 2 w 186"/>
                    <a:gd name="T37" fmla="*/ 170 h 172"/>
                    <a:gd name="T38" fmla="*/ 1 w 186"/>
                    <a:gd name="T39" fmla="*/ 169 h 172"/>
                    <a:gd name="T40" fmla="*/ 1 w 186"/>
                    <a:gd name="T41" fmla="*/ 169 h 172"/>
                    <a:gd name="T42" fmla="*/ 0 w 186"/>
                    <a:gd name="T43" fmla="*/ 169 h 172"/>
                    <a:gd name="T44" fmla="*/ 0 w 186"/>
                    <a:gd name="T45" fmla="*/ 168 h 172"/>
                    <a:gd name="T46" fmla="*/ 0 w 186"/>
                    <a:gd name="T47" fmla="*/ 167 h 172"/>
                    <a:gd name="T48" fmla="*/ 0 w 186"/>
                    <a:gd name="T49" fmla="*/ 167 h 172"/>
                    <a:gd name="T50" fmla="*/ 0 w 186"/>
                    <a:gd name="T51" fmla="*/ 166 h 172"/>
                    <a:gd name="T52" fmla="*/ 0 w 186"/>
                    <a:gd name="T53" fmla="*/ 165 h 172"/>
                    <a:gd name="T54" fmla="*/ 0 w 186"/>
                    <a:gd name="T55" fmla="*/ 5 h 172"/>
                    <a:gd name="T56" fmla="*/ 0 w 186"/>
                    <a:gd name="T57" fmla="*/ 4 h 172"/>
                    <a:gd name="T58" fmla="*/ 0 w 186"/>
                    <a:gd name="T59" fmla="*/ 3 h 172"/>
                    <a:gd name="T60" fmla="*/ 0 w 186"/>
                    <a:gd name="T61" fmla="*/ 3 h 172"/>
                    <a:gd name="T62" fmla="*/ 0 w 186"/>
                    <a:gd name="T63" fmla="*/ 2 h 172"/>
                    <a:gd name="T64" fmla="*/ 0 w 186"/>
                    <a:gd name="T65" fmla="*/ 2 h 172"/>
                    <a:gd name="T66" fmla="*/ 1 w 186"/>
                    <a:gd name="T67" fmla="*/ 1 h 172"/>
                    <a:gd name="T68" fmla="*/ 1 w 186"/>
                    <a:gd name="T69" fmla="*/ 1 h 172"/>
                    <a:gd name="T70" fmla="*/ 2 w 186"/>
                    <a:gd name="T71" fmla="*/ 1 h 172"/>
                    <a:gd name="T72" fmla="*/ 2 w 186"/>
                    <a:gd name="T73" fmla="*/ 0 h 172"/>
                    <a:gd name="T74" fmla="*/ 2 w 186"/>
                    <a:gd name="T75" fmla="*/ 0 h 172"/>
                    <a:gd name="T76" fmla="*/ 3 w 186"/>
                    <a:gd name="T77" fmla="*/ 0 h 172"/>
                    <a:gd name="T78" fmla="*/ 3 w 186"/>
                    <a:gd name="T79" fmla="*/ 0 h 172"/>
                    <a:gd name="T80" fmla="*/ 4 w 186"/>
                    <a:gd name="T81" fmla="*/ 0 h 172"/>
                    <a:gd name="T82" fmla="*/ 179 w 186"/>
                    <a:gd name="T83" fmla="*/ 0 h 172"/>
                    <a:gd name="T84" fmla="*/ 180 w 186"/>
                    <a:gd name="T85" fmla="*/ 0 h 172"/>
                    <a:gd name="T86" fmla="*/ 181 w 186"/>
                    <a:gd name="T87" fmla="*/ 0 h 172"/>
                    <a:gd name="T88" fmla="*/ 181 w 186"/>
                    <a:gd name="T89" fmla="*/ 0 h 172"/>
                    <a:gd name="T90" fmla="*/ 182 w 186"/>
                    <a:gd name="T91" fmla="*/ 0 h 172"/>
                    <a:gd name="T92" fmla="*/ 182 w 186"/>
                    <a:gd name="T93" fmla="*/ 1 h 172"/>
                    <a:gd name="T94" fmla="*/ 183 w 186"/>
                    <a:gd name="T95" fmla="*/ 1 h 172"/>
                    <a:gd name="T96" fmla="*/ 183 w 186"/>
                    <a:gd name="T97" fmla="*/ 1 h 172"/>
                    <a:gd name="T98" fmla="*/ 183 w 186"/>
                    <a:gd name="T99" fmla="*/ 2 h 172"/>
                    <a:gd name="T100" fmla="*/ 184 w 186"/>
                    <a:gd name="T101" fmla="*/ 2 h 172"/>
                    <a:gd name="T102" fmla="*/ 184 w 186"/>
                    <a:gd name="T103" fmla="*/ 3 h 172"/>
                    <a:gd name="T104" fmla="*/ 185 w 186"/>
                    <a:gd name="T105" fmla="*/ 3 h 172"/>
                    <a:gd name="T106" fmla="*/ 185 w 186"/>
                    <a:gd name="T107" fmla="*/ 4 h 172"/>
                    <a:gd name="T108" fmla="*/ 185 w 186"/>
                    <a:gd name="T109" fmla="*/ 5 h 172"/>
                    <a:gd name="T110" fmla="*/ 185 w 186"/>
                    <a:gd name="T111" fmla="*/ 165 h 172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86"/>
                    <a:gd name="T169" fmla="*/ 0 h 172"/>
                    <a:gd name="T170" fmla="*/ 186 w 186"/>
                    <a:gd name="T171" fmla="*/ 172 h 172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86" h="172">
                      <a:moveTo>
                        <a:pt x="185" y="165"/>
                      </a:moveTo>
                      <a:lnTo>
                        <a:pt x="185" y="166"/>
                      </a:lnTo>
                      <a:lnTo>
                        <a:pt x="185" y="167"/>
                      </a:lnTo>
                      <a:lnTo>
                        <a:pt x="184" y="167"/>
                      </a:lnTo>
                      <a:lnTo>
                        <a:pt x="184" y="168"/>
                      </a:lnTo>
                      <a:lnTo>
                        <a:pt x="183" y="169"/>
                      </a:lnTo>
                      <a:lnTo>
                        <a:pt x="182" y="170"/>
                      </a:lnTo>
                      <a:lnTo>
                        <a:pt x="181" y="170"/>
                      </a:lnTo>
                      <a:lnTo>
                        <a:pt x="181" y="171"/>
                      </a:lnTo>
                      <a:lnTo>
                        <a:pt x="180" y="171"/>
                      </a:lnTo>
                      <a:lnTo>
                        <a:pt x="179" y="171"/>
                      </a:lnTo>
                      <a:lnTo>
                        <a:pt x="4" y="171"/>
                      </a:lnTo>
                      <a:lnTo>
                        <a:pt x="3" y="171"/>
                      </a:lnTo>
                      <a:lnTo>
                        <a:pt x="3" y="170"/>
                      </a:lnTo>
                      <a:lnTo>
                        <a:pt x="2" y="170"/>
                      </a:lnTo>
                      <a:lnTo>
                        <a:pt x="1" y="169"/>
                      </a:lnTo>
                      <a:lnTo>
                        <a:pt x="0" y="169"/>
                      </a:lnTo>
                      <a:lnTo>
                        <a:pt x="0" y="168"/>
                      </a:lnTo>
                      <a:lnTo>
                        <a:pt x="0" y="167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79" y="0"/>
                      </a:lnTo>
                      <a:lnTo>
                        <a:pt x="180" y="0"/>
                      </a:lnTo>
                      <a:lnTo>
                        <a:pt x="181" y="0"/>
                      </a:lnTo>
                      <a:lnTo>
                        <a:pt x="182" y="0"/>
                      </a:lnTo>
                      <a:lnTo>
                        <a:pt x="182" y="1"/>
                      </a:lnTo>
                      <a:lnTo>
                        <a:pt x="183" y="1"/>
                      </a:lnTo>
                      <a:lnTo>
                        <a:pt x="183" y="2"/>
                      </a:lnTo>
                      <a:lnTo>
                        <a:pt x="184" y="2"/>
                      </a:lnTo>
                      <a:lnTo>
                        <a:pt x="184" y="3"/>
                      </a:lnTo>
                      <a:lnTo>
                        <a:pt x="185" y="3"/>
                      </a:lnTo>
                      <a:lnTo>
                        <a:pt x="185" y="4"/>
                      </a:lnTo>
                      <a:lnTo>
                        <a:pt x="185" y="5"/>
                      </a:lnTo>
                      <a:lnTo>
                        <a:pt x="185" y="165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3" name="Freeform 1483"/>
                <p:cNvSpPr>
                  <a:spLocks/>
                </p:cNvSpPr>
                <p:nvPr/>
              </p:nvSpPr>
              <p:spPr bwMode="auto">
                <a:xfrm>
                  <a:off x="3857" y="1281"/>
                  <a:ext cx="181" cy="171"/>
                </a:xfrm>
                <a:custGeom>
                  <a:avLst/>
                  <a:gdLst>
                    <a:gd name="T0" fmla="*/ 180 w 181"/>
                    <a:gd name="T1" fmla="*/ 3 h 171"/>
                    <a:gd name="T2" fmla="*/ 180 w 181"/>
                    <a:gd name="T3" fmla="*/ 3 h 171"/>
                    <a:gd name="T4" fmla="*/ 180 w 181"/>
                    <a:gd name="T5" fmla="*/ 2 h 171"/>
                    <a:gd name="T6" fmla="*/ 179 w 181"/>
                    <a:gd name="T7" fmla="*/ 2 h 171"/>
                    <a:gd name="T8" fmla="*/ 179 w 181"/>
                    <a:gd name="T9" fmla="*/ 1 h 171"/>
                    <a:gd name="T10" fmla="*/ 178 w 181"/>
                    <a:gd name="T11" fmla="*/ 1 h 171"/>
                    <a:gd name="T12" fmla="*/ 178 w 181"/>
                    <a:gd name="T13" fmla="*/ 0 h 171"/>
                    <a:gd name="T14" fmla="*/ 177 w 181"/>
                    <a:gd name="T15" fmla="*/ 0 h 171"/>
                    <a:gd name="T16" fmla="*/ 177 w 181"/>
                    <a:gd name="T17" fmla="*/ 0 h 171"/>
                    <a:gd name="T18" fmla="*/ 177 w 181"/>
                    <a:gd name="T19" fmla="*/ 0 h 171"/>
                    <a:gd name="T20" fmla="*/ 176 w 181"/>
                    <a:gd name="T21" fmla="*/ 0 h 171"/>
                    <a:gd name="T22" fmla="*/ 176 w 181"/>
                    <a:gd name="T23" fmla="*/ 0 h 171"/>
                    <a:gd name="T24" fmla="*/ 3 w 181"/>
                    <a:gd name="T25" fmla="*/ 0 h 171"/>
                    <a:gd name="T26" fmla="*/ 3 w 181"/>
                    <a:gd name="T27" fmla="*/ 0 h 171"/>
                    <a:gd name="T28" fmla="*/ 2 w 181"/>
                    <a:gd name="T29" fmla="*/ 0 h 171"/>
                    <a:gd name="T30" fmla="*/ 2 w 181"/>
                    <a:gd name="T31" fmla="*/ 0 h 171"/>
                    <a:gd name="T32" fmla="*/ 1 w 181"/>
                    <a:gd name="T33" fmla="*/ 0 h 171"/>
                    <a:gd name="T34" fmla="*/ 1 w 181"/>
                    <a:gd name="T35" fmla="*/ 0 h 171"/>
                    <a:gd name="T36" fmla="*/ 1 w 181"/>
                    <a:gd name="T37" fmla="*/ 1 h 171"/>
                    <a:gd name="T38" fmla="*/ 0 w 181"/>
                    <a:gd name="T39" fmla="*/ 1 h 171"/>
                    <a:gd name="T40" fmla="*/ 0 w 181"/>
                    <a:gd name="T41" fmla="*/ 1 h 171"/>
                    <a:gd name="T42" fmla="*/ 0 w 181"/>
                    <a:gd name="T43" fmla="*/ 2 h 171"/>
                    <a:gd name="T44" fmla="*/ 0 w 181"/>
                    <a:gd name="T45" fmla="*/ 3 h 171"/>
                    <a:gd name="T46" fmla="*/ 0 w 181"/>
                    <a:gd name="T47" fmla="*/ 3 h 171"/>
                    <a:gd name="T48" fmla="*/ 0 w 181"/>
                    <a:gd name="T49" fmla="*/ 166 h 171"/>
                    <a:gd name="T50" fmla="*/ 0 w 181"/>
                    <a:gd name="T51" fmla="*/ 166 h 171"/>
                    <a:gd name="T52" fmla="*/ 0 w 181"/>
                    <a:gd name="T53" fmla="*/ 167 h 171"/>
                    <a:gd name="T54" fmla="*/ 0 w 181"/>
                    <a:gd name="T55" fmla="*/ 168 h 171"/>
                    <a:gd name="T56" fmla="*/ 0 w 181"/>
                    <a:gd name="T57" fmla="*/ 168 h 171"/>
                    <a:gd name="T58" fmla="*/ 1 w 181"/>
                    <a:gd name="T59" fmla="*/ 168 h 171"/>
                    <a:gd name="T60" fmla="*/ 1 w 181"/>
                    <a:gd name="T61" fmla="*/ 169 h 171"/>
                    <a:gd name="T62" fmla="*/ 2 w 181"/>
                    <a:gd name="T63" fmla="*/ 169 h 171"/>
                    <a:gd name="T64" fmla="*/ 2 w 181"/>
                    <a:gd name="T65" fmla="*/ 169 h 171"/>
                    <a:gd name="T66" fmla="*/ 3 w 181"/>
                    <a:gd name="T67" fmla="*/ 170 h 171"/>
                    <a:gd name="T68" fmla="*/ 3 w 181"/>
                    <a:gd name="T69" fmla="*/ 170 h 171"/>
                    <a:gd name="T70" fmla="*/ 176 w 181"/>
                    <a:gd name="T71" fmla="*/ 170 h 171"/>
                    <a:gd name="T72" fmla="*/ 176 w 181"/>
                    <a:gd name="T73" fmla="*/ 169 h 171"/>
                    <a:gd name="T74" fmla="*/ 177 w 181"/>
                    <a:gd name="T75" fmla="*/ 169 h 171"/>
                    <a:gd name="T76" fmla="*/ 177 w 181"/>
                    <a:gd name="T77" fmla="*/ 169 h 171"/>
                    <a:gd name="T78" fmla="*/ 178 w 181"/>
                    <a:gd name="T79" fmla="*/ 169 h 171"/>
                    <a:gd name="T80" fmla="*/ 178 w 181"/>
                    <a:gd name="T81" fmla="*/ 168 h 171"/>
                    <a:gd name="T82" fmla="*/ 178 w 181"/>
                    <a:gd name="T83" fmla="*/ 168 h 171"/>
                    <a:gd name="T84" fmla="*/ 179 w 181"/>
                    <a:gd name="T85" fmla="*/ 168 h 171"/>
                    <a:gd name="T86" fmla="*/ 179 w 181"/>
                    <a:gd name="T87" fmla="*/ 167 h 171"/>
                    <a:gd name="T88" fmla="*/ 180 w 181"/>
                    <a:gd name="T89" fmla="*/ 166 h 171"/>
                    <a:gd name="T90" fmla="*/ 180 w 181"/>
                    <a:gd name="T91" fmla="*/ 166 h 171"/>
                    <a:gd name="T92" fmla="*/ 180 w 181"/>
                    <a:gd name="T93" fmla="*/ 3 h 171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w 181"/>
                    <a:gd name="T142" fmla="*/ 0 h 171"/>
                    <a:gd name="T143" fmla="*/ 181 w 181"/>
                    <a:gd name="T144" fmla="*/ 171 h 171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T141" t="T142" r="T143" b="T144"/>
                  <a:pathLst>
                    <a:path w="181" h="171">
                      <a:moveTo>
                        <a:pt x="180" y="3"/>
                      </a:moveTo>
                      <a:lnTo>
                        <a:pt x="180" y="3"/>
                      </a:lnTo>
                      <a:lnTo>
                        <a:pt x="180" y="2"/>
                      </a:lnTo>
                      <a:lnTo>
                        <a:pt x="179" y="2"/>
                      </a:lnTo>
                      <a:lnTo>
                        <a:pt x="179" y="1"/>
                      </a:lnTo>
                      <a:lnTo>
                        <a:pt x="178" y="1"/>
                      </a:lnTo>
                      <a:lnTo>
                        <a:pt x="178" y="0"/>
                      </a:lnTo>
                      <a:lnTo>
                        <a:pt x="177" y="0"/>
                      </a:lnTo>
                      <a:lnTo>
                        <a:pt x="17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16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1" y="169"/>
                      </a:lnTo>
                      <a:lnTo>
                        <a:pt x="2" y="169"/>
                      </a:lnTo>
                      <a:lnTo>
                        <a:pt x="3" y="170"/>
                      </a:lnTo>
                      <a:lnTo>
                        <a:pt x="176" y="170"/>
                      </a:lnTo>
                      <a:lnTo>
                        <a:pt x="176" y="169"/>
                      </a:lnTo>
                      <a:lnTo>
                        <a:pt x="177" y="169"/>
                      </a:lnTo>
                      <a:lnTo>
                        <a:pt x="178" y="169"/>
                      </a:lnTo>
                      <a:lnTo>
                        <a:pt x="178" y="168"/>
                      </a:lnTo>
                      <a:lnTo>
                        <a:pt x="179" y="168"/>
                      </a:lnTo>
                      <a:lnTo>
                        <a:pt x="179" y="167"/>
                      </a:lnTo>
                      <a:lnTo>
                        <a:pt x="180" y="166"/>
                      </a:lnTo>
                      <a:lnTo>
                        <a:pt x="180" y="3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4" name="Freeform 1484"/>
                <p:cNvSpPr>
                  <a:spLocks/>
                </p:cNvSpPr>
                <p:nvPr/>
              </p:nvSpPr>
              <p:spPr bwMode="auto">
                <a:xfrm>
                  <a:off x="3858" y="1282"/>
                  <a:ext cx="180" cy="168"/>
                </a:xfrm>
                <a:custGeom>
                  <a:avLst/>
                  <a:gdLst>
                    <a:gd name="T0" fmla="*/ 179 w 180"/>
                    <a:gd name="T1" fmla="*/ 163 h 168"/>
                    <a:gd name="T2" fmla="*/ 179 w 180"/>
                    <a:gd name="T3" fmla="*/ 164 h 168"/>
                    <a:gd name="T4" fmla="*/ 178 w 180"/>
                    <a:gd name="T5" fmla="*/ 165 h 168"/>
                    <a:gd name="T6" fmla="*/ 178 w 180"/>
                    <a:gd name="T7" fmla="*/ 165 h 168"/>
                    <a:gd name="T8" fmla="*/ 177 w 180"/>
                    <a:gd name="T9" fmla="*/ 166 h 168"/>
                    <a:gd name="T10" fmla="*/ 177 w 180"/>
                    <a:gd name="T11" fmla="*/ 166 h 168"/>
                    <a:gd name="T12" fmla="*/ 176 w 180"/>
                    <a:gd name="T13" fmla="*/ 167 h 168"/>
                    <a:gd name="T14" fmla="*/ 176 w 180"/>
                    <a:gd name="T15" fmla="*/ 167 h 168"/>
                    <a:gd name="T16" fmla="*/ 2 w 180"/>
                    <a:gd name="T17" fmla="*/ 167 h 168"/>
                    <a:gd name="T18" fmla="*/ 2 w 180"/>
                    <a:gd name="T19" fmla="*/ 167 h 168"/>
                    <a:gd name="T20" fmla="*/ 1 w 180"/>
                    <a:gd name="T21" fmla="*/ 167 h 168"/>
                    <a:gd name="T22" fmla="*/ 1 w 180"/>
                    <a:gd name="T23" fmla="*/ 166 h 168"/>
                    <a:gd name="T24" fmla="*/ 1 w 180"/>
                    <a:gd name="T25" fmla="*/ 166 h 168"/>
                    <a:gd name="T26" fmla="*/ 0 w 180"/>
                    <a:gd name="T27" fmla="*/ 166 h 168"/>
                    <a:gd name="T28" fmla="*/ 0 w 180"/>
                    <a:gd name="T29" fmla="*/ 165 h 168"/>
                    <a:gd name="T30" fmla="*/ 0 w 180"/>
                    <a:gd name="T31" fmla="*/ 165 h 168"/>
                    <a:gd name="T32" fmla="*/ 0 w 180"/>
                    <a:gd name="T33" fmla="*/ 165 h 168"/>
                    <a:gd name="T34" fmla="*/ 0 w 180"/>
                    <a:gd name="T35" fmla="*/ 164 h 168"/>
                    <a:gd name="T36" fmla="*/ 0 w 180"/>
                    <a:gd name="T37" fmla="*/ 163 h 168"/>
                    <a:gd name="T38" fmla="*/ 0 w 180"/>
                    <a:gd name="T39" fmla="*/ 3 h 168"/>
                    <a:gd name="T40" fmla="*/ 0 w 180"/>
                    <a:gd name="T41" fmla="*/ 2 h 168"/>
                    <a:gd name="T42" fmla="*/ 0 w 180"/>
                    <a:gd name="T43" fmla="*/ 1 h 168"/>
                    <a:gd name="T44" fmla="*/ 0 w 180"/>
                    <a:gd name="T45" fmla="*/ 1 h 168"/>
                    <a:gd name="T46" fmla="*/ 0 w 180"/>
                    <a:gd name="T47" fmla="*/ 1 h 168"/>
                    <a:gd name="T48" fmla="*/ 1 w 180"/>
                    <a:gd name="T49" fmla="*/ 0 h 168"/>
                    <a:gd name="T50" fmla="*/ 1 w 180"/>
                    <a:gd name="T51" fmla="*/ 0 h 168"/>
                    <a:gd name="T52" fmla="*/ 2 w 180"/>
                    <a:gd name="T53" fmla="*/ 0 h 168"/>
                    <a:gd name="T54" fmla="*/ 2 w 180"/>
                    <a:gd name="T55" fmla="*/ 0 h 168"/>
                    <a:gd name="T56" fmla="*/ 176 w 180"/>
                    <a:gd name="T57" fmla="*/ 0 h 168"/>
                    <a:gd name="T58" fmla="*/ 176 w 180"/>
                    <a:gd name="T59" fmla="*/ 0 h 168"/>
                    <a:gd name="T60" fmla="*/ 176 w 180"/>
                    <a:gd name="T61" fmla="*/ 0 h 168"/>
                    <a:gd name="T62" fmla="*/ 177 w 180"/>
                    <a:gd name="T63" fmla="*/ 0 h 168"/>
                    <a:gd name="T64" fmla="*/ 177 w 180"/>
                    <a:gd name="T65" fmla="*/ 0 h 168"/>
                    <a:gd name="T66" fmla="*/ 177 w 180"/>
                    <a:gd name="T67" fmla="*/ 1 h 168"/>
                    <a:gd name="T68" fmla="*/ 178 w 180"/>
                    <a:gd name="T69" fmla="*/ 1 h 168"/>
                    <a:gd name="T70" fmla="*/ 178 w 180"/>
                    <a:gd name="T71" fmla="*/ 1 h 168"/>
                    <a:gd name="T72" fmla="*/ 179 w 180"/>
                    <a:gd name="T73" fmla="*/ 2 h 168"/>
                    <a:gd name="T74" fmla="*/ 179 w 180"/>
                    <a:gd name="T75" fmla="*/ 3 h 168"/>
                    <a:gd name="T76" fmla="*/ 179 w 180"/>
                    <a:gd name="T77" fmla="*/ 16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80"/>
                    <a:gd name="T118" fmla="*/ 0 h 168"/>
                    <a:gd name="T119" fmla="*/ 180 w 180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80" h="168">
                      <a:moveTo>
                        <a:pt x="179" y="163"/>
                      </a:moveTo>
                      <a:lnTo>
                        <a:pt x="179" y="164"/>
                      </a:lnTo>
                      <a:lnTo>
                        <a:pt x="178" y="165"/>
                      </a:lnTo>
                      <a:lnTo>
                        <a:pt x="177" y="166"/>
                      </a:lnTo>
                      <a:lnTo>
                        <a:pt x="176" y="167"/>
                      </a:lnTo>
                      <a:lnTo>
                        <a:pt x="2" y="167"/>
                      </a:lnTo>
                      <a:lnTo>
                        <a:pt x="1" y="167"/>
                      </a:lnTo>
                      <a:lnTo>
                        <a:pt x="1" y="166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164"/>
                      </a:lnTo>
                      <a:lnTo>
                        <a:pt x="0" y="163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2" y="0"/>
                      </a:lnTo>
                      <a:lnTo>
                        <a:pt x="176" y="0"/>
                      </a:lnTo>
                      <a:lnTo>
                        <a:pt x="177" y="0"/>
                      </a:lnTo>
                      <a:lnTo>
                        <a:pt x="177" y="1"/>
                      </a:lnTo>
                      <a:lnTo>
                        <a:pt x="178" y="1"/>
                      </a:lnTo>
                      <a:lnTo>
                        <a:pt x="179" y="2"/>
                      </a:lnTo>
                      <a:lnTo>
                        <a:pt x="179" y="3"/>
                      </a:lnTo>
                      <a:lnTo>
                        <a:pt x="179" y="163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5" name="Freeform 1485"/>
                <p:cNvSpPr>
                  <a:spLocks/>
                </p:cNvSpPr>
                <p:nvPr/>
              </p:nvSpPr>
              <p:spPr bwMode="auto">
                <a:xfrm>
                  <a:off x="3877" y="1304"/>
                  <a:ext cx="142" cy="124"/>
                </a:xfrm>
                <a:custGeom>
                  <a:avLst/>
                  <a:gdLst>
                    <a:gd name="T0" fmla="*/ 0 w 142"/>
                    <a:gd name="T1" fmla="*/ 1 h 124"/>
                    <a:gd name="T2" fmla="*/ 1 w 142"/>
                    <a:gd name="T3" fmla="*/ 1 h 124"/>
                    <a:gd name="T4" fmla="*/ 1 w 142"/>
                    <a:gd name="T5" fmla="*/ 1 h 124"/>
                    <a:gd name="T6" fmla="*/ 2 w 142"/>
                    <a:gd name="T7" fmla="*/ 0 h 124"/>
                    <a:gd name="T8" fmla="*/ 2 w 142"/>
                    <a:gd name="T9" fmla="*/ 0 h 124"/>
                    <a:gd name="T10" fmla="*/ 3 w 142"/>
                    <a:gd name="T11" fmla="*/ 0 h 124"/>
                    <a:gd name="T12" fmla="*/ 3 w 142"/>
                    <a:gd name="T13" fmla="*/ 0 h 124"/>
                    <a:gd name="T14" fmla="*/ 4 w 142"/>
                    <a:gd name="T15" fmla="*/ 0 h 124"/>
                    <a:gd name="T16" fmla="*/ 135 w 142"/>
                    <a:gd name="T17" fmla="*/ 0 h 124"/>
                    <a:gd name="T18" fmla="*/ 136 w 142"/>
                    <a:gd name="T19" fmla="*/ 0 h 124"/>
                    <a:gd name="T20" fmla="*/ 137 w 142"/>
                    <a:gd name="T21" fmla="*/ 0 h 124"/>
                    <a:gd name="T22" fmla="*/ 137 w 142"/>
                    <a:gd name="T23" fmla="*/ 0 h 124"/>
                    <a:gd name="T24" fmla="*/ 138 w 142"/>
                    <a:gd name="T25" fmla="*/ 0 h 124"/>
                    <a:gd name="T26" fmla="*/ 138 w 142"/>
                    <a:gd name="T27" fmla="*/ 1 h 124"/>
                    <a:gd name="T28" fmla="*/ 139 w 142"/>
                    <a:gd name="T29" fmla="*/ 1 h 124"/>
                    <a:gd name="T30" fmla="*/ 139 w 142"/>
                    <a:gd name="T31" fmla="*/ 1 h 124"/>
                    <a:gd name="T32" fmla="*/ 140 w 142"/>
                    <a:gd name="T33" fmla="*/ 2 h 124"/>
                    <a:gd name="T34" fmla="*/ 140 w 142"/>
                    <a:gd name="T35" fmla="*/ 3 h 124"/>
                    <a:gd name="T36" fmla="*/ 141 w 142"/>
                    <a:gd name="T37" fmla="*/ 3 h 124"/>
                    <a:gd name="T38" fmla="*/ 141 w 142"/>
                    <a:gd name="T39" fmla="*/ 4 h 124"/>
                    <a:gd name="T40" fmla="*/ 141 w 142"/>
                    <a:gd name="T41" fmla="*/ 5 h 124"/>
                    <a:gd name="T42" fmla="*/ 141 w 142"/>
                    <a:gd name="T43" fmla="*/ 117 h 124"/>
                    <a:gd name="T44" fmla="*/ 141 w 142"/>
                    <a:gd name="T45" fmla="*/ 119 h 124"/>
                    <a:gd name="T46" fmla="*/ 140 w 142"/>
                    <a:gd name="T47" fmla="*/ 119 h 124"/>
                    <a:gd name="T48" fmla="*/ 140 w 142"/>
                    <a:gd name="T49" fmla="*/ 120 h 124"/>
                    <a:gd name="T50" fmla="*/ 139 w 142"/>
                    <a:gd name="T51" fmla="*/ 121 h 124"/>
                    <a:gd name="T52" fmla="*/ 139 w 142"/>
                    <a:gd name="T53" fmla="*/ 121 h 124"/>
                    <a:gd name="T54" fmla="*/ 138 w 142"/>
                    <a:gd name="T55" fmla="*/ 122 h 124"/>
                    <a:gd name="T56" fmla="*/ 138 w 142"/>
                    <a:gd name="T57" fmla="*/ 122 h 124"/>
                    <a:gd name="T58" fmla="*/ 137 w 142"/>
                    <a:gd name="T59" fmla="*/ 122 h 124"/>
                    <a:gd name="T60" fmla="*/ 137 w 142"/>
                    <a:gd name="T61" fmla="*/ 123 h 124"/>
                    <a:gd name="T62" fmla="*/ 136 w 142"/>
                    <a:gd name="T63" fmla="*/ 123 h 124"/>
                    <a:gd name="T64" fmla="*/ 135 w 142"/>
                    <a:gd name="T65" fmla="*/ 123 h 124"/>
                    <a:gd name="T66" fmla="*/ 4 w 142"/>
                    <a:gd name="T67" fmla="*/ 123 h 124"/>
                    <a:gd name="T68" fmla="*/ 3 w 142"/>
                    <a:gd name="T69" fmla="*/ 123 h 124"/>
                    <a:gd name="T70" fmla="*/ 3 w 142"/>
                    <a:gd name="T71" fmla="*/ 123 h 124"/>
                    <a:gd name="T72" fmla="*/ 2 w 142"/>
                    <a:gd name="T73" fmla="*/ 122 h 124"/>
                    <a:gd name="T74" fmla="*/ 2 w 142"/>
                    <a:gd name="T75" fmla="*/ 122 h 124"/>
                    <a:gd name="T76" fmla="*/ 1 w 142"/>
                    <a:gd name="T77" fmla="*/ 122 h 124"/>
                    <a:gd name="T78" fmla="*/ 1 w 142"/>
                    <a:gd name="T79" fmla="*/ 121 h 124"/>
                    <a:gd name="T80" fmla="*/ 0 w 142"/>
                    <a:gd name="T81" fmla="*/ 121 h 124"/>
                    <a:gd name="T82" fmla="*/ 0 w 142"/>
                    <a:gd name="T83" fmla="*/ 120 h 124"/>
                    <a:gd name="T84" fmla="*/ 0 w 142"/>
                    <a:gd name="T85" fmla="*/ 119 h 124"/>
                    <a:gd name="T86" fmla="*/ 0 w 142"/>
                    <a:gd name="T87" fmla="*/ 119 h 124"/>
                    <a:gd name="T88" fmla="*/ 0 w 142"/>
                    <a:gd name="T89" fmla="*/ 117 h 124"/>
                    <a:gd name="T90" fmla="*/ 0 w 142"/>
                    <a:gd name="T91" fmla="*/ 5 h 124"/>
                    <a:gd name="T92" fmla="*/ 0 w 142"/>
                    <a:gd name="T93" fmla="*/ 4 h 124"/>
                    <a:gd name="T94" fmla="*/ 0 w 142"/>
                    <a:gd name="T95" fmla="*/ 3 h 124"/>
                    <a:gd name="T96" fmla="*/ 0 w 142"/>
                    <a:gd name="T97" fmla="*/ 3 h 124"/>
                    <a:gd name="T98" fmla="*/ 0 w 142"/>
                    <a:gd name="T99" fmla="*/ 2 h 124"/>
                    <a:gd name="T100" fmla="*/ 0 w 142"/>
                    <a:gd name="T101" fmla="*/ 1 h 124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42"/>
                    <a:gd name="T154" fmla="*/ 0 h 124"/>
                    <a:gd name="T155" fmla="*/ 142 w 142"/>
                    <a:gd name="T156" fmla="*/ 124 h 124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42" h="124">
                      <a:moveTo>
                        <a:pt x="0" y="1"/>
                      </a:moveTo>
                      <a:lnTo>
                        <a:pt x="1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8" y="1"/>
                      </a:lnTo>
                      <a:lnTo>
                        <a:pt x="139" y="1"/>
                      </a:lnTo>
                      <a:lnTo>
                        <a:pt x="140" y="2"/>
                      </a:lnTo>
                      <a:lnTo>
                        <a:pt x="140" y="3"/>
                      </a:lnTo>
                      <a:lnTo>
                        <a:pt x="141" y="3"/>
                      </a:lnTo>
                      <a:lnTo>
                        <a:pt x="141" y="4"/>
                      </a:lnTo>
                      <a:lnTo>
                        <a:pt x="141" y="5"/>
                      </a:lnTo>
                      <a:lnTo>
                        <a:pt x="141" y="117"/>
                      </a:lnTo>
                      <a:lnTo>
                        <a:pt x="141" y="119"/>
                      </a:lnTo>
                      <a:lnTo>
                        <a:pt x="140" y="119"/>
                      </a:lnTo>
                      <a:lnTo>
                        <a:pt x="140" y="120"/>
                      </a:lnTo>
                      <a:lnTo>
                        <a:pt x="139" y="121"/>
                      </a:lnTo>
                      <a:lnTo>
                        <a:pt x="138" y="122"/>
                      </a:lnTo>
                      <a:lnTo>
                        <a:pt x="137" y="122"/>
                      </a:lnTo>
                      <a:lnTo>
                        <a:pt x="137" y="123"/>
                      </a:lnTo>
                      <a:lnTo>
                        <a:pt x="136" y="123"/>
                      </a:lnTo>
                      <a:lnTo>
                        <a:pt x="135" y="123"/>
                      </a:lnTo>
                      <a:lnTo>
                        <a:pt x="4" y="123"/>
                      </a:lnTo>
                      <a:lnTo>
                        <a:pt x="3" y="123"/>
                      </a:lnTo>
                      <a:lnTo>
                        <a:pt x="2" y="122"/>
                      </a:lnTo>
                      <a:lnTo>
                        <a:pt x="1" y="122"/>
                      </a:lnTo>
                      <a:lnTo>
                        <a:pt x="1" y="121"/>
                      </a:lnTo>
                      <a:lnTo>
                        <a:pt x="0" y="121"/>
                      </a:lnTo>
                      <a:lnTo>
                        <a:pt x="0" y="120"/>
                      </a:lnTo>
                      <a:lnTo>
                        <a:pt x="0" y="119"/>
                      </a:lnTo>
                      <a:lnTo>
                        <a:pt x="0" y="117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</a:path>
                  </a:pathLst>
                </a:custGeom>
                <a:gradFill rotWithShape="0">
                  <a:gsLst>
                    <a:gs pos="0">
                      <a:srgbClr val="1D2B4B"/>
                    </a:gs>
                    <a:gs pos="50000">
                      <a:srgbClr val="618FFD"/>
                    </a:gs>
                    <a:gs pos="100000">
                      <a:srgbClr val="1D2B4B"/>
                    </a:gs>
                  </a:gsLst>
                  <a:lin ang="2700000" scaled="1"/>
                </a:gra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6" name="Freeform 1486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4 h 17"/>
                    <a:gd name="T2" fmla="*/ 151 w 153"/>
                    <a:gd name="T3" fmla="*/ 3 h 17"/>
                    <a:gd name="T4" fmla="*/ 151 w 153"/>
                    <a:gd name="T5" fmla="*/ 2 h 17"/>
                    <a:gd name="T6" fmla="*/ 150 w 153"/>
                    <a:gd name="T7" fmla="*/ 2 h 17"/>
                    <a:gd name="T8" fmla="*/ 150 w 153"/>
                    <a:gd name="T9" fmla="*/ 2 h 17"/>
                    <a:gd name="T10" fmla="*/ 150 w 153"/>
                    <a:gd name="T11" fmla="*/ 1 h 17"/>
                    <a:gd name="T12" fmla="*/ 149 w 153"/>
                    <a:gd name="T13" fmla="*/ 1 h 17"/>
                    <a:gd name="T14" fmla="*/ 149 w 153"/>
                    <a:gd name="T15" fmla="*/ 1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1 h 17"/>
                    <a:gd name="T32" fmla="*/ 1 w 153"/>
                    <a:gd name="T33" fmla="*/ 1 h 17"/>
                    <a:gd name="T34" fmla="*/ 0 w 153"/>
                    <a:gd name="T35" fmla="*/ 2 h 17"/>
                    <a:gd name="T36" fmla="*/ 0 w 153"/>
                    <a:gd name="T37" fmla="*/ 2 h 17"/>
                    <a:gd name="T38" fmla="*/ 0 w 153"/>
                    <a:gd name="T39" fmla="*/ 3 h 17"/>
                    <a:gd name="T40" fmla="*/ 6 w 153"/>
                    <a:gd name="T41" fmla="*/ 16 h 17"/>
                    <a:gd name="T42" fmla="*/ 7 w 153"/>
                    <a:gd name="T43" fmla="*/ 14 h 17"/>
                    <a:gd name="T44" fmla="*/ 7 w 153"/>
                    <a:gd name="T45" fmla="*/ 14 h 17"/>
                    <a:gd name="T46" fmla="*/ 8 w 153"/>
                    <a:gd name="T47" fmla="*/ 13 h 17"/>
                    <a:gd name="T48" fmla="*/ 8 w 153"/>
                    <a:gd name="T49" fmla="*/ 13 h 17"/>
                    <a:gd name="T50" fmla="*/ 8 w 153"/>
                    <a:gd name="T51" fmla="*/ 12 h 17"/>
                    <a:gd name="T52" fmla="*/ 9 w 153"/>
                    <a:gd name="T53" fmla="*/ 12 h 17"/>
                    <a:gd name="T54" fmla="*/ 10 w 153"/>
                    <a:gd name="T55" fmla="*/ 12 h 17"/>
                    <a:gd name="T56" fmla="*/ 140 w 153"/>
                    <a:gd name="T57" fmla="*/ 12 h 17"/>
                    <a:gd name="T58" fmla="*/ 141 w 153"/>
                    <a:gd name="T59" fmla="*/ 12 h 17"/>
                    <a:gd name="T60" fmla="*/ 142 w 153"/>
                    <a:gd name="T61" fmla="*/ 12 h 17"/>
                    <a:gd name="T62" fmla="*/ 142 w 153"/>
                    <a:gd name="T63" fmla="*/ 13 h 17"/>
                    <a:gd name="T64" fmla="*/ 143 w 153"/>
                    <a:gd name="T65" fmla="*/ 13 h 17"/>
                    <a:gd name="T66" fmla="*/ 143 w 153"/>
                    <a:gd name="T67" fmla="*/ 14 h 17"/>
                    <a:gd name="T68" fmla="*/ 143 w 153"/>
                    <a:gd name="T69" fmla="*/ 14 h 17"/>
                    <a:gd name="T70" fmla="*/ 144 w 153"/>
                    <a:gd name="T71" fmla="*/ 14 h 17"/>
                    <a:gd name="T72" fmla="*/ 152 w 153"/>
                    <a:gd name="T73" fmla="*/ 4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53"/>
                    <a:gd name="T112" fmla="*/ 0 h 17"/>
                    <a:gd name="T113" fmla="*/ 153 w 153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53" h="17">
                      <a:moveTo>
                        <a:pt x="152" y="4"/>
                      </a:moveTo>
                      <a:lnTo>
                        <a:pt x="151" y="3"/>
                      </a:lnTo>
                      <a:lnTo>
                        <a:pt x="151" y="2"/>
                      </a:lnTo>
                      <a:lnTo>
                        <a:pt x="150" y="2"/>
                      </a:lnTo>
                      <a:lnTo>
                        <a:pt x="150" y="1"/>
                      </a:lnTo>
                      <a:lnTo>
                        <a:pt x="149" y="1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6" y="16"/>
                      </a:lnTo>
                      <a:lnTo>
                        <a:pt x="7" y="14"/>
                      </a:lnTo>
                      <a:lnTo>
                        <a:pt x="8" y="13"/>
                      </a:lnTo>
                      <a:lnTo>
                        <a:pt x="8" y="12"/>
                      </a:lnTo>
                      <a:lnTo>
                        <a:pt x="9" y="12"/>
                      </a:lnTo>
                      <a:lnTo>
                        <a:pt x="10" y="12"/>
                      </a:lnTo>
                      <a:lnTo>
                        <a:pt x="140" y="12"/>
                      </a:lnTo>
                      <a:lnTo>
                        <a:pt x="141" y="12"/>
                      </a:lnTo>
                      <a:lnTo>
                        <a:pt x="142" y="12"/>
                      </a:lnTo>
                      <a:lnTo>
                        <a:pt x="142" y="13"/>
                      </a:lnTo>
                      <a:lnTo>
                        <a:pt x="143" y="13"/>
                      </a:lnTo>
                      <a:lnTo>
                        <a:pt x="143" y="14"/>
                      </a:lnTo>
                      <a:lnTo>
                        <a:pt x="144" y="14"/>
                      </a:lnTo>
                      <a:lnTo>
                        <a:pt x="152" y="4"/>
                      </a:lnTo>
                    </a:path>
                  </a:pathLst>
                </a:custGeom>
                <a:solidFill>
                  <a:srgbClr val="9F9FA2"/>
                </a:solidFill>
                <a:ln w="12700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7" name="Freeform 1487"/>
                <p:cNvSpPr>
                  <a:spLocks/>
                </p:cNvSpPr>
                <p:nvPr/>
              </p:nvSpPr>
              <p:spPr bwMode="auto">
                <a:xfrm>
                  <a:off x="3870" y="1299"/>
                  <a:ext cx="17" cy="135"/>
                </a:xfrm>
                <a:custGeom>
                  <a:avLst/>
                  <a:gdLst>
                    <a:gd name="T0" fmla="*/ 2 w 17"/>
                    <a:gd name="T1" fmla="*/ 0 h 135"/>
                    <a:gd name="T2" fmla="*/ 1 w 17"/>
                    <a:gd name="T3" fmla="*/ 0 h 135"/>
                    <a:gd name="T4" fmla="*/ 0 w 17"/>
                    <a:gd name="T5" fmla="*/ 1 h 135"/>
                    <a:gd name="T6" fmla="*/ 0 w 17"/>
                    <a:gd name="T7" fmla="*/ 2 h 135"/>
                    <a:gd name="T8" fmla="*/ 0 w 17"/>
                    <a:gd name="T9" fmla="*/ 2 h 135"/>
                    <a:gd name="T10" fmla="*/ 0 w 17"/>
                    <a:gd name="T11" fmla="*/ 3 h 135"/>
                    <a:gd name="T12" fmla="*/ 0 w 17"/>
                    <a:gd name="T13" fmla="*/ 4 h 135"/>
                    <a:gd name="T14" fmla="*/ 0 w 17"/>
                    <a:gd name="T15" fmla="*/ 130 h 135"/>
                    <a:gd name="T16" fmla="*/ 0 w 17"/>
                    <a:gd name="T17" fmla="*/ 130 h 135"/>
                    <a:gd name="T18" fmla="*/ 0 w 17"/>
                    <a:gd name="T19" fmla="*/ 131 h 135"/>
                    <a:gd name="T20" fmla="*/ 0 w 17"/>
                    <a:gd name="T21" fmla="*/ 132 h 135"/>
                    <a:gd name="T22" fmla="*/ 0 w 17"/>
                    <a:gd name="T23" fmla="*/ 132 h 135"/>
                    <a:gd name="T24" fmla="*/ 1 w 17"/>
                    <a:gd name="T25" fmla="*/ 133 h 135"/>
                    <a:gd name="T26" fmla="*/ 2 w 17"/>
                    <a:gd name="T27" fmla="*/ 133 h 135"/>
                    <a:gd name="T28" fmla="*/ 2 w 17"/>
                    <a:gd name="T29" fmla="*/ 134 h 135"/>
                    <a:gd name="T30" fmla="*/ 3 w 17"/>
                    <a:gd name="T31" fmla="*/ 134 h 135"/>
                    <a:gd name="T32" fmla="*/ 16 w 17"/>
                    <a:gd name="T33" fmla="*/ 127 h 135"/>
                    <a:gd name="T34" fmla="*/ 15 w 17"/>
                    <a:gd name="T35" fmla="*/ 126 h 135"/>
                    <a:gd name="T36" fmla="*/ 15 w 17"/>
                    <a:gd name="T37" fmla="*/ 126 h 135"/>
                    <a:gd name="T38" fmla="*/ 14 w 17"/>
                    <a:gd name="T39" fmla="*/ 126 h 135"/>
                    <a:gd name="T40" fmla="*/ 14 w 17"/>
                    <a:gd name="T41" fmla="*/ 125 h 135"/>
                    <a:gd name="T42" fmla="*/ 13 w 17"/>
                    <a:gd name="T43" fmla="*/ 124 h 135"/>
                    <a:gd name="T44" fmla="*/ 13 w 17"/>
                    <a:gd name="T45" fmla="*/ 124 h 135"/>
                    <a:gd name="T46" fmla="*/ 13 w 17"/>
                    <a:gd name="T47" fmla="*/ 10 h 135"/>
                    <a:gd name="T48" fmla="*/ 13 w 17"/>
                    <a:gd name="T49" fmla="*/ 9 h 135"/>
                    <a:gd name="T50" fmla="*/ 13 w 17"/>
                    <a:gd name="T51" fmla="*/ 8 h 135"/>
                    <a:gd name="T52" fmla="*/ 14 w 17"/>
                    <a:gd name="T53" fmla="*/ 8 h 135"/>
                    <a:gd name="T54" fmla="*/ 15 w 17"/>
                    <a:gd name="T55" fmla="*/ 7 h 135"/>
                    <a:gd name="T56" fmla="*/ 15 w 17"/>
                    <a:gd name="T57" fmla="*/ 6 h 135"/>
                    <a:gd name="T58" fmla="*/ 2 w 17"/>
                    <a:gd name="T59" fmla="*/ 0 h 135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w 17"/>
                    <a:gd name="T91" fmla="*/ 0 h 135"/>
                    <a:gd name="T92" fmla="*/ 17 w 17"/>
                    <a:gd name="T93" fmla="*/ 135 h 135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T90" t="T91" r="T92" b="T93"/>
                  <a:pathLst>
                    <a:path w="17" h="135">
                      <a:moveTo>
                        <a:pt x="2" y="0"/>
                      </a:moveTo>
                      <a:lnTo>
                        <a:pt x="1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0" y="130"/>
                      </a:lnTo>
                      <a:lnTo>
                        <a:pt x="0" y="131"/>
                      </a:lnTo>
                      <a:lnTo>
                        <a:pt x="0" y="132"/>
                      </a:lnTo>
                      <a:lnTo>
                        <a:pt x="1" y="133"/>
                      </a:lnTo>
                      <a:lnTo>
                        <a:pt x="2" y="133"/>
                      </a:lnTo>
                      <a:lnTo>
                        <a:pt x="2" y="134"/>
                      </a:lnTo>
                      <a:lnTo>
                        <a:pt x="3" y="134"/>
                      </a:lnTo>
                      <a:lnTo>
                        <a:pt x="16" y="127"/>
                      </a:lnTo>
                      <a:lnTo>
                        <a:pt x="15" y="126"/>
                      </a:lnTo>
                      <a:lnTo>
                        <a:pt x="14" y="126"/>
                      </a:lnTo>
                      <a:lnTo>
                        <a:pt x="14" y="125"/>
                      </a:lnTo>
                      <a:lnTo>
                        <a:pt x="13" y="124"/>
                      </a:lnTo>
                      <a:lnTo>
                        <a:pt x="13" y="10"/>
                      </a:lnTo>
                      <a:lnTo>
                        <a:pt x="13" y="9"/>
                      </a:lnTo>
                      <a:lnTo>
                        <a:pt x="13" y="8"/>
                      </a:lnTo>
                      <a:lnTo>
                        <a:pt x="14" y="8"/>
                      </a:lnTo>
                      <a:lnTo>
                        <a:pt x="15" y="7"/>
                      </a:lnTo>
                      <a:lnTo>
                        <a:pt x="15" y="6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8" name="Freeform 1488"/>
                <p:cNvSpPr>
                  <a:spLocks/>
                </p:cNvSpPr>
                <p:nvPr/>
              </p:nvSpPr>
              <p:spPr bwMode="auto">
                <a:xfrm>
                  <a:off x="3872" y="1300"/>
                  <a:ext cx="155" cy="136"/>
                </a:xfrm>
                <a:custGeom>
                  <a:avLst/>
                  <a:gdLst>
                    <a:gd name="T0" fmla="*/ 0 w 155"/>
                    <a:gd name="T1" fmla="*/ 133 h 136"/>
                    <a:gd name="T2" fmla="*/ 0 w 155"/>
                    <a:gd name="T3" fmla="*/ 134 h 136"/>
                    <a:gd name="T4" fmla="*/ 0 w 155"/>
                    <a:gd name="T5" fmla="*/ 134 h 136"/>
                    <a:gd name="T6" fmla="*/ 1 w 155"/>
                    <a:gd name="T7" fmla="*/ 134 h 136"/>
                    <a:gd name="T8" fmla="*/ 1 w 155"/>
                    <a:gd name="T9" fmla="*/ 134 h 136"/>
                    <a:gd name="T10" fmla="*/ 2 w 155"/>
                    <a:gd name="T11" fmla="*/ 135 h 136"/>
                    <a:gd name="T12" fmla="*/ 2 w 155"/>
                    <a:gd name="T13" fmla="*/ 135 h 136"/>
                    <a:gd name="T14" fmla="*/ 3 w 155"/>
                    <a:gd name="T15" fmla="*/ 135 h 136"/>
                    <a:gd name="T16" fmla="*/ 148 w 155"/>
                    <a:gd name="T17" fmla="*/ 135 h 136"/>
                    <a:gd name="T18" fmla="*/ 150 w 155"/>
                    <a:gd name="T19" fmla="*/ 134 h 136"/>
                    <a:gd name="T20" fmla="*/ 151 w 155"/>
                    <a:gd name="T21" fmla="*/ 134 h 136"/>
                    <a:gd name="T22" fmla="*/ 151 w 155"/>
                    <a:gd name="T23" fmla="*/ 133 h 136"/>
                    <a:gd name="T24" fmla="*/ 152 w 155"/>
                    <a:gd name="T25" fmla="*/ 133 h 136"/>
                    <a:gd name="T26" fmla="*/ 152 w 155"/>
                    <a:gd name="T27" fmla="*/ 133 h 136"/>
                    <a:gd name="T28" fmla="*/ 153 w 155"/>
                    <a:gd name="T29" fmla="*/ 132 h 136"/>
                    <a:gd name="T30" fmla="*/ 153 w 155"/>
                    <a:gd name="T31" fmla="*/ 131 h 136"/>
                    <a:gd name="T32" fmla="*/ 154 w 155"/>
                    <a:gd name="T33" fmla="*/ 131 h 136"/>
                    <a:gd name="T34" fmla="*/ 154 w 155"/>
                    <a:gd name="T35" fmla="*/ 129 h 136"/>
                    <a:gd name="T36" fmla="*/ 154 w 155"/>
                    <a:gd name="T37" fmla="*/ 129 h 136"/>
                    <a:gd name="T38" fmla="*/ 154 w 155"/>
                    <a:gd name="T39" fmla="*/ 3 h 136"/>
                    <a:gd name="T40" fmla="*/ 154 w 155"/>
                    <a:gd name="T41" fmla="*/ 2 h 136"/>
                    <a:gd name="T42" fmla="*/ 154 w 155"/>
                    <a:gd name="T43" fmla="*/ 1 h 136"/>
                    <a:gd name="T44" fmla="*/ 154 w 155"/>
                    <a:gd name="T45" fmla="*/ 1 h 136"/>
                    <a:gd name="T46" fmla="*/ 153 w 155"/>
                    <a:gd name="T47" fmla="*/ 1 h 136"/>
                    <a:gd name="T48" fmla="*/ 153 w 155"/>
                    <a:gd name="T49" fmla="*/ 0 h 136"/>
                    <a:gd name="T50" fmla="*/ 153 w 155"/>
                    <a:gd name="T51" fmla="*/ 0 h 136"/>
                    <a:gd name="T52" fmla="*/ 145 w 155"/>
                    <a:gd name="T53" fmla="*/ 5 h 136"/>
                    <a:gd name="T54" fmla="*/ 145 w 155"/>
                    <a:gd name="T55" fmla="*/ 5 h 136"/>
                    <a:gd name="T56" fmla="*/ 146 w 155"/>
                    <a:gd name="T57" fmla="*/ 6 h 136"/>
                    <a:gd name="T58" fmla="*/ 146 w 155"/>
                    <a:gd name="T59" fmla="*/ 7 h 136"/>
                    <a:gd name="T60" fmla="*/ 146 w 155"/>
                    <a:gd name="T61" fmla="*/ 7 h 136"/>
                    <a:gd name="T62" fmla="*/ 146 w 155"/>
                    <a:gd name="T63" fmla="*/ 7 h 136"/>
                    <a:gd name="T64" fmla="*/ 146 w 155"/>
                    <a:gd name="T65" fmla="*/ 8 h 136"/>
                    <a:gd name="T66" fmla="*/ 146 w 155"/>
                    <a:gd name="T67" fmla="*/ 9 h 136"/>
                    <a:gd name="T68" fmla="*/ 146 w 155"/>
                    <a:gd name="T69" fmla="*/ 9 h 136"/>
                    <a:gd name="T70" fmla="*/ 146 w 155"/>
                    <a:gd name="T71" fmla="*/ 123 h 136"/>
                    <a:gd name="T72" fmla="*/ 146 w 155"/>
                    <a:gd name="T73" fmla="*/ 123 h 136"/>
                    <a:gd name="T74" fmla="*/ 146 w 155"/>
                    <a:gd name="T75" fmla="*/ 124 h 136"/>
                    <a:gd name="T76" fmla="*/ 146 w 155"/>
                    <a:gd name="T77" fmla="*/ 125 h 136"/>
                    <a:gd name="T78" fmla="*/ 146 w 155"/>
                    <a:gd name="T79" fmla="*/ 125 h 136"/>
                    <a:gd name="T80" fmla="*/ 145 w 155"/>
                    <a:gd name="T81" fmla="*/ 126 h 136"/>
                    <a:gd name="T82" fmla="*/ 145 w 155"/>
                    <a:gd name="T83" fmla="*/ 127 h 136"/>
                    <a:gd name="T84" fmla="*/ 144 w 155"/>
                    <a:gd name="T85" fmla="*/ 127 h 136"/>
                    <a:gd name="T86" fmla="*/ 143 w 155"/>
                    <a:gd name="T87" fmla="*/ 127 h 136"/>
                    <a:gd name="T88" fmla="*/ 143 w 155"/>
                    <a:gd name="T89" fmla="*/ 128 h 136"/>
                    <a:gd name="T90" fmla="*/ 142 w 155"/>
                    <a:gd name="T91" fmla="*/ 128 h 136"/>
                    <a:gd name="T92" fmla="*/ 142 w 155"/>
                    <a:gd name="T93" fmla="*/ 128 h 136"/>
                    <a:gd name="T94" fmla="*/ 9 w 155"/>
                    <a:gd name="T95" fmla="*/ 128 h 136"/>
                    <a:gd name="T96" fmla="*/ 8 w 155"/>
                    <a:gd name="T97" fmla="*/ 128 h 136"/>
                    <a:gd name="T98" fmla="*/ 8 w 155"/>
                    <a:gd name="T99" fmla="*/ 128 h 136"/>
                    <a:gd name="T100" fmla="*/ 8 w 155"/>
                    <a:gd name="T101" fmla="*/ 127 h 136"/>
                    <a:gd name="T102" fmla="*/ 7 w 155"/>
                    <a:gd name="T103" fmla="*/ 127 h 136"/>
                    <a:gd name="T104" fmla="*/ 7 w 155"/>
                    <a:gd name="T105" fmla="*/ 127 h 136"/>
                    <a:gd name="T106" fmla="*/ 6 w 155"/>
                    <a:gd name="T107" fmla="*/ 127 h 136"/>
                    <a:gd name="T108" fmla="*/ 6 w 155"/>
                    <a:gd name="T109" fmla="*/ 127 h 136"/>
                    <a:gd name="T110" fmla="*/ 0 w 155"/>
                    <a:gd name="T111" fmla="*/ 133 h 1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55"/>
                    <a:gd name="T169" fmla="*/ 0 h 136"/>
                    <a:gd name="T170" fmla="*/ 155 w 155"/>
                    <a:gd name="T171" fmla="*/ 136 h 136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55" h="136">
                      <a:moveTo>
                        <a:pt x="0" y="133"/>
                      </a:moveTo>
                      <a:lnTo>
                        <a:pt x="0" y="134"/>
                      </a:lnTo>
                      <a:lnTo>
                        <a:pt x="1" y="134"/>
                      </a:lnTo>
                      <a:lnTo>
                        <a:pt x="2" y="135"/>
                      </a:lnTo>
                      <a:lnTo>
                        <a:pt x="3" y="135"/>
                      </a:lnTo>
                      <a:lnTo>
                        <a:pt x="148" y="135"/>
                      </a:lnTo>
                      <a:lnTo>
                        <a:pt x="150" y="134"/>
                      </a:lnTo>
                      <a:lnTo>
                        <a:pt x="151" y="134"/>
                      </a:lnTo>
                      <a:lnTo>
                        <a:pt x="151" y="133"/>
                      </a:lnTo>
                      <a:lnTo>
                        <a:pt x="152" y="133"/>
                      </a:lnTo>
                      <a:lnTo>
                        <a:pt x="153" y="132"/>
                      </a:lnTo>
                      <a:lnTo>
                        <a:pt x="153" y="131"/>
                      </a:lnTo>
                      <a:lnTo>
                        <a:pt x="154" y="131"/>
                      </a:lnTo>
                      <a:lnTo>
                        <a:pt x="154" y="129"/>
                      </a:lnTo>
                      <a:lnTo>
                        <a:pt x="154" y="3"/>
                      </a:lnTo>
                      <a:lnTo>
                        <a:pt x="154" y="2"/>
                      </a:lnTo>
                      <a:lnTo>
                        <a:pt x="154" y="1"/>
                      </a:lnTo>
                      <a:lnTo>
                        <a:pt x="153" y="1"/>
                      </a:lnTo>
                      <a:lnTo>
                        <a:pt x="153" y="0"/>
                      </a:lnTo>
                      <a:lnTo>
                        <a:pt x="145" y="5"/>
                      </a:lnTo>
                      <a:lnTo>
                        <a:pt x="146" y="6"/>
                      </a:lnTo>
                      <a:lnTo>
                        <a:pt x="146" y="7"/>
                      </a:lnTo>
                      <a:lnTo>
                        <a:pt x="146" y="8"/>
                      </a:lnTo>
                      <a:lnTo>
                        <a:pt x="146" y="9"/>
                      </a:lnTo>
                      <a:lnTo>
                        <a:pt x="146" y="123"/>
                      </a:lnTo>
                      <a:lnTo>
                        <a:pt x="146" y="124"/>
                      </a:lnTo>
                      <a:lnTo>
                        <a:pt x="146" y="125"/>
                      </a:lnTo>
                      <a:lnTo>
                        <a:pt x="145" y="126"/>
                      </a:lnTo>
                      <a:lnTo>
                        <a:pt x="145" y="127"/>
                      </a:lnTo>
                      <a:lnTo>
                        <a:pt x="144" y="127"/>
                      </a:lnTo>
                      <a:lnTo>
                        <a:pt x="143" y="127"/>
                      </a:lnTo>
                      <a:lnTo>
                        <a:pt x="143" y="128"/>
                      </a:lnTo>
                      <a:lnTo>
                        <a:pt x="142" y="128"/>
                      </a:lnTo>
                      <a:lnTo>
                        <a:pt x="9" y="128"/>
                      </a:lnTo>
                      <a:lnTo>
                        <a:pt x="8" y="128"/>
                      </a:lnTo>
                      <a:lnTo>
                        <a:pt x="8" y="127"/>
                      </a:lnTo>
                      <a:lnTo>
                        <a:pt x="7" y="127"/>
                      </a:lnTo>
                      <a:lnTo>
                        <a:pt x="6" y="127"/>
                      </a:lnTo>
                      <a:lnTo>
                        <a:pt x="0" y="133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9" name="Freeform 1489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16 h 17"/>
                    <a:gd name="T2" fmla="*/ 151 w 153"/>
                    <a:gd name="T3" fmla="*/ 16 h 17"/>
                    <a:gd name="T4" fmla="*/ 151 w 153"/>
                    <a:gd name="T5" fmla="*/ 10 h 17"/>
                    <a:gd name="T6" fmla="*/ 150 w 153"/>
                    <a:gd name="T7" fmla="*/ 10 h 17"/>
                    <a:gd name="T8" fmla="*/ 150 w 153"/>
                    <a:gd name="T9" fmla="*/ 10 h 17"/>
                    <a:gd name="T10" fmla="*/ 150 w 153"/>
                    <a:gd name="T11" fmla="*/ 5 h 17"/>
                    <a:gd name="T12" fmla="*/ 149 w 153"/>
                    <a:gd name="T13" fmla="*/ 5 h 17"/>
                    <a:gd name="T14" fmla="*/ 149 w 153"/>
                    <a:gd name="T15" fmla="*/ 5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5 h 17"/>
                    <a:gd name="T32" fmla="*/ 1 w 153"/>
                    <a:gd name="T33" fmla="*/ 5 h 17"/>
                    <a:gd name="T34" fmla="*/ 0 w 153"/>
                    <a:gd name="T35" fmla="*/ 10 h 17"/>
                    <a:gd name="T36" fmla="*/ 0 w 153"/>
                    <a:gd name="T37" fmla="*/ 10 h 17"/>
                    <a:gd name="T38" fmla="*/ 0 w 153"/>
                    <a:gd name="T39" fmla="*/ 16 h 17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153"/>
                    <a:gd name="T61" fmla="*/ 0 h 17"/>
                    <a:gd name="T62" fmla="*/ 153 w 153"/>
                    <a:gd name="T63" fmla="*/ 17 h 17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153" h="17">
                      <a:moveTo>
                        <a:pt x="152" y="16"/>
                      </a:moveTo>
                      <a:lnTo>
                        <a:pt x="151" y="16"/>
                      </a:lnTo>
                      <a:lnTo>
                        <a:pt x="151" y="10"/>
                      </a:lnTo>
                      <a:lnTo>
                        <a:pt x="150" y="10"/>
                      </a:lnTo>
                      <a:lnTo>
                        <a:pt x="150" y="5"/>
                      </a:lnTo>
                      <a:lnTo>
                        <a:pt x="149" y="5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5"/>
                      </a:lnTo>
                      <a:lnTo>
                        <a:pt x="0" y="1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0" name="Freeform 1490"/>
                <p:cNvSpPr>
                  <a:spLocks/>
                </p:cNvSpPr>
                <p:nvPr/>
              </p:nvSpPr>
              <p:spPr bwMode="auto">
                <a:xfrm>
                  <a:off x="3843" y="1489"/>
                  <a:ext cx="215" cy="72"/>
                </a:xfrm>
                <a:custGeom>
                  <a:avLst/>
                  <a:gdLst>
                    <a:gd name="T0" fmla="*/ 0 w 215"/>
                    <a:gd name="T1" fmla="*/ 71 h 72"/>
                    <a:gd name="T2" fmla="*/ 0 w 215"/>
                    <a:gd name="T3" fmla="*/ 0 h 72"/>
                    <a:gd name="T4" fmla="*/ 214 w 215"/>
                    <a:gd name="T5" fmla="*/ 0 h 72"/>
                    <a:gd name="T6" fmla="*/ 214 w 215"/>
                    <a:gd name="T7" fmla="*/ 71 h 72"/>
                    <a:gd name="T8" fmla="*/ 0 w 215"/>
                    <a:gd name="T9" fmla="*/ 71 h 7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15"/>
                    <a:gd name="T16" fmla="*/ 0 h 72"/>
                    <a:gd name="T17" fmla="*/ 215 w 215"/>
                    <a:gd name="T18" fmla="*/ 72 h 7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15" h="72">
                      <a:moveTo>
                        <a:pt x="0" y="71"/>
                      </a:moveTo>
                      <a:lnTo>
                        <a:pt x="0" y="0"/>
                      </a:lnTo>
                      <a:lnTo>
                        <a:pt x="214" y="0"/>
                      </a:lnTo>
                      <a:lnTo>
                        <a:pt x="214" y="71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1" name="Freeform 1491"/>
                <p:cNvSpPr>
                  <a:spLocks/>
                </p:cNvSpPr>
                <p:nvPr/>
              </p:nvSpPr>
              <p:spPr bwMode="auto">
                <a:xfrm>
                  <a:off x="3841" y="1489"/>
                  <a:ext cx="219" cy="23"/>
                </a:xfrm>
                <a:custGeom>
                  <a:avLst/>
                  <a:gdLst>
                    <a:gd name="T0" fmla="*/ 79 w 219"/>
                    <a:gd name="T1" fmla="*/ 0 h 23"/>
                    <a:gd name="T2" fmla="*/ 0 w 219"/>
                    <a:gd name="T3" fmla="*/ 0 h 23"/>
                    <a:gd name="T4" fmla="*/ 0 w 219"/>
                    <a:gd name="T5" fmla="*/ 22 h 23"/>
                    <a:gd name="T6" fmla="*/ 218 w 219"/>
                    <a:gd name="T7" fmla="*/ 22 h 23"/>
                    <a:gd name="T8" fmla="*/ 215 w 219"/>
                    <a:gd name="T9" fmla="*/ 0 h 23"/>
                    <a:gd name="T10" fmla="*/ 137 w 219"/>
                    <a:gd name="T11" fmla="*/ 0 h 23"/>
                    <a:gd name="T12" fmla="*/ 79 w 219"/>
                    <a:gd name="T13" fmla="*/ 0 h 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19"/>
                    <a:gd name="T22" fmla="*/ 0 h 23"/>
                    <a:gd name="T23" fmla="*/ 219 w 219"/>
                    <a:gd name="T24" fmla="*/ 23 h 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9" h="23">
                      <a:moveTo>
                        <a:pt x="79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218" y="22"/>
                      </a:lnTo>
                      <a:lnTo>
                        <a:pt x="215" y="0"/>
                      </a:lnTo>
                      <a:lnTo>
                        <a:pt x="137" y="0"/>
                      </a:lnTo>
                      <a:lnTo>
                        <a:pt x="79" y="0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2" name="Freeform 1492"/>
                <p:cNvSpPr>
                  <a:spLocks/>
                </p:cNvSpPr>
                <p:nvPr/>
              </p:nvSpPr>
              <p:spPr bwMode="auto">
                <a:xfrm>
                  <a:off x="3991" y="1495"/>
                  <a:ext cx="56" cy="17"/>
                </a:xfrm>
                <a:custGeom>
                  <a:avLst/>
                  <a:gdLst>
                    <a:gd name="T0" fmla="*/ 0 w 56"/>
                    <a:gd name="T1" fmla="*/ 6 h 17"/>
                    <a:gd name="T2" fmla="*/ 18 w 56"/>
                    <a:gd name="T3" fmla="*/ 6 h 17"/>
                    <a:gd name="T4" fmla="*/ 18 w 56"/>
                    <a:gd name="T5" fmla="*/ 0 h 17"/>
                    <a:gd name="T6" fmla="*/ 35 w 56"/>
                    <a:gd name="T7" fmla="*/ 0 h 17"/>
                    <a:gd name="T8" fmla="*/ 35 w 56"/>
                    <a:gd name="T9" fmla="*/ 6 h 17"/>
                    <a:gd name="T10" fmla="*/ 55 w 56"/>
                    <a:gd name="T11" fmla="*/ 6 h 17"/>
                    <a:gd name="T12" fmla="*/ 55 w 56"/>
                    <a:gd name="T13" fmla="*/ 10 h 17"/>
                    <a:gd name="T14" fmla="*/ 35 w 56"/>
                    <a:gd name="T15" fmla="*/ 10 h 17"/>
                    <a:gd name="T16" fmla="*/ 35 w 56"/>
                    <a:gd name="T17" fmla="*/ 16 h 17"/>
                    <a:gd name="T18" fmla="*/ 18 w 56"/>
                    <a:gd name="T19" fmla="*/ 16 h 17"/>
                    <a:gd name="T20" fmla="*/ 18 w 56"/>
                    <a:gd name="T21" fmla="*/ 10 h 17"/>
                    <a:gd name="T22" fmla="*/ 0 w 56"/>
                    <a:gd name="T23" fmla="*/ 10 h 17"/>
                    <a:gd name="T24" fmla="*/ 0 w 56"/>
                    <a:gd name="T25" fmla="*/ 6 h 17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56"/>
                    <a:gd name="T40" fmla="*/ 0 h 17"/>
                    <a:gd name="T41" fmla="*/ 56 w 56"/>
                    <a:gd name="T42" fmla="*/ 17 h 17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56" h="17">
                      <a:moveTo>
                        <a:pt x="0" y="6"/>
                      </a:moveTo>
                      <a:lnTo>
                        <a:pt x="18" y="6"/>
                      </a:lnTo>
                      <a:lnTo>
                        <a:pt x="18" y="0"/>
                      </a:lnTo>
                      <a:lnTo>
                        <a:pt x="35" y="0"/>
                      </a:lnTo>
                      <a:lnTo>
                        <a:pt x="35" y="6"/>
                      </a:lnTo>
                      <a:lnTo>
                        <a:pt x="55" y="6"/>
                      </a:lnTo>
                      <a:lnTo>
                        <a:pt x="55" y="10"/>
                      </a:lnTo>
                      <a:lnTo>
                        <a:pt x="35" y="10"/>
                      </a:lnTo>
                      <a:lnTo>
                        <a:pt x="35" y="16"/>
                      </a:lnTo>
                      <a:lnTo>
                        <a:pt x="18" y="16"/>
                      </a:lnTo>
                      <a:lnTo>
                        <a:pt x="18" y="10"/>
                      </a:lnTo>
                      <a:lnTo>
                        <a:pt x="0" y="10"/>
                      </a:lnTo>
                      <a:lnTo>
                        <a:pt x="0" y="6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3" name="Freeform 1493"/>
                <p:cNvSpPr>
                  <a:spLocks/>
                </p:cNvSpPr>
                <p:nvPr/>
              </p:nvSpPr>
              <p:spPr bwMode="auto">
                <a:xfrm>
                  <a:off x="3991" y="1501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0 h 17"/>
                    <a:gd name="T4" fmla="*/ 16 w 17"/>
                    <a:gd name="T5" fmla="*/ 5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17"/>
                    <a:gd name="T14" fmla="*/ 17 w 17"/>
                    <a:gd name="T15" fmla="*/ 17 h 1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17">
                      <a:moveTo>
                        <a:pt x="0" y="16"/>
                      </a:moveTo>
                      <a:lnTo>
                        <a:pt x="16" y="10"/>
                      </a:lnTo>
                      <a:lnTo>
                        <a:pt x="16" y="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4" name="Freeform 1494"/>
                <p:cNvSpPr>
                  <a:spLocks/>
                </p:cNvSpPr>
                <p:nvPr/>
              </p:nvSpPr>
              <p:spPr bwMode="auto">
                <a:xfrm>
                  <a:off x="4010" y="149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5" name="Freeform 1495"/>
                <p:cNvSpPr>
                  <a:spLocks/>
                </p:cNvSpPr>
                <p:nvPr/>
              </p:nvSpPr>
              <p:spPr bwMode="auto">
                <a:xfrm>
                  <a:off x="4046" y="1504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6" name="Freeform 1496"/>
                <p:cNvSpPr>
                  <a:spLocks/>
                </p:cNvSpPr>
                <p:nvPr/>
              </p:nvSpPr>
              <p:spPr bwMode="auto">
                <a:xfrm>
                  <a:off x="4027" y="1495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0 h 17"/>
                    <a:gd name="T4" fmla="*/ 0 w 17"/>
                    <a:gd name="T5" fmla="*/ 16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16"/>
                      </a:moveTo>
                      <a:lnTo>
                        <a:pt x="16" y="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7" name="Freeform 1497"/>
                <p:cNvSpPr>
                  <a:spLocks/>
                </p:cNvSpPr>
                <p:nvPr/>
              </p:nvSpPr>
              <p:spPr bwMode="auto">
                <a:xfrm>
                  <a:off x="4011" y="1499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6 h 17"/>
                    <a:gd name="T4" fmla="*/ 16 w 17"/>
                    <a:gd name="T5" fmla="*/ 0 h 17"/>
                    <a:gd name="T6" fmla="*/ 0 w 17"/>
                    <a:gd name="T7" fmla="*/ 0 h 17"/>
                    <a:gd name="T8" fmla="*/ 0 w 17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16"/>
                      </a:moveTo>
                      <a:lnTo>
                        <a:pt x="16" y="16"/>
                      </a:lnTo>
                      <a:lnTo>
                        <a:pt x="16" y="0"/>
                      </a:lnTo>
                      <a:lnTo>
                        <a:pt x="0" y="0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F9FA2"/>
                </a:solidFill>
                <a:ln w="12700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8" name="Freeform 1498"/>
                <p:cNvSpPr>
                  <a:spLocks/>
                </p:cNvSpPr>
                <p:nvPr/>
              </p:nvSpPr>
              <p:spPr bwMode="auto">
                <a:xfrm>
                  <a:off x="3993" y="1502"/>
                  <a:ext cx="54" cy="17"/>
                </a:xfrm>
                <a:custGeom>
                  <a:avLst/>
                  <a:gdLst>
                    <a:gd name="T0" fmla="*/ 0 w 54"/>
                    <a:gd name="T1" fmla="*/ 0 h 17"/>
                    <a:gd name="T2" fmla="*/ 53 w 54"/>
                    <a:gd name="T3" fmla="*/ 0 h 17"/>
                    <a:gd name="T4" fmla="*/ 53 w 54"/>
                    <a:gd name="T5" fmla="*/ 16 h 17"/>
                    <a:gd name="T6" fmla="*/ 0 w 54"/>
                    <a:gd name="T7" fmla="*/ 16 h 17"/>
                    <a:gd name="T8" fmla="*/ 0 w 54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4"/>
                    <a:gd name="T16" fmla="*/ 0 h 17"/>
                    <a:gd name="T17" fmla="*/ 54 w 5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4" h="17">
                      <a:moveTo>
                        <a:pt x="0" y="0"/>
                      </a:moveTo>
                      <a:lnTo>
                        <a:pt x="53" y="0"/>
                      </a:lnTo>
                      <a:lnTo>
                        <a:pt x="53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9" name="Freeform 1499"/>
                <p:cNvSpPr>
                  <a:spLocks/>
                </p:cNvSpPr>
                <p:nvPr/>
              </p:nvSpPr>
              <p:spPr bwMode="auto">
                <a:xfrm>
                  <a:off x="4010" y="1496"/>
                  <a:ext cx="19" cy="17"/>
                </a:xfrm>
                <a:custGeom>
                  <a:avLst/>
                  <a:gdLst>
                    <a:gd name="T0" fmla="*/ 18 w 19"/>
                    <a:gd name="T1" fmla="*/ 12 h 17"/>
                    <a:gd name="T2" fmla="*/ 17 w 19"/>
                    <a:gd name="T3" fmla="*/ 16 h 17"/>
                    <a:gd name="T4" fmla="*/ 17 w 19"/>
                    <a:gd name="T5" fmla="*/ 0 h 17"/>
                    <a:gd name="T6" fmla="*/ 0 w 19"/>
                    <a:gd name="T7" fmla="*/ 0 h 17"/>
                    <a:gd name="T8" fmla="*/ 0 w 19"/>
                    <a:gd name="T9" fmla="*/ 16 h 17"/>
                    <a:gd name="T10" fmla="*/ 0 w 19"/>
                    <a:gd name="T11" fmla="*/ 12 h 1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"/>
                    <a:gd name="T19" fmla="*/ 0 h 17"/>
                    <a:gd name="T20" fmla="*/ 19 w 19"/>
                    <a:gd name="T21" fmla="*/ 17 h 1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" h="17">
                      <a:moveTo>
                        <a:pt x="18" y="12"/>
                      </a:moveTo>
                      <a:lnTo>
                        <a:pt x="17" y="16"/>
                      </a:ln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6"/>
                      </a:lnTo>
                      <a:lnTo>
                        <a:pt x="0" y="12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0" name="Freeform 1500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16 w 17"/>
                    <a:gd name="T1" fmla="*/ 0 h 17"/>
                    <a:gd name="T2" fmla="*/ 16 w 17"/>
                    <a:gd name="T3" fmla="*/ 16 h 17"/>
                    <a:gd name="T4" fmla="*/ 0 w 17"/>
                    <a:gd name="T5" fmla="*/ 16 h 17"/>
                    <a:gd name="T6" fmla="*/ 0 w 17"/>
                    <a:gd name="T7" fmla="*/ 0 h 17"/>
                    <a:gd name="T8" fmla="*/ 16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16" y="0"/>
                      </a:move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  <a:lnTo>
                        <a:pt x="16" y="0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1" name="Freeform 1501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2" name="Freeform 1502"/>
                <p:cNvSpPr>
                  <a:spLocks/>
                </p:cNvSpPr>
                <p:nvPr/>
              </p:nvSpPr>
              <p:spPr bwMode="auto">
                <a:xfrm>
                  <a:off x="3930" y="1497"/>
                  <a:ext cx="44" cy="17"/>
                </a:xfrm>
                <a:custGeom>
                  <a:avLst/>
                  <a:gdLst>
                    <a:gd name="T0" fmla="*/ 14 w 44"/>
                    <a:gd name="T1" fmla="*/ 16 h 17"/>
                    <a:gd name="T2" fmla="*/ 0 w 44"/>
                    <a:gd name="T3" fmla="*/ 16 h 17"/>
                    <a:gd name="T4" fmla="*/ 0 w 44"/>
                    <a:gd name="T5" fmla="*/ 8 h 17"/>
                    <a:gd name="T6" fmla="*/ 14 w 44"/>
                    <a:gd name="T7" fmla="*/ 8 h 17"/>
                    <a:gd name="T8" fmla="*/ 14 w 44"/>
                    <a:gd name="T9" fmla="*/ 0 h 17"/>
                    <a:gd name="T10" fmla="*/ 28 w 44"/>
                    <a:gd name="T11" fmla="*/ 0 h 17"/>
                    <a:gd name="T12" fmla="*/ 28 w 44"/>
                    <a:gd name="T13" fmla="*/ 8 h 17"/>
                    <a:gd name="T14" fmla="*/ 43 w 44"/>
                    <a:gd name="T15" fmla="*/ 8 h 17"/>
                    <a:gd name="T16" fmla="*/ 43 w 44"/>
                    <a:gd name="T17" fmla="*/ 16 h 17"/>
                    <a:gd name="T18" fmla="*/ 28 w 44"/>
                    <a:gd name="T19" fmla="*/ 16 h 17"/>
                    <a:gd name="T20" fmla="*/ 14 w 44"/>
                    <a:gd name="T21" fmla="*/ 16 h 1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44"/>
                    <a:gd name="T34" fmla="*/ 0 h 17"/>
                    <a:gd name="T35" fmla="*/ 44 w 44"/>
                    <a:gd name="T36" fmla="*/ 17 h 17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44" h="17">
                      <a:moveTo>
                        <a:pt x="14" y="16"/>
                      </a:moveTo>
                      <a:lnTo>
                        <a:pt x="0" y="16"/>
                      </a:lnTo>
                      <a:lnTo>
                        <a:pt x="0" y="8"/>
                      </a:lnTo>
                      <a:lnTo>
                        <a:pt x="14" y="8"/>
                      </a:lnTo>
                      <a:lnTo>
                        <a:pt x="14" y="0"/>
                      </a:lnTo>
                      <a:lnTo>
                        <a:pt x="28" y="0"/>
                      </a:lnTo>
                      <a:lnTo>
                        <a:pt x="28" y="8"/>
                      </a:lnTo>
                      <a:lnTo>
                        <a:pt x="43" y="8"/>
                      </a:lnTo>
                      <a:lnTo>
                        <a:pt x="43" y="16"/>
                      </a:lnTo>
                      <a:lnTo>
                        <a:pt x="28" y="16"/>
                      </a:lnTo>
                      <a:lnTo>
                        <a:pt x="14" y="16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3" name="Freeform 1503"/>
                <p:cNvSpPr>
                  <a:spLocks/>
                </p:cNvSpPr>
                <p:nvPr/>
              </p:nvSpPr>
              <p:spPr bwMode="auto">
                <a:xfrm>
                  <a:off x="3945" y="1497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4" name="Freeform 1504"/>
                <p:cNvSpPr>
                  <a:spLocks/>
                </p:cNvSpPr>
                <p:nvPr/>
              </p:nvSpPr>
              <p:spPr bwMode="auto">
                <a:xfrm>
                  <a:off x="3897" y="1494"/>
                  <a:ext cx="20" cy="17"/>
                </a:xfrm>
                <a:custGeom>
                  <a:avLst/>
                  <a:gdLst>
                    <a:gd name="T0" fmla="*/ 5 w 20"/>
                    <a:gd name="T1" fmla="*/ 16 h 17"/>
                    <a:gd name="T2" fmla="*/ 3 w 20"/>
                    <a:gd name="T3" fmla="*/ 15 h 17"/>
                    <a:gd name="T4" fmla="*/ 2 w 20"/>
                    <a:gd name="T5" fmla="*/ 15 h 17"/>
                    <a:gd name="T6" fmla="*/ 1 w 20"/>
                    <a:gd name="T7" fmla="*/ 14 h 17"/>
                    <a:gd name="T8" fmla="*/ 1 w 20"/>
                    <a:gd name="T9" fmla="*/ 12 h 17"/>
                    <a:gd name="T10" fmla="*/ 0 w 20"/>
                    <a:gd name="T11" fmla="*/ 12 h 17"/>
                    <a:gd name="T12" fmla="*/ 0 w 20"/>
                    <a:gd name="T13" fmla="*/ 10 h 17"/>
                    <a:gd name="T14" fmla="*/ 0 w 20"/>
                    <a:gd name="T15" fmla="*/ 8 h 17"/>
                    <a:gd name="T16" fmla="*/ 0 w 20"/>
                    <a:gd name="T17" fmla="*/ 6 h 17"/>
                    <a:gd name="T18" fmla="*/ 0 w 20"/>
                    <a:gd name="T19" fmla="*/ 4 h 17"/>
                    <a:gd name="T20" fmla="*/ 0 w 20"/>
                    <a:gd name="T21" fmla="*/ 3 h 17"/>
                    <a:gd name="T22" fmla="*/ 1 w 20"/>
                    <a:gd name="T23" fmla="*/ 2 h 17"/>
                    <a:gd name="T24" fmla="*/ 2 w 20"/>
                    <a:gd name="T25" fmla="*/ 1 h 17"/>
                    <a:gd name="T26" fmla="*/ 3 w 20"/>
                    <a:gd name="T27" fmla="*/ 0 h 17"/>
                    <a:gd name="T28" fmla="*/ 4 w 20"/>
                    <a:gd name="T29" fmla="*/ 0 h 17"/>
                    <a:gd name="T30" fmla="*/ 5 w 20"/>
                    <a:gd name="T31" fmla="*/ 0 h 17"/>
                    <a:gd name="T32" fmla="*/ 12 w 20"/>
                    <a:gd name="T33" fmla="*/ 0 h 17"/>
                    <a:gd name="T34" fmla="*/ 13 w 20"/>
                    <a:gd name="T35" fmla="*/ 0 h 17"/>
                    <a:gd name="T36" fmla="*/ 15 w 20"/>
                    <a:gd name="T37" fmla="*/ 0 h 17"/>
                    <a:gd name="T38" fmla="*/ 16 w 20"/>
                    <a:gd name="T39" fmla="*/ 1 h 17"/>
                    <a:gd name="T40" fmla="*/ 17 w 20"/>
                    <a:gd name="T41" fmla="*/ 3 h 17"/>
                    <a:gd name="T42" fmla="*/ 17 w 20"/>
                    <a:gd name="T43" fmla="*/ 3 h 17"/>
                    <a:gd name="T44" fmla="*/ 18 w 20"/>
                    <a:gd name="T45" fmla="*/ 5 h 17"/>
                    <a:gd name="T46" fmla="*/ 18 w 20"/>
                    <a:gd name="T47" fmla="*/ 7 h 17"/>
                    <a:gd name="T48" fmla="*/ 18 w 20"/>
                    <a:gd name="T49" fmla="*/ 8 h 17"/>
                    <a:gd name="T50" fmla="*/ 18 w 20"/>
                    <a:gd name="T51" fmla="*/ 10 h 17"/>
                    <a:gd name="T52" fmla="*/ 17 w 20"/>
                    <a:gd name="T53" fmla="*/ 12 h 17"/>
                    <a:gd name="T54" fmla="*/ 16 w 20"/>
                    <a:gd name="T55" fmla="*/ 13 h 17"/>
                    <a:gd name="T56" fmla="*/ 15 w 20"/>
                    <a:gd name="T57" fmla="*/ 15 h 17"/>
                    <a:gd name="T58" fmla="*/ 13 w 20"/>
                    <a:gd name="T59" fmla="*/ 15 h 17"/>
                    <a:gd name="T60" fmla="*/ 13 w 20"/>
                    <a:gd name="T61" fmla="*/ 16 h 17"/>
                    <a:gd name="T62" fmla="*/ 12 w 20"/>
                    <a:gd name="T63" fmla="*/ 16 h 17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20"/>
                    <a:gd name="T97" fmla="*/ 0 h 17"/>
                    <a:gd name="T98" fmla="*/ 20 w 20"/>
                    <a:gd name="T99" fmla="*/ 17 h 17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20" h="17">
                      <a:moveTo>
                        <a:pt x="5" y="16"/>
                      </a:moveTo>
                      <a:lnTo>
                        <a:pt x="5" y="16"/>
                      </a:lnTo>
                      <a:lnTo>
                        <a:pt x="4" y="16"/>
                      </a:lnTo>
                      <a:lnTo>
                        <a:pt x="3" y="15"/>
                      </a:lnTo>
                      <a:lnTo>
                        <a:pt x="2" y="15"/>
                      </a:lnTo>
                      <a:lnTo>
                        <a:pt x="2" y="14"/>
                      </a:lnTo>
                      <a:lnTo>
                        <a:pt x="1" y="14"/>
                      </a:lnTo>
                      <a:lnTo>
                        <a:pt x="1" y="13"/>
                      </a:lnTo>
                      <a:lnTo>
                        <a:pt x="1" y="12"/>
                      </a:lnTo>
                      <a:lnTo>
                        <a:pt x="0" y="12"/>
                      </a:lnTo>
                      <a:lnTo>
                        <a:pt x="0" y="11"/>
                      </a:lnTo>
                      <a:lnTo>
                        <a:pt x="0" y="10"/>
                      </a:lnTo>
                      <a:lnTo>
                        <a:pt x="0" y="9"/>
                      </a:lnTo>
                      <a:lnTo>
                        <a:pt x="0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1" y="3"/>
                      </a:lnTo>
                      <a:lnTo>
                        <a:pt x="1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5" y="0"/>
                      </a:lnTo>
                      <a:lnTo>
                        <a:pt x="12" y="0"/>
                      </a:lnTo>
                      <a:lnTo>
                        <a:pt x="13" y="0"/>
                      </a:lnTo>
                      <a:lnTo>
                        <a:pt x="15" y="0"/>
                      </a:lnTo>
                      <a:lnTo>
                        <a:pt x="16" y="1"/>
                      </a:lnTo>
                      <a:lnTo>
                        <a:pt x="16" y="2"/>
                      </a:lnTo>
                      <a:lnTo>
                        <a:pt x="17" y="3"/>
                      </a:lnTo>
                      <a:lnTo>
                        <a:pt x="18" y="4"/>
                      </a:lnTo>
                      <a:lnTo>
                        <a:pt x="18" y="5"/>
                      </a:lnTo>
                      <a:lnTo>
                        <a:pt x="18" y="6"/>
                      </a:lnTo>
                      <a:lnTo>
                        <a:pt x="18" y="7"/>
                      </a:lnTo>
                      <a:lnTo>
                        <a:pt x="19" y="8"/>
                      </a:lnTo>
                      <a:lnTo>
                        <a:pt x="18" y="8"/>
                      </a:lnTo>
                      <a:lnTo>
                        <a:pt x="18" y="9"/>
                      </a:lnTo>
                      <a:lnTo>
                        <a:pt x="18" y="10"/>
                      </a:lnTo>
                      <a:lnTo>
                        <a:pt x="18" y="11"/>
                      </a:lnTo>
                      <a:lnTo>
                        <a:pt x="17" y="12"/>
                      </a:lnTo>
                      <a:lnTo>
                        <a:pt x="16" y="13"/>
                      </a:lnTo>
                      <a:lnTo>
                        <a:pt x="16" y="14"/>
                      </a:lnTo>
                      <a:lnTo>
                        <a:pt x="15" y="15"/>
                      </a:lnTo>
                      <a:lnTo>
                        <a:pt x="13" y="15"/>
                      </a:lnTo>
                      <a:lnTo>
                        <a:pt x="13" y="16"/>
                      </a:lnTo>
                      <a:lnTo>
                        <a:pt x="12" y="16"/>
                      </a:lnTo>
                      <a:lnTo>
                        <a:pt x="5" y="16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5" name="Freeform 1505"/>
                <p:cNvSpPr>
                  <a:spLocks/>
                </p:cNvSpPr>
                <p:nvPr/>
              </p:nvSpPr>
              <p:spPr bwMode="auto">
                <a:xfrm>
                  <a:off x="3921" y="1489"/>
                  <a:ext cx="17" cy="38"/>
                </a:xfrm>
                <a:custGeom>
                  <a:avLst/>
                  <a:gdLst>
                    <a:gd name="T0" fmla="*/ 8 w 17"/>
                    <a:gd name="T1" fmla="*/ 0 h 38"/>
                    <a:gd name="T2" fmla="*/ 0 w 17"/>
                    <a:gd name="T3" fmla="*/ 22 h 38"/>
                    <a:gd name="T4" fmla="*/ 16 w 17"/>
                    <a:gd name="T5" fmla="*/ 22 h 38"/>
                    <a:gd name="T6" fmla="*/ 16 w 17"/>
                    <a:gd name="T7" fmla="*/ 37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38"/>
                    <a:gd name="T14" fmla="*/ 17 w 17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38">
                      <a:moveTo>
                        <a:pt x="8" y="0"/>
                      </a:moveTo>
                      <a:lnTo>
                        <a:pt x="0" y="22"/>
                      </a:lnTo>
                      <a:lnTo>
                        <a:pt x="16" y="22"/>
                      </a:lnTo>
                      <a:lnTo>
                        <a:pt x="16" y="37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6" name="Freeform 1506"/>
                <p:cNvSpPr>
                  <a:spLocks/>
                </p:cNvSpPr>
                <p:nvPr/>
              </p:nvSpPr>
              <p:spPr bwMode="auto">
                <a:xfrm>
                  <a:off x="3979" y="1489"/>
                  <a:ext cx="17" cy="72"/>
                </a:xfrm>
                <a:custGeom>
                  <a:avLst/>
                  <a:gdLst>
                    <a:gd name="T0" fmla="*/ 0 w 17"/>
                    <a:gd name="T1" fmla="*/ 0 h 72"/>
                    <a:gd name="T2" fmla="*/ 16 w 17"/>
                    <a:gd name="T3" fmla="*/ 22 h 72"/>
                    <a:gd name="T4" fmla="*/ 0 w 17"/>
                    <a:gd name="T5" fmla="*/ 22 h 72"/>
                    <a:gd name="T6" fmla="*/ 0 w 17"/>
                    <a:gd name="T7" fmla="*/ 71 h 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72"/>
                    <a:gd name="T14" fmla="*/ 17 w 17"/>
                    <a:gd name="T15" fmla="*/ 72 h 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72">
                      <a:moveTo>
                        <a:pt x="0" y="0"/>
                      </a:moveTo>
                      <a:lnTo>
                        <a:pt x="16" y="22"/>
                      </a:lnTo>
                      <a:lnTo>
                        <a:pt x="0" y="22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7" name="Freeform 1507"/>
                <p:cNvSpPr>
                  <a:spLocks/>
                </p:cNvSpPr>
                <p:nvPr/>
              </p:nvSpPr>
              <p:spPr bwMode="auto">
                <a:xfrm>
                  <a:off x="3855" y="1532"/>
                  <a:ext cx="250" cy="41"/>
                </a:xfrm>
                <a:custGeom>
                  <a:avLst/>
                  <a:gdLst>
                    <a:gd name="T0" fmla="*/ 0 w 250"/>
                    <a:gd name="T1" fmla="*/ 40 h 41"/>
                    <a:gd name="T2" fmla="*/ 249 w 250"/>
                    <a:gd name="T3" fmla="*/ 40 h 41"/>
                    <a:gd name="T4" fmla="*/ 240 w 250"/>
                    <a:gd name="T5" fmla="*/ 0 h 41"/>
                    <a:gd name="T6" fmla="*/ 10 w 250"/>
                    <a:gd name="T7" fmla="*/ 0 h 41"/>
                    <a:gd name="T8" fmla="*/ 0 w 250"/>
                    <a:gd name="T9" fmla="*/ 40 h 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0"/>
                    <a:gd name="T16" fmla="*/ 0 h 41"/>
                    <a:gd name="T17" fmla="*/ 250 w 250"/>
                    <a:gd name="T18" fmla="*/ 41 h 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0" h="41">
                      <a:moveTo>
                        <a:pt x="0" y="40"/>
                      </a:moveTo>
                      <a:lnTo>
                        <a:pt x="249" y="40"/>
                      </a:lnTo>
                      <a:lnTo>
                        <a:pt x="240" y="0"/>
                      </a:lnTo>
                      <a:lnTo>
                        <a:pt x="10" y="0"/>
                      </a:lnTo>
                      <a:lnTo>
                        <a:pt x="0" y="40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8" name="Freeform 1508"/>
                <p:cNvSpPr>
                  <a:spLocks/>
                </p:cNvSpPr>
                <p:nvPr/>
              </p:nvSpPr>
              <p:spPr bwMode="auto">
                <a:xfrm>
                  <a:off x="3855" y="1572"/>
                  <a:ext cx="251" cy="17"/>
                </a:xfrm>
                <a:custGeom>
                  <a:avLst/>
                  <a:gdLst>
                    <a:gd name="T0" fmla="*/ 0 w 251"/>
                    <a:gd name="T1" fmla="*/ 16 h 17"/>
                    <a:gd name="T2" fmla="*/ 0 w 251"/>
                    <a:gd name="T3" fmla="*/ 0 h 17"/>
                    <a:gd name="T4" fmla="*/ 249 w 251"/>
                    <a:gd name="T5" fmla="*/ 0 h 17"/>
                    <a:gd name="T6" fmla="*/ 250 w 251"/>
                    <a:gd name="T7" fmla="*/ 16 h 17"/>
                    <a:gd name="T8" fmla="*/ 0 w 251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1"/>
                    <a:gd name="T16" fmla="*/ 0 h 17"/>
                    <a:gd name="T17" fmla="*/ 251 w 251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1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249" y="0"/>
                      </a:lnTo>
                      <a:lnTo>
                        <a:pt x="250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CCCC6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9" name="Freeform 1509"/>
                <p:cNvSpPr>
                  <a:spLocks/>
                </p:cNvSpPr>
                <p:nvPr/>
              </p:nvSpPr>
              <p:spPr bwMode="auto">
                <a:xfrm>
                  <a:off x="3872" y="1538"/>
                  <a:ext cx="223" cy="28"/>
                </a:xfrm>
                <a:custGeom>
                  <a:avLst/>
                  <a:gdLst>
                    <a:gd name="T0" fmla="*/ 0 w 223"/>
                    <a:gd name="T1" fmla="*/ 27 h 28"/>
                    <a:gd name="T2" fmla="*/ 222 w 223"/>
                    <a:gd name="T3" fmla="*/ 27 h 28"/>
                    <a:gd name="T4" fmla="*/ 214 w 223"/>
                    <a:gd name="T5" fmla="*/ 0 h 28"/>
                    <a:gd name="T6" fmla="*/ 8 w 223"/>
                    <a:gd name="T7" fmla="*/ 0 h 28"/>
                    <a:gd name="T8" fmla="*/ 0 w 223"/>
                    <a:gd name="T9" fmla="*/ 27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3"/>
                    <a:gd name="T16" fmla="*/ 0 h 28"/>
                    <a:gd name="T17" fmla="*/ 223 w 223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3" h="28">
                      <a:moveTo>
                        <a:pt x="0" y="27"/>
                      </a:moveTo>
                      <a:lnTo>
                        <a:pt x="222" y="27"/>
                      </a:lnTo>
                      <a:lnTo>
                        <a:pt x="214" y="0"/>
                      </a:lnTo>
                      <a:lnTo>
                        <a:pt x="8" y="0"/>
                      </a:lnTo>
                      <a:lnTo>
                        <a:pt x="0" y="27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0279" name="Group 1510"/>
              <p:cNvGrpSpPr>
                <a:grpSpLocks/>
              </p:cNvGrpSpPr>
              <p:nvPr/>
            </p:nvGrpSpPr>
            <p:grpSpPr bwMode="auto">
              <a:xfrm>
                <a:off x="3084" y="778"/>
                <a:ext cx="245" cy="176"/>
                <a:chOff x="3840" y="1279"/>
                <a:chExt cx="266" cy="310"/>
              </a:xfrm>
            </p:grpSpPr>
            <p:sp>
              <p:nvSpPr>
                <p:cNvPr id="10338" name="Freeform 1511"/>
                <p:cNvSpPr>
                  <a:spLocks/>
                </p:cNvSpPr>
                <p:nvPr/>
              </p:nvSpPr>
              <p:spPr bwMode="auto">
                <a:xfrm>
                  <a:off x="3848" y="1548"/>
                  <a:ext cx="206" cy="20"/>
                </a:xfrm>
                <a:custGeom>
                  <a:avLst/>
                  <a:gdLst>
                    <a:gd name="T0" fmla="*/ 0 w 206"/>
                    <a:gd name="T1" fmla="*/ 19 h 20"/>
                    <a:gd name="T2" fmla="*/ 0 w 206"/>
                    <a:gd name="T3" fmla="*/ 0 h 20"/>
                    <a:gd name="T4" fmla="*/ 205 w 206"/>
                    <a:gd name="T5" fmla="*/ 0 h 20"/>
                    <a:gd name="T6" fmla="*/ 205 w 206"/>
                    <a:gd name="T7" fmla="*/ 19 h 20"/>
                    <a:gd name="T8" fmla="*/ 0 w 206"/>
                    <a:gd name="T9" fmla="*/ 19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6"/>
                    <a:gd name="T16" fmla="*/ 0 h 20"/>
                    <a:gd name="T17" fmla="*/ 206 w 206"/>
                    <a:gd name="T18" fmla="*/ 20 h 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6" h="20">
                      <a:moveTo>
                        <a:pt x="0" y="19"/>
                      </a:moveTo>
                      <a:lnTo>
                        <a:pt x="0" y="0"/>
                      </a:lnTo>
                      <a:lnTo>
                        <a:pt x="205" y="0"/>
                      </a:lnTo>
                      <a:lnTo>
                        <a:pt x="205" y="19"/>
                      </a:lnTo>
                      <a:lnTo>
                        <a:pt x="0" y="19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39" name="Freeform 1512"/>
                <p:cNvSpPr>
                  <a:spLocks/>
                </p:cNvSpPr>
                <p:nvPr/>
              </p:nvSpPr>
              <p:spPr bwMode="auto">
                <a:xfrm>
                  <a:off x="3840" y="1453"/>
                  <a:ext cx="220" cy="34"/>
                </a:xfrm>
                <a:custGeom>
                  <a:avLst/>
                  <a:gdLst>
                    <a:gd name="T0" fmla="*/ 189 w 220"/>
                    <a:gd name="T1" fmla="*/ 0 h 34"/>
                    <a:gd name="T2" fmla="*/ 219 w 220"/>
                    <a:gd name="T3" fmla="*/ 33 h 34"/>
                    <a:gd name="T4" fmla="*/ 0 w 220"/>
                    <a:gd name="T5" fmla="*/ 33 h 34"/>
                    <a:gd name="T6" fmla="*/ 29 w 220"/>
                    <a:gd name="T7" fmla="*/ 0 h 34"/>
                    <a:gd name="T8" fmla="*/ 189 w 220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34"/>
                    <a:gd name="T17" fmla="*/ 220 w 220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34">
                      <a:moveTo>
                        <a:pt x="189" y="0"/>
                      </a:moveTo>
                      <a:lnTo>
                        <a:pt x="219" y="33"/>
                      </a:lnTo>
                      <a:lnTo>
                        <a:pt x="0" y="33"/>
                      </a:lnTo>
                      <a:lnTo>
                        <a:pt x="29" y="0"/>
                      </a:lnTo>
                      <a:lnTo>
                        <a:pt x="189" y="0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40" name="Freeform 1513"/>
                <p:cNvSpPr>
                  <a:spLocks/>
                </p:cNvSpPr>
                <p:nvPr/>
              </p:nvSpPr>
              <p:spPr bwMode="auto">
                <a:xfrm>
                  <a:off x="3897" y="1449"/>
                  <a:ext cx="104" cy="24"/>
                </a:xfrm>
                <a:custGeom>
                  <a:avLst/>
                  <a:gdLst>
                    <a:gd name="T0" fmla="*/ 102 w 104"/>
                    <a:gd name="T1" fmla="*/ 10 h 24"/>
                    <a:gd name="T2" fmla="*/ 101 w 104"/>
                    <a:gd name="T3" fmla="*/ 8 h 24"/>
                    <a:gd name="T4" fmla="*/ 97 w 104"/>
                    <a:gd name="T5" fmla="*/ 6 h 24"/>
                    <a:gd name="T6" fmla="*/ 93 w 104"/>
                    <a:gd name="T7" fmla="*/ 4 h 24"/>
                    <a:gd name="T8" fmla="*/ 87 w 104"/>
                    <a:gd name="T9" fmla="*/ 3 h 24"/>
                    <a:gd name="T10" fmla="*/ 80 w 104"/>
                    <a:gd name="T11" fmla="*/ 2 h 24"/>
                    <a:gd name="T12" fmla="*/ 72 w 104"/>
                    <a:gd name="T13" fmla="*/ 1 h 24"/>
                    <a:gd name="T14" fmla="*/ 64 w 104"/>
                    <a:gd name="T15" fmla="*/ 0 h 24"/>
                    <a:gd name="T16" fmla="*/ 55 w 104"/>
                    <a:gd name="T17" fmla="*/ 0 h 24"/>
                    <a:gd name="T18" fmla="*/ 46 w 104"/>
                    <a:gd name="T19" fmla="*/ 0 h 24"/>
                    <a:gd name="T20" fmla="*/ 37 w 104"/>
                    <a:gd name="T21" fmla="*/ 0 h 24"/>
                    <a:gd name="T22" fmla="*/ 29 w 104"/>
                    <a:gd name="T23" fmla="*/ 1 h 24"/>
                    <a:gd name="T24" fmla="*/ 21 w 104"/>
                    <a:gd name="T25" fmla="*/ 2 h 24"/>
                    <a:gd name="T26" fmla="*/ 14 w 104"/>
                    <a:gd name="T27" fmla="*/ 3 h 24"/>
                    <a:gd name="T28" fmla="*/ 8 w 104"/>
                    <a:gd name="T29" fmla="*/ 4 h 24"/>
                    <a:gd name="T30" fmla="*/ 4 w 104"/>
                    <a:gd name="T31" fmla="*/ 6 h 24"/>
                    <a:gd name="T32" fmla="*/ 1 w 104"/>
                    <a:gd name="T33" fmla="*/ 8 h 24"/>
                    <a:gd name="T34" fmla="*/ 0 w 104"/>
                    <a:gd name="T35" fmla="*/ 10 h 24"/>
                    <a:gd name="T36" fmla="*/ 0 w 104"/>
                    <a:gd name="T37" fmla="*/ 12 h 24"/>
                    <a:gd name="T38" fmla="*/ 1 w 104"/>
                    <a:gd name="T39" fmla="*/ 14 h 24"/>
                    <a:gd name="T40" fmla="*/ 4 w 104"/>
                    <a:gd name="T41" fmla="*/ 16 h 24"/>
                    <a:gd name="T42" fmla="*/ 8 w 104"/>
                    <a:gd name="T43" fmla="*/ 17 h 24"/>
                    <a:gd name="T44" fmla="*/ 14 w 104"/>
                    <a:gd name="T45" fmla="*/ 19 h 24"/>
                    <a:gd name="T46" fmla="*/ 21 w 104"/>
                    <a:gd name="T47" fmla="*/ 20 h 24"/>
                    <a:gd name="T48" fmla="*/ 29 w 104"/>
                    <a:gd name="T49" fmla="*/ 21 h 24"/>
                    <a:gd name="T50" fmla="*/ 37 w 104"/>
                    <a:gd name="T51" fmla="*/ 22 h 24"/>
                    <a:gd name="T52" fmla="*/ 46 w 104"/>
                    <a:gd name="T53" fmla="*/ 23 h 24"/>
                    <a:gd name="T54" fmla="*/ 55 w 104"/>
                    <a:gd name="T55" fmla="*/ 23 h 24"/>
                    <a:gd name="T56" fmla="*/ 64 w 104"/>
                    <a:gd name="T57" fmla="*/ 22 h 24"/>
                    <a:gd name="T58" fmla="*/ 72 w 104"/>
                    <a:gd name="T59" fmla="*/ 21 h 24"/>
                    <a:gd name="T60" fmla="*/ 80 w 104"/>
                    <a:gd name="T61" fmla="*/ 20 h 24"/>
                    <a:gd name="T62" fmla="*/ 87 w 104"/>
                    <a:gd name="T63" fmla="*/ 19 h 24"/>
                    <a:gd name="T64" fmla="*/ 93 w 104"/>
                    <a:gd name="T65" fmla="*/ 17 h 24"/>
                    <a:gd name="T66" fmla="*/ 97 w 104"/>
                    <a:gd name="T67" fmla="*/ 16 h 24"/>
                    <a:gd name="T68" fmla="*/ 101 w 104"/>
                    <a:gd name="T69" fmla="*/ 14 h 24"/>
                    <a:gd name="T70" fmla="*/ 102 w 104"/>
                    <a:gd name="T71" fmla="*/ 12 h 24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104"/>
                    <a:gd name="T109" fmla="*/ 0 h 24"/>
                    <a:gd name="T110" fmla="*/ 104 w 104"/>
                    <a:gd name="T111" fmla="*/ 24 h 24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104" h="24">
                      <a:moveTo>
                        <a:pt x="103" y="11"/>
                      </a:moveTo>
                      <a:lnTo>
                        <a:pt x="102" y="10"/>
                      </a:lnTo>
                      <a:lnTo>
                        <a:pt x="102" y="9"/>
                      </a:lnTo>
                      <a:lnTo>
                        <a:pt x="101" y="8"/>
                      </a:lnTo>
                      <a:lnTo>
                        <a:pt x="99" y="7"/>
                      </a:lnTo>
                      <a:lnTo>
                        <a:pt x="97" y="6"/>
                      </a:lnTo>
                      <a:lnTo>
                        <a:pt x="95" y="6"/>
                      </a:lnTo>
                      <a:lnTo>
                        <a:pt x="93" y="4"/>
                      </a:lnTo>
                      <a:lnTo>
                        <a:pt x="90" y="4"/>
                      </a:lnTo>
                      <a:lnTo>
                        <a:pt x="87" y="3"/>
                      </a:lnTo>
                      <a:lnTo>
                        <a:pt x="84" y="2"/>
                      </a:lnTo>
                      <a:lnTo>
                        <a:pt x="80" y="2"/>
                      </a:lnTo>
                      <a:lnTo>
                        <a:pt x="76" y="1"/>
                      </a:lnTo>
                      <a:lnTo>
                        <a:pt x="72" y="1"/>
                      </a:lnTo>
                      <a:lnTo>
                        <a:pt x="69" y="0"/>
                      </a:lnTo>
                      <a:lnTo>
                        <a:pt x="64" y="0"/>
                      </a:lnTo>
                      <a:lnTo>
                        <a:pt x="60" y="0"/>
                      </a:lnTo>
                      <a:lnTo>
                        <a:pt x="55" y="0"/>
                      </a:lnTo>
                      <a:lnTo>
                        <a:pt x="51" y="0"/>
                      </a:lnTo>
                      <a:lnTo>
                        <a:pt x="46" y="0"/>
                      </a:lnTo>
                      <a:lnTo>
                        <a:pt x="42" y="0"/>
                      </a:lnTo>
                      <a:lnTo>
                        <a:pt x="37" y="0"/>
                      </a:lnTo>
                      <a:lnTo>
                        <a:pt x="33" y="0"/>
                      </a:lnTo>
                      <a:lnTo>
                        <a:pt x="29" y="1"/>
                      </a:lnTo>
                      <a:lnTo>
                        <a:pt x="25" y="1"/>
                      </a:lnTo>
                      <a:lnTo>
                        <a:pt x="21" y="2"/>
                      </a:lnTo>
                      <a:lnTo>
                        <a:pt x="17" y="2"/>
                      </a:lnTo>
                      <a:lnTo>
                        <a:pt x="14" y="3"/>
                      </a:lnTo>
                      <a:lnTo>
                        <a:pt x="12" y="4"/>
                      </a:lnTo>
                      <a:lnTo>
                        <a:pt x="8" y="4"/>
                      </a:lnTo>
                      <a:lnTo>
                        <a:pt x="6" y="6"/>
                      </a:lnTo>
                      <a:lnTo>
                        <a:pt x="4" y="6"/>
                      </a:lnTo>
                      <a:lnTo>
                        <a:pt x="3" y="7"/>
                      </a:lnTo>
                      <a:lnTo>
                        <a:pt x="1" y="8"/>
                      </a:lnTo>
                      <a:lnTo>
                        <a:pt x="0" y="9"/>
                      </a:lnTo>
                      <a:lnTo>
                        <a:pt x="0" y="10"/>
                      </a:lnTo>
                      <a:lnTo>
                        <a:pt x="0" y="11"/>
                      </a:lnTo>
                      <a:lnTo>
                        <a:pt x="0" y="12"/>
                      </a:lnTo>
                      <a:lnTo>
                        <a:pt x="0" y="13"/>
                      </a:lnTo>
                      <a:lnTo>
                        <a:pt x="1" y="14"/>
                      </a:lnTo>
                      <a:lnTo>
                        <a:pt x="3" y="15"/>
                      </a:lnTo>
                      <a:lnTo>
                        <a:pt x="4" y="16"/>
                      </a:lnTo>
                      <a:lnTo>
                        <a:pt x="6" y="17"/>
                      </a:lnTo>
                      <a:lnTo>
                        <a:pt x="8" y="17"/>
                      </a:lnTo>
                      <a:lnTo>
                        <a:pt x="12" y="18"/>
                      </a:lnTo>
                      <a:lnTo>
                        <a:pt x="14" y="19"/>
                      </a:lnTo>
                      <a:lnTo>
                        <a:pt x="17" y="20"/>
                      </a:lnTo>
                      <a:lnTo>
                        <a:pt x="21" y="20"/>
                      </a:lnTo>
                      <a:lnTo>
                        <a:pt x="25" y="21"/>
                      </a:lnTo>
                      <a:lnTo>
                        <a:pt x="29" y="21"/>
                      </a:lnTo>
                      <a:lnTo>
                        <a:pt x="33" y="22"/>
                      </a:lnTo>
                      <a:lnTo>
                        <a:pt x="37" y="22"/>
                      </a:lnTo>
                      <a:lnTo>
                        <a:pt x="42" y="22"/>
                      </a:lnTo>
                      <a:lnTo>
                        <a:pt x="46" y="23"/>
                      </a:lnTo>
                      <a:lnTo>
                        <a:pt x="51" y="23"/>
                      </a:lnTo>
                      <a:lnTo>
                        <a:pt x="55" y="23"/>
                      </a:lnTo>
                      <a:lnTo>
                        <a:pt x="60" y="22"/>
                      </a:lnTo>
                      <a:lnTo>
                        <a:pt x="64" y="22"/>
                      </a:lnTo>
                      <a:lnTo>
                        <a:pt x="69" y="22"/>
                      </a:lnTo>
                      <a:lnTo>
                        <a:pt x="72" y="21"/>
                      </a:lnTo>
                      <a:lnTo>
                        <a:pt x="76" y="21"/>
                      </a:lnTo>
                      <a:lnTo>
                        <a:pt x="80" y="20"/>
                      </a:lnTo>
                      <a:lnTo>
                        <a:pt x="84" y="20"/>
                      </a:lnTo>
                      <a:lnTo>
                        <a:pt x="87" y="19"/>
                      </a:lnTo>
                      <a:lnTo>
                        <a:pt x="90" y="18"/>
                      </a:lnTo>
                      <a:lnTo>
                        <a:pt x="93" y="17"/>
                      </a:lnTo>
                      <a:lnTo>
                        <a:pt x="95" y="17"/>
                      </a:lnTo>
                      <a:lnTo>
                        <a:pt x="97" y="16"/>
                      </a:lnTo>
                      <a:lnTo>
                        <a:pt x="99" y="15"/>
                      </a:lnTo>
                      <a:lnTo>
                        <a:pt x="101" y="14"/>
                      </a:lnTo>
                      <a:lnTo>
                        <a:pt x="102" y="13"/>
                      </a:lnTo>
                      <a:lnTo>
                        <a:pt x="102" y="12"/>
                      </a:lnTo>
                      <a:lnTo>
                        <a:pt x="103" y="11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41" name="Freeform 1514"/>
                <p:cNvSpPr>
                  <a:spLocks/>
                </p:cNvSpPr>
                <p:nvPr/>
              </p:nvSpPr>
              <p:spPr bwMode="auto">
                <a:xfrm>
                  <a:off x="3897" y="1461"/>
                  <a:ext cx="104" cy="17"/>
                </a:xfrm>
                <a:custGeom>
                  <a:avLst/>
                  <a:gdLst>
                    <a:gd name="T0" fmla="*/ 102 w 104"/>
                    <a:gd name="T1" fmla="*/ 6 h 17"/>
                    <a:gd name="T2" fmla="*/ 101 w 104"/>
                    <a:gd name="T3" fmla="*/ 8 h 17"/>
                    <a:gd name="T4" fmla="*/ 97 w 104"/>
                    <a:gd name="T5" fmla="*/ 10 h 17"/>
                    <a:gd name="T6" fmla="*/ 93 w 104"/>
                    <a:gd name="T7" fmla="*/ 11 h 17"/>
                    <a:gd name="T8" fmla="*/ 87 w 104"/>
                    <a:gd name="T9" fmla="*/ 12 h 17"/>
                    <a:gd name="T10" fmla="*/ 80 w 104"/>
                    <a:gd name="T11" fmla="*/ 14 h 17"/>
                    <a:gd name="T12" fmla="*/ 72 w 104"/>
                    <a:gd name="T13" fmla="*/ 14 h 17"/>
                    <a:gd name="T14" fmla="*/ 64 w 104"/>
                    <a:gd name="T15" fmla="*/ 15 h 17"/>
                    <a:gd name="T16" fmla="*/ 55 w 104"/>
                    <a:gd name="T17" fmla="*/ 16 h 17"/>
                    <a:gd name="T18" fmla="*/ 46 w 104"/>
                    <a:gd name="T19" fmla="*/ 16 h 17"/>
                    <a:gd name="T20" fmla="*/ 37 w 104"/>
                    <a:gd name="T21" fmla="*/ 15 h 17"/>
                    <a:gd name="T22" fmla="*/ 29 w 104"/>
                    <a:gd name="T23" fmla="*/ 14 h 17"/>
                    <a:gd name="T24" fmla="*/ 21 w 104"/>
                    <a:gd name="T25" fmla="*/ 14 h 17"/>
                    <a:gd name="T26" fmla="*/ 14 w 104"/>
                    <a:gd name="T27" fmla="*/ 12 h 17"/>
                    <a:gd name="T28" fmla="*/ 8 w 104"/>
                    <a:gd name="T29" fmla="*/ 11 h 17"/>
                    <a:gd name="T30" fmla="*/ 4 w 104"/>
                    <a:gd name="T31" fmla="*/ 10 h 17"/>
                    <a:gd name="T32" fmla="*/ 1 w 104"/>
                    <a:gd name="T33" fmla="*/ 8 h 17"/>
                    <a:gd name="T34" fmla="*/ 0 w 104"/>
                    <a:gd name="T35" fmla="*/ 6 h 17"/>
                    <a:gd name="T36" fmla="*/ 0 w 104"/>
                    <a:gd name="T37" fmla="*/ 0 h 17"/>
                    <a:gd name="T38" fmla="*/ 0 w 104"/>
                    <a:gd name="T39" fmla="*/ 2 h 17"/>
                    <a:gd name="T40" fmla="*/ 3 w 104"/>
                    <a:gd name="T41" fmla="*/ 4 h 17"/>
                    <a:gd name="T42" fmla="*/ 6 w 104"/>
                    <a:gd name="T43" fmla="*/ 5 h 17"/>
                    <a:gd name="T44" fmla="*/ 12 w 104"/>
                    <a:gd name="T45" fmla="*/ 6 h 17"/>
                    <a:gd name="T46" fmla="*/ 17 w 104"/>
                    <a:gd name="T47" fmla="*/ 8 h 17"/>
                    <a:gd name="T48" fmla="*/ 25 w 104"/>
                    <a:gd name="T49" fmla="*/ 9 h 17"/>
                    <a:gd name="T50" fmla="*/ 33 w 104"/>
                    <a:gd name="T51" fmla="*/ 10 h 17"/>
                    <a:gd name="T52" fmla="*/ 42 w 104"/>
                    <a:gd name="T53" fmla="*/ 10 h 17"/>
                    <a:gd name="T54" fmla="*/ 51 w 104"/>
                    <a:gd name="T55" fmla="*/ 10 h 17"/>
                    <a:gd name="T56" fmla="*/ 60 w 104"/>
                    <a:gd name="T57" fmla="*/ 10 h 17"/>
                    <a:gd name="T58" fmla="*/ 69 w 104"/>
                    <a:gd name="T59" fmla="*/ 10 h 17"/>
                    <a:gd name="T60" fmla="*/ 76 w 104"/>
                    <a:gd name="T61" fmla="*/ 9 h 17"/>
                    <a:gd name="T62" fmla="*/ 84 w 104"/>
                    <a:gd name="T63" fmla="*/ 8 h 17"/>
                    <a:gd name="T64" fmla="*/ 90 w 104"/>
                    <a:gd name="T65" fmla="*/ 6 h 17"/>
                    <a:gd name="T66" fmla="*/ 95 w 104"/>
                    <a:gd name="T67" fmla="*/ 5 h 17"/>
                    <a:gd name="T68" fmla="*/ 99 w 104"/>
                    <a:gd name="T69" fmla="*/ 4 h 17"/>
                    <a:gd name="T70" fmla="*/ 102 w 104"/>
                    <a:gd name="T71" fmla="*/ 2 h 17"/>
                    <a:gd name="T72" fmla="*/ 103 w 104"/>
                    <a:gd name="T73" fmla="*/ 0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04"/>
                    <a:gd name="T112" fmla="*/ 0 h 17"/>
                    <a:gd name="T113" fmla="*/ 104 w 104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04" h="17">
                      <a:moveTo>
                        <a:pt x="103" y="5"/>
                      </a:moveTo>
                      <a:lnTo>
                        <a:pt x="102" y="6"/>
                      </a:lnTo>
                      <a:lnTo>
                        <a:pt x="102" y="7"/>
                      </a:lnTo>
                      <a:lnTo>
                        <a:pt x="101" y="8"/>
                      </a:lnTo>
                      <a:lnTo>
                        <a:pt x="99" y="8"/>
                      </a:lnTo>
                      <a:lnTo>
                        <a:pt x="97" y="10"/>
                      </a:lnTo>
                      <a:lnTo>
                        <a:pt x="95" y="10"/>
                      </a:lnTo>
                      <a:lnTo>
                        <a:pt x="93" y="11"/>
                      </a:lnTo>
                      <a:lnTo>
                        <a:pt x="90" y="12"/>
                      </a:lnTo>
                      <a:lnTo>
                        <a:pt x="87" y="12"/>
                      </a:lnTo>
                      <a:lnTo>
                        <a:pt x="84" y="13"/>
                      </a:lnTo>
                      <a:lnTo>
                        <a:pt x="80" y="14"/>
                      </a:lnTo>
                      <a:lnTo>
                        <a:pt x="76" y="14"/>
                      </a:lnTo>
                      <a:lnTo>
                        <a:pt x="72" y="14"/>
                      </a:lnTo>
                      <a:lnTo>
                        <a:pt x="69" y="15"/>
                      </a:lnTo>
                      <a:lnTo>
                        <a:pt x="64" y="15"/>
                      </a:lnTo>
                      <a:lnTo>
                        <a:pt x="60" y="16"/>
                      </a:lnTo>
                      <a:lnTo>
                        <a:pt x="55" y="16"/>
                      </a:lnTo>
                      <a:lnTo>
                        <a:pt x="51" y="16"/>
                      </a:lnTo>
                      <a:lnTo>
                        <a:pt x="46" y="16"/>
                      </a:lnTo>
                      <a:lnTo>
                        <a:pt x="42" y="16"/>
                      </a:lnTo>
                      <a:lnTo>
                        <a:pt x="37" y="15"/>
                      </a:lnTo>
                      <a:lnTo>
                        <a:pt x="33" y="15"/>
                      </a:lnTo>
                      <a:lnTo>
                        <a:pt x="29" y="14"/>
                      </a:lnTo>
                      <a:lnTo>
                        <a:pt x="25" y="14"/>
                      </a:lnTo>
                      <a:lnTo>
                        <a:pt x="21" y="14"/>
                      </a:lnTo>
                      <a:lnTo>
                        <a:pt x="17" y="13"/>
                      </a:lnTo>
                      <a:lnTo>
                        <a:pt x="14" y="12"/>
                      </a:lnTo>
                      <a:lnTo>
                        <a:pt x="12" y="12"/>
                      </a:lnTo>
                      <a:lnTo>
                        <a:pt x="8" y="11"/>
                      </a:lnTo>
                      <a:lnTo>
                        <a:pt x="6" y="10"/>
                      </a:lnTo>
                      <a:lnTo>
                        <a:pt x="4" y="10"/>
                      </a:lnTo>
                      <a:lnTo>
                        <a:pt x="3" y="8"/>
                      </a:lnTo>
                      <a:lnTo>
                        <a:pt x="1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1" y="2"/>
                      </a:lnTo>
                      <a:lnTo>
                        <a:pt x="3" y="4"/>
                      </a:lnTo>
                      <a:lnTo>
                        <a:pt x="4" y="4"/>
                      </a:lnTo>
                      <a:lnTo>
                        <a:pt x="6" y="5"/>
                      </a:lnTo>
                      <a:lnTo>
                        <a:pt x="8" y="6"/>
                      </a:lnTo>
                      <a:lnTo>
                        <a:pt x="12" y="6"/>
                      </a:lnTo>
                      <a:lnTo>
                        <a:pt x="14" y="7"/>
                      </a:lnTo>
                      <a:lnTo>
                        <a:pt x="17" y="8"/>
                      </a:lnTo>
                      <a:lnTo>
                        <a:pt x="21" y="8"/>
                      </a:lnTo>
                      <a:lnTo>
                        <a:pt x="25" y="9"/>
                      </a:lnTo>
                      <a:lnTo>
                        <a:pt x="29" y="10"/>
                      </a:lnTo>
                      <a:lnTo>
                        <a:pt x="33" y="10"/>
                      </a:lnTo>
                      <a:lnTo>
                        <a:pt x="37" y="10"/>
                      </a:lnTo>
                      <a:lnTo>
                        <a:pt x="42" y="10"/>
                      </a:lnTo>
                      <a:lnTo>
                        <a:pt x="46" y="10"/>
                      </a:lnTo>
                      <a:lnTo>
                        <a:pt x="51" y="10"/>
                      </a:lnTo>
                      <a:lnTo>
                        <a:pt x="55" y="10"/>
                      </a:lnTo>
                      <a:lnTo>
                        <a:pt x="60" y="10"/>
                      </a:lnTo>
                      <a:lnTo>
                        <a:pt x="64" y="10"/>
                      </a:lnTo>
                      <a:lnTo>
                        <a:pt x="69" y="10"/>
                      </a:lnTo>
                      <a:lnTo>
                        <a:pt x="72" y="10"/>
                      </a:lnTo>
                      <a:lnTo>
                        <a:pt x="76" y="9"/>
                      </a:lnTo>
                      <a:lnTo>
                        <a:pt x="80" y="8"/>
                      </a:lnTo>
                      <a:lnTo>
                        <a:pt x="84" y="8"/>
                      </a:lnTo>
                      <a:lnTo>
                        <a:pt x="87" y="7"/>
                      </a:lnTo>
                      <a:lnTo>
                        <a:pt x="90" y="6"/>
                      </a:lnTo>
                      <a:lnTo>
                        <a:pt x="93" y="6"/>
                      </a:lnTo>
                      <a:lnTo>
                        <a:pt x="95" y="5"/>
                      </a:lnTo>
                      <a:lnTo>
                        <a:pt x="97" y="4"/>
                      </a:lnTo>
                      <a:lnTo>
                        <a:pt x="99" y="4"/>
                      </a:lnTo>
                      <a:lnTo>
                        <a:pt x="101" y="2"/>
                      </a:lnTo>
                      <a:lnTo>
                        <a:pt x="102" y="2"/>
                      </a:lnTo>
                      <a:lnTo>
                        <a:pt x="102" y="1"/>
                      </a:lnTo>
                      <a:lnTo>
                        <a:pt x="103" y="0"/>
                      </a:lnTo>
                      <a:lnTo>
                        <a:pt x="103" y="5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42" name="Freeform 1515"/>
                <p:cNvSpPr>
                  <a:spLocks/>
                </p:cNvSpPr>
                <p:nvPr/>
              </p:nvSpPr>
              <p:spPr bwMode="auto">
                <a:xfrm>
                  <a:off x="3840" y="1486"/>
                  <a:ext cx="220" cy="77"/>
                </a:xfrm>
                <a:custGeom>
                  <a:avLst/>
                  <a:gdLst>
                    <a:gd name="T0" fmla="*/ 0 w 220"/>
                    <a:gd name="T1" fmla="*/ 76 h 77"/>
                    <a:gd name="T2" fmla="*/ 219 w 220"/>
                    <a:gd name="T3" fmla="*/ 76 h 77"/>
                    <a:gd name="T4" fmla="*/ 219 w 220"/>
                    <a:gd name="T5" fmla="*/ 0 h 77"/>
                    <a:gd name="T6" fmla="*/ 0 w 220"/>
                    <a:gd name="T7" fmla="*/ 0 h 77"/>
                    <a:gd name="T8" fmla="*/ 0 w 220"/>
                    <a:gd name="T9" fmla="*/ 76 h 7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77"/>
                    <a:gd name="T17" fmla="*/ 220 w 220"/>
                    <a:gd name="T18" fmla="*/ 77 h 7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77">
                      <a:moveTo>
                        <a:pt x="0" y="76"/>
                      </a:moveTo>
                      <a:lnTo>
                        <a:pt x="219" y="76"/>
                      </a:lnTo>
                      <a:lnTo>
                        <a:pt x="219" y="0"/>
                      </a:lnTo>
                      <a:lnTo>
                        <a:pt x="0" y="0"/>
                      </a:lnTo>
                      <a:lnTo>
                        <a:pt x="0" y="76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43" name="Freeform 1516"/>
                <p:cNvSpPr>
                  <a:spLocks/>
                </p:cNvSpPr>
                <p:nvPr/>
              </p:nvSpPr>
              <p:spPr bwMode="auto">
                <a:xfrm>
                  <a:off x="3875" y="1449"/>
                  <a:ext cx="69" cy="17"/>
                </a:xfrm>
                <a:custGeom>
                  <a:avLst/>
                  <a:gdLst>
                    <a:gd name="T0" fmla="*/ 0 w 69"/>
                    <a:gd name="T1" fmla="*/ 16 h 17"/>
                    <a:gd name="T2" fmla="*/ 0 w 69"/>
                    <a:gd name="T3" fmla="*/ 0 h 17"/>
                    <a:gd name="T4" fmla="*/ 68 w 69"/>
                    <a:gd name="T5" fmla="*/ 0 h 17"/>
                    <a:gd name="T6" fmla="*/ 68 w 69"/>
                    <a:gd name="T7" fmla="*/ 16 h 17"/>
                    <a:gd name="T8" fmla="*/ 0 w 69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9"/>
                    <a:gd name="T16" fmla="*/ 0 h 17"/>
                    <a:gd name="T17" fmla="*/ 69 w 69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9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68" y="0"/>
                      </a:lnTo>
                      <a:lnTo>
                        <a:pt x="68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44" name="Freeform 1517"/>
                <p:cNvSpPr>
                  <a:spLocks/>
                </p:cNvSpPr>
                <p:nvPr/>
              </p:nvSpPr>
              <p:spPr bwMode="auto">
                <a:xfrm>
                  <a:off x="3931" y="1450"/>
                  <a:ext cx="94" cy="17"/>
                </a:xfrm>
                <a:custGeom>
                  <a:avLst/>
                  <a:gdLst>
                    <a:gd name="T0" fmla="*/ 0 w 94"/>
                    <a:gd name="T1" fmla="*/ 16 h 17"/>
                    <a:gd name="T2" fmla="*/ 0 w 94"/>
                    <a:gd name="T3" fmla="*/ 0 h 17"/>
                    <a:gd name="T4" fmla="*/ 93 w 94"/>
                    <a:gd name="T5" fmla="*/ 0 h 17"/>
                    <a:gd name="T6" fmla="*/ 93 w 94"/>
                    <a:gd name="T7" fmla="*/ 16 h 17"/>
                    <a:gd name="T8" fmla="*/ 0 w 94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4"/>
                    <a:gd name="T16" fmla="*/ 0 h 17"/>
                    <a:gd name="T17" fmla="*/ 94 w 9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4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93" y="0"/>
                      </a:lnTo>
                      <a:lnTo>
                        <a:pt x="93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45" name="Freeform 1518"/>
                <p:cNvSpPr>
                  <a:spLocks/>
                </p:cNvSpPr>
                <p:nvPr/>
              </p:nvSpPr>
              <p:spPr bwMode="auto">
                <a:xfrm>
                  <a:off x="3877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46" name="Freeform 1519"/>
                <p:cNvSpPr>
                  <a:spLocks/>
                </p:cNvSpPr>
                <p:nvPr/>
              </p:nvSpPr>
              <p:spPr bwMode="auto">
                <a:xfrm>
                  <a:off x="388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4 w 17"/>
                    <a:gd name="T7" fmla="*/ 16 h 17"/>
                    <a:gd name="T8" fmla="*/ 8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47" name="Freeform 1520"/>
                <p:cNvSpPr>
                  <a:spLocks/>
                </p:cNvSpPr>
                <p:nvPr/>
              </p:nvSpPr>
              <p:spPr bwMode="auto">
                <a:xfrm>
                  <a:off x="388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48" name="Freeform 1521"/>
                <p:cNvSpPr>
                  <a:spLocks/>
                </p:cNvSpPr>
                <p:nvPr/>
              </p:nvSpPr>
              <p:spPr bwMode="auto">
                <a:xfrm>
                  <a:off x="388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49" name="Freeform 1522"/>
                <p:cNvSpPr>
                  <a:spLocks/>
                </p:cNvSpPr>
                <p:nvPr/>
              </p:nvSpPr>
              <p:spPr bwMode="auto">
                <a:xfrm>
                  <a:off x="388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50" name="Freeform 1523"/>
                <p:cNvSpPr>
                  <a:spLocks/>
                </p:cNvSpPr>
                <p:nvPr/>
              </p:nvSpPr>
              <p:spPr bwMode="auto">
                <a:xfrm>
                  <a:off x="389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51" name="Freeform 1524"/>
                <p:cNvSpPr>
                  <a:spLocks/>
                </p:cNvSpPr>
                <p:nvPr/>
              </p:nvSpPr>
              <p:spPr bwMode="auto">
                <a:xfrm>
                  <a:off x="389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52" name="Freeform 1525"/>
                <p:cNvSpPr>
                  <a:spLocks/>
                </p:cNvSpPr>
                <p:nvPr/>
              </p:nvSpPr>
              <p:spPr bwMode="auto">
                <a:xfrm>
                  <a:off x="3894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53" name="Freeform 1526"/>
                <p:cNvSpPr>
                  <a:spLocks/>
                </p:cNvSpPr>
                <p:nvPr/>
              </p:nvSpPr>
              <p:spPr bwMode="auto">
                <a:xfrm>
                  <a:off x="389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54" name="Freeform 1527"/>
                <p:cNvSpPr>
                  <a:spLocks/>
                </p:cNvSpPr>
                <p:nvPr/>
              </p:nvSpPr>
              <p:spPr bwMode="auto">
                <a:xfrm>
                  <a:off x="390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55" name="Freeform 1528"/>
                <p:cNvSpPr>
                  <a:spLocks/>
                </p:cNvSpPr>
                <p:nvPr/>
              </p:nvSpPr>
              <p:spPr bwMode="auto">
                <a:xfrm>
                  <a:off x="390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0 w 17"/>
                    <a:gd name="T5" fmla="*/ 16 h 17"/>
                    <a:gd name="T6" fmla="*/ 8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0" y="16"/>
                      </a:lnTo>
                      <a:lnTo>
                        <a:pt x="8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56" name="Freeform 1529"/>
                <p:cNvSpPr>
                  <a:spLocks/>
                </p:cNvSpPr>
                <p:nvPr/>
              </p:nvSpPr>
              <p:spPr bwMode="auto">
                <a:xfrm>
                  <a:off x="390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6 h 17"/>
                    <a:gd name="T6" fmla="*/ 8 w 17"/>
                    <a:gd name="T7" fmla="*/ 16 h 17"/>
                    <a:gd name="T8" fmla="*/ 12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57" name="Freeform 1530"/>
                <p:cNvSpPr>
                  <a:spLocks/>
                </p:cNvSpPr>
                <p:nvPr/>
              </p:nvSpPr>
              <p:spPr bwMode="auto">
                <a:xfrm>
                  <a:off x="390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58" name="Freeform 1531"/>
                <p:cNvSpPr>
                  <a:spLocks/>
                </p:cNvSpPr>
                <p:nvPr/>
              </p:nvSpPr>
              <p:spPr bwMode="auto">
                <a:xfrm>
                  <a:off x="391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59" name="Freeform 1532"/>
                <p:cNvSpPr>
                  <a:spLocks/>
                </p:cNvSpPr>
                <p:nvPr/>
              </p:nvSpPr>
              <p:spPr bwMode="auto">
                <a:xfrm>
                  <a:off x="391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60" name="Freeform 1533"/>
                <p:cNvSpPr>
                  <a:spLocks/>
                </p:cNvSpPr>
                <p:nvPr/>
              </p:nvSpPr>
              <p:spPr bwMode="auto">
                <a:xfrm>
                  <a:off x="3916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61" name="Freeform 1534"/>
                <p:cNvSpPr>
                  <a:spLocks/>
                </p:cNvSpPr>
                <p:nvPr/>
              </p:nvSpPr>
              <p:spPr bwMode="auto">
                <a:xfrm>
                  <a:off x="391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62" name="Freeform 1535"/>
                <p:cNvSpPr>
                  <a:spLocks/>
                </p:cNvSpPr>
                <p:nvPr/>
              </p:nvSpPr>
              <p:spPr bwMode="auto">
                <a:xfrm>
                  <a:off x="3921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63" name="Freeform 1536"/>
                <p:cNvSpPr>
                  <a:spLocks/>
                </p:cNvSpPr>
                <p:nvPr/>
              </p:nvSpPr>
              <p:spPr bwMode="auto">
                <a:xfrm>
                  <a:off x="392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64" name="Freeform 1537"/>
                <p:cNvSpPr>
                  <a:spLocks/>
                </p:cNvSpPr>
                <p:nvPr/>
              </p:nvSpPr>
              <p:spPr bwMode="auto">
                <a:xfrm>
                  <a:off x="392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65" name="Freeform 1538"/>
                <p:cNvSpPr>
                  <a:spLocks/>
                </p:cNvSpPr>
                <p:nvPr/>
              </p:nvSpPr>
              <p:spPr bwMode="auto">
                <a:xfrm>
                  <a:off x="3855" y="1279"/>
                  <a:ext cx="187" cy="174"/>
                </a:xfrm>
                <a:custGeom>
                  <a:avLst/>
                  <a:gdLst>
                    <a:gd name="T0" fmla="*/ 180 w 187"/>
                    <a:gd name="T1" fmla="*/ 173 h 174"/>
                    <a:gd name="T2" fmla="*/ 180 w 187"/>
                    <a:gd name="T3" fmla="*/ 173 h 174"/>
                    <a:gd name="T4" fmla="*/ 180 w 187"/>
                    <a:gd name="T5" fmla="*/ 172 h 174"/>
                    <a:gd name="T6" fmla="*/ 182 w 187"/>
                    <a:gd name="T7" fmla="*/ 172 h 174"/>
                    <a:gd name="T8" fmla="*/ 182 w 187"/>
                    <a:gd name="T9" fmla="*/ 172 h 174"/>
                    <a:gd name="T10" fmla="*/ 183 w 187"/>
                    <a:gd name="T11" fmla="*/ 171 h 174"/>
                    <a:gd name="T12" fmla="*/ 183 w 187"/>
                    <a:gd name="T13" fmla="*/ 171 h 174"/>
                    <a:gd name="T14" fmla="*/ 184 w 187"/>
                    <a:gd name="T15" fmla="*/ 171 h 174"/>
                    <a:gd name="T16" fmla="*/ 184 w 187"/>
                    <a:gd name="T17" fmla="*/ 170 h 174"/>
                    <a:gd name="T18" fmla="*/ 184 w 187"/>
                    <a:gd name="T19" fmla="*/ 170 h 174"/>
                    <a:gd name="T20" fmla="*/ 184 w 187"/>
                    <a:gd name="T21" fmla="*/ 169 h 174"/>
                    <a:gd name="T22" fmla="*/ 185 w 187"/>
                    <a:gd name="T23" fmla="*/ 169 h 174"/>
                    <a:gd name="T24" fmla="*/ 185 w 187"/>
                    <a:gd name="T25" fmla="*/ 168 h 174"/>
                    <a:gd name="T26" fmla="*/ 186 w 187"/>
                    <a:gd name="T27" fmla="*/ 167 h 174"/>
                    <a:gd name="T28" fmla="*/ 186 w 187"/>
                    <a:gd name="T29" fmla="*/ 167 h 174"/>
                    <a:gd name="T30" fmla="*/ 186 w 187"/>
                    <a:gd name="T31" fmla="*/ 6 h 174"/>
                    <a:gd name="T32" fmla="*/ 186 w 187"/>
                    <a:gd name="T33" fmla="*/ 5 h 174"/>
                    <a:gd name="T34" fmla="*/ 186 w 187"/>
                    <a:gd name="T35" fmla="*/ 5 h 174"/>
                    <a:gd name="T36" fmla="*/ 185 w 187"/>
                    <a:gd name="T37" fmla="*/ 5 h 174"/>
                    <a:gd name="T38" fmla="*/ 185 w 187"/>
                    <a:gd name="T39" fmla="*/ 3 h 174"/>
                    <a:gd name="T40" fmla="*/ 184 w 187"/>
                    <a:gd name="T41" fmla="*/ 3 h 174"/>
                    <a:gd name="T42" fmla="*/ 184 w 187"/>
                    <a:gd name="T43" fmla="*/ 2 h 174"/>
                    <a:gd name="T44" fmla="*/ 184 w 187"/>
                    <a:gd name="T45" fmla="*/ 1 h 174"/>
                    <a:gd name="T46" fmla="*/ 183 w 187"/>
                    <a:gd name="T47" fmla="*/ 1 h 174"/>
                    <a:gd name="T48" fmla="*/ 183 w 187"/>
                    <a:gd name="T49" fmla="*/ 1 h 174"/>
                    <a:gd name="T50" fmla="*/ 182 w 187"/>
                    <a:gd name="T51" fmla="*/ 1 h 174"/>
                    <a:gd name="T52" fmla="*/ 182 w 187"/>
                    <a:gd name="T53" fmla="*/ 0 h 174"/>
                    <a:gd name="T54" fmla="*/ 180 w 187"/>
                    <a:gd name="T55" fmla="*/ 0 h 174"/>
                    <a:gd name="T56" fmla="*/ 180 w 187"/>
                    <a:gd name="T57" fmla="*/ 0 h 174"/>
                    <a:gd name="T58" fmla="*/ 180 w 187"/>
                    <a:gd name="T59" fmla="*/ 0 h 174"/>
                    <a:gd name="T60" fmla="*/ 5 w 187"/>
                    <a:gd name="T61" fmla="*/ 0 h 174"/>
                    <a:gd name="T62" fmla="*/ 4 w 187"/>
                    <a:gd name="T63" fmla="*/ 0 h 174"/>
                    <a:gd name="T64" fmla="*/ 3 w 187"/>
                    <a:gd name="T65" fmla="*/ 0 h 174"/>
                    <a:gd name="T66" fmla="*/ 3 w 187"/>
                    <a:gd name="T67" fmla="*/ 0 h 174"/>
                    <a:gd name="T68" fmla="*/ 2 w 187"/>
                    <a:gd name="T69" fmla="*/ 0 h 174"/>
                    <a:gd name="T70" fmla="*/ 2 w 187"/>
                    <a:gd name="T71" fmla="*/ 1 h 174"/>
                    <a:gd name="T72" fmla="*/ 1 w 187"/>
                    <a:gd name="T73" fmla="*/ 1 h 174"/>
                    <a:gd name="T74" fmla="*/ 1 w 187"/>
                    <a:gd name="T75" fmla="*/ 1 h 174"/>
                    <a:gd name="T76" fmla="*/ 1 w 187"/>
                    <a:gd name="T77" fmla="*/ 2 h 174"/>
                    <a:gd name="T78" fmla="*/ 0 w 187"/>
                    <a:gd name="T79" fmla="*/ 3 h 174"/>
                    <a:gd name="T80" fmla="*/ 0 w 187"/>
                    <a:gd name="T81" fmla="*/ 3 h 174"/>
                    <a:gd name="T82" fmla="*/ 0 w 187"/>
                    <a:gd name="T83" fmla="*/ 3 h 174"/>
                    <a:gd name="T84" fmla="*/ 0 w 187"/>
                    <a:gd name="T85" fmla="*/ 5 h 174"/>
                    <a:gd name="T86" fmla="*/ 0 w 187"/>
                    <a:gd name="T87" fmla="*/ 5 h 174"/>
                    <a:gd name="T88" fmla="*/ 0 w 187"/>
                    <a:gd name="T89" fmla="*/ 6 h 174"/>
                    <a:gd name="T90" fmla="*/ 0 w 187"/>
                    <a:gd name="T91" fmla="*/ 167 h 174"/>
                    <a:gd name="T92" fmla="*/ 0 w 187"/>
                    <a:gd name="T93" fmla="*/ 167 h 174"/>
                    <a:gd name="T94" fmla="*/ 0 w 187"/>
                    <a:gd name="T95" fmla="*/ 168 h 174"/>
                    <a:gd name="T96" fmla="*/ 0 w 187"/>
                    <a:gd name="T97" fmla="*/ 169 h 174"/>
                    <a:gd name="T98" fmla="*/ 0 w 187"/>
                    <a:gd name="T99" fmla="*/ 169 h 174"/>
                    <a:gd name="T100" fmla="*/ 0 w 187"/>
                    <a:gd name="T101" fmla="*/ 170 h 174"/>
                    <a:gd name="T102" fmla="*/ 1 w 187"/>
                    <a:gd name="T103" fmla="*/ 170 h 174"/>
                    <a:gd name="T104" fmla="*/ 1 w 187"/>
                    <a:gd name="T105" fmla="*/ 171 h 174"/>
                    <a:gd name="T106" fmla="*/ 1 w 187"/>
                    <a:gd name="T107" fmla="*/ 171 h 174"/>
                    <a:gd name="T108" fmla="*/ 2 w 187"/>
                    <a:gd name="T109" fmla="*/ 171 h 174"/>
                    <a:gd name="T110" fmla="*/ 2 w 187"/>
                    <a:gd name="T111" fmla="*/ 172 h 174"/>
                    <a:gd name="T112" fmla="*/ 2 w 187"/>
                    <a:gd name="T113" fmla="*/ 172 h 174"/>
                    <a:gd name="T114" fmla="*/ 3 w 187"/>
                    <a:gd name="T115" fmla="*/ 172 h 174"/>
                    <a:gd name="T116" fmla="*/ 3 w 187"/>
                    <a:gd name="T117" fmla="*/ 172 h 174"/>
                    <a:gd name="T118" fmla="*/ 4 w 187"/>
                    <a:gd name="T119" fmla="*/ 173 h 174"/>
                    <a:gd name="T120" fmla="*/ 5 w 187"/>
                    <a:gd name="T121" fmla="*/ 173 h 174"/>
                    <a:gd name="T122" fmla="*/ 180 w 187"/>
                    <a:gd name="T123" fmla="*/ 173 h 174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w 187"/>
                    <a:gd name="T187" fmla="*/ 0 h 174"/>
                    <a:gd name="T188" fmla="*/ 187 w 187"/>
                    <a:gd name="T189" fmla="*/ 174 h 174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T186" t="T187" r="T188" b="T189"/>
                  <a:pathLst>
                    <a:path w="187" h="174">
                      <a:moveTo>
                        <a:pt x="180" y="173"/>
                      </a:moveTo>
                      <a:lnTo>
                        <a:pt x="180" y="173"/>
                      </a:lnTo>
                      <a:lnTo>
                        <a:pt x="180" y="172"/>
                      </a:lnTo>
                      <a:lnTo>
                        <a:pt x="182" y="172"/>
                      </a:lnTo>
                      <a:lnTo>
                        <a:pt x="183" y="171"/>
                      </a:lnTo>
                      <a:lnTo>
                        <a:pt x="184" y="171"/>
                      </a:lnTo>
                      <a:lnTo>
                        <a:pt x="184" y="170"/>
                      </a:lnTo>
                      <a:lnTo>
                        <a:pt x="184" y="169"/>
                      </a:lnTo>
                      <a:lnTo>
                        <a:pt x="185" y="169"/>
                      </a:lnTo>
                      <a:lnTo>
                        <a:pt x="185" y="168"/>
                      </a:lnTo>
                      <a:lnTo>
                        <a:pt x="186" y="167"/>
                      </a:lnTo>
                      <a:lnTo>
                        <a:pt x="186" y="6"/>
                      </a:lnTo>
                      <a:lnTo>
                        <a:pt x="186" y="5"/>
                      </a:lnTo>
                      <a:lnTo>
                        <a:pt x="185" y="5"/>
                      </a:lnTo>
                      <a:lnTo>
                        <a:pt x="185" y="3"/>
                      </a:lnTo>
                      <a:lnTo>
                        <a:pt x="184" y="3"/>
                      </a:lnTo>
                      <a:lnTo>
                        <a:pt x="184" y="2"/>
                      </a:lnTo>
                      <a:lnTo>
                        <a:pt x="184" y="1"/>
                      </a:lnTo>
                      <a:lnTo>
                        <a:pt x="183" y="1"/>
                      </a:lnTo>
                      <a:lnTo>
                        <a:pt x="182" y="1"/>
                      </a:lnTo>
                      <a:lnTo>
                        <a:pt x="182" y="0"/>
                      </a:lnTo>
                      <a:lnTo>
                        <a:pt x="180" y="0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2" y="1"/>
                      </a:lnTo>
                      <a:lnTo>
                        <a:pt x="1" y="1"/>
                      </a:lnTo>
                      <a:lnTo>
                        <a:pt x="1" y="2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0" y="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0" y="169"/>
                      </a:lnTo>
                      <a:lnTo>
                        <a:pt x="0" y="170"/>
                      </a:lnTo>
                      <a:lnTo>
                        <a:pt x="1" y="170"/>
                      </a:lnTo>
                      <a:lnTo>
                        <a:pt x="1" y="171"/>
                      </a:lnTo>
                      <a:lnTo>
                        <a:pt x="2" y="171"/>
                      </a:lnTo>
                      <a:lnTo>
                        <a:pt x="2" y="172"/>
                      </a:lnTo>
                      <a:lnTo>
                        <a:pt x="3" y="172"/>
                      </a:lnTo>
                      <a:lnTo>
                        <a:pt x="4" y="173"/>
                      </a:lnTo>
                      <a:lnTo>
                        <a:pt x="5" y="173"/>
                      </a:lnTo>
                      <a:lnTo>
                        <a:pt x="180" y="173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66" name="Freeform 1539"/>
                <p:cNvSpPr>
                  <a:spLocks/>
                </p:cNvSpPr>
                <p:nvPr/>
              </p:nvSpPr>
              <p:spPr bwMode="auto">
                <a:xfrm>
                  <a:off x="3855" y="1281"/>
                  <a:ext cx="186" cy="172"/>
                </a:xfrm>
                <a:custGeom>
                  <a:avLst/>
                  <a:gdLst>
                    <a:gd name="T0" fmla="*/ 185 w 186"/>
                    <a:gd name="T1" fmla="*/ 165 h 172"/>
                    <a:gd name="T2" fmla="*/ 185 w 186"/>
                    <a:gd name="T3" fmla="*/ 166 h 172"/>
                    <a:gd name="T4" fmla="*/ 185 w 186"/>
                    <a:gd name="T5" fmla="*/ 167 h 172"/>
                    <a:gd name="T6" fmla="*/ 184 w 186"/>
                    <a:gd name="T7" fmla="*/ 167 h 172"/>
                    <a:gd name="T8" fmla="*/ 184 w 186"/>
                    <a:gd name="T9" fmla="*/ 168 h 172"/>
                    <a:gd name="T10" fmla="*/ 183 w 186"/>
                    <a:gd name="T11" fmla="*/ 169 h 172"/>
                    <a:gd name="T12" fmla="*/ 183 w 186"/>
                    <a:gd name="T13" fmla="*/ 169 h 172"/>
                    <a:gd name="T14" fmla="*/ 182 w 186"/>
                    <a:gd name="T15" fmla="*/ 170 h 172"/>
                    <a:gd name="T16" fmla="*/ 182 w 186"/>
                    <a:gd name="T17" fmla="*/ 170 h 172"/>
                    <a:gd name="T18" fmla="*/ 181 w 186"/>
                    <a:gd name="T19" fmla="*/ 170 h 172"/>
                    <a:gd name="T20" fmla="*/ 181 w 186"/>
                    <a:gd name="T21" fmla="*/ 171 h 172"/>
                    <a:gd name="T22" fmla="*/ 180 w 186"/>
                    <a:gd name="T23" fmla="*/ 171 h 172"/>
                    <a:gd name="T24" fmla="*/ 179 w 186"/>
                    <a:gd name="T25" fmla="*/ 171 h 172"/>
                    <a:gd name="T26" fmla="*/ 4 w 186"/>
                    <a:gd name="T27" fmla="*/ 171 h 172"/>
                    <a:gd name="T28" fmla="*/ 3 w 186"/>
                    <a:gd name="T29" fmla="*/ 171 h 172"/>
                    <a:gd name="T30" fmla="*/ 3 w 186"/>
                    <a:gd name="T31" fmla="*/ 171 h 172"/>
                    <a:gd name="T32" fmla="*/ 3 w 186"/>
                    <a:gd name="T33" fmla="*/ 170 h 172"/>
                    <a:gd name="T34" fmla="*/ 2 w 186"/>
                    <a:gd name="T35" fmla="*/ 170 h 172"/>
                    <a:gd name="T36" fmla="*/ 2 w 186"/>
                    <a:gd name="T37" fmla="*/ 170 h 172"/>
                    <a:gd name="T38" fmla="*/ 1 w 186"/>
                    <a:gd name="T39" fmla="*/ 169 h 172"/>
                    <a:gd name="T40" fmla="*/ 1 w 186"/>
                    <a:gd name="T41" fmla="*/ 169 h 172"/>
                    <a:gd name="T42" fmla="*/ 0 w 186"/>
                    <a:gd name="T43" fmla="*/ 169 h 172"/>
                    <a:gd name="T44" fmla="*/ 0 w 186"/>
                    <a:gd name="T45" fmla="*/ 168 h 172"/>
                    <a:gd name="T46" fmla="*/ 0 w 186"/>
                    <a:gd name="T47" fmla="*/ 167 h 172"/>
                    <a:gd name="T48" fmla="*/ 0 w 186"/>
                    <a:gd name="T49" fmla="*/ 167 h 172"/>
                    <a:gd name="T50" fmla="*/ 0 w 186"/>
                    <a:gd name="T51" fmla="*/ 166 h 172"/>
                    <a:gd name="T52" fmla="*/ 0 w 186"/>
                    <a:gd name="T53" fmla="*/ 165 h 172"/>
                    <a:gd name="T54" fmla="*/ 0 w 186"/>
                    <a:gd name="T55" fmla="*/ 5 h 172"/>
                    <a:gd name="T56" fmla="*/ 0 w 186"/>
                    <a:gd name="T57" fmla="*/ 4 h 172"/>
                    <a:gd name="T58" fmla="*/ 0 w 186"/>
                    <a:gd name="T59" fmla="*/ 3 h 172"/>
                    <a:gd name="T60" fmla="*/ 0 w 186"/>
                    <a:gd name="T61" fmla="*/ 3 h 172"/>
                    <a:gd name="T62" fmla="*/ 0 w 186"/>
                    <a:gd name="T63" fmla="*/ 2 h 172"/>
                    <a:gd name="T64" fmla="*/ 0 w 186"/>
                    <a:gd name="T65" fmla="*/ 2 h 172"/>
                    <a:gd name="T66" fmla="*/ 1 w 186"/>
                    <a:gd name="T67" fmla="*/ 1 h 172"/>
                    <a:gd name="T68" fmla="*/ 1 w 186"/>
                    <a:gd name="T69" fmla="*/ 1 h 172"/>
                    <a:gd name="T70" fmla="*/ 2 w 186"/>
                    <a:gd name="T71" fmla="*/ 1 h 172"/>
                    <a:gd name="T72" fmla="*/ 2 w 186"/>
                    <a:gd name="T73" fmla="*/ 0 h 172"/>
                    <a:gd name="T74" fmla="*/ 2 w 186"/>
                    <a:gd name="T75" fmla="*/ 0 h 172"/>
                    <a:gd name="T76" fmla="*/ 3 w 186"/>
                    <a:gd name="T77" fmla="*/ 0 h 172"/>
                    <a:gd name="T78" fmla="*/ 3 w 186"/>
                    <a:gd name="T79" fmla="*/ 0 h 172"/>
                    <a:gd name="T80" fmla="*/ 4 w 186"/>
                    <a:gd name="T81" fmla="*/ 0 h 172"/>
                    <a:gd name="T82" fmla="*/ 179 w 186"/>
                    <a:gd name="T83" fmla="*/ 0 h 172"/>
                    <a:gd name="T84" fmla="*/ 180 w 186"/>
                    <a:gd name="T85" fmla="*/ 0 h 172"/>
                    <a:gd name="T86" fmla="*/ 181 w 186"/>
                    <a:gd name="T87" fmla="*/ 0 h 172"/>
                    <a:gd name="T88" fmla="*/ 181 w 186"/>
                    <a:gd name="T89" fmla="*/ 0 h 172"/>
                    <a:gd name="T90" fmla="*/ 182 w 186"/>
                    <a:gd name="T91" fmla="*/ 0 h 172"/>
                    <a:gd name="T92" fmla="*/ 182 w 186"/>
                    <a:gd name="T93" fmla="*/ 1 h 172"/>
                    <a:gd name="T94" fmla="*/ 183 w 186"/>
                    <a:gd name="T95" fmla="*/ 1 h 172"/>
                    <a:gd name="T96" fmla="*/ 183 w 186"/>
                    <a:gd name="T97" fmla="*/ 1 h 172"/>
                    <a:gd name="T98" fmla="*/ 183 w 186"/>
                    <a:gd name="T99" fmla="*/ 2 h 172"/>
                    <a:gd name="T100" fmla="*/ 184 w 186"/>
                    <a:gd name="T101" fmla="*/ 2 h 172"/>
                    <a:gd name="T102" fmla="*/ 184 w 186"/>
                    <a:gd name="T103" fmla="*/ 3 h 172"/>
                    <a:gd name="T104" fmla="*/ 185 w 186"/>
                    <a:gd name="T105" fmla="*/ 3 h 172"/>
                    <a:gd name="T106" fmla="*/ 185 w 186"/>
                    <a:gd name="T107" fmla="*/ 4 h 172"/>
                    <a:gd name="T108" fmla="*/ 185 w 186"/>
                    <a:gd name="T109" fmla="*/ 5 h 172"/>
                    <a:gd name="T110" fmla="*/ 185 w 186"/>
                    <a:gd name="T111" fmla="*/ 165 h 172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86"/>
                    <a:gd name="T169" fmla="*/ 0 h 172"/>
                    <a:gd name="T170" fmla="*/ 186 w 186"/>
                    <a:gd name="T171" fmla="*/ 172 h 172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86" h="172">
                      <a:moveTo>
                        <a:pt x="185" y="165"/>
                      </a:moveTo>
                      <a:lnTo>
                        <a:pt x="185" y="166"/>
                      </a:lnTo>
                      <a:lnTo>
                        <a:pt x="185" y="167"/>
                      </a:lnTo>
                      <a:lnTo>
                        <a:pt x="184" y="167"/>
                      </a:lnTo>
                      <a:lnTo>
                        <a:pt x="184" y="168"/>
                      </a:lnTo>
                      <a:lnTo>
                        <a:pt x="183" y="169"/>
                      </a:lnTo>
                      <a:lnTo>
                        <a:pt x="182" y="170"/>
                      </a:lnTo>
                      <a:lnTo>
                        <a:pt x="181" y="170"/>
                      </a:lnTo>
                      <a:lnTo>
                        <a:pt x="181" y="171"/>
                      </a:lnTo>
                      <a:lnTo>
                        <a:pt x="180" y="171"/>
                      </a:lnTo>
                      <a:lnTo>
                        <a:pt x="179" y="171"/>
                      </a:lnTo>
                      <a:lnTo>
                        <a:pt x="4" y="171"/>
                      </a:lnTo>
                      <a:lnTo>
                        <a:pt x="3" y="171"/>
                      </a:lnTo>
                      <a:lnTo>
                        <a:pt x="3" y="170"/>
                      </a:lnTo>
                      <a:lnTo>
                        <a:pt x="2" y="170"/>
                      </a:lnTo>
                      <a:lnTo>
                        <a:pt x="1" y="169"/>
                      </a:lnTo>
                      <a:lnTo>
                        <a:pt x="0" y="169"/>
                      </a:lnTo>
                      <a:lnTo>
                        <a:pt x="0" y="168"/>
                      </a:lnTo>
                      <a:lnTo>
                        <a:pt x="0" y="167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79" y="0"/>
                      </a:lnTo>
                      <a:lnTo>
                        <a:pt x="180" y="0"/>
                      </a:lnTo>
                      <a:lnTo>
                        <a:pt x="181" y="0"/>
                      </a:lnTo>
                      <a:lnTo>
                        <a:pt x="182" y="0"/>
                      </a:lnTo>
                      <a:lnTo>
                        <a:pt x="182" y="1"/>
                      </a:lnTo>
                      <a:lnTo>
                        <a:pt x="183" y="1"/>
                      </a:lnTo>
                      <a:lnTo>
                        <a:pt x="183" y="2"/>
                      </a:lnTo>
                      <a:lnTo>
                        <a:pt x="184" y="2"/>
                      </a:lnTo>
                      <a:lnTo>
                        <a:pt x="184" y="3"/>
                      </a:lnTo>
                      <a:lnTo>
                        <a:pt x="185" y="3"/>
                      </a:lnTo>
                      <a:lnTo>
                        <a:pt x="185" y="4"/>
                      </a:lnTo>
                      <a:lnTo>
                        <a:pt x="185" y="5"/>
                      </a:lnTo>
                      <a:lnTo>
                        <a:pt x="185" y="165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67" name="Freeform 1540"/>
                <p:cNvSpPr>
                  <a:spLocks/>
                </p:cNvSpPr>
                <p:nvPr/>
              </p:nvSpPr>
              <p:spPr bwMode="auto">
                <a:xfrm>
                  <a:off x="3857" y="1281"/>
                  <a:ext cx="181" cy="171"/>
                </a:xfrm>
                <a:custGeom>
                  <a:avLst/>
                  <a:gdLst>
                    <a:gd name="T0" fmla="*/ 180 w 181"/>
                    <a:gd name="T1" fmla="*/ 3 h 171"/>
                    <a:gd name="T2" fmla="*/ 180 w 181"/>
                    <a:gd name="T3" fmla="*/ 3 h 171"/>
                    <a:gd name="T4" fmla="*/ 180 w 181"/>
                    <a:gd name="T5" fmla="*/ 2 h 171"/>
                    <a:gd name="T6" fmla="*/ 179 w 181"/>
                    <a:gd name="T7" fmla="*/ 2 h 171"/>
                    <a:gd name="T8" fmla="*/ 179 w 181"/>
                    <a:gd name="T9" fmla="*/ 1 h 171"/>
                    <a:gd name="T10" fmla="*/ 178 w 181"/>
                    <a:gd name="T11" fmla="*/ 1 h 171"/>
                    <a:gd name="T12" fmla="*/ 178 w 181"/>
                    <a:gd name="T13" fmla="*/ 0 h 171"/>
                    <a:gd name="T14" fmla="*/ 177 w 181"/>
                    <a:gd name="T15" fmla="*/ 0 h 171"/>
                    <a:gd name="T16" fmla="*/ 177 w 181"/>
                    <a:gd name="T17" fmla="*/ 0 h 171"/>
                    <a:gd name="T18" fmla="*/ 177 w 181"/>
                    <a:gd name="T19" fmla="*/ 0 h 171"/>
                    <a:gd name="T20" fmla="*/ 176 w 181"/>
                    <a:gd name="T21" fmla="*/ 0 h 171"/>
                    <a:gd name="T22" fmla="*/ 176 w 181"/>
                    <a:gd name="T23" fmla="*/ 0 h 171"/>
                    <a:gd name="T24" fmla="*/ 3 w 181"/>
                    <a:gd name="T25" fmla="*/ 0 h 171"/>
                    <a:gd name="T26" fmla="*/ 3 w 181"/>
                    <a:gd name="T27" fmla="*/ 0 h 171"/>
                    <a:gd name="T28" fmla="*/ 2 w 181"/>
                    <a:gd name="T29" fmla="*/ 0 h 171"/>
                    <a:gd name="T30" fmla="*/ 2 w 181"/>
                    <a:gd name="T31" fmla="*/ 0 h 171"/>
                    <a:gd name="T32" fmla="*/ 1 w 181"/>
                    <a:gd name="T33" fmla="*/ 0 h 171"/>
                    <a:gd name="T34" fmla="*/ 1 w 181"/>
                    <a:gd name="T35" fmla="*/ 0 h 171"/>
                    <a:gd name="T36" fmla="*/ 1 w 181"/>
                    <a:gd name="T37" fmla="*/ 1 h 171"/>
                    <a:gd name="T38" fmla="*/ 0 w 181"/>
                    <a:gd name="T39" fmla="*/ 1 h 171"/>
                    <a:gd name="T40" fmla="*/ 0 w 181"/>
                    <a:gd name="T41" fmla="*/ 1 h 171"/>
                    <a:gd name="T42" fmla="*/ 0 w 181"/>
                    <a:gd name="T43" fmla="*/ 2 h 171"/>
                    <a:gd name="T44" fmla="*/ 0 w 181"/>
                    <a:gd name="T45" fmla="*/ 3 h 171"/>
                    <a:gd name="T46" fmla="*/ 0 w 181"/>
                    <a:gd name="T47" fmla="*/ 3 h 171"/>
                    <a:gd name="T48" fmla="*/ 0 w 181"/>
                    <a:gd name="T49" fmla="*/ 166 h 171"/>
                    <a:gd name="T50" fmla="*/ 0 w 181"/>
                    <a:gd name="T51" fmla="*/ 166 h 171"/>
                    <a:gd name="T52" fmla="*/ 0 w 181"/>
                    <a:gd name="T53" fmla="*/ 167 h 171"/>
                    <a:gd name="T54" fmla="*/ 0 w 181"/>
                    <a:gd name="T55" fmla="*/ 168 h 171"/>
                    <a:gd name="T56" fmla="*/ 0 w 181"/>
                    <a:gd name="T57" fmla="*/ 168 h 171"/>
                    <a:gd name="T58" fmla="*/ 1 w 181"/>
                    <a:gd name="T59" fmla="*/ 168 h 171"/>
                    <a:gd name="T60" fmla="*/ 1 w 181"/>
                    <a:gd name="T61" fmla="*/ 169 h 171"/>
                    <a:gd name="T62" fmla="*/ 2 w 181"/>
                    <a:gd name="T63" fmla="*/ 169 h 171"/>
                    <a:gd name="T64" fmla="*/ 2 w 181"/>
                    <a:gd name="T65" fmla="*/ 169 h 171"/>
                    <a:gd name="T66" fmla="*/ 3 w 181"/>
                    <a:gd name="T67" fmla="*/ 170 h 171"/>
                    <a:gd name="T68" fmla="*/ 3 w 181"/>
                    <a:gd name="T69" fmla="*/ 170 h 171"/>
                    <a:gd name="T70" fmla="*/ 176 w 181"/>
                    <a:gd name="T71" fmla="*/ 170 h 171"/>
                    <a:gd name="T72" fmla="*/ 176 w 181"/>
                    <a:gd name="T73" fmla="*/ 169 h 171"/>
                    <a:gd name="T74" fmla="*/ 177 w 181"/>
                    <a:gd name="T75" fmla="*/ 169 h 171"/>
                    <a:gd name="T76" fmla="*/ 177 w 181"/>
                    <a:gd name="T77" fmla="*/ 169 h 171"/>
                    <a:gd name="T78" fmla="*/ 178 w 181"/>
                    <a:gd name="T79" fmla="*/ 169 h 171"/>
                    <a:gd name="T80" fmla="*/ 178 w 181"/>
                    <a:gd name="T81" fmla="*/ 168 h 171"/>
                    <a:gd name="T82" fmla="*/ 178 w 181"/>
                    <a:gd name="T83" fmla="*/ 168 h 171"/>
                    <a:gd name="T84" fmla="*/ 179 w 181"/>
                    <a:gd name="T85" fmla="*/ 168 h 171"/>
                    <a:gd name="T86" fmla="*/ 179 w 181"/>
                    <a:gd name="T87" fmla="*/ 167 h 171"/>
                    <a:gd name="T88" fmla="*/ 180 w 181"/>
                    <a:gd name="T89" fmla="*/ 166 h 171"/>
                    <a:gd name="T90" fmla="*/ 180 w 181"/>
                    <a:gd name="T91" fmla="*/ 166 h 171"/>
                    <a:gd name="T92" fmla="*/ 180 w 181"/>
                    <a:gd name="T93" fmla="*/ 3 h 171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w 181"/>
                    <a:gd name="T142" fmla="*/ 0 h 171"/>
                    <a:gd name="T143" fmla="*/ 181 w 181"/>
                    <a:gd name="T144" fmla="*/ 171 h 171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T141" t="T142" r="T143" b="T144"/>
                  <a:pathLst>
                    <a:path w="181" h="171">
                      <a:moveTo>
                        <a:pt x="180" y="3"/>
                      </a:moveTo>
                      <a:lnTo>
                        <a:pt x="180" y="3"/>
                      </a:lnTo>
                      <a:lnTo>
                        <a:pt x="180" y="2"/>
                      </a:lnTo>
                      <a:lnTo>
                        <a:pt x="179" y="2"/>
                      </a:lnTo>
                      <a:lnTo>
                        <a:pt x="179" y="1"/>
                      </a:lnTo>
                      <a:lnTo>
                        <a:pt x="178" y="1"/>
                      </a:lnTo>
                      <a:lnTo>
                        <a:pt x="178" y="0"/>
                      </a:lnTo>
                      <a:lnTo>
                        <a:pt x="177" y="0"/>
                      </a:lnTo>
                      <a:lnTo>
                        <a:pt x="17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16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1" y="169"/>
                      </a:lnTo>
                      <a:lnTo>
                        <a:pt x="2" y="169"/>
                      </a:lnTo>
                      <a:lnTo>
                        <a:pt x="3" y="170"/>
                      </a:lnTo>
                      <a:lnTo>
                        <a:pt x="176" y="170"/>
                      </a:lnTo>
                      <a:lnTo>
                        <a:pt x="176" y="169"/>
                      </a:lnTo>
                      <a:lnTo>
                        <a:pt x="177" y="169"/>
                      </a:lnTo>
                      <a:lnTo>
                        <a:pt x="178" y="169"/>
                      </a:lnTo>
                      <a:lnTo>
                        <a:pt x="178" y="168"/>
                      </a:lnTo>
                      <a:lnTo>
                        <a:pt x="179" y="168"/>
                      </a:lnTo>
                      <a:lnTo>
                        <a:pt x="179" y="167"/>
                      </a:lnTo>
                      <a:lnTo>
                        <a:pt x="180" y="166"/>
                      </a:lnTo>
                      <a:lnTo>
                        <a:pt x="180" y="3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68" name="Freeform 1541"/>
                <p:cNvSpPr>
                  <a:spLocks/>
                </p:cNvSpPr>
                <p:nvPr/>
              </p:nvSpPr>
              <p:spPr bwMode="auto">
                <a:xfrm>
                  <a:off x="3858" y="1282"/>
                  <a:ext cx="180" cy="168"/>
                </a:xfrm>
                <a:custGeom>
                  <a:avLst/>
                  <a:gdLst>
                    <a:gd name="T0" fmla="*/ 179 w 180"/>
                    <a:gd name="T1" fmla="*/ 163 h 168"/>
                    <a:gd name="T2" fmla="*/ 179 w 180"/>
                    <a:gd name="T3" fmla="*/ 164 h 168"/>
                    <a:gd name="T4" fmla="*/ 178 w 180"/>
                    <a:gd name="T5" fmla="*/ 165 h 168"/>
                    <a:gd name="T6" fmla="*/ 178 w 180"/>
                    <a:gd name="T7" fmla="*/ 165 h 168"/>
                    <a:gd name="T8" fmla="*/ 177 w 180"/>
                    <a:gd name="T9" fmla="*/ 166 h 168"/>
                    <a:gd name="T10" fmla="*/ 177 w 180"/>
                    <a:gd name="T11" fmla="*/ 166 h 168"/>
                    <a:gd name="T12" fmla="*/ 176 w 180"/>
                    <a:gd name="T13" fmla="*/ 167 h 168"/>
                    <a:gd name="T14" fmla="*/ 176 w 180"/>
                    <a:gd name="T15" fmla="*/ 167 h 168"/>
                    <a:gd name="T16" fmla="*/ 2 w 180"/>
                    <a:gd name="T17" fmla="*/ 167 h 168"/>
                    <a:gd name="T18" fmla="*/ 2 w 180"/>
                    <a:gd name="T19" fmla="*/ 167 h 168"/>
                    <a:gd name="T20" fmla="*/ 1 w 180"/>
                    <a:gd name="T21" fmla="*/ 167 h 168"/>
                    <a:gd name="T22" fmla="*/ 1 w 180"/>
                    <a:gd name="T23" fmla="*/ 166 h 168"/>
                    <a:gd name="T24" fmla="*/ 1 w 180"/>
                    <a:gd name="T25" fmla="*/ 166 h 168"/>
                    <a:gd name="T26" fmla="*/ 0 w 180"/>
                    <a:gd name="T27" fmla="*/ 166 h 168"/>
                    <a:gd name="T28" fmla="*/ 0 w 180"/>
                    <a:gd name="T29" fmla="*/ 165 h 168"/>
                    <a:gd name="T30" fmla="*/ 0 w 180"/>
                    <a:gd name="T31" fmla="*/ 165 h 168"/>
                    <a:gd name="T32" fmla="*/ 0 w 180"/>
                    <a:gd name="T33" fmla="*/ 165 h 168"/>
                    <a:gd name="T34" fmla="*/ 0 w 180"/>
                    <a:gd name="T35" fmla="*/ 164 h 168"/>
                    <a:gd name="T36" fmla="*/ 0 w 180"/>
                    <a:gd name="T37" fmla="*/ 163 h 168"/>
                    <a:gd name="T38" fmla="*/ 0 w 180"/>
                    <a:gd name="T39" fmla="*/ 3 h 168"/>
                    <a:gd name="T40" fmla="*/ 0 w 180"/>
                    <a:gd name="T41" fmla="*/ 2 h 168"/>
                    <a:gd name="T42" fmla="*/ 0 w 180"/>
                    <a:gd name="T43" fmla="*/ 1 h 168"/>
                    <a:gd name="T44" fmla="*/ 0 w 180"/>
                    <a:gd name="T45" fmla="*/ 1 h 168"/>
                    <a:gd name="T46" fmla="*/ 0 w 180"/>
                    <a:gd name="T47" fmla="*/ 1 h 168"/>
                    <a:gd name="T48" fmla="*/ 1 w 180"/>
                    <a:gd name="T49" fmla="*/ 0 h 168"/>
                    <a:gd name="T50" fmla="*/ 1 w 180"/>
                    <a:gd name="T51" fmla="*/ 0 h 168"/>
                    <a:gd name="T52" fmla="*/ 2 w 180"/>
                    <a:gd name="T53" fmla="*/ 0 h 168"/>
                    <a:gd name="T54" fmla="*/ 2 w 180"/>
                    <a:gd name="T55" fmla="*/ 0 h 168"/>
                    <a:gd name="T56" fmla="*/ 176 w 180"/>
                    <a:gd name="T57" fmla="*/ 0 h 168"/>
                    <a:gd name="T58" fmla="*/ 176 w 180"/>
                    <a:gd name="T59" fmla="*/ 0 h 168"/>
                    <a:gd name="T60" fmla="*/ 176 w 180"/>
                    <a:gd name="T61" fmla="*/ 0 h 168"/>
                    <a:gd name="T62" fmla="*/ 177 w 180"/>
                    <a:gd name="T63" fmla="*/ 0 h 168"/>
                    <a:gd name="T64" fmla="*/ 177 w 180"/>
                    <a:gd name="T65" fmla="*/ 0 h 168"/>
                    <a:gd name="T66" fmla="*/ 177 w 180"/>
                    <a:gd name="T67" fmla="*/ 1 h 168"/>
                    <a:gd name="T68" fmla="*/ 178 w 180"/>
                    <a:gd name="T69" fmla="*/ 1 h 168"/>
                    <a:gd name="T70" fmla="*/ 178 w 180"/>
                    <a:gd name="T71" fmla="*/ 1 h 168"/>
                    <a:gd name="T72" fmla="*/ 179 w 180"/>
                    <a:gd name="T73" fmla="*/ 2 h 168"/>
                    <a:gd name="T74" fmla="*/ 179 w 180"/>
                    <a:gd name="T75" fmla="*/ 3 h 168"/>
                    <a:gd name="T76" fmla="*/ 179 w 180"/>
                    <a:gd name="T77" fmla="*/ 16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80"/>
                    <a:gd name="T118" fmla="*/ 0 h 168"/>
                    <a:gd name="T119" fmla="*/ 180 w 180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80" h="168">
                      <a:moveTo>
                        <a:pt x="179" y="163"/>
                      </a:moveTo>
                      <a:lnTo>
                        <a:pt x="179" y="164"/>
                      </a:lnTo>
                      <a:lnTo>
                        <a:pt x="178" y="165"/>
                      </a:lnTo>
                      <a:lnTo>
                        <a:pt x="177" y="166"/>
                      </a:lnTo>
                      <a:lnTo>
                        <a:pt x="176" y="167"/>
                      </a:lnTo>
                      <a:lnTo>
                        <a:pt x="2" y="167"/>
                      </a:lnTo>
                      <a:lnTo>
                        <a:pt x="1" y="167"/>
                      </a:lnTo>
                      <a:lnTo>
                        <a:pt x="1" y="166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164"/>
                      </a:lnTo>
                      <a:lnTo>
                        <a:pt x="0" y="163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2" y="0"/>
                      </a:lnTo>
                      <a:lnTo>
                        <a:pt x="176" y="0"/>
                      </a:lnTo>
                      <a:lnTo>
                        <a:pt x="177" y="0"/>
                      </a:lnTo>
                      <a:lnTo>
                        <a:pt x="177" y="1"/>
                      </a:lnTo>
                      <a:lnTo>
                        <a:pt x="178" y="1"/>
                      </a:lnTo>
                      <a:lnTo>
                        <a:pt x="179" y="2"/>
                      </a:lnTo>
                      <a:lnTo>
                        <a:pt x="179" y="3"/>
                      </a:lnTo>
                      <a:lnTo>
                        <a:pt x="179" y="163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69" name="Freeform 1542"/>
                <p:cNvSpPr>
                  <a:spLocks/>
                </p:cNvSpPr>
                <p:nvPr/>
              </p:nvSpPr>
              <p:spPr bwMode="auto">
                <a:xfrm>
                  <a:off x="3877" y="1304"/>
                  <a:ext cx="142" cy="124"/>
                </a:xfrm>
                <a:custGeom>
                  <a:avLst/>
                  <a:gdLst>
                    <a:gd name="T0" fmla="*/ 0 w 142"/>
                    <a:gd name="T1" fmla="*/ 1 h 124"/>
                    <a:gd name="T2" fmla="*/ 1 w 142"/>
                    <a:gd name="T3" fmla="*/ 1 h 124"/>
                    <a:gd name="T4" fmla="*/ 1 w 142"/>
                    <a:gd name="T5" fmla="*/ 1 h 124"/>
                    <a:gd name="T6" fmla="*/ 2 w 142"/>
                    <a:gd name="T7" fmla="*/ 0 h 124"/>
                    <a:gd name="T8" fmla="*/ 2 w 142"/>
                    <a:gd name="T9" fmla="*/ 0 h 124"/>
                    <a:gd name="T10" fmla="*/ 3 w 142"/>
                    <a:gd name="T11" fmla="*/ 0 h 124"/>
                    <a:gd name="T12" fmla="*/ 3 w 142"/>
                    <a:gd name="T13" fmla="*/ 0 h 124"/>
                    <a:gd name="T14" fmla="*/ 4 w 142"/>
                    <a:gd name="T15" fmla="*/ 0 h 124"/>
                    <a:gd name="T16" fmla="*/ 135 w 142"/>
                    <a:gd name="T17" fmla="*/ 0 h 124"/>
                    <a:gd name="T18" fmla="*/ 136 w 142"/>
                    <a:gd name="T19" fmla="*/ 0 h 124"/>
                    <a:gd name="T20" fmla="*/ 137 w 142"/>
                    <a:gd name="T21" fmla="*/ 0 h 124"/>
                    <a:gd name="T22" fmla="*/ 137 w 142"/>
                    <a:gd name="T23" fmla="*/ 0 h 124"/>
                    <a:gd name="T24" fmla="*/ 138 w 142"/>
                    <a:gd name="T25" fmla="*/ 0 h 124"/>
                    <a:gd name="T26" fmla="*/ 138 w 142"/>
                    <a:gd name="T27" fmla="*/ 1 h 124"/>
                    <a:gd name="T28" fmla="*/ 139 w 142"/>
                    <a:gd name="T29" fmla="*/ 1 h 124"/>
                    <a:gd name="T30" fmla="*/ 139 w 142"/>
                    <a:gd name="T31" fmla="*/ 1 h 124"/>
                    <a:gd name="T32" fmla="*/ 140 w 142"/>
                    <a:gd name="T33" fmla="*/ 2 h 124"/>
                    <a:gd name="T34" fmla="*/ 140 w 142"/>
                    <a:gd name="T35" fmla="*/ 3 h 124"/>
                    <a:gd name="T36" fmla="*/ 141 w 142"/>
                    <a:gd name="T37" fmla="*/ 3 h 124"/>
                    <a:gd name="T38" fmla="*/ 141 w 142"/>
                    <a:gd name="T39" fmla="*/ 4 h 124"/>
                    <a:gd name="T40" fmla="*/ 141 w 142"/>
                    <a:gd name="T41" fmla="*/ 5 h 124"/>
                    <a:gd name="T42" fmla="*/ 141 w 142"/>
                    <a:gd name="T43" fmla="*/ 117 h 124"/>
                    <a:gd name="T44" fmla="*/ 141 w 142"/>
                    <a:gd name="T45" fmla="*/ 119 h 124"/>
                    <a:gd name="T46" fmla="*/ 140 w 142"/>
                    <a:gd name="T47" fmla="*/ 119 h 124"/>
                    <a:gd name="T48" fmla="*/ 140 w 142"/>
                    <a:gd name="T49" fmla="*/ 120 h 124"/>
                    <a:gd name="T50" fmla="*/ 139 w 142"/>
                    <a:gd name="T51" fmla="*/ 121 h 124"/>
                    <a:gd name="T52" fmla="*/ 139 w 142"/>
                    <a:gd name="T53" fmla="*/ 121 h 124"/>
                    <a:gd name="T54" fmla="*/ 138 w 142"/>
                    <a:gd name="T55" fmla="*/ 122 h 124"/>
                    <a:gd name="T56" fmla="*/ 138 w 142"/>
                    <a:gd name="T57" fmla="*/ 122 h 124"/>
                    <a:gd name="T58" fmla="*/ 137 w 142"/>
                    <a:gd name="T59" fmla="*/ 122 h 124"/>
                    <a:gd name="T60" fmla="*/ 137 w 142"/>
                    <a:gd name="T61" fmla="*/ 123 h 124"/>
                    <a:gd name="T62" fmla="*/ 136 w 142"/>
                    <a:gd name="T63" fmla="*/ 123 h 124"/>
                    <a:gd name="T64" fmla="*/ 135 w 142"/>
                    <a:gd name="T65" fmla="*/ 123 h 124"/>
                    <a:gd name="T66" fmla="*/ 4 w 142"/>
                    <a:gd name="T67" fmla="*/ 123 h 124"/>
                    <a:gd name="T68" fmla="*/ 3 w 142"/>
                    <a:gd name="T69" fmla="*/ 123 h 124"/>
                    <a:gd name="T70" fmla="*/ 3 w 142"/>
                    <a:gd name="T71" fmla="*/ 123 h 124"/>
                    <a:gd name="T72" fmla="*/ 2 w 142"/>
                    <a:gd name="T73" fmla="*/ 122 h 124"/>
                    <a:gd name="T74" fmla="*/ 2 w 142"/>
                    <a:gd name="T75" fmla="*/ 122 h 124"/>
                    <a:gd name="T76" fmla="*/ 1 w 142"/>
                    <a:gd name="T77" fmla="*/ 122 h 124"/>
                    <a:gd name="T78" fmla="*/ 1 w 142"/>
                    <a:gd name="T79" fmla="*/ 121 h 124"/>
                    <a:gd name="T80" fmla="*/ 0 w 142"/>
                    <a:gd name="T81" fmla="*/ 121 h 124"/>
                    <a:gd name="T82" fmla="*/ 0 w 142"/>
                    <a:gd name="T83" fmla="*/ 120 h 124"/>
                    <a:gd name="T84" fmla="*/ 0 w 142"/>
                    <a:gd name="T85" fmla="*/ 119 h 124"/>
                    <a:gd name="T86" fmla="*/ 0 w 142"/>
                    <a:gd name="T87" fmla="*/ 119 h 124"/>
                    <a:gd name="T88" fmla="*/ 0 w 142"/>
                    <a:gd name="T89" fmla="*/ 117 h 124"/>
                    <a:gd name="T90" fmla="*/ 0 w 142"/>
                    <a:gd name="T91" fmla="*/ 5 h 124"/>
                    <a:gd name="T92" fmla="*/ 0 w 142"/>
                    <a:gd name="T93" fmla="*/ 4 h 124"/>
                    <a:gd name="T94" fmla="*/ 0 w 142"/>
                    <a:gd name="T95" fmla="*/ 3 h 124"/>
                    <a:gd name="T96" fmla="*/ 0 w 142"/>
                    <a:gd name="T97" fmla="*/ 3 h 124"/>
                    <a:gd name="T98" fmla="*/ 0 w 142"/>
                    <a:gd name="T99" fmla="*/ 2 h 124"/>
                    <a:gd name="T100" fmla="*/ 0 w 142"/>
                    <a:gd name="T101" fmla="*/ 1 h 124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42"/>
                    <a:gd name="T154" fmla="*/ 0 h 124"/>
                    <a:gd name="T155" fmla="*/ 142 w 142"/>
                    <a:gd name="T156" fmla="*/ 124 h 124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42" h="124">
                      <a:moveTo>
                        <a:pt x="0" y="1"/>
                      </a:moveTo>
                      <a:lnTo>
                        <a:pt x="1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8" y="1"/>
                      </a:lnTo>
                      <a:lnTo>
                        <a:pt x="139" y="1"/>
                      </a:lnTo>
                      <a:lnTo>
                        <a:pt x="140" y="2"/>
                      </a:lnTo>
                      <a:lnTo>
                        <a:pt x="140" y="3"/>
                      </a:lnTo>
                      <a:lnTo>
                        <a:pt x="141" y="3"/>
                      </a:lnTo>
                      <a:lnTo>
                        <a:pt x="141" y="4"/>
                      </a:lnTo>
                      <a:lnTo>
                        <a:pt x="141" y="5"/>
                      </a:lnTo>
                      <a:lnTo>
                        <a:pt x="141" y="117"/>
                      </a:lnTo>
                      <a:lnTo>
                        <a:pt x="141" y="119"/>
                      </a:lnTo>
                      <a:lnTo>
                        <a:pt x="140" y="119"/>
                      </a:lnTo>
                      <a:lnTo>
                        <a:pt x="140" y="120"/>
                      </a:lnTo>
                      <a:lnTo>
                        <a:pt x="139" y="121"/>
                      </a:lnTo>
                      <a:lnTo>
                        <a:pt x="138" y="122"/>
                      </a:lnTo>
                      <a:lnTo>
                        <a:pt x="137" y="122"/>
                      </a:lnTo>
                      <a:lnTo>
                        <a:pt x="137" y="123"/>
                      </a:lnTo>
                      <a:lnTo>
                        <a:pt x="136" y="123"/>
                      </a:lnTo>
                      <a:lnTo>
                        <a:pt x="135" y="123"/>
                      </a:lnTo>
                      <a:lnTo>
                        <a:pt x="4" y="123"/>
                      </a:lnTo>
                      <a:lnTo>
                        <a:pt x="3" y="123"/>
                      </a:lnTo>
                      <a:lnTo>
                        <a:pt x="2" y="122"/>
                      </a:lnTo>
                      <a:lnTo>
                        <a:pt x="1" y="122"/>
                      </a:lnTo>
                      <a:lnTo>
                        <a:pt x="1" y="121"/>
                      </a:lnTo>
                      <a:lnTo>
                        <a:pt x="0" y="121"/>
                      </a:lnTo>
                      <a:lnTo>
                        <a:pt x="0" y="120"/>
                      </a:lnTo>
                      <a:lnTo>
                        <a:pt x="0" y="119"/>
                      </a:lnTo>
                      <a:lnTo>
                        <a:pt x="0" y="117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</a:path>
                  </a:pathLst>
                </a:custGeom>
                <a:gradFill rotWithShape="0">
                  <a:gsLst>
                    <a:gs pos="0">
                      <a:srgbClr val="1D2B4B"/>
                    </a:gs>
                    <a:gs pos="50000">
                      <a:srgbClr val="618FFD"/>
                    </a:gs>
                    <a:gs pos="100000">
                      <a:srgbClr val="1D2B4B"/>
                    </a:gs>
                  </a:gsLst>
                  <a:lin ang="2700000" scaled="1"/>
                </a:gra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70" name="Freeform 1543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4 h 17"/>
                    <a:gd name="T2" fmla="*/ 151 w 153"/>
                    <a:gd name="T3" fmla="*/ 3 h 17"/>
                    <a:gd name="T4" fmla="*/ 151 w 153"/>
                    <a:gd name="T5" fmla="*/ 2 h 17"/>
                    <a:gd name="T6" fmla="*/ 150 w 153"/>
                    <a:gd name="T7" fmla="*/ 2 h 17"/>
                    <a:gd name="T8" fmla="*/ 150 w 153"/>
                    <a:gd name="T9" fmla="*/ 2 h 17"/>
                    <a:gd name="T10" fmla="*/ 150 w 153"/>
                    <a:gd name="T11" fmla="*/ 1 h 17"/>
                    <a:gd name="T12" fmla="*/ 149 w 153"/>
                    <a:gd name="T13" fmla="*/ 1 h 17"/>
                    <a:gd name="T14" fmla="*/ 149 w 153"/>
                    <a:gd name="T15" fmla="*/ 1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1 h 17"/>
                    <a:gd name="T32" fmla="*/ 1 w 153"/>
                    <a:gd name="T33" fmla="*/ 1 h 17"/>
                    <a:gd name="T34" fmla="*/ 0 w 153"/>
                    <a:gd name="T35" fmla="*/ 2 h 17"/>
                    <a:gd name="T36" fmla="*/ 0 w 153"/>
                    <a:gd name="T37" fmla="*/ 2 h 17"/>
                    <a:gd name="T38" fmla="*/ 0 w 153"/>
                    <a:gd name="T39" fmla="*/ 3 h 17"/>
                    <a:gd name="T40" fmla="*/ 6 w 153"/>
                    <a:gd name="T41" fmla="*/ 16 h 17"/>
                    <a:gd name="T42" fmla="*/ 7 w 153"/>
                    <a:gd name="T43" fmla="*/ 14 h 17"/>
                    <a:gd name="T44" fmla="*/ 7 w 153"/>
                    <a:gd name="T45" fmla="*/ 14 h 17"/>
                    <a:gd name="T46" fmla="*/ 8 w 153"/>
                    <a:gd name="T47" fmla="*/ 13 h 17"/>
                    <a:gd name="T48" fmla="*/ 8 w 153"/>
                    <a:gd name="T49" fmla="*/ 13 h 17"/>
                    <a:gd name="T50" fmla="*/ 8 w 153"/>
                    <a:gd name="T51" fmla="*/ 12 h 17"/>
                    <a:gd name="T52" fmla="*/ 9 w 153"/>
                    <a:gd name="T53" fmla="*/ 12 h 17"/>
                    <a:gd name="T54" fmla="*/ 10 w 153"/>
                    <a:gd name="T55" fmla="*/ 12 h 17"/>
                    <a:gd name="T56" fmla="*/ 140 w 153"/>
                    <a:gd name="T57" fmla="*/ 12 h 17"/>
                    <a:gd name="T58" fmla="*/ 141 w 153"/>
                    <a:gd name="T59" fmla="*/ 12 h 17"/>
                    <a:gd name="T60" fmla="*/ 142 w 153"/>
                    <a:gd name="T61" fmla="*/ 12 h 17"/>
                    <a:gd name="T62" fmla="*/ 142 w 153"/>
                    <a:gd name="T63" fmla="*/ 13 h 17"/>
                    <a:gd name="T64" fmla="*/ 143 w 153"/>
                    <a:gd name="T65" fmla="*/ 13 h 17"/>
                    <a:gd name="T66" fmla="*/ 143 w 153"/>
                    <a:gd name="T67" fmla="*/ 14 h 17"/>
                    <a:gd name="T68" fmla="*/ 143 w 153"/>
                    <a:gd name="T69" fmla="*/ 14 h 17"/>
                    <a:gd name="T70" fmla="*/ 144 w 153"/>
                    <a:gd name="T71" fmla="*/ 14 h 17"/>
                    <a:gd name="T72" fmla="*/ 152 w 153"/>
                    <a:gd name="T73" fmla="*/ 4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53"/>
                    <a:gd name="T112" fmla="*/ 0 h 17"/>
                    <a:gd name="T113" fmla="*/ 153 w 153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53" h="17">
                      <a:moveTo>
                        <a:pt x="152" y="4"/>
                      </a:moveTo>
                      <a:lnTo>
                        <a:pt x="151" y="3"/>
                      </a:lnTo>
                      <a:lnTo>
                        <a:pt x="151" y="2"/>
                      </a:lnTo>
                      <a:lnTo>
                        <a:pt x="150" y="2"/>
                      </a:lnTo>
                      <a:lnTo>
                        <a:pt x="150" y="1"/>
                      </a:lnTo>
                      <a:lnTo>
                        <a:pt x="149" y="1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6" y="16"/>
                      </a:lnTo>
                      <a:lnTo>
                        <a:pt x="7" y="14"/>
                      </a:lnTo>
                      <a:lnTo>
                        <a:pt x="8" y="13"/>
                      </a:lnTo>
                      <a:lnTo>
                        <a:pt x="8" y="12"/>
                      </a:lnTo>
                      <a:lnTo>
                        <a:pt x="9" y="12"/>
                      </a:lnTo>
                      <a:lnTo>
                        <a:pt x="10" y="12"/>
                      </a:lnTo>
                      <a:lnTo>
                        <a:pt x="140" y="12"/>
                      </a:lnTo>
                      <a:lnTo>
                        <a:pt x="141" y="12"/>
                      </a:lnTo>
                      <a:lnTo>
                        <a:pt x="142" y="12"/>
                      </a:lnTo>
                      <a:lnTo>
                        <a:pt x="142" y="13"/>
                      </a:lnTo>
                      <a:lnTo>
                        <a:pt x="143" y="13"/>
                      </a:lnTo>
                      <a:lnTo>
                        <a:pt x="143" y="14"/>
                      </a:lnTo>
                      <a:lnTo>
                        <a:pt x="144" y="14"/>
                      </a:lnTo>
                      <a:lnTo>
                        <a:pt x="152" y="4"/>
                      </a:lnTo>
                    </a:path>
                  </a:pathLst>
                </a:custGeom>
                <a:solidFill>
                  <a:srgbClr val="9F9FA2"/>
                </a:solidFill>
                <a:ln w="12700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71" name="Freeform 1544"/>
                <p:cNvSpPr>
                  <a:spLocks/>
                </p:cNvSpPr>
                <p:nvPr/>
              </p:nvSpPr>
              <p:spPr bwMode="auto">
                <a:xfrm>
                  <a:off x="3870" y="1299"/>
                  <a:ext cx="17" cy="135"/>
                </a:xfrm>
                <a:custGeom>
                  <a:avLst/>
                  <a:gdLst>
                    <a:gd name="T0" fmla="*/ 2 w 17"/>
                    <a:gd name="T1" fmla="*/ 0 h 135"/>
                    <a:gd name="T2" fmla="*/ 1 w 17"/>
                    <a:gd name="T3" fmla="*/ 0 h 135"/>
                    <a:gd name="T4" fmla="*/ 0 w 17"/>
                    <a:gd name="T5" fmla="*/ 1 h 135"/>
                    <a:gd name="T6" fmla="*/ 0 w 17"/>
                    <a:gd name="T7" fmla="*/ 2 h 135"/>
                    <a:gd name="T8" fmla="*/ 0 w 17"/>
                    <a:gd name="T9" fmla="*/ 2 h 135"/>
                    <a:gd name="T10" fmla="*/ 0 w 17"/>
                    <a:gd name="T11" fmla="*/ 3 h 135"/>
                    <a:gd name="T12" fmla="*/ 0 w 17"/>
                    <a:gd name="T13" fmla="*/ 4 h 135"/>
                    <a:gd name="T14" fmla="*/ 0 w 17"/>
                    <a:gd name="T15" fmla="*/ 130 h 135"/>
                    <a:gd name="T16" fmla="*/ 0 w 17"/>
                    <a:gd name="T17" fmla="*/ 130 h 135"/>
                    <a:gd name="T18" fmla="*/ 0 w 17"/>
                    <a:gd name="T19" fmla="*/ 131 h 135"/>
                    <a:gd name="T20" fmla="*/ 0 w 17"/>
                    <a:gd name="T21" fmla="*/ 132 h 135"/>
                    <a:gd name="T22" fmla="*/ 0 w 17"/>
                    <a:gd name="T23" fmla="*/ 132 h 135"/>
                    <a:gd name="T24" fmla="*/ 1 w 17"/>
                    <a:gd name="T25" fmla="*/ 133 h 135"/>
                    <a:gd name="T26" fmla="*/ 2 w 17"/>
                    <a:gd name="T27" fmla="*/ 133 h 135"/>
                    <a:gd name="T28" fmla="*/ 2 w 17"/>
                    <a:gd name="T29" fmla="*/ 134 h 135"/>
                    <a:gd name="T30" fmla="*/ 3 w 17"/>
                    <a:gd name="T31" fmla="*/ 134 h 135"/>
                    <a:gd name="T32" fmla="*/ 16 w 17"/>
                    <a:gd name="T33" fmla="*/ 127 h 135"/>
                    <a:gd name="T34" fmla="*/ 15 w 17"/>
                    <a:gd name="T35" fmla="*/ 126 h 135"/>
                    <a:gd name="T36" fmla="*/ 15 w 17"/>
                    <a:gd name="T37" fmla="*/ 126 h 135"/>
                    <a:gd name="T38" fmla="*/ 14 w 17"/>
                    <a:gd name="T39" fmla="*/ 126 h 135"/>
                    <a:gd name="T40" fmla="*/ 14 w 17"/>
                    <a:gd name="T41" fmla="*/ 125 h 135"/>
                    <a:gd name="T42" fmla="*/ 13 w 17"/>
                    <a:gd name="T43" fmla="*/ 124 h 135"/>
                    <a:gd name="T44" fmla="*/ 13 w 17"/>
                    <a:gd name="T45" fmla="*/ 124 h 135"/>
                    <a:gd name="T46" fmla="*/ 13 w 17"/>
                    <a:gd name="T47" fmla="*/ 10 h 135"/>
                    <a:gd name="T48" fmla="*/ 13 w 17"/>
                    <a:gd name="T49" fmla="*/ 9 h 135"/>
                    <a:gd name="T50" fmla="*/ 13 w 17"/>
                    <a:gd name="T51" fmla="*/ 8 h 135"/>
                    <a:gd name="T52" fmla="*/ 14 w 17"/>
                    <a:gd name="T53" fmla="*/ 8 h 135"/>
                    <a:gd name="T54" fmla="*/ 15 w 17"/>
                    <a:gd name="T55" fmla="*/ 7 h 135"/>
                    <a:gd name="T56" fmla="*/ 15 w 17"/>
                    <a:gd name="T57" fmla="*/ 6 h 135"/>
                    <a:gd name="T58" fmla="*/ 2 w 17"/>
                    <a:gd name="T59" fmla="*/ 0 h 135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w 17"/>
                    <a:gd name="T91" fmla="*/ 0 h 135"/>
                    <a:gd name="T92" fmla="*/ 17 w 17"/>
                    <a:gd name="T93" fmla="*/ 135 h 135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T90" t="T91" r="T92" b="T93"/>
                  <a:pathLst>
                    <a:path w="17" h="135">
                      <a:moveTo>
                        <a:pt x="2" y="0"/>
                      </a:moveTo>
                      <a:lnTo>
                        <a:pt x="1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0" y="130"/>
                      </a:lnTo>
                      <a:lnTo>
                        <a:pt x="0" y="131"/>
                      </a:lnTo>
                      <a:lnTo>
                        <a:pt x="0" y="132"/>
                      </a:lnTo>
                      <a:lnTo>
                        <a:pt x="1" y="133"/>
                      </a:lnTo>
                      <a:lnTo>
                        <a:pt x="2" y="133"/>
                      </a:lnTo>
                      <a:lnTo>
                        <a:pt x="2" y="134"/>
                      </a:lnTo>
                      <a:lnTo>
                        <a:pt x="3" y="134"/>
                      </a:lnTo>
                      <a:lnTo>
                        <a:pt x="16" y="127"/>
                      </a:lnTo>
                      <a:lnTo>
                        <a:pt x="15" y="126"/>
                      </a:lnTo>
                      <a:lnTo>
                        <a:pt x="14" y="126"/>
                      </a:lnTo>
                      <a:lnTo>
                        <a:pt x="14" y="125"/>
                      </a:lnTo>
                      <a:lnTo>
                        <a:pt x="13" y="124"/>
                      </a:lnTo>
                      <a:lnTo>
                        <a:pt x="13" y="10"/>
                      </a:lnTo>
                      <a:lnTo>
                        <a:pt x="13" y="9"/>
                      </a:lnTo>
                      <a:lnTo>
                        <a:pt x="13" y="8"/>
                      </a:lnTo>
                      <a:lnTo>
                        <a:pt x="14" y="8"/>
                      </a:lnTo>
                      <a:lnTo>
                        <a:pt x="15" y="7"/>
                      </a:lnTo>
                      <a:lnTo>
                        <a:pt x="15" y="6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72" name="Freeform 1545"/>
                <p:cNvSpPr>
                  <a:spLocks/>
                </p:cNvSpPr>
                <p:nvPr/>
              </p:nvSpPr>
              <p:spPr bwMode="auto">
                <a:xfrm>
                  <a:off x="3872" y="1300"/>
                  <a:ext cx="155" cy="136"/>
                </a:xfrm>
                <a:custGeom>
                  <a:avLst/>
                  <a:gdLst>
                    <a:gd name="T0" fmla="*/ 0 w 155"/>
                    <a:gd name="T1" fmla="*/ 133 h 136"/>
                    <a:gd name="T2" fmla="*/ 0 w 155"/>
                    <a:gd name="T3" fmla="*/ 134 h 136"/>
                    <a:gd name="T4" fmla="*/ 0 w 155"/>
                    <a:gd name="T5" fmla="*/ 134 h 136"/>
                    <a:gd name="T6" fmla="*/ 1 w 155"/>
                    <a:gd name="T7" fmla="*/ 134 h 136"/>
                    <a:gd name="T8" fmla="*/ 1 w 155"/>
                    <a:gd name="T9" fmla="*/ 134 h 136"/>
                    <a:gd name="T10" fmla="*/ 2 w 155"/>
                    <a:gd name="T11" fmla="*/ 135 h 136"/>
                    <a:gd name="T12" fmla="*/ 2 w 155"/>
                    <a:gd name="T13" fmla="*/ 135 h 136"/>
                    <a:gd name="T14" fmla="*/ 3 w 155"/>
                    <a:gd name="T15" fmla="*/ 135 h 136"/>
                    <a:gd name="T16" fmla="*/ 148 w 155"/>
                    <a:gd name="T17" fmla="*/ 135 h 136"/>
                    <a:gd name="T18" fmla="*/ 150 w 155"/>
                    <a:gd name="T19" fmla="*/ 134 h 136"/>
                    <a:gd name="T20" fmla="*/ 151 w 155"/>
                    <a:gd name="T21" fmla="*/ 134 h 136"/>
                    <a:gd name="T22" fmla="*/ 151 w 155"/>
                    <a:gd name="T23" fmla="*/ 133 h 136"/>
                    <a:gd name="T24" fmla="*/ 152 w 155"/>
                    <a:gd name="T25" fmla="*/ 133 h 136"/>
                    <a:gd name="T26" fmla="*/ 152 w 155"/>
                    <a:gd name="T27" fmla="*/ 133 h 136"/>
                    <a:gd name="T28" fmla="*/ 153 w 155"/>
                    <a:gd name="T29" fmla="*/ 132 h 136"/>
                    <a:gd name="T30" fmla="*/ 153 w 155"/>
                    <a:gd name="T31" fmla="*/ 131 h 136"/>
                    <a:gd name="T32" fmla="*/ 154 w 155"/>
                    <a:gd name="T33" fmla="*/ 131 h 136"/>
                    <a:gd name="T34" fmla="*/ 154 w 155"/>
                    <a:gd name="T35" fmla="*/ 129 h 136"/>
                    <a:gd name="T36" fmla="*/ 154 w 155"/>
                    <a:gd name="T37" fmla="*/ 129 h 136"/>
                    <a:gd name="T38" fmla="*/ 154 w 155"/>
                    <a:gd name="T39" fmla="*/ 3 h 136"/>
                    <a:gd name="T40" fmla="*/ 154 w 155"/>
                    <a:gd name="T41" fmla="*/ 2 h 136"/>
                    <a:gd name="T42" fmla="*/ 154 w 155"/>
                    <a:gd name="T43" fmla="*/ 1 h 136"/>
                    <a:gd name="T44" fmla="*/ 154 w 155"/>
                    <a:gd name="T45" fmla="*/ 1 h 136"/>
                    <a:gd name="T46" fmla="*/ 153 w 155"/>
                    <a:gd name="T47" fmla="*/ 1 h 136"/>
                    <a:gd name="T48" fmla="*/ 153 w 155"/>
                    <a:gd name="T49" fmla="*/ 0 h 136"/>
                    <a:gd name="T50" fmla="*/ 153 w 155"/>
                    <a:gd name="T51" fmla="*/ 0 h 136"/>
                    <a:gd name="T52" fmla="*/ 145 w 155"/>
                    <a:gd name="T53" fmla="*/ 5 h 136"/>
                    <a:gd name="T54" fmla="*/ 145 w 155"/>
                    <a:gd name="T55" fmla="*/ 5 h 136"/>
                    <a:gd name="T56" fmla="*/ 146 w 155"/>
                    <a:gd name="T57" fmla="*/ 6 h 136"/>
                    <a:gd name="T58" fmla="*/ 146 w 155"/>
                    <a:gd name="T59" fmla="*/ 7 h 136"/>
                    <a:gd name="T60" fmla="*/ 146 w 155"/>
                    <a:gd name="T61" fmla="*/ 7 h 136"/>
                    <a:gd name="T62" fmla="*/ 146 w 155"/>
                    <a:gd name="T63" fmla="*/ 7 h 136"/>
                    <a:gd name="T64" fmla="*/ 146 w 155"/>
                    <a:gd name="T65" fmla="*/ 8 h 136"/>
                    <a:gd name="T66" fmla="*/ 146 w 155"/>
                    <a:gd name="T67" fmla="*/ 9 h 136"/>
                    <a:gd name="T68" fmla="*/ 146 w 155"/>
                    <a:gd name="T69" fmla="*/ 9 h 136"/>
                    <a:gd name="T70" fmla="*/ 146 w 155"/>
                    <a:gd name="T71" fmla="*/ 123 h 136"/>
                    <a:gd name="T72" fmla="*/ 146 w 155"/>
                    <a:gd name="T73" fmla="*/ 123 h 136"/>
                    <a:gd name="T74" fmla="*/ 146 w 155"/>
                    <a:gd name="T75" fmla="*/ 124 h 136"/>
                    <a:gd name="T76" fmla="*/ 146 w 155"/>
                    <a:gd name="T77" fmla="*/ 125 h 136"/>
                    <a:gd name="T78" fmla="*/ 146 w 155"/>
                    <a:gd name="T79" fmla="*/ 125 h 136"/>
                    <a:gd name="T80" fmla="*/ 145 w 155"/>
                    <a:gd name="T81" fmla="*/ 126 h 136"/>
                    <a:gd name="T82" fmla="*/ 145 w 155"/>
                    <a:gd name="T83" fmla="*/ 127 h 136"/>
                    <a:gd name="T84" fmla="*/ 144 w 155"/>
                    <a:gd name="T85" fmla="*/ 127 h 136"/>
                    <a:gd name="T86" fmla="*/ 143 w 155"/>
                    <a:gd name="T87" fmla="*/ 127 h 136"/>
                    <a:gd name="T88" fmla="*/ 143 w 155"/>
                    <a:gd name="T89" fmla="*/ 128 h 136"/>
                    <a:gd name="T90" fmla="*/ 142 w 155"/>
                    <a:gd name="T91" fmla="*/ 128 h 136"/>
                    <a:gd name="T92" fmla="*/ 142 w 155"/>
                    <a:gd name="T93" fmla="*/ 128 h 136"/>
                    <a:gd name="T94" fmla="*/ 9 w 155"/>
                    <a:gd name="T95" fmla="*/ 128 h 136"/>
                    <a:gd name="T96" fmla="*/ 8 w 155"/>
                    <a:gd name="T97" fmla="*/ 128 h 136"/>
                    <a:gd name="T98" fmla="*/ 8 w 155"/>
                    <a:gd name="T99" fmla="*/ 128 h 136"/>
                    <a:gd name="T100" fmla="*/ 8 w 155"/>
                    <a:gd name="T101" fmla="*/ 127 h 136"/>
                    <a:gd name="T102" fmla="*/ 7 w 155"/>
                    <a:gd name="T103" fmla="*/ 127 h 136"/>
                    <a:gd name="T104" fmla="*/ 7 w 155"/>
                    <a:gd name="T105" fmla="*/ 127 h 136"/>
                    <a:gd name="T106" fmla="*/ 6 w 155"/>
                    <a:gd name="T107" fmla="*/ 127 h 136"/>
                    <a:gd name="T108" fmla="*/ 6 w 155"/>
                    <a:gd name="T109" fmla="*/ 127 h 136"/>
                    <a:gd name="T110" fmla="*/ 0 w 155"/>
                    <a:gd name="T111" fmla="*/ 133 h 1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55"/>
                    <a:gd name="T169" fmla="*/ 0 h 136"/>
                    <a:gd name="T170" fmla="*/ 155 w 155"/>
                    <a:gd name="T171" fmla="*/ 136 h 136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55" h="136">
                      <a:moveTo>
                        <a:pt x="0" y="133"/>
                      </a:moveTo>
                      <a:lnTo>
                        <a:pt x="0" y="134"/>
                      </a:lnTo>
                      <a:lnTo>
                        <a:pt x="1" y="134"/>
                      </a:lnTo>
                      <a:lnTo>
                        <a:pt x="2" y="135"/>
                      </a:lnTo>
                      <a:lnTo>
                        <a:pt x="3" y="135"/>
                      </a:lnTo>
                      <a:lnTo>
                        <a:pt x="148" y="135"/>
                      </a:lnTo>
                      <a:lnTo>
                        <a:pt x="150" y="134"/>
                      </a:lnTo>
                      <a:lnTo>
                        <a:pt x="151" y="134"/>
                      </a:lnTo>
                      <a:lnTo>
                        <a:pt x="151" y="133"/>
                      </a:lnTo>
                      <a:lnTo>
                        <a:pt x="152" y="133"/>
                      </a:lnTo>
                      <a:lnTo>
                        <a:pt x="153" y="132"/>
                      </a:lnTo>
                      <a:lnTo>
                        <a:pt x="153" y="131"/>
                      </a:lnTo>
                      <a:lnTo>
                        <a:pt x="154" y="131"/>
                      </a:lnTo>
                      <a:lnTo>
                        <a:pt x="154" y="129"/>
                      </a:lnTo>
                      <a:lnTo>
                        <a:pt x="154" y="3"/>
                      </a:lnTo>
                      <a:lnTo>
                        <a:pt x="154" y="2"/>
                      </a:lnTo>
                      <a:lnTo>
                        <a:pt x="154" y="1"/>
                      </a:lnTo>
                      <a:lnTo>
                        <a:pt x="153" y="1"/>
                      </a:lnTo>
                      <a:lnTo>
                        <a:pt x="153" y="0"/>
                      </a:lnTo>
                      <a:lnTo>
                        <a:pt x="145" y="5"/>
                      </a:lnTo>
                      <a:lnTo>
                        <a:pt x="146" y="6"/>
                      </a:lnTo>
                      <a:lnTo>
                        <a:pt x="146" y="7"/>
                      </a:lnTo>
                      <a:lnTo>
                        <a:pt x="146" y="8"/>
                      </a:lnTo>
                      <a:lnTo>
                        <a:pt x="146" y="9"/>
                      </a:lnTo>
                      <a:lnTo>
                        <a:pt x="146" y="123"/>
                      </a:lnTo>
                      <a:lnTo>
                        <a:pt x="146" y="124"/>
                      </a:lnTo>
                      <a:lnTo>
                        <a:pt x="146" y="125"/>
                      </a:lnTo>
                      <a:lnTo>
                        <a:pt x="145" y="126"/>
                      </a:lnTo>
                      <a:lnTo>
                        <a:pt x="145" y="127"/>
                      </a:lnTo>
                      <a:lnTo>
                        <a:pt x="144" y="127"/>
                      </a:lnTo>
                      <a:lnTo>
                        <a:pt x="143" y="127"/>
                      </a:lnTo>
                      <a:lnTo>
                        <a:pt x="143" y="128"/>
                      </a:lnTo>
                      <a:lnTo>
                        <a:pt x="142" y="128"/>
                      </a:lnTo>
                      <a:lnTo>
                        <a:pt x="9" y="128"/>
                      </a:lnTo>
                      <a:lnTo>
                        <a:pt x="8" y="128"/>
                      </a:lnTo>
                      <a:lnTo>
                        <a:pt x="8" y="127"/>
                      </a:lnTo>
                      <a:lnTo>
                        <a:pt x="7" y="127"/>
                      </a:lnTo>
                      <a:lnTo>
                        <a:pt x="6" y="127"/>
                      </a:lnTo>
                      <a:lnTo>
                        <a:pt x="0" y="133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73" name="Freeform 1546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16 h 17"/>
                    <a:gd name="T2" fmla="*/ 151 w 153"/>
                    <a:gd name="T3" fmla="*/ 16 h 17"/>
                    <a:gd name="T4" fmla="*/ 151 w 153"/>
                    <a:gd name="T5" fmla="*/ 10 h 17"/>
                    <a:gd name="T6" fmla="*/ 150 w 153"/>
                    <a:gd name="T7" fmla="*/ 10 h 17"/>
                    <a:gd name="T8" fmla="*/ 150 w 153"/>
                    <a:gd name="T9" fmla="*/ 10 h 17"/>
                    <a:gd name="T10" fmla="*/ 150 w 153"/>
                    <a:gd name="T11" fmla="*/ 5 h 17"/>
                    <a:gd name="T12" fmla="*/ 149 w 153"/>
                    <a:gd name="T13" fmla="*/ 5 h 17"/>
                    <a:gd name="T14" fmla="*/ 149 w 153"/>
                    <a:gd name="T15" fmla="*/ 5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5 h 17"/>
                    <a:gd name="T32" fmla="*/ 1 w 153"/>
                    <a:gd name="T33" fmla="*/ 5 h 17"/>
                    <a:gd name="T34" fmla="*/ 0 w 153"/>
                    <a:gd name="T35" fmla="*/ 10 h 17"/>
                    <a:gd name="T36" fmla="*/ 0 w 153"/>
                    <a:gd name="T37" fmla="*/ 10 h 17"/>
                    <a:gd name="T38" fmla="*/ 0 w 153"/>
                    <a:gd name="T39" fmla="*/ 16 h 17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153"/>
                    <a:gd name="T61" fmla="*/ 0 h 17"/>
                    <a:gd name="T62" fmla="*/ 153 w 153"/>
                    <a:gd name="T63" fmla="*/ 17 h 17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153" h="17">
                      <a:moveTo>
                        <a:pt x="152" y="16"/>
                      </a:moveTo>
                      <a:lnTo>
                        <a:pt x="151" y="16"/>
                      </a:lnTo>
                      <a:lnTo>
                        <a:pt x="151" y="10"/>
                      </a:lnTo>
                      <a:lnTo>
                        <a:pt x="150" y="10"/>
                      </a:lnTo>
                      <a:lnTo>
                        <a:pt x="150" y="5"/>
                      </a:lnTo>
                      <a:lnTo>
                        <a:pt x="149" y="5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5"/>
                      </a:lnTo>
                      <a:lnTo>
                        <a:pt x="0" y="1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74" name="Freeform 1547"/>
                <p:cNvSpPr>
                  <a:spLocks/>
                </p:cNvSpPr>
                <p:nvPr/>
              </p:nvSpPr>
              <p:spPr bwMode="auto">
                <a:xfrm>
                  <a:off x="3843" y="1489"/>
                  <a:ext cx="215" cy="72"/>
                </a:xfrm>
                <a:custGeom>
                  <a:avLst/>
                  <a:gdLst>
                    <a:gd name="T0" fmla="*/ 0 w 215"/>
                    <a:gd name="T1" fmla="*/ 71 h 72"/>
                    <a:gd name="T2" fmla="*/ 0 w 215"/>
                    <a:gd name="T3" fmla="*/ 0 h 72"/>
                    <a:gd name="T4" fmla="*/ 214 w 215"/>
                    <a:gd name="T5" fmla="*/ 0 h 72"/>
                    <a:gd name="T6" fmla="*/ 214 w 215"/>
                    <a:gd name="T7" fmla="*/ 71 h 72"/>
                    <a:gd name="T8" fmla="*/ 0 w 215"/>
                    <a:gd name="T9" fmla="*/ 71 h 7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15"/>
                    <a:gd name="T16" fmla="*/ 0 h 72"/>
                    <a:gd name="T17" fmla="*/ 215 w 215"/>
                    <a:gd name="T18" fmla="*/ 72 h 7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15" h="72">
                      <a:moveTo>
                        <a:pt x="0" y="71"/>
                      </a:moveTo>
                      <a:lnTo>
                        <a:pt x="0" y="0"/>
                      </a:lnTo>
                      <a:lnTo>
                        <a:pt x="214" y="0"/>
                      </a:lnTo>
                      <a:lnTo>
                        <a:pt x="214" y="71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75" name="Freeform 1548"/>
                <p:cNvSpPr>
                  <a:spLocks/>
                </p:cNvSpPr>
                <p:nvPr/>
              </p:nvSpPr>
              <p:spPr bwMode="auto">
                <a:xfrm>
                  <a:off x="3841" y="1489"/>
                  <a:ext cx="219" cy="23"/>
                </a:xfrm>
                <a:custGeom>
                  <a:avLst/>
                  <a:gdLst>
                    <a:gd name="T0" fmla="*/ 79 w 219"/>
                    <a:gd name="T1" fmla="*/ 0 h 23"/>
                    <a:gd name="T2" fmla="*/ 0 w 219"/>
                    <a:gd name="T3" fmla="*/ 0 h 23"/>
                    <a:gd name="T4" fmla="*/ 0 w 219"/>
                    <a:gd name="T5" fmla="*/ 22 h 23"/>
                    <a:gd name="T6" fmla="*/ 218 w 219"/>
                    <a:gd name="T7" fmla="*/ 22 h 23"/>
                    <a:gd name="T8" fmla="*/ 215 w 219"/>
                    <a:gd name="T9" fmla="*/ 0 h 23"/>
                    <a:gd name="T10" fmla="*/ 137 w 219"/>
                    <a:gd name="T11" fmla="*/ 0 h 23"/>
                    <a:gd name="T12" fmla="*/ 79 w 219"/>
                    <a:gd name="T13" fmla="*/ 0 h 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19"/>
                    <a:gd name="T22" fmla="*/ 0 h 23"/>
                    <a:gd name="T23" fmla="*/ 219 w 219"/>
                    <a:gd name="T24" fmla="*/ 23 h 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9" h="23">
                      <a:moveTo>
                        <a:pt x="79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218" y="22"/>
                      </a:lnTo>
                      <a:lnTo>
                        <a:pt x="215" y="0"/>
                      </a:lnTo>
                      <a:lnTo>
                        <a:pt x="137" y="0"/>
                      </a:lnTo>
                      <a:lnTo>
                        <a:pt x="79" y="0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76" name="Freeform 1549"/>
                <p:cNvSpPr>
                  <a:spLocks/>
                </p:cNvSpPr>
                <p:nvPr/>
              </p:nvSpPr>
              <p:spPr bwMode="auto">
                <a:xfrm>
                  <a:off x="3991" y="1495"/>
                  <a:ext cx="56" cy="17"/>
                </a:xfrm>
                <a:custGeom>
                  <a:avLst/>
                  <a:gdLst>
                    <a:gd name="T0" fmla="*/ 0 w 56"/>
                    <a:gd name="T1" fmla="*/ 6 h 17"/>
                    <a:gd name="T2" fmla="*/ 18 w 56"/>
                    <a:gd name="T3" fmla="*/ 6 h 17"/>
                    <a:gd name="T4" fmla="*/ 18 w 56"/>
                    <a:gd name="T5" fmla="*/ 0 h 17"/>
                    <a:gd name="T6" fmla="*/ 35 w 56"/>
                    <a:gd name="T7" fmla="*/ 0 h 17"/>
                    <a:gd name="T8" fmla="*/ 35 w 56"/>
                    <a:gd name="T9" fmla="*/ 6 h 17"/>
                    <a:gd name="T10" fmla="*/ 55 w 56"/>
                    <a:gd name="T11" fmla="*/ 6 h 17"/>
                    <a:gd name="T12" fmla="*/ 55 w 56"/>
                    <a:gd name="T13" fmla="*/ 10 h 17"/>
                    <a:gd name="T14" fmla="*/ 35 w 56"/>
                    <a:gd name="T15" fmla="*/ 10 h 17"/>
                    <a:gd name="T16" fmla="*/ 35 w 56"/>
                    <a:gd name="T17" fmla="*/ 16 h 17"/>
                    <a:gd name="T18" fmla="*/ 18 w 56"/>
                    <a:gd name="T19" fmla="*/ 16 h 17"/>
                    <a:gd name="T20" fmla="*/ 18 w 56"/>
                    <a:gd name="T21" fmla="*/ 10 h 17"/>
                    <a:gd name="T22" fmla="*/ 0 w 56"/>
                    <a:gd name="T23" fmla="*/ 10 h 17"/>
                    <a:gd name="T24" fmla="*/ 0 w 56"/>
                    <a:gd name="T25" fmla="*/ 6 h 17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56"/>
                    <a:gd name="T40" fmla="*/ 0 h 17"/>
                    <a:gd name="T41" fmla="*/ 56 w 56"/>
                    <a:gd name="T42" fmla="*/ 17 h 17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56" h="17">
                      <a:moveTo>
                        <a:pt x="0" y="6"/>
                      </a:moveTo>
                      <a:lnTo>
                        <a:pt x="18" y="6"/>
                      </a:lnTo>
                      <a:lnTo>
                        <a:pt x="18" y="0"/>
                      </a:lnTo>
                      <a:lnTo>
                        <a:pt x="35" y="0"/>
                      </a:lnTo>
                      <a:lnTo>
                        <a:pt x="35" y="6"/>
                      </a:lnTo>
                      <a:lnTo>
                        <a:pt x="55" y="6"/>
                      </a:lnTo>
                      <a:lnTo>
                        <a:pt x="55" y="10"/>
                      </a:lnTo>
                      <a:lnTo>
                        <a:pt x="35" y="10"/>
                      </a:lnTo>
                      <a:lnTo>
                        <a:pt x="35" y="16"/>
                      </a:lnTo>
                      <a:lnTo>
                        <a:pt x="18" y="16"/>
                      </a:lnTo>
                      <a:lnTo>
                        <a:pt x="18" y="10"/>
                      </a:lnTo>
                      <a:lnTo>
                        <a:pt x="0" y="10"/>
                      </a:lnTo>
                      <a:lnTo>
                        <a:pt x="0" y="6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77" name="Freeform 1550"/>
                <p:cNvSpPr>
                  <a:spLocks/>
                </p:cNvSpPr>
                <p:nvPr/>
              </p:nvSpPr>
              <p:spPr bwMode="auto">
                <a:xfrm>
                  <a:off x="3991" y="1501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0 h 17"/>
                    <a:gd name="T4" fmla="*/ 16 w 17"/>
                    <a:gd name="T5" fmla="*/ 5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17"/>
                    <a:gd name="T14" fmla="*/ 17 w 17"/>
                    <a:gd name="T15" fmla="*/ 17 h 1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17">
                      <a:moveTo>
                        <a:pt x="0" y="16"/>
                      </a:moveTo>
                      <a:lnTo>
                        <a:pt x="16" y="10"/>
                      </a:lnTo>
                      <a:lnTo>
                        <a:pt x="16" y="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78" name="Freeform 1551"/>
                <p:cNvSpPr>
                  <a:spLocks/>
                </p:cNvSpPr>
                <p:nvPr/>
              </p:nvSpPr>
              <p:spPr bwMode="auto">
                <a:xfrm>
                  <a:off x="4010" y="149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79" name="Freeform 1552"/>
                <p:cNvSpPr>
                  <a:spLocks/>
                </p:cNvSpPr>
                <p:nvPr/>
              </p:nvSpPr>
              <p:spPr bwMode="auto">
                <a:xfrm>
                  <a:off x="4046" y="1504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80" name="Freeform 1553"/>
                <p:cNvSpPr>
                  <a:spLocks/>
                </p:cNvSpPr>
                <p:nvPr/>
              </p:nvSpPr>
              <p:spPr bwMode="auto">
                <a:xfrm>
                  <a:off x="4027" y="1495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0 h 17"/>
                    <a:gd name="T4" fmla="*/ 0 w 17"/>
                    <a:gd name="T5" fmla="*/ 16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16"/>
                      </a:moveTo>
                      <a:lnTo>
                        <a:pt x="16" y="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81" name="Freeform 1554"/>
                <p:cNvSpPr>
                  <a:spLocks/>
                </p:cNvSpPr>
                <p:nvPr/>
              </p:nvSpPr>
              <p:spPr bwMode="auto">
                <a:xfrm>
                  <a:off x="4011" y="1499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6 h 17"/>
                    <a:gd name="T4" fmla="*/ 16 w 17"/>
                    <a:gd name="T5" fmla="*/ 0 h 17"/>
                    <a:gd name="T6" fmla="*/ 0 w 17"/>
                    <a:gd name="T7" fmla="*/ 0 h 17"/>
                    <a:gd name="T8" fmla="*/ 0 w 17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16"/>
                      </a:moveTo>
                      <a:lnTo>
                        <a:pt x="16" y="16"/>
                      </a:lnTo>
                      <a:lnTo>
                        <a:pt x="16" y="0"/>
                      </a:lnTo>
                      <a:lnTo>
                        <a:pt x="0" y="0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F9FA2"/>
                </a:solidFill>
                <a:ln w="12700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82" name="Freeform 1555"/>
                <p:cNvSpPr>
                  <a:spLocks/>
                </p:cNvSpPr>
                <p:nvPr/>
              </p:nvSpPr>
              <p:spPr bwMode="auto">
                <a:xfrm>
                  <a:off x="3993" y="1502"/>
                  <a:ext cx="54" cy="17"/>
                </a:xfrm>
                <a:custGeom>
                  <a:avLst/>
                  <a:gdLst>
                    <a:gd name="T0" fmla="*/ 0 w 54"/>
                    <a:gd name="T1" fmla="*/ 0 h 17"/>
                    <a:gd name="T2" fmla="*/ 53 w 54"/>
                    <a:gd name="T3" fmla="*/ 0 h 17"/>
                    <a:gd name="T4" fmla="*/ 53 w 54"/>
                    <a:gd name="T5" fmla="*/ 16 h 17"/>
                    <a:gd name="T6" fmla="*/ 0 w 54"/>
                    <a:gd name="T7" fmla="*/ 16 h 17"/>
                    <a:gd name="T8" fmla="*/ 0 w 54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4"/>
                    <a:gd name="T16" fmla="*/ 0 h 17"/>
                    <a:gd name="T17" fmla="*/ 54 w 5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4" h="17">
                      <a:moveTo>
                        <a:pt x="0" y="0"/>
                      </a:moveTo>
                      <a:lnTo>
                        <a:pt x="53" y="0"/>
                      </a:lnTo>
                      <a:lnTo>
                        <a:pt x="53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83" name="Freeform 1556"/>
                <p:cNvSpPr>
                  <a:spLocks/>
                </p:cNvSpPr>
                <p:nvPr/>
              </p:nvSpPr>
              <p:spPr bwMode="auto">
                <a:xfrm>
                  <a:off x="4010" y="1496"/>
                  <a:ext cx="19" cy="17"/>
                </a:xfrm>
                <a:custGeom>
                  <a:avLst/>
                  <a:gdLst>
                    <a:gd name="T0" fmla="*/ 18 w 19"/>
                    <a:gd name="T1" fmla="*/ 12 h 17"/>
                    <a:gd name="T2" fmla="*/ 17 w 19"/>
                    <a:gd name="T3" fmla="*/ 16 h 17"/>
                    <a:gd name="T4" fmla="*/ 17 w 19"/>
                    <a:gd name="T5" fmla="*/ 0 h 17"/>
                    <a:gd name="T6" fmla="*/ 0 w 19"/>
                    <a:gd name="T7" fmla="*/ 0 h 17"/>
                    <a:gd name="T8" fmla="*/ 0 w 19"/>
                    <a:gd name="T9" fmla="*/ 16 h 17"/>
                    <a:gd name="T10" fmla="*/ 0 w 19"/>
                    <a:gd name="T11" fmla="*/ 12 h 1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"/>
                    <a:gd name="T19" fmla="*/ 0 h 17"/>
                    <a:gd name="T20" fmla="*/ 19 w 19"/>
                    <a:gd name="T21" fmla="*/ 17 h 1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" h="17">
                      <a:moveTo>
                        <a:pt x="18" y="12"/>
                      </a:moveTo>
                      <a:lnTo>
                        <a:pt x="17" y="16"/>
                      </a:ln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6"/>
                      </a:lnTo>
                      <a:lnTo>
                        <a:pt x="0" y="12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84" name="Freeform 1557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16 w 17"/>
                    <a:gd name="T1" fmla="*/ 0 h 17"/>
                    <a:gd name="T2" fmla="*/ 16 w 17"/>
                    <a:gd name="T3" fmla="*/ 16 h 17"/>
                    <a:gd name="T4" fmla="*/ 0 w 17"/>
                    <a:gd name="T5" fmla="*/ 16 h 17"/>
                    <a:gd name="T6" fmla="*/ 0 w 17"/>
                    <a:gd name="T7" fmla="*/ 0 h 17"/>
                    <a:gd name="T8" fmla="*/ 16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16" y="0"/>
                      </a:move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  <a:lnTo>
                        <a:pt x="16" y="0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85" name="Freeform 1558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86" name="Freeform 1559"/>
                <p:cNvSpPr>
                  <a:spLocks/>
                </p:cNvSpPr>
                <p:nvPr/>
              </p:nvSpPr>
              <p:spPr bwMode="auto">
                <a:xfrm>
                  <a:off x="3930" y="1497"/>
                  <a:ext cx="44" cy="17"/>
                </a:xfrm>
                <a:custGeom>
                  <a:avLst/>
                  <a:gdLst>
                    <a:gd name="T0" fmla="*/ 14 w 44"/>
                    <a:gd name="T1" fmla="*/ 16 h 17"/>
                    <a:gd name="T2" fmla="*/ 0 w 44"/>
                    <a:gd name="T3" fmla="*/ 16 h 17"/>
                    <a:gd name="T4" fmla="*/ 0 w 44"/>
                    <a:gd name="T5" fmla="*/ 8 h 17"/>
                    <a:gd name="T6" fmla="*/ 14 w 44"/>
                    <a:gd name="T7" fmla="*/ 8 h 17"/>
                    <a:gd name="T8" fmla="*/ 14 w 44"/>
                    <a:gd name="T9" fmla="*/ 0 h 17"/>
                    <a:gd name="T10" fmla="*/ 28 w 44"/>
                    <a:gd name="T11" fmla="*/ 0 h 17"/>
                    <a:gd name="T12" fmla="*/ 28 w 44"/>
                    <a:gd name="T13" fmla="*/ 8 h 17"/>
                    <a:gd name="T14" fmla="*/ 43 w 44"/>
                    <a:gd name="T15" fmla="*/ 8 h 17"/>
                    <a:gd name="T16" fmla="*/ 43 w 44"/>
                    <a:gd name="T17" fmla="*/ 16 h 17"/>
                    <a:gd name="T18" fmla="*/ 28 w 44"/>
                    <a:gd name="T19" fmla="*/ 16 h 17"/>
                    <a:gd name="T20" fmla="*/ 14 w 44"/>
                    <a:gd name="T21" fmla="*/ 16 h 1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44"/>
                    <a:gd name="T34" fmla="*/ 0 h 17"/>
                    <a:gd name="T35" fmla="*/ 44 w 44"/>
                    <a:gd name="T36" fmla="*/ 17 h 17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44" h="17">
                      <a:moveTo>
                        <a:pt x="14" y="16"/>
                      </a:moveTo>
                      <a:lnTo>
                        <a:pt x="0" y="16"/>
                      </a:lnTo>
                      <a:lnTo>
                        <a:pt x="0" y="8"/>
                      </a:lnTo>
                      <a:lnTo>
                        <a:pt x="14" y="8"/>
                      </a:lnTo>
                      <a:lnTo>
                        <a:pt x="14" y="0"/>
                      </a:lnTo>
                      <a:lnTo>
                        <a:pt x="28" y="0"/>
                      </a:lnTo>
                      <a:lnTo>
                        <a:pt x="28" y="8"/>
                      </a:lnTo>
                      <a:lnTo>
                        <a:pt x="43" y="8"/>
                      </a:lnTo>
                      <a:lnTo>
                        <a:pt x="43" y="16"/>
                      </a:lnTo>
                      <a:lnTo>
                        <a:pt x="28" y="16"/>
                      </a:lnTo>
                      <a:lnTo>
                        <a:pt x="14" y="16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87" name="Freeform 1560"/>
                <p:cNvSpPr>
                  <a:spLocks/>
                </p:cNvSpPr>
                <p:nvPr/>
              </p:nvSpPr>
              <p:spPr bwMode="auto">
                <a:xfrm>
                  <a:off x="3945" y="1497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88" name="Freeform 1561"/>
                <p:cNvSpPr>
                  <a:spLocks/>
                </p:cNvSpPr>
                <p:nvPr/>
              </p:nvSpPr>
              <p:spPr bwMode="auto">
                <a:xfrm>
                  <a:off x="3897" y="1494"/>
                  <a:ext cx="20" cy="17"/>
                </a:xfrm>
                <a:custGeom>
                  <a:avLst/>
                  <a:gdLst>
                    <a:gd name="T0" fmla="*/ 5 w 20"/>
                    <a:gd name="T1" fmla="*/ 16 h 17"/>
                    <a:gd name="T2" fmla="*/ 3 w 20"/>
                    <a:gd name="T3" fmla="*/ 15 h 17"/>
                    <a:gd name="T4" fmla="*/ 2 w 20"/>
                    <a:gd name="T5" fmla="*/ 15 h 17"/>
                    <a:gd name="T6" fmla="*/ 1 w 20"/>
                    <a:gd name="T7" fmla="*/ 14 h 17"/>
                    <a:gd name="T8" fmla="*/ 1 w 20"/>
                    <a:gd name="T9" fmla="*/ 12 h 17"/>
                    <a:gd name="T10" fmla="*/ 0 w 20"/>
                    <a:gd name="T11" fmla="*/ 12 h 17"/>
                    <a:gd name="T12" fmla="*/ 0 w 20"/>
                    <a:gd name="T13" fmla="*/ 10 h 17"/>
                    <a:gd name="T14" fmla="*/ 0 w 20"/>
                    <a:gd name="T15" fmla="*/ 8 h 17"/>
                    <a:gd name="T16" fmla="*/ 0 w 20"/>
                    <a:gd name="T17" fmla="*/ 6 h 17"/>
                    <a:gd name="T18" fmla="*/ 0 w 20"/>
                    <a:gd name="T19" fmla="*/ 4 h 17"/>
                    <a:gd name="T20" fmla="*/ 0 w 20"/>
                    <a:gd name="T21" fmla="*/ 3 h 17"/>
                    <a:gd name="T22" fmla="*/ 1 w 20"/>
                    <a:gd name="T23" fmla="*/ 2 h 17"/>
                    <a:gd name="T24" fmla="*/ 2 w 20"/>
                    <a:gd name="T25" fmla="*/ 1 h 17"/>
                    <a:gd name="T26" fmla="*/ 3 w 20"/>
                    <a:gd name="T27" fmla="*/ 0 h 17"/>
                    <a:gd name="T28" fmla="*/ 4 w 20"/>
                    <a:gd name="T29" fmla="*/ 0 h 17"/>
                    <a:gd name="T30" fmla="*/ 5 w 20"/>
                    <a:gd name="T31" fmla="*/ 0 h 17"/>
                    <a:gd name="T32" fmla="*/ 12 w 20"/>
                    <a:gd name="T33" fmla="*/ 0 h 17"/>
                    <a:gd name="T34" fmla="*/ 13 w 20"/>
                    <a:gd name="T35" fmla="*/ 0 h 17"/>
                    <a:gd name="T36" fmla="*/ 15 w 20"/>
                    <a:gd name="T37" fmla="*/ 0 h 17"/>
                    <a:gd name="T38" fmla="*/ 16 w 20"/>
                    <a:gd name="T39" fmla="*/ 1 h 17"/>
                    <a:gd name="T40" fmla="*/ 17 w 20"/>
                    <a:gd name="T41" fmla="*/ 3 h 17"/>
                    <a:gd name="T42" fmla="*/ 17 w 20"/>
                    <a:gd name="T43" fmla="*/ 3 h 17"/>
                    <a:gd name="T44" fmla="*/ 18 w 20"/>
                    <a:gd name="T45" fmla="*/ 5 h 17"/>
                    <a:gd name="T46" fmla="*/ 18 w 20"/>
                    <a:gd name="T47" fmla="*/ 7 h 17"/>
                    <a:gd name="T48" fmla="*/ 18 w 20"/>
                    <a:gd name="T49" fmla="*/ 8 h 17"/>
                    <a:gd name="T50" fmla="*/ 18 w 20"/>
                    <a:gd name="T51" fmla="*/ 10 h 17"/>
                    <a:gd name="T52" fmla="*/ 17 w 20"/>
                    <a:gd name="T53" fmla="*/ 12 h 17"/>
                    <a:gd name="T54" fmla="*/ 16 w 20"/>
                    <a:gd name="T55" fmla="*/ 13 h 17"/>
                    <a:gd name="T56" fmla="*/ 15 w 20"/>
                    <a:gd name="T57" fmla="*/ 15 h 17"/>
                    <a:gd name="T58" fmla="*/ 13 w 20"/>
                    <a:gd name="T59" fmla="*/ 15 h 17"/>
                    <a:gd name="T60" fmla="*/ 13 w 20"/>
                    <a:gd name="T61" fmla="*/ 16 h 17"/>
                    <a:gd name="T62" fmla="*/ 12 w 20"/>
                    <a:gd name="T63" fmla="*/ 16 h 17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20"/>
                    <a:gd name="T97" fmla="*/ 0 h 17"/>
                    <a:gd name="T98" fmla="*/ 20 w 20"/>
                    <a:gd name="T99" fmla="*/ 17 h 17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20" h="17">
                      <a:moveTo>
                        <a:pt x="5" y="16"/>
                      </a:moveTo>
                      <a:lnTo>
                        <a:pt x="5" y="16"/>
                      </a:lnTo>
                      <a:lnTo>
                        <a:pt x="4" y="16"/>
                      </a:lnTo>
                      <a:lnTo>
                        <a:pt x="3" y="15"/>
                      </a:lnTo>
                      <a:lnTo>
                        <a:pt x="2" y="15"/>
                      </a:lnTo>
                      <a:lnTo>
                        <a:pt x="2" y="14"/>
                      </a:lnTo>
                      <a:lnTo>
                        <a:pt x="1" y="14"/>
                      </a:lnTo>
                      <a:lnTo>
                        <a:pt x="1" y="13"/>
                      </a:lnTo>
                      <a:lnTo>
                        <a:pt x="1" y="12"/>
                      </a:lnTo>
                      <a:lnTo>
                        <a:pt x="0" y="12"/>
                      </a:lnTo>
                      <a:lnTo>
                        <a:pt x="0" y="11"/>
                      </a:lnTo>
                      <a:lnTo>
                        <a:pt x="0" y="10"/>
                      </a:lnTo>
                      <a:lnTo>
                        <a:pt x="0" y="9"/>
                      </a:lnTo>
                      <a:lnTo>
                        <a:pt x="0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1" y="3"/>
                      </a:lnTo>
                      <a:lnTo>
                        <a:pt x="1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5" y="0"/>
                      </a:lnTo>
                      <a:lnTo>
                        <a:pt x="12" y="0"/>
                      </a:lnTo>
                      <a:lnTo>
                        <a:pt x="13" y="0"/>
                      </a:lnTo>
                      <a:lnTo>
                        <a:pt x="15" y="0"/>
                      </a:lnTo>
                      <a:lnTo>
                        <a:pt x="16" y="1"/>
                      </a:lnTo>
                      <a:lnTo>
                        <a:pt x="16" y="2"/>
                      </a:lnTo>
                      <a:lnTo>
                        <a:pt x="17" y="3"/>
                      </a:lnTo>
                      <a:lnTo>
                        <a:pt x="18" y="4"/>
                      </a:lnTo>
                      <a:lnTo>
                        <a:pt x="18" y="5"/>
                      </a:lnTo>
                      <a:lnTo>
                        <a:pt x="18" y="6"/>
                      </a:lnTo>
                      <a:lnTo>
                        <a:pt x="18" y="7"/>
                      </a:lnTo>
                      <a:lnTo>
                        <a:pt x="19" y="8"/>
                      </a:lnTo>
                      <a:lnTo>
                        <a:pt x="18" y="8"/>
                      </a:lnTo>
                      <a:lnTo>
                        <a:pt x="18" y="9"/>
                      </a:lnTo>
                      <a:lnTo>
                        <a:pt x="18" y="10"/>
                      </a:lnTo>
                      <a:lnTo>
                        <a:pt x="18" y="11"/>
                      </a:lnTo>
                      <a:lnTo>
                        <a:pt x="17" y="12"/>
                      </a:lnTo>
                      <a:lnTo>
                        <a:pt x="16" y="13"/>
                      </a:lnTo>
                      <a:lnTo>
                        <a:pt x="16" y="14"/>
                      </a:lnTo>
                      <a:lnTo>
                        <a:pt x="15" y="15"/>
                      </a:lnTo>
                      <a:lnTo>
                        <a:pt x="13" y="15"/>
                      </a:lnTo>
                      <a:lnTo>
                        <a:pt x="13" y="16"/>
                      </a:lnTo>
                      <a:lnTo>
                        <a:pt x="12" y="16"/>
                      </a:lnTo>
                      <a:lnTo>
                        <a:pt x="5" y="16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89" name="Freeform 1562"/>
                <p:cNvSpPr>
                  <a:spLocks/>
                </p:cNvSpPr>
                <p:nvPr/>
              </p:nvSpPr>
              <p:spPr bwMode="auto">
                <a:xfrm>
                  <a:off x="3921" y="1489"/>
                  <a:ext cx="17" cy="38"/>
                </a:xfrm>
                <a:custGeom>
                  <a:avLst/>
                  <a:gdLst>
                    <a:gd name="T0" fmla="*/ 8 w 17"/>
                    <a:gd name="T1" fmla="*/ 0 h 38"/>
                    <a:gd name="T2" fmla="*/ 0 w 17"/>
                    <a:gd name="T3" fmla="*/ 22 h 38"/>
                    <a:gd name="T4" fmla="*/ 16 w 17"/>
                    <a:gd name="T5" fmla="*/ 22 h 38"/>
                    <a:gd name="T6" fmla="*/ 16 w 17"/>
                    <a:gd name="T7" fmla="*/ 37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38"/>
                    <a:gd name="T14" fmla="*/ 17 w 17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38">
                      <a:moveTo>
                        <a:pt x="8" y="0"/>
                      </a:moveTo>
                      <a:lnTo>
                        <a:pt x="0" y="22"/>
                      </a:lnTo>
                      <a:lnTo>
                        <a:pt x="16" y="22"/>
                      </a:lnTo>
                      <a:lnTo>
                        <a:pt x="16" y="37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0" name="Freeform 1563"/>
                <p:cNvSpPr>
                  <a:spLocks/>
                </p:cNvSpPr>
                <p:nvPr/>
              </p:nvSpPr>
              <p:spPr bwMode="auto">
                <a:xfrm>
                  <a:off x="3979" y="1489"/>
                  <a:ext cx="17" cy="72"/>
                </a:xfrm>
                <a:custGeom>
                  <a:avLst/>
                  <a:gdLst>
                    <a:gd name="T0" fmla="*/ 0 w 17"/>
                    <a:gd name="T1" fmla="*/ 0 h 72"/>
                    <a:gd name="T2" fmla="*/ 16 w 17"/>
                    <a:gd name="T3" fmla="*/ 22 h 72"/>
                    <a:gd name="T4" fmla="*/ 0 w 17"/>
                    <a:gd name="T5" fmla="*/ 22 h 72"/>
                    <a:gd name="T6" fmla="*/ 0 w 17"/>
                    <a:gd name="T7" fmla="*/ 71 h 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72"/>
                    <a:gd name="T14" fmla="*/ 17 w 17"/>
                    <a:gd name="T15" fmla="*/ 72 h 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72">
                      <a:moveTo>
                        <a:pt x="0" y="0"/>
                      </a:moveTo>
                      <a:lnTo>
                        <a:pt x="16" y="22"/>
                      </a:lnTo>
                      <a:lnTo>
                        <a:pt x="0" y="22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1" name="Freeform 1564"/>
                <p:cNvSpPr>
                  <a:spLocks/>
                </p:cNvSpPr>
                <p:nvPr/>
              </p:nvSpPr>
              <p:spPr bwMode="auto">
                <a:xfrm>
                  <a:off x="3855" y="1532"/>
                  <a:ext cx="250" cy="41"/>
                </a:xfrm>
                <a:custGeom>
                  <a:avLst/>
                  <a:gdLst>
                    <a:gd name="T0" fmla="*/ 0 w 250"/>
                    <a:gd name="T1" fmla="*/ 40 h 41"/>
                    <a:gd name="T2" fmla="*/ 249 w 250"/>
                    <a:gd name="T3" fmla="*/ 40 h 41"/>
                    <a:gd name="T4" fmla="*/ 240 w 250"/>
                    <a:gd name="T5" fmla="*/ 0 h 41"/>
                    <a:gd name="T6" fmla="*/ 10 w 250"/>
                    <a:gd name="T7" fmla="*/ 0 h 41"/>
                    <a:gd name="T8" fmla="*/ 0 w 250"/>
                    <a:gd name="T9" fmla="*/ 40 h 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0"/>
                    <a:gd name="T16" fmla="*/ 0 h 41"/>
                    <a:gd name="T17" fmla="*/ 250 w 250"/>
                    <a:gd name="T18" fmla="*/ 41 h 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0" h="41">
                      <a:moveTo>
                        <a:pt x="0" y="40"/>
                      </a:moveTo>
                      <a:lnTo>
                        <a:pt x="249" y="40"/>
                      </a:lnTo>
                      <a:lnTo>
                        <a:pt x="240" y="0"/>
                      </a:lnTo>
                      <a:lnTo>
                        <a:pt x="10" y="0"/>
                      </a:lnTo>
                      <a:lnTo>
                        <a:pt x="0" y="40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2" name="Freeform 1565"/>
                <p:cNvSpPr>
                  <a:spLocks/>
                </p:cNvSpPr>
                <p:nvPr/>
              </p:nvSpPr>
              <p:spPr bwMode="auto">
                <a:xfrm>
                  <a:off x="3855" y="1572"/>
                  <a:ext cx="251" cy="17"/>
                </a:xfrm>
                <a:custGeom>
                  <a:avLst/>
                  <a:gdLst>
                    <a:gd name="T0" fmla="*/ 0 w 251"/>
                    <a:gd name="T1" fmla="*/ 16 h 17"/>
                    <a:gd name="T2" fmla="*/ 0 w 251"/>
                    <a:gd name="T3" fmla="*/ 0 h 17"/>
                    <a:gd name="T4" fmla="*/ 249 w 251"/>
                    <a:gd name="T5" fmla="*/ 0 h 17"/>
                    <a:gd name="T6" fmla="*/ 250 w 251"/>
                    <a:gd name="T7" fmla="*/ 16 h 17"/>
                    <a:gd name="T8" fmla="*/ 0 w 251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1"/>
                    <a:gd name="T16" fmla="*/ 0 h 17"/>
                    <a:gd name="T17" fmla="*/ 251 w 251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1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249" y="0"/>
                      </a:lnTo>
                      <a:lnTo>
                        <a:pt x="250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CCCC6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93" name="Freeform 1566"/>
                <p:cNvSpPr>
                  <a:spLocks/>
                </p:cNvSpPr>
                <p:nvPr/>
              </p:nvSpPr>
              <p:spPr bwMode="auto">
                <a:xfrm>
                  <a:off x="3872" y="1538"/>
                  <a:ext cx="223" cy="28"/>
                </a:xfrm>
                <a:custGeom>
                  <a:avLst/>
                  <a:gdLst>
                    <a:gd name="T0" fmla="*/ 0 w 223"/>
                    <a:gd name="T1" fmla="*/ 27 h 28"/>
                    <a:gd name="T2" fmla="*/ 222 w 223"/>
                    <a:gd name="T3" fmla="*/ 27 h 28"/>
                    <a:gd name="T4" fmla="*/ 214 w 223"/>
                    <a:gd name="T5" fmla="*/ 0 h 28"/>
                    <a:gd name="T6" fmla="*/ 8 w 223"/>
                    <a:gd name="T7" fmla="*/ 0 h 28"/>
                    <a:gd name="T8" fmla="*/ 0 w 223"/>
                    <a:gd name="T9" fmla="*/ 27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3"/>
                    <a:gd name="T16" fmla="*/ 0 h 28"/>
                    <a:gd name="T17" fmla="*/ 223 w 223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3" h="28">
                      <a:moveTo>
                        <a:pt x="0" y="27"/>
                      </a:moveTo>
                      <a:lnTo>
                        <a:pt x="222" y="27"/>
                      </a:lnTo>
                      <a:lnTo>
                        <a:pt x="214" y="0"/>
                      </a:lnTo>
                      <a:lnTo>
                        <a:pt x="8" y="0"/>
                      </a:lnTo>
                      <a:lnTo>
                        <a:pt x="0" y="27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0280" name="Group 1567"/>
              <p:cNvGrpSpPr>
                <a:grpSpLocks/>
              </p:cNvGrpSpPr>
              <p:nvPr/>
            </p:nvGrpSpPr>
            <p:grpSpPr bwMode="auto">
              <a:xfrm>
                <a:off x="3784" y="2186"/>
                <a:ext cx="244" cy="175"/>
                <a:chOff x="3840" y="1279"/>
                <a:chExt cx="266" cy="310"/>
              </a:xfrm>
            </p:grpSpPr>
            <p:sp>
              <p:nvSpPr>
                <p:cNvPr id="10282" name="Freeform 1568"/>
                <p:cNvSpPr>
                  <a:spLocks/>
                </p:cNvSpPr>
                <p:nvPr/>
              </p:nvSpPr>
              <p:spPr bwMode="auto">
                <a:xfrm>
                  <a:off x="3848" y="1548"/>
                  <a:ext cx="206" cy="20"/>
                </a:xfrm>
                <a:custGeom>
                  <a:avLst/>
                  <a:gdLst>
                    <a:gd name="T0" fmla="*/ 0 w 206"/>
                    <a:gd name="T1" fmla="*/ 19 h 20"/>
                    <a:gd name="T2" fmla="*/ 0 w 206"/>
                    <a:gd name="T3" fmla="*/ 0 h 20"/>
                    <a:gd name="T4" fmla="*/ 205 w 206"/>
                    <a:gd name="T5" fmla="*/ 0 h 20"/>
                    <a:gd name="T6" fmla="*/ 205 w 206"/>
                    <a:gd name="T7" fmla="*/ 19 h 20"/>
                    <a:gd name="T8" fmla="*/ 0 w 206"/>
                    <a:gd name="T9" fmla="*/ 19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6"/>
                    <a:gd name="T16" fmla="*/ 0 h 20"/>
                    <a:gd name="T17" fmla="*/ 206 w 206"/>
                    <a:gd name="T18" fmla="*/ 20 h 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6" h="20">
                      <a:moveTo>
                        <a:pt x="0" y="19"/>
                      </a:moveTo>
                      <a:lnTo>
                        <a:pt x="0" y="0"/>
                      </a:lnTo>
                      <a:lnTo>
                        <a:pt x="205" y="0"/>
                      </a:lnTo>
                      <a:lnTo>
                        <a:pt x="205" y="19"/>
                      </a:lnTo>
                      <a:lnTo>
                        <a:pt x="0" y="19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83" name="Freeform 1569"/>
                <p:cNvSpPr>
                  <a:spLocks/>
                </p:cNvSpPr>
                <p:nvPr/>
              </p:nvSpPr>
              <p:spPr bwMode="auto">
                <a:xfrm>
                  <a:off x="3840" y="1453"/>
                  <a:ext cx="220" cy="34"/>
                </a:xfrm>
                <a:custGeom>
                  <a:avLst/>
                  <a:gdLst>
                    <a:gd name="T0" fmla="*/ 189 w 220"/>
                    <a:gd name="T1" fmla="*/ 0 h 34"/>
                    <a:gd name="T2" fmla="*/ 219 w 220"/>
                    <a:gd name="T3" fmla="*/ 33 h 34"/>
                    <a:gd name="T4" fmla="*/ 0 w 220"/>
                    <a:gd name="T5" fmla="*/ 33 h 34"/>
                    <a:gd name="T6" fmla="*/ 29 w 220"/>
                    <a:gd name="T7" fmla="*/ 0 h 34"/>
                    <a:gd name="T8" fmla="*/ 189 w 220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34"/>
                    <a:gd name="T17" fmla="*/ 220 w 220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34">
                      <a:moveTo>
                        <a:pt x="189" y="0"/>
                      </a:moveTo>
                      <a:lnTo>
                        <a:pt x="219" y="33"/>
                      </a:lnTo>
                      <a:lnTo>
                        <a:pt x="0" y="33"/>
                      </a:lnTo>
                      <a:lnTo>
                        <a:pt x="29" y="0"/>
                      </a:lnTo>
                      <a:lnTo>
                        <a:pt x="189" y="0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84" name="Freeform 1570"/>
                <p:cNvSpPr>
                  <a:spLocks/>
                </p:cNvSpPr>
                <p:nvPr/>
              </p:nvSpPr>
              <p:spPr bwMode="auto">
                <a:xfrm>
                  <a:off x="3897" y="1449"/>
                  <a:ext cx="104" cy="24"/>
                </a:xfrm>
                <a:custGeom>
                  <a:avLst/>
                  <a:gdLst>
                    <a:gd name="T0" fmla="*/ 102 w 104"/>
                    <a:gd name="T1" fmla="*/ 10 h 24"/>
                    <a:gd name="T2" fmla="*/ 101 w 104"/>
                    <a:gd name="T3" fmla="*/ 8 h 24"/>
                    <a:gd name="T4" fmla="*/ 97 w 104"/>
                    <a:gd name="T5" fmla="*/ 6 h 24"/>
                    <a:gd name="T6" fmla="*/ 93 w 104"/>
                    <a:gd name="T7" fmla="*/ 4 h 24"/>
                    <a:gd name="T8" fmla="*/ 87 w 104"/>
                    <a:gd name="T9" fmla="*/ 3 h 24"/>
                    <a:gd name="T10" fmla="*/ 80 w 104"/>
                    <a:gd name="T11" fmla="*/ 2 h 24"/>
                    <a:gd name="T12" fmla="*/ 72 w 104"/>
                    <a:gd name="T13" fmla="*/ 1 h 24"/>
                    <a:gd name="T14" fmla="*/ 64 w 104"/>
                    <a:gd name="T15" fmla="*/ 0 h 24"/>
                    <a:gd name="T16" fmla="*/ 55 w 104"/>
                    <a:gd name="T17" fmla="*/ 0 h 24"/>
                    <a:gd name="T18" fmla="*/ 46 w 104"/>
                    <a:gd name="T19" fmla="*/ 0 h 24"/>
                    <a:gd name="T20" fmla="*/ 37 w 104"/>
                    <a:gd name="T21" fmla="*/ 0 h 24"/>
                    <a:gd name="T22" fmla="*/ 29 w 104"/>
                    <a:gd name="T23" fmla="*/ 1 h 24"/>
                    <a:gd name="T24" fmla="*/ 21 w 104"/>
                    <a:gd name="T25" fmla="*/ 2 h 24"/>
                    <a:gd name="T26" fmla="*/ 14 w 104"/>
                    <a:gd name="T27" fmla="*/ 3 h 24"/>
                    <a:gd name="T28" fmla="*/ 8 w 104"/>
                    <a:gd name="T29" fmla="*/ 4 h 24"/>
                    <a:gd name="T30" fmla="*/ 4 w 104"/>
                    <a:gd name="T31" fmla="*/ 6 h 24"/>
                    <a:gd name="T32" fmla="*/ 1 w 104"/>
                    <a:gd name="T33" fmla="*/ 8 h 24"/>
                    <a:gd name="T34" fmla="*/ 0 w 104"/>
                    <a:gd name="T35" fmla="*/ 10 h 24"/>
                    <a:gd name="T36" fmla="*/ 0 w 104"/>
                    <a:gd name="T37" fmla="*/ 12 h 24"/>
                    <a:gd name="T38" fmla="*/ 1 w 104"/>
                    <a:gd name="T39" fmla="*/ 14 h 24"/>
                    <a:gd name="T40" fmla="*/ 4 w 104"/>
                    <a:gd name="T41" fmla="*/ 16 h 24"/>
                    <a:gd name="T42" fmla="*/ 8 w 104"/>
                    <a:gd name="T43" fmla="*/ 17 h 24"/>
                    <a:gd name="T44" fmla="*/ 14 w 104"/>
                    <a:gd name="T45" fmla="*/ 19 h 24"/>
                    <a:gd name="T46" fmla="*/ 21 w 104"/>
                    <a:gd name="T47" fmla="*/ 20 h 24"/>
                    <a:gd name="T48" fmla="*/ 29 w 104"/>
                    <a:gd name="T49" fmla="*/ 21 h 24"/>
                    <a:gd name="T50" fmla="*/ 37 w 104"/>
                    <a:gd name="T51" fmla="*/ 22 h 24"/>
                    <a:gd name="T52" fmla="*/ 46 w 104"/>
                    <a:gd name="T53" fmla="*/ 23 h 24"/>
                    <a:gd name="T54" fmla="*/ 55 w 104"/>
                    <a:gd name="T55" fmla="*/ 23 h 24"/>
                    <a:gd name="T56" fmla="*/ 64 w 104"/>
                    <a:gd name="T57" fmla="*/ 22 h 24"/>
                    <a:gd name="T58" fmla="*/ 72 w 104"/>
                    <a:gd name="T59" fmla="*/ 21 h 24"/>
                    <a:gd name="T60" fmla="*/ 80 w 104"/>
                    <a:gd name="T61" fmla="*/ 20 h 24"/>
                    <a:gd name="T62" fmla="*/ 87 w 104"/>
                    <a:gd name="T63" fmla="*/ 19 h 24"/>
                    <a:gd name="T64" fmla="*/ 93 w 104"/>
                    <a:gd name="T65" fmla="*/ 17 h 24"/>
                    <a:gd name="T66" fmla="*/ 97 w 104"/>
                    <a:gd name="T67" fmla="*/ 16 h 24"/>
                    <a:gd name="T68" fmla="*/ 101 w 104"/>
                    <a:gd name="T69" fmla="*/ 14 h 24"/>
                    <a:gd name="T70" fmla="*/ 102 w 104"/>
                    <a:gd name="T71" fmla="*/ 12 h 24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104"/>
                    <a:gd name="T109" fmla="*/ 0 h 24"/>
                    <a:gd name="T110" fmla="*/ 104 w 104"/>
                    <a:gd name="T111" fmla="*/ 24 h 24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104" h="24">
                      <a:moveTo>
                        <a:pt x="103" y="11"/>
                      </a:moveTo>
                      <a:lnTo>
                        <a:pt x="102" y="10"/>
                      </a:lnTo>
                      <a:lnTo>
                        <a:pt x="102" y="9"/>
                      </a:lnTo>
                      <a:lnTo>
                        <a:pt x="101" y="8"/>
                      </a:lnTo>
                      <a:lnTo>
                        <a:pt x="99" y="7"/>
                      </a:lnTo>
                      <a:lnTo>
                        <a:pt x="97" y="6"/>
                      </a:lnTo>
                      <a:lnTo>
                        <a:pt x="95" y="6"/>
                      </a:lnTo>
                      <a:lnTo>
                        <a:pt x="93" y="4"/>
                      </a:lnTo>
                      <a:lnTo>
                        <a:pt x="90" y="4"/>
                      </a:lnTo>
                      <a:lnTo>
                        <a:pt x="87" y="3"/>
                      </a:lnTo>
                      <a:lnTo>
                        <a:pt x="84" y="2"/>
                      </a:lnTo>
                      <a:lnTo>
                        <a:pt x="80" y="2"/>
                      </a:lnTo>
                      <a:lnTo>
                        <a:pt x="76" y="1"/>
                      </a:lnTo>
                      <a:lnTo>
                        <a:pt x="72" y="1"/>
                      </a:lnTo>
                      <a:lnTo>
                        <a:pt x="69" y="0"/>
                      </a:lnTo>
                      <a:lnTo>
                        <a:pt x="64" y="0"/>
                      </a:lnTo>
                      <a:lnTo>
                        <a:pt x="60" y="0"/>
                      </a:lnTo>
                      <a:lnTo>
                        <a:pt x="55" y="0"/>
                      </a:lnTo>
                      <a:lnTo>
                        <a:pt x="51" y="0"/>
                      </a:lnTo>
                      <a:lnTo>
                        <a:pt x="46" y="0"/>
                      </a:lnTo>
                      <a:lnTo>
                        <a:pt x="42" y="0"/>
                      </a:lnTo>
                      <a:lnTo>
                        <a:pt x="37" y="0"/>
                      </a:lnTo>
                      <a:lnTo>
                        <a:pt x="33" y="0"/>
                      </a:lnTo>
                      <a:lnTo>
                        <a:pt x="29" y="1"/>
                      </a:lnTo>
                      <a:lnTo>
                        <a:pt x="25" y="1"/>
                      </a:lnTo>
                      <a:lnTo>
                        <a:pt x="21" y="2"/>
                      </a:lnTo>
                      <a:lnTo>
                        <a:pt x="17" y="2"/>
                      </a:lnTo>
                      <a:lnTo>
                        <a:pt x="14" y="3"/>
                      </a:lnTo>
                      <a:lnTo>
                        <a:pt x="12" y="4"/>
                      </a:lnTo>
                      <a:lnTo>
                        <a:pt x="8" y="4"/>
                      </a:lnTo>
                      <a:lnTo>
                        <a:pt x="6" y="6"/>
                      </a:lnTo>
                      <a:lnTo>
                        <a:pt x="4" y="6"/>
                      </a:lnTo>
                      <a:lnTo>
                        <a:pt x="3" y="7"/>
                      </a:lnTo>
                      <a:lnTo>
                        <a:pt x="1" y="8"/>
                      </a:lnTo>
                      <a:lnTo>
                        <a:pt x="0" y="9"/>
                      </a:lnTo>
                      <a:lnTo>
                        <a:pt x="0" y="10"/>
                      </a:lnTo>
                      <a:lnTo>
                        <a:pt x="0" y="11"/>
                      </a:lnTo>
                      <a:lnTo>
                        <a:pt x="0" y="12"/>
                      </a:lnTo>
                      <a:lnTo>
                        <a:pt x="0" y="13"/>
                      </a:lnTo>
                      <a:lnTo>
                        <a:pt x="1" y="14"/>
                      </a:lnTo>
                      <a:lnTo>
                        <a:pt x="3" y="15"/>
                      </a:lnTo>
                      <a:lnTo>
                        <a:pt x="4" y="16"/>
                      </a:lnTo>
                      <a:lnTo>
                        <a:pt x="6" y="17"/>
                      </a:lnTo>
                      <a:lnTo>
                        <a:pt x="8" y="17"/>
                      </a:lnTo>
                      <a:lnTo>
                        <a:pt x="12" y="18"/>
                      </a:lnTo>
                      <a:lnTo>
                        <a:pt x="14" y="19"/>
                      </a:lnTo>
                      <a:lnTo>
                        <a:pt x="17" y="20"/>
                      </a:lnTo>
                      <a:lnTo>
                        <a:pt x="21" y="20"/>
                      </a:lnTo>
                      <a:lnTo>
                        <a:pt x="25" y="21"/>
                      </a:lnTo>
                      <a:lnTo>
                        <a:pt x="29" y="21"/>
                      </a:lnTo>
                      <a:lnTo>
                        <a:pt x="33" y="22"/>
                      </a:lnTo>
                      <a:lnTo>
                        <a:pt x="37" y="22"/>
                      </a:lnTo>
                      <a:lnTo>
                        <a:pt x="42" y="22"/>
                      </a:lnTo>
                      <a:lnTo>
                        <a:pt x="46" y="23"/>
                      </a:lnTo>
                      <a:lnTo>
                        <a:pt x="51" y="23"/>
                      </a:lnTo>
                      <a:lnTo>
                        <a:pt x="55" y="23"/>
                      </a:lnTo>
                      <a:lnTo>
                        <a:pt x="60" y="22"/>
                      </a:lnTo>
                      <a:lnTo>
                        <a:pt x="64" y="22"/>
                      </a:lnTo>
                      <a:lnTo>
                        <a:pt x="69" y="22"/>
                      </a:lnTo>
                      <a:lnTo>
                        <a:pt x="72" y="21"/>
                      </a:lnTo>
                      <a:lnTo>
                        <a:pt x="76" y="21"/>
                      </a:lnTo>
                      <a:lnTo>
                        <a:pt x="80" y="20"/>
                      </a:lnTo>
                      <a:lnTo>
                        <a:pt x="84" y="20"/>
                      </a:lnTo>
                      <a:lnTo>
                        <a:pt x="87" y="19"/>
                      </a:lnTo>
                      <a:lnTo>
                        <a:pt x="90" y="18"/>
                      </a:lnTo>
                      <a:lnTo>
                        <a:pt x="93" y="17"/>
                      </a:lnTo>
                      <a:lnTo>
                        <a:pt x="95" y="17"/>
                      </a:lnTo>
                      <a:lnTo>
                        <a:pt x="97" y="16"/>
                      </a:lnTo>
                      <a:lnTo>
                        <a:pt x="99" y="15"/>
                      </a:lnTo>
                      <a:lnTo>
                        <a:pt x="101" y="14"/>
                      </a:lnTo>
                      <a:lnTo>
                        <a:pt x="102" y="13"/>
                      </a:lnTo>
                      <a:lnTo>
                        <a:pt x="102" y="12"/>
                      </a:lnTo>
                      <a:lnTo>
                        <a:pt x="103" y="11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85" name="Freeform 1571"/>
                <p:cNvSpPr>
                  <a:spLocks/>
                </p:cNvSpPr>
                <p:nvPr/>
              </p:nvSpPr>
              <p:spPr bwMode="auto">
                <a:xfrm>
                  <a:off x="3897" y="1461"/>
                  <a:ext cx="104" cy="17"/>
                </a:xfrm>
                <a:custGeom>
                  <a:avLst/>
                  <a:gdLst>
                    <a:gd name="T0" fmla="*/ 102 w 104"/>
                    <a:gd name="T1" fmla="*/ 6 h 17"/>
                    <a:gd name="T2" fmla="*/ 101 w 104"/>
                    <a:gd name="T3" fmla="*/ 8 h 17"/>
                    <a:gd name="T4" fmla="*/ 97 w 104"/>
                    <a:gd name="T5" fmla="*/ 10 h 17"/>
                    <a:gd name="T6" fmla="*/ 93 w 104"/>
                    <a:gd name="T7" fmla="*/ 11 h 17"/>
                    <a:gd name="T8" fmla="*/ 87 w 104"/>
                    <a:gd name="T9" fmla="*/ 12 h 17"/>
                    <a:gd name="T10" fmla="*/ 80 w 104"/>
                    <a:gd name="T11" fmla="*/ 14 h 17"/>
                    <a:gd name="T12" fmla="*/ 72 w 104"/>
                    <a:gd name="T13" fmla="*/ 14 h 17"/>
                    <a:gd name="T14" fmla="*/ 64 w 104"/>
                    <a:gd name="T15" fmla="*/ 15 h 17"/>
                    <a:gd name="T16" fmla="*/ 55 w 104"/>
                    <a:gd name="T17" fmla="*/ 16 h 17"/>
                    <a:gd name="T18" fmla="*/ 46 w 104"/>
                    <a:gd name="T19" fmla="*/ 16 h 17"/>
                    <a:gd name="T20" fmla="*/ 37 w 104"/>
                    <a:gd name="T21" fmla="*/ 15 h 17"/>
                    <a:gd name="T22" fmla="*/ 29 w 104"/>
                    <a:gd name="T23" fmla="*/ 14 h 17"/>
                    <a:gd name="T24" fmla="*/ 21 w 104"/>
                    <a:gd name="T25" fmla="*/ 14 h 17"/>
                    <a:gd name="T26" fmla="*/ 14 w 104"/>
                    <a:gd name="T27" fmla="*/ 12 h 17"/>
                    <a:gd name="T28" fmla="*/ 8 w 104"/>
                    <a:gd name="T29" fmla="*/ 11 h 17"/>
                    <a:gd name="T30" fmla="*/ 4 w 104"/>
                    <a:gd name="T31" fmla="*/ 10 h 17"/>
                    <a:gd name="T32" fmla="*/ 1 w 104"/>
                    <a:gd name="T33" fmla="*/ 8 h 17"/>
                    <a:gd name="T34" fmla="*/ 0 w 104"/>
                    <a:gd name="T35" fmla="*/ 6 h 17"/>
                    <a:gd name="T36" fmla="*/ 0 w 104"/>
                    <a:gd name="T37" fmla="*/ 0 h 17"/>
                    <a:gd name="T38" fmla="*/ 0 w 104"/>
                    <a:gd name="T39" fmla="*/ 2 h 17"/>
                    <a:gd name="T40" fmla="*/ 3 w 104"/>
                    <a:gd name="T41" fmla="*/ 4 h 17"/>
                    <a:gd name="T42" fmla="*/ 6 w 104"/>
                    <a:gd name="T43" fmla="*/ 5 h 17"/>
                    <a:gd name="T44" fmla="*/ 12 w 104"/>
                    <a:gd name="T45" fmla="*/ 6 h 17"/>
                    <a:gd name="T46" fmla="*/ 17 w 104"/>
                    <a:gd name="T47" fmla="*/ 8 h 17"/>
                    <a:gd name="T48" fmla="*/ 25 w 104"/>
                    <a:gd name="T49" fmla="*/ 9 h 17"/>
                    <a:gd name="T50" fmla="*/ 33 w 104"/>
                    <a:gd name="T51" fmla="*/ 10 h 17"/>
                    <a:gd name="T52" fmla="*/ 42 w 104"/>
                    <a:gd name="T53" fmla="*/ 10 h 17"/>
                    <a:gd name="T54" fmla="*/ 51 w 104"/>
                    <a:gd name="T55" fmla="*/ 10 h 17"/>
                    <a:gd name="T56" fmla="*/ 60 w 104"/>
                    <a:gd name="T57" fmla="*/ 10 h 17"/>
                    <a:gd name="T58" fmla="*/ 69 w 104"/>
                    <a:gd name="T59" fmla="*/ 10 h 17"/>
                    <a:gd name="T60" fmla="*/ 76 w 104"/>
                    <a:gd name="T61" fmla="*/ 9 h 17"/>
                    <a:gd name="T62" fmla="*/ 84 w 104"/>
                    <a:gd name="T63" fmla="*/ 8 h 17"/>
                    <a:gd name="T64" fmla="*/ 90 w 104"/>
                    <a:gd name="T65" fmla="*/ 6 h 17"/>
                    <a:gd name="T66" fmla="*/ 95 w 104"/>
                    <a:gd name="T67" fmla="*/ 5 h 17"/>
                    <a:gd name="T68" fmla="*/ 99 w 104"/>
                    <a:gd name="T69" fmla="*/ 4 h 17"/>
                    <a:gd name="T70" fmla="*/ 102 w 104"/>
                    <a:gd name="T71" fmla="*/ 2 h 17"/>
                    <a:gd name="T72" fmla="*/ 103 w 104"/>
                    <a:gd name="T73" fmla="*/ 0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04"/>
                    <a:gd name="T112" fmla="*/ 0 h 17"/>
                    <a:gd name="T113" fmla="*/ 104 w 104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04" h="17">
                      <a:moveTo>
                        <a:pt x="103" y="5"/>
                      </a:moveTo>
                      <a:lnTo>
                        <a:pt x="102" y="6"/>
                      </a:lnTo>
                      <a:lnTo>
                        <a:pt x="102" y="7"/>
                      </a:lnTo>
                      <a:lnTo>
                        <a:pt x="101" y="8"/>
                      </a:lnTo>
                      <a:lnTo>
                        <a:pt x="99" y="8"/>
                      </a:lnTo>
                      <a:lnTo>
                        <a:pt x="97" y="10"/>
                      </a:lnTo>
                      <a:lnTo>
                        <a:pt x="95" y="10"/>
                      </a:lnTo>
                      <a:lnTo>
                        <a:pt x="93" y="11"/>
                      </a:lnTo>
                      <a:lnTo>
                        <a:pt x="90" y="12"/>
                      </a:lnTo>
                      <a:lnTo>
                        <a:pt x="87" y="12"/>
                      </a:lnTo>
                      <a:lnTo>
                        <a:pt x="84" y="13"/>
                      </a:lnTo>
                      <a:lnTo>
                        <a:pt x="80" y="14"/>
                      </a:lnTo>
                      <a:lnTo>
                        <a:pt x="76" y="14"/>
                      </a:lnTo>
                      <a:lnTo>
                        <a:pt x="72" y="14"/>
                      </a:lnTo>
                      <a:lnTo>
                        <a:pt x="69" y="15"/>
                      </a:lnTo>
                      <a:lnTo>
                        <a:pt x="64" y="15"/>
                      </a:lnTo>
                      <a:lnTo>
                        <a:pt x="60" y="16"/>
                      </a:lnTo>
                      <a:lnTo>
                        <a:pt x="55" y="16"/>
                      </a:lnTo>
                      <a:lnTo>
                        <a:pt x="51" y="16"/>
                      </a:lnTo>
                      <a:lnTo>
                        <a:pt x="46" y="16"/>
                      </a:lnTo>
                      <a:lnTo>
                        <a:pt x="42" y="16"/>
                      </a:lnTo>
                      <a:lnTo>
                        <a:pt x="37" y="15"/>
                      </a:lnTo>
                      <a:lnTo>
                        <a:pt x="33" y="15"/>
                      </a:lnTo>
                      <a:lnTo>
                        <a:pt x="29" y="14"/>
                      </a:lnTo>
                      <a:lnTo>
                        <a:pt x="25" y="14"/>
                      </a:lnTo>
                      <a:lnTo>
                        <a:pt x="21" y="14"/>
                      </a:lnTo>
                      <a:lnTo>
                        <a:pt x="17" y="13"/>
                      </a:lnTo>
                      <a:lnTo>
                        <a:pt x="14" y="12"/>
                      </a:lnTo>
                      <a:lnTo>
                        <a:pt x="12" y="12"/>
                      </a:lnTo>
                      <a:lnTo>
                        <a:pt x="8" y="11"/>
                      </a:lnTo>
                      <a:lnTo>
                        <a:pt x="6" y="10"/>
                      </a:lnTo>
                      <a:lnTo>
                        <a:pt x="4" y="10"/>
                      </a:lnTo>
                      <a:lnTo>
                        <a:pt x="3" y="8"/>
                      </a:lnTo>
                      <a:lnTo>
                        <a:pt x="1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1" y="2"/>
                      </a:lnTo>
                      <a:lnTo>
                        <a:pt x="3" y="4"/>
                      </a:lnTo>
                      <a:lnTo>
                        <a:pt x="4" y="4"/>
                      </a:lnTo>
                      <a:lnTo>
                        <a:pt x="6" y="5"/>
                      </a:lnTo>
                      <a:lnTo>
                        <a:pt x="8" y="6"/>
                      </a:lnTo>
                      <a:lnTo>
                        <a:pt x="12" y="6"/>
                      </a:lnTo>
                      <a:lnTo>
                        <a:pt x="14" y="7"/>
                      </a:lnTo>
                      <a:lnTo>
                        <a:pt x="17" y="8"/>
                      </a:lnTo>
                      <a:lnTo>
                        <a:pt x="21" y="8"/>
                      </a:lnTo>
                      <a:lnTo>
                        <a:pt x="25" y="9"/>
                      </a:lnTo>
                      <a:lnTo>
                        <a:pt x="29" y="10"/>
                      </a:lnTo>
                      <a:lnTo>
                        <a:pt x="33" y="10"/>
                      </a:lnTo>
                      <a:lnTo>
                        <a:pt x="37" y="10"/>
                      </a:lnTo>
                      <a:lnTo>
                        <a:pt x="42" y="10"/>
                      </a:lnTo>
                      <a:lnTo>
                        <a:pt x="46" y="10"/>
                      </a:lnTo>
                      <a:lnTo>
                        <a:pt x="51" y="10"/>
                      </a:lnTo>
                      <a:lnTo>
                        <a:pt x="55" y="10"/>
                      </a:lnTo>
                      <a:lnTo>
                        <a:pt x="60" y="10"/>
                      </a:lnTo>
                      <a:lnTo>
                        <a:pt x="64" y="10"/>
                      </a:lnTo>
                      <a:lnTo>
                        <a:pt x="69" y="10"/>
                      </a:lnTo>
                      <a:lnTo>
                        <a:pt x="72" y="10"/>
                      </a:lnTo>
                      <a:lnTo>
                        <a:pt x="76" y="9"/>
                      </a:lnTo>
                      <a:lnTo>
                        <a:pt x="80" y="8"/>
                      </a:lnTo>
                      <a:lnTo>
                        <a:pt x="84" y="8"/>
                      </a:lnTo>
                      <a:lnTo>
                        <a:pt x="87" y="7"/>
                      </a:lnTo>
                      <a:lnTo>
                        <a:pt x="90" y="6"/>
                      </a:lnTo>
                      <a:lnTo>
                        <a:pt x="93" y="6"/>
                      </a:lnTo>
                      <a:lnTo>
                        <a:pt x="95" y="5"/>
                      </a:lnTo>
                      <a:lnTo>
                        <a:pt x="97" y="4"/>
                      </a:lnTo>
                      <a:lnTo>
                        <a:pt x="99" y="4"/>
                      </a:lnTo>
                      <a:lnTo>
                        <a:pt x="101" y="2"/>
                      </a:lnTo>
                      <a:lnTo>
                        <a:pt x="102" y="2"/>
                      </a:lnTo>
                      <a:lnTo>
                        <a:pt x="102" y="1"/>
                      </a:lnTo>
                      <a:lnTo>
                        <a:pt x="103" y="0"/>
                      </a:lnTo>
                      <a:lnTo>
                        <a:pt x="103" y="5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86" name="Freeform 1572"/>
                <p:cNvSpPr>
                  <a:spLocks/>
                </p:cNvSpPr>
                <p:nvPr/>
              </p:nvSpPr>
              <p:spPr bwMode="auto">
                <a:xfrm>
                  <a:off x="3840" y="1486"/>
                  <a:ext cx="220" cy="77"/>
                </a:xfrm>
                <a:custGeom>
                  <a:avLst/>
                  <a:gdLst>
                    <a:gd name="T0" fmla="*/ 0 w 220"/>
                    <a:gd name="T1" fmla="*/ 76 h 77"/>
                    <a:gd name="T2" fmla="*/ 219 w 220"/>
                    <a:gd name="T3" fmla="*/ 76 h 77"/>
                    <a:gd name="T4" fmla="*/ 219 w 220"/>
                    <a:gd name="T5" fmla="*/ 0 h 77"/>
                    <a:gd name="T6" fmla="*/ 0 w 220"/>
                    <a:gd name="T7" fmla="*/ 0 h 77"/>
                    <a:gd name="T8" fmla="*/ 0 w 220"/>
                    <a:gd name="T9" fmla="*/ 76 h 7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77"/>
                    <a:gd name="T17" fmla="*/ 220 w 220"/>
                    <a:gd name="T18" fmla="*/ 77 h 7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77">
                      <a:moveTo>
                        <a:pt x="0" y="76"/>
                      </a:moveTo>
                      <a:lnTo>
                        <a:pt x="219" y="76"/>
                      </a:lnTo>
                      <a:lnTo>
                        <a:pt x="219" y="0"/>
                      </a:lnTo>
                      <a:lnTo>
                        <a:pt x="0" y="0"/>
                      </a:lnTo>
                      <a:lnTo>
                        <a:pt x="0" y="76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87" name="Freeform 1573"/>
                <p:cNvSpPr>
                  <a:spLocks/>
                </p:cNvSpPr>
                <p:nvPr/>
              </p:nvSpPr>
              <p:spPr bwMode="auto">
                <a:xfrm>
                  <a:off x="3875" y="1449"/>
                  <a:ext cx="69" cy="17"/>
                </a:xfrm>
                <a:custGeom>
                  <a:avLst/>
                  <a:gdLst>
                    <a:gd name="T0" fmla="*/ 0 w 69"/>
                    <a:gd name="T1" fmla="*/ 16 h 17"/>
                    <a:gd name="T2" fmla="*/ 0 w 69"/>
                    <a:gd name="T3" fmla="*/ 0 h 17"/>
                    <a:gd name="T4" fmla="*/ 68 w 69"/>
                    <a:gd name="T5" fmla="*/ 0 h 17"/>
                    <a:gd name="T6" fmla="*/ 68 w 69"/>
                    <a:gd name="T7" fmla="*/ 16 h 17"/>
                    <a:gd name="T8" fmla="*/ 0 w 69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9"/>
                    <a:gd name="T16" fmla="*/ 0 h 17"/>
                    <a:gd name="T17" fmla="*/ 69 w 69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9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68" y="0"/>
                      </a:lnTo>
                      <a:lnTo>
                        <a:pt x="68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88" name="Freeform 1574"/>
                <p:cNvSpPr>
                  <a:spLocks/>
                </p:cNvSpPr>
                <p:nvPr/>
              </p:nvSpPr>
              <p:spPr bwMode="auto">
                <a:xfrm>
                  <a:off x="3931" y="1450"/>
                  <a:ext cx="94" cy="17"/>
                </a:xfrm>
                <a:custGeom>
                  <a:avLst/>
                  <a:gdLst>
                    <a:gd name="T0" fmla="*/ 0 w 94"/>
                    <a:gd name="T1" fmla="*/ 16 h 17"/>
                    <a:gd name="T2" fmla="*/ 0 w 94"/>
                    <a:gd name="T3" fmla="*/ 0 h 17"/>
                    <a:gd name="T4" fmla="*/ 93 w 94"/>
                    <a:gd name="T5" fmla="*/ 0 h 17"/>
                    <a:gd name="T6" fmla="*/ 93 w 94"/>
                    <a:gd name="T7" fmla="*/ 16 h 17"/>
                    <a:gd name="T8" fmla="*/ 0 w 94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4"/>
                    <a:gd name="T16" fmla="*/ 0 h 17"/>
                    <a:gd name="T17" fmla="*/ 94 w 9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4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93" y="0"/>
                      </a:lnTo>
                      <a:lnTo>
                        <a:pt x="93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89" name="Freeform 1575"/>
                <p:cNvSpPr>
                  <a:spLocks/>
                </p:cNvSpPr>
                <p:nvPr/>
              </p:nvSpPr>
              <p:spPr bwMode="auto">
                <a:xfrm>
                  <a:off x="3877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90" name="Freeform 1576"/>
                <p:cNvSpPr>
                  <a:spLocks/>
                </p:cNvSpPr>
                <p:nvPr/>
              </p:nvSpPr>
              <p:spPr bwMode="auto">
                <a:xfrm>
                  <a:off x="388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4 w 17"/>
                    <a:gd name="T7" fmla="*/ 16 h 17"/>
                    <a:gd name="T8" fmla="*/ 8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91" name="Freeform 1577"/>
                <p:cNvSpPr>
                  <a:spLocks/>
                </p:cNvSpPr>
                <p:nvPr/>
              </p:nvSpPr>
              <p:spPr bwMode="auto">
                <a:xfrm>
                  <a:off x="388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92" name="Freeform 1578"/>
                <p:cNvSpPr>
                  <a:spLocks/>
                </p:cNvSpPr>
                <p:nvPr/>
              </p:nvSpPr>
              <p:spPr bwMode="auto">
                <a:xfrm>
                  <a:off x="388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93" name="Freeform 1579"/>
                <p:cNvSpPr>
                  <a:spLocks/>
                </p:cNvSpPr>
                <p:nvPr/>
              </p:nvSpPr>
              <p:spPr bwMode="auto">
                <a:xfrm>
                  <a:off x="388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94" name="Freeform 1580"/>
                <p:cNvSpPr>
                  <a:spLocks/>
                </p:cNvSpPr>
                <p:nvPr/>
              </p:nvSpPr>
              <p:spPr bwMode="auto">
                <a:xfrm>
                  <a:off x="389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95" name="Freeform 1581"/>
                <p:cNvSpPr>
                  <a:spLocks/>
                </p:cNvSpPr>
                <p:nvPr/>
              </p:nvSpPr>
              <p:spPr bwMode="auto">
                <a:xfrm>
                  <a:off x="389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96" name="Freeform 1582"/>
                <p:cNvSpPr>
                  <a:spLocks/>
                </p:cNvSpPr>
                <p:nvPr/>
              </p:nvSpPr>
              <p:spPr bwMode="auto">
                <a:xfrm>
                  <a:off x="3894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97" name="Freeform 1583"/>
                <p:cNvSpPr>
                  <a:spLocks/>
                </p:cNvSpPr>
                <p:nvPr/>
              </p:nvSpPr>
              <p:spPr bwMode="auto">
                <a:xfrm>
                  <a:off x="389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98" name="Freeform 1584"/>
                <p:cNvSpPr>
                  <a:spLocks/>
                </p:cNvSpPr>
                <p:nvPr/>
              </p:nvSpPr>
              <p:spPr bwMode="auto">
                <a:xfrm>
                  <a:off x="390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99" name="Freeform 1585"/>
                <p:cNvSpPr>
                  <a:spLocks/>
                </p:cNvSpPr>
                <p:nvPr/>
              </p:nvSpPr>
              <p:spPr bwMode="auto">
                <a:xfrm>
                  <a:off x="390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0 w 17"/>
                    <a:gd name="T5" fmla="*/ 16 h 17"/>
                    <a:gd name="T6" fmla="*/ 8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0" y="16"/>
                      </a:lnTo>
                      <a:lnTo>
                        <a:pt x="8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00" name="Freeform 1586"/>
                <p:cNvSpPr>
                  <a:spLocks/>
                </p:cNvSpPr>
                <p:nvPr/>
              </p:nvSpPr>
              <p:spPr bwMode="auto">
                <a:xfrm>
                  <a:off x="390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6 h 17"/>
                    <a:gd name="T6" fmla="*/ 8 w 17"/>
                    <a:gd name="T7" fmla="*/ 16 h 17"/>
                    <a:gd name="T8" fmla="*/ 12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01" name="Freeform 1587"/>
                <p:cNvSpPr>
                  <a:spLocks/>
                </p:cNvSpPr>
                <p:nvPr/>
              </p:nvSpPr>
              <p:spPr bwMode="auto">
                <a:xfrm>
                  <a:off x="390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02" name="Freeform 1588"/>
                <p:cNvSpPr>
                  <a:spLocks/>
                </p:cNvSpPr>
                <p:nvPr/>
              </p:nvSpPr>
              <p:spPr bwMode="auto">
                <a:xfrm>
                  <a:off x="391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03" name="Freeform 1589"/>
                <p:cNvSpPr>
                  <a:spLocks/>
                </p:cNvSpPr>
                <p:nvPr/>
              </p:nvSpPr>
              <p:spPr bwMode="auto">
                <a:xfrm>
                  <a:off x="391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04" name="Freeform 1590"/>
                <p:cNvSpPr>
                  <a:spLocks/>
                </p:cNvSpPr>
                <p:nvPr/>
              </p:nvSpPr>
              <p:spPr bwMode="auto">
                <a:xfrm>
                  <a:off x="3916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05" name="Freeform 1591"/>
                <p:cNvSpPr>
                  <a:spLocks/>
                </p:cNvSpPr>
                <p:nvPr/>
              </p:nvSpPr>
              <p:spPr bwMode="auto">
                <a:xfrm>
                  <a:off x="391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06" name="Freeform 1592"/>
                <p:cNvSpPr>
                  <a:spLocks/>
                </p:cNvSpPr>
                <p:nvPr/>
              </p:nvSpPr>
              <p:spPr bwMode="auto">
                <a:xfrm>
                  <a:off x="3921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07" name="Freeform 1593"/>
                <p:cNvSpPr>
                  <a:spLocks/>
                </p:cNvSpPr>
                <p:nvPr/>
              </p:nvSpPr>
              <p:spPr bwMode="auto">
                <a:xfrm>
                  <a:off x="392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08" name="Freeform 1594"/>
                <p:cNvSpPr>
                  <a:spLocks/>
                </p:cNvSpPr>
                <p:nvPr/>
              </p:nvSpPr>
              <p:spPr bwMode="auto">
                <a:xfrm>
                  <a:off x="392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09" name="Freeform 1595"/>
                <p:cNvSpPr>
                  <a:spLocks/>
                </p:cNvSpPr>
                <p:nvPr/>
              </p:nvSpPr>
              <p:spPr bwMode="auto">
                <a:xfrm>
                  <a:off x="3855" y="1279"/>
                  <a:ext cx="187" cy="174"/>
                </a:xfrm>
                <a:custGeom>
                  <a:avLst/>
                  <a:gdLst>
                    <a:gd name="T0" fmla="*/ 180 w 187"/>
                    <a:gd name="T1" fmla="*/ 173 h 174"/>
                    <a:gd name="T2" fmla="*/ 180 w 187"/>
                    <a:gd name="T3" fmla="*/ 173 h 174"/>
                    <a:gd name="T4" fmla="*/ 180 w 187"/>
                    <a:gd name="T5" fmla="*/ 172 h 174"/>
                    <a:gd name="T6" fmla="*/ 182 w 187"/>
                    <a:gd name="T7" fmla="*/ 172 h 174"/>
                    <a:gd name="T8" fmla="*/ 182 w 187"/>
                    <a:gd name="T9" fmla="*/ 172 h 174"/>
                    <a:gd name="T10" fmla="*/ 183 w 187"/>
                    <a:gd name="T11" fmla="*/ 171 h 174"/>
                    <a:gd name="T12" fmla="*/ 183 w 187"/>
                    <a:gd name="T13" fmla="*/ 171 h 174"/>
                    <a:gd name="T14" fmla="*/ 184 w 187"/>
                    <a:gd name="T15" fmla="*/ 171 h 174"/>
                    <a:gd name="T16" fmla="*/ 184 w 187"/>
                    <a:gd name="T17" fmla="*/ 170 h 174"/>
                    <a:gd name="T18" fmla="*/ 184 w 187"/>
                    <a:gd name="T19" fmla="*/ 170 h 174"/>
                    <a:gd name="T20" fmla="*/ 184 w 187"/>
                    <a:gd name="T21" fmla="*/ 169 h 174"/>
                    <a:gd name="T22" fmla="*/ 185 w 187"/>
                    <a:gd name="T23" fmla="*/ 169 h 174"/>
                    <a:gd name="T24" fmla="*/ 185 w 187"/>
                    <a:gd name="T25" fmla="*/ 168 h 174"/>
                    <a:gd name="T26" fmla="*/ 186 w 187"/>
                    <a:gd name="T27" fmla="*/ 167 h 174"/>
                    <a:gd name="T28" fmla="*/ 186 w 187"/>
                    <a:gd name="T29" fmla="*/ 167 h 174"/>
                    <a:gd name="T30" fmla="*/ 186 w 187"/>
                    <a:gd name="T31" fmla="*/ 6 h 174"/>
                    <a:gd name="T32" fmla="*/ 186 w 187"/>
                    <a:gd name="T33" fmla="*/ 5 h 174"/>
                    <a:gd name="T34" fmla="*/ 186 w 187"/>
                    <a:gd name="T35" fmla="*/ 5 h 174"/>
                    <a:gd name="T36" fmla="*/ 185 w 187"/>
                    <a:gd name="T37" fmla="*/ 5 h 174"/>
                    <a:gd name="T38" fmla="*/ 185 w 187"/>
                    <a:gd name="T39" fmla="*/ 3 h 174"/>
                    <a:gd name="T40" fmla="*/ 184 w 187"/>
                    <a:gd name="T41" fmla="*/ 3 h 174"/>
                    <a:gd name="T42" fmla="*/ 184 w 187"/>
                    <a:gd name="T43" fmla="*/ 2 h 174"/>
                    <a:gd name="T44" fmla="*/ 184 w 187"/>
                    <a:gd name="T45" fmla="*/ 1 h 174"/>
                    <a:gd name="T46" fmla="*/ 183 w 187"/>
                    <a:gd name="T47" fmla="*/ 1 h 174"/>
                    <a:gd name="T48" fmla="*/ 183 w 187"/>
                    <a:gd name="T49" fmla="*/ 1 h 174"/>
                    <a:gd name="T50" fmla="*/ 182 w 187"/>
                    <a:gd name="T51" fmla="*/ 1 h 174"/>
                    <a:gd name="T52" fmla="*/ 182 w 187"/>
                    <a:gd name="T53" fmla="*/ 0 h 174"/>
                    <a:gd name="T54" fmla="*/ 180 w 187"/>
                    <a:gd name="T55" fmla="*/ 0 h 174"/>
                    <a:gd name="T56" fmla="*/ 180 w 187"/>
                    <a:gd name="T57" fmla="*/ 0 h 174"/>
                    <a:gd name="T58" fmla="*/ 180 w 187"/>
                    <a:gd name="T59" fmla="*/ 0 h 174"/>
                    <a:gd name="T60" fmla="*/ 5 w 187"/>
                    <a:gd name="T61" fmla="*/ 0 h 174"/>
                    <a:gd name="T62" fmla="*/ 4 w 187"/>
                    <a:gd name="T63" fmla="*/ 0 h 174"/>
                    <a:gd name="T64" fmla="*/ 3 w 187"/>
                    <a:gd name="T65" fmla="*/ 0 h 174"/>
                    <a:gd name="T66" fmla="*/ 3 w 187"/>
                    <a:gd name="T67" fmla="*/ 0 h 174"/>
                    <a:gd name="T68" fmla="*/ 2 w 187"/>
                    <a:gd name="T69" fmla="*/ 0 h 174"/>
                    <a:gd name="T70" fmla="*/ 2 w 187"/>
                    <a:gd name="T71" fmla="*/ 1 h 174"/>
                    <a:gd name="T72" fmla="*/ 1 w 187"/>
                    <a:gd name="T73" fmla="*/ 1 h 174"/>
                    <a:gd name="T74" fmla="*/ 1 w 187"/>
                    <a:gd name="T75" fmla="*/ 1 h 174"/>
                    <a:gd name="T76" fmla="*/ 1 w 187"/>
                    <a:gd name="T77" fmla="*/ 2 h 174"/>
                    <a:gd name="T78" fmla="*/ 0 w 187"/>
                    <a:gd name="T79" fmla="*/ 3 h 174"/>
                    <a:gd name="T80" fmla="*/ 0 w 187"/>
                    <a:gd name="T81" fmla="*/ 3 h 174"/>
                    <a:gd name="T82" fmla="*/ 0 w 187"/>
                    <a:gd name="T83" fmla="*/ 3 h 174"/>
                    <a:gd name="T84" fmla="*/ 0 w 187"/>
                    <a:gd name="T85" fmla="*/ 5 h 174"/>
                    <a:gd name="T86" fmla="*/ 0 w 187"/>
                    <a:gd name="T87" fmla="*/ 5 h 174"/>
                    <a:gd name="T88" fmla="*/ 0 w 187"/>
                    <a:gd name="T89" fmla="*/ 6 h 174"/>
                    <a:gd name="T90" fmla="*/ 0 w 187"/>
                    <a:gd name="T91" fmla="*/ 167 h 174"/>
                    <a:gd name="T92" fmla="*/ 0 w 187"/>
                    <a:gd name="T93" fmla="*/ 167 h 174"/>
                    <a:gd name="T94" fmla="*/ 0 w 187"/>
                    <a:gd name="T95" fmla="*/ 168 h 174"/>
                    <a:gd name="T96" fmla="*/ 0 w 187"/>
                    <a:gd name="T97" fmla="*/ 169 h 174"/>
                    <a:gd name="T98" fmla="*/ 0 w 187"/>
                    <a:gd name="T99" fmla="*/ 169 h 174"/>
                    <a:gd name="T100" fmla="*/ 0 w 187"/>
                    <a:gd name="T101" fmla="*/ 170 h 174"/>
                    <a:gd name="T102" fmla="*/ 1 w 187"/>
                    <a:gd name="T103" fmla="*/ 170 h 174"/>
                    <a:gd name="T104" fmla="*/ 1 w 187"/>
                    <a:gd name="T105" fmla="*/ 171 h 174"/>
                    <a:gd name="T106" fmla="*/ 1 w 187"/>
                    <a:gd name="T107" fmla="*/ 171 h 174"/>
                    <a:gd name="T108" fmla="*/ 2 w 187"/>
                    <a:gd name="T109" fmla="*/ 171 h 174"/>
                    <a:gd name="T110" fmla="*/ 2 w 187"/>
                    <a:gd name="T111" fmla="*/ 172 h 174"/>
                    <a:gd name="T112" fmla="*/ 2 w 187"/>
                    <a:gd name="T113" fmla="*/ 172 h 174"/>
                    <a:gd name="T114" fmla="*/ 3 w 187"/>
                    <a:gd name="T115" fmla="*/ 172 h 174"/>
                    <a:gd name="T116" fmla="*/ 3 w 187"/>
                    <a:gd name="T117" fmla="*/ 172 h 174"/>
                    <a:gd name="T118" fmla="*/ 4 w 187"/>
                    <a:gd name="T119" fmla="*/ 173 h 174"/>
                    <a:gd name="T120" fmla="*/ 5 w 187"/>
                    <a:gd name="T121" fmla="*/ 173 h 174"/>
                    <a:gd name="T122" fmla="*/ 180 w 187"/>
                    <a:gd name="T123" fmla="*/ 173 h 174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w 187"/>
                    <a:gd name="T187" fmla="*/ 0 h 174"/>
                    <a:gd name="T188" fmla="*/ 187 w 187"/>
                    <a:gd name="T189" fmla="*/ 174 h 174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T186" t="T187" r="T188" b="T189"/>
                  <a:pathLst>
                    <a:path w="187" h="174">
                      <a:moveTo>
                        <a:pt x="180" y="173"/>
                      </a:moveTo>
                      <a:lnTo>
                        <a:pt x="180" y="173"/>
                      </a:lnTo>
                      <a:lnTo>
                        <a:pt x="180" y="172"/>
                      </a:lnTo>
                      <a:lnTo>
                        <a:pt x="182" y="172"/>
                      </a:lnTo>
                      <a:lnTo>
                        <a:pt x="183" y="171"/>
                      </a:lnTo>
                      <a:lnTo>
                        <a:pt x="184" y="171"/>
                      </a:lnTo>
                      <a:lnTo>
                        <a:pt x="184" y="170"/>
                      </a:lnTo>
                      <a:lnTo>
                        <a:pt x="184" y="169"/>
                      </a:lnTo>
                      <a:lnTo>
                        <a:pt x="185" y="169"/>
                      </a:lnTo>
                      <a:lnTo>
                        <a:pt x="185" y="168"/>
                      </a:lnTo>
                      <a:lnTo>
                        <a:pt x="186" y="167"/>
                      </a:lnTo>
                      <a:lnTo>
                        <a:pt x="186" y="6"/>
                      </a:lnTo>
                      <a:lnTo>
                        <a:pt x="186" y="5"/>
                      </a:lnTo>
                      <a:lnTo>
                        <a:pt x="185" y="5"/>
                      </a:lnTo>
                      <a:lnTo>
                        <a:pt x="185" y="3"/>
                      </a:lnTo>
                      <a:lnTo>
                        <a:pt x="184" y="3"/>
                      </a:lnTo>
                      <a:lnTo>
                        <a:pt x="184" y="2"/>
                      </a:lnTo>
                      <a:lnTo>
                        <a:pt x="184" y="1"/>
                      </a:lnTo>
                      <a:lnTo>
                        <a:pt x="183" y="1"/>
                      </a:lnTo>
                      <a:lnTo>
                        <a:pt x="182" y="1"/>
                      </a:lnTo>
                      <a:lnTo>
                        <a:pt x="182" y="0"/>
                      </a:lnTo>
                      <a:lnTo>
                        <a:pt x="180" y="0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2" y="1"/>
                      </a:lnTo>
                      <a:lnTo>
                        <a:pt x="1" y="1"/>
                      </a:lnTo>
                      <a:lnTo>
                        <a:pt x="1" y="2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0" y="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0" y="169"/>
                      </a:lnTo>
                      <a:lnTo>
                        <a:pt x="0" y="170"/>
                      </a:lnTo>
                      <a:lnTo>
                        <a:pt x="1" y="170"/>
                      </a:lnTo>
                      <a:lnTo>
                        <a:pt x="1" y="171"/>
                      </a:lnTo>
                      <a:lnTo>
                        <a:pt x="2" y="171"/>
                      </a:lnTo>
                      <a:lnTo>
                        <a:pt x="2" y="172"/>
                      </a:lnTo>
                      <a:lnTo>
                        <a:pt x="3" y="172"/>
                      </a:lnTo>
                      <a:lnTo>
                        <a:pt x="4" y="173"/>
                      </a:lnTo>
                      <a:lnTo>
                        <a:pt x="5" y="173"/>
                      </a:lnTo>
                      <a:lnTo>
                        <a:pt x="180" y="173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10" name="Freeform 1596"/>
                <p:cNvSpPr>
                  <a:spLocks/>
                </p:cNvSpPr>
                <p:nvPr/>
              </p:nvSpPr>
              <p:spPr bwMode="auto">
                <a:xfrm>
                  <a:off x="3855" y="1281"/>
                  <a:ext cx="186" cy="172"/>
                </a:xfrm>
                <a:custGeom>
                  <a:avLst/>
                  <a:gdLst>
                    <a:gd name="T0" fmla="*/ 185 w 186"/>
                    <a:gd name="T1" fmla="*/ 165 h 172"/>
                    <a:gd name="T2" fmla="*/ 185 w 186"/>
                    <a:gd name="T3" fmla="*/ 166 h 172"/>
                    <a:gd name="T4" fmla="*/ 185 w 186"/>
                    <a:gd name="T5" fmla="*/ 167 h 172"/>
                    <a:gd name="T6" fmla="*/ 184 w 186"/>
                    <a:gd name="T7" fmla="*/ 167 h 172"/>
                    <a:gd name="T8" fmla="*/ 184 w 186"/>
                    <a:gd name="T9" fmla="*/ 168 h 172"/>
                    <a:gd name="T10" fmla="*/ 183 w 186"/>
                    <a:gd name="T11" fmla="*/ 169 h 172"/>
                    <a:gd name="T12" fmla="*/ 183 w 186"/>
                    <a:gd name="T13" fmla="*/ 169 h 172"/>
                    <a:gd name="T14" fmla="*/ 182 w 186"/>
                    <a:gd name="T15" fmla="*/ 170 h 172"/>
                    <a:gd name="T16" fmla="*/ 182 w 186"/>
                    <a:gd name="T17" fmla="*/ 170 h 172"/>
                    <a:gd name="T18" fmla="*/ 181 w 186"/>
                    <a:gd name="T19" fmla="*/ 170 h 172"/>
                    <a:gd name="T20" fmla="*/ 181 w 186"/>
                    <a:gd name="T21" fmla="*/ 171 h 172"/>
                    <a:gd name="T22" fmla="*/ 180 w 186"/>
                    <a:gd name="T23" fmla="*/ 171 h 172"/>
                    <a:gd name="T24" fmla="*/ 179 w 186"/>
                    <a:gd name="T25" fmla="*/ 171 h 172"/>
                    <a:gd name="T26" fmla="*/ 4 w 186"/>
                    <a:gd name="T27" fmla="*/ 171 h 172"/>
                    <a:gd name="T28" fmla="*/ 3 w 186"/>
                    <a:gd name="T29" fmla="*/ 171 h 172"/>
                    <a:gd name="T30" fmla="*/ 3 w 186"/>
                    <a:gd name="T31" fmla="*/ 171 h 172"/>
                    <a:gd name="T32" fmla="*/ 3 w 186"/>
                    <a:gd name="T33" fmla="*/ 170 h 172"/>
                    <a:gd name="T34" fmla="*/ 2 w 186"/>
                    <a:gd name="T35" fmla="*/ 170 h 172"/>
                    <a:gd name="T36" fmla="*/ 2 w 186"/>
                    <a:gd name="T37" fmla="*/ 170 h 172"/>
                    <a:gd name="T38" fmla="*/ 1 w 186"/>
                    <a:gd name="T39" fmla="*/ 169 h 172"/>
                    <a:gd name="T40" fmla="*/ 1 w 186"/>
                    <a:gd name="T41" fmla="*/ 169 h 172"/>
                    <a:gd name="T42" fmla="*/ 0 w 186"/>
                    <a:gd name="T43" fmla="*/ 169 h 172"/>
                    <a:gd name="T44" fmla="*/ 0 w 186"/>
                    <a:gd name="T45" fmla="*/ 168 h 172"/>
                    <a:gd name="T46" fmla="*/ 0 w 186"/>
                    <a:gd name="T47" fmla="*/ 167 h 172"/>
                    <a:gd name="T48" fmla="*/ 0 w 186"/>
                    <a:gd name="T49" fmla="*/ 167 h 172"/>
                    <a:gd name="T50" fmla="*/ 0 w 186"/>
                    <a:gd name="T51" fmla="*/ 166 h 172"/>
                    <a:gd name="T52" fmla="*/ 0 w 186"/>
                    <a:gd name="T53" fmla="*/ 165 h 172"/>
                    <a:gd name="T54" fmla="*/ 0 w 186"/>
                    <a:gd name="T55" fmla="*/ 5 h 172"/>
                    <a:gd name="T56" fmla="*/ 0 w 186"/>
                    <a:gd name="T57" fmla="*/ 4 h 172"/>
                    <a:gd name="T58" fmla="*/ 0 w 186"/>
                    <a:gd name="T59" fmla="*/ 3 h 172"/>
                    <a:gd name="T60" fmla="*/ 0 w 186"/>
                    <a:gd name="T61" fmla="*/ 3 h 172"/>
                    <a:gd name="T62" fmla="*/ 0 w 186"/>
                    <a:gd name="T63" fmla="*/ 2 h 172"/>
                    <a:gd name="T64" fmla="*/ 0 w 186"/>
                    <a:gd name="T65" fmla="*/ 2 h 172"/>
                    <a:gd name="T66" fmla="*/ 1 w 186"/>
                    <a:gd name="T67" fmla="*/ 1 h 172"/>
                    <a:gd name="T68" fmla="*/ 1 w 186"/>
                    <a:gd name="T69" fmla="*/ 1 h 172"/>
                    <a:gd name="T70" fmla="*/ 2 w 186"/>
                    <a:gd name="T71" fmla="*/ 1 h 172"/>
                    <a:gd name="T72" fmla="*/ 2 w 186"/>
                    <a:gd name="T73" fmla="*/ 0 h 172"/>
                    <a:gd name="T74" fmla="*/ 2 w 186"/>
                    <a:gd name="T75" fmla="*/ 0 h 172"/>
                    <a:gd name="T76" fmla="*/ 3 w 186"/>
                    <a:gd name="T77" fmla="*/ 0 h 172"/>
                    <a:gd name="T78" fmla="*/ 3 w 186"/>
                    <a:gd name="T79" fmla="*/ 0 h 172"/>
                    <a:gd name="T80" fmla="*/ 4 w 186"/>
                    <a:gd name="T81" fmla="*/ 0 h 172"/>
                    <a:gd name="T82" fmla="*/ 179 w 186"/>
                    <a:gd name="T83" fmla="*/ 0 h 172"/>
                    <a:gd name="T84" fmla="*/ 180 w 186"/>
                    <a:gd name="T85" fmla="*/ 0 h 172"/>
                    <a:gd name="T86" fmla="*/ 181 w 186"/>
                    <a:gd name="T87" fmla="*/ 0 h 172"/>
                    <a:gd name="T88" fmla="*/ 181 w 186"/>
                    <a:gd name="T89" fmla="*/ 0 h 172"/>
                    <a:gd name="T90" fmla="*/ 182 w 186"/>
                    <a:gd name="T91" fmla="*/ 0 h 172"/>
                    <a:gd name="T92" fmla="*/ 182 w 186"/>
                    <a:gd name="T93" fmla="*/ 1 h 172"/>
                    <a:gd name="T94" fmla="*/ 183 w 186"/>
                    <a:gd name="T95" fmla="*/ 1 h 172"/>
                    <a:gd name="T96" fmla="*/ 183 w 186"/>
                    <a:gd name="T97" fmla="*/ 1 h 172"/>
                    <a:gd name="T98" fmla="*/ 183 w 186"/>
                    <a:gd name="T99" fmla="*/ 2 h 172"/>
                    <a:gd name="T100" fmla="*/ 184 w 186"/>
                    <a:gd name="T101" fmla="*/ 2 h 172"/>
                    <a:gd name="T102" fmla="*/ 184 w 186"/>
                    <a:gd name="T103" fmla="*/ 3 h 172"/>
                    <a:gd name="T104" fmla="*/ 185 w 186"/>
                    <a:gd name="T105" fmla="*/ 3 h 172"/>
                    <a:gd name="T106" fmla="*/ 185 w 186"/>
                    <a:gd name="T107" fmla="*/ 4 h 172"/>
                    <a:gd name="T108" fmla="*/ 185 w 186"/>
                    <a:gd name="T109" fmla="*/ 5 h 172"/>
                    <a:gd name="T110" fmla="*/ 185 w 186"/>
                    <a:gd name="T111" fmla="*/ 165 h 172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86"/>
                    <a:gd name="T169" fmla="*/ 0 h 172"/>
                    <a:gd name="T170" fmla="*/ 186 w 186"/>
                    <a:gd name="T171" fmla="*/ 172 h 172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86" h="172">
                      <a:moveTo>
                        <a:pt x="185" y="165"/>
                      </a:moveTo>
                      <a:lnTo>
                        <a:pt x="185" y="166"/>
                      </a:lnTo>
                      <a:lnTo>
                        <a:pt x="185" y="167"/>
                      </a:lnTo>
                      <a:lnTo>
                        <a:pt x="184" y="167"/>
                      </a:lnTo>
                      <a:lnTo>
                        <a:pt x="184" y="168"/>
                      </a:lnTo>
                      <a:lnTo>
                        <a:pt x="183" y="169"/>
                      </a:lnTo>
                      <a:lnTo>
                        <a:pt x="182" y="170"/>
                      </a:lnTo>
                      <a:lnTo>
                        <a:pt x="181" y="170"/>
                      </a:lnTo>
                      <a:lnTo>
                        <a:pt x="181" y="171"/>
                      </a:lnTo>
                      <a:lnTo>
                        <a:pt x="180" y="171"/>
                      </a:lnTo>
                      <a:lnTo>
                        <a:pt x="179" y="171"/>
                      </a:lnTo>
                      <a:lnTo>
                        <a:pt x="4" y="171"/>
                      </a:lnTo>
                      <a:lnTo>
                        <a:pt x="3" y="171"/>
                      </a:lnTo>
                      <a:lnTo>
                        <a:pt x="3" y="170"/>
                      </a:lnTo>
                      <a:lnTo>
                        <a:pt x="2" y="170"/>
                      </a:lnTo>
                      <a:lnTo>
                        <a:pt x="1" y="169"/>
                      </a:lnTo>
                      <a:lnTo>
                        <a:pt x="0" y="169"/>
                      </a:lnTo>
                      <a:lnTo>
                        <a:pt x="0" y="168"/>
                      </a:lnTo>
                      <a:lnTo>
                        <a:pt x="0" y="167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79" y="0"/>
                      </a:lnTo>
                      <a:lnTo>
                        <a:pt x="180" y="0"/>
                      </a:lnTo>
                      <a:lnTo>
                        <a:pt x="181" y="0"/>
                      </a:lnTo>
                      <a:lnTo>
                        <a:pt x="182" y="0"/>
                      </a:lnTo>
                      <a:lnTo>
                        <a:pt x="182" y="1"/>
                      </a:lnTo>
                      <a:lnTo>
                        <a:pt x="183" y="1"/>
                      </a:lnTo>
                      <a:lnTo>
                        <a:pt x="183" y="2"/>
                      </a:lnTo>
                      <a:lnTo>
                        <a:pt x="184" y="2"/>
                      </a:lnTo>
                      <a:lnTo>
                        <a:pt x="184" y="3"/>
                      </a:lnTo>
                      <a:lnTo>
                        <a:pt x="185" y="3"/>
                      </a:lnTo>
                      <a:lnTo>
                        <a:pt x="185" y="4"/>
                      </a:lnTo>
                      <a:lnTo>
                        <a:pt x="185" y="5"/>
                      </a:lnTo>
                      <a:lnTo>
                        <a:pt x="185" y="165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11" name="Freeform 1597"/>
                <p:cNvSpPr>
                  <a:spLocks/>
                </p:cNvSpPr>
                <p:nvPr/>
              </p:nvSpPr>
              <p:spPr bwMode="auto">
                <a:xfrm>
                  <a:off x="3857" y="1281"/>
                  <a:ext cx="181" cy="171"/>
                </a:xfrm>
                <a:custGeom>
                  <a:avLst/>
                  <a:gdLst>
                    <a:gd name="T0" fmla="*/ 180 w 181"/>
                    <a:gd name="T1" fmla="*/ 3 h 171"/>
                    <a:gd name="T2" fmla="*/ 180 w 181"/>
                    <a:gd name="T3" fmla="*/ 3 h 171"/>
                    <a:gd name="T4" fmla="*/ 180 w 181"/>
                    <a:gd name="T5" fmla="*/ 2 h 171"/>
                    <a:gd name="T6" fmla="*/ 179 w 181"/>
                    <a:gd name="T7" fmla="*/ 2 h 171"/>
                    <a:gd name="T8" fmla="*/ 179 w 181"/>
                    <a:gd name="T9" fmla="*/ 1 h 171"/>
                    <a:gd name="T10" fmla="*/ 178 w 181"/>
                    <a:gd name="T11" fmla="*/ 1 h 171"/>
                    <a:gd name="T12" fmla="*/ 178 w 181"/>
                    <a:gd name="T13" fmla="*/ 0 h 171"/>
                    <a:gd name="T14" fmla="*/ 177 w 181"/>
                    <a:gd name="T15" fmla="*/ 0 h 171"/>
                    <a:gd name="T16" fmla="*/ 177 w 181"/>
                    <a:gd name="T17" fmla="*/ 0 h 171"/>
                    <a:gd name="T18" fmla="*/ 177 w 181"/>
                    <a:gd name="T19" fmla="*/ 0 h 171"/>
                    <a:gd name="T20" fmla="*/ 176 w 181"/>
                    <a:gd name="T21" fmla="*/ 0 h 171"/>
                    <a:gd name="T22" fmla="*/ 176 w 181"/>
                    <a:gd name="T23" fmla="*/ 0 h 171"/>
                    <a:gd name="T24" fmla="*/ 3 w 181"/>
                    <a:gd name="T25" fmla="*/ 0 h 171"/>
                    <a:gd name="T26" fmla="*/ 3 w 181"/>
                    <a:gd name="T27" fmla="*/ 0 h 171"/>
                    <a:gd name="T28" fmla="*/ 2 w 181"/>
                    <a:gd name="T29" fmla="*/ 0 h 171"/>
                    <a:gd name="T30" fmla="*/ 2 w 181"/>
                    <a:gd name="T31" fmla="*/ 0 h 171"/>
                    <a:gd name="T32" fmla="*/ 1 w 181"/>
                    <a:gd name="T33" fmla="*/ 0 h 171"/>
                    <a:gd name="T34" fmla="*/ 1 w 181"/>
                    <a:gd name="T35" fmla="*/ 0 h 171"/>
                    <a:gd name="T36" fmla="*/ 1 w 181"/>
                    <a:gd name="T37" fmla="*/ 1 h 171"/>
                    <a:gd name="T38" fmla="*/ 0 w 181"/>
                    <a:gd name="T39" fmla="*/ 1 h 171"/>
                    <a:gd name="T40" fmla="*/ 0 w 181"/>
                    <a:gd name="T41" fmla="*/ 1 h 171"/>
                    <a:gd name="T42" fmla="*/ 0 w 181"/>
                    <a:gd name="T43" fmla="*/ 2 h 171"/>
                    <a:gd name="T44" fmla="*/ 0 w 181"/>
                    <a:gd name="T45" fmla="*/ 3 h 171"/>
                    <a:gd name="T46" fmla="*/ 0 w 181"/>
                    <a:gd name="T47" fmla="*/ 3 h 171"/>
                    <a:gd name="T48" fmla="*/ 0 w 181"/>
                    <a:gd name="T49" fmla="*/ 166 h 171"/>
                    <a:gd name="T50" fmla="*/ 0 w 181"/>
                    <a:gd name="T51" fmla="*/ 166 h 171"/>
                    <a:gd name="T52" fmla="*/ 0 w 181"/>
                    <a:gd name="T53" fmla="*/ 167 h 171"/>
                    <a:gd name="T54" fmla="*/ 0 w 181"/>
                    <a:gd name="T55" fmla="*/ 168 h 171"/>
                    <a:gd name="T56" fmla="*/ 0 w 181"/>
                    <a:gd name="T57" fmla="*/ 168 h 171"/>
                    <a:gd name="T58" fmla="*/ 1 w 181"/>
                    <a:gd name="T59" fmla="*/ 168 h 171"/>
                    <a:gd name="T60" fmla="*/ 1 w 181"/>
                    <a:gd name="T61" fmla="*/ 169 h 171"/>
                    <a:gd name="T62" fmla="*/ 2 w 181"/>
                    <a:gd name="T63" fmla="*/ 169 h 171"/>
                    <a:gd name="T64" fmla="*/ 2 w 181"/>
                    <a:gd name="T65" fmla="*/ 169 h 171"/>
                    <a:gd name="T66" fmla="*/ 3 w 181"/>
                    <a:gd name="T67" fmla="*/ 170 h 171"/>
                    <a:gd name="T68" fmla="*/ 3 w 181"/>
                    <a:gd name="T69" fmla="*/ 170 h 171"/>
                    <a:gd name="T70" fmla="*/ 176 w 181"/>
                    <a:gd name="T71" fmla="*/ 170 h 171"/>
                    <a:gd name="T72" fmla="*/ 176 w 181"/>
                    <a:gd name="T73" fmla="*/ 169 h 171"/>
                    <a:gd name="T74" fmla="*/ 177 w 181"/>
                    <a:gd name="T75" fmla="*/ 169 h 171"/>
                    <a:gd name="T76" fmla="*/ 177 w 181"/>
                    <a:gd name="T77" fmla="*/ 169 h 171"/>
                    <a:gd name="T78" fmla="*/ 178 w 181"/>
                    <a:gd name="T79" fmla="*/ 169 h 171"/>
                    <a:gd name="T80" fmla="*/ 178 w 181"/>
                    <a:gd name="T81" fmla="*/ 168 h 171"/>
                    <a:gd name="T82" fmla="*/ 178 w 181"/>
                    <a:gd name="T83" fmla="*/ 168 h 171"/>
                    <a:gd name="T84" fmla="*/ 179 w 181"/>
                    <a:gd name="T85" fmla="*/ 168 h 171"/>
                    <a:gd name="T86" fmla="*/ 179 w 181"/>
                    <a:gd name="T87" fmla="*/ 167 h 171"/>
                    <a:gd name="T88" fmla="*/ 180 w 181"/>
                    <a:gd name="T89" fmla="*/ 166 h 171"/>
                    <a:gd name="T90" fmla="*/ 180 w 181"/>
                    <a:gd name="T91" fmla="*/ 166 h 171"/>
                    <a:gd name="T92" fmla="*/ 180 w 181"/>
                    <a:gd name="T93" fmla="*/ 3 h 171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w 181"/>
                    <a:gd name="T142" fmla="*/ 0 h 171"/>
                    <a:gd name="T143" fmla="*/ 181 w 181"/>
                    <a:gd name="T144" fmla="*/ 171 h 171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T141" t="T142" r="T143" b="T144"/>
                  <a:pathLst>
                    <a:path w="181" h="171">
                      <a:moveTo>
                        <a:pt x="180" y="3"/>
                      </a:moveTo>
                      <a:lnTo>
                        <a:pt x="180" y="3"/>
                      </a:lnTo>
                      <a:lnTo>
                        <a:pt x="180" y="2"/>
                      </a:lnTo>
                      <a:lnTo>
                        <a:pt x="179" y="2"/>
                      </a:lnTo>
                      <a:lnTo>
                        <a:pt x="179" y="1"/>
                      </a:lnTo>
                      <a:lnTo>
                        <a:pt x="178" y="1"/>
                      </a:lnTo>
                      <a:lnTo>
                        <a:pt x="178" y="0"/>
                      </a:lnTo>
                      <a:lnTo>
                        <a:pt x="177" y="0"/>
                      </a:lnTo>
                      <a:lnTo>
                        <a:pt x="17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16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1" y="169"/>
                      </a:lnTo>
                      <a:lnTo>
                        <a:pt x="2" y="169"/>
                      </a:lnTo>
                      <a:lnTo>
                        <a:pt x="3" y="170"/>
                      </a:lnTo>
                      <a:lnTo>
                        <a:pt x="176" y="170"/>
                      </a:lnTo>
                      <a:lnTo>
                        <a:pt x="176" y="169"/>
                      </a:lnTo>
                      <a:lnTo>
                        <a:pt x="177" y="169"/>
                      </a:lnTo>
                      <a:lnTo>
                        <a:pt x="178" y="169"/>
                      </a:lnTo>
                      <a:lnTo>
                        <a:pt x="178" y="168"/>
                      </a:lnTo>
                      <a:lnTo>
                        <a:pt x="179" y="168"/>
                      </a:lnTo>
                      <a:lnTo>
                        <a:pt x="179" y="167"/>
                      </a:lnTo>
                      <a:lnTo>
                        <a:pt x="180" y="166"/>
                      </a:lnTo>
                      <a:lnTo>
                        <a:pt x="180" y="3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12" name="Freeform 1598"/>
                <p:cNvSpPr>
                  <a:spLocks/>
                </p:cNvSpPr>
                <p:nvPr/>
              </p:nvSpPr>
              <p:spPr bwMode="auto">
                <a:xfrm>
                  <a:off x="3858" y="1282"/>
                  <a:ext cx="180" cy="168"/>
                </a:xfrm>
                <a:custGeom>
                  <a:avLst/>
                  <a:gdLst>
                    <a:gd name="T0" fmla="*/ 179 w 180"/>
                    <a:gd name="T1" fmla="*/ 163 h 168"/>
                    <a:gd name="T2" fmla="*/ 179 w 180"/>
                    <a:gd name="T3" fmla="*/ 164 h 168"/>
                    <a:gd name="T4" fmla="*/ 178 w 180"/>
                    <a:gd name="T5" fmla="*/ 165 h 168"/>
                    <a:gd name="T6" fmla="*/ 178 w 180"/>
                    <a:gd name="T7" fmla="*/ 165 h 168"/>
                    <a:gd name="T8" fmla="*/ 177 w 180"/>
                    <a:gd name="T9" fmla="*/ 166 h 168"/>
                    <a:gd name="T10" fmla="*/ 177 w 180"/>
                    <a:gd name="T11" fmla="*/ 166 h 168"/>
                    <a:gd name="T12" fmla="*/ 176 w 180"/>
                    <a:gd name="T13" fmla="*/ 167 h 168"/>
                    <a:gd name="T14" fmla="*/ 176 w 180"/>
                    <a:gd name="T15" fmla="*/ 167 h 168"/>
                    <a:gd name="T16" fmla="*/ 2 w 180"/>
                    <a:gd name="T17" fmla="*/ 167 h 168"/>
                    <a:gd name="T18" fmla="*/ 2 w 180"/>
                    <a:gd name="T19" fmla="*/ 167 h 168"/>
                    <a:gd name="T20" fmla="*/ 1 w 180"/>
                    <a:gd name="T21" fmla="*/ 167 h 168"/>
                    <a:gd name="T22" fmla="*/ 1 w 180"/>
                    <a:gd name="T23" fmla="*/ 166 h 168"/>
                    <a:gd name="T24" fmla="*/ 1 w 180"/>
                    <a:gd name="T25" fmla="*/ 166 h 168"/>
                    <a:gd name="T26" fmla="*/ 0 w 180"/>
                    <a:gd name="T27" fmla="*/ 166 h 168"/>
                    <a:gd name="T28" fmla="*/ 0 w 180"/>
                    <a:gd name="T29" fmla="*/ 165 h 168"/>
                    <a:gd name="T30" fmla="*/ 0 w 180"/>
                    <a:gd name="T31" fmla="*/ 165 h 168"/>
                    <a:gd name="T32" fmla="*/ 0 w 180"/>
                    <a:gd name="T33" fmla="*/ 165 h 168"/>
                    <a:gd name="T34" fmla="*/ 0 w 180"/>
                    <a:gd name="T35" fmla="*/ 164 h 168"/>
                    <a:gd name="T36" fmla="*/ 0 w 180"/>
                    <a:gd name="T37" fmla="*/ 163 h 168"/>
                    <a:gd name="T38" fmla="*/ 0 w 180"/>
                    <a:gd name="T39" fmla="*/ 3 h 168"/>
                    <a:gd name="T40" fmla="*/ 0 w 180"/>
                    <a:gd name="T41" fmla="*/ 2 h 168"/>
                    <a:gd name="T42" fmla="*/ 0 w 180"/>
                    <a:gd name="T43" fmla="*/ 1 h 168"/>
                    <a:gd name="T44" fmla="*/ 0 w 180"/>
                    <a:gd name="T45" fmla="*/ 1 h 168"/>
                    <a:gd name="T46" fmla="*/ 0 w 180"/>
                    <a:gd name="T47" fmla="*/ 1 h 168"/>
                    <a:gd name="T48" fmla="*/ 1 w 180"/>
                    <a:gd name="T49" fmla="*/ 0 h 168"/>
                    <a:gd name="T50" fmla="*/ 1 w 180"/>
                    <a:gd name="T51" fmla="*/ 0 h 168"/>
                    <a:gd name="T52" fmla="*/ 2 w 180"/>
                    <a:gd name="T53" fmla="*/ 0 h 168"/>
                    <a:gd name="T54" fmla="*/ 2 w 180"/>
                    <a:gd name="T55" fmla="*/ 0 h 168"/>
                    <a:gd name="T56" fmla="*/ 176 w 180"/>
                    <a:gd name="T57" fmla="*/ 0 h 168"/>
                    <a:gd name="T58" fmla="*/ 176 w 180"/>
                    <a:gd name="T59" fmla="*/ 0 h 168"/>
                    <a:gd name="T60" fmla="*/ 176 w 180"/>
                    <a:gd name="T61" fmla="*/ 0 h 168"/>
                    <a:gd name="T62" fmla="*/ 177 w 180"/>
                    <a:gd name="T63" fmla="*/ 0 h 168"/>
                    <a:gd name="T64" fmla="*/ 177 w 180"/>
                    <a:gd name="T65" fmla="*/ 0 h 168"/>
                    <a:gd name="T66" fmla="*/ 177 w 180"/>
                    <a:gd name="T67" fmla="*/ 1 h 168"/>
                    <a:gd name="T68" fmla="*/ 178 w 180"/>
                    <a:gd name="T69" fmla="*/ 1 h 168"/>
                    <a:gd name="T70" fmla="*/ 178 w 180"/>
                    <a:gd name="T71" fmla="*/ 1 h 168"/>
                    <a:gd name="T72" fmla="*/ 179 w 180"/>
                    <a:gd name="T73" fmla="*/ 2 h 168"/>
                    <a:gd name="T74" fmla="*/ 179 w 180"/>
                    <a:gd name="T75" fmla="*/ 3 h 168"/>
                    <a:gd name="T76" fmla="*/ 179 w 180"/>
                    <a:gd name="T77" fmla="*/ 16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80"/>
                    <a:gd name="T118" fmla="*/ 0 h 168"/>
                    <a:gd name="T119" fmla="*/ 180 w 180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80" h="168">
                      <a:moveTo>
                        <a:pt x="179" y="163"/>
                      </a:moveTo>
                      <a:lnTo>
                        <a:pt x="179" y="164"/>
                      </a:lnTo>
                      <a:lnTo>
                        <a:pt x="178" y="165"/>
                      </a:lnTo>
                      <a:lnTo>
                        <a:pt x="177" y="166"/>
                      </a:lnTo>
                      <a:lnTo>
                        <a:pt x="176" y="167"/>
                      </a:lnTo>
                      <a:lnTo>
                        <a:pt x="2" y="167"/>
                      </a:lnTo>
                      <a:lnTo>
                        <a:pt x="1" y="167"/>
                      </a:lnTo>
                      <a:lnTo>
                        <a:pt x="1" y="166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164"/>
                      </a:lnTo>
                      <a:lnTo>
                        <a:pt x="0" y="163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2" y="0"/>
                      </a:lnTo>
                      <a:lnTo>
                        <a:pt x="176" y="0"/>
                      </a:lnTo>
                      <a:lnTo>
                        <a:pt x="177" y="0"/>
                      </a:lnTo>
                      <a:lnTo>
                        <a:pt x="177" y="1"/>
                      </a:lnTo>
                      <a:lnTo>
                        <a:pt x="178" y="1"/>
                      </a:lnTo>
                      <a:lnTo>
                        <a:pt x="179" y="2"/>
                      </a:lnTo>
                      <a:lnTo>
                        <a:pt x="179" y="3"/>
                      </a:lnTo>
                      <a:lnTo>
                        <a:pt x="179" y="163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13" name="Freeform 1599"/>
                <p:cNvSpPr>
                  <a:spLocks/>
                </p:cNvSpPr>
                <p:nvPr/>
              </p:nvSpPr>
              <p:spPr bwMode="auto">
                <a:xfrm>
                  <a:off x="3877" y="1304"/>
                  <a:ext cx="142" cy="124"/>
                </a:xfrm>
                <a:custGeom>
                  <a:avLst/>
                  <a:gdLst>
                    <a:gd name="T0" fmla="*/ 0 w 142"/>
                    <a:gd name="T1" fmla="*/ 1 h 124"/>
                    <a:gd name="T2" fmla="*/ 1 w 142"/>
                    <a:gd name="T3" fmla="*/ 1 h 124"/>
                    <a:gd name="T4" fmla="*/ 1 w 142"/>
                    <a:gd name="T5" fmla="*/ 1 h 124"/>
                    <a:gd name="T6" fmla="*/ 2 w 142"/>
                    <a:gd name="T7" fmla="*/ 0 h 124"/>
                    <a:gd name="T8" fmla="*/ 2 w 142"/>
                    <a:gd name="T9" fmla="*/ 0 h 124"/>
                    <a:gd name="T10" fmla="*/ 3 w 142"/>
                    <a:gd name="T11" fmla="*/ 0 h 124"/>
                    <a:gd name="T12" fmla="*/ 3 w 142"/>
                    <a:gd name="T13" fmla="*/ 0 h 124"/>
                    <a:gd name="T14" fmla="*/ 4 w 142"/>
                    <a:gd name="T15" fmla="*/ 0 h 124"/>
                    <a:gd name="T16" fmla="*/ 135 w 142"/>
                    <a:gd name="T17" fmla="*/ 0 h 124"/>
                    <a:gd name="T18" fmla="*/ 136 w 142"/>
                    <a:gd name="T19" fmla="*/ 0 h 124"/>
                    <a:gd name="T20" fmla="*/ 137 w 142"/>
                    <a:gd name="T21" fmla="*/ 0 h 124"/>
                    <a:gd name="T22" fmla="*/ 137 w 142"/>
                    <a:gd name="T23" fmla="*/ 0 h 124"/>
                    <a:gd name="T24" fmla="*/ 138 w 142"/>
                    <a:gd name="T25" fmla="*/ 0 h 124"/>
                    <a:gd name="T26" fmla="*/ 138 w 142"/>
                    <a:gd name="T27" fmla="*/ 1 h 124"/>
                    <a:gd name="T28" fmla="*/ 139 w 142"/>
                    <a:gd name="T29" fmla="*/ 1 h 124"/>
                    <a:gd name="T30" fmla="*/ 139 w 142"/>
                    <a:gd name="T31" fmla="*/ 1 h 124"/>
                    <a:gd name="T32" fmla="*/ 140 w 142"/>
                    <a:gd name="T33" fmla="*/ 2 h 124"/>
                    <a:gd name="T34" fmla="*/ 140 w 142"/>
                    <a:gd name="T35" fmla="*/ 3 h 124"/>
                    <a:gd name="T36" fmla="*/ 141 w 142"/>
                    <a:gd name="T37" fmla="*/ 3 h 124"/>
                    <a:gd name="T38" fmla="*/ 141 w 142"/>
                    <a:gd name="T39" fmla="*/ 4 h 124"/>
                    <a:gd name="T40" fmla="*/ 141 w 142"/>
                    <a:gd name="T41" fmla="*/ 5 h 124"/>
                    <a:gd name="T42" fmla="*/ 141 w 142"/>
                    <a:gd name="T43" fmla="*/ 117 h 124"/>
                    <a:gd name="T44" fmla="*/ 141 w 142"/>
                    <a:gd name="T45" fmla="*/ 119 h 124"/>
                    <a:gd name="T46" fmla="*/ 140 w 142"/>
                    <a:gd name="T47" fmla="*/ 119 h 124"/>
                    <a:gd name="T48" fmla="*/ 140 w 142"/>
                    <a:gd name="T49" fmla="*/ 120 h 124"/>
                    <a:gd name="T50" fmla="*/ 139 w 142"/>
                    <a:gd name="T51" fmla="*/ 121 h 124"/>
                    <a:gd name="T52" fmla="*/ 139 w 142"/>
                    <a:gd name="T53" fmla="*/ 121 h 124"/>
                    <a:gd name="T54" fmla="*/ 138 w 142"/>
                    <a:gd name="T55" fmla="*/ 122 h 124"/>
                    <a:gd name="T56" fmla="*/ 138 w 142"/>
                    <a:gd name="T57" fmla="*/ 122 h 124"/>
                    <a:gd name="T58" fmla="*/ 137 w 142"/>
                    <a:gd name="T59" fmla="*/ 122 h 124"/>
                    <a:gd name="T60" fmla="*/ 137 w 142"/>
                    <a:gd name="T61" fmla="*/ 123 h 124"/>
                    <a:gd name="T62" fmla="*/ 136 w 142"/>
                    <a:gd name="T63" fmla="*/ 123 h 124"/>
                    <a:gd name="T64" fmla="*/ 135 w 142"/>
                    <a:gd name="T65" fmla="*/ 123 h 124"/>
                    <a:gd name="T66" fmla="*/ 4 w 142"/>
                    <a:gd name="T67" fmla="*/ 123 h 124"/>
                    <a:gd name="T68" fmla="*/ 3 w 142"/>
                    <a:gd name="T69" fmla="*/ 123 h 124"/>
                    <a:gd name="T70" fmla="*/ 3 w 142"/>
                    <a:gd name="T71" fmla="*/ 123 h 124"/>
                    <a:gd name="T72" fmla="*/ 2 w 142"/>
                    <a:gd name="T73" fmla="*/ 122 h 124"/>
                    <a:gd name="T74" fmla="*/ 2 w 142"/>
                    <a:gd name="T75" fmla="*/ 122 h 124"/>
                    <a:gd name="T76" fmla="*/ 1 w 142"/>
                    <a:gd name="T77" fmla="*/ 122 h 124"/>
                    <a:gd name="T78" fmla="*/ 1 w 142"/>
                    <a:gd name="T79" fmla="*/ 121 h 124"/>
                    <a:gd name="T80" fmla="*/ 0 w 142"/>
                    <a:gd name="T81" fmla="*/ 121 h 124"/>
                    <a:gd name="T82" fmla="*/ 0 w 142"/>
                    <a:gd name="T83" fmla="*/ 120 h 124"/>
                    <a:gd name="T84" fmla="*/ 0 w 142"/>
                    <a:gd name="T85" fmla="*/ 119 h 124"/>
                    <a:gd name="T86" fmla="*/ 0 w 142"/>
                    <a:gd name="T87" fmla="*/ 119 h 124"/>
                    <a:gd name="T88" fmla="*/ 0 w 142"/>
                    <a:gd name="T89" fmla="*/ 117 h 124"/>
                    <a:gd name="T90" fmla="*/ 0 w 142"/>
                    <a:gd name="T91" fmla="*/ 5 h 124"/>
                    <a:gd name="T92" fmla="*/ 0 w 142"/>
                    <a:gd name="T93" fmla="*/ 4 h 124"/>
                    <a:gd name="T94" fmla="*/ 0 w 142"/>
                    <a:gd name="T95" fmla="*/ 3 h 124"/>
                    <a:gd name="T96" fmla="*/ 0 w 142"/>
                    <a:gd name="T97" fmla="*/ 3 h 124"/>
                    <a:gd name="T98" fmla="*/ 0 w 142"/>
                    <a:gd name="T99" fmla="*/ 2 h 124"/>
                    <a:gd name="T100" fmla="*/ 0 w 142"/>
                    <a:gd name="T101" fmla="*/ 1 h 124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42"/>
                    <a:gd name="T154" fmla="*/ 0 h 124"/>
                    <a:gd name="T155" fmla="*/ 142 w 142"/>
                    <a:gd name="T156" fmla="*/ 124 h 124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42" h="124">
                      <a:moveTo>
                        <a:pt x="0" y="1"/>
                      </a:moveTo>
                      <a:lnTo>
                        <a:pt x="1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8" y="1"/>
                      </a:lnTo>
                      <a:lnTo>
                        <a:pt x="139" y="1"/>
                      </a:lnTo>
                      <a:lnTo>
                        <a:pt x="140" y="2"/>
                      </a:lnTo>
                      <a:lnTo>
                        <a:pt x="140" y="3"/>
                      </a:lnTo>
                      <a:lnTo>
                        <a:pt x="141" y="3"/>
                      </a:lnTo>
                      <a:lnTo>
                        <a:pt x="141" y="4"/>
                      </a:lnTo>
                      <a:lnTo>
                        <a:pt x="141" y="5"/>
                      </a:lnTo>
                      <a:lnTo>
                        <a:pt x="141" y="117"/>
                      </a:lnTo>
                      <a:lnTo>
                        <a:pt x="141" y="119"/>
                      </a:lnTo>
                      <a:lnTo>
                        <a:pt x="140" y="119"/>
                      </a:lnTo>
                      <a:lnTo>
                        <a:pt x="140" y="120"/>
                      </a:lnTo>
                      <a:lnTo>
                        <a:pt x="139" y="121"/>
                      </a:lnTo>
                      <a:lnTo>
                        <a:pt x="138" y="122"/>
                      </a:lnTo>
                      <a:lnTo>
                        <a:pt x="137" y="122"/>
                      </a:lnTo>
                      <a:lnTo>
                        <a:pt x="137" y="123"/>
                      </a:lnTo>
                      <a:lnTo>
                        <a:pt x="136" y="123"/>
                      </a:lnTo>
                      <a:lnTo>
                        <a:pt x="135" y="123"/>
                      </a:lnTo>
                      <a:lnTo>
                        <a:pt x="4" y="123"/>
                      </a:lnTo>
                      <a:lnTo>
                        <a:pt x="3" y="123"/>
                      </a:lnTo>
                      <a:lnTo>
                        <a:pt x="2" y="122"/>
                      </a:lnTo>
                      <a:lnTo>
                        <a:pt x="1" y="122"/>
                      </a:lnTo>
                      <a:lnTo>
                        <a:pt x="1" y="121"/>
                      </a:lnTo>
                      <a:lnTo>
                        <a:pt x="0" y="121"/>
                      </a:lnTo>
                      <a:lnTo>
                        <a:pt x="0" y="120"/>
                      </a:lnTo>
                      <a:lnTo>
                        <a:pt x="0" y="119"/>
                      </a:lnTo>
                      <a:lnTo>
                        <a:pt x="0" y="117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</a:path>
                  </a:pathLst>
                </a:custGeom>
                <a:gradFill rotWithShape="0">
                  <a:gsLst>
                    <a:gs pos="0">
                      <a:srgbClr val="1D2B4B"/>
                    </a:gs>
                    <a:gs pos="50000">
                      <a:srgbClr val="618FFD"/>
                    </a:gs>
                    <a:gs pos="100000">
                      <a:srgbClr val="1D2B4B"/>
                    </a:gs>
                  </a:gsLst>
                  <a:lin ang="2700000" scaled="1"/>
                </a:gra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14" name="Freeform 1600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4 h 17"/>
                    <a:gd name="T2" fmla="*/ 151 w 153"/>
                    <a:gd name="T3" fmla="*/ 3 h 17"/>
                    <a:gd name="T4" fmla="*/ 151 w 153"/>
                    <a:gd name="T5" fmla="*/ 2 h 17"/>
                    <a:gd name="T6" fmla="*/ 150 w 153"/>
                    <a:gd name="T7" fmla="*/ 2 h 17"/>
                    <a:gd name="T8" fmla="*/ 150 w 153"/>
                    <a:gd name="T9" fmla="*/ 2 h 17"/>
                    <a:gd name="T10" fmla="*/ 150 w 153"/>
                    <a:gd name="T11" fmla="*/ 1 h 17"/>
                    <a:gd name="T12" fmla="*/ 149 w 153"/>
                    <a:gd name="T13" fmla="*/ 1 h 17"/>
                    <a:gd name="T14" fmla="*/ 149 w 153"/>
                    <a:gd name="T15" fmla="*/ 1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1 h 17"/>
                    <a:gd name="T32" fmla="*/ 1 w 153"/>
                    <a:gd name="T33" fmla="*/ 1 h 17"/>
                    <a:gd name="T34" fmla="*/ 0 w 153"/>
                    <a:gd name="T35" fmla="*/ 2 h 17"/>
                    <a:gd name="T36" fmla="*/ 0 w 153"/>
                    <a:gd name="T37" fmla="*/ 2 h 17"/>
                    <a:gd name="T38" fmla="*/ 0 w 153"/>
                    <a:gd name="T39" fmla="*/ 3 h 17"/>
                    <a:gd name="T40" fmla="*/ 6 w 153"/>
                    <a:gd name="T41" fmla="*/ 16 h 17"/>
                    <a:gd name="T42" fmla="*/ 7 w 153"/>
                    <a:gd name="T43" fmla="*/ 14 h 17"/>
                    <a:gd name="T44" fmla="*/ 7 w 153"/>
                    <a:gd name="T45" fmla="*/ 14 h 17"/>
                    <a:gd name="T46" fmla="*/ 8 w 153"/>
                    <a:gd name="T47" fmla="*/ 13 h 17"/>
                    <a:gd name="T48" fmla="*/ 8 w 153"/>
                    <a:gd name="T49" fmla="*/ 13 h 17"/>
                    <a:gd name="T50" fmla="*/ 8 w 153"/>
                    <a:gd name="T51" fmla="*/ 12 h 17"/>
                    <a:gd name="T52" fmla="*/ 9 w 153"/>
                    <a:gd name="T53" fmla="*/ 12 h 17"/>
                    <a:gd name="T54" fmla="*/ 10 w 153"/>
                    <a:gd name="T55" fmla="*/ 12 h 17"/>
                    <a:gd name="T56" fmla="*/ 140 w 153"/>
                    <a:gd name="T57" fmla="*/ 12 h 17"/>
                    <a:gd name="T58" fmla="*/ 141 w 153"/>
                    <a:gd name="T59" fmla="*/ 12 h 17"/>
                    <a:gd name="T60" fmla="*/ 142 w 153"/>
                    <a:gd name="T61" fmla="*/ 12 h 17"/>
                    <a:gd name="T62" fmla="*/ 142 w 153"/>
                    <a:gd name="T63" fmla="*/ 13 h 17"/>
                    <a:gd name="T64" fmla="*/ 143 w 153"/>
                    <a:gd name="T65" fmla="*/ 13 h 17"/>
                    <a:gd name="T66" fmla="*/ 143 w 153"/>
                    <a:gd name="T67" fmla="*/ 14 h 17"/>
                    <a:gd name="T68" fmla="*/ 143 w 153"/>
                    <a:gd name="T69" fmla="*/ 14 h 17"/>
                    <a:gd name="T70" fmla="*/ 144 w 153"/>
                    <a:gd name="T71" fmla="*/ 14 h 17"/>
                    <a:gd name="T72" fmla="*/ 152 w 153"/>
                    <a:gd name="T73" fmla="*/ 4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53"/>
                    <a:gd name="T112" fmla="*/ 0 h 17"/>
                    <a:gd name="T113" fmla="*/ 153 w 153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53" h="17">
                      <a:moveTo>
                        <a:pt x="152" y="4"/>
                      </a:moveTo>
                      <a:lnTo>
                        <a:pt x="151" y="3"/>
                      </a:lnTo>
                      <a:lnTo>
                        <a:pt x="151" y="2"/>
                      </a:lnTo>
                      <a:lnTo>
                        <a:pt x="150" y="2"/>
                      </a:lnTo>
                      <a:lnTo>
                        <a:pt x="150" y="1"/>
                      </a:lnTo>
                      <a:lnTo>
                        <a:pt x="149" y="1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6" y="16"/>
                      </a:lnTo>
                      <a:lnTo>
                        <a:pt x="7" y="14"/>
                      </a:lnTo>
                      <a:lnTo>
                        <a:pt x="8" y="13"/>
                      </a:lnTo>
                      <a:lnTo>
                        <a:pt x="8" y="12"/>
                      </a:lnTo>
                      <a:lnTo>
                        <a:pt x="9" y="12"/>
                      </a:lnTo>
                      <a:lnTo>
                        <a:pt x="10" y="12"/>
                      </a:lnTo>
                      <a:lnTo>
                        <a:pt x="140" y="12"/>
                      </a:lnTo>
                      <a:lnTo>
                        <a:pt x="141" y="12"/>
                      </a:lnTo>
                      <a:lnTo>
                        <a:pt x="142" y="12"/>
                      </a:lnTo>
                      <a:lnTo>
                        <a:pt x="142" y="13"/>
                      </a:lnTo>
                      <a:lnTo>
                        <a:pt x="143" y="13"/>
                      </a:lnTo>
                      <a:lnTo>
                        <a:pt x="143" y="14"/>
                      </a:lnTo>
                      <a:lnTo>
                        <a:pt x="144" y="14"/>
                      </a:lnTo>
                      <a:lnTo>
                        <a:pt x="152" y="4"/>
                      </a:lnTo>
                    </a:path>
                  </a:pathLst>
                </a:custGeom>
                <a:solidFill>
                  <a:srgbClr val="9F9FA2"/>
                </a:solidFill>
                <a:ln w="12700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15" name="Freeform 1601"/>
                <p:cNvSpPr>
                  <a:spLocks/>
                </p:cNvSpPr>
                <p:nvPr/>
              </p:nvSpPr>
              <p:spPr bwMode="auto">
                <a:xfrm>
                  <a:off x="3870" y="1299"/>
                  <a:ext cx="17" cy="135"/>
                </a:xfrm>
                <a:custGeom>
                  <a:avLst/>
                  <a:gdLst>
                    <a:gd name="T0" fmla="*/ 2 w 17"/>
                    <a:gd name="T1" fmla="*/ 0 h 135"/>
                    <a:gd name="T2" fmla="*/ 1 w 17"/>
                    <a:gd name="T3" fmla="*/ 0 h 135"/>
                    <a:gd name="T4" fmla="*/ 0 w 17"/>
                    <a:gd name="T5" fmla="*/ 1 h 135"/>
                    <a:gd name="T6" fmla="*/ 0 w 17"/>
                    <a:gd name="T7" fmla="*/ 2 h 135"/>
                    <a:gd name="T8" fmla="*/ 0 w 17"/>
                    <a:gd name="T9" fmla="*/ 2 h 135"/>
                    <a:gd name="T10" fmla="*/ 0 w 17"/>
                    <a:gd name="T11" fmla="*/ 3 h 135"/>
                    <a:gd name="T12" fmla="*/ 0 w 17"/>
                    <a:gd name="T13" fmla="*/ 4 h 135"/>
                    <a:gd name="T14" fmla="*/ 0 w 17"/>
                    <a:gd name="T15" fmla="*/ 130 h 135"/>
                    <a:gd name="T16" fmla="*/ 0 w 17"/>
                    <a:gd name="T17" fmla="*/ 130 h 135"/>
                    <a:gd name="T18" fmla="*/ 0 w 17"/>
                    <a:gd name="T19" fmla="*/ 131 h 135"/>
                    <a:gd name="T20" fmla="*/ 0 w 17"/>
                    <a:gd name="T21" fmla="*/ 132 h 135"/>
                    <a:gd name="T22" fmla="*/ 0 w 17"/>
                    <a:gd name="T23" fmla="*/ 132 h 135"/>
                    <a:gd name="T24" fmla="*/ 1 w 17"/>
                    <a:gd name="T25" fmla="*/ 133 h 135"/>
                    <a:gd name="T26" fmla="*/ 2 w 17"/>
                    <a:gd name="T27" fmla="*/ 133 h 135"/>
                    <a:gd name="T28" fmla="*/ 2 w 17"/>
                    <a:gd name="T29" fmla="*/ 134 h 135"/>
                    <a:gd name="T30" fmla="*/ 3 w 17"/>
                    <a:gd name="T31" fmla="*/ 134 h 135"/>
                    <a:gd name="T32" fmla="*/ 16 w 17"/>
                    <a:gd name="T33" fmla="*/ 127 h 135"/>
                    <a:gd name="T34" fmla="*/ 15 w 17"/>
                    <a:gd name="T35" fmla="*/ 126 h 135"/>
                    <a:gd name="T36" fmla="*/ 15 w 17"/>
                    <a:gd name="T37" fmla="*/ 126 h 135"/>
                    <a:gd name="T38" fmla="*/ 14 w 17"/>
                    <a:gd name="T39" fmla="*/ 126 h 135"/>
                    <a:gd name="T40" fmla="*/ 14 w 17"/>
                    <a:gd name="T41" fmla="*/ 125 h 135"/>
                    <a:gd name="T42" fmla="*/ 13 w 17"/>
                    <a:gd name="T43" fmla="*/ 124 h 135"/>
                    <a:gd name="T44" fmla="*/ 13 w 17"/>
                    <a:gd name="T45" fmla="*/ 124 h 135"/>
                    <a:gd name="T46" fmla="*/ 13 w 17"/>
                    <a:gd name="T47" fmla="*/ 10 h 135"/>
                    <a:gd name="T48" fmla="*/ 13 w 17"/>
                    <a:gd name="T49" fmla="*/ 9 h 135"/>
                    <a:gd name="T50" fmla="*/ 13 w 17"/>
                    <a:gd name="T51" fmla="*/ 8 h 135"/>
                    <a:gd name="T52" fmla="*/ 14 w 17"/>
                    <a:gd name="T53" fmla="*/ 8 h 135"/>
                    <a:gd name="T54" fmla="*/ 15 w 17"/>
                    <a:gd name="T55" fmla="*/ 7 h 135"/>
                    <a:gd name="T56" fmla="*/ 15 w 17"/>
                    <a:gd name="T57" fmla="*/ 6 h 135"/>
                    <a:gd name="T58" fmla="*/ 2 w 17"/>
                    <a:gd name="T59" fmla="*/ 0 h 135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w 17"/>
                    <a:gd name="T91" fmla="*/ 0 h 135"/>
                    <a:gd name="T92" fmla="*/ 17 w 17"/>
                    <a:gd name="T93" fmla="*/ 135 h 135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T90" t="T91" r="T92" b="T93"/>
                  <a:pathLst>
                    <a:path w="17" h="135">
                      <a:moveTo>
                        <a:pt x="2" y="0"/>
                      </a:moveTo>
                      <a:lnTo>
                        <a:pt x="1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0" y="130"/>
                      </a:lnTo>
                      <a:lnTo>
                        <a:pt x="0" y="131"/>
                      </a:lnTo>
                      <a:lnTo>
                        <a:pt x="0" y="132"/>
                      </a:lnTo>
                      <a:lnTo>
                        <a:pt x="1" y="133"/>
                      </a:lnTo>
                      <a:lnTo>
                        <a:pt x="2" y="133"/>
                      </a:lnTo>
                      <a:lnTo>
                        <a:pt x="2" y="134"/>
                      </a:lnTo>
                      <a:lnTo>
                        <a:pt x="3" y="134"/>
                      </a:lnTo>
                      <a:lnTo>
                        <a:pt x="16" y="127"/>
                      </a:lnTo>
                      <a:lnTo>
                        <a:pt x="15" y="126"/>
                      </a:lnTo>
                      <a:lnTo>
                        <a:pt x="14" y="126"/>
                      </a:lnTo>
                      <a:lnTo>
                        <a:pt x="14" y="125"/>
                      </a:lnTo>
                      <a:lnTo>
                        <a:pt x="13" y="124"/>
                      </a:lnTo>
                      <a:lnTo>
                        <a:pt x="13" y="10"/>
                      </a:lnTo>
                      <a:lnTo>
                        <a:pt x="13" y="9"/>
                      </a:lnTo>
                      <a:lnTo>
                        <a:pt x="13" y="8"/>
                      </a:lnTo>
                      <a:lnTo>
                        <a:pt x="14" y="8"/>
                      </a:lnTo>
                      <a:lnTo>
                        <a:pt x="15" y="7"/>
                      </a:lnTo>
                      <a:lnTo>
                        <a:pt x="15" y="6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16" name="Freeform 1602"/>
                <p:cNvSpPr>
                  <a:spLocks/>
                </p:cNvSpPr>
                <p:nvPr/>
              </p:nvSpPr>
              <p:spPr bwMode="auto">
                <a:xfrm>
                  <a:off x="3872" y="1300"/>
                  <a:ext cx="155" cy="136"/>
                </a:xfrm>
                <a:custGeom>
                  <a:avLst/>
                  <a:gdLst>
                    <a:gd name="T0" fmla="*/ 0 w 155"/>
                    <a:gd name="T1" fmla="*/ 133 h 136"/>
                    <a:gd name="T2" fmla="*/ 0 w 155"/>
                    <a:gd name="T3" fmla="*/ 134 h 136"/>
                    <a:gd name="T4" fmla="*/ 0 w 155"/>
                    <a:gd name="T5" fmla="*/ 134 h 136"/>
                    <a:gd name="T6" fmla="*/ 1 w 155"/>
                    <a:gd name="T7" fmla="*/ 134 h 136"/>
                    <a:gd name="T8" fmla="*/ 1 w 155"/>
                    <a:gd name="T9" fmla="*/ 134 h 136"/>
                    <a:gd name="T10" fmla="*/ 2 w 155"/>
                    <a:gd name="T11" fmla="*/ 135 h 136"/>
                    <a:gd name="T12" fmla="*/ 2 w 155"/>
                    <a:gd name="T13" fmla="*/ 135 h 136"/>
                    <a:gd name="T14" fmla="*/ 3 w 155"/>
                    <a:gd name="T15" fmla="*/ 135 h 136"/>
                    <a:gd name="T16" fmla="*/ 148 w 155"/>
                    <a:gd name="T17" fmla="*/ 135 h 136"/>
                    <a:gd name="T18" fmla="*/ 150 w 155"/>
                    <a:gd name="T19" fmla="*/ 134 h 136"/>
                    <a:gd name="T20" fmla="*/ 151 w 155"/>
                    <a:gd name="T21" fmla="*/ 134 h 136"/>
                    <a:gd name="T22" fmla="*/ 151 w 155"/>
                    <a:gd name="T23" fmla="*/ 133 h 136"/>
                    <a:gd name="T24" fmla="*/ 152 w 155"/>
                    <a:gd name="T25" fmla="*/ 133 h 136"/>
                    <a:gd name="T26" fmla="*/ 152 w 155"/>
                    <a:gd name="T27" fmla="*/ 133 h 136"/>
                    <a:gd name="T28" fmla="*/ 153 w 155"/>
                    <a:gd name="T29" fmla="*/ 132 h 136"/>
                    <a:gd name="T30" fmla="*/ 153 w 155"/>
                    <a:gd name="T31" fmla="*/ 131 h 136"/>
                    <a:gd name="T32" fmla="*/ 154 w 155"/>
                    <a:gd name="T33" fmla="*/ 131 h 136"/>
                    <a:gd name="T34" fmla="*/ 154 w 155"/>
                    <a:gd name="T35" fmla="*/ 129 h 136"/>
                    <a:gd name="T36" fmla="*/ 154 w 155"/>
                    <a:gd name="T37" fmla="*/ 129 h 136"/>
                    <a:gd name="T38" fmla="*/ 154 w 155"/>
                    <a:gd name="T39" fmla="*/ 3 h 136"/>
                    <a:gd name="T40" fmla="*/ 154 w 155"/>
                    <a:gd name="T41" fmla="*/ 2 h 136"/>
                    <a:gd name="T42" fmla="*/ 154 w 155"/>
                    <a:gd name="T43" fmla="*/ 1 h 136"/>
                    <a:gd name="T44" fmla="*/ 154 w 155"/>
                    <a:gd name="T45" fmla="*/ 1 h 136"/>
                    <a:gd name="T46" fmla="*/ 153 w 155"/>
                    <a:gd name="T47" fmla="*/ 1 h 136"/>
                    <a:gd name="T48" fmla="*/ 153 w 155"/>
                    <a:gd name="T49" fmla="*/ 0 h 136"/>
                    <a:gd name="T50" fmla="*/ 153 w 155"/>
                    <a:gd name="T51" fmla="*/ 0 h 136"/>
                    <a:gd name="T52" fmla="*/ 145 w 155"/>
                    <a:gd name="T53" fmla="*/ 5 h 136"/>
                    <a:gd name="T54" fmla="*/ 145 w 155"/>
                    <a:gd name="T55" fmla="*/ 5 h 136"/>
                    <a:gd name="T56" fmla="*/ 146 w 155"/>
                    <a:gd name="T57" fmla="*/ 6 h 136"/>
                    <a:gd name="T58" fmla="*/ 146 w 155"/>
                    <a:gd name="T59" fmla="*/ 7 h 136"/>
                    <a:gd name="T60" fmla="*/ 146 w 155"/>
                    <a:gd name="T61" fmla="*/ 7 h 136"/>
                    <a:gd name="T62" fmla="*/ 146 w 155"/>
                    <a:gd name="T63" fmla="*/ 7 h 136"/>
                    <a:gd name="T64" fmla="*/ 146 w 155"/>
                    <a:gd name="T65" fmla="*/ 8 h 136"/>
                    <a:gd name="T66" fmla="*/ 146 w 155"/>
                    <a:gd name="T67" fmla="*/ 9 h 136"/>
                    <a:gd name="T68" fmla="*/ 146 w 155"/>
                    <a:gd name="T69" fmla="*/ 9 h 136"/>
                    <a:gd name="T70" fmla="*/ 146 w 155"/>
                    <a:gd name="T71" fmla="*/ 123 h 136"/>
                    <a:gd name="T72" fmla="*/ 146 w 155"/>
                    <a:gd name="T73" fmla="*/ 123 h 136"/>
                    <a:gd name="T74" fmla="*/ 146 w 155"/>
                    <a:gd name="T75" fmla="*/ 124 h 136"/>
                    <a:gd name="T76" fmla="*/ 146 w 155"/>
                    <a:gd name="T77" fmla="*/ 125 h 136"/>
                    <a:gd name="T78" fmla="*/ 146 w 155"/>
                    <a:gd name="T79" fmla="*/ 125 h 136"/>
                    <a:gd name="T80" fmla="*/ 145 w 155"/>
                    <a:gd name="T81" fmla="*/ 126 h 136"/>
                    <a:gd name="T82" fmla="*/ 145 w 155"/>
                    <a:gd name="T83" fmla="*/ 127 h 136"/>
                    <a:gd name="T84" fmla="*/ 144 w 155"/>
                    <a:gd name="T85" fmla="*/ 127 h 136"/>
                    <a:gd name="T86" fmla="*/ 143 w 155"/>
                    <a:gd name="T87" fmla="*/ 127 h 136"/>
                    <a:gd name="T88" fmla="*/ 143 w 155"/>
                    <a:gd name="T89" fmla="*/ 128 h 136"/>
                    <a:gd name="T90" fmla="*/ 142 w 155"/>
                    <a:gd name="T91" fmla="*/ 128 h 136"/>
                    <a:gd name="T92" fmla="*/ 142 w 155"/>
                    <a:gd name="T93" fmla="*/ 128 h 136"/>
                    <a:gd name="T94" fmla="*/ 9 w 155"/>
                    <a:gd name="T95" fmla="*/ 128 h 136"/>
                    <a:gd name="T96" fmla="*/ 8 w 155"/>
                    <a:gd name="T97" fmla="*/ 128 h 136"/>
                    <a:gd name="T98" fmla="*/ 8 w 155"/>
                    <a:gd name="T99" fmla="*/ 128 h 136"/>
                    <a:gd name="T100" fmla="*/ 8 w 155"/>
                    <a:gd name="T101" fmla="*/ 127 h 136"/>
                    <a:gd name="T102" fmla="*/ 7 w 155"/>
                    <a:gd name="T103" fmla="*/ 127 h 136"/>
                    <a:gd name="T104" fmla="*/ 7 w 155"/>
                    <a:gd name="T105" fmla="*/ 127 h 136"/>
                    <a:gd name="T106" fmla="*/ 6 w 155"/>
                    <a:gd name="T107" fmla="*/ 127 h 136"/>
                    <a:gd name="T108" fmla="*/ 6 w 155"/>
                    <a:gd name="T109" fmla="*/ 127 h 136"/>
                    <a:gd name="T110" fmla="*/ 0 w 155"/>
                    <a:gd name="T111" fmla="*/ 133 h 1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55"/>
                    <a:gd name="T169" fmla="*/ 0 h 136"/>
                    <a:gd name="T170" fmla="*/ 155 w 155"/>
                    <a:gd name="T171" fmla="*/ 136 h 136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55" h="136">
                      <a:moveTo>
                        <a:pt x="0" y="133"/>
                      </a:moveTo>
                      <a:lnTo>
                        <a:pt x="0" y="134"/>
                      </a:lnTo>
                      <a:lnTo>
                        <a:pt x="1" y="134"/>
                      </a:lnTo>
                      <a:lnTo>
                        <a:pt x="2" y="135"/>
                      </a:lnTo>
                      <a:lnTo>
                        <a:pt x="3" y="135"/>
                      </a:lnTo>
                      <a:lnTo>
                        <a:pt x="148" y="135"/>
                      </a:lnTo>
                      <a:lnTo>
                        <a:pt x="150" y="134"/>
                      </a:lnTo>
                      <a:lnTo>
                        <a:pt x="151" y="134"/>
                      </a:lnTo>
                      <a:lnTo>
                        <a:pt x="151" y="133"/>
                      </a:lnTo>
                      <a:lnTo>
                        <a:pt x="152" y="133"/>
                      </a:lnTo>
                      <a:lnTo>
                        <a:pt x="153" y="132"/>
                      </a:lnTo>
                      <a:lnTo>
                        <a:pt x="153" y="131"/>
                      </a:lnTo>
                      <a:lnTo>
                        <a:pt x="154" y="131"/>
                      </a:lnTo>
                      <a:lnTo>
                        <a:pt x="154" y="129"/>
                      </a:lnTo>
                      <a:lnTo>
                        <a:pt x="154" y="3"/>
                      </a:lnTo>
                      <a:lnTo>
                        <a:pt x="154" y="2"/>
                      </a:lnTo>
                      <a:lnTo>
                        <a:pt x="154" y="1"/>
                      </a:lnTo>
                      <a:lnTo>
                        <a:pt x="153" y="1"/>
                      </a:lnTo>
                      <a:lnTo>
                        <a:pt x="153" y="0"/>
                      </a:lnTo>
                      <a:lnTo>
                        <a:pt x="145" y="5"/>
                      </a:lnTo>
                      <a:lnTo>
                        <a:pt x="146" y="6"/>
                      </a:lnTo>
                      <a:lnTo>
                        <a:pt x="146" y="7"/>
                      </a:lnTo>
                      <a:lnTo>
                        <a:pt x="146" y="8"/>
                      </a:lnTo>
                      <a:lnTo>
                        <a:pt x="146" y="9"/>
                      </a:lnTo>
                      <a:lnTo>
                        <a:pt x="146" y="123"/>
                      </a:lnTo>
                      <a:lnTo>
                        <a:pt x="146" y="124"/>
                      </a:lnTo>
                      <a:lnTo>
                        <a:pt x="146" y="125"/>
                      </a:lnTo>
                      <a:lnTo>
                        <a:pt x="145" y="126"/>
                      </a:lnTo>
                      <a:lnTo>
                        <a:pt x="145" y="127"/>
                      </a:lnTo>
                      <a:lnTo>
                        <a:pt x="144" y="127"/>
                      </a:lnTo>
                      <a:lnTo>
                        <a:pt x="143" y="127"/>
                      </a:lnTo>
                      <a:lnTo>
                        <a:pt x="143" y="128"/>
                      </a:lnTo>
                      <a:lnTo>
                        <a:pt x="142" y="128"/>
                      </a:lnTo>
                      <a:lnTo>
                        <a:pt x="9" y="128"/>
                      </a:lnTo>
                      <a:lnTo>
                        <a:pt x="8" y="128"/>
                      </a:lnTo>
                      <a:lnTo>
                        <a:pt x="8" y="127"/>
                      </a:lnTo>
                      <a:lnTo>
                        <a:pt x="7" y="127"/>
                      </a:lnTo>
                      <a:lnTo>
                        <a:pt x="6" y="127"/>
                      </a:lnTo>
                      <a:lnTo>
                        <a:pt x="0" y="133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17" name="Freeform 1603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16 h 17"/>
                    <a:gd name="T2" fmla="*/ 151 w 153"/>
                    <a:gd name="T3" fmla="*/ 16 h 17"/>
                    <a:gd name="T4" fmla="*/ 151 w 153"/>
                    <a:gd name="T5" fmla="*/ 10 h 17"/>
                    <a:gd name="T6" fmla="*/ 150 w 153"/>
                    <a:gd name="T7" fmla="*/ 10 h 17"/>
                    <a:gd name="T8" fmla="*/ 150 w 153"/>
                    <a:gd name="T9" fmla="*/ 10 h 17"/>
                    <a:gd name="T10" fmla="*/ 150 w 153"/>
                    <a:gd name="T11" fmla="*/ 5 h 17"/>
                    <a:gd name="T12" fmla="*/ 149 w 153"/>
                    <a:gd name="T13" fmla="*/ 5 h 17"/>
                    <a:gd name="T14" fmla="*/ 149 w 153"/>
                    <a:gd name="T15" fmla="*/ 5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5 h 17"/>
                    <a:gd name="T32" fmla="*/ 1 w 153"/>
                    <a:gd name="T33" fmla="*/ 5 h 17"/>
                    <a:gd name="T34" fmla="*/ 0 w 153"/>
                    <a:gd name="T35" fmla="*/ 10 h 17"/>
                    <a:gd name="T36" fmla="*/ 0 w 153"/>
                    <a:gd name="T37" fmla="*/ 10 h 17"/>
                    <a:gd name="T38" fmla="*/ 0 w 153"/>
                    <a:gd name="T39" fmla="*/ 16 h 17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153"/>
                    <a:gd name="T61" fmla="*/ 0 h 17"/>
                    <a:gd name="T62" fmla="*/ 153 w 153"/>
                    <a:gd name="T63" fmla="*/ 17 h 17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153" h="17">
                      <a:moveTo>
                        <a:pt x="152" y="16"/>
                      </a:moveTo>
                      <a:lnTo>
                        <a:pt x="151" y="16"/>
                      </a:lnTo>
                      <a:lnTo>
                        <a:pt x="151" y="10"/>
                      </a:lnTo>
                      <a:lnTo>
                        <a:pt x="150" y="10"/>
                      </a:lnTo>
                      <a:lnTo>
                        <a:pt x="150" y="5"/>
                      </a:lnTo>
                      <a:lnTo>
                        <a:pt x="149" y="5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5"/>
                      </a:lnTo>
                      <a:lnTo>
                        <a:pt x="0" y="1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18" name="Freeform 1604"/>
                <p:cNvSpPr>
                  <a:spLocks/>
                </p:cNvSpPr>
                <p:nvPr/>
              </p:nvSpPr>
              <p:spPr bwMode="auto">
                <a:xfrm>
                  <a:off x="3843" y="1489"/>
                  <a:ext cx="215" cy="72"/>
                </a:xfrm>
                <a:custGeom>
                  <a:avLst/>
                  <a:gdLst>
                    <a:gd name="T0" fmla="*/ 0 w 215"/>
                    <a:gd name="T1" fmla="*/ 71 h 72"/>
                    <a:gd name="T2" fmla="*/ 0 w 215"/>
                    <a:gd name="T3" fmla="*/ 0 h 72"/>
                    <a:gd name="T4" fmla="*/ 214 w 215"/>
                    <a:gd name="T5" fmla="*/ 0 h 72"/>
                    <a:gd name="T6" fmla="*/ 214 w 215"/>
                    <a:gd name="T7" fmla="*/ 71 h 72"/>
                    <a:gd name="T8" fmla="*/ 0 w 215"/>
                    <a:gd name="T9" fmla="*/ 71 h 7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15"/>
                    <a:gd name="T16" fmla="*/ 0 h 72"/>
                    <a:gd name="T17" fmla="*/ 215 w 215"/>
                    <a:gd name="T18" fmla="*/ 72 h 7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15" h="72">
                      <a:moveTo>
                        <a:pt x="0" y="71"/>
                      </a:moveTo>
                      <a:lnTo>
                        <a:pt x="0" y="0"/>
                      </a:lnTo>
                      <a:lnTo>
                        <a:pt x="214" y="0"/>
                      </a:lnTo>
                      <a:lnTo>
                        <a:pt x="214" y="71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19" name="Freeform 1605"/>
                <p:cNvSpPr>
                  <a:spLocks/>
                </p:cNvSpPr>
                <p:nvPr/>
              </p:nvSpPr>
              <p:spPr bwMode="auto">
                <a:xfrm>
                  <a:off x="3841" y="1489"/>
                  <a:ext cx="219" cy="23"/>
                </a:xfrm>
                <a:custGeom>
                  <a:avLst/>
                  <a:gdLst>
                    <a:gd name="T0" fmla="*/ 79 w 219"/>
                    <a:gd name="T1" fmla="*/ 0 h 23"/>
                    <a:gd name="T2" fmla="*/ 0 w 219"/>
                    <a:gd name="T3" fmla="*/ 0 h 23"/>
                    <a:gd name="T4" fmla="*/ 0 w 219"/>
                    <a:gd name="T5" fmla="*/ 22 h 23"/>
                    <a:gd name="T6" fmla="*/ 218 w 219"/>
                    <a:gd name="T7" fmla="*/ 22 h 23"/>
                    <a:gd name="T8" fmla="*/ 215 w 219"/>
                    <a:gd name="T9" fmla="*/ 0 h 23"/>
                    <a:gd name="T10" fmla="*/ 137 w 219"/>
                    <a:gd name="T11" fmla="*/ 0 h 23"/>
                    <a:gd name="T12" fmla="*/ 79 w 219"/>
                    <a:gd name="T13" fmla="*/ 0 h 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19"/>
                    <a:gd name="T22" fmla="*/ 0 h 23"/>
                    <a:gd name="T23" fmla="*/ 219 w 219"/>
                    <a:gd name="T24" fmla="*/ 23 h 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9" h="23">
                      <a:moveTo>
                        <a:pt x="79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218" y="22"/>
                      </a:lnTo>
                      <a:lnTo>
                        <a:pt x="215" y="0"/>
                      </a:lnTo>
                      <a:lnTo>
                        <a:pt x="137" y="0"/>
                      </a:lnTo>
                      <a:lnTo>
                        <a:pt x="79" y="0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20" name="Freeform 1606"/>
                <p:cNvSpPr>
                  <a:spLocks/>
                </p:cNvSpPr>
                <p:nvPr/>
              </p:nvSpPr>
              <p:spPr bwMode="auto">
                <a:xfrm>
                  <a:off x="3991" y="1495"/>
                  <a:ext cx="56" cy="17"/>
                </a:xfrm>
                <a:custGeom>
                  <a:avLst/>
                  <a:gdLst>
                    <a:gd name="T0" fmla="*/ 0 w 56"/>
                    <a:gd name="T1" fmla="*/ 6 h 17"/>
                    <a:gd name="T2" fmla="*/ 18 w 56"/>
                    <a:gd name="T3" fmla="*/ 6 h 17"/>
                    <a:gd name="T4" fmla="*/ 18 w 56"/>
                    <a:gd name="T5" fmla="*/ 0 h 17"/>
                    <a:gd name="T6" fmla="*/ 35 w 56"/>
                    <a:gd name="T7" fmla="*/ 0 h 17"/>
                    <a:gd name="T8" fmla="*/ 35 w 56"/>
                    <a:gd name="T9" fmla="*/ 6 h 17"/>
                    <a:gd name="T10" fmla="*/ 55 w 56"/>
                    <a:gd name="T11" fmla="*/ 6 h 17"/>
                    <a:gd name="T12" fmla="*/ 55 w 56"/>
                    <a:gd name="T13" fmla="*/ 10 h 17"/>
                    <a:gd name="T14" fmla="*/ 35 w 56"/>
                    <a:gd name="T15" fmla="*/ 10 h 17"/>
                    <a:gd name="T16" fmla="*/ 35 w 56"/>
                    <a:gd name="T17" fmla="*/ 16 h 17"/>
                    <a:gd name="T18" fmla="*/ 18 w 56"/>
                    <a:gd name="T19" fmla="*/ 16 h 17"/>
                    <a:gd name="T20" fmla="*/ 18 w 56"/>
                    <a:gd name="T21" fmla="*/ 10 h 17"/>
                    <a:gd name="T22" fmla="*/ 0 w 56"/>
                    <a:gd name="T23" fmla="*/ 10 h 17"/>
                    <a:gd name="T24" fmla="*/ 0 w 56"/>
                    <a:gd name="T25" fmla="*/ 6 h 17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56"/>
                    <a:gd name="T40" fmla="*/ 0 h 17"/>
                    <a:gd name="T41" fmla="*/ 56 w 56"/>
                    <a:gd name="T42" fmla="*/ 17 h 17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56" h="17">
                      <a:moveTo>
                        <a:pt x="0" y="6"/>
                      </a:moveTo>
                      <a:lnTo>
                        <a:pt x="18" y="6"/>
                      </a:lnTo>
                      <a:lnTo>
                        <a:pt x="18" y="0"/>
                      </a:lnTo>
                      <a:lnTo>
                        <a:pt x="35" y="0"/>
                      </a:lnTo>
                      <a:lnTo>
                        <a:pt x="35" y="6"/>
                      </a:lnTo>
                      <a:lnTo>
                        <a:pt x="55" y="6"/>
                      </a:lnTo>
                      <a:lnTo>
                        <a:pt x="55" y="10"/>
                      </a:lnTo>
                      <a:lnTo>
                        <a:pt x="35" y="10"/>
                      </a:lnTo>
                      <a:lnTo>
                        <a:pt x="35" y="16"/>
                      </a:lnTo>
                      <a:lnTo>
                        <a:pt x="18" y="16"/>
                      </a:lnTo>
                      <a:lnTo>
                        <a:pt x="18" y="10"/>
                      </a:lnTo>
                      <a:lnTo>
                        <a:pt x="0" y="10"/>
                      </a:lnTo>
                      <a:lnTo>
                        <a:pt x="0" y="6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21" name="Freeform 1607"/>
                <p:cNvSpPr>
                  <a:spLocks/>
                </p:cNvSpPr>
                <p:nvPr/>
              </p:nvSpPr>
              <p:spPr bwMode="auto">
                <a:xfrm>
                  <a:off x="3991" y="1501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0 h 17"/>
                    <a:gd name="T4" fmla="*/ 16 w 17"/>
                    <a:gd name="T5" fmla="*/ 5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17"/>
                    <a:gd name="T14" fmla="*/ 17 w 17"/>
                    <a:gd name="T15" fmla="*/ 17 h 1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17">
                      <a:moveTo>
                        <a:pt x="0" y="16"/>
                      </a:moveTo>
                      <a:lnTo>
                        <a:pt x="16" y="10"/>
                      </a:lnTo>
                      <a:lnTo>
                        <a:pt x="16" y="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22" name="Freeform 1608"/>
                <p:cNvSpPr>
                  <a:spLocks/>
                </p:cNvSpPr>
                <p:nvPr/>
              </p:nvSpPr>
              <p:spPr bwMode="auto">
                <a:xfrm>
                  <a:off x="4010" y="149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23" name="Freeform 1609"/>
                <p:cNvSpPr>
                  <a:spLocks/>
                </p:cNvSpPr>
                <p:nvPr/>
              </p:nvSpPr>
              <p:spPr bwMode="auto">
                <a:xfrm>
                  <a:off x="4046" y="1504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24" name="Freeform 1610"/>
                <p:cNvSpPr>
                  <a:spLocks/>
                </p:cNvSpPr>
                <p:nvPr/>
              </p:nvSpPr>
              <p:spPr bwMode="auto">
                <a:xfrm>
                  <a:off x="4027" y="1495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0 h 17"/>
                    <a:gd name="T4" fmla="*/ 0 w 17"/>
                    <a:gd name="T5" fmla="*/ 16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16"/>
                      </a:moveTo>
                      <a:lnTo>
                        <a:pt x="16" y="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25" name="Freeform 1611"/>
                <p:cNvSpPr>
                  <a:spLocks/>
                </p:cNvSpPr>
                <p:nvPr/>
              </p:nvSpPr>
              <p:spPr bwMode="auto">
                <a:xfrm>
                  <a:off x="4011" y="1499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6 h 17"/>
                    <a:gd name="T4" fmla="*/ 16 w 17"/>
                    <a:gd name="T5" fmla="*/ 0 h 17"/>
                    <a:gd name="T6" fmla="*/ 0 w 17"/>
                    <a:gd name="T7" fmla="*/ 0 h 17"/>
                    <a:gd name="T8" fmla="*/ 0 w 17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16"/>
                      </a:moveTo>
                      <a:lnTo>
                        <a:pt x="16" y="16"/>
                      </a:lnTo>
                      <a:lnTo>
                        <a:pt x="16" y="0"/>
                      </a:lnTo>
                      <a:lnTo>
                        <a:pt x="0" y="0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F9FA2"/>
                </a:solidFill>
                <a:ln w="12700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26" name="Freeform 1612"/>
                <p:cNvSpPr>
                  <a:spLocks/>
                </p:cNvSpPr>
                <p:nvPr/>
              </p:nvSpPr>
              <p:spPr bwMode="auto">
                <a:xfrm>
                  <a:off x="3993" y="1502"/>
                  <a:ext cx="54" cy="17"/>
                </a:xfrm>
                <a:custGeom>
                  <a:avLst/>
                  <a:gdLst>
                    <a:gd name="T0" fmla="*/ 0 w 54"/>
                    <a:gd name="T1" fmla="*/ 0 h 17"/>
                    <a:gd name="T2" fmla="*/ 53 w 54"/>
                    <a:gd name="T3" fmla="*/ 0 h 17"/>
                    <a:gd name="T4" fmla="*/ 53 w 54"/>
                    <a:gd name="T5" fmla="*/ 16 h 17"/>
                    <a:gd name="T6" fmla="*/ 0 w 54"/>
                    <a:gd name="T7" fmla="*/ 16 h 17"/>
                    <a:gd name="T8" fmla="*/ 0 w 54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4"/>
                    <a:gd name="T16" fmla="*/ 0 h 17"/>
                    <a:gd name="T17" fmla="*/ 54 w 5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4" h="17">
                      <a:moveTo>
                        <a:pt x="0" y="0"/>
                      </a:moveTo>
                      <a:lnTo>
                        <a:pt x="53" y="0"/>
                      </a:lnTo>
                      <a:lnTo>
                        <a:pt x="53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27" name="Freeform 1613"/>
                <p:cNvSpPr>
                  <a:spLocks/>
                </p:cNvSpPr>
                <p:nvPr/>
              </p:nvSpPr>
              <p:spPr bwMode="auto">
                <a:xfrm>
                  <a:off x="4010" y="1496"/>
                  <a:ext cx="19" cy="17"/>
                </a:xfrm>
                <a:custGeom>
                  <a:avLst/>
                  <a:gdLst>
                    <a:gd name="T0" fmla="*/ 18 w 19"/>
                    <a:gd name="T1" fmla="*/ 12 h 17"/>
                    <a:gd name="T2" fmla="*/ 17 w 19"/>
                    <a:gd name="T3" fmla="*/ 16 h 17"/>
                    <a:gd name="T4" fmla="*/ 17 w 19"/>
                    <a:gd name="T5" fmla="*/ 0 h 17"/>
                    <a:gd name="T6" fmla="*/ 0 w 19"/>
                    <a:gd name="T7" fmla="*/ 0 h 17"/>
                    <a:gd name="T8" fmla="*/ 0 w 19"/>
                    <a:gd name="T9" fmla="*/ 16 h 17"/>
                    <a:gd name="T10" fmla="*/ 0 w 19"/>
                    <a:gd name="T11" fmla="*/ 12 h 1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"/>
                    <a:gd name="T19" fmla="*/ 0 h 17"/>
                    <a:gd name="T20" fmla="*/ 19 w 19"/>
                    <a:gd name="T21" fmla="*/ 17 h 1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" h="17">
                      <a:moveTo>
                        <a:pt x="18" y="12"/>
                      </a:moveTo>
                      <a:lnTo>
                        <a:pt x="17" y="16"/>
                      </a:ln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6"/>
                      </a:lnTo>
                      <a:lnTo>
                        <a:pt x="0" y="12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28" name="Freeform 1614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16 w 17"/>
                    <a:gd name="T1" fmla="*/ 0 h 17"/>
                    <a:gd name="T2" fmla="*/ 16 w 17"/>
                    <a:gd name="T3" fmla="*/ 16 h 17"/>
                    <a:gd name="T4" fmla="*/ 0 w 17"/>
                    <a:gd name="T5" fmla="*/ 16 h 17"/>
                    <a:gd name="T6" fmla="*/ 0 w 17"/>
                    <a:gd name="T7" fmla="*/ 0 h 17"/>
                    <a:gd name="T8" fmla="*/ 16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16" y="0"/>
                      </a:move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  <a:lnTo>
                        <a:pt x="16" y="0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29" name="Freeform 1615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30" name="Freeform 1616"/>
                <p:cNvSpPr>
                  <a:spLocks/>
                </p:cNvSpPr>
                <p:nvPr/>
              </p:nvSpPr>
              <p:spPr bwMode="auto">
                <a:xfrm>
                  <a:off x="3930" y="1497"/>
                  <a:ext cx="44" cy="17"/>
                </a:xfrm>
                <a:custGeom>
                  <a:avLst/>
                  <a:gdLst>
                    <a:gd name="T0" fmla="*/ 14 w 44"/>
                    <a:gd name="T1" fmla="*/ 16 h 17"/>
                    <a:gd name="T2" fmla="*/ 0 w 44"/>
                    <a:gd name="T3" fmla="*/ 16 h 17"/>
                    <a:gd name="T4" fmla="*/ 0 w 44"/>
                    <a:gd name="T5" fmla="*/ 8 h 17"/>
                    <a:gd name="T6" fmla="*/ 14 w 44"/>
                    <a:gd name="T7" fmla="*/ 8 h 17"/>
                    <a:gd name="T8" fmla="*/ 14 w 44"/>
                    <a:gd name="T9" fmla="*/ 0 h 17"/>
                    <a:gd name="T10" fmla="*/ 28 w 44"/>
                    <a:gd name="T11" fmla="*/ 0 h 17"/>
                    <a:gd name="T12" fmla="*/ 28 w 44"/>
                    <a:gd name="T13" fmla="*/ 8 h 17"/>
                    <a:gd name="T14" fmla="*/ 43 w 44"/>
                    <a:gd name="T15" fmla="*/ 8 h 17"/>
                    <a:gd name="T16" fmla="*/ 43 w 44"/>
                    <a:gd name="T17" fmla="*/ 16 h 17"/>
                    <a:gd name="T18" fmla="*/ 28 w 44"/>
                    <a:gd name="T19" fmla="*/ 16 h 17"/>
                    <a:gd name="T20" fmla="*/ 14 w 44"/>
                    <a:gd name="T21" fmla="*/ 16 h 1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44"/>
                    <a:gd name="T34" fmla="*/ 0 h 17"/>
                    <a:gd name="T35" fmla="*/ 44 w 44"/>
                    <a:gd name="T36" fmla="*/ 17 h 17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44" h="17">
                      <a:moveTo>
                        <a:pt x="14" y="16"/>
                      </a:moveTo>
                      <a:lnTo>
                        <a:pt x="0" y="16"/>
                      </a:lnTo>
                      <a:lnTo>
                        <a:pt x="0" y="8"/>
                      </a:lnTo>
                      <a:lnTo>
                        <a:pt x="14" y="8"/>
                      </a:lnTo>
                      <a:lnTo>
                        <a:pt x="14" y="0"/>
                      </a:lnTo>
                      <a:lnTo>
                        <a:pt x="28" y="0"/>
                      </a:lnTo>
                      <a:lnTo>
                        <a:pt x="28" y="8"/>
                      </a:lnTo>
                      <a:lnTo>
                        <a:pt x="43" y="8"/>
                      </a:lnTo>
                      <a:lnTo>
                        <a:pt x="43" y="16"/>
                      </a:lnTo>
                      <a:lnTo>
                        <a:pt x="28" y="16"/>
                      </a:lnTo>
                      <a:lnTo>
                        <a:pt x="14" y="16"/>
                      </a:lnTo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31" name="Freeform 1617"/>
                <p:cNvSpPr>
                  <a:spLocks/>
                </p:cNvSpPr>
                <p:nvPr/>
              </p:nvSpPr>
              <p:spPr bwMode="auto">
                <a:xfrm>
                  <a:off x="3945" y="1497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32" name="Freeform 1618"/>
                <p:cNvSpPr>
                  <a:spLocks/>
                </p:cNvSpPr>
                <p:nvPr/>
              </p:nvSpPr>
              <p:spPr bwMode="auto">
                <a:xfrm>
                  <a:off x="3897" y="1494"/>
                  <a:ext cx="20" cy="17"/>
                </a:xfrm>
                <a:custGeom>
                  <a:avLst/>
                  <a:gdLst>
                    <a:gd name="T0" fmla="*/ 5 w 20"/>
                    <a:gd name="T1" fmla="*/ 16 h 17"/>
                    <a:gd name="T2" fmla="*/ 3 w 20"/>
                    <a:gd name="T3" fmla="*/ 15 h 17"/>
                    <a:gd name="T4" fmla="*/ 2 w 20"/>
                    <a:gd name="T5" fmla="*/ 15 h 17"/>
                    <a:gd name="T6" fmla="*/ 1 w 20"/>
                    <a:gd name="T7" fmla="*/ 14 h 17"/>
                    <a:gd name="T8" fmla="*/ 1 w 20"/>
                    <a:gd name="T9" fmla="*/ 12 h 17"/>
                    <a:gd name="T10" fmla="*/ 0 w 20"/>
                    <a:gd name="T11" fmla="*/ 12 h 17"/>
                    <a:gd name="T12" fmla="*/ 0 w 20"/>
                    <a:gd name="T13" fmla="*/ 10 h 17"/>
                    <a:gd name="T14" fmla="*/ 0 w 20"/>
                    <a:gd name="T15" fmla="*/ 8 h 17"/>
                    <a:gd name="T16" fmla="*/ 0 w 20"/>
                    <a:gd name="T17" fmla="*/ 6 h 17"/>
                    <a:gd name="T18" fmla="*/ 0 w 20"/>
                    <a:gd name="T19" fmla="*/ 4 h 17"/>
                    <a:gd name="T20" fmla="*/ 0 w 20"/>
                    <a:gd name="T21" fmla="*/ 3 h 17"/>
                    <a:gd name="T22" fmla="*/ 1 w 20"/>
                    <a:gd name="T23" fmla="*/ 2 h 17"/>
                    <a:gd name="T24" fmla="*/ 2 w 20"/>
                    <a:gd name="T25" fmla="*/ 1 h 17"/>
                    <a:gd name="T26" fmla="*/ 3 w 20"/>
                    <a:gd name="T27" fmla="*/ 0 h 17"/>
                    <a:gd name="T28" fmla="*/ 4 w 20"/>
                    <a:gd name="T29" fmla="*/ 0 h 17"/>
                    <a:gd name="T30" fmla="*/ 5 w 20"/>
                    <a:gd name="T31" fmla="*/ 0 h 17"/>
                    <a:gd name="T32" fmla="*/ 12 w 20"/>
                    <a:gd name="T33" fmla="*/ 0 h 17"/>
                    <a:gd name="T34" fmla="*/ 13 w 20"/>
                    <a:gd name="T35" fmla="*/ 0 h 17"/>
                    <a:gd name="T36" fmla="*/ 15 w 20"/>
                    <a:gd name="T37" fmla="*/ 0 h 17"/>
                    <a:gd name="T38" fmla="*/ 16 w 20"/>
                    <a:gd name="T39" fmla="*/ 1 h 17"/>
                    <a:gd name="T40" fmla="*/ 17 w 20"/>
                    <a:gd name="T41" fmla="*/ 3 h 17"/>
                    <a:gd name="T42" fmla="*/ 17 w 20"/>
                    <a:gd name="T43" fmla="*/ 3 h 17"/>
                    <a:gd name="T44" fmla="*/ 18 w 20"/>
                    <a:gd name="T45" fmla="*/ 5 h 17"/>
                    <a:gd name="T46" fmla="*/ 18 w 20"/>
                    <a:gd name="T47" fmla="*/ 7 h 17"/>
                    <a:gd name="T48" fmla="*/ 18 w 20"/>
                    <a:gd name="T49" fmla="*/ 8 h 17"/>
                    <a:gd name="T50" fmla="*/ 18 w 20"/>
                    <a:gd name="T51" fmla="*/ 10 h 17"/>
                    <a:gd name="T52" fmla="*/ 17 w 20"/>
                    <a:gd name="T53" fmla="*/ 12 h 17"/>
                    <a:gd name="T54" fmla="*/ 16 w 20"/>
                    <a:gd name="T55" fmla="*/ 13 h 17"/>
                    <a:gd name="T56" fmla="*/ 15 w 20"/>
                    <a:gd name="T57" fmla="*/ 15 h 17"/>
                    <a:gd name="T58" fmla="*/ 13 w 20"/>
                    <a:gd name="T59" fmla="*/ 15 h 17"/>
                    <a:gd name="T60" fmla="*/ 13 w 20"/>
                    <a:gd name="T61" fmla="*/ 16 h 17"/>
                    <a:gd name="T62" fmla="*/ 12 w 20"/>
                    <a:gd name="T63" fmla="*/ 16 h 17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20"/>
                    <a:gd name="T97" fmla="*/ 0 h 17"/>
                    <a:gd name="T98" fmla="*/ 20 w 20"/>
                    <a:gd name="T99" fmla="*/ 17 h 17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20" h="17">
                      <a:moveTo>
                        <a:pt x="5" y="16"/>
                      </a:moveTo>
                      <a:lnTo>
                        <a:pt x="5" y="16"/>
                      </a:lnTo>
                      <a:lnTo>
                        <a:pt x="4" y="16"/>
                      </a:lnTo>
                      <a:lnTo>
                        <a:pt x="3" y="15"/>
                      </a:lnTo>
                      <a:lnTo>
                        <a:pt x="2" y="15"/>
                      </a:lnTo>
                      <a:lnTo>
                        <a:pt x="2" y="14"/>
                      </a:lnTo>
                      <a:lnTo>
                        <a:pt x="1" y="14"/>
                      </a:lnTo>
                      <a:lnTo>
                        <a:pt x="1" y="13"/>
                      </a:lnTo>
                      <a:lnTo>
                        <a:pt x="1" y="12"/>
                      </a:lnTo>
                      <a:lnTo>
                        <a:pt x="0" y="12"/>
                      </a:lnTo>
                      <a:lnTo>
                        <a:pt x="0" y="11"/>
                      </a:lnTo>
                      <a:lnTo>
                        <a:pt x="0" y="10"/>
                      </a:lnTo>
                      <a:lnTo>
                        <a:pt x="0" y="9"/>
                      </a:lnTo>
                      <a:lnTo>
                        <a:pt x="0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1" y="3"/>
                      </a:lnTo>
                      <a:lnTo>
                        <a:pt x="1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5" y="0"/>
                      </a:lnTo>
                      <a:lnTo>
                        <a:pt x="12" y="0"/>
                      </a:lnTo>
                      <a:lnTo>
                        <a:pt x="13" y="0"/>
                      </a:lnTo>
                      <a:lnTo>
                        <a:pt x="15" y="0"/>
                      </a:lnTo>
                      <a:lnTo>
                        <a:pt x="16" y="1"/>
                      </a:lnTo>
                      <a:lnTo>
                        <a:pt x="16" y="2"/>
                      </a:lnTo>
                      <a:lnTo>
                        <a:pt x="17" y="3"/>
                      </a:lnTo>
                      <a:lnTo>
                        <a:pt x="18" y="4"/>
                      </a:lnTo>
                      <a:lnTo>
                        <a:pt x="18" y="5"/>
                      </a:lnTo>
                      <a:lnTo>
                        <a:pt x="18" y="6"/>
                      </a:lnTo>
                      <a:lnTo>
                        <a:pt x="18" y="7"/>
                      </a:lnTo>
                      <a:lnTo>
                        <a:pt x="19" y="8"/>
                      </a:lnTo>
                      <a:lnTo>
                        <a:pt x="18" y="8"/>
                      </a:lnTo>
                      <a:lnTo>
                        <a:pt x="18" y="9"/>
                      </a:lnTo>
                      <a:lnTo>
                        <a:pt x="18" y="10"/>
                      </a:lnTo>
                      <a:lnTo>
                        <a:pt x="18" y="11"/>
                      </a:lnTo>
                      <a:lnTo>
                        <a:pt x="17" y="12"/>
                      </a:lnTo>
                      <a:lnTo>
                        <a:pt x="16" y="13"/>
                      </a:lnTo>
                      <a:lnTo>
                        <a:pt x="16" y="14"/>
                      </a:lnTo>
                      <a:lnTo>
                        <a:pt x="15" y="15"/>
                      </a:lnTo>
                      <a:lnTo>
                        <a:pt x="13" y="15"/>
                      </a:lnTo>
                      <a:lnTo>
                        <a:pt x="13" y="16"/>
                      </a:lnTo>
                      <a:lnTo>
                        <a:pt x="12" y="16"/>
                      </a:lnTo>
                      <a:lnTo>
                        <a:pt x="5" y="16"/>
                      </a:lnTo>
                    </a:path>
                  </a:pathLst>
                </a:custGeom>
                <a:solidFill>
                  <a:srgbClr val="666666"/>
                </a:solidFill>
                <a:ln w="12700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33" name="Freeform 1619"/>
                <p:cNvSpPr>
                  <a:spLocks/>
                </p:cNvSpPr>
                <p:nvPr/>
              </p:nvSpPr>
              <p:spPr bwMode="auto">
                <a:xfrm>
                  <a:off x="3921" y="1489"/>
                  <a:ext cx="17" cy="38"/>
                </a:xfrm>
                <a:custGeom>
                  <a:avLst/>
                  <a:gdLst>
                    <a:gd name="T0" fmla="*/ 8 w 17"/>
                    <a:gd name="T1" fmla="*/ 0 h 38"/>
                    <a:gd name="T2" fmla="*/ 0 w 17"/>
                    <a:gd name="T3" fmla="*/ 22 h 38"/>
                    <a:gd name="T4" fmla="*/ 16 w 17"/>
                    <a:gd name="T5" fmla="*/ 22 h 38"/>
                    <a:gd name="T6" fmla="*/ 16 w 17"/>
                    <a:gd name="T7" fmla="*/ 37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38"/>
                    <a:gd name="T14" fmla="*/ 17 w 17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38">
                      <a:moveTo>
                        <a:pt x="8" y="0"/>
                      </a:moveTo>
                      <a:lnTo>
                        <a:pt x="0" y="22"/>
                      </a:lnTo>
                      <a:lnTo>
                        <a:pt x="16" y="22"/>
                      </a:lnTo>
                      <a:lnTo>
                        <a:pt x="16" y="37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34" name="Freeform 1620"/>
                <p:cNvSpPr>
                  <a:spLocks/>
                </p:cNvSpPr>
                <p:nvPr/>
              </p:nvSpPr>
              <p:spPr bwMode="auto">
                <a:xfrm>
                  <a:off x="3979" y="1489"/>
                  <a:ext cx="17" cy="72"/>
                </a:xfrm>
                <a:custGeom>
                  <a:avLst/>
                  <a:gdLst>
                    <a:gd name="T0" fmla="*/ 0 w 17"/>
                    <a:gd name="T1" fmla="*/ 0 h 72"/>
                    <a:gd name="T2" fmla="*/ 16 w 17"/>
                    <a:gd name="T3" fmla="*/ 22 h 72"/>
                    <a:gd name="T4" fmla="*/ 0 w 17"/>
                    <a:gd name="T5" fmla="*/ 22 h 72"/>
                    <a:gd name="T6" fmla="*/ 0 w 17"/>
                    <a:gd name="T7" fmla="*/ 71 h 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72"/>
                    <a:gd name="T14" fmla="*/ 17 w 17"/>
                    <a:gd name="T15" fmla="*/ 72 h 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72">
                      <a:moveTo>
                        <a:pt x="0" y="0"/>
                      </a:moveTo>
                      <a:lnTo>
                        <a:pt x="16" y="22"/>
                      </a:lnTo>
                      <a:lnTo>
                        <a:pt x="0" y="22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35" name="Freeform 1621"/>
                <p:cNvSpPr>
                  <a:spLocks/>
                </p:cNvSpPr>
                <p:nvPr/>
              </p:nvSpPr>
              <p:spPr bwMode="auto">
                <a:xfrm>
                  <a:off x="3855" y="1532"/>
                  <a:ext cx="250" cy="41"/>
                </a:xfrm>
                <a:custGeom>
                  <a:avLst/>
                  <a:gdLst>
                    <a:gd name="T0" fmla="*/ 0 w 250"/>
                    <a:gd name="T1" fmla="*/ 40 h 41"/>
                    <a:gd name="T2" fmla="*/ 249 w 250"/>
                    <a:gd name="T3" fmla="*/ 40 h 41"/>
                    <a:gd name="T4" fmla="*/ 240 w 250"/>
                    <a:gd name="T5" fmla="*/ 0 h 41"/>
                    <a:gd name="T6" fmla="*/ 10 w 250"/>
                    <a:gd name="T7" fmla="*/ 0 h 41"/>
                    <a:gd name="T8" fmla="*/ 0 w 250"/>
                    <a:gd name="T9" fmla="*/ 40 h 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0"/>
                    <a:gd name="T16" fmla="*/ 0 h 41"/>
                    <a:gd name="T17" fmla="*/ 250 w 250"/>
                    <a:gd name="T18" fmla="*/ 41 h 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0" h="41">
                      <a:moveTo>
                        <a:pt x="0" y="40"/>
                      </a:moveTo>
                      <a:lnTo>
                        <a:pt x="249" y="40"/>
                      </a:lnTo>
                      <a:lnTo>
                        <a:pt x="240" y="0"/>
                      </a:lnTo>
                      <a:lnTo>
                        <a:pt x="10" y="0"/>
                      </a:lnTo>
                      <a:lnTo>
                        <a:pt x="0" y="40"/>
                      </a:lnTo>
                    </a:path>
                  </a:pathLst>
                </a:custGeom>
                <a:solidFill>
                  <a:srgbClr val="EFEFD1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36" name="Freeform 1622"/>
                <p:cNvSpPr>
                  <a:spLocks/>
                </p:cNvSpPr>
                <p:nvPr/>
              </p:nvSpPr>
              <p:spPr bwMode="auto">
                <a:xfrm>
                  <a:off x="3855" y="1572"/>
                  <a:ext cx="251" cy="17"/>
                </a:xfrm>
                <a:custGeom>
                  <a:avLst/>
                  <a:gdLst>
                    <a:gd name="T0" fmla="*/ 0 w 251"/>
                    <a:gd name="T1" fmla="*/ 16 h 17"/>
                    <a:gd name="T2" fmla="*/ 0 w 251"/>
                    <a:gd name="T3" fmla="*/ 0 h 17"/>
                    <a:gd name="T4" fmla="*/ 249 w 251"/>
                    <a:gd name="T5" fmla="*/ 0 h 17"/>
                    <a:gd name="T6" fmla="*/ 250 w 251"/>
                    <a:gd name="T7" fmla="*/ 16 h 17"/>
                    <a:gd name="T8" fmla="*/ 0 w 251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1"/>
                    <a:gd name="T16" fmla="*/ 0 h 17"/>
                    <a:gd name="T17" fmla="*/ 251 w 251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1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249" y="0"/>
                      </a:lnTo>
                      <a:lnTo>
                        <a:pt x="250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CCCC6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37" name="Freeform 1623"/>
                <p:cNvSpPr>
                  <a:spLocks/>
                </p:cNvSpPr>
                <p:nvPr/>
              </p:nvSpPr>
              <p:spPr bwMode="auto">
                <a:xfrm>
                  <a:off x="3872" y="1538"/>
                  <a:ext cx="223" cy="28"/>
                </a:xfrm>
                <a:custGeom>
                  <a:avLst/>
                  <a:gdLst>
                    <a:gd name="T0" fmla="*/ 0 w 223"/>
                    <a:gd name="T1" fmla="*/ 27 h 28"/>
                    <a:gd name="T2" fmla="*/ 222 w 223"/>
                    <a:gd name="T3" fmla="*/ 27 h 28"/>
                    <a:gd name="T4" fmla="*/ 214 w 223"/>
                    <a:gd name="T5" fmla="*/ 0 h 28"/>
                    <a:gd name="T6" fmla="*/ 8 w 223"/>
                    <a:gd name="T7" fmla="*/ 0 h 28"/>
                    <a:gd name="T8" fmla="*/ 0 w 223"/>
                    <a:gd name="T9" fmla="*/ 27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3"/>
                    <a:gd name="T16" fmla="*/ 0 h 28"/>
                    <a:gd name="T17" fmla="*/ 223 w 223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3" h="28">
                      <a:moveTo>
                        <a:pt x="0" y="27"/>
                      </a:moveTo>
                      <a:lnTo>
                        <a:pt x="222" y="27"/>
                      </a:lnTo>
                      <a:lnTo>
                        <a:pt x="214" y="0"/>
                      </a:lnTo>
                      <a:lnTo>
                        <a:pt x="8" y="0"/>
                      </a:lnTo>
                      <a:lnTo>
                        <a:pt x="0" y="27"/>
                      </a:lnTo>
                    </a:path>
                  </a:pathLst>
                </a:custGeom>
                <a:solidFill>
                  <a:srgbClr val="999999"/>
                </a:solidFill>
                <a:ln w="12700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281" name="Freeform 1625"/>
              <p:cNvSpPr>
                <a:spLocks/>
              </p:cNvSpPr>
              <p:nvPr/>
            </p:nvSpPr>
            <p:spPr bwMode="auto">
              <a:xfrm rot="388125">
                <a:off x="1519" y="977"/>
                <a:ext cx="2138" cy="1864"/>
              </a:xfrm>
              <a:custGeom>
                <a:avLst/>
                <a:gdLst>
                  <a:gd name="T0" fmla="*/ 2500 w 1082"/>
                  <a:gd name="T1" fmla="*/ 112146 h 670"/>
                  <a:gd name="T2" fmla="*/ 124 w 1082"/>
                  <a:gd name="T3" fmla="*/ 137663 h 670"/>
                  <a:gd name="T4" fmla="*/ 484 w 1082"/>
                  <a:gd name="T5" fmla="*/ 161806 h 670"/>
                  <a:gd name="T6" fmla="*/ 2500 w 1082"/>
                  <a:gd name="T7" fmla="*/ 179484 h 670"/>
                  <a:gd name="T8" fmla="*/ 1844 w 1082"/>
                  <a:gd name="T9" fmla="*/ 195653 h 670"/>
                  <a:gd name="T10" fmla="*/ 1543 w 1082"/>
                  <a:gd name="T11" fmla="*/ 219855 h 670"/>
                  <a:gd name="T12" fmla="*/ 3341 w 1082"/>
                  <a:gd name="T13" fmla="*/ 241193 h 670"/>
                  <a:gd name="T14" fmla="*/ 7930 w 1082"/>
                  <a:gd name="T15" fmla="*/ 253640 h 670"/>
                  <a:gd name="T16" fmla="*/ 9453 w 1082"/>
                  <a:gd name="T17" fmla="*/ 261975 h 670"/>
                  <a:gd name="T18" fmla="*/ 14227 w 1082"/>
                  <a:gd name="T19" fmla="*/ 286180 h 670"/>
                  <a:gd name="T20" fmla="*/ 20183 w 1082"/>
                  <a:gd name="T21" fmla="*/ 291691 h 670"/>
                  <a:gd name="T22" fmla="*/ 24512 w 1082"/>
                  <a:gd name="T23" fmla="*/ 281033 h 670"/>
                  <a:gd name="T24" fmla="*/ 28175 w 1082"/>
                  <a:gd name="T25" fmla="*/ 302828 h 670"/>
                  <a:gd name="T26" fmla="*/ 32926 w 1082"/>
                  <a:gd name="T27" fmla="*/ 310684 h 670"/>
                  <a:gd name="T28" fmla="*/ 38923 w 1082"/>
                  <a:gd name="T29" fmla="*/ 297681 h 670"/>
                  <a:gd name="T30" fmla="*/ 42254 w 1082"/>
                  <a:gd name="T31" fmla="*/ 268502 h 670"/>
                  <a:gd name="T32" fmla="*/ 44758 w 1082"/>
                  <a:gd name="T33" fmla="*/ 270375 h 670"/>
                  <a:gd name="T34" fmla="*/ 48860 w 1082"/>
                  <a:gd name="T35" fmla="*/ 271691 h 670"/>
                  <a:gd name="T36" fmla="*/ 51907 w 1082"/>
                  <a:gd name="T37" fmla="*/ 262813 h 670"/>
                  <a:gd name="T38" fmla="*/ 54701 w 1082"/>
                  <a:gd name="T39" fmla="*/ 243525 h 670"/>
                  <a:gd name="T40" fmla="*/ 55673 w 1082"/>
                  <a:gd name="T41" fmla="*/ 222200 h 670"/>
                  <a:gd name="T42" fmla="*/ 57501 w 1082"/>
                  <a:gd name="T43" fmla="*/ 213331 h 670"/>
                  <a:gd name="T44" fmla="*/ 61968 w 1082"/>
                  <a:gd name="T45" fmla="*/ 193864 h 670"/>
                  <a:gd name="T46" fmla="*/ 63741 w 1082"/>
                  <a:gd name="T47" fmla="*/ 174337 h 670"/>
                  <a:gd name="T48" fmla="*/ 64405 w 1082"/>
                  <a:gd name="T49" fmla="*/ 150667 h 670"/>
                  <a:gd name="T50" fmla="*/ 63857 w 1082"/>
                  <a:gd name="T51" fmla="*/ 129350 h 670"/>
                  <a:gd name="T52" fmla="*/ 62261 w 1082"/>
                  <a:gd name="T53" fmla="*/ 110357 h 670"/>
                  <a:gd name="T54" fmla="*/ 62933 w 1082"/>
                  <a:gd name="T55" fmla="*/ 89491 h 670"/>
                  <a:gd name="T56" fmla="*/ 61297 w 1082"/>
                  <a:gd name="T57" fmla="*/ 57987 h 670"/>
                  <a:gd name="T58" fmla="*/ 57076 w 1082"/>
                  <a:gd name="T59" fmla="*/ 38994 h 670"/>
                  <a:gd name="T60" fmla="*/ 55493 w 1082"/>
                  <a:gd name="T61" fmla="*/ 16648 h 670"/>
                  <a:gd name="T62" fmla="*/ 51235 w 1082"/>
                  <a:gd name="T63" fmla="*/ 1013 h 670"/>
                  <a:gd name="T64" fmla="*/ 47686 w 1082"/>
                  <a:gd name="T65" fmla="*/ 2345 h 670"/>
                  <a:gd name="T66" fmla="*/ 45003 w 1082"/>
                  <a:gd name="T67" fmla="*/ 13003 h 670"/>
                  <a:gd name="T68" fmla="*/ 43375 w 1082"/>
                  <a:gd name="T69" fmla="*/ 9643 h 670"/>
                  <a:gd name="T70" fmla="*/ 40782 w 1082"/>
                  <a:gd name="T71" fmla="*/ 1013 h 670"/>
                  <a:gd name="T72" fmla="*/ 37502 w 1082"/>
                  <a:gd name="T73" fmla="*/ 1850 h 670"/>
                  <a:gd name="T74" fmla="*/ 34473 w 1082"/>
                  <a:gd name="T75" fmla="*/ 13846 h 670"/>
                  <a:gd name="T76" fmla="*/ 32258 w 1082"/>
                  <a:gd name="T77" fmla="*/ 18150 h 670"/>
                  <a:gd name="T78" fmla="*/ 28679 w 1082"/>
                  <a:gd name="T79" fmla="*/ 9643 h 670"/>
                  <a:gd name="T80" fmla="*/ 24759 w 1082"/>
                  <a:gd name="T81" fmla="*/ 13482 h 670"/>
                  <a:gd name="T82" fmla="*/ 21479 w 1082"/>
                  <a:gd name="T83" fmla="*/ 30967 h 670"/>
                  <a:gd name="T84" fmla="*/ 18402 w 1082"/>
                  <a:gd name="T85" fmla="*/ 30667 h 670"/>
                  <a:gd name="T86" fmla="*/ 13731 w 1082"/>
                  <a:gd name="T87" fmla="*/ 29652 h 670"/>
                  <a:gd name="T88" fmla="*/ 10121 w 1082"/>
                  <a:gd name="T89" fmla="*/ 39367 h 670"/>
                  <a:gd name="T90" fmla="*/ 7438 w 1082"/>
                  <a:gd name="T91" fmla="*/ 57517 h 670"/>
                  <a:gd name="T92" fmla="*/ 5904 w 1082"/>
                  <a:gd name="T93" fmla="*/ 81179 h 670"/>
                  <a:gd name="T94" fmla="*/ 5778 w 1082"/>
                  <a:gd name="T95" fmla="*/ 103338 h 67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1082"/>
                  <a:gd name="T145" fmla="*/ 0 h 670"/>
                  <a:gd name="T146" fmla="*/ 1082 w 1082"/>
                  <a:gd name="T147" fmla="*/ 670 h 67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1082" h="670">
                    <a:moveTo>
                      <a:pt x="98" y="223"/>
                    </a:moveTo>
                    <a:lnTo>
                      <a:pt x="78" y="226"/>
                    </a:lnTo>
                    <a:lnTo>
                      <a:pt x="59" y="233"/>
                    </a:lnTo>
                    <a:lnTo>
                      <a:pt x="42" y="242"/>
                    </a:lnTo>
                    <a:lnTo>
                      <a:pt x="28" y="253"/>
                    </a:lnTo>
                    <a:lnTo>
                      <a:pt x="16" y="266"/>
                    </a:lnTo>
                    <a:lnTo>
                      <a:pt x="7" y="281"/>
                    </a:lnTo>
                    <a:lnTo>
                      <a:pt x="2" y="297"/>
                    </a:lnTo>
                    <a:lnTo>
                      <a:pt x="0" y="314"/>
                    </a:lnTo>
                    <a:lnTo>
                      <a:pt x="1" y="326"/>
                    </a:lnTo>
                    <a:lnTo>
                      <a:pt x="4" y="338"/>
                    </a:lnTo>
                    <a:lnTo>
                      <a:pt x="8" y="349"/>
                    </a:lnTo>
                    <a:lnTo>
                      <a:pt x="14" y="360"/>
                    </a:lnTo>
                    <a:lnTo>
                      <a:pt x="22" y="370"/>
                    </a:lnTo>
                    <a:lnTo>
                      <a:pt x="31" y="379"/>
                    </a:lnTo>
                    <a:lnTo>
                      <a:pt x="42" y="387"/>
                    </a:lnTo>
                    <a:lnTo>
                      <a:pt x="54" y="394"/>
                    </a:lnTo>
                    <a:lnTo>
                      <a:pt x="53" y="393"/>
                    </a:lnTo>
                    <a:lnTo>
                      <a:pt x="40" y="407"/>
                    </a:lnTo>
                    <a:lnTo>
                      <a:pt x="31" y="422"/>
                    </a:lnTo>
                    <a:lnTo>
                      <a:pt x="26" y="438"/>
                    </a:lnTo>
                    <a:lnTo>
                      <a:pt x="24" y="456"/>
                    </a:lnTo>
                    <a:lnTo>
                      <a:pt x="25" y="465"/>
                    </a:lnTo>
                    <a:lnTo>
                      <a:pt x="26" y="474"/>
                    </a:lnTo>
                    <a:lnTo>
                      <a:pt x="29" y="483"/>
                    </a:lnTo>
                    <a:lnTo>
                      <a:pt x="33" y="491"/>
                    </a:lnTo>
                    <a:lnTo>
                      <a:pt x="43" y="507"/>
                    </a:lnTo>
                    <a:lnTo>
                      <a:pt x="56" y="520"/>
                    </a:lnTo>
                    <a:lnTo>
                      <a:pt x="72" y="531"/>
                    </a:lnTo>
                    <a:lnTo>
                      <a:pt x="91" y="540"/>
                    </a:lnTo>
                    <a:lnTo>
                      <a:pt x="111" y="545"/>
                    </a:lnTo>
                    <a:lnTo>
                      <a:pt x="133" y="547"/>
                    </a:lnTo>
                    <a:lnTo>
                      <a:pt x="139" y="547"/>
                    </a:lnTo>
                    <a:lnTo>
                      <a:pt x="146" y="547"/>
                    </a:lnTo>
                    <a:lnTo>
                      <a:pt x="145" y="547"/>
                    </a:lnTo>
                    <a:lnTo>
                      <a:pt x="159" y="565"/>
                    </a:lnTo>
                    <a:lnTo>
                      <a:pt x="176" y="582"/>
                    </a:lnTo>
                    <a:lnTo>
                      <a:pt x="195" y="596"/>
                    </a:lnTo>
                    <a:lnTo>
                      <a:pt x="216" y="608"/>
                    </a:lnTo>
                    <a:lnTo>
                      <a:pt x="239" y="617"/>
                    </a:lnTo>
                    <a:lnTo>
                      <a:pt x="263" y="624"/>
                    </a:lnTo>
                    <a:lnTo>
                      <a:pt x="287" y="629"/>
                    </a:lnTo>
                    <a:lnTo>
                      <a:pt x="313" y="630"/>
                    </a:lnTo>
                    <a:lnTo>
                      <a:pt x="339" y="629"/>
                    </a:lnTo>
                    <a:lnTo>
                      <a:pt x="365" y="624"/>
                    </a:lnTo>
                    <a:lnTo>
                      <a:pt x="389" y="617"/>
                    </a:lnTo>
                    <a:lnTo>
                      <a:pt x="413" y="606"/>
                    </a:lnTo>
                    <a:lnTo>
                      <a:pt x="412" y="606"/>
                    </a:lnTo>
                    <a:lnTo>
                      <a:pt x="425" y="620"/>
                    </a:lnTo>
                    <a:lnTo>
                      <a:pt x="440" y="633"/>
                    </a:lnTo>
                    <a:lnTo>
                      <a:pt x="456" y="644"/>
                    </a:lnTo>
                    <a:lnTo>
                      <a:pt x="473" y="653"/>
                    </a:lnTo>
                    <a:lnTo>
                      <a:pt x="492" y="660"/>
                    </a:lnTo>
                    <a:lnTo>
                      <a:pt x="511" y="666"/>
                    </a:lnTo>
                    <a:lnTo>
                      <a:pt x="532" y="669"/>
                    </a:lnTo>
                    <a:lnTo>
                      <a:pt x="553" y="670"/>
                    </a:lnTo>
                    <a:lnTo>
                      <a:pt x="580" y="668"/>
                    </a:lnTo>
                    <a:lnTo>
                      <a:pt x="606" y="663"/>
                    </a:lnTo>
                    <a:lnTo>
                      <a:pt x="631" y="654"/>
                    </a:lnTo>
                    <a:lnTo>
                      <a:pt x="654" y="642"/>
                    </a:lnTo>
                    <a:lnTo>
                      <a:pt x="674" y="627"/>
                    </a:lnTo>
                    <a:lnTo>
                      <a:pt x="691" y="610"/>
                    </a:lnTo>
                    <a:lnTo>
                      <a:pt x="705" y="590"/>
                    </a:lnTo>
                    <a:lnTo>
                      <a:pt x="710" y="579"/>
                    </a:lnTo>
                    <a:lnTo>
                      <a:pt x="715" y="568"/>
                    </a:lnTo>
                    <a:lnTo>
                      <a:pt x="715" y="569"/>
                    </a:lnTo>
                    <a:lnTo>
                      <a:pt x="733" y="577"/>
                    </a:lnTo>
                    <a:lnTo>
                      <a:pt x="752" y="583"/>
                    </a:lnTo>
                    <a:lnTo>
                      <a:pt x="771" y="587"/>
                    </a:lnTo>
                    <a:lnTo>
                      <a:pt x="792" y="588"/>
                    </a:lnTo>
                    <a:lnTo>
                      <a:pt x="807" y="587"/>
                    </a:lnTo>
                    <a:lnTo>
                      <a:pt x="821" y="586"/>
                    </a:lnTo>
                    <a:lnTo>
                      <a:pt x="835" y="583"/>
                    </a:lnTo>
                    <a:lnTo>
                      <a:pt x="848" y="579"/>
                    </a:lnTo>
                    <a:lnTo>
                      <a:pt x="860" y="573"/>
                    </a:lnTo>
                    <a:lnTo>
                      <a:pt x="872" y="567"/>
                    </a:lnTo>
                    <a:lnTo>
                      <a:pt x="894" y="553"/>
                    </a:lnTo>
                    <a:lnTo>
                      <a:pt x="903" y="544"/>
                    </a:lnTo>
                    <a:lnTo>
                      <a:pt x="911" y="535"/>
                    </a:lnTo>
                    <a:lnTo>
                      <a:pt x="919" y="525"/>
                    </a:lnTo>
                    <a:lnTo>
                      <a:pt x="925" y="514"/>
                    </a:lnTo>
                    <a:lnTo>
                      <a:pt x="930" y="503"/>
                    </a:lnTo>
                    <a:lnTo>
                      <a:pt x="933" y="491"/>
                    </a:lnTo>
                    <a:lnTo>
                      <a:pt x="935" y="479"/>
                    </a:lnTo>
                    <a:lnTo>
                      <a:pt x="936" y="467"/>
                    </a:lnTo>
                    <a:lnTo>
                      <a:pt x="936" y="466"/>
                    </a:lnTo>
                    <a:lnTo>
                      <a:pt x="952" y="464"/>
                    </a:lnTo>
                    <a:lnTo>
                      <a:pt x="966" y="460"/>
                    </a:lnTo>
                    <a:lnTo>
                      <a:pt x="981" y="455"/>
                    </a:lnTo>
                    <a:lnTo>
                      <a:pt x="994" y="450"/>
                    </a:lnTo>
                    <a:lnTo>
                      <a:pt x="1019" y="436"/>
                    </a:lnTo>
                    <a:lnTo>
                      <a:pt x="1041" y="418"/>
                    </a:lnTo>
                    <a:lnTo>
                      <a:pt x="1050" y="409"/>
                    </a:lnTo>
                    <a:lnTo>
                      <a:pt x="1058" y="398"/>
                    </a:lnTo>
                    <a:lnTo>
                      <a:pt x="1065" y="387"/>
                    </a:lnTo>
                    <a:lnTo>
                      <a:pt x="1071" y="376"/>
                    </a:lnTo>
                    <a:lnTo>
                      <a:pt x="1076" y="364"/>
                    </a:lnTo>
                    <a:lnTo>
                      <a:pt x="1079" y="351"/>
                    </a:lnTo>
                    <a:lnTo>
                      <a:pt x="1081" y="338"/>
                    </a:lnTo>
                    <a:lnTo>
                      <a:pt x="1082" y="325"/>
                    </a:lnTo>
                    <a:lnTo>
                      <a:pt x="1081" y="313"/>
                    </a:lnTo>
                    <a:lnTo>
                      <a:pt x="1080" y="301"/>
                    </a:lnTo>
                    <a:lnTo>
                      <a:pt x="1077" y="290"/>
                    </a:lnTo>
                    <a:lnTo>
                      <a:pt x="1073" y="279"/>
                    </a:lnTo>
                    <a:lnTo>
                      <a:pt x="1068" y="268"/>
                    </a:lnTo>
                    <a:lnTo>
                      <a:pt x="1062" y="258"/>
                    </a:lnTo>
                    <a:lnTo>
                      <a:pt x="1047" y="238"/>
                    </a:lnTo>
                    <a:lnTo>
                      <a:pt x="1046" y="238"/>
                    </a:lnTo>
                    <a:lnTo>
                      <a:pt x="1051" y="227"/>
                    </a:lnTo>
                    <a:lnTo>
                      <a:pt x="1054" y="216"/>
                    </a:lnTo>
                    <a:lnTo>
                      <a:pt x="1056" y="204"/>
                    </a:lnTo>
                    <a:lnTo>
                      <a:pt x="1057" y="193"/>
                    </a:lnTo>
                    <a:lnTo>
                      <a:pt x="1055" y="174"/>
                    </a:lnTo>
                    <a:lnTo>
                      <a:pt x="1050" y="156"/>
                    </a:lnTo>
                    <a:lnTo>
                      <a:pt x="1041" y="140"/>
                    </a:lnTo>
                    <a:lnTo>
                      <a:pt x="1030" y="125"/>
                    </a:lnTo>
                    <a:lnTo>
                      <a:pt x="1016" y="111"/>
                    </a:lnTo>
                    <a:lnTo>
                      <a:pt x="999" y="100"/>
                    </a:lnTo>
                    <a:lnTo>
                      <a:pt x="980" y="91"/>
                    </a:lnTo>
                    <a:lnTo>
                      <a:pt x="959" y="84"/>
                    </a:lnTo>
                    <a:lnTo>
                      <a:pt x="953" y="66"/>
                    </a:lnTo>
                    <a:lnTo>
                      <a:pt x="944" y="50"/>
                    </a:lnTo>
                    <a:lnTo>
                      <a:pt x="932" y="36"/>
                    </a:lnTo>
                    <a:lnTo>
                      <a:pt x="917" y="24"/>
                    </a:lnTo>
                    <a:lnTo>
                      <a:pt x="900" y="14"/>
                    </a:lnTo>
                    <a:lnTo>
                      <a:pt x="881" y="6"/>
                    </a:lnTo>
                    <a:lnTo>
                      <a:pt x="861" y="2"/>
                    </a:lnTo>
                    <a:lnTo>
                      <a:pt x="839" y="0"/>
                    </a:lnTo>
                    <a:lnTo>
                      <a:pt x="826" y="1"/>
                    </a:lnTo>
                    <a:lnTo>
                      <a:pt x="813" y="2"/>
                    </a:lnTo>
                    <a:lnTo>
                      <a:pt x="801" y="5"/>
                    </a:lnTo>
                    <a:lnTo>
                      <a:pt x="789" y="9"/>
                    </a:lnTo>
                    <a:lnTo>
                      <a:pt x="777" y="15"/>
                    </a:lnTo>
                    <a:lnTo>
                      <a:pt x="766" y="21"/>
                    </a:lnTo>
                    <a:lnTo>
                      <a:pt x="756" y="28"/>
                    </a:lnTo>
                    <a:lnTo>
                      <a:pt x="747" y="36"/>
                    </a:lnTo>
                    <a:lnTo>
                      <a:pt x="739" y="28"/>
                    </a:lnTo>
                    <a:lnTo>
                      <a:pt x="729" y="21"/>
                    </a:lnTo>
                    <a:lnTo>
                      <a:pt x="719" y="15"/>
                    </a:lnTo>
                    <a:lnTo>
                      <a:pt x="708" y="9"/>
                    </a:lnTo>
                    <a:lnTo>
                      <a:pt x="697" y="5"/>
                    </a:lnTo>
                    <a:lnTo>
                      <a:pt x="685" y="2"/>
                    </a:lnTo>
                    <a:lnTo>
                      <a:pt x="673" y="1"/>
                    </a:lnTo>
                    <a:lnTo>
                      <a:pt x="660" y="0"/>
                    </a:lnTo>
                    <a:lnTo>
                      <a:pt x="645" y="1"/>
                    </a:lnTo>
                    <a:lnTo>
                      <a:pt x="630" y="4"/>
                    </a:lnTo>
                    <a:lnTo>
                      <a:pt x="616" y="8"/>
                    </a:lnTo>
                    <a:lnTo>
                      <a:pt x="602" y="14"/>
                    </a:lnTo>
                    <a:lnTo>
                      <a:pt x="590" y="21"/>
                    </a:lnTo>
                    <a:lnTo>
                      <a:pt x="579" y="30"/>
                    </a:lnTo>
                    <a:lnTo>
                      <a:pt x="570" y="40"/>
                    </a:lnTo>
                    <a:lnTo>
                      <a:pt x="562" y="51"/>
                    </a:lnTo>
                    <a:lnTo>
                      <a:pt x="562" y="53"/>
                    </a:lnTo>
                    <a:lnTo>
                      <a:pt x="542" y="39"/>
                    </a:lnTo>
                    <a:lnTo>
                      <a:pt x="519" y="29"/>
                    </a:lnTo>
                    <a:lnTo>
                      <a:pt x="507" y="25"/>
                    </a:lnTo>
                    <a:lnTo>
                      <a:pt x="495" y="22"/>
                    </a:lnTo>
                    <a:lnTo>
                      <a:pt x="482" y="21"/>
                    </a:lnTo>
                    <a:lnTo>
                      <a:pt x="469" y="20"/>
                    </a:lnTo>
                    <a:lnTo>
                      <a:pt x="451" y="21"/>
                    </a:lnTo>
                    <a:lnTo>
                      <a:pt x="433" y="24"/>
                    </a:lnTo>
                    <a:lnTo>
                      <a:pt x="416" y="29"/>
                    </a:lnTo>
                    <a:lnTo>
                      <a:pt x="400" y="36"/>
                    </a:lnTo>
                    <a:lnTo>
                      <a:pt x="385" y="45"/>
                    </a:lnTo>
                    <a:lnTo>
                      <a:pt x="372" y="55"/>
                    </a:lnTo>
                    <a:lnTo>
                      <a:pt x="361" y="67"/>
                    </a:lnTo>
                    <a:lnTo>
                      <a:pt x="351" y="80"/>
                    </a:lnTo>
                    <a:lnTo>
                      <a:pt x="350" y="81"/>
                    </a:lnTo>
                    <a:lnTo>
                      <a:pt x="330" y="72"/>
                    </a:lnTo>
                    <a:lnTo>
                      <a:pt x="309" y="66"/>
                    </a:lnTo>
                    <a:lnTo>
                      <a:pt x="287" y="62"/>
                    </a:lnTo>
                    <a:lnTo>
                      <a:pt x="265" y="61"/>
                    </a:lnTo>
                    <a:lnTo>
                      <a:pt x="248" y="62"/>
                    </a:lnTo>
                    <a:lnTo>
                      <a:pt x="231" y="64"/>
                    </a:lnTo>
                    <a:lnTo>
                      <a:pt x="215" y="67"/>
                    </a:lnTo>
                    <a:lnTo>
                      <a:pt x="199" y="72"/>
                    </a:lnTo>
                    <a:lnTo>
                      <a:pt x="184" y="78"/>
                    </a:lnTo>
                    <a:lnTo>
                      <a:pt x="170" y="85"/>
                    </a:lnTo>
                    <a:lnTo>
                      <a:pt x="157" y="94"/>
                    </a:lnTo>
                    <a:lnTo>
                      <a:pt x="145" y="103"/>
                    </a:lnTo>
                    <a:lnTo>
                      <a:pt x="134" y="113"/>
                    </a:lnTo>
                    <a:lnTo>
                      <a:pt x="125" y="124"/>
                    </a:lnTo>
                    <a:lnTo>
                      <a:pt x="116" y="136"/>
                    </a:lnTo>
                    <a:lnTo>
                      <a:pt x="109" y="148"/>
                    </a:lnTo>
                    <a:lnTo>
                      <a:pt x="104" y="161"/>
                    </a:lnTo>
                    <a:lnTo>
                      <a:pt x="99" y="175"/>
                    </a:lnTo>
                    <a:lnTo>
                      <a:pt x="97" y="189"/>
                    </a:lnTo>
                    <a:lnTo>
                      <a:pt x="96" y="204"/>
                    </a:lnTo>
                    <a:lnTo>
                      <a:pt x="96" y="214"/>
                    </a:lnTo>
                    <a:lnTo>
                      <a:pt x="97" y="223"/>
                    </a:lnTo>
                    <a:lnTo>
                      <a:pt x="98" y="223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0243" name="Rectangle 16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Packet Switching Network</a:t>
            </a:r>
          </a:p>
        </p:txBody>
      </p:sp>
      <p:sp>
        <p:nvSpPr>
          <p:cNvPr id="10244" name="Rectangle 1631"/>
          <p:cNvSpPr>
            <a:spLocks noGrp="1" noChangeArrowheads="1"/>
          </p:cNvSpPr>
          <p:nvPr>
            <p:ph type="body" sz="half" idx="2"/>
          </p:nvPr>
        </p:nvSpPr>
        <p:spPr>
          <a:xfrm>
            <a:off x="4814888" y="1590675"/>
            <a:ext cx="4038600" cy="46831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600" smtClean="0"/>
              <a:t>Packet switching network</a:t>
            </a:r>
          </a:p>
          <a:p>
            <a:pPr eaLnBrk="1" hangingPunct="1">
              <a:lnSpc>
                <a:spcPct val="90000"/>
              </a:lnSpc>
            </a:pPr>
            <a:r>
              <a:rPr lang="en-US" sz="2600" smtClean="0"/>
              <a:t>Transfers packets between users</a:t>
            </a:r>
          </a:p>
          <a:p>
            <a:pPr eaLnBrk="1" hangingPunct="1">
              <a:lnSpc>
                <a:spcPct val="90000"/>
              </a:lnSpc>
            </a:pPr>
            <a:r>
              <a:rPr lang="en-US" sz="2600" smtClean="0"/>
              <a:t>Transmission lines + packet switches (routers)</a:t>
            </a:r>
          </a:p>
          <a:p>
            <a:pPr eaLnBrk="1" hangingPunct="1">
              <a:lnSpc>
                <a:spcPct val="90000"/>
              </a:lnSpc>
            </a:pPr>
            <a:r>
              <a:rPr lang="en-US" sz="2600" smtClean="0"/>
              <a:t>Origin in message switching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600" smtClean="0"/>
              <a:t>Two modes of operation:</a:t>
            </a:r>
          </a:p>
          <a:p>
            <a:pPr eaLnBrk="1" hangingPunct="1">
              <a:lnSpc>
                <a:spcPct val="90000"/>
              </a:lnSpc>
            </a:pPr>
            <a:r>
              <a:rPr lang="en-US" sz="2600" smtClean="0"/>
              <a:t>Connectionless</a:t>
            </a:r>
          </a:p>
          <a:p>
            <a:pPr eaLnBrk="1" hangingPunct="1">
              <a:lnSpc>
                <a:spcPct val="90000"/>
              </a:lnSpc>
            </a:pPr>
            <a:r>
              <a:rPr lang="en-US" sz="2600" smtClean="0"/>
              <a:t>Virtual Circuit</a:t>
            </a:r>
          </a:p>
          <a:p>
            <a:pPr eaLnBrk="1" hangingPunct="1">
              <a:lnSpc>
                <a:spcPct val="90000"/>
              </a:lnSpc>
            </a:pPr>
            <a:endParaRPr lang="en-US" sz="26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868863" y="993775"/>
            <a:ext cx="4070350" cy="5435600"/>
          </a:xfrm>
          <a:noFill/>
        </p:spPr>
        <p:txBody>
          <a:bodyPr lIns="90488" tIns="44450" rIns="90488" bIns="44450"/>
          <a:lstStyle/>
          <a:p>
            <a:pPr eaLnBrk="1" hangingPunct="1">
              <a:lnSpc>
                <a:spcPct val="80000"/>
              </a:lnSpc>
            </a:pPr>
            <a:r>
              <a:rPr lang="en-US" sz="2400" smtClean="0"/>
              <a:t>Message switching invented for telegraphy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/>
              <a:t>Entire messages multiplexed onto shared lines, stored &amp; forwarded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/>
              <a:t>Headers for source &amp; destination addresses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/>
              <a:t>Routing at message switches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/>
              <a:t>Connectionless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/>
              <a:t>CRC bits are used  to detect errors.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/>
              <a:t>A high utilization of the transmission line.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/>
              <a:t>The Utilization is based on queue delay.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/>
              <a:t>Loss of messages due to sufficient buffering .</a:t>
            </a:r>
          </a:p>
          <a:p>
            <a:pPr eaLnBrk="1" hangingPunct="1">
              <a:lnSpc>
                <a:spcPct val="80000"/>
              </a:lnSpc>
            </a:pPr>
            <a:endParaRPr lang="en-US" sz="2400" smtClean="0"/>
          </a:p>
          <a:p>
            <a:pPr eaLnBrk="1" hangingPunct="1">
              <a:lnSpc>
                <a:spcPct val="80000"/>
              </a:lnSpc>
            </a:pPr>
            <a:endParaRPr lang="en-US" sz="2400" smtClean="0"/>
          </a:p>
        </p:txBody>
      </p:sp>
      <p:grpSp>
        <p:nvGrpSpPr>
          <p:cNvPr id="11267" name="Group 37"/>
          <p:cNvGrpSpPr>
            <a:grpSpLocks/>
          </p:cNvGrpSpPr>
          <p:nvPr/>
        </p:nvGrpSpPr>
        <p:grpSpPr bwMode="auto">
          <a:xfrm>
            <a:off x="-9525" y="2017713"/>
            <a:ext cx="4860925" cy="3176587"/>
            <a:chOff x="648" y="795"/>
            <a:chExt cx="4853" cy="2741"/>
          </a:xfrm>
        </p:grpSpPr>
        <p:sp>
          <p:nvSpPr>
            <p:cNvPr id="11269" name="Line 38"/>
            <p:cNvSpPr>
              <a:spLocks noChangeShapeType="1"/>
            </p:cNvSpPr>
            <p:nvPr/>
          </p:nvSpPr>
          <p:spPr bwMode="auto">
            <a:xfrm flipV="1">
              <a:off x="1121" y="1356"/>
              <a:ext cx="1006" cy="3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70" name="Line 39"/>
            <p:cNvSpPr>
              <a:spLocks noChangeShapeType="1"/>
            </p:cNvSpPr>
            <p:nvPr/>
          </p:nvSpPr>
          <p:spPr bwMode="auto">
            <a:xfrm>
              <a:off x="2392" y="1365"/>
              <a:ext cx="724" cy="2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71" name="Line 40"/>
            <p:cNvSpPr>
              <a:spLocks noChangeShapeType="1"/>
            </p:cNvSpPr>
            <p:nvPr/>
          </p:nvSpPr>
          <p:spPr bwMode="auto">
            <a:xfrm>
              <a:off x="3380" y="1779"/>
              <a:ext cx="695" cy="3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72" name="Line 41"/>
            <p:cNvSpPr>
              <a:spLocks noChangeShapeType="1"/>
            </p:cNvSpPr>
            <p:nvPr/>
          </p:nvSpPr>
          <p:spPr bwMode="auto">
            <a:xfrm>
              <a:off x="4283" y="2240"/>
              <a:ext cx="54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73" name="Line 42"/>
            <p:cNvSpPr>
              <a:spLocks noChangeShapeType="1"/>
            </p:cNvSpPr>
            <p:nvPr/>
          </p:nvSpPr>
          <p:spPr bwMode="auto">
            <a:xfrm>
              <a:off x="2231" y="1426"/>
              <a:ext cx="0" cy="1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74" name="Line 43"/>
            <p:cNvSpPr>
              <a:spLocks noChangeShapeType="1"/>
            </p:cNvSpPr>
            <p:nvPr/>
          </p:nvSpPr>
          <p:spPr bwMode="auto">
            <a:xfrm flipH="1">
              <a:off x="2296" y="2277"/>
              <a:ext cx="208" cy="5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75" name="Line 44"/>
            <p:cNvSpPr>
              <a:spLocks noChangeShapeType="1"/>
            </p:cNvSpPr>
            <p:nvPr/>
          </p:nvSpPr>
          <p:spPr bwMode="auto">
            <a:xfrm>
              <a:off x="2335" y="1401"/>
              <a:ext cx="159" cy="67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76" name="Line 45"/>
            <p:cNvSpPr>
              <a:spLocks noChangeShapeType="1"/>
            </p:cNvSpPr>
            <p:nvPr/>
          </p:nvSpPr>
          <p:spPr bwMode="auto">
            <a:xfrm>
              <a:off x="2646" y="2229"/>
              <a:ext cx="567" cy="3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77" name="Line 46"/>
            <p:cNvSpPr>
              <a:spLocks noChangeShapeType="1"/>
            </p:cNvSpPr>
            <p:nvPr/>
          </p:nvSpPr>
          <p:spPr bwMode="auto">
            <a:xfrm flipV="1">
              <a:off x="2349" y="2730"/>
              <a:ext cx="780" cy="15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78" name="Line 47"/>
            <p:cNvSpPr>
              <a:spLocks noChangeShapeType="1"/>
            </p:cNvSpPr>
            <p:nvPr/>
          </p:nvSpPr>
          <p:spPr bwMode="auto">
            <a:xfrm flipV="1">
              <a:off x="2618" y="1782"/>
              <a:ext cx="511" cy="3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79" name="Line 48"/>
            <p:cNvSpPr>
              <a:spLocks noChangeShapeType="1"/>
            </p:cNvSpPr>
            <p:nvPr/>
          </p:nvSpPr>
          <p:spPr bwMode="auto">
            <a:xfrm flipV="1">
              <a:off x="1149" y="1308"/>
              <a:ext cx="879" cy="301"/>
            </a:xfrm>
            <a:prstGeom prst="line">
              <a:avLst/>
            </a:prstGeom>
            <a:noFill/>
            <a:ln w="12700">
              <a:solidFill>
                <a:srgbClr val="FF33CC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80" name="Line 49"/>
            <p:cNvSpPr>
              <a:spLocks noChangeShapeType="1"/>
            </p:cNvSpPr>
            <p:nvPr/>
          </p:nvSpPr>
          <p:spPr bwMode="auto">
            <a:xfrm>
              <a:off x="4395" y="2240"/>
              <a:ext cx="457" cy="502"/>
            </a:xfrm>
            <a:prstGeom prst="line">
              <a:avLst/>
            </a:prstGeom>
            <a:noFill/>
            <a:ln w="12700">
              <a:solidFill>
                <a:srgbClr val="FF33CC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81" name="Line 50"/>
            <p:cNvSpPr>
              <a:spLocks noChangeShapeType="1"/>
            </p:cNvSpPr>
            <p:nvPr/>
          </p:nvSpPr>
          <p:spPr bwMode="auto">
            <a:xfrm>
              <a:off x="2419" y="1292"/>
              <a:ext cx="752" cy="308"/>
            </a:xfrm>
            <a:prstGeom prst="line">
              <a:avLst/>
            </a:prstGeom>
            <a:noFill/>
            <a:ln w="12700">
              <a:solidFill>
                <a:srgbClr val="FF33CC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82" name="Line 51"/>
            <p:cNvSpPr>
              <a:spLocks noChangeShapeType="1"/>
            </p:cNvSpPr>
            <p:nvPr/>
          </p:nvSpPr>
          <p:spPr bwMode="auto">
            <a:xfrm>
              <a:off x="3436" y="1730"/>
              <a:ext cx="611" cy="295"/>
            </a:xfrm>
            <a:prstGeom prst="line">
              <a:avLst/>
            </a:prstGeom>
            <a:noFill/>
            <a:ln w="12700">
              <a:solidFill>
                <a:srgbClr val="FF33CC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83" name="Line 52"/>
            <p:cNvSpPr>
              <a:spLocks noChangeShapeType="1"/>
            </p:cNvSpPr>
            <p:nvPr/>
          </p:nvSpPr>
          <p:spPr bwMode="auto">
            <a:xfrm flipH="1" flipV="1">
              <a:off x="2291" y="2992"/>
              <a:ext cx="393" cy="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84" name="Line 53"/>
            <p:cNvSpPr>
              <a:spLocks noChangeShapeType="1"/>
            </p:cNvSpPr>
            <p:nvPr/>
          </p:nvSpPr>
          <p:spPr bwMode="auto">
            <a:xfrm flipV="1">
              <a:off x="2965" y="2799"/>
              <a:ext cx="243" cy="2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85" name="Rectangle 54"/>
            <p:cNvSpPr>
              <a:spLocks noChangeArrowheads="1"/>
            </p:cNvSpPr>
            <p:nvPr/>
          </p:nvSpPr>
          <p:spPr bwMode="auto">
            <a:xfrm>
              <a:off x="2377" y="3077"/>
              <a:ext cx="991" cy="23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lnSpc>
                  <a:spcPct val="75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Switches</a:t>
              </a:r>
            </a:p>
          </p:txBody>
        </p:sp>
        <p:sp>
          <p:nvSpPr>
            <p:cNvPr id="11286" name="Rectangle 55"/>
            <p:cNvSpPr>
              <a:spLocks noChangeArrowheads="1"/>
            </p:cNvSpPr>
            <p:nvPr/>
          </p:nvSpPr>
          <p:spPr bwMode="auto">
            <a:xfrm>
              <a:off x="2536" y="1096"/>
              <a:ext cx="1003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Message</a:t>
              </a:r>
            </a:p>
          </p:txBody>
        </p:sp>
        <p:sp>
          <p:nvSpPr>
            <p:cNvPr id="11287" name="Rectangle 56"/>
            <p:cNvSpPr>
              <a:spLocks noChangeArrowheads="1"/>
            </p:cNvSpPr>
            <p:nvPr/>
          </p:nvSpPr>
          <p:spPr bwMode="auto">
            <a:xfrm>
              <a:off x="4190" y="3103"/>
              <a:ext cx="1194" cy="23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lnSpc>
                  <a:spcPct val="75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Destination</a:t>
              </a:r>
            </a:p>
          </p:txBody>
        </p:sp>
        <p:sp>
          <p:nvSpPr>
            <p:cNvPr id="11288" name="Rectangle 57"/>
            <p:cNvSpPr>
              <a:spLocks noChangeArrowheads="1"/>
            </p:cNvSpPr>
            <p:nvPr/>
          </p:nvSpPr>
          <p:spPr bwMode="auto">
            <a:xfrm>
              <a:off x="648" y="1922"/>
              <a:ext cx="822" cy="23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lnSpc>
                  <a:spcPct val="75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Source</a:t>
              </a:r>
            </a:p>
          </p:txBody>
        </p:sp>
        <p:sp>
          <p:nvSpPr>
            <p:cNvPr id="11289" name="Rectangle 58"/>
            <p:cNvSpPr>
              <a:spLocks noChangeArrowheads="1"/>
            </p:cNvSpPr>
            <p:nvPr/>
          </p:nvSpPr>
          <p:spPr bwMode="auto">
            <a:xfrm>
              <a:off x="3582" y="1496"/>
              <a:ext cx="1003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Message</a:t>
              </a:r>
            </a:p>
          </p:txBody>
        </p:sp>
        <p:sp>
          <p:nvSpPr>
            <p:cNvPr id="11290" name="Rectangle 59"/>
            <p:cNvSpPr>
              <a:spLocks noChangeArrowheads="1"/>
            </p:cNvSpPr>
            <p:nvPr/>
          </p:nvSpPr>
          <p:spPr bwMode="auto">
            <a:xfrm>
              <a:off x="4498" y="2166"/>
              <a:ext cx="1003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Message</a:t>
              </a:r>
            </a:p>
          </p:txBody>
        </p:sp>
        <p:sp>
          <p:nvSpPr>
            <p:cNvPr id="11291" name="Rectangle 60"/>
            <p:cNvSpPr>
              <a:spLocks noChangeArrowheads="1"/>
            </p:cNvSpPr>
            <p:nvPr/>
          </p:nvSpPr>
          <p:spPr bwMode="auto">
            <a:xfrm>
              <a:off x="928" y="1035"/>
              <a:ext cx="1004" cy="2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Message</a:t>
              </a:r>
            </a:p>
          </p:txBody>
        </p:sp>
        <p:sp>
          <p:nvSpPr>
            <p:cNvPr id="11292" name="Line 61"/>
            <p:cNvSpPr>
              <a:spLocks noChangeShapeType="1"/>
            </p:cNvSpPr>
            <p:nvPr/>
          </p:nvSpPr>
          <p:spPr bwMode="auto">
            <a:xfrm flipV="1">
              <a:off x="3391" y="2240"/>
              <a:ext cx="677" cy="4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293" name="Rectangle 62"/>
            <p:cNvSpPr>
              <a:spLocks noChangeArrowheads="1"/>
            </p:cNvSpPr>
            <p:nvPr/>
          </p:nvSpPr>
          <p:spPr bwMode="auto">
            <a:xfrm>
              <a:off x="2143" y="1211"/>
              <a:ext cx="243" cy="21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US"/>
            </a:p>
          </p:txBody>
        </p:sp>
        <p:sp>
          <p:nvSpPr>
            <p:cNvPr id="11294" name="Rectangle 63"/>
            <p:cNvSpPr>
              <a:spLocks noChangeArrowheads="1"/>
            </p:cNvSpPr>
            <p:nvPr/>
          </p:nvSpPr>
          <p:spPr bwMode="auto">
            <a:xfrm>
              <a:off x="2143" y="2752"/>
              <a:ext cx="243" cy="21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US"/>
            </a:p>
          </p:txBody>
        </p:sp>
        <p:sp>
          <p:nvSpPr>
            <p:cNvPr id="11295" name="Rectangle 64"/>
            <p:cNvSpPr>
              <a:spLocks noChangeArrowheads="1"/>
            </p:cNvSpPr>
            <p:nvPr/>
          </p:nvSpPr>
          <p:spPr bwMode="auto">
            <a:xfrm>
              <a:off x="4038" y="2086"/>
              <a:ext cx="244" cy="21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US"/>
            </a:p>
          </p:txBody>
        </p:sp>
        <p:sp>
          <p:nvSpPr>
            <p:cNvPr id="11296" name="Rectangle 65"/>
            <p:cNvSpPr>
              <a:spLocks noChangeArrowheads="1"/>
            </p:cNvSpPr>
            <p:nvPr/>
          </p:nvSpPr>
          <p:spPr bwMode="auto">
            <a:xfrm>
              <a:off x="3106" y="1649"/>
              <a:ext cx="244" cy="209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US"/>
            </a:p>
          </p:txBody>
        </p:sp>
        <p:sp>
          <p:nvSpPr>
            <p:cNvPr id="11297" name="Rectangle 66"/>
            <p:cNvSpPr>
              <a:spLocks noChangeArrowheads="1"/>
            </p:cNvSpPr>
            <p:nvPr/>
          </p:nvSpPr>
          <p:spPr bwMode="auto">
            <a:xfrm>
              <a:off x="2439" y="2077"/>
              <a:ext cx="244" cy="21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US"/>
            </a:p>
          </p:txBody>
        </p:sp>
        <p:sp>
          <p:nvSpPr>
            <p:cNvPr id="11298" name="Rectangle 67"/>
            <p:cNvSpPr>
              <a:spLocks noChangeArrowheads="1"/>
            </p:cNvSpPr>
            <p:nvPr/>
          </p:nvSpPr>
          <p:spPr bwMode="auto">
            <a:xfrm>
              <a:off x="3149" y="2597"/>
              <a:ext cx="243" cy="210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11299" name="Group 68"/>
            <p:cNvGrpSpPr>
              <a:grpSpLocks/>
            </p:cNvGrpSpPr>
            <p:nvPr/>
          </p:nvGrpSpPr>
          <p:grpSpPr bwMode="auto">
            <a:xfrm>
              <a:off x="835" y="1592"/>
              <a:ext cx="365" cy="239"/>
              <a:chOff x="3840" y="1279"/>
              <a:chExt cx="266" cy="310"/>
            </a:xfrm>
          </p:grpSpPr>
          <p:sp>
            <p:nvSpPr>
              <p:cNvPr id="11358" name="Freeform 69"/>
              <p:cNvSpPr>
                <a:spLocks/>
              </p:cNvSpPr>
              <p:nvPr/>
            </p:nvSpPr>
            <p:spPr bwMode="auto">
              <a:xfrm>
                <a:off x="3848" y="1548"/>
                <a:ext cx="206" cy="20"/>
              </a:xfrm>
              <a:custGeom>
                <a:avLst/>
                <a:gdLst>
                  <a:gd name="T0" fmla="*/ 0 w 206"/>
                  <a:gd name="T1" fmla="*/ 19 h 20"/>
                  <a:gd name="T2" fmla="*/ 0 w 206"/>
                  <a:gd name="T3" fmla="*/ 0 h 20"/>
                  <a:gd name="T4" fmla="*/ 205 w 206"/>
                  <a:gd name="T5" fmla="*/ 0 h 20"/>
                  <a:gd name="T6" fmla="*/ 205 w 206"/>
                  <a:gd name="T7" fmla="*/ 19 h 20"/>
                  <a:gd name="T8" fmla="*/ 0 w 206"/>
                  <a:gd name="T9" fmla="*/ 19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6"/>
                  <a:gd name="T16" fmla="*/ 0 h 20"/>
                  <a:gd name="T17" fmla="*/ 206 w 206"/>
                  <a:gd name="T18" fmla="*/ 20 h 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6" h="20">
                    <a:moveTo>
                      <a:pt x="0" y="19"/>
                    </a:moveTo>
                    <a:lnTo>
                      <a:pt x="0" y="0"/>
                    </a:lnTo>
                    <a:lnTo>
                      <a:pt x="205" y="0"/>
                    </a:lnTo>
                    <a:lnTo>
                      <a:pt x="205" y="19"/>
                    </a:lnTo>
                    <a:lnTo>
                      <a:pt x="0" y="19"/>
                    </a:lnTo>
                  </a:path>
                </a:pathLst>
              </a:custGeom>
              <a:solidFill>
                <a:srgbClr val="666666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9" name="Freeform 70"/>
              <p:cNvSpPr>
                <a:spLocks/>
              </p:cNvSpPr>
              <p:nvPr/>
            </p:nvSpPr>
            <p:spPr bwMode="auto">
              <a:xfrm>
                <a:off x="3840" y="1453"/>
                <a:ext cx="220" cy="34"/>
              </a:xfrm>
              <a:custGeom>
                <a:avLst/>
                <a:gdLst>
                  <a:gd name="T0" fmla="*/ 189 w 220"/>
                  <a:gd name="T1" fmla="*/ 0 h 34"/>
                  <a:gd name="T2" fmla="*/ 219 w 220"/>
                  <a:gd name="T3" fmla="*/ 33 h 34"/>
                  <a:gd name="T4" fmla="*/ 0 w 220"/>
                  <a:gd name="T5" fmla="*/ 33 h 34"/>
                  <a:gd name="T6" fmla="*/ 29 w 220"/>
                  <a:gd name="T7" fmla="*/ 0 h 34"/>
                  <a:gd name="T8" fmla="*/ 189 w 220"/>
                  <a:gd name="T9" fmla="*/ 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0"/>
                  <a:gd name="T16" fmla="*/ 0 h 34"/>
                  <a:gd name="T17" fmla="*/ 220 w 220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0" h="34">
                    <a:moveTo>
                      <a:pt x="189" y="0"/>
                    </a:moveTo>
                    <a:lnTo>
                      <a:pt x="219" y="33"/>
                    </a:lnTo>
                    <a:lnTo>
                      <a:pt x="0" y="33"/>
                    </a:lnTo>
                    <a:lnTo>
                      <a:pt x="29" y="0"/>
                    </a:lnTo>
                    <a:lnTo>
                      <a:pt x="189" y="0"/>
                    </a:lnTo>
                  </a:path>
                </a:pathLst>
              </a:custGeom>
              <a:solidFill>
                <a:srgbClr val="EFEFD1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0" name="Freeform 71"/>
              <p:cNvSpPr>
                <a:spLocks/>
              </p:cNvSpPr>
              <p:nvPr/>
            </p:nvSpPr>
            <p:spPr bwMode="auto">
              <a:xfrm>
                <a:off x="3897" y="1449"/>
                <a:ext cx="104" cy="24"/>
              </a:xfrm>
              <a:custGeom>
                <a:avLst/>
                <a:gdLst>
                  <a:gd name="T0" fmla="*/ 102 w 104"/>
                  <a:gd name="T1" fmla="*/ 10 h 24"/>
                  <a:gd name="T2" fmla="*/ 101 w 104"/>
                  <a:gd name="T3" fmla="*/ 8 h 24"/>
                  <a:gd name="T4" fmla="*/ 97 w 104"/>
                  <a:gd name="T5" fmla="*/ 6 h 24"/>
                  <a:gd name="T6" fmla="*/ 93 w 104"/>
                  <a:gd name="T7" fmla="*/ 4 h 24"/>
                  <a:gd name="T8" fmla="*/ 87 w 104"/>
                  <a:gd name="T9" fmla="*/ 3 h 24"/>
                  <a:gd name="T10" fmla="*/ 80 w 104"/>
                  <a:gd name="T11" fmla="*/ 2 h 24"/>
                  <a:gd name="T12" fmla="*/ 72 w 104"/>
                  <a:gd name="T13" fmla="*/ 1 h 24"/>
                  <a:gd name="T14" fmla="*/ 64 w 104"/>
                  <a:gd name="T15" fmla="*/ 0 h 24"/>
                  <a:gd name="T16" fmla="*/ 55 w 104"/>
                  <a:gd name="T17" fmla="*/ 0 h 24"/>
                  <a:gd name="T18" fmla="*/ 46 w 104"/>
                  <a:gd name="T19" fmla="*/ 0 h 24"/>
                  <a:gd name="T20" fmla="*/ 37 w 104"/>
                  <a:gd name="T21" fmla="*/ 0 h 24"/>
                  <a:gd name="T22" fmla="*/ 29 w 104"/>
                  <a:gd name="T23" fmla="*/ 1 h 24"/>
                  <a:gd name="T24" fmla="*/ 21 w 104"/>
                  <a:gd name="T25" fmla="*/ 2 h 24"/>
                  <a:gd name="T26" fmla="*/ 14 w 104"/>
                  <a:gd name="T27" fmla="*/ 3 h 24"/>
                  <a:gd name="T28" fmla="*/ 8 w 104"/>
                  <a:gd name="T29" fmla="*/ 4 h 24"/>
                  <a:gd name="T30" fmla="*/ 4 w 104"/>
                  <a:gd name="T31" fmla="*/ 6 h 24"/>
                  <a:gd name="T32" fmla="*/ 1 w 104"/>
                  <a:gd name="T33" fmla="*/ 8 h 24"/>
                  <a:gd name="T34" fmla="*/ 0 w 104"/>
                  <a:gd name="T35" fmla="*/ 10 h 24"/>
                  <a:gd name="T36" fmla="*/ 0 w 104"/>
                  <a:gd name="T37" fmla="*/ 12 h 24"/>
                  <a:gd name="T38" fmla="*/ 1 w 104"/>
                  <a:gd name="T39" fmla="*/ 14 h 24"/>
                  <a:gd name="T40" fmla="*/ 4 w 104"/>
                  <a:gd name="T41" fmla="*/ 16 h 24"/>
                  <a:gd name="T42" fmla="*/ 8 w 104"/>
                  <a:gd name="T43" fmla="*/ 17 h 24"/>
                  <a:gd name="T44" fmla="*/ 14 w 104"/>
                  <a:gd name="T45" fmla="*/ 19 h 24"/>
                  <a:gd name="T46" fmla="*/ 21 w 104"/>
                  <a:gd name="T47" fmla="*/ 20 h 24"/>
                  <a:gd name="T48" fmla="*/ 29 w 104"/>
                  <a:gd name="T49" fmla="*/ 21 h 24"/>
                  <a:gd name="T50" fmla="*/ 37 w 104"/>
                  <a:gd name="T51" fmla="*/ 22 h 24"/>
                  <a:gd name="T52" fmla="*/ 46 w 104"/>
                  <a:gd name="T53" fmla="*/ 23 h 24"/>
                  <a:gd name="T54" fmla="*/ 55 w 104"/>
                  <a:gd name="T55" fmla="*/ 23 h 24"/>
                  <a:gd name="T56" fmla="*/ 64 w 104"/>
                  <a:gd name="T57" fmla="*/ 22 h 24"/>
                  <a:gd name="T58" fmla="*/ 72 w 104"/>
                  <a:gd name="T59" fmla="*/ 21 h 24"/>
                  <a:gd name="T60" fmla="*/ 80 w 104"/>
                  <a:gd name="T61" fmla="*/ 20 h 24"/>
                  <a:gd name="T62" fmla="*/ 87 w 104"/>
                  <a:gd name="T63" fmla="*/ 19 h 24"/>
                  <a:gd name="T64" fmla="*/ 93 w 104"/>
                  <a:gd name="T65" fmla="*/ 17 h 24"/>
                  <a:gd name="T66" fmla="*/ 97 w 104"/>
                  <a:gd name="T67" fmla="*/ 16 h 24"/>
                  <a:gd name="T68" fmla="*/ 101 w 104"/>
                  <a:gd name="T69" fmla="*/ 14 h 24"/>
                  <a:gd name="T70" fmla="*/ 102 w 104"/>
                  <a:gd name="T71" fmla="*/ 12 h 2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04"/>
                  <a:gd name="T109" fmla="*/ 0 h 24"/>
                  <a:gd name="T110" fmla="*/ 104 w 104"/>
                  <a:gd name="T111" fmla="*/ 24 h 2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04" h="24">
                    <a:moveTo>
                      <a:pt x="103" y="11"/>
                    </a:moveTo>
                    <a:lnTo>
                      <a:pt x="102" y="10"/>
                    </a:lnTo>
                    <a:lnTo>
                      <a:pt x="102" y="9"/>
                    </a:lnTo>
                    <a:lnTo>
                      <a:pt x="101" y="8"/>
                    </a:lnTo>
                    <a:lnTo>
                      <a:pt x="99" y="7"/>
                    </a:lnTo>
                    <a:lnTo>
                      <a:pt x="97" y="6"/>
                    </a:lnTo>
                    <a:lnTo>
                      <a:pt x="95" y="6"/>
                    </a:lnTo>
                    <a:lnTo>
                      <a:pt x="93" y="4"/>
                    </a:lnTo>
                    <a:lnTo>
                      <a:pt x="90" y="4"/>
                    </a:lnTo>
                    <a:lnTo>
                      <a:pt x="87" y="3"/>
                    </a:lnTo>
                    <a:lnTo>
                      <a:pt x="84" y="2"/>
                    </a:lnTo>
                    <a:lnTo>
                      <a:pt x="80" y="2"/>
                    </a:lnTo>
                    <a:lnTo>
                      <a:pt x="76" y="1"/>
                    </a:lnTo>
                    <a:lnTo>
                      <a:pt x="72" y="1"/>
                    </a:lnTo>
                    <a:lnTo>
                      <a:pt x="69" y="0"/>
                    </a:lnTo>
                    <a:lnTo>
                      <a:pt x="64" y="0"/>
                    </a:lnTo>
                    <a:lnTo>
                      <a:pt x="60" y="0"/>
                    </a:lnTo>
                    <a:lnTo>
                      <a:pt x="55" y="0"/>
                    </a:lnTo>
                    <a:lnTo>
                      <a:pt x="51" y="0"/>
                    </a:lnTo>
                    <a:lnTo>
                      <a:pt x="46" y="0"/>
                    </a:lnTo>
                    <a:lnTo>
                      <a:pt x="42" y="0"/>
                    </a:lnTo>
                    <a:lnTo>
                      <a:pt x="37" y="0"/>
                    </a:lnTo>
                    <a:lnTo>
                      <a:pt x="33" y="0"/>
                    </a:lnTo>
                    <a:lnTo>
                      <a:pt x="29" y="1"/>
                    </a:lnTo>
                    <a:lnTo>
                      <a:pt x="25" y="1"/>
                    </a:lnTo>
                    <a:lnTo>
                      <a:pt x="21" y="2"/>
                    </a:lnTo>
                    <a:lnTo>
                      <a:pt x="17" y="2"/>
                    </a:lnTo>
                    <a:lnTo>
                      <a:pt x="14" y="3"/>
                    </a:lnTo>
                    <a:lnTo>
                      <a:pt x="12" y="4"/>
                    </a:lnTo>
                    <a:lnTo>
                      <a:pt x="8" y="4"/>
                    </a:lnTo>
                    <a:lnTo>
                      <a:pt x="6" y="6"/>
                    </a:lnTo>
                    <a:lnTo>
                      <a:pt x="4" y="6"/>
                    </a:lnTo>
                    <a:lnTo>
                      <a:pt x="3" y="7"/>
                    </a:lnTo>
                    <a:lnTo>
                      <a:pt x="1" y="8"/>
                    </a:lnTo>
                    <a:lnTo>
                      <a:pt x="0" y="9"/>
                    </a:lnTo>
                    <a:lnTo>
                      <a:pt x="0" y="10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3"/>
                    </a:lnTo>
                    <a:lnTo>
                      <a:pt x="1" y="14"/>
                    </a:lnTo>
                    <a:lnTo>
                      <a:pt x="3" y="15"/>
                    </a:lnTo>
                    <a:lnTo>
                      <a:pt x="4" y="16"/>
                    </a:lnTo>
                    <a:lnTo>
                      <a:pt x="6" y="17"/>
                    </a:lnTo>
                    <a:lnTo>
                      <a:pt x="8" y="17"/>
                    </a:lnTo>
                    <a:lnTo>
                      <a:pt x="12" y="18"/>
                    </a:lnTo>
                    <a:lnTo>
                      <a:pt x="14" y="19"/>
                    </a:lnTo>
                    <a:lnTo>
                      <a:pt x="17" y="20"/>
                    </a:lnTo>
                    <a:lnTo>
                      <a:pt x="21" y="20"/>
                    </a:lnTo>
                    <a:lnTo>
                      <a:pt x="25" y="21"/>
                    </a:lnTo>
                    <a:lnTo>
                      <a:pt x="29" y="21"/>
                    </a:lnTo>
                    <a:lnTo>
                      <a:pt x="33" y="22"/>
                    </a:lnTo>
                    <a:lnTo>
                      <a:pt x="37" y="22"/>
                    </a:lnTo>
                    <a:lnTo>
                      <a:pt x="42" y="22"/>
                    </a:lnTo>
                    <a:lnTo>
                      <a:pt x="46" y="23"/>
                    </a:lnTo>
                    <a:lnTo>
                      <a:pt x="51" y="23"/>
                    </a:lnTo>
                    <a:lnTo>
                      <a:pt x="55" y="23"/>
                    </a:lnTo>
                    <a:lnTo>
                      <a:pt x="60" y="22"/>
                    </a:lnTo>
                    <a:lnTo>
                      <a:pt x="64" y="22"/>
                    </a:lnTo>
                    <a:lnTo>
                      <a:pt x="69" y="22"/>
                    </a:lnTo>
                    <a:lnTo>
                      <a:pt x="72" y="21"/>
                    </a:lnTo>
                    <a:lnTo>
                      <a:pt x="76" y="21"/>
                    </a:lnTo>
                    <a:lnTo>
                      <a:pt x="80" y="20"/>
                    </a:lnTo>
                    <a:lnTo>
                      <a:pt x="84" y="20"/>
                    </a:lnTo>
                    <a:lnTo>
                      <a:pt x="87" y="19"/>
                    </a:lnTo>
                    <a:lnTo>
                      <a:pt x="90" y="18"/>
                    </a:lnTo>
                    <a:lnTo>
                      <a:pt x="93" y="17"/>
                    </a:lnTo>
                    <a:lnTo>
                      <a:pt x="95" y="17"/>
                    </a:lnTo>
                    <a:lnTo>
                      <a:pt x="97" y="16"/>
                    </a:lnTo>
                    <a:lnTo>
                      <a:pt x="99" y="15"/>
                    </a:lnTo>
                    <a:lnTo>
                      <a:pt x="101" y="14"/>
                    </a:lnTo>
                    <a:lnTo>
                      <a:pt x="102" y="13"/>
                    </a:lnTo>
                    <a:lnTo>
                      <a:pt x="102" y="12"/>
                    </a:lnTo>
                    <a:lnTo>
                      <a:pt x="103" y="11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1" name="Freeform 72"/>
              <p:cNvSpPr>
                <a:spLocks/>
              </p:cNvSpPr>
              <p:nvPr/>
            </p:nvSpPr>
            <p:spPr bwMode="auto">
              <a:xfrm>
                <a:off x="3897" y="1461"/>
                <a:ext cx="104" cy="17"/>
              </a:xfrm>
              <a:custGeom>
                <a:avLst/>
                <a:gdLst>
                  <a:gd name="T0" fmla="*/ 102 w 104"/>
                  <a:gd name="T1" fmla="*/ 6 h 17"/>
                  <a:gd name="T2" fmla="*/ 101 w 104"/>
                  <a:gd name="T3" fmla="*/ 8 h 17"/>
                  <a:gd name="T4" fmla="*/ 97 w 104"/>
                  <a:gd name="T5" fmla="*/ 10 h 17"/>
                  <a:gd name="T6" fmla="*/ 93 w 104"/>
                  <a:gd name="T7" fmla="*/ 11 h 17"/>
                  <a:gd name="T8" fmla="*/ 87 w 104"/>
                  <a:gd name="T9" fmla="*/ 12 h 17"/>
                  <a:gd name="T10" fmla="*/ 80 w 104"/>
                  <a:gd name="T11" fmla="*/ 14 h 17"/>
                  <a:gd name="T12" fmla="*/ 72 w 104"/>
                  <a:gd name="T13" fmla="*/ 14 h 17"/>
                  <a:gd name="T14" fmla="*/ 64 w 104"/>
                  <a:gd name="T15" fmla="*/ 15 h 17"/>
                  <a:gd name="T16" fmla="*/ 55 w 104"/>
                  <a:gd name="T17" fmla="*/ 16 h 17"/>
                  <a:gd name="T18" fmla="*/ 46 w 104"/>
                  <a:gd name="T19" fmla="*/ 16 h 17"/>
                  <a:gd name="T20" fmla="*/ 37 w 104"/>
                  <a:gd name="T21" fmla="*/ 15 h 17"/>
                  <a:gd name="T22" fmla="*/ 29 w 104"/>
                  <a:gd name="T23" fmla="*/ 14 h 17"/>
                  <a:gd name="T24" fmla="*/ 21 w 104"/>
                  <a:gd name="T25" fmla="*/ 14 h 17"/>
                  <a:gd name="T26" fmla="*/ 14 w 104"/>
                  <a:gd name="T27" fmla="*/ 12 h 17"/>
                  <a:gd name="T28" fmla="*/ 8 w 104"/>
                  <a:gd name="T29" fmla="*/ 11 h 17"/>
                  <a:gd name="T30" fmla="*/ 4 w 104"/>
                  <a:gd name="T31" fmla="*/ 10 h 17"/>
                  <a:gd name="T32" fmla="*/ 1 w 104"/>
                  <a:gd name="T33" fmla="*/ 8 h 17"/>
                  <a:gd name="T34" fmla="*/ 0 w 104"/>
                  <a:gd name="T35" fmla="*/ 6 h 17"/>
                  <a:gd name="T36" fmla="*/ 0 w 104"/>
                  <a:gd name="T37" fmla="*/ 0 h 17"/>
                  <a:gd name="T38" fmla="*/ 0 w 104"/>
                  <a:gd name="T39" fmla="*/ 2 h 17"/>
                  <a:gd name="T40" fmla="*/ 3 w 104"/>
                  <a:gd name="T41" fmla="*/ 4 h 17"/>
                  <a:gd name="T42" fmla="*/ 6 w 104"/>
                  <a:gd name="T43" fmla="*/ 5 h 17"/>
                  <a:gd name="T44" fmla="*/ 12 w 104"/>
                  <a:gd name="T45" fmla="*/ 6 h 17"/>
                  <a:gd name="T46" fmla="*/ 17 w 104"/>
                  <a:gd name="T47" fmla="*/ 8 h 17"/>
                  <a:gd name="T48" fmla="*/ 25 w 104"/>
                  <a:gd name="T49" fmla="*/ 9 h 17"/>
                  <a:gd name="T50" fmla="*/ 33 w 104"/>
                  <a:gd name="T51" fmla="*/ 10 h 17"/>
                  <a:gd name="T52" fmla="*/ 42 w 104"/>
                  <a:gd name="T53" fmla="*/ 10 h 17"/>
                  <a:gd name="T54" fmla="*/ 51 w 104"/>
                  <a:gd name="T55" fmla="*/ 10 h 17"/>
                  <a:gd name="T56" fmla="*/ 60 w 104"/>
                  <a:gd name="T57" fmla="*/ 10 h 17"/>
                  <a:gd name="T58" fmla="*/ 69 w 104"/>
                  <a:gd name="T59" fmla="*/ 10 h 17"/>
                  <a:gd name="T60" fmla="*/ 76 w 104"/>
                  <a:gd name="T61" fmla="*/ 9 h 17"/>
                  <a:gd name="T62" fmla="*/ 84 w 104"/>
                  <a:gd name="T63" fmla="*/ 8 h 17"/>
                  <a:gd name="T64" fmla="*/ 90 w 104"/>
                  <a:gd name="T65" fmla="*/ 6 h 17"/>
                  <a:gd name="T66" fmla="*/ 95 w 104"/>
                  <a:gd name="T67" fmla="*/ 5 h 17"/>
                  <a:gd name="T68" fmla="*/ 99 w 104"/>
                  <a:gd name="T69" fmla="*/ 4 h 17"/>
                  <a:gd name="T70" fmla="*/ 102 w 104"/>
                  <a:gd name="T71" fmla="*/ 2 h 17"/>
                  <a:gd name="T72" fmla="*/ 103 w 104"/>
                  <a:gd name="T73" fmla="*/ 0 h 1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04"/>
                  <a:gd name="T112" fmla="*/ 0 h 17"/>
                  <a:gd name="T113" fmla="*/ 104 w 104"/>
                  <a:gd name="T114" fmla="*/ 17 h 1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04" h="17">
                    <a:moveTo>
                      <a:pt x="103" y="5"/>
                    </a:moveTo>
                    <a:lnTo>
                      <a:pt x="102" y="6"/>
                    </a:lnTo>
                    <a:lnTo>
                      <a:pt x="102" y="7"/>
                    </a:lnTo>
                    <a:lnTo>
                      <a:pt x="101" y="8"/>
                    </a:lnTo>
                    <a:lnTo>
                      <a:pt x="99" y="8"/>
                    </a:lnTo>
                    <a:lnTo>
                      <a:pt x="97" y="10"/>
                    </a:lnTo>
                    <a:lnTo>
                      <a:pt x="95" y="10"/>
                    </a:lnTo>
                    <a:lnTo>
                      <a:pt x="93" y="11"/>
                    </a:lnTo>
                    <a:lnTo>
                      <a:pt x="90" y="12"/>
                    </a:lnTo>
                    <a:lnTo>
                      <a:pt x="87" y="12"/>
                    </a:lnTo>
                    <a:lnTo>
                      <a:pt x="84" y="13"/>
                    </a:lnTo>
                    <a:lnTo>
                      <a:pt x="80" y="14"/>
                    </a:lnTo>
                    <a:lnTo>
                      <a:pt x="76" y="14"/>
                    </a:lnTo>
                    <a:lnTo>
                      <a:pt x="72" y="14"/>
                    </a:lnTo>
                    <a:lnTo>
                      <a:pt x="69" y="15"/>
                    </a:lnTo>
                    <a:lnTo>
                      <a:pt x="64" y="15"/>
                    </a:lnTo>
                    <a:lnTo>
                      <a:pt x="60" y="16"/>
                    </a:lnTo>
                    <a:lnTo>
                      <a:pt x="55" y="16"/>
                    </a:lnTo>
                    <a:lnTo>
                      <a:pt x="51" y="16"/>
                    </a:lnTo>
                    <a:lnTo>
                      <a:pt x="46" y="16"/>
                    </a:lnTo>
                    <a:lnTo>
                      <a:pt x="42" y="16"/>
                    </a:lnTo>
                    <a:lnTo>
                      <a:pt x="37" y="15"/>
                    </a:lnTo>
                    <a:lnTo>
                      <a:pt x="33" y="15"/>
                    </a:lnTo>
                    <a:lnTo>
                      <a:pt x="29" y="14"/>
                    </a:lnTo>
                    <a:lnTo>
                      <a:pt x="25" y="14"/>
                    </a:lnTo>
                    <a:lnTo>
                      <a:pt x="21" y="14"/>
                    </a:lnTo>
                    <a:lnTo>
                      <a:pt x="17" y="13"/>
                    </a:lnTo>
                    <a:lnTo>
                      <a:pt x="14" y="12"/>
                    </a:lnTo>
                    <a:lnTo>
                      <a:pt x="12" y="12"/>
                    </a:lnTo>
                    <a:lnTo>
                      <a:pt x="8" y="11"/>
                    </a:lnTo>
                    <a:lnTo>
                      <a:pt x="6" y="10"/>
                    </a:lnTo>
                    <a:lnTo>
                      <a:pt x="4" y="10"/>
                    </a:lnTo>
                    <a:lnTo>
                      <a:pt x="3" y="8"/>
                    </a:lnTo>
                    <a:lnTo>
                      <a:pt x="1" y="8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1" y="2"/>
                    </a:lnTo>
                    <a:lnTo>
                      <a:pt x="3" y="4"/>
                    </a:lnTo>
                    <a:lnTo>
                      <a:pt x="4" y="4"/>
                    </a:lnTo>
                    <a:lnTo>
                      <a:pt x="6" y="5"/>
                    </a:lnTo>
                    <a:lnTo>
                      <a:pt x="8" y="6"/>
                    </a:lnTo>
                    <a:lnTo>
                      <a:pt x="12" y="6"/>
                    </a:lnTo>
                    <a:lnTo>
                      <a:pt x="14" y="7"/>
                    </a:lnTo>
                    <a:lnTo>
                      <a:pt x="17" y="8"/>
                    </a:lnTo>
                    <a:lnTo>
                      <a:pt x="21" y="8"/>
                    </a:lnTo>
                    <a:lnTo>
                      <a:pt x="25" y="9"/>
                    </a:lnTo>
                    <a:lnTo>
                      <a:pt x="29" y="10"/>
                    </a:lnTo>
                    <a:lnTo>
                      <a:pt x="33" y="10"/>
                    </a:lnTo>
                    <a:lnTo>
                      <a:pt x="37" y="10"/>
                    </a:lnTo>
                    <a:lnTo>
                      <a:pt x="42" y="10"/>
                    </a:lnTo>
                    <a:lnTo>
                      <a:pt x="46" y="10"/>
                    </a:lnTo>
                    <a:lnTo>
                      <a:pt x="51" y="10"/>
                    </a:lnTo>
                    <a:lnTo>
                      <a:pt x="55" y="10"/>
                    </a:lnTo>
                    <a:lnTo>
                      <a:pt x="60" y="10"/>
                    </a:lnTo>
                    <a:lnTo>
                      <a:pt x="64" y="10"/>
                    </a:lnTo>
                    <a:lnTo>
                      <a:pt x="69" y="10"/>
                    </a:lnTo>
                    <a:lnTo>
                      <a:pt x="72" y="10"/>
                    </a:lnTo>
                    <a:lnTo>
                      <a:pt x="76" y="9"/>
                    </a:lnTo>
                    <a:lnTo>
                      <a:pt x="80" y="8"/>
                    </a:lnTo>
                    <a:lnTo>
                      <a:pt x="84" y="8"/>
                    </a:lnTo>
                    <a:lnTo>
                      <a:pt x="87" y="7"/>
                    </a:lnTo>
                    <a:lnTo>
                      <a:pt x="90" y="6"/>
                    </a:lnTo>
                    <a:lnTo>
                      <a:pt x="93" y="6"/>
                    </a:lnTo>
                    <a:lnTo>
                      <a:pt x="95" y="5"/>
                    </a:lnTo>
                    <a:lnTo>
                      <a:pt x="97" y="4"/>
                    </a:lnTo>
                    <a:lnTo>
                      <a:pt x="99" y="4"/>
                    </a:lnTo>
                    <a:lnTo>
                      <a:pt x="101" y="2"/>
                    </a:lnTo>
                    <a:lnTo>
                      <a:pt x="102" y="2"/>
                    </a:lnTo>
                    <a:lnTo>
                      <a:pt x="102" y="1"/>
                    </a:lnTo>
                    <a:lnTo>
                      <a:pt x="103" y="0"/>
                    </a:lnTo>
                    <a:lnTo>
                      <a:pt x="103" y="5"/>
                    </a:lnTo>
                  </a:path>
                </a:pathLst>
              </a:custGeom>
              <a:solidFill>
                <a:srgbClr val="666666"/>
              </a:solidFill>
              <a:ln w="12700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2" name="Freeform 73"/>
              <p:cNvSpPr>
                <a:spLocks/>
              </p:cNvSpPr>
              <p:nvPr/>
            </p:nvSpPr>
            <p:spPr bwMode="auto">
              <a:xfrm>
                <a:off x="3840" y="1486"/>
                <a:ext cx="220" cy="77"/>
              </a:xfrm>
              <a:custGeom>
                <a:avLst/>
                <a:gdLst>
                  <a:gd name="T0" fmla="*/ 0 w 220"/>
                  <a:gd name="T1" fmla="*/ 76 h 77"/>
                  <a:gd name="T2" fmla="*/ 219 w 220"/>
                  <a:gd name="T3" fmla="*/ 76 h 77"/>
                  <a:gd name="T4" fmla="*/ 219 w 220"/>
                  <a:gd name="T5" fmla="*/ 0 h 77"/>
                  <a:gd name="T6" fmla="*/ 0 w 220"/>
                  <a:gd name="T7" fmla="*/ 0 h 77"/>
                  <a:gd name="T8" fmla="*/ 0 w 220"/>
                  <a:gd name="T9" fmla="*/ 76 h 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0"/>
                  <a:gd name="T16" fmla="*/ 0 h 77"/>
                  <a:gd name="T17" fmla="*/ 220 w 220"/>
                  <a:gd name="T18" fmla="*/ 77 h 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0" h="77">
                    <a:moveTo>
                      <a:pt x="0" y="76"/>
                    </a:moveTo>
                    <a:lnTo>
                      <a:pt x="219" y="76"/>
                    </a:lnTo>
                    <a:lnTo>
                      <a:pt x="219" y="0"/>
                    </a:lnTo>
                    <a:lnTo>
                      <a:pt x="0" y="0"/>
                    </a:lnTo>
                    <a:lnTo>
                      <a:pt x="0" y="76"/>
                    </a:lnTo>
                  </a:path>
                </a:pathLst>
              </a:custGeom>
              <a:solidFill>
                <a:srgbClr val="EFEFD1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3" name="Freeform 74"/>
              <p:cNvSpPr>
                <a:spLocks/>
              </p:cNvSpPr>
              <p:nvPr/>
            </p:nvSpPr>
            <p:spPr bwMode="auto">
              <a:xfrm>
                <a:off x="3875" y="1449"/>
                <a:ext cx="69" cy="17"/>
              </a:xfrm>
              <a:custGeom>
                <a:avLst/>
                <a:gdLst>
                  <a:gd name="T0" fmla="*/ 0 w 69"/>
                  <a:gd name="T1" fmla="*/ 16 h 17"/>
                  <a:gd name="T2" fmla="*/ 0 w 69"/>
                  <a:gd name="T3" fmla="*/ 0 h 17"/>
                  <a:gd name="T4" fmla="*/ 68 w 69"/>
                  <a:gd name="T5" fmla="*/ 0 h 17"/>
                  <a:gd name="T6" fmla="*/ 68 w 69"/>
                  <a:gd name="T7" fmla="*/ 16 h 17"/>
                  <a:gd name="T8" fmla="*/ 0 w 69"/>
                  <a:gd name="T9" fmla="*/ 16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9"/>
                  <a:gd name="T16" fmla="*/ 0 h 17"/>
                  <a:gd name="T17" fmla="*/ 69 w 69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9" h="17">
                    <a:moveTo>
                      <a:pt x="0" y="16"/>
                    </a:moveTo>
                    <a:lnTo>
                      <a:pt x="0" y="0"/>
                    </a:lnTo>
                    <a:lnTo>
                      <a:pt x="68" y="0"/>
                    </a:lnTo>
                    <a:lnTo>
                      <a:pt x="68" y="16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999999"/>
              </a:solidFill>
              <a:ln w="12700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4" name="Freeform 75"/>
              <p:cNvSpPr>
                <a:spLocks/>
              </p:cNvSpPr>
              <p:nvPr/>
            </p:nvSpPr>
            <p:spPr bwMode="auto">
              <a:xfrm>
                <a:off x="3931" y="1450"/>
                <a:ext cx="94" cy="17"/>
              </a:xfrm>
              <a:custGeom>
                <a:avLst/>
                <a:gdLst>
                  <a:gd name="T0" fmla="*/ 0 w 94"/>
                  <a:gd name="T1" fmla="*/ 16 h 17"/>
                  <a:gd name="T2" fmla="*/ 0 w 94"/>
                  <a:gd name="T3" fmla="*/ 0 h 17"/>
                  <a:gd name="T4" fmla="*/ 93 w 94"/>
                  <a:gd name="T5" fmla="*/ 0 h 17"/>
                  <a:gd name="T6" fmla="*/ 93 w 94"/>
                  <a:gd name="T7" fmla="*/ 16 h 17"/>
                  <a:gd name="T8" fmla="*/ 0 w 94"/>
                  <a:gd name="T9" fmla="*/ 16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4"/>
                  <a:gd name="T16" fmla="*/ 0 h 17"/>
                  <a:gd name="T17" fmla="*/ 94 w 9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4" h="17">
                    <a:moveTo>
                      <a:pt x="0" y="16"/>
                    </a:moveTo>
                    <a:lnTo>
                      <a:pt x="0" y="0"/>
                    </a:lnTo>
                    <a:lnTo>
                      <a:pt x="93" y="0"/>
                    </a:lnTo>
                    <a:lnTo>
                      <a:pt x="93" y="16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999999"/>
              </a:solidFill>
              <a:ln w="12700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5" name="Freeform 76"/>
              <p:cNvSpPr>
                <a:spLocks/>
              </p:cNvSpPr>
              <p:nvPr/>
            </p:nvSpPr>
            <p:spPr bwMode="auto">
              <a:xfrm>
                <a:off x="3877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6 h 17"/>
                  <a:gd name="T6" fmla="*/ 16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6" name="Freeform 77"/>
              <p:cNvSpPr>
                <a:spLocks/>
              </p:cNvSpPr>
              <p:nvPr/>
            </p:nvSpPr>
            <p:spPr bwMode="auto">
              <a:xfrm>
                <a:off x="3880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4 w 17"/>
                  <a:gd name="T5" fmla="*/ 14 h 17"/>
                  <a:gd name="T6" fmla="*/ 4 w 17"/>
                  <a:gd name="T7" fmla="*/ 16 h 17"/>
                  <a:gd name="T8" fmla="*/ 8 w 17"/>
                  <a:gd name="T9" fmla="*/ 16 h 17"/>
                  <a:gd name="T10" fmla="*/ 12 w 17"/>
                  <a:gd name="T11" fmla="*/ 14 h 17"/>
                  <a:gd name="T12" fmla="*/ 16 w 17"/>
                  <a:gd name="T13" fmla="*/ 14 h 17"/>
                  <a:gd name="T14" fmla="*/ 16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4"/>
                    </a:lnTo>
                    <a:lnTo>
                      <a:pt x="4" y="16"/>
                    </a:lnTo>
                    <a:lnTo>
                      <a:pt x="8" y="16"/>
                    </a:lnTo>
                    <a:lnTo>
                      <a:pt x="12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7" name="Freeform 78"/>
              <p:cNvSpPr>
                <a:spLocks/>
              </p:cNvSpPr>
              <p:nvPr/>
            </p:nvSpPr>
            <p:spPr bwMode="auto">
              <a:xfrm>
                <a:off x="3883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6 h 17"/>
                  <a:gd name="T6" fmla="*/ 16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8" name="Freeform 79"/>
              <p:cNvSpPr>
                <a:spLocks/>
              </p:cNvSpPr>
              <p:nvPr/>
            </p:nvSpPr>
            <p:spPr bwMode="auto">
              <a:xfrm>
                <a:off x="3885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0 w 17"/>
                  <a:gd name="T9" fmla="*/ 14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69" name="Freeform 80"/>
              <p:cNvSpPr>
                <a:spLocks/>
              </p:cNvSpPr>
              <p:nvPr/>
            </p:nvSpPr>
            <p:spPr bwMode="auto">
              <a:xfrm>
                <a:off x="3888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4 h 17"/>
                  <a:gd name="T6" fmla="*/ 5 w 17"/>
                  <a:gd name="T7" fmla="*/ 16 h 17"/>
                  <a:gd name="T8" fmla="*/ 10 w 17"/>
                  <a:gd name="T9" fmla="*/ 16 h 17"/>
                  <a:gd name="T10" fmla="*/ 10 w 17"/>
                  <a:gd name="T11" fmla="*/ 14 h 17"/>
                  <a:gd name="T12" fmla="*/ 16 w 17"/>
                  <a:gd name="T13" fmla="*/ 14 h 17"/>
                  <a:gd name="T14" fmla="*/ 16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0" name="Freeform 81"/>
              <p:cNvSpPr>
                <a:spLocks/>
              </p:cNvSpPr>
              <p:nvPr/>
            </p:nvSpPr>
            <p:spPr bwMode="auto">
              <a:xfrm>
                <a:off x="3890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1" name="Freeform 82"/>
              <p:cNvSpPr>
                <a:spLocks/>
              </p:cNvSpPr>
              <p:nvPr/>
            </p:nvSpPr>
            <p:spPr bwMode="auto">
              <a:xfrm>
                <a:off x="3893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0 w 17"/>
                  <a:gd name="T9" fmla="*/ 14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2" name="Freeform 83"/>
              <p:cNvSpPr>
                <a:spLocks/>
              </p:cNvSpPr>
              <p:nvPr/>
            </p:nvSpPr>
            <p:spPr bwMode="auto">
              <a:xfrm>
                <a:off x="3894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4 w 17"/>
                  <a:gd name="T5" fmla="*/ 14 h 17"/>
                  <a:gd name="T6" fmla="*/ 8 w 17"/>
                  <a:gd name="T7" fmla="*/ 16 h 17"/>
                  <a:gd name="T8" fmla="*/ 12 w 17"/>
                  <a:gd name="T9" fmla="*/ 16 h 17"/>
                  <a:gd name="T10" fmla="*/ 12 w 17"/>
                  <a:gd name="T11" fmla="*/ 14 h 17"/>
                  <a:gd name="T12" fmla="*/ 16 w 17"/>
                  <a:gd name="T13" fmla="*/ 14 h 17"/>
                  <a:gd name="T14" fmla="*/ 16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4"/>
                    </a:lnTo>
                    <a:lnTo>
                      <a:pt x="8" y="16"/>
                    </a:lnTo>
                    <a:lnTo>
                      <a:pt x="12" y="16"/>
                    </a:lnTo>
                    <a:lnTo>
                      <a:pt x="12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3" name="Freeform 84"/>
              <p:cNvSpPr>
                <a:spLocks/>
              </p:cNvSpPr>
              <p:nvPr/>
            </p:nvSpPr>
            <p:spPr bwMode="auto">
              <a:xfrm>
                <a:off x="3898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4 h 17"/>
                  <a:gd name="T6" fmla="*/ 8 w 17"/>
                  <a:gd name="T7" fmla="*/ 16 h 17"/>
                  <a:gd name="T8" fmla="*/ 16 w 17"/>
                  <a:gd name="T9" fmla="*/ 16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4" name="Freeform 85"/>
              <p:cNvSpPr>
                <a:spLocks/>
              </p:cNvSpPr>
              <p:nvPr/>
            </p:nvSpPr>
            <p:spPr bwMode="auto">
              <a:xfrm>
                <a:off x="3900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6 h 17"/>
                  <a:gd name="T6" fmla="*/ 16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5" name="Freeform 86"/>
              <p:cNvSpPr>
                <a:spLocks/>
              </p:cNvSpPr>
              <p:nvPr/>
            </p:nvSpPr>
            <p:spPr bwMode="auto">
              <a:xfrm>
                <a:off x="3902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0 w 17"/>
                  <a:gd name="T5" fmla="*/ 16 h 17"/>
                  <a:gd name="T6" fmla="*/ 8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0" y="16"/>
                    </a:lnTo>
                    <a:lnTo>
                      <a:pt x="8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6" name="Freeform 87"/>
              <p:cNvSpPr>
                <a:spLocks/>
              </p:cNvSpPr>
              <p:nvPr/>
            </p:nvSpPr>
            <p:spPr bwMode="auto">
              <a:xfrm>
                <a:off x="3905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4 w 17"/>
                  <a:gd name="T5" fmla="*/ 16 h 17"/>
                  <a:gd name="T6" fmla="*/ 8 w 17"/>
                  <a:gd name="T7" fmla="*/ 16 h 17"/>
                  <a:gd name="T8" fmla="*/ 12 w 17"/>
                  <a:gd name="T9" fmla="*/ 16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6"/>
                    </a:lnTo>
                    <a:lnTo>
                      <a:pt x="8" y="16"/>
                    </a:lnTo>
                    <a:lnTo>
                      <a:pt x="12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7" name="Freeform 88"/>
              <p:cNvSpPr>
                <a:spLocks/>
              </p:cNvSpPr>
              <p:nvPr/>
            </p:nvSpPr>
            <p:spPr bwMode="auto">
              <a:xfrm>
                <a:off x="3908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0 w 17"/>
                  <a:gd name="T9" fmla="*/ 14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8" name="Freeform 89"/>
              <p:cNvSpPr>
                <a:spLocks/>
              </p:cNvSpPr>
              <p:nvPr/>
            </p:nvSpPr>
            <p:spPr bwMode="auto">
              <a:xfrm>
                <a:off x="3910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4 h 17"/>
                  <a:gd name="T6" fmla="*/ 8 w 17"/>
                  <a:gd name="T7" fmla="*/ 16 h 17"/>
                  <a:gd name="T8" fmla="*/ 16 w 17"/>
                  <a:gd name="T9" fmla="*/ 16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9" name="Freeform 90"/>
              <p:cNvSpPr>
                <a:spLocks/>
              </p:cNvSpPr>
              <p:nvPr/>
            </p:nvSpPr>
            <p:spPr bwMode="auto">
              <a:xfrm>
                <a:off x="3912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0" name="Freeform 91"/>
              <p:cNvSpPr>
                <a:spLocks/>
              </p:cNvSpPr>
              <p:nvPr/>
            </p:nvSpPr>
            <p:spPr bwMode="auto">
              <a:xfrm>
                <a:off x="3916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1" name="Freeform 92"/>
              <p:cNvSpPr>
                <a:spLocks/>
              </p:cNvSpPr>
              <p:nvPr/>
            </p:nvSpPr>
            <p:spPr bwMode="auto">
              <a:xfrm>
                <a:off x="3918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4 h 17"/>
                  <a:gd name="T6" fmla="*/ 5 w 17"/>
                  <a:gd name="T7" fmla="*/ 16 h 17"/>
                  <a:gd name="T8" fmla="*/ 10 w 17"/>
                  <a:gd name="T9" fmla="*/ 16 h 17"/>
                  <a:gd name="T10" fmla="*/ 10 w 17"/>
                  <a:gd name="T11" fmla="*/ 14 h 17"/>
                  <a:gd name="T12" fmla="*/ 16 w 17"/>
                  <a:gd name="T13" fmla="*/ 14 h 17"/>
                  <a:gd name="T14" fmla="*/ 16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2" name="Freeform 93"/>
              <p:cNvSpPr>
                <a:spLocks/>
              </p:cNvSpPr>
              <p:nvPr/>
            </p:nvSpPr>
            <p:spPr bwMode="auto">
              <a:xfrm>
                <a:off x="3921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6 h 17"/>
                  <a:gd name="T6" fmla="*/ 16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3" name="Freeform 94"/>
              <p:cNvSpPr>
                <a:spLocks/>
              </p:cNvSpPr>
              <p:nvPr/>
            </p:nvSpPr>
            <p:spPr bwMode="auto">
              <a:xfrm>
                <a:off x="3923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4" name="Freeform 95"/>
              <p:cNvSpPr>
                <a:spLocks/>
              </p:cNvSpPr>
              <p:nvPr/>
            </p:nvSpPr>
            <p:spPr bwMode="auto">
              <a:xfrm>
                <a:off x="3925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4 w 17"/>
                  <a:gd name="T5" fmla="*/ 14 h 17"/>
                  <a:gd name="T6" fmla="*/ 8 w 17"/>
                  <a:gd name="T7" fmla="*/ 16 h 17"/>
                  <a:gd name="T8" fmla="*/ 12 w 17"/>
                  <a:gd name="T9" fmla="*/ 16 h 17"/>
                  <a:gd name="T10" fmla="*/ 12 w 17"/>
                  <a:gd name="T11" fmla="*/ 14 h 17"/>
                  <a:gd name="T12" fmla="*/ 16 w 17"/>
                  <a:gd name="T13" fmla="*/ 14 h 17"/>
                  <a:gd name="T14" fmla="*/ 16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4"/>
                    </a:lnTo>
                    <a:lnTo>
                      <a:pt x="8" y="16"/>
                    </a:lnTo>
                    <a:lnTo>
                      <a:pt x="12" y="16"/>
                    </a:lnTo>
                    <a:lnTo>
                      <a:pt x="12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5" name="Freeform 96"/>
              <p:cNvSpPr>
                <a:spLocks/>
              </p:cNvSpPr>
              <p:nvPr/>
            </p:nvSpPr>
            <p:spPr bwMode="auto">
              <a:xfrm>
                <a:off x="3855" y="1279"/>
                <a:ext cx="187" cy="174"/>
              </a:xfrm>
              <a:custGeom>
                <a:avLst/>
                <a:gdLst>
                  <a:gd name="T0" fmla="*/ 180 w 187"/>
                  <a:gd name="T1" fmla="*/ 173 h 174"/>
                  <a:gd name="T2" fmla="*/ 180 w 187"/>
                  <a:gd name="T3" fmla="*/ 173 h 174"/>
                  <a:gd name="T4" fmla="*/ 180 w 187"/>
                  <a:gd name="T5" fmla="*/ 172 h 174"/>
                  <a:gd name="T6" fmla="*/ 182 w 187"/>
                  <a:gd name="T7" fmla="*/ 172 h 174"/>
                  <a:gd name="T8" fmla="*/ 182 w 187"/>
                  <a:gd name="T9" fmla="*/ 172 h 174"/>
                  <a:gd name="T10" fmla="*/ 183 w 187"/>
                  <a:gd name="T11" fmla="*/ 171 h 174"/>
                  <a:gd name="T12" fmla="*/ 183 w 187"/>
                  <a:gd name="T13" fmla="*/ 171 h 174"/>
                  <a:gd name="T14" fmla="*/ 184 w 187"/>
                  <a:gd name="T15" fmla="*/ 171 h 174"/>
                  <a:gd name="T16" fmla="*/ 184 w 187"/>
                  <a:gd name="T17" fmla="*/ 170 h 174"/>
                  <a:gd name="T18" fmla="*/ 184 w 187"/>
                  <a:gd name="T19" fmla="*/ 170 h 174"/>
                  <a:gd name="T20" fmla="*/ 184 w 187"/>
                  <a:gd name="T21" fmla="*/ 169 h 174"/>
                  <a:gd name="T22" fmla="*/ 185 w 187"/>
                  <a:gd name="T23" fmla="*/ 169 h 174"/>
                  <a:gd name="T24" fmla="*/ 185 w 187"/>
                  <a:gd name="T25" fmla="*/ 168 h 174"/>
                  <a:gd name="T26" fmla="*/ 186 w 187"/>
                  <a:gd name="T27" fmla="*/ 167 h 174"/>
                  <a:gd name="T28" fmla="*/ 186 w 187"/>
                  <a:gd name="T29" fmla="*/ 167 h 174"/>
                  <a:gd name="T30" fmla="*/ 186 w 187"/>
                  <a:gd name="T31" fmla="*/ 6 h 174"/>
                  <a:gd name="T32" fmla="*/ 186 w 187"/>
                  <a:gd name="T33" fmla="*/ 5 h 174"/>
                  <a:gd name="T34" fmla="*/ 186 w 187"/>
                  <a:gd name="T35" fmla="*/ 5 h 174"/>
                  <a:gd name="T36" fmla="*/ 185 w 187"/>
                  <a:gd name="T37" fmla="*/ 5 h 174"/>
                  <a:gd name="T38" fmla="*/ 185 w 187"/>
                  <a:gd name="T39" fmla="*/ 3 h 174"/>
                  <a:gd name="T40" fmla="*/ 184 w 187"/>
                  <a:gd name="T41" fmla="*/ 3 h 174"/>
                  <a:gd name="T42" fmla="*/ 184 w 187"/>
                  <a:gd name="T43" fmla="*/ 2 h 174"/>
                  <a:gd name="T44" fmla="*/ 184 w 187"/>
                  <a:gd name="T45" fmla="*/ 1 h 174"/>
                  <a:gd name="T46" fmla="*/ 183 w 187"/>
                  <a:gd name="T47" fmla="*/ 1 h 174"/>
                  <a:gd name="T48" fmla="*/ 183 w 187"/>
                  <a:gd name="T49" fmla="*/ 1 h 174"/>
                  <a:gd name="T50" fmla="*/ 182 w 187"/>
                  <a:gd name="T51" fmla="*/ 1 h 174"/>
                  <a:gd name="T52" fmla="*/ 182 w 187"/>
                  <a:gd name="T53" fmla="*/ 0 h 174"/>
                  <a:gd name="T54" fmla="*/ 180 w 187"/>
                  <a:gd name="T55" fmla="*/ 0 h 174"/>
                  <a:gd name="T56" fmla="*/ 180 w 187"/>
                  <a:gd name="T57" fmla="*/ 0 h 174"/>
                  <a:gd name="T58" fmla="*/ 180 w 187"/>
                  <a:gd name="T59" fmla="*/ 0 h 174"/>
                  <a:gd name="T60" fmla="*/ 5 w 187"/>
                  <a:gd name="T61" fmla="*/ 0 h 174"/>
                  <a:gd name="T62" fmla="*/ 4 w 187"/>
                  <a:gd name="T63" fmla="*/ 0 h 174"/>
                  <a:gd name="T64" fmla="*/ 3 w 187"/>
                  <a:gd name="T65" fmla="*/ 0 h 174"/>
                  <a:gd name="T66" fmla="*/ 3 w 187"/>
                  <a:gd name="T67" fmla="*/ 0 h 174"/>
                  <a:gd name="T68" fmla="*/ 2 w 187"/>
                  <a:gd name="T69" fmla="*/ 0 h 174"/>
                  <a:gd name="T70" fmla="*/ 2 w 187"/>
                  <a:gd name="T71" fmla="*/ 1 h 174"/>
                  <a:gd name="T72" fmla="*/ 1 w 187"/>
                  <a:gd name="T73" fmla="*/ 1 h 174"/>
                  <a:gd name="T74" fmla="*/ 1 w 187"/>
                  <a:gd name="T75" fmla="*/ 1 h 174"/>
                  <a:gd name="T76" fmla="*/ 1 w 187"/>
                  <a:gd name="T77" fmla="*/ 2 h 174"/>
                  <a:gd name="T78" fmla="*/ 0 w 187"/>
                  <a:gd name="T79" fmla="*/ 3 h 174"/>
                  <a:gd name="T80" fmla="*/ 0 w 187"/>
                  <a:gd name="T81" fmla="*/ 3 h 174"/>
                  <a:gd name="T82" fmla="*/ 0 w 187"/>
                  <a:gd name="T83" fmla="*/ 3 h 174"/>
                  <a:gd name="T84" fmla="*/ 0 w 187"/>
                  <a:gd name="T85" fmla="*/ 5 h 174"/>
                  <a:gd name="T86" fmla="*/ 0 w 187"/>
                  <a:gd name="T87" fmla="*/ 5 h 174"/>
                  <a:gd name="T88" fmla="*/ 0 w 187"/>
                  <a:gd name="T89" fmla="*/ 6 h 174"/>
                  <a:gd name="T90" fmla="*/ 0 w 187"/>
                  <a:gd name="T91" fmla="*/ 167 h 174"/>
                  <a:gd name="T92" fmla="*/ 0 w 187"/>
                  <a:gd name="T93" fmla="*/ 167 h 174"/>
                  <a:gd name="T94" fmla="*/ 0 w 187"/>
                  <a:gd name="T95" fmla="*/ 168 h 174"/>
                  <a:gd name="T96" fmla="*/ 0 w 187"/>
                  <a:gd name="T97" fmla="*/ 169 h 174"/>
                  <a:gd name="T98" fmla="*/ 0 w 187"/>
                  <a:gd name="T99" fmla="*/ 169 h 174"/>
                  <a:gd name="T100" fmla="*/ 0 w 187"/>
                  <a:gd name="T101" fmla="*/ 170 h 174"/>
                  <a:gd name="T102" fmla="*/ 1 w 187"/>
                  <a:gd name="T103" fmla="*/ 170 h 174"/>
                  <a:gd name="T104" fmla="*/ 1 w 187"/>
                  <a:gd name="T105" fmla="*/ 171 h 174"/>
                  <a:gd name="T106" fmla="*/ 1 w 187"/>
                  <a:gd name="T107" fmla="*/ 171 h 174"/>
                  <a:gd name="T108" fmla="*/ 2 w 187"/>
                  <a:gd name="T109" fmla="*/ 171 h 174"/>
                  <a:gd name="T110" fmla="*/ 2 w 187"/>
                  <a:gd name="T111" fmla="*/ 172 h 174"/>
                  <a:gd name="T112" fmla="*/ 2 w 187"/>
                  <a:gd name="T113" fmla="*/ 172 h 174"/>
                  <a:gd name="T114" fmla="*/ 3 w 187"/>
                  <a:gd name="T115" fmla="*/ 172 h 174"/>
                  <a:gd name="T116" fmla="*/ 3 w 187"/>
                  <a:gd name="T117" fmla="*/ 172 h 174"/>
                  <a:gd name="T118" fmla="*/ 4 w 187"/>
                  <a:gd name="T119" fmla="*/ 173 h 174"/>
                  <a:gd name="T120" fmla="*/ 5 w 187"/>
                  <a:gd name="T121" fmla="*/ 173 h 174"/>
                  <a:gd name="T122" fmla="*/ 180 w 187"/>
                  <a:gd name="T123" fmla="*/ 173 h 174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187"/>
                  <a:gd name="T187" fmla="*/ 0 h 174"/>
                  <a:gd name="T188" fmla="*/ 187 w 187"/>
                  <a:gd name="T189" fmla="*/ 174 h 174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187" h="174">
                    <a:moveTo>
                      <a:pt x="180" y="173"/>
                    </a:moveTo>
                    <a:lnTo>
                      <a:pt x="180" y="173"/>
                    </a:lnTo>
                    <a:lnTo>
                      <a:pt x="180" y="172"/>
                    </a:lnTo>
                    <a:lnTo>
                      <a:pt x="182" y="172"/>
                    </a:lnTo>
                    <a:lnTo>
                      <a:pt x="183" y="171"/>
                    </a:lnTo>
                    <a:lnTo>
                      <a:pt x="184" y="171"/>
                    </a:lnTo>
                    <a:lnTo>
                      <a:pt x="184" y="170"/>
                    </a:lnTo>
                    <a:lnTo>
                      <a:pt x="184" y="169"/>
                    </a:lnTo>
                    <a:lnTo>
                      <a:pt x="185" y="169"/>
                    </a:lnTo>
                    <a:lnTo>
                      <a:pt x="185" y="168"/>
                    </a:lnTo>
                    <a:lnTo>
                      <a:pt x="186" y="167"/>
                    </a:lnTo>
                    <a:lnTo>
                      <a:pt x="186" y="6"/>
                    </a:lnTo>
                    <a:lnTo>
                      <a:pt x="186" y="5"/>
                    </a:lnTo>
                    <a:lnTo>
                      <a:pt x="185" y="5"/>
                    </a:lnTo>
                    <a:lnTo>
                      <a:pt x="185" y="3"/>
                    </a:lnTo>
                    <a:lnTo>
                      <a:pt x="184" y="3"/>
                    </a:lnTo>
                    <a:lnTo>
                      <a:pt x="184" y="2"/>
                    </a:lnTo>
                    <a:lnTo>
                      <a:pt x="184" y="1"/>
                    </a:lnTo>
                    <a:lnTo>
                      <a:pt x="183" y="1"/>
                    </a:lnTo>
                    <a:lnTo>
                      <a:pt x="182" y="1"/>
                    </a:lnTo>
                    <a:lnTo>
                      <a:pt x="182" y="0"/>
                    </a:lnTo>
                    <a:lnTo>
                      <a:pt x="180" y="0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167"/>
                    </a:lnTo>
                    <a:lnTo>
                      <a:pt x="0" y="168"/>
                    </a:lnTo>
                    <a:lnTo>
                      <a:pt x="0" y="169"/>
                    </a:lnTo>
                    <a:lnTo>
                      <a:pt x="0" y="170"/>
                    </a:lnTo>
                    <a:lnTo>
                      <a:pt x="1" y="170"/>
                    </a:lnTo>
                    <a:lnTo>
                      <a:pt x="1" y="171"/>
                    </a:lnTo>
                    <a:lnTo>
                      <a:pt x="2" y="171"/>
                    </a:lnTo>
                    <a:lnTo>
                      <a:pt x="2" y="172"/>
                    </a:lnTo>
                    <a:lnTo>
                      <a:pt x="3" y="172"/>
                    </a:lnTo>
                    <a:lnTo>
                      <a:pt x="4" y="173"/>
                    </a:lnTo>
                    <a:lnTo>
                      <a:pt x="5" y="173"/>
                    </a:lnTo>
                    <a:lnTo>
                      <a:pt x="180" y="173"/>
                    </a:lnTo>
                  </a:path>
                </a:pathLst>
              </a:custGeom>
              <a:solidFill>
                <a:srgbClr val="999999"/>
              </a:solidFill>
              <a:ln w="12700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6" name="Freeform 97"/>
              <p:cNvSpPr>
                <a:spLocks/>
              </p:cNvSpPr>
              <p:nvPr/>
            </p:nvSpPr>
            <p:spPr bwMode="auto">
              <a:xfrm>
                <a:off x="3855" y="1281"/>
                <a:ext cx="186" cy="172"/>
              </a:xfrm>
              <a:custGeom>
                <a:avLst/>
                <a:gdLst>
                  <a:gd name="T0" fmla="*/ 185 w 186"/>
                  <a:gd name="T1" fmla="*/ 165 h 172"/>
                  <a:gd name="T2" fmla="*/ 185 w 186"/>
                  <a:gd name="T3" fmla="*/ 166 h 172"/>
                  <a:gd name="T4" fmla="*/ 185 w 186"/>
                  <a:gd name="T5" fmla="*/ 167 h 172"/>
                  <a:gd name="T6" fmla="*/ 184 w 186"/>
                  <a:gd name="T7" fmla="*/ 167 h 172"/>
                  <a:gd name="T8" fmla="*/ 184 w 186"/>
                  <a:gd name="T9" fmla="*/ 168 h 172"/>
                  <a:gd name="T10" fmla="*/ 183 w 186"/>
                  <a:gd name="T11" fmla="*/ 169 h 172"/>
                  <a:gd name="T12" fmla="*/ 183 w 186"/>
                  <a:gd name="T13" fmla="*/ 169 h 172"/>
                  <a:gd name="T14" fmla="*/ 182 w 186"/>
                  <a:gd name="T15" fmla="*/ 170 h 172"/>
                  <a:gd name="T16" fmla="*/ 182 w 186"/>
                  <a:gd name="T17" fmla="*/ 170 h 172"/>
                  <a:gd name="T18" fmla="*/ 181 w 186"/>
                  <a:gd name="T19" fmla="*/ 170 h 172"/>
                  <a:gd name="T20" fmla="*/ 181 w 186"/>
                  <a:gd name="T21" fmla="*/ 171 h 172"/>
                  <a:gd name="T22" fmla="*/ 180 w 186"/>
                  <a:gd name="T23" fmla="*/ 171 h 172"/>
                  <a:gd name="T24" fmla="*/ 179 w 186"/>
                  <a:gd name="T25" fmla="*/ 171 h 172"/>
                  <a:gd name="T26" fmla="*/ 4 w 186"/>
                  <a:gd name="T27" fmla="*/ 171 h 172"/>
                  <a:gd name="T28" fmla="*/ 3 w 186"/>
                  <a:gd name="T29" fmla="*/ 171 h 172"/>
                  <a:gd name="T30" fmla="*/ 3 w 186"/>
                  <a:gd name="T31" fmla="*/ 171 h 172"/>
                  <a:gd name="T32" fmla="*/ 3 w 186"/>
                  <a:gd name="T33" fmla="*/ 170 h 172"/>
                  <a:gd name="T34" fmla="*/ 2 w 186"/>
                  <a:gd name="T35" fmla="*/ 170 h 172"/>
                  <a:gd name="T36" fmla="*/ 2 w 186"/>
                  <a:gd name="T37" fmla="*/ 170 h 172"/>
                  <a:gd name="T38" fmla="*/ 1 w 186"/>
                  <a:gd name="T39" fmla="*/ 169 h 172"/>
                  <a:gd name="T40" fmla="*/ 1 w 186"/>
                  <a:gd name="T41" fmla="*/ 169 h 172"/>
                  <a:gd name="T42" fmla="*/ 0 w 186"/>
                  <a:gd name="T43" fmla="*/ 169 h 172"/>
                  <a:gd name="T44" fmla="*/ 0 w 186"/>
                  <a:gd name="T45" fmla="*/ 168 h 172"/>
                  <a:gd name="T46" fmla="*/ 0 w 186"/>
                  <a:gd name="T47" fmla="*/ 167 h 172"/>
                  <a:gd name="T48" fmla="*/ 0 w 186"/>
                  <a:gd name="T49" fmla="*/ 167 h 172"/>
                  <a:gd name="T50" fmla="*/ 0 w 186"/>
                  <a:gd name="T51" fmla="*/ 166 h 172"/>
                  <a:gd name="T52" fmla="*/ 0 w 186"/>
                  <a:gd name="T53" fmla="*/ 165 h 172"/>
                  <a:gd name="T54" fmla="*/ 0 w 186"/>
                  <a:gd name="T55" fmla="*/ 5 h 172"/>
                  <a:gd name="T56" fmla="*/ 0 w 186"/>
                  <a:gd name="T57" fmla="*/ 4 h 172"/>
                  <a:gd name="T58" fmla="*/ 0 w 186"/>
                  <a:gd name="T59" fmla="*/ 3 h 172"/>
                  <a:gd name="T60" fmla="*/ 0 w 186"/>
                  <a:gd name="T61" fmla="*/ 3 h 172"/>
                  <a:gd name="T62" fmla="*/ 0 w 186"/>
                  <a:gd name="T63" fmla="*/ 2 h 172"/>
                  <a:gd name="T64" fmla="*/ 0 w 186"/>
                  <a:gd name="T65" fmla="*/ 2 h 172"/>
                  <a:gd name="T66" fmla="*/ 1 w 186"/>
                  <a:gd name="T67" fmla="*/ 1 h 172"/>
                  <a:gd name="T68" fmla="*/ 1 w 186"/>
                  <a:gd name="T69" fmla="*/ 1 h 172"/>
                  <a:gd name="T70" fmla="*/ 2 w 186"/>
                  <a:gd name="T71" fmla="*/ 1 h 172"/>
                  <a:gd name="T72" fmla="*/ 2 w 186"/>
                  <a:gd name="T73" fmla="*/ 0 h 172"/>
                  <a:gd name="T74" fmla="*/ 2 w 186"/>
                  <a:gd name="T75" fmla="*/ 0 h 172"/>
                  <a:gd name="T76" fmla="*/ 3 w 186"/>
                  <a:gd name="T77" fmla="*/ 0 h 172"/>
                  <a:gd name="T78" fmla="*/ 3 w 186"/>
                  <a:gd name="T79" fmla="*/ 0 h 172"/>
                  <a:gd name="T80" fmla="*/ 4 w 186"/>
                  <a:gd name="T81" fmla="*/ 0 h 172"/>
                  <a:gd name="T82" fmla="*/ 179 w 186"/>
                  <a:gd name="T83" fmla="*/ 0 h 172"/>
                  <a:gd name="T84" fmla="*/ 180 w 186"/>
                  <a:gd name="T85" fmla="*/ 0 h 172"/>
                  <a:gd name="T86" fmla="*/ 181 w 186"/>
                  <a:gd name="T87" fmla="*/ 0 h 172"/>
                  <a:gd name="T88" fmla="*/ 181 w 186"/>
                  <a:gd name="T89" fmla="*/ 0 h 172"/>
                  <a:gd name="T90" fmla="*/ 182 w 186"/>
                  <a:gd name="T91" fmla="*/ 0 h 172"/>
                  <a:gd name="T92" fmla="*/ 182 w 186"/>
                  <a:gd name="T93" fmla="*/ 1 h 172"/>
                  <a:gd name="T94" fmla="*/ 183 w 186"/>
                  <a:gd name="T95" fmla="*/ 1 h 172"/>
                  <a:gd name="T96" fmla="*/ 183 w 186"/>
                  <a:gd name="T97" fmla="*/ 1 h 172"/>
                  <a:gd name="T98" fmla="*/ 183 w 186"/>
                  <a:gd name="T99" fmla="*/ 2 h 172"/>
                  <a:gd name="T100" fmla="*/ 184 w 186"/>
                  <a:gd name="T101" fmla="*/ 2 h 172"/>
                  <a:gd name="T102" fmla="*/ 184 w 186"/>
                  <a:gd name="T103" fmla="*/ 3 h 172"/>
                  <a:gd name="T104" fmla="*/ 185 w 186"/>
                  <a:gd name="T105" fmla="*/ 3 h 172"/>
                  <a:gd name="T106" fmla="*/ 185 w 186"/>
                  <a:gd name="T107" fmla="*/ 4 h 172"/>
                  <a:gd name="T108" fmla="*/ 185 w 186"/>
                  <a:gd name="T109" fmla="*/ 5 h 172"/>
                  <a:gd name="T110" fmla="*/ 185 w 186"/>
                  <a:gd name="T111" fmla="*/ 165 h 172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186"/>
                  <a:gd name="T169" fmla="*/ 0 h 172"/>
                  <a:gd name="T170" fmla="*/ 186 w 186"/>
                  <a:gd name="T171" fmla="*/ 172 h 172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186" h="172">
                    <a:moveTo>
                      <a:pt x="185" y="165"/>
                    </a:moveTo>
                    <a:lnTo>
                      <a:pt x="185" y="166"/>
                    </a:lnTo>
                    <a:lnTo>
                      <a:pt x="185" y="167"/>
                    </a:lnTo>
                    <a:lnTo>
                      <a:pt x="184" y="167"/>
                    </a:lnTo>
                    <a:lnTo>
                      <a:pt x="184" y="168"/>
                    </a:lnTo>
                    <a:lnTo>
                      <a:pt x="183" y="169"/>
                    </a:lnTo>
                    <a:lnTo>
                      <a:pt x="182" y="170"/>
                    </a:lnTo>
                    <a:lnTo>
                      <a:pt x="181" y="170"/>
                    </a:lnTo>
                    <a:lnTo>
                      <a:pt x="181" y="171"/>
                    </a:lnTo>
                    <a:lnTo>
                      <a:pt x="180" y="171"/>
                    </a:lnTo>
                    <a:lnTo>
                      <a:pt x="179" y="171"/>
                    </a:lnTo>
                    <a:lnTo>
                      <a:pt x="4" y="171"/>
                    </a:lnTo>
                    <a:lnTo>
                      <a:pt x="3" y="171"/>
                    </a:lnTo>
                    <a:lnTo>
                      <a:pt x="3" y="170"/>
                    </a:lnTo>
                    <a:lnTo>
                      <a:pt x="2" y="170"/>
                    </a:lnTo>
                    <a:lnTo>
                      <a:pt x="1" y="169"/>
                    </a:lnTo>
                    <a:lnTo>
                      <a:pt x="0" y="169"/>
                    </a:lnTo>
                    <a:lnTo>
                      <a:pt x="0" y="168"/>
                    </a:lnTo>
                    <a:lnTo>
                      <a:pt x="0" y="167"/>
                    </a:lnTo>
                    <a:lnTo>
                      <a:pt x="0" y="166"/>
                    </a:lnTo>
                    <a:lnTo>
                      <a:pt x="0" y="165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179" y="0"/>
                    </a:lnTo>
                    <a:lnTo>
                      <a:pt x="180" y="0"/>
                    </a:lnTo>
                    <a:lnTo>
                      <a:pt x="181" y="0"/>
                    </a:lnTo>
                    <a:lnTo>
                      <a:pt x="182" y="0"/>
                    </a:lnTo>
                    <a:lnTo>
                      <a:pt x="182" y="1"/>
                    </a:lnTo>
                    <a:lnTo>
                      <a:pt x="183" y="1"/>
                    </a:lnTo>
                    <a:lnTo>
                      <a:pt x="183" y="2"/>
                    </a:lnTo>
                    <a:lnTo>
                      <a:pt x="184" y="2"/>
                    </a:lnTo>
                    <a:lnTo>
                      <a:pt x="184" y="3"/>
                    </a:lnTo>
                    <a:lnTo>
                      <a:pt x="185" y="3"/>
                    </a:lnTo>
                    <a:lnTo>
                      <a:pt x="185" y="4"/>
                    </a:lnTo>
                    <a:lnTo>
                      <a:pt x="185" y="5"/>
                    </a:lnTo>
                    <a:lnTo>
                      <a:pt x="185" y="165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7" name="Freeform 98"/>
              <p:cNvSpPr>
                <a:spLocks/>
              </p:cNvSpPr>
              <p:nvPr/>
            </p:nvSpPr>
            <p:spPr bwMode="auto">
              <a:xfrm>
                <a:off x="3857" y="1281"/>
                <a:ext cx="181" cy="171"/>
              </a:xfrm>
              <a:custGeom>
                <a:avLst/>
                <a:gdLst>
                  <a:gd name="T0" fmla="*/ 180 w 181"/>
                  <a:gd name="T1" fmla="*/ 3 h 171"/>
                  <a:gd name="T2" fmla="*/ 180 w 181"/>
                  <a:gd name="T3" fmla="*/ 3 h 171"/>
                  <a:gd name="T4" fmla="*/ 180 w 181"/>
                  <a:gd name="T5" fmla="*/ 2 h 171"/>
                  <a:gd name="T6" fmla="*/ 179 w 181"/>
                  <a:gd name="T7" fmla="*/ 2 h 171"/>
                  <a:gd name="T8" fmla="*/ 179 w 181"/>
                  <a:gd name="T9" fmla="*/ 1 h 171"/>
                  <a:gd name="T10" fmla="*/ 178 w 181"/>
                  <a:gd name="T11" fmla="*/ 1 h 171"/>
                  <a:gd name="T12" fmla="*/ 178 w 181"/>
                  <a:gd name="T13" fmla="*/ 0 h 171"/>
                  <a:gd name="T14" fmla="*/ 177 w 181"/>
                  <a:gd name="T15" fmla="*/ 0 h 171"/>
                  <a:gd name="T16" fmla="*/ 177 w 181"/>
                  <a:gd name="T17" fmla="*/ 0 h 171"/>
                  <a:gd name="T18" fmla="*/ 177 w 181"/>
                  <a:gd name="T19" fmla="*/ 0 h 171"/>
                  <a:gd name="T20" fmla="*/ 176 w 181"/>
                  <a:gd name="T21" fmla="*/ 0 h 171"/>
                  <a:gd name="T22" fmla="*/ 176 w 181"/>
                  <a:gd name="T23" fmla="*/ 0 h 171"/>
                  <a:gd name="T24" fmla="*/ 3 w 181"/>
                  <a:gd name="T25" fmla="*/ 0 h 171"/>
                  <a:gd name="T26" fmla="*/ 3 w 181"/>
                  <a:gd name="T27" fmla="*/ 0 h 171"/>
                  <a:gd name="T28" fmla="*/ 2 w 181"/>
                  <a:gd name="T29" fmla="*/ 0 h 171"/>
                  <a:gd name="T30" fmla="*/ 2 w 181"/>
                  <a:gd name="T31" fmla="*/ 0 h 171"/>
                  <a:gd name="T32" fmla="*/ 1 w 181"/>
                  <a:gd name="T33" fmla="*/ 0 h 171"/>
                  <a:gd name="T34" fmla="*/ 1 w 181"/>
                  <a:gd name="T35" fmla="*/ 0 h 171"/>
                  <a:gd name="T36" fmla="*/ 1 w 181"/>
                  <a:gd name="T37" fmla="*/ 1 h 171"/>
                  <a:gd name="T38" fmla="*/ 0 w 181"/>
                  <a:gd name="T39" fmla="*/ 1 h 171"/>
                  <a:gd name="T40" fmla="*/ 0 w 181"/>
                  <a:gd name="T41" fmla="*/ 1 h 171"/>
                  <a:gd name="T42" fmla="*/ 0 w 181"/>
                  <a:gd name="T43" fmla="*/ 2 h 171"/>
                  <a:gd name="T44" fmla="*/ 0 w 181"/>
                  <a:gd name="T45" fmla="*/ 3 h 171"/>
                  <a:gd name="T46" fmla="*/ 0 w 181"/>
                  <a:gd name="T47" fmla="*/ 3 h 171"/>
                  <a:gd name="T48" fmla="*/ 0 w 181"/>
                  <a:gd name="T49" fmla="*/ 166 h 171"/>
                  <a:gd name="T50" fmla="*/ 0 w 181"/>
                  <a:gd name="T51" fmla="*/ 166 h 171"/>
                  <a:gd name="T52" fmla="*/ 0 w 181"/>
                  <a:gd name="T53" fmla="*/ 167 h 171"/>
                  <a:gd name="T54" fmla="*/ 0 w 181"/>
                  <a:gd name="T55" fmla="*/ 168 h 171"/>
                  <a:gd name="T56" fmla="*/ 0 w 181"/>
                  <a:gd name="T57" fmla="*/ 168 h 171"/>
                  <a:gd name="T58" fmla="*/ 1 w 181"/>
                  <a:gd name="T59" fmla="*/ 168 h 171"/>
                  <a:gd name="T60" fmla="*/ 1 w 181"/>
                  <a:gd name="T61" fmla="*/ 169 h 171"/>
                  <a:gd name="T62" fmla="*/ 2 w 181"/>
                  <a:gd name="T63" fmla="*/ 169 h 171"/>
                  <a:gd name="T64" fmla="*/ 2 w 181"/>
                  <a:gd name="T65" fmla="*/ 169 h 171"/>
                  <a:gd name="T66" fmla="*/ 3 w 181"/>
                  <a:gd name="T67" fmla="*/ 170 h 171"/>
                  <a:gd name="T68" fmla="*/ 3 w 181"/>
                  <a:gd name="T69" fmla="*/ 170 h 171"/>
                  <a:gd name="T70" fmla="*/ 176 w 181"/>
                  <a:gd name="T71" fmla="*/ 170 h 171"/>
                  <a:gd name="T72" fmla="*/ 176 w 181"/>
                  <a:gd name="T73" fmla="*/ 169 h 171"/>
                  <a:gd name="T74" fmla="*/ 177 w 181"/>
                  <a:gd name="T75" fmla="*/ 169 h 171"/>
                  <a:gd name="T76" fmla="*/ 177 w 181"/>
                  <a:gd name="T77" fmla="*/ 169 h 171"/>
                  <a:gd name="T78" fmla="*/ 178 w 181"/>
                  <a:gd name="T79" fmla="*/ 169 h 171"/>
                  <a:gd name="T80" fmla="*/ 178 w 181"/>
                  <a:gd name="T81" fmla="*/ 168 h 171"/>
                  <a:gd name="T82" fmla="*/ 178 w 181"/>
                  <a:gd name="T83" fmla="*/ 168 h 171"/>
                  <a:gd name="T84" fmla="*/ 179 w 181"/>
                  <a:gd name="T85" fmla="*/ 168 h 171"/>
                  <a:gd name="T86" fmla="*/ 179 w 181"/>
                  <a:gd name="T87" fmla="*/ 167 h 171"/>
                  <a:gd name="T88" fmla="*/ 180 w 181"/>
                  <a:gd name="T89" fmla="*/ 166 h 171"/>
                  <a:gd name="T90" fmla="*/ 180 w 181"/>
                  <a:gd name="T91" fmla="*/ 166 h 171"/>
                  <a:gd name="T92" fmla="*/ 180 w 181"/>
                  <a:gd name="T93" fmla="*/ 3 h 171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181"/>
                  <a:gd name="T142" fmla="*/ 0 h 171"/>
                  <a:gd name="T143" fmla="*/ 181 w 181"/>
                  <a:gd name="T144" fmla="*/ 171 h 171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181" h="171">
                    <a:moveTo>
                      <a:pt x="180" y="3"/>
                    </a:moveTo>
                    <a:lnTo>
                      <a:pt x="180" y="3"/>
                    </a:lnTo>
                    <a:lnTo>
                      <a:pt x="180" y="2"/>
                    </a:lnTo>
                    <a:lnTo>
                      <a:pt x="179" y="2"/>
                    </a:lnTo>
                    <a:lnTo>
                      <a:pt x="179" y="1"/>
                    </a:lnTo>
                    <a:lnTo>
                      <a:pt x="178" y="1"/>
                    </a:lnTo>
                    <a:lnTo>
                      <a:pt x="178" y="0"/>
                    </a:lnTo>
                    <a:lnTo>
                      <a:pt x="177" y="0"/>
                    </a:lnTo>
                    <a:lnTo>
                      <a:pt x="176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166"/>
                    </a:lnTo>
                    <a:lnTo>
                      <a:pt x="0" y="167"/>
                    </a:lnTo>
                    <a:lnTo>
                      <a:pt x="0" y="168"/>
                    </a:lnTo>
                    <a:lnTo>
                      <a:pt x="1" y="168"/>
                    </a:lnTo>
                    <a:lnTo>
                      <a:pt x="1" y="169"/>
                    </a:lnTo>
                    <a:lnTo>
                      <a:pt x="2" y="169"/>
                    </a:lnTo>
                    <a:lnTo>
                      <a:pt x="3" y="170"/>
                    </a:lnTo>
                    <a:lnTo>
                      <a:pt x="176" y="170"/>
                    </a:lnTo>
                    <a:lnTo>
                      <a:pt x="176" y="169"/>
                    </a:lnTo>
                    <a:lnTo>
                      <a:pt x="177" y="169"/>
                    </a:lnTo>
                    <a:lnTo>
                      <a:pt x="178" y="169"/>
                    </a:lnTo>
                    <a:lnTo>
                      <a:pt x="178" y="168"/>
                    </a:lnTo>
                    <a:lnTo>
                      <a:pt x="179" y="168"/>
                    </a:lnTo>
                    <a:lnTo>
                      <a:pt x="179" y="167"/>
                    </a:lnTo>
                    <a:lnTo>
                      <a:pt x="180" y="166"/>
                    </a:lnTo>
                    <a:lnTo>
                      <a:pt x="180" y="3"/>
                    </a:lnTo>
                  </a:path>
                </a:pathLst>
              </a:custGeom>
              <a:solidFill>
                <a:srgbClr val="999999"/>
              </a:solidFill>
              <a:ln w="12700">
                <a:solidFill>
                  <a:srgbClr val="9999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8" name="Freeform 99"/>
              <p:cNvSpPr>
                <a:spLocks/>
              </p:cNvSpPr>
              <p:nvPr/>
            </p:nvSpPr>
            <p:spPr bwMode="auto">
              <a:xfrm>
                <a:off x="3858" y="1282"/>
                <a:ext cx="180" cy="168"/>
              </a:xfrm>
              <a:custGeom>
                <a:avLst/>
                <a:gdLst>
                  <a:gd name="T0" fmla="*/ 179 w 180"/>
                  <a:gd name="T1" fmla="*/ 163 h 168"/>
                  <a:gd name="T2" fmla="*/ 179 w 180"/>
                  <a:gd name="T3" fmla="*/ 164 h 168"/>
                  <a:gd name="T4" fmla="*/ 178 w 180"/>
                  <a:gd name="T5" fmla="*/ 165 h 168"/>
                  <a:gd name="T6" fmla="*/ 178 w 180"/>
                  <a:gd name="T7" fmla="*/ 165 h 168"/>
                  <a:gd name="T8" fmla="*/ 177 w 180"/>
                  <a:gd name="T9" fmla="*/ 166 h 168"/>
                  <a:gd name="T10" fmla="*/ 177 w 180"/>
                  <a:gd name="T11" fmla="*/ 166 h 168"/>
                  <a:gd name="T12" fmla="*/ 176 w 180"/>
                  <a:gd name="T13" fmla="*/ 167 h 168"/>
                  <a:gd name="T14" fmla="*/ 176 w 180"/>
                  <a:gd name="T15" fmla="*/ 167 h 168"/>
                  <a:gd name="T16" fmla="*/ 2 w 180"/>
                  <a:gd name="T17" fmla="*/ 167 h 168"/>
                  <a:gd name="T18" fmla="*/ 2 w 180"/>
                  <a:gd name="T19" fmla="*/ 167 h 168"/>
                  <a:gd name="T20" fmla="*/ 1 w 180"/>
                  <a:gd name="T21" fmla="*/ 167 h 168"/>
                  <a:gd name="T22" fmla="*/ 1 w 180"/>
                  <a:gd name="T23" fmla="*/ 166 h 168"/>
                  <a:gd name="T24" fmla="*/ 1 w 180"/>
                  <a:gd name="T25" fmla="*/ 166 h 168"/>
                  <a:gd name="T26" fmla="*/ 0 w 180"/>
                  <a:gd name="T27" fmla="*/ 166 h 168"/>
                  <a:gd name="T28" fmla="*/ 0 w 180"/>
                  <a:gd name="T29" fmla="*/ 165 h 168"/>
                  <a:gd name="T30" fmla="*/ 0 w 180"/>
                  <a:gd name="T31" fmla="*/ 165 h 168"/>
                  <a:gd name="T32" fmla="*/ 0 w 180"/>
                  <a:gd name="T33" fmla="*/ 165 h 168"/>
                  <a:gd name="T34" fmla="*/ 0 w 180"/>
                  <a:gd name="T35" fmla="*/ 164 h 168"/>
                  <a:gd name="T36" fmla="*/ 0 w 180"/>
                  <a:gd name="T37" fmla="*/ 163 h 168"/>
                  <a:gd name="T38" fmla="*/ 0 w 180"/>
                  <a:gd name="T39" fmla="*/ 3 h 168"/>
                  <a:gd name="T40" fmla="*/ 0 w 180"/>
                  <a:gd name="T41" fmla="*/ 2 h 168"/>
                  <a:gd name="T42" fmla="*/ 0 w 180"/>
                  <a:gd name="T43" fmla="*/ 1 h 168"/>
                  <a:gd name="T44" fmla="*/ 0 w 180"/>
                  <a:gd name="T45" fmla="*/ 1 h 168"/>
                  <a:gd name="T46" fmla="*/ 0 w 180"/>
                  <a:gd name="T47" fmla="*/ 1 h 168"/>
                  <a:gd name="T48" fmla="*/ 1 w 180"/>
                  <a:gd name="T49" fmla="*/ 0 h 168"/>
                  <a:gd name="T50" fmla="*/ 1 w 180"/>
                  <a:gd name="T51" fmla="*/ 0 h 168"/>
                  <a:gd name="T52" fmla="*/ 2 w 180"/>
                  <a:gd name="T53" fmla="*/ 0 h 168"/>
                  <a:gd name="T54" fmla="*/ 2 w 180"/>
                  <a:gd name="T55" fmla="*/ 0 h 168"/>
                  <a:gd name="T56" fmla="*/ 176 w 180"/>
                  <a:gd name="T57" fmla="*/ 0 h 168"/>
                  <a:gd name="T58" fmla="*/ 176 w 180"/>
                  <a:gd name="T59" fmla="*/ 0 h 168"/>
                  <a:gd name="T60" fmla="*/ 176 w 180"/>
                  <a:gd name="T61" fmla="*/ 0 h 168"/>
                  <a:gd name="T62" fmla="*/ 177 w 180"/>
                  <a:gd name="T63" fmla="*/ 0 h 168"/>
                  <a:gd name="T64" fmla="*/ 177 w 180"/>
                  <a:gd name="T65" fmla="*/ 0 h 168"/>
                  <a:gd name="T66" fmla="*/ 177 w 180"/>
                  <a:gd name="T67" fmla="*/ 1 h 168"/>
                  <a:gd name="T68" fmla="*/ 178 w 180"/>
                  <a:gd name="T69" fmla="*/ 1 h 168"/>
                  <a:gd name="T70" fmla="*/ 178 w 180"/>
                  <a:gd name="T71" fmla="*/ 1 h 168"/>
                  <a:gd name="T72" fmla="*/ 179 w 180"/>
                  <a:gd name="T73" fmla="*/ 2 h 168"/>
                  <a:gd name="T74" fmla="*/ 179 w 180"/>
                  <a:gd name="T75" fmla="*/ 3 h 168"/>
                  <a:gd name="T76" fmla="*/ 179 w 180"/>
                  <a:gd name="T77" fmla="*/ 163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80"/>
                  <a:gd name="T118" fmla="*/ 0 h 168"/>
                  <a:gd name="T119" fmla="*/ 180 w 180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80" h="168">
                    <a:moveTo>
                      <a:pt x="179" y="163"/>
                    </a:moveTo>
                    <a:lnTo>
                      <a:pt x="179" y="164"/>
                    </a:lnTo>
                    <a:lnTo>
                      <a:pt x="178" y="165"/>
                    </a:lnTo>
                    <a:lnTo>
                      <a:pt x="177" y="166"/>
                    </a:lnTo>
                    <a:lnTo>
                      <a:pt x="176" y="167"/>
                    </a:lnTo>
                    <a:lnTo>
                      <a:pt x="2" y="167"/>
                    </a:lnTo>
                    <a:lnTo>
                      <a:pt x="1" y="167"/>
                    </a:lnTo>
                    <a:lnTo>
                      <a:pt x="1" y="166"/>
                    </a:lnTo>
                    <a:lnTo>
                      <a:pt x="0" y="166"/>
                    </a:lnTo>
                    <a:lnTo>
                      <a:pt x="0" y="165"/>
                    </a:lnTo>
                    <a:lnTo>
                      <a:pt x="0" y="164"/>
                    </a:lnTo>
                    <a:lnTo>
                      <a:pt x="0" y="163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176" y="0"/>
                    </a:lnTo>
                    <a:lnTo>
                      <a:pt x="177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2"/>
                    </a:lnTo>
                    <a:lnTo>
                      <a:pt x="179" y="3"/>
                    </a:lnTo>
                    <a:lnTo>
                      <a:pt x="179" y="163"/>
                    </a:lnTo>
                  </a:path>
                </a:pathLst>
              </a:custGeom>
              <a:solidFill>
                <a:srgbClr val="EFEFD1"/>
              </a:solidFill>
              <a:ln w="12700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9" name="Freeform 100"/>
              <p:cNvSpPr>
                <a:spLocks/>
              </p:cNvSpPr>
              <p:nvPr/>
            </p:nvSpPr>
            <p:spPr bwMode="auto">
              <a:xfrm>
                <a:off x="3877" y="1304"/>
                <a:ext cx="142" cy="124"/>
              </a:xfrm>
              <a:custGeom>
                <a:avLst/>
                <a:gdLst>
                  <a:gd name="T0" fmla="*/ 0 w 142"/>
                  <a:gd name="T1" fmla="*/ 1 h 124"/>
                  <a:gd name="T2" fmla="*/ 1 w 142"/>
                  <a:gd name="T3" fmla="*/ 1 h 124"/>
                  <a:gd name="T4" fmla="*/ 1 w 142"/>
                  <a:gd name="T5" fmla="*/ 1 h 124"/>
                  <a:gd name="T6" fmla="*/ 2 w 142"/>
                  <a:gd name="T7" fmla="*/ 0 h 124"/>
                  <a:gd name="T8" fmla="*/ 2 w 142"/>
                  <a:gd name="T9" fmla="*/ 0 h 124"/>
                  <a:gd name="T10" fmla="*/ 3 w 142"/>
                  <a:gd name="T11" fmla="*/ 0 h 124"/>
                  <a:gd name="T12" fmla="*/ 3 w 142"/>
                  <a:gd name="T13" fmla="*/ 0 h 124"/>
                  <a:gd name="T14" fmla="*/ 4 w 142"/>
                  <a:gd name="T15" fmla="*/ 0 h 124"/>
                  <a:gd name="T16" fmla="*/ 135 w 142"/>
                  <a:gd name="T17" fmla="*/ 0 h 124"/>
                  <a:gd name="T18" fmla="*/ 136 w 142"/>
                  <a:gd name="T19" fmla="*/ 0 h 124"/>
                  <a:gd name="T20" fmla="*/ 137 w 142"/>
                  <a:gd name="T21" fmla="*/ 0 h 124"/>
                  <a:gd name="T22" fmla="*/ 137 w 142"/>
                  <a:gd name="T23" fmla="*/ 0 h 124"/>
                  <a:gd name="T24" fmla="*/ 138 w 142"/>
                  <a:gd name="T25" fmla="*/ 0 h 124"/>
                  <a:gd name="T26" fmla="*/ 138 w 142"/>
                  <a:gd name="T27" fmla="*/ 1 h 124"/>
                  <a:gd name="T28" fmla="*/ 139 w 142"/>
                  <a:gd name="T29" fmla="*/ 1 h 124"/>
                  <a:gd name="T30" fmla="*/ 139 w 142"/>
                  <a:gd name="T31" fmla="*/ 1 h 124"/>
                  <a:gd name="T32" fmla="*/ 140 w 142"/>
                  <a:gd name="T33" fmla="*/ 2 h 124"/>
                  <a:gd name="T34" fmla="*/ 140 w 142"/>
                  <a:gd name="T35" fmla="*/ 3 h 124"/>
                  <a:gd name="T36" fmla="*/ 141 w 142"/>
                  <a:gd name="T37" fmla="*/ 3 h 124"/>
                  <a:gd name="T38" fmla="*/ 141 w 142"/>
                  <a:gd name="T39" fmla="*/ 4 h 124"/>
                  <a:gd name="T40" fmla="*/ 141 w 142"/>
                  <a:gd name="T41" fmla="*/ 5 h 124"/>
                  <a:gd name="T42" fmla="*/ 141 w 142"/>
                  <a:gd name="T43" fmla="*/ 117 h 124"/>
                  <a:gd name="T44" fmla="*/ 141 w 142"/>
                  <a:gd name="T45" fmla="*/ 119 h 124"/>
                  <a:gd name="T46" fmla="*/ 140 w 142"/>
                  <a:gd name="T47" fmla="*/ 119 h 124"/>
                  <a:gd name="T48" fmla="*/ 140 w 142"/>
                  <a:gd name="T49" fmla="*/ 120 h 124"/>
                  <a:gd name="T50" fmla="*/ 139 w 142"/>
                  <a:gd name="T51" fmla="*/ 121 h 124"/>
                  <a:gd name="T52" fmla="*/ 139 w 142"/>
                  <a:gd name="T53" fmla="*/ 121 h 124"/>
                  <a:gd name="T54" fmla="*/ 138 w 142"/>
                  <a:gd name="T55" fmla="*/ 122 h 124"/>
                  <a:gd name="T56" fmla="*/ 138 w 142"/>
                  <a:gd name="T57" fmla="*/ 122 h 124"/>
                  <a:gd name="T58" fmla="*/ 137 w 142"/>
                  <a:gd name="T59" fmla="*/ 122 h 124"/>
                  <a:gd name="T60" fmla="*/ 137 w 142"/>
                  <a:gd name="T61" fmla="*/ 123 h 124"/>
                  <a:gd name="T62" fmla="*/ 136 w 142"/>
                  <a:gd name="T63" fmla="*/ 123 h 124"/>
                  <a:gd name="T64" fmla="*/ 135 w 142"/>
                  <a:gd name="T65" fmla="*/ 123 h 124"/>
                  <a:gd name="T66" fmla="*/ 4 w 142"/>
                  <a:gd name="T67" fmla="*/ 123 h 124"/>
                  <a:gd name="T68" fmla="*/ 3 w 142"/>
                  <a:gd name="T69" fmla="*/ 123 h 124"/>
                  <a:gd name="T70" fmla="*/ 3 w 142"/>
                  <a:gd name="T71" fmla="*/ 123 h 124"/>
                  <a:gd name="T72" fmla="*/ 2 w 142"/>
                  <a:gd name="T73" fmla="*/ 122 h 124"/>
                  <a:gd name="T74" fmla="*/ 2 w 142"/>
                  <a:gd name="T75" fmla="*/ 122 h 124"/>
                  <a:gd name="T76" fmla="*/ 1 w 142"/>
                  <a:gd name="T77" fmla="*/ 122 h 124"/>
                  <a:gd name="T78" fmla="*/ 1 w 142"/>
                  <a:gd name="T79" fmla="*/ 121 h 124"/>
                  <a:gd name="T80" fmla="*/ 0 w 142"/>
                  <a:gd name="T81" fmla="*/ 121 h 124"/>
                  <a:gd name="T82" fmla="*/ 0 w 142"/>
                  <a:gd name="T83" fmla="*/ 120 h 124"/>
                  <a:gd name="T84" fmla="*/ 0 w 142"/>
                  <a:gd name="T85" fmla="*/ 119 h 124"/>
                  <a:gd name="T86" fmla="*/ 0 w 142"/>
                  <a:gd name="T87" fmla="*/ 119 h 124"/>
                  <a:gd name="T88" fmla="*/ 0 w 142"/>
                  <a:gd name="T89" fmla="*/ 117 h 124"/>
                  <a:gd name="T90" fmla="*/ 0 w 142"/>
                  <a:gd name="T91" fmla="*/ 5 h 124"/>
                  <a:gd name="T92" fmla="*/ 0 w 142"/>
                  <a:gd name="T93" fmla="*/ 4 h 124"/>
                  <a:gd name="T94" fmla="*/ 0 w 142"/>
                  <a:gd name="T95" fmla="*/ 3 h 124"/>
                  <a:gd name="T96" fmla="*/ 0 w 142"/>
                  <a:gd name="T97" fmla="*/ 3 h 124"/>
                  <a:gd name="T98" fmla="*/ 0 w 142"/>
                  <a:gd name="T99" fmla="*/ 2 h 124"/>
                  <a:gd name="T100" fmla="*/ 0 w 142"/>
                  <a:gd name="T101" fmla="*/ 1 h 124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42"/>
                  <a:gd name="T154" fmla="*/ 0 h 124"/>
                  <a:gd name="T155" fmla="*/ 142 w 142"/>
                  <a:gd name="T156" fmla="*/ 124 h 124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42" h="124">
                    <a:moveTo>
                      <a:pt x="0" y="1"/>
                    </a:moveTo>
                    <a:lnTo>
                      <a:pt x="1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8" y="1"/>
                    </a:lnTo>
                    <a:lnTo>
                      <a:pt x="139" y="1"/>
                    </a:lnTo>
                    <a:lnTo>
                      <a:pt x="140" y="2"/>
                    </a:lnTo>
                    <a:lnTo>
                      <a:pt x="140" y="3"/>
                    </a:lnTo>
                    <a:lnTo>
                      <a:pt x="141" y="3"/>
                    </a:lnTo>
                    <a:lnTo>
                      <a:pt x="141" y="4"/>
                    </a:lnTo>
                    <a:lnTo>
                      <a:pt x="141" y="5"/>
                    </a:lnTo>
                    <a:lnTo>
                      <a:pt x="141" y="117"/>
                    </a:lnTo>
                    <a:lnTo>
                      <a:pt x="141" y="119"/>
                    </a:lnTo>
                    <a:lnTo>
                      <a:pt x="140" y="119"/>
                    </a:lnTo>
                    <a:lnTo>
                      <a:pt x="140" y="120"/>
                    </a:lnTo>
                    <a:lnTo>
                      <a:pt x="139" y="121"/>
                    </a:lnTo>
                    <a:lnTo>
                      <a:pt x="138" y="122"/>
                    </a:lnTo>
                    <a:lnTo>
                      <a:pt x="137" y="122"/>
                    </a:lnTo>
                    <a:lnTo>
                      <a:pt x="137" y="123"/>
                    </a:lnTo>
                    <a:lnTo>
                      <a:pt x="136" y="123"/>
                    </a:lnTo>
                    <a:lnTo>
                      <a:pt x="135" y="123"/>
                    </a:lnTo>
                    <a:lnTo>
                      <a:pt x="4" y="123"/>
                    </a:lnTo>
                    <a:lnTo>
                      <a:pt x="3" y="123"/>
                    </a:lnTo>
                    <a:lnTo>
                      <a:pt x="2" y="122"/>
                    </a:lnTo>
                    <a:lnTo>
                      <a:pt x="1" y="122"/>
                    </a:lnTo>
                    <a:lnTo>
                      <a:pt x="1" y="121"/>
                    </a:lnTo>
                    <a:lnTo>
                      <a:pt x="0" y="121"/>
                    </a:lnTo>
                    <a:lnTo>
                      <a:pt x="0" y="120"/>
                    </a:lnTo>
                    <a:lnTo>
                      <a:pt x="0" y="119"/>
                    </a:lnTo>
                    <a:lnTo>
                      <a:pt x="0" y="117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</a:path>
                </a:pathLst>
              </a:custGeom>
              <a:gradFill rotWithShape="0">
                <a:gsLst>
                  <a:gs pos="0">
                    <a:srgbClr val="1D2B4B"/>
                  </a:gs>
                  <a:gs pos="50000">
                    <a:srgbClr val="618FFD"/>
                  </a:gs>
                  <a:gs pos="100000">
                    <a:srgbClr val="1D2B4B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0" name="Freeform 101"/>
              <p:cNvSpPr>
                <a:spLocks/>
              </p:cNvSpPr>
              <p:nvPr/>
            </p:nvSpPr>
            <p:spPr bwMode="auto">
              <a:xfrm>
                <a:off x="3872" y="1298"/>
                <a:ext cx="153" cy="17"/>
              </a:xfrm>
              <a:custGeom>
                <a:avLst/>
                <a:gdLst>
                  <a:gd name="T0" fmla="*/ 152 w 153"/>
                  <a:gd name="T1" fmla="*/ 4 h 17"/>
                  <a:gd name="T2" fmla="*/ 151 w 153"/>
                  <a:gd name="T3" fmla="*/ 3 h 17"/>
                  <a:gd name="T4" fmla="*/ 151 w 153"/>
                  <a:gd name="T5" fmla="*/ 2 h 17"/>
                  <a:gd name="T6" fmla="*/ 150 w 153"/>
                  <a:gd name="T7" fmla="*/ 2 h 17"/>
                  <a:gd name="T8" fmla="*/ 150 w 153"/>
                  <a:gd name="T9" fmla="*/ 2 h 17"/>
                  <a:gd name="T10" fmla="*/ 150 w 153"/>
                  <a:gd name="T11" fmla="*/ 1 h 17"/>
                  <a:gd name="T12" fmla="*/ 149 w 153"/>
                  <a:gd name="T13" fmla="*/ 1 h 17"/>
                  <a:gd name="T14" fmla="*/ 149 w 153"/>
                  <a:gd name="T15" fmla="*/ 1 h 17"/>
                  <a:gd name="T16" fmla="*/ 148 w 153"/>
                  <a:gd name="T17" fmla="*/ 0 h 17"/>
                  <a:gd name="T18" fmla="*/ 148 w 153"/>
                  <a:gd name="T19" fmla="*/ 0 h 17"/>
                  <a:gd name="T20" fmla="*/ 147 w 153"/>
                  <a:gd name="T21" fmla="*/ 0 h 17"/>
                  <a:gd name="T22" fmla="*/ 146 w 153"/>
                  <a:gd name="T23" fmla="*/ 0 h 17"/>
                  <a:gd name="T24" fmla="*/ 3 w 153"/>
                  <a:gd name="T25" fmla="*/ 0 h 17"/>
                  <a:gd name="T26" fmla="*/ 3 w 153"/>
                  <a:gd name="T27" fmla="*/ 0 h 17"/>
                  <a:gd name="T28" fmla="*/ 2 w 153"/>
                  <a:gd name="T29" fmla="*/ 0 h 17"/>
                  <a:gd name="T30" fmla="*/ 1 w 153"/>
                  <a:gd name="T31" fmla="*/ 1 h 17"/>
                  <a:gd name="T32" fmla="*/ 1 w 153"/>
                  <a:gd name="T33" fmla="*/ 1 h 17"/>
                  <a:gd name="T34" fmla="*/ 0 w 153"/>
                  <a:gd name="T35" fmla="*/ 2 h 17"/>
                  <a:gd name="T36" fmla="*/ 0 w 153"/>
                  <a:gd name="T37" fmla="*/ 2 h 17"/>
                  <a:gd name="T38" fmla="*/ 0 w 153"/>
                  <a:gd name="T39" fmla="*/ 3 h 17"/>
                  <a:gd name="T40" fmla="*/ 6 w 153"/>
                  <a:gd name="T41" fmla="*/ 16 h 17"/>
                  <a:gd name="T42" fmla="*/ 7 w 153"/>
                  <a:gd name="T43" fmla="*/ 14 h 17"/>
                  <a:gd name="T44" fmla="*/ 7 w 153"/>
                  <a:gd name="T45" fmla="*/ 14 h 17"/>
                  <a:gd name="T46" fmla="*/ 8 w 153"/>
                  <a:gd name="T47" fmla="*/ 13 h 17"/>
                  <a:gd name="T48" fmla="*/ 8 w 153"/>
                  <a:gd name="T49" fmla="*/ 13 h 17"/>
                  <a:gd name="T50" fmla="*/ 8 w 153"/>
                  <a:gd name="T51" fmla="*/ 12 h 17"/>
                  <a:gd name="T52" fmla="*/ 9 w 153"/>
                  <a:gd name="T53" fmla="*/ 12 h 17"/>
                  <a:gd name="T54" fmla="*/ 10 w 153"/>
                  <a:gd name="T55" fmla="*/ 12 h 17"/>
                  <a:gd name="T56" fmla="*/ 140 w 153"/>
                  <a:gd name="T57" fmla="*/ 12 h 17"/>
                  <a:gd name="T58" fmla="*/ 141 w 153"/>
                  <a:gd name="T59" fmla="*/ 12 h 17"/>
                  <a:gd name="T60" fmla="*/ 142 w 153"/>
                  <a:gd name="T61" fmla="*/ 12 h 17"/>
                  <a:gd name="T62" fmla="*/ 142 w 153"/>
                  <a:gd name="T63" fmla="*/ 13 h 17"/>
                  <a:gd name="T64" fmla="*/ 143 w 153"/>
                  <a:gd name="T65" fmla="*/ 13 h 17"/>
                  <a:gd name="T66" fmla="*/ 143 w 153"/>
                  <a:gd name="T67" fmla="*/ 14 h 17"/>
                  <a:gd name="T68" fmla="*/ 143 w 153"/>
                  <a:gd name="T69" fmla="*/ 14 h 17"/>
                  <a:gd name="T70" fmla="*/ 144 w 153"/>
                  <a:gd name="T71" fmla="*/ 14 h 17"/>
                  <a:gd name="T72" fmla="*/ 152 w 153"/>
                  <a:gd name="T73" fmla="*/ 4 h 1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53"/>
                  <a:gd name="T112" fmla="*/ 0 h 17"/>
                  <a:gd name="T113" fmla="*/ 153 w 153"/>
                  <a:gd name="T114" fmla="*/ 17 h 1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53" h="17">
                    <a:moveTo>
                      <a:pt x="152" y="4"/>
                    </a:moveTo>
                    <a:lnTo>
                      <a:pt x="151" y="3"/>
                    </a:lnTo>
                    <a:lnTo>
                      <a:pt x="151" y="2"/>
                    </a:lnTo>
                    <a:lnTo>
                      <a:pt x="150" y="2"/>
                    </a:lnTo>
                    <a:lnTo>
                      <a:pt x="150" y="1"/>
                    </a:lnTo>
                    <a:lnTo>
                      <a:pt x="149" y="1"/>
                    </a:lnTo>
                    <a:lnTo>
                      <a:pt x="148" y="0"/>
                    </a:lnTo>
                    <a:lnTo>
                      <a:pt x="147" y="0"/>
                    </a:lnTo>
                    <a:lnTo>
                      <a:pt x="146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6" y="16"/>
                    </a:lnTo>
                    <a:lnTo>
                      <a:pt x="7" y="14"/>
                    </a:lnTo>
                    <a:lnTo>
                      <a:pt x="8" y="13"/>
                    </a:lnTo>
                    <a:lnTo>
                      <a:pt x="8" y="12"/>
                    </a:lnTo>
                    <a:lnTo>
                      <a:pt x="9" y="12"/>
                    </a:lnTo>
                    <a:lnTo>
                      <a:pt x="10" y="12"/>
                    </a:lnTo>
                    <a:lnTo>
                      <a:pt x="140" y="12"/>
                    </a:lnTo>
                    <a:lnTo>
                      <a:pt x="141" y="12"/>
                    </a:lnTo>
                    <a:lnTo>
                      <a:pt x="142" y="12"/>
                    </a:lnTo>
                    <a:lnTo>
                      <a:pt x="142" y="13"/>
                    </a:lnTo>
                    <a:lnTo>
                      <a:pt x="143" y="13"/>
                    </a:lnTo>
                    <a:lnTo>
                      <a:pt x="143" y="14"/>
                    </a:lnTo>
                    <a:lnTo>
                      <a:pt x="144" y="14"/>
                    </a:lnTo>
                    <a:lnTo>
                      <a:pt x="152" y="4"/>
                    </a:lnTo>
                  </a:path>
                </a:pathLst>
              </a:custGeom>
              <a:solidFill>
                <a:srgbClr val="9F9FA2"/>
              </a:solidFill>
              <a:ln w="12700">
                <a:solidFill>
                  <a:srgbClr val="9F9FA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1" name="Freeform 102"/>
              <p:cNvSpPr>
                <a:spLocks/>
              </p:cNvSpPr>
              <p:nvPr/>
            </p:nvSpPr>
            <p:spPr bwMode="auto">
              <a:xfrm>
                <a:off x="3870" y="1299"/>
                <a:ext cx="17" cy="135"/>
              </a:xfrm>
              <a:custGeom>
                <a:avLst/>
                <a:gdLst>
                  <a:gd name="T0" fmla="*/ 2 w 17"/>
                  <a:gd name="T1" fmla="*/ 0 h 135"/>
                  <a:gd name="T2" fmla="*/ 1 w 17"/>
                  <a:gd name="T3" fmla="*/ 0 h 135"/>
                  <a:gd name="T4" fmla="*/ 0 w 17"/>
                  <a:gd name="T5" fmla="*/ 1 h 135"/>
                  <a:gd name="T6" fmla="*/ 0 w 17"/>
                  <a:gd name="T7" fmla="*/ 2 h 135"/>
                  <a:gd name="T8" fmla="*/ 0 w 17"/>
                  <a:gd name="T9" fmla="*/ 2 h 135"/>
                  <a:gd name="T10" fmla="*/ 0 w 17"/>
                  <a:gd name="T11" fmla="*/ 3 h 135"/>
                  <a:gd name="T12" fmla="*/ 0 w 17"/>
                  <a:gd name="T13" fmla="*/ 4 h 135"/>
                  <a:gd name="T14" fmla="*/ 0 w 17"/>
                  <a:gd name="T15" fmla="*/ 130 h 135"/>
                  <a:gd name="T16" fmla="*/ 0 w 17"/>
                  <a:gd name="T17" fmla="*/ 130 h 135"/>
                  <a:gd name="T18" fmla="*/ 0 w 17"/>
                  <a:gd name="T19" fmla="*/ 131 h 135"/>
                  <a:gd name="T20" fmla="*/ 0 w 17"/>
                  <a:gd name="T21" fmla="*/ 132 h 135"/>
                  <a:gd name="T22" fmla="*/ 0 w 17"/>
                  <a:gd name="T23" fmla="*/ 132 h 135"/>
                  <a:gd name="T24" fmla="*/ 1 w 17"/>
                  <a:gd name="T25" fmla="*/ 133 h 135"/>
                  <a:gd name="T26" fmla="*/ 2 w 17"/>
                  <a:gd name="T27" fmla="*/ 133 h 135"/>
                  <a:gd name="T28" fmla="*/ 2 w 17"/>
                  <a:gd name="T29" fmla="*/ 134 h 135"/>
                  <a:gd name="T30" fmla="*/ 3 w 17"/>
                  <a:gd name="T31" fmla="*/ 134 h 135"/>
                  <a:gd name="T32" fmla="*/ 16 w 17"/>
                  <a:gd name="T33" fmla="*/ 127 h 135"/>
                  <a:gd name="T34" fmla="*/ 15 w 17"/>
                  <a:gd name="T35" fmla="*/ 126 h 135"/>
                  <a:gd name="T36" fmla="*/ 15 w 17"/>
                  <a:gd name="T37" fmla="*/ 126 h 135"/>
                  <a:gd name="T38" fmla="*/ 14 w 17"/>
                  <a:gd name="T39" fmla="*/ 126 h 135"/>
                  <a:gd name="T40" fmla="*/ 14 w 17"/>
                  <a:gd name="T41" fmla="*/ 125 h 135"/>
                  <a:gd name="T42" fmla="*/ 13 w 17"/>
                  <a:gd name="T43" fmla="*/ 124 h 135"/>
                  <a:gd name="T44" fmla="*/ 13 w 17"/>
                  <a:gd name="T45" fmla="*/ 124 h 135"/>
                  <a:gd name="T46" fmla="*/ 13 w 17"/>
                  <a:gd name="T47" fmla="*/ 10 h 135"/>
                  <a:gd name="T48" fmla="*/ 13 w 17"/>
                  <a:gd name="T49" fmla="*/ 9 h 135"/>
                  <a:gd name="T50" fmla="*/ 13 w 17"/>
                  <a:gd name="T51" fmla="*/ 8 h 135"/>
                  <a:gd name="T52" fmla="*/ 14 w 17"/>
                  <a:gd name="T53" fmla="*/ 8 h 135"/>
                  <a:gd name="T54" fmla="*/ 15 w 17"/>
                  <a:gd name="T55" fmla="*/ 7 h 135"/>
                  <a:gd name="T56" fmla="*/ 15 w 17"/>
                  <a:gd name="T57" fmla="*/ 6 h 135"/>
                  <a:gd name="T58" fmla="*/ 2 w 17"/>
                  <a:gd name="T59" fmla="*/ 0 h 135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7"/>
                  <a:gd name="T91" fmla="*/ 0 h 135"/>
                  <a:gd name="T92" fmla="*/ 17 w 17"/>
                  <a:gd name="T93" fmla="*/ 135 h 135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7" h="135">
                    <a:moveTo>
                      <a:pt x="2" y="0"/>
                    </a:moveTo>
                    <a:lnTo>
                      <a:pt x="1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0" y="130"/>
                    </a:lnTo>
                    <a:lnTo>
                      <a:pt x="0" y="131"/>
                    </a:lnTo>
                    <a:lnTo>
                      <a:pt x="0" y="132"/>
                    </a:lnTo>
                    <a:lnTo>
                      <a:pt x="1" y="133"/>
                    </a:lnTo>
                    <a:lnTo>
                      <a:pt x="2" y="133"/>
                    </a:lnTo>
                    <a:lnTo>
                      <a:pt x="2" y="134"/>
                    </a:lnTo>
                    <a:lnTo>
                      <a:pt x="3" y="134"/>
                    </a:lnTo>
                    <a:lnTo>
                      <a:pt x="16" y="127"/>
                    </a:lnTo>
                    <a:lnTo>
                      <a:pt x="15" y="126"/>
                    </a:lnTo>
                    <a:lnTo>
                      <a:pt x="14" y="126"/>
                    </a:lnTo>
                    <a:lnTo>
                      <a:pt x="14" y="125"/>
                    </a:lnTo>
                    <a:lnTo>
                      <a:pt x="13" y="124"/>
                    </a:lnTo>
                    <a:lnTo>
                      <a:pt x="13" y="10"/>
                    </a:lnTo>
                    <a:lnTo>
                      <a:pt x="13" y="9"/>
                    </a:lnTo>
                    <a:lnTo>
                      <a:pt x="13" y="8"/>
                    </a:lnTo>
                    <a:lnTo>
                      <a:pt x="14" y="8"/>
                    </a:lnTo>
                    <a:lnTo>
                      <a:pt x="15" y="7"/>
                    </a:lnTo>
                    <a:lnTo>
                      <a:pt x="15" y="6"/>
                    </a:lnTo>
                    <a:lnTo>
                      <a:pt x="2" y="0"/>
                    </a:lnTo>
                  </a:path>
                </a:pathLst>
              </a:custGeom>
              <a:solidFill>
                <a:srgbClr val="666666"/>
              </a:solidFill>
              <a:ln w="12700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2" name="Freeform 103"/>
              <p:cNvSpPr>
                <a:spLocks/>
              </p:cNvSpPr>
              <p:nvPr/>
            </p:nvSpPr>
            <p:spPr bwMode="auto">
              <a:xfrm>
                <a:off x="3872" y="1300"/>
                <a:ext cx="155" cy="136"/>
              </a:xfrm>
              <a:custGeom>
                <a:avLst/>
                <a:gdLst>
                  <a:gd name="T0" fmla="*/ 0 w 155"/>
                  <a:gd name="T1" fmla="*/ 133 h 136"/>
                  <a:gd name="T2" fmla="*/ 0 w 155"/>
                  <a:gd name="T3" fmla="*/ 134 h 136"/>
                  <a:gd name="T4" fmla="*/ 0 w 155"/>
                  <a:gd name="T5" fmla="*/ 134 h 136"/>
                  <a:gd name="T6" fmla="*/ 1 w 155"/>
                  <a:gd name="T7" fmla="*/ 134 h 136"/>
                  <a:gd name="T8" fmla="*/ 1 w 155"/>
                  <a:gd name="T9" fmla="*/ 134 h 136"/>
                  <a:gd name="T10" fmla="*/ 2 w 155"/>
                  <a:gd name="T11" fmla="*/ 135 h 136"/>
                  <a:gd name="T12" fmla="*/ 2 w 155"/>
                  <a:gd name="T13" fmla="*/ 135 h 136"/>
                  <a:gd name="T14" fmla="*/ 3 w 155"/>
                  <a:gd name="T15" fmla="*/ 135 h 136"/>
                  <a:gd name="T16" fmla="*/ 148 w 155"/>
                  <a:gd name="T17" fmla="*/ 135 h 136"/>
                  <a:gd name="T18" fmla="*/ 150 w 155"/>
                  <a:gd name="T19" fmla="*/ 134 h 136"/>
                  <a:gd name="T20" fmla="*/ 151 w 155"/>
                  <a:gd name="T21" fmla="*/ 134 h 136"/>
                  <a:gd name="T22" fmla="*/ 151 w 155"/>
                  <a:gd name="T23" fmla="*/ 133 h 136"/>
                  <a:gd name="T24" fmla="*/ 152 w 155"/>
                  <a:gd name="T25" fmla="*/ 133 h 136"/>
                  <a:gd name="T26" fmla="*/ 152 w 155"/>
                  <a:gd name="T27" fmla="*/ 133 h 136"/>
                  <a:gd name="T28" fmla="*/ 153 w 155"/>
                  <a:gd name="T29" fmla="*/ 132 h 136"/>
                  <a:gd name="T30" fmla="*/ 153 w 155"/>
                  <a:gd name="T31" fmla="*/ 131 h 136"/>
                  <a:gd name="T32" fmla="*/ 154 w 155"/>
                  <a:gd name="T33" fmla="*/ 131 h 136"/>
                  <a:gd name="T34" fmla="*/ 154 w 155"/>
                  <a:gd name="T35" fmla="*/ 129 h 136"/>
                  <a:gd name="T36" fmla="*/ 154 w 155"/>
                  <a:gd name="T37" fmla="*/ 129 h 136"/>
                  <a:gd name="T38" fmla="*/ 154 w 155"/>
                  <a:gd name="T39" fmla="*/ 3 h 136"/>
                  <a:gd name="T40" fmla="*/ 154 w 155"/>
                  <a:gd name="T41" fmla="*/ 2 h 136"/>
                  <a:gd name="T42" fmla="*/ 154 w 155"/>
                  <a:gd name="T43" fmla="*/ 1 h 136"/>
                  <a:gd name="T44" fmla="*/ 154 w 155"/>
                  <a:gd name="T45" fmla="*/ 1 h 136"/>
                  <a:gd name="T46" fmla="*/ 153 w 155"/>
                  <a:gd name="T47" fmla="*/ 1 h 136"/>
                  <a:gd name="T48" fmla="*/ 153 w 155"/>
                  <a:gd name="T49" fmla="*/ 0 h 136"/>
                  <a:gd name="T50" fmla="*/ 153 w 155"/>
                  <a:gd name="T51" fmla="*/ 0 h 136"/>
                  <a:gd name="T52" fmla="*/ 145 w 155"/>
                  <a:gd name="T53" fmla="*/ 5 h 136"/>
                  <a:gd name="T54" fmla="*/ 145 w 155"/>
                  <a:gd name="T55" fmla="*/ 5 h 136"/>
                  <a:gd name="T56" fmla="*/ 146 w 155"/>
                  <a:gd name="T57" fmla="*/ 6 h 136"/>
                  <a:gd name="T58" fmla="*/ 146 w 155"/>
                  <a:gd name="T59" fmla="*/ 7 h 136"/>
                  <a:gd name="T60" fmla="*/ 146 w 155"/>
                  <a:gd name="T61" fmla="*/ 7 h 136"/>
                  <a:gd name="T62" fmla="*/ 146 w 155"/>
                  <a:gd name="T63" fmla="*/ 7 h 136"/>
                  <a:gd name="T64" fmla="*/ 146 w 155"/>
                  <a:gd name="T65" fmla="*/ 8 h 136"/>
                  <a:gd name="T66" fmla="*/ 146 w 155"/>
                  <a:gd name="T67" fmla="*/ 9 h 136"/>
                  <a:gd name="T68" fmla="*/ 146 w 155"/>
                  <a:gd name="T69" fmla="*/ 9 h 136"/>
                  <a:gd name="T70" fmla="*/ 146 w 155"/>
                  <a:gd name="T71" fmla="*/ 123 h 136"/>
                  <a:gd name="T72" fmla="*/ 146 w 155"/>
                  <a:gd name="T73" fmla="*/ 123 h 136"/>
                  <a:gd name="T74" fmla="*/ 146 w 155"/>
                  <a:gd name="T75" fmla="*/ 124 h 136"/>
                  <a:gd name="T76" fmla="*/ 146 w 155"/>
                  <a:gd name="T77" fmla="*/ 125 h 136"/>
                  <a:gd name="T78" fmla="*/ 146 w 155"/>
                  <a:gd name="T79" fmla="*/ 125 h 136"/>
                  <a:gd name="T80" fmla="*/ 145 w 155"/>
                  <a:gd name="T81" fmla="*/ 126 h 136"/>
                  <a:gd name="T82" fmla="*/ 145 w 155"/>
                  <a:gd name="T83" fmla="*/ 127 h 136"/>
                  <a:gd name="T84" fmla="*/ 144 w 155"/>
                  <a:gd name="T85" fmla="*/ 127 h 136"/>
                  <a:gd name="T86" fmla="*/ 143 w 155"/>
                  <a:gd name="T87" fmla="*/ 127 h 136"/>
                  <a:gd name="T88" fmla="*/ 143 w 155"/>
                  <a:gd name="T89" fmla="*/ 128 h 136"/>
                  <a:gd name="T90" fmla="*/ 142 w 155"/>
                  <a:gd name="T91" fmla="*/ 128 h 136"/>
                  <a:gd name="T92" fmla="*/ 142 w 155"/>
                  <a:gd name="T93" fmla="*/ 128 h 136"/>
                  <a:gd name="T94" fmla="*/ 9 w 155"/>
                  <a:gd name="T95" fmla="*/ 128 h 136"/>
                  <a:gd name="T96" fmla="*/ 8 w 155"/>
                  <a:gd name="T97" fmla="*/ 128 h 136"/>
                  <a:gd name="T98" fmla="*/ 8 w 155"/>
                  <a:gd name="T99" fmla="*/ 128 h 136"/>
                  <a:gd name="T100" fmla="*/ 8 w 155"/>
                  <a:gd name="T101" fmla="*/ 127 h 136"/>
                  <a:gd name="T102" fmla="*/ 7 w 155"/>
                  <a:gd name="T103" fmla="*/ 127 h 136"/>
                  <a:gd name="T104" fmla="*/ 7 w 155"/>
                  <a:gd name="T105" fmla="*/ 127 h 136"/>
                  <a:gd name="T106" fmla="*/ 6 w 155"/>
                  <a:gd name="T107" fmla="*/ 127 h 136"/>
                  <a:gd name="T108" fmla="*/ 6 w 155"/>
                  <a:gd name="T109" fmla="*/ 127 h 136"/>
                  <a:gd name="T110" fmla="*/ 0 w 155"/>
                  <a:gd name="T111" fmla="*/ 133 h 1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155"/>
                  <a:gd name="T169" fmla="*/ 0 h 136"/>
                  <a:gd name="T170" fmla="*/ 155 w 155"/>
                  <a:gd name="T171" fmla="*/ 136 h 1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155" h="136">
                    <a:moveTo>
                      <a:pt x="0" y="133"/>
                    </a:moveTo>
                    <a:lnTo>
                      <a:pt x="0" y="134"/>
                    </a:lnTo>
                    <a:lnTo>
                      <a:pt x="1" y="134"/>
                    </a:lnTo>
                    <a:lnTo>
                      <a:pt x="2" y="135"/>
                    </a:lnTo>
                    <a:lnTo>
                      <a:pt x="3" y="135"/>
                    </a:lnTo>
                    <a:lnTo>
                      <a:pt x="148" y="135"/>
                    </a:lnTo>
                    <a:lnTo>
                      <a:pt x="150" y="134"/>
                    </a:lnTo>
                    <a:lnTo>
                      <a:pt x="151" y="134"/>
                    </a:lnTo>
                    <a:lnTo>
                      <a:pt x="151" y="133"/>
                    </a:lnTo>
                    <a:lnTo>
                      <a:pt x="152" y="133"/>
                    </a:lnTo>
                    <a:lnTo>
                      <a:pt x="153" y="132"/>
                    </a:lnTo>
                    <a:lnTo>
                      <a:pt x="153" y="131"/>
                    </a:lnTo>
                    <a:lnTo>
                      <a:pt x="154" y="131"/>
                    </a:lnTo>
                    <a:lnTo>
                      <a:pt x="154" y="129"/>
                    </a:lnTo>
                    <a:lnTo>
                      <a:pt x="154" y="3"/>
                    </a:lnTo>
                    <a:lnTo>
                      <a:pt x="154" y="2"/>
                    </a:lnTo>
                    <a:lnTo>
                      <a:pt x="154" y="1"/>
                    </a:lnTo>
                    <a:lnTo>
                      <a:pt x="153" y="1"/>
                    </a:lnTo>
                    <a:lnTo>
                      <a:pt x="153" y="0"/>
                    </a:lnTo>
                    <a:lnTo>
                      <a:pt x="145" y="5"/>
                    </a:lnTo>
                    <a:lnTo>
                      <a:pt x="146" y="6"/>
                    </a:lnTo>
                    <a:lnTo>
                      <a:pt x="146" y="7"/>
                    </a:lnTo>
                    <a:lnTo>
                      <a:pt x="146" y="8"/>
                    </a:lnTo>
                    <a:lnTo>
                      <a:pt x="146" y="9"/>
                    </a:lnTo>
                    <a:lnTo>
                      <a:pt x="146" y="123"/>
                    </a:lnTo>
                    <a:lnTo>
                      <a:pt x="146" y="124"/>
                    </a:lnTo>
                    <a:lnTo>
                      <a:pt x="146" y="125"/>
                    </a:lnTo>
                    <a:lnTo>
                      <a:pt x="145" y="126"/>
                    </a:lnTo>
                    <a:lnTo>
                      <a:pt x="145" y="127"/>
                    </a:lnTo>
                    <a:lnTo>
                      <a:pt x="144" y="127"/>
                    </a:lnTo>
                    <a:lnTo>
                      <a:pt x="143" y="127"/>
                    </a:lnTo>
                    <a:lnTo>
                      <a:pt x="143" y="128"/>
                    </a:lnTo>
                    <a:lnTo>
                      <a:pt x="142" y="128"/>
                    </a:lnTo>
                    <a:lnTo>
                      <a:pt x="9" y="128"/>
                    </a:lnTo>
                    <a:lnTo>
                      <a:pt x="8" y="128"/>
                    </a:lnTo>
                    <a:lnTo>
                      <a:pt x="8" y="127"/>
                    </a:lnTo>
                    <a:lnTo>
                      <a:pt x="7" y="127"/>
                    </a:lnTo>
                    <a:lnTo>
                      <a:pt x="6" y="127"/>
                    </a:lnTo>
                    <a:lnTo>
                      <a:pt x="0" y="133"/>
                    </a:lnTo>
                  </a:path>
                </a:pathLst>
              </a:custGeom>
              <a:solidFill>
                <a:srgbClr val="999999"/>
              </a:solidFill>
              <a:ln w="12700">
                <a:solidFill>
                  <a:srgbClr val="9999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3" name="Freeform 104"/>
              <p:cNvSpPr>
                <a:spLocks/>
              </p:cNvSpPr>
              <p:nvPr/>
            </p:nvSpPr>
            <p:spPr bwMode="auto">
              <a:xfrm>
                <a:off x="3872" y="1298"/>
                <a:ext cx="153" cy="17"/>
              </a:xfrm>
              <a:custGeom>
                <a:avLst/>
                <a:gdLst>
                  <a:gd name="T0" fmla="*/ 152 w 153"/>
                  <a:gd name="T1" fmla="*/ 16 h 17"/>
                  <a:gd name="T2" fmla="*/ 151 w 153"/>
                  <a:gd name="T3" fmla="*/ 16 h 17"/>
                  <a:gd name="T4" fmla="*/ 151 w 153"/>
                  <a:gd name="T5" fmla="*/ 10 h 17"/>
                  <a:gd name="T6" fmla="*/ 150 w 153"/>
                  <a:gd name="T7" fmla="*/ 10 h 17"/>
                  <a:gd name="T8" fmla="*/ 150 w 153"/>
                  <a:gd name="T9" fmla="*/ 10 h 17"/>
                  <a:gd name="T10" fmla="*/ 150 w 153"/>
                  <a:gd name="T11" fmla="*/ 5 h 17"/>
                  <a:gd name="T12" fmla="*/ 149 w 153"/>
                  <a:gd name="T13" fmla="*/ 5 h 17"/>
                  <a:gd name="T14" fmla="*/ 149 w 153"/>
                  <a:gd name="T15" fmla="*/ 5 h 17"/>
                  <a:gd name="T16" fmla="*/ 148 w 153"/>
                  <a:gd name="T17" fmla="*/ 0 h 17"/>
                  <a:gd name="T18" fmla="*/ 148 w 153"/>
                  <a:gd name="T19" fmla="*/ 0 h 17"/>
                  <a:gd name="T20" fmla="*/ 147 w 153"/>
                  <a:gd name="T21" fmla="*/ 0 h 17"/>
                  <a:gd name="T22" fmla="*/ 146 w 153"/>
                  <a:gd name="T23" fmla="*/ 0 h 17"/>
                  <a:gd name="T24" fmla="*/ 3 w 153"/>
                  <a:gd name="T25" fmla="*/ 0 h 17"/>
                  <a:gd name="T26" fmla="*/ 3 w 153"/>
                  <a:gd name="T27" fmla="*/ 0 h 17"/>
                  <a:gd name="T28" fmla="*/ 2 w 153"/>
                  <a:gd name="T29" fmla="*/ 0 h 17"/>
                  <a:gd name="T30" fmla="*/ 1 w 153"/>
                  <a:gd name="T31" fmla="*/ 5 h 17"/>
                  <a:gd name="T32" fmla="*/ 1 w 153"/>
                  <a:gd name="T33" fmla="*/ 5 h 17"/>
                  <a:gd name="T34" fmla="*/ 0 w 153"/>
                  <a:gd name="T35" fmla="*/ 10 h 17"/>
                  <a:gd name="T36" fmla="*/ 0 w 153"/>
                  <a:gd name="T37" fmla="*/ 10 h 17"/>
                  <a:gd name="T38" fmla="*/ 0 w 153"/>
                  <a:gd name="T39" fmla="*/ 16 h 1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53"/>
                  <a:gd name="T61" fmla="*/ 0 h 17"/>
                  <a:gd name="T62" fmla="*/ 153 w 153"/>
                  <a:gd name="T63" fmla="*/ 17 h 1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53" h="17">
                    <a:moveTo>
                      <a:pt x="152" y="16"/>
                    </a:moveTo>
                    <a:lnTo>
                      <a:pt x="151" y="16"/>
                    </a:lnTo>
                    <a:lnTo>
                      <a:pt x="151" y="10"/>
                    </a:lnTo>
                    <a:lnTo>
                      <a:pt x="150" y="10"/>
                    </a:lnTo>
                    <a:lnTo>
                      <a:pt x="150" y="5"/>
                    </a:lnTo>
                    <a:lnTo>
                      <a:pt x="149" y="5"/>
                    </a:lnTo>
                    <a:lnTo>
                      <a:pt x="148" y="0"/>
                    </a:lnTo>
                    <a:lnTo>
                      <a:pt x="147" y="0"/>
                    </a:lnTo>
                    <a:lnTo>
                      <a:pt x="146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5"/>
                    </a:lnTo>
                    <a:lnTo>
                      <a:pt x="0" y="10"/>
                    </a:lnTo>
                    <a:lnTo>
                      <a:pt x="0" y="16"/>
                    </a:lnTo>
                  </a:path>
                </a:pathLst>
              </a:custGeom>
              <a:noFill/>
              <a:ln w="12700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4" name="Freeform 105"/>
              <p:cNvSpPr>
                <a:spLocks/>
              </p:cNvSpPr>
              <p:nvPr/>
            </p:nvSpPr>
            <p:spPr bwMode="auto">
              <a:xfrm>
                <a:off x="3843" y="1489"/>
                <a:ext cx="215" cy="72"/>
              </a:xfrm>
              <a:custGeom>
                <a:avLst/>
                <a:gdLst>
                  <a:gd name="T0" fmla="*/ 0 w 215"/>
                  <a:gd name="T1" fmla="*/ 71 h 72"/>
                  <a:gd name="T2" fmla="*/ 0 w 215"/>
                  <a:gd name="T3" fmla="*/ 0 h 72"/>
                  <a:gd name="T4" fmla="*/ 214 w 215"/>
                  <a:gd name="T5" fmla="*/ 0 h 72"/>
                  <a:gd name="T6" fmla="*/ 214 w 215"/>
                  <a:gd name="T7" fmla="*/ 71 h 72"/>
                  <a:gd name="T8" fmla="*/ 0 w 215"/>
                  <a:gd name="T9" fmla="*/ 71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5"/>
                  <a:gd name="T16" fmla="*/ 0 h 72"/>
                  <a:gd name="T17" fmla="*/ 215 w 215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5" h="72">
                    <a:moveTo>
                      <a:pt x="0" y="71"/>
                    </a:moveTo>
                    <a:lnTo>
                      <a:pt x="0" y="0"/>
                    </a:lnTo>
                    <a:lnTo>
                      <a:pt x="214" y="0"/>
                    </a:lnTo>
                    <a:lnTo>
                      <a:pt x="214" y="71"/>
                    </a:lnTo>
                    <a:lnTo>
                      <a:pt x="0" y="71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5" name="Freeform 106"/>
              <p:cNvSpPr>
                <a:spLocks/>
              </p:cNvSpPr>
              <p:nvPr/>
            </p:nvSpPr>
            <p:spPr bwMode="auto">
              <a:xfrm>
                <a:off x="3841" y="1489"/>
                <a:ext cx="219" cy="23"/>
              </a:xfrm>
              <a:custGeom>
                <a:avLst/>
                <a:gdLst>
                  <a:gd name="T0" fmla="*/ 79 w 219"/>
                  <a:gd name="T1" fmla="*/ 0 h 23"/>
                  <a:gd name="T2" fmla="*/ 0 w 219"/>
                  <a:gd name="T3" fmla="*/ 0 h 23"/>
                  <a:gd name="T4" fmla="*/ 0 w 219"/>
                  <a:gd name="T5" fmla="*/ 22 h 23"/>
                  <a:gd name="T6" fmla="*/ 218 w 219"/>
                  <a:gd name="T7" fmla="*/ 22 h 23"/>
                  <a:gd name="T8" fmla="*/ 215 w 219"/>
                  <a:gd name="T9" fmla="*/ 0 h 23"/>
                  <a:gd name="T10" fmla="*/ 137 w 219"/>
                  <a:gd name="T11" fmla="*/ 0 h 23"/>
                  <a:gd name="T12" fmla="*/ 79 w 219"/>
                  <a:gd name="T13" fmla="*/ 0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19"/>
                  <a:gd name="T22" fmla="*/ 0 h 23"/>
                  <a:gd name="T23" fmla="*/ 219 w 219"/>
                  <a:gd name="T24" fmla="*/ 23 h 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19" h="23">
                    <a:moveTo>
                      <a:pt x="79" y="0"/>
                    </a:moveTo>
                    <a:lnTo>
                      <a:pt x="0" y="0"/>
                    </a:lnTo>
                    <a:lnTo>
                      <a:pt x="0" y="22"/>
                    </a:lnTo>
                    <a:lnTo>
                      <a:pt x="218" y="22"/>
                    </a:lnTo>
                    <a:lnTo>
                      <a:pt x="215" y="0"/>
                    </a:lnTo>
                    <a:lnTo>
                      <a:pt x="137" y="0"/>
                    </a:lnTo>
                    <a:lnTo>
                      <a:pt x="79" y="0"/>
                    </a:lnTo>
                  </a:path>
                </a:pathLst>
              </a:custGeom>
              <a:solidFill>
                <a:srgbClr val="EFEFD1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6" name="Freeform 107"/>
              <p:cNvSpPr>
                <a:spLocks/>
              </p:cNvSpPr>
              <p:nvPr/>
            </p:nvSpPr>
            <p:spPr bwMode="auto">
              <a:xfrm>
                <a:off x="3991" y="1495"/>
                <a:ext cx="56" cy="17"/>
              </a:xfrm>
              <a:custGeom>
                <a:avLst/>
                <a:gdLst>
                  <a:gd name="T0" fmla="*/ 0 w 56"/>
                  <a:gd name="T1" fmla="*/ 6 h 17"/>
                  <a:gd name="T2" fmla="*/ 18 w 56"/>
                  <a:gd name="T3" fmla="*/ 6 h 17"/>
                  <a:gd name="T4" fmla="*/ 18 w 56"/>
                  <a:gd name="T5" fmla="*/ 0 h 17"/>
                  <a:gd name="T6" fmla="*/ 35 w 56"/>
                  <a:gd name="T7" fmla="*/ 0 h 17"/>
                  <a:gd name="T8" fmla="*/ 35 w 56"/>
                  <a:gd name="T9" fmla="*/ 6 h 17"/>
                  <a:gd name="T10" fmla="*/ 55 w 56"/>
                  <a:gd name="T11" fmla="*/ 6 h 17"/>
                  <a:gd name="T12" fmla="*/ 55 w 56"/>
                  <a:gd name="T13" fmla="*/ 10 h 17"/>
                  <a:gd name="T14" fmla="*/ 35 w 56"/>
                  <a:gd name="T15" fmla="*/ 10 h 17"/>
                  <a:gd name="T16" fmla="*/ 35 w 56"/>
                  <a:gd name="T17" fmla="*/ 16 h 17"/>
                  <a:gd name="T18" fmla="*/ 18 w 56"/>
                  <a:gd name="T19" fmla="*/ 16 h 17"/>
                  <a:gd name="T20" fmla="*/ 18 w 56"/>
                  <a:gd name="T21" fmla="*/ 10 h 17"/>
                  <a:gd name="T22" fmla="*/ 0 w 56"/>
                  <a:gd name="T23" fmla="*/ 10 h 17"/>
                  <a:gd name="T24" fmla="*/ 0 w 56"/>
                  <a:gd name="T25" fmla="*/ 6 h 1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6"/>
                  <a:gd name="T40" fmla="*/ 0 h 17"/>
                  <a:gd name="T41" fmla="*/ 56 w 56"/>
                  <a:gd name="T42" fmla="*/ 17 h 1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6" h="17">
                    <a:moveTo>
                      <a:pt x="0" y="6"/>
                    </a:moveTo>
                    <a:lnTo>
                      <a:pt x="18" y="6"/>
                    </a:lnTo>
                    <a:lnTo>
                      <a:pt x="18" y="0"/>
                    </a:lnTo>
                    <a:lnTo>
                      <a:pt x="35" y="0"/>
                    </a:lnTo>
                    <a:lnTo>
                      <a:pt x="35" y="6"/>
                    </a:lnTo>
                    <a:lnTo>
                      <a:pt x="55" y="6"/>
                    </a:lnTo>
                    <a:lnTo>
                      <a:pt x="55" y="10"/>
                    </a:lnTo>
                    <a:lnTo>
                      <a:pt x="35" y="10"/>
                    </a:lnTo>
                    <a:lnTo>
                      <a:pt x="35" y="16"/>
                    </a:lnTo>
                    <a:lnTo>
                      <a:pt x="18" y="16"/>
                    </a:lnTo>
                    <a:lnTo>
                      <a:pt x="18" y="10"/>
                    </a:lnTo>
                    <a:lnTo>
                      <a:pt x="0" y="10"/>
                    </a:lnTo>
                    <a:lnTo>
                      <a:pt x="0" y="6"/>
                    </a:lnTo>
                  </a:path>
                </a:pathLst>
              </a:custGeom>
              <a:solidFill>
                <a:srgbClr val="999999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7" name="Freeform 108"/>
              <p:cNvSpPr>
                <a:spLocks/>
              </p:cNvSpPr>
              <p:nvPr/>
            </p:nvSpPr>
            <p:spPr bwMode="auto">
              <a:xfrm>
                <a:off x="3991" y="1501"/>
                <a:ext cx="17" cy="17"/>
              </a:xfrm>
              <a:custGeom>
                <a:avLst/>
                <a:gdLst>
                  <a:gd name="T0" fmla="*/ 0 w 17"/>
                  <a:gd name="T1" fmla="*/ 16 h 17"/>
                  <a:gd name="T2" fmla="*/ 16 w 17"/>
                  <a:gd name="T3" fmla="*/ 10 h 17"/>
                  <a:gd name="T4" fmla="*/ 16 w 17"/>
                  <a:gd name="T5" fmla="*/ 5 h 17"/>
                  <a:gd name="T6" fmla="*/ 0 w 17"/>
                  <a:gd name="T7" fmla="*/ 0 h 1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17"/>
                  <a:gd name="T14" fmla="*/ 17 w 17"/>
                  <a:gd name="T15" fmla="*/ 17 h 1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17">
                    <a:moveTo>
                      <a:pt x="0" y="16"/>
                    </a:moveTo>
                    <a:lnTo>
                      <a:pt x="16" y="10"/>
                    </a:lnTo>
                    <a:lnTo>
                      <a:pt x="16" y="5"/>
                    </a:ln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EFEFD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8" name="Freeform 109"/>
              <p:cNvSpPr>
                <a:spLocks/>
              </p:cNvSpPr>
              <p:nvPr/>
            </p:nvSpPr>
            <p:spPr bwMode="auto">
              <a:xfrm>
                <a:off x="4010" y="1495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16 w 17"/>
                  <a:gd name="T3" fmla="*/ 16 h 17"/>
                  <a:gd name="T4" fmla="*/ 0 w 17"/>
                  <a:gd name="T5" fmla="*/ 0 h 17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17"/>
                  <a:gd name="T11" fmla="*/ 17 w 17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17">
                    <a:moveTo>
                      <a:pt x="0" y="0"/>
                    </a:moveTo>
                    <a:lnTo>
                      <a:pt x="16" y="16"/>
                    </a:ln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EFE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9" name="Freeform 110"/>
              <p:cNvSpPr>
                <a:spLocks/>
              </p:cNvSpPr>
              <p:nvPr/>
            </p:nvSpPr>
            <p:spPr bwMode="auto">
              <a:xfrm>
                <a:off x="4046" y="1504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16 w 17"/>
                  <a:gd name="T3" fmla="*/ 16 h 17"/>
                  <a:gd name="T4" fmla="*/ 0 w 17"/>
                  <a:gd name="T5" fmla="*/ 0 h 17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17"/>
                  <a:gd name="T11" fmla="*/ 17 w 17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17">
                    <a:moveTo>
                      <a:pt x="0" y="0"/>
                    </a:moveTo>
                    <a:lnTo>
                      <a:pt x="16" y="16"/>
                    </a:ln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EFE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0" name="Freeform 111"/>
              <p:cNvSpPr>
                <a:spLocks/>
              </p:cNvSpPr>
              <p:nvPr/>
            </p:nvSpPr>
            <p:spPr bwMode="auto">
              <a:xfrm>
                <a:off x="4027" y="1495"/>
                <a:ext cx="17" cy="17"/>
              </a:xfrm>
              <a:custGeom>
                <a:avLst/>
                <a:gdLst>
                  <a:gd name="T0" fmla="*/ 0 w 17"/>
                  <a:gd name="T1" fmla="*/ 16 h 17"/>
                  <a:gd name="T2" fmla="*/ 16 w 17"/>
                  <a:gd name="T3" fmla="*/ 0 h 17"/>
                  <a:gd name="T4" fmla="*/ 0 w 17"/>
                  <a:gd name="T5" fmla="*/ 16 h 17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17"/>
                  <a:gd name="T11" fmla="*/ 17 w 17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17">
                    <a:moveTo>
                      <a:pt x="0" y="16"/>
                    </a:moveTo>
                    <a:lnTo>
                      <a:pt x="16" y="0"/>
                    </a:lnTo>
                    <a:lnTo>
                      <a:pt x="0" y="16"/>
                    </a:lnTo>
                  </a:path>
                </a:pathLst>
              </a:custGeom>
              <a:noFill/>
              <a:ln w="12700">
                <a:solidFill>
                  <a:srgbClr val="EFE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1" name="Freeform 112"/>
              <p:cNvSpPr>
                <a:spLocks/>
              </p:cNvSpPr>
              <p:nvPr/>
            </p:nvSpPr>
            <p:spPr bwMode="auto">
              <a:xfrm>
                <a:off x="4011" y="1499"/>
                <a:ext cx="17" cy="17"/>
              </a:xfrm>
              <a:custGeom>
                <a:avLst/>
                <a:gdLst>
                  <a:gd name="T0" fmla="*/ 0 w 17"/>
                  <a:gd name="T1" fmla="*/ 16 h 17"/>
                  <a:gd name="T2" fmla="*/ 16 w 17"/>
                  <a:gd name="T3" fmla="*/ 16 h 17"/>
                  <a:gd name="T4" fmla="*/ 16 w 17"/>
                  <a:gd name="T5" fmla="*/ 0 h 17"/>
                  <a:gd name="T6" fmla="*/ 0 w 17"/>
                  <a:gd name="T7" fmla="*/ 0 h 17"/>
                  <a:gd name="T8" fmla="*/ 0 w 17"/>
                  <a:gd name="T9" fmla="*/ 16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0" y="16"/>
                    </a:moveTo>
                    <a:lnTo>
                      <a:pt x="16" y="16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9F9FA2"/>
              </a:solidFill>
              <a:ln w="12700">
                <a:solidFill>
                  <a:srgbClr val="9F9FA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2" name="Freeform 113"/>
              <p:cNvSpPr>
                <a:spLocks/>
              </p:cNvSpPr>
              <p:nvPr/>
            </p:nvSpPr>
            <p:spPr bwMode="auto">
              <a:xfrm>
                <a:off x="3993" y="1502"/>
                <a:ext cx="54" cy="17"/>
              </a:xfrm>
              <a:custGeom>
                <a:avLst/>
                <a:gdLst>
                  <a:gd name="T0" fmla="*/ 0 w 54"/>
                  <a:gd name="T1" fmla="*/ 0 h 17"/>
                  <a:gd name="T2" fmla="*/ 53 w 54"/>
                  <a:gd name="T3" fmla="*/ 0 h 17"/>
                  <a:gd name="T4" fmla="*/ 53 w 54"/>
                  <a:gd name="T5" fmla="*/ 16 h 17"/>
                  <a:gd name="T6" fmla="*/ 0 w 54"/>
                  <a:gd name="T7" fmla="*/ 16 h 17"/>
                  <a:gd name="T8" fmla="*/ 0 w 54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"/>
                  <a:gd name="T16" fmla="*/ 0 h 17"/>
                  <a:gd name="T17" fmla="*/ 54 w 5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" h="17">
                    <a:moveTo>
                      <a:pt x="0" y="0"/>
                    </a:moveTo>
                    <a:lnTo>
                      <a:pt x="53" y="0"/>
                    </a:lnTo>
                    <a:lnTo>
                      <a:pt x="53" y="16"/>
                    </a:lnTo>
                    <a:lnTo>
                      <a:pt x="0" y="1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3" name="Freeform 114"/>
              <p:cNvSpPr>
                <a:spLocks/>
              </p:cNvSpPr>
              <p:nvPr/>
            </p:nvSpPr>
            <p:spPr bwMode="auto">
              <a:xfrm>
                <a:off x="4010" y="1496"/>
                <a:ext cx="19" cy="17"/>
              </a:xfrm>
              <a:custGeom>
                <a:avLst/>
                <a:gdLst>
                  <a:gd name="T0" fmla="*/ 18 w 19"/>
                  <a:gd name="T1" fmla="*/ 12 h 17"/>
                  <a:gd name="T2" fmla="*/ 17 w 19"/>
                  <a:gd name="T3" fmla="*/ 16 h 17"/>
                  <a:gd name="T4" fmla="*/ 17 w 19"/>
                  <a:gd name="T5" fmla="*/ 0 h 17"/>
                  <a:gd name="T6" fmla="*/ 0 w 19"/>
                  <a:gd name="T7" fmla="*/ 0 h 17"/>
                  <a:gd name="T8" fmla="*/ 0 w 19"/>
                  <a:gd name="T9" fmla="*/ 16 h 17"/>
                  <a:gd name="T10" fmla="*/ 0 w 19"/>
                  <a:gd name="T11" fmla="*/ 12 h 1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"/>
                  <a:gd name="T19" fmla="*/ 0 h 17"/>
                  <a:gd name="T20" fmla="*/ 19 w 19"/>
                  <a:gd name="T21" fmla="*/ 17 h 1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" h="17">
                    <a:moveTo>
                      <a:pt x="18" y="12"/>
                    </a:moveTo>
                    <a:lnTo>
                      <a:pt x="17" y="16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0" y="12"/>
                    </a:lnTo>
                  </a:path>
                </a:pathLst>
              </a:custGeom>
              <a:noFill/>
              <a:ln w="12700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4" name="Freeform 115"/>
              <p:cNvSpPr>
                <a:spLocks/>
              </p:cNvSpPr>
              <p:nvPr/>
            </p:nvSpPr>
            <p:spPr bwMode="auto">
              <a:xfrm>
                <a:off x="3945" y="1505"/>
                <a:ext cx="17" cy="17"/>
              </a:xfrm>
              <a:custGeom>
                <a:avLst/>
                <a:gdLst>
                  <a:gd name="T0" fmla="*/ 16 w 17"/>
                  <a:gd name="T1" fmla="*/ 0 h 17"/>
                  <a:gd name="T2" fmla="*/ 16 w 17"/>
                  <a:gd name="T3" fmla="*/ 16 h 17"/>
                  <a:gd name="T4" fmla="*/ 0 w 17"/>
                  <a:gd name="T5" fmla="*/ 16 h 17"/>
                  <a:gd name="T6" fmla="*/ 0 w 17"/>
                  <a:gd name="T7" fmla="*/ 0 h 17"/>
                  <a:gd name="T8" fmla="*/ 16 w 17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16" y="0"/>
                    </a:moveTo>
                    <a:lnTo>
                      <a:pt x="16" y="16"/>
                    </a:lnTo>
                    <a:lnTo>
                      <a:pt x="0" y="16"/>
                    </a:lnTo>
                    <a:lnTo>
                      <a:pt x="0" y="0"/>
                    </a:lnTo>
                    <a:lnTo>
                      <a:pt x="16" y="0"/>
                    </a:lnTo>
                  </a:path>
                </a:pathLst>
              </a:custGeom>
              <a:solidFill>
                <a:srgbClr val="999999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5" name="Freeform 116"/>
              <p:cNvSpPr>
                <a:spLocks/>
              </p:cNvSpPr>
              <p:nvPr/>
            </p:nvSpPr>
            <p:spPr bwMode="auto">
              <a:xfrm>
                <a:off x="3945" y="1505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16 w 17"/>
                  <a:gd name="T3" fmla="*/ 0 h 17"/>
                  <a:gd name="T4" fmla="*/ 16 w 17"/>
                  <a:gd name="T5" fmla="*/ 16 h 17"/>
                  <a:gd name="T6" fmla="*/ 0 w 17"/>
                  <a:gd name="T7" fmla="*/ 16 h 17"/>
                  <a:gd name="T8" fmla="*/ 0 w 17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0" y="0"/>
                    </a:moveTo>
                    <a:lnTo>
                      <a:pt x="16" y="0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6" name="Freeform 117"/>
              <p:cNvSpPr>
                <a:spLocks/>
              </p:cNvSpPr>
              <p:nvPr/>
            </p:nvSpPr>
            <p:spPr bwMode="auto">
              <a:xfrm>
                <a:off x="3930" y="1497"/>
                <a:ext cx="44" cy="17"/>
              </a:xfrm>
              <a:custGeom>
                <a:avLst/>
                <a:gdLst>
                  <a:gd name="T0" fmla="*/ 14 w 44"/>
                  <a:gd name="T1" fmla="*/ 16 h 17"/>
                  <a:gd name="T2" fmla="*/ 0 w 44"/>
                  <a:gd name="T3" fmla="*/ 16 h 17"/>
                  <a:gd name="T4" fmla="*/ 0 w 44"/>
                  <a:gd name="T5" fmla="*/ 8 h 17"/>
                  <a:gd name="T6" fmla="*/ 14 w 44"/>
                  <a:gd name="T7" fmla="*/ 8 h 17"/>
                  <a:gd name="T8" fmla="*/ 14 w 44"/>
                  <a:gd name="T9" fmla="*/ 0 h 17"/>
                  <a:gd name="T10" fmla="*/ 28 w 44"/>
                  <a:gd name="T11" fmla="*/ 0 h 17"/>
                  <a:gd name="T12" fmla="*/ 28 w 44"/>
                  <a:gd name="T13" fmla="*/ 8 h 17"/>
                  <a:gd name="T14" fmla="*/ 43 w 44"/>
                  <a:gd name="T15" fmla="*/ 8 h 17"/>
                  <a:gd name="T16" fmla="*/ 43 w 44"/>
                  <a:gd name="T17" fmla="*/ 16 h 17"/>
                  <a:gd name="T18" fmla="*/ 28 w 44"/>
                  <a:gd name="T19" fmla="*/ 16 h 17"/>
                  <a:gd name="T20" fmla="*/ 14 w 44"/>
                  <a:gd name="T21" fmla="*/ 16 h 1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4"/>
                  <a:gd name="T34" fmla="*/ 0 h 17"/>
                  <a:gd name="T35" fmla="*/ 44 w 44"/>
                  <a:gd name="T36" fmla="*/ 17 h 1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4" h="17">
                    <a:moveTo>
                      <a:pt x="14" y="16"/>
                    </a:moveTo>
                    <a:lnTo>
                      <a:pt x="0" y="16"/>
                    </a:lnTo>
                    <a:lnTo>
                      <a:pt x="0" y="8"/>
                    </a:lnTo>
                    <a:lnTo>
                      <a:pt x="14" y="8"/>
                    </a:lnTo>
                    <a:lnTo>
                      <a:pt x="14" y="0"/>
                    </a:lnTo>
                    <a:lnTo>
                      <a:pt x="28" y="0"/>
                    </a:lnTo>
                    <a:lnTo>
                      <a:pt x="28" y="8"/>
                    </a:lnTo>
                    <a:lnTo>
                      <a:pt x="43" y="8"/>
                    </a:lnTo>
                    <a:lnTo>
                      <a:pt x="43" y="16"/>
                    </a:lnTo>
                    <a:lnTo>
                      <a:pt x="28" y="16"/>
                    </a:lnTo>
                    <a:lnTo>
                      <a:pt x="14" y="16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7" name="Freeform 118"/>
              <p:cNvSpPr>
                <a:spLocks/>
              </p:cNvSpPr>
              <p:nvPr/>
            </p:nvSpPr>
            <p:spPr bwMode="auto">
              <a:xfrm>
                <a:off x="3945" y="1497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16 w 17"/>
                  <a:gd name="T3" fmla="*/ 0 h 17"/>
                  <a:gd name="T4" fmla="*/ 16 w 17"/>
                  <a:gd name="T5" fmla="*/ 16 h 17"/>
                  <a:gd name="T6" fmla="*/ 0 w 17"/>
                  <a:gd name="T7" fmla="*/ 16 h 17"/>
                  <a:gd name="T8" fmla="*/ 0 w 17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0" y="0"/>
                    </a:moveTo>
                    <a:lnTo>
                      <a:pt x="16" y="0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999999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8" name="Freeform 119"/>
              <p:cNvSpPr>
                <a:spLocks/>
              </p:cNvSpPr>
              <p:nvPr/>
            </p:nvSpPr>
            <p:spPr bwMode="auto">
              <a:xfrm>
                <a:off x="3897" y="1494"/>
                <a:ext cx="20" cy="17"/>
              </a:xfrm>
              <a:custGeom>
                <a:avLst/>
                <a:gdLst>
                  <a:gd name="T0" fmla="*/ 5 w 20"/>
                  <a:gd name="T1" fmla="*/ 16 h 17"/>
                  <a:gd name="T2" fmla="*/ 3 w 20"/>
                  <a:gd name="T3" fmla="*/ 15 h 17"/>
                  <a:gd name="T4" fmla="*/ 2 w 20"/>
                  <a:gd name="T5" fmla="*/ 15 h 17"/>
                  <a:gd name="T6" fmla="*/ 1 w 20"/>
                  <a:gd name="T7" fmla="*/ 14 h 17"/>
                  <a:gd name="T8" fmla="*/ 1 w 20"/>
                  <a:gd name="T9" fmla="*/ 12 h 17"/>
                  <a:gd name="T10" fmla="*/ 0 w 20"/>
                  <a:gd name="T11" fmla="*/ 12 h 17"/>
                  <a:gd name="T12" fmla="*/ 0 w 20"/>
                  <a:gd name="T13" fmla="*/ 10 h 17"/>
                  <a:gd name="T14" fmla="*/ 0 w 20"/>
                  <a:gd name="T15" fmla="*/ 8 h 17"/>
                  <a:gd name="T16" fmla="*/ 0 w 20"/>
                  <a:gd name="T17" fmla="*/ 6 h 17"/>
                  <a:gd name="T18" fmla="*/ 0 w 20"/>
                  <a:gd name="T19" fmla="*/ 4 h 17"/>
                  <a:gd name="T20" fmla="*/ 0 w 20"/>
                  <a:gd name="T21" fmla="*/ 3 h 17"/>
                  <a:gd name="T22" fmla="*/ 1 w 20"/>
                  <a:gd name="T23" fmla="*/ 2 h 17"/>
                  <a:gd name="T24" fmla="*/ 2 w 20"/>
                  <a:gd name="T25" fmla="*/ 1 h 17"/>
                  <a:gd name="T26" fmla="*/ 3 w 20"/>
                  <a:gd name="T27" fmla="*/ 0 h 17"/>
                  <a:gd name="T28" fmla="*/ 4 w 20"/>
                  <a:gd name="T29" fmla="*/ 0 h 17"/>
                  <a:gd name="T30" fmla="*/ 5 w 20"/>
                  <a:gd name="T31" fmla="*/ 0 h 17"/>
                  <a:gd name="T32" fmla="*/ 12 w 20"/>
                  <a:gd name="T33" fmla="*/ 0 h 17"/>
                  <a:gd name="T34" fmla="*/ 13 w 20"/>
                  <a:gd name="T35" fmla="*/ 0 h 17"/>
                  <a:gd name="T36" fmla="*/ 15 w 20"/>
                  <a:gd name="T37" fmla="*/ 0 h 17"/>
                  <a:gd name="T38" fmla="*/ 16 w 20"/>
                  <a:gd name="T39" fmla="*/ 1 h 17"/>
                  <a:gd name="T40" fmla="*/ 17 w 20"/>
                  <a:gd name="T41" fmla="*/ 3 h 17"/>
                  <a:gd name="T42" fmla="*/ 17 w 20"/>
                  <a:gd name="T43" fmla="*/ 3 h 17"/>
                  <a:gd name="T44" fmla="*/ 18 w 20"/>
                  <a:gd name="T45" fmla="*/ 5 h 17"/>
                  <a:gd name="T46" fmla="*/ 18 w 20"/>
                  <a:gd name="T47" fmla="*/ 7 h 17"/>
                  <a:gd name="T48" fmla="*/ 18 w 20"/>
                  <a:gd name="T49" fmla="*/ 8 h 17"/>
                  <a:gd name="T50" fmla="*/ 18 w 20"/>
                  <a:gd name="T51" fmla="*/ 10 h 17"/>
                  <a:gd name="T52" fmla="*/ 17 w 20"/>
                  <a:gd name="T53" fmla="*/ 12 h 17"/>
                  <a:gd name="T54" fmla="*/ 16 w 20"/>
                  <a:gd name="T55" fmla="*/ 13 h 17"/>
                  <a:gd name="T56" fmla="*/ 15 w 20"/>
                  <a:gd name="T57" fmla="*/ 15 h 17"/>
                  <a:gd name="T58" fmla="*/ 13 w 20"/>
                  <a:gd name="T59" fmla="*/ 15 h 17"/>
                  <a:gd name="T60" fmla="*/ 13 w 20"/>
                  <a:gd name="T61" fmla="*/ 16 h 17"/>
                  <a:gd name="T62" fmla="*/ 12 w 20"/>
                  <a:gd name="T63" fmla="*/ 16 h 17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0"/>
                  <a:gd name="T97" fmla="*/ 0 h 17"/>
                  <a:gd name="T98" fmla="*/ 20 w 20"/>
                  <a:gd name="T99" fmla="*/ 17 h 17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0" h="17">
                    <a:moveTo>
                      <a:pt x="5" y="16"/>
                    </a:moveTo>
                    <a:lnTo>
                      <a:pt x="5" y="16"/>
                    </a:lnTo>
                    <a:lnTo>
                      <a:pt x="4" y="16"/>
                    </a:lnTo>
                    <a:lnTo>
                      <a:pt x="3" y="15"/>
                    </a:lnTo>
                    <a:lnTo>
                      <a:pt x="2" y="15"/>
                    </a:lnTo>
                    <a:lnTo>
                      <a:pt x="2" y="14"/>
                    </a:lnTo>
                    <a:lnTo>
                      <a:pt x="1" y="14"/>
                    </a:lnTo>
                    <a:lnTo>
                      <a:pt x="1" y="13"/>
                    </a:lnTo>
                    <a:lnTo>
                      <a:pt x="1" y="12"/>
                    </a:lnTo>
                    <a:lnTo>
                      <a:pt x="0" y="12"/>
                    </a:lnTo>
                    <a:lnTo>
                      <a:pt x="0" y="11"/>
                    </a:lnTo>
                    <a:lnTo>
                      <a:pt x="0" y="10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3"/>
                    </a:lnTo>
                    <a:lnTo>
                      <a:pt x="1" y="2"/>
                    </a:lnTo>
                    <a:lnTo>
                      <a:pt x="1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5" y="0"/>
                    </a:lnTo>
                    <a:lnTo>
                      <a:pt x="16" y="1"/>
                    </a:lnTo>
                    <a:lnTo>
                      <a:pt x="16" y="2"/>
                    </a:lnTo>
                    <a:lnTo>
                      <a:pt x="17" y="3"/>
                    </a:lnTo>
                    <a:lnTo>
                      <a:pt x="18" y="4"/>
                    </a:lnTo>
                    <a:lnTo>
                      <a:pt x="18" y="5"/>
                    </a:lnTo>
                    <a:lnTo>
                      <a:pt x="18" y="6"/>
                    </a:lnTo>
                    <a:lnTo>
                      <a:pt x="18" y="7"/>
                    </a:lnTo>
                    <a:lnTo>
                      <a:pt x="19" y="8"/>
                    </a:lnTo>
                    <a:lnTo>
                      <a:pt x="18" y="8"/>
                    </a:lnTo>
                    <a:lnTo>
                      <a:pt x="18" y="9"/>
                    </a:lnTo>
                    <a:lnTo>
                      <a:pt x="18" y="10"/>
                    </a:lnTo>
                    <a:lnTo>
                      <a:pt x="18" y="11"/>
                    </a:lnTo>
                    <a:lnTo>
                      <a:pt x="17" y="12"/>
                    </a:lnTo>
                    <a:lnTo>
                      <a:pt x="16" y="13"/>
                    </a:lnTo>
                    <a:lnTo>
                      <a:pt x="16" y="14"/>
                    </a:lnTo>
                    <a:lnTo>
                      <a:pt x="15" y="15"/>
                    </a:lnTo>
                    <a:lnTo>
                      <a:pt x="13" y="15"/>
                    </a:lnTo>
                    <a:lnTo>
                      <a:pt x="13" y="16"/>
                    </a:lnTo>
                    <a:lnTo>
                      <a:pt x="12" y="16"/>
                    </a:lnTo>
                    <a:lnTo>
                      <a:pt x="5" y="16"/>
                    </a:lnTo>
                  </a:path>
                </a:pathLst>
              </a:custGeom>
              <a:solidFill>
                <a:srgbClr val="666666"/>
              </a:solidFill>
              <a:ln w="12700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9" name="Freeform 120"/>
              <p:cNvSpPr>
                <a:spLocks/>
              </p:cNvSpPr>
              <p:nvPr/>
            </p:nvSpPr>
            <p:spPr bwMode="auto">
              <a:xfrm>
                <a:off x="3921" y="1489"/>
                <a:ext cx="17" cy="38"/>
              </a:xfrm>
              <a:custGeom>
                <a:avLst/>
                <a:gdLst>
                  <a:gd name="T0" fmla="*/ 8 w 17"/>
                  <a:gd name="T1" fmla="*/ 0 h 38"/>
                  <a:gd name="T2" fmla="*/ 0 w 17"/>
                  <a:gd name="T3" fmla="*/ 22 h 38"/>
                  <a:gd name="T4" fmla="*/ 16 w 17"/>
                  <a:gd name="T5" fmla="*/ 22 h 38"/>
                  <a:gd name="T6" fmla="*/ 16 w 17"/>
                  <a:gd name="T7" fmla="*/ 37 h 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38"/>
                  <a:gd name="T14" fmla="*/ 17 w 17"/>
                  <a:gd name="T15" fmla="*/ 38 h 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38">
                    <a:moveTo>
                      <a:pt x="8" y="0"/>
                    </a:moveTo>
                    <a:lnTo>
                      <a:pt x="0" y="22"/>
                    </a:lnTo>
                    <a:lnTo>
                      <a:pt x="16" y="22"/>
                    </a:lnTo>
                    <a:lnTo>
                      <a:pt x="16" y="37"/>
                    </a:lnTo>
                  </a:path>
                </a:pathLst>
              </a:custGeom>
              <a:noFill/>
              <a:ln w="12700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0" name="Freeform 121"/>
              <p:cNvSpPr>
                <a:spLocks/>
              </p:cNvSpPr>
              <p:nvPr/>
            </p:nvSpPr>
            <p:spPr bwMode="auto">
              <a:xfrm>
                <a:off x="3979" y="1489"/>
                <a:ext cx="17" cy="72"/>
              </a:xfrm>
              <a:custGeom>
                <a:avLst/>
                <a:gdLst>
                  <a:gd name="T0" fmla="*/ 0 w 17"/>
                  <a:gd name="T1" fmla="*/ 0 h 72"/>
                  <a:gd name="T2" fmla="*/ 16 w 17"/>
                  <a:gd name="T3" fmla="*/ 22 h 72"/>
                  <a:gd name="T4" fmla="*/ 0 w 17"/>
                  <a:gd name="T5" fmla="*/ 22 h 72"/>
                  <a:gd name="T6" fmla="*/ 0 w 17"/>
                  <a:gd name="T7" fmla="*/ 71 h 7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72"/>
                  <a:gd name="T14" fmla="*/ 17 w 17"/>
                  <a:gd name="T15" fmla="*/ 72 h 7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72">
                    <a:moveTo>
                      <a:pt x="0" y="0"/>
                    </a:moveTo>
                    <a:lnTo>
                      <a:pt x="16" y="22"/>
                    </a:lnTo>
                    <a:lnTo>
                      <a:pt x="0" y="22"/>
                    </a:lnTo>
                    <a:lnTo>
                      <a:pt x="0" y="71"/>
                    </a:lnTo>
                  </a:path>
                </a:pathLst>
              </a:custGeom>
              <a:noFill/>
              <a:ln w="12700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1" name="Freeform 122"/>
              <p:cNvSpPr>
                <a:spLocks/>
              </p:cNvSpPr>
              <p:nvPr/>
            </p:nvSpPr>
            <p:spPr bwMode="auto">
              <a:xfrm>
                <a:off x="3855" y="1532"/>
                <a:ext cx="250" cy="41"/>
              </a:xfrm>
              <a:custGeom>
                <a:avLst/>
                <a:gdLst>
                  <a:gd name="T0" fmla="*/ 0 w 250"/>
                  <a:gd name="T1" fmla="*/ 40 h 41"/>
                  <a:gd name="T2" fmla="*/ 249 w 250"/>
                  <a:gd name="T3" fmla="*/ 40 h 41"/>
                  <a:gd name="T4" fmla="*/ 240 w 250"/>
                  <a:gd name="T5" fmla="*/ 0 h 41"/>
                  <a:gd name="T6" fmla="*/ 10 w 250"/>
                  <a:gd name="T7" fmla="*/ 0 h 41"/>
                  <a:gd name="T8" fmla="*/ 0 w 250"/>
                  <a:gd name="T9" fmla="*/ 40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0"/>
                  <a:gd name="T16" fmla="*/ 0 h 41"/>
                  <a:gd name="T17" fmla="*/ 250 w 250"/>
                  <a:gd name="T18" fmla="*/ 41 h 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0" h="41">
                    <a:moveTo>
                      <a:pt x="0" y="40"/>
                    </a:moveTo>
                    <a:lnTo>
                      <a:pt x="249" y="40"/>
                    </a:lnTo>
                    <a:lnTo>
                      <a:pt x="240" y="0"/>
                    </a:lnTo>
                    <a:lnTo>
                      <a:pt x="10" y="0"/>
                    </a:lnTo>
                    <a:lnTo>
                      <a:pt x="0" y="40"/>
                    </a:lnTo>
                  </a:path>
                </a:pathLst>
              </a:custGeom>
              <a:solidFill>
                <a:srgbClr val="EFEFD1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2" name="Freeform 123"/>
              <p:cNvSpPr>
                <a:spLocks/>
              </p:cNvSpPr>
              <p:nvPr/>
            </p:nvSpPr>
            <p:spPr bwMode="auto">
              <a:xfrm>
                <a:off x="3855" y="1572"/>
                <a:ext cx="251" cy="17"/>
              </a:xfrm>
              <a:custGeom>
                <a:avLst/>
                <a:gdLst>
                  <a:gd name="T0" fmla="*/ 0 w 251"/>
                  <a:gd name="T1" fmla="*/ 16 h 17"/>
                  <a:gd name="T2" fmla="*/ 0 w 251"/>
                  <a:gd name="T3" fmla="*/ 0 h 17"/>
                  <a:gd name="T4" fmla="*/ 249 w 251"/>
                  <a:gd name="T5" fmla="*/ 0 h 17"/>
                  <a:gd name="T6" fmla="*/ 250 w 251"/>
                  <a:gd name="T7" fmla="*/ 16 h 17"/>
                  <a:gd name="T8" fmla="*/ 0 w 251"/>
                  <a:gd name="T9" fmla="*/ 16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1"/>
                  <a:gd name="T16" fmla="*/ 0 h 17"/>
                  <a:gd name="T17" fmla="*/ 251 w 251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1" h="17">
                    <a:moveTo>
                      <a:pt x="0" y="16"/>
                    </a:moveTo>
                    <a:lnTo>
                      <a:pt x="0" y="0"/>
                    </a:lnTo>
                    <a:lnTo>
                      <a:pt x="249" y="0"/>
                    </a:lnTo>
                    <a:lnTo>
                      <a:pt x="250" y="16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CCCC6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3" name="Freeform 124"/>
              <p:cNvSpPr>
                <a:spLocks/>
              </p:cNvSpPr>
              <p:nvPr/>
            </p:nvSpPr>
            <p:spPr bwMode="auto">
              <a:xfrm>
                <a:off x="3872" y="1538"/>
                <a:ext cx="223" cy="28"/>
              </a:xfrm>
              <a:custGeom>
                <a:avLst/>
                <a:gdLst>
                  <a:gd name="T0" fmla="*/ 0 w 223"/>
                  <a:gd name="T1" fmla="*/ 27 h 28"/>
                  <a:gd name="T2" fmla="*/ 222 w 223"/>
                  <a:gd name="T3" fmla="*/ 27 h 28"/>
                  <a:gd name="T4" fmla="*/ 214 w 223"/>
                  <a:gd name="T5" fmla="*/ 0 h 28"/>
                  <a:gd name="T6" fmla="*/ 8 w 223"/>
                  <a:gd name="T7" fmla="*/ 0 h 28"/>
                  <a:gd name="T8" fmla="*/ 0 w 223"/>
                  <a:gd name="T9" fmla="*/ 27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3"/>
                  <a:gd name="T16" fmla="*/ 0 h 28"/>
                  <a:gd name="T17" fmla="*/ 223 w 223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3" h="28">
                    <a:moveTo>
                      <a:pt x="0" y="27"/>
                    </a:moveTo>
                    <a:lnTo>
                      <a:pt x="222" y="27"/>
                    </a:lnTo>
                    <a:lnTo>
                      <a:pt x="214" y="0"/>
                    </a:lnTo>
                    <a:lnTo>
                      <a:pt x="8" y="0"/>
                    </a:lnTo>
                    <a:lnTo>
                      <a:pt x="0" y="27"/>
                    </a:lnTo>
                  </a:path>
                </a:pathLst>
              </a:custGeom>
              <a:solidFill>
                <a:srgbClr val="999999"/>
              </a:solidFill>
              <a:ln w="12700">
                <a:solidFill>
                  <a:srgbClr val="9F9FA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300" name="Group 125"/>
            <p:cNvGrpSpPr>
              <a:grpSpLocks/>
            </p:cNvGrpSpPr>
            <p:nvPr/>
          </p:nvGrpSpPr>
          <p:grpSpPr bwMode="auto">
            <a:xfrm>
              <a:off x="4689" y="2823"/>
              <a:ext cx="365" cy="239"/>
              <a:chOff x="3840" y="1279"/>
              <a:chExt cx="266" cy="310"/>
            </a:xfrm>
          </p:grpSpPr>
          <p:sp>
            <p:nvSpPr>
              <p:cNvPr id="11302" name="Freeform 126"/>
              <p:cNvSpPr>
                <a:spLocks/>
              </p:cNvSpPr>
              <p:nvPr/>
            </p:nvSpPr>
            <p:spPr bwMode="auto">
              <a:xfrm>
                <a:off x="3848" y="1548"/>
                <a:ext cx="206" cy="20"/>
              </a:xfrm>
              <a:custGeom>
                <a:avLst/>
                <a:gdLst>
                  <a:gd name="T0" fmla="*/ 0 w 206"/>
                  <a:gd name="T1" fmla="*/ 19 h 20"/>
                  <a:gd name="T2" fmla="*/ 0 w 206"/>
                  <a:gd name="T3" fmla="*/ 0 h 20"/>
                  <a:gd name="T4" fmla="*/ 205 w 206"/>
                  <a:gd name="T5" fmla="*/ 0 h 20"/>
                  <a:gd name="T6" fmla="*/ 205 w 206"/>
                  <a:gd name="T7" fmla="*/ 19 h 20"/>
                  <a:gd name="T8" fmla="*/ 0 w 206"/>
                  <a:gd name="T9" fmla="*/ 19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6"/>
                  <a:gd name="T16" fmla="*/ 0 h 20"/>
                  <a:gd name="T17" fmla="*/ 206 w 206"/>
                  <a:gd name="T18" fmla="*/ 20 h 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6" h="20">
                    <a:moveTo>
                      <a:pt x="0" y="19"/>
                    </a:moveTo>
                    <a:lnTo>
                      <a:pt x="0" y="0"/>
                    </a:lnTo>
                    <a:lnTo>
                      <a:pt x="205" y="0"/>
                    </a:lnTo>
                    <a:lnTo>
                      <a:pt x="205" y="19"/>
                    </a:lnTo>
                    <a:lnTo>
                      <a:pt x="0" y="19"/>
                    </a:lnTo>
                  </a:path>
                </a:pathLst>
              </a:custGeom>
              <a:solidFill>
                <a:srgbClr val="666666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3" name="Freeform 127"/>
              <p:cNvSpPr>
                <a:spLocks/>
              </p:cNvSpPr>
              <p:nvPr/>
            </p:nvSpPr>
            <p:spPr bwMode="auto">
              <a:xfrm>
                <a:off x="3840" y="1453"/>
                <a:ext cx="220" cy="34"/>
              </a:xfrm>
              <a:custGeom>
                <a:avLst/>
                <a:gdLst>
                  <a:gd name="T0" fmla="*/ 189 w 220"/>
                  <a:gd name="T1" fmla="*/ 0 h 34"/>
                  <a:gd name="T2" fmla="*/ 219 w 220"/>
                  <a:gd name="T3" fmla="*/ 33 h 34"/>
                  <a:gd name="T4" fmla="*/ 0 w 220"/>
                  <a:gd name="T5" fmla="*/ 33 h 34"/>
                  <a:gd name="T6" fmla="*/ 29 w 220"/>
                  <a:gd name="T7" fmla="*/ 0 h 34"/>
                  <a:gd name="T8" fmla="*/ 189 w 220"/>
                  <a:gd name="T9" fmla="*/ 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0"/>
                  <a:gd name="T16" fmla="*/ 0 h 34"/>
                  <a:gd name="T17" fmla="*/ 220 w 220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0" h="34">
                    <a:moveTo>
                      <a:pt x="189" y="0"/>
                    </a:moveTo>
                    <a:lnTo>
                      <a:pt x="219" y="33"/>
                    </a:lnTo>
                    <a:lnTo>
                      <a:pt x="0" y="33"/>
                    </a:lnTo>
                    <a:lnTo>
                      <a:pt x="29" y="0"/>
                    </a:lnTo>
                    <a:lnTo>
                      <a:pt x="189" y="0"/>
                    </a:lnTo>
                  </a:path>
                </a:pathLst>
              </a:custGeom>
              <a:solidFill>
                <a:srgbClr val="EFEFD1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4" name="Freeform 128"/>
              <p:cNvSpPr>
                <a:spLocks/>
              </p:cNvSpPr>
              <p:nvPr/>
            </p:nvSpPr>
            <p:spPr bwMode="auto">
              <a:xfrm>
                <a:off x="3897" y="1449"/>
                <a:ext cx="104" cy="24"/>
              </a:xfrm>
              <a:custGeom>
                <a:avLst/>
                <a:gdLst>
                  <a:gd name="T0" fmla="*/ 102 w 104"/>
                  <a:gd name="T1" fmla="*/ 10 h 24"/>
                  <a:gd name="T2" fmla="*/ 101 w 104"/>
                  <a:gd name="T3" fmla="*/ 8 h 24"/>
                  <a:gd name="T4" fmla="*/ 97 w 104"/>
                  <a:gd name="T5" fmla="*/ 6 h 24"/>
                  <a:gd name="T6" fmla="*/ 93 w 104"/>
                  <a:gd name="T7" fmla="*/ 4 h 24"/>
                  <a:gd name="T8" fmla="*/ 87 w 104"/>
                  <a:gd name="T9" fmla="*/ 3 h 24"/>
                  <a:gd name="T10" fmla="*/ 80 w 104"/>
                  <a:gd name="T11" fmla="*/ 2 h 24"/>
                  <a:gd name="T12" fmla="*/ 72 w 104"/>
                  <a:gd name="T13" fmla="*/ 1 h 24"/>
                  <a:gd name="T14" fmla="*/ 64 w 104"/>
                  <a:gd name="T15" fmla="*/ 0 h 24"/>
                  <a:gd name="T16" fmla="*/ 55 w 104"/>
                  <a:gd name="T17" fmla="*/ 0 h 24"/>
                  <a:gd name="T18" fmla="*/ 46 w 104"/>
                  <a:gd name="T19" fmla="*/ 0 h 24"/>
                  <a:gd name="T20" fmla="*/ 37 w 104"/>
                  <a:gd name="T21" fmla="*/ 0 h 24"/>
                  <a:gd name="T22" fmla="*/ 29 w 104"/>
                  <a:gd name="T23" fmla="*/ 1 h 24"/>
                  <a:gd name="T24" fmla="*/ 21 w 104"/>
                  <a:gd name="T25" fmla="*/ 2 h 24"/>
                  <a:gd name="T26" fmla="*/ 14 w 104"/>
                  <a:gd name="T27" fmla="*/ 3 h 24"/>
                  <a:gd name="T28" fmla="*/ 8 w 104"/>
                  <a:gd name="T29" fmla="*/ 4 h 24"/>
                  <a:gd name="T30" fmla="*/ 4 w 104"/>
                  <a:gd name="T31" fmla="*/ 6 h 24"/>
                  <a:gd name="T32" fmla="*/ 1 w 104"/>
                  <a:gd name="T33" fmla="*/ 8 h 24"/>
                  <a:gd name="T34" fmla="*/ 0 w 104"/>
                  <a:gd name="T35" fmla="*/ 10 h 24"/>
                  <a:gd name="T36" fmla="*/ 0 w 104"/>
                  <a:gd name="T37" fmla="*/ 12 h 24"/>
                  <a:gd name="T38" fmla="*/ 1 w 104"/>
                  <a:gd name="T39" fmla="*/ 14 h 24"/>
                  <a:gd name="T40" fmla="*/ 4 w 104"/>
                  <a:gd name="T41" fmla="*/ 16 h 24"/>
                  <a:gd name="T42" fmla="*/ 8 w 104"/>
                  <a:gd name="T43" fmla="*/ 17 h 24"/>
                  <a:gd name="T44" fmla="*/ 14 w 104"/>
                  <a:gd name="T45" fmla="*/ 19 h 24"/>
                  <a:gd name="T46" fmla="*/ 21 w 104"/>
                  <a:gd name="T47" fmla="*/ 20 h 24"/>
                  <a:gd name="T48" fmla="*/ 29 w 104"/>
                  <a:gd name="T49" fmla="*/ 21 h 24"/>
                  <a:gd name="T50" fmla="*/ 37 w 104"/>
                  <a:gd name="T51" fmla="*/ 22 h 24"/>
                  <a:gd name="T52" fmla="*/ 46 w 104"/>
                  <a:gd name="T53" fmla="*/ 23 h 24"/>
                  <a:gd name="T54" fmla="*/ 55 w 104"/>
                  <a:gd name="T55" fmla="*/ 23 h 24"/>
                  <a:gd name="T56" fmla="*/ 64 w 104"/>
                  <a:gd name="T57" fmla="*/ 22 h 24"/>
                  <a:gd name="T58" fmla="*/ 72 w 104"/>
                  <a:gd name="T59" fmla="*/ 21 h 24"/>
                  <a:gd name="T60" fmla="*/ 80 w 104"/>
                  <a:gd name="T61" fmla="*/ 20 h 24"/>
                  <a:gd name="T62" fmla="*/ 87 w 104"/>
                  <a:gd name="T63" fmla="*/ 19 h 24"/>
                  <a:gd name="T64" fmla="*/ 93 w 104"/>
                  <a:gd name="T65" fmla="*/ 17 h 24"/>
                  <a:gd name="T66" fmla="*/ 97 w 104"/>
                  <a:gd name="T67" fmla="*/ 16 h 24"/>
                  <a:gd name="T68" fmla="*/ 101 w 104"/>
                  <a:gd name="T69" fmla="*/ 14 h 24"/>
                  <a:gd name="T70" fmla="*/ 102 w 104"/>
                  <a:gd name="T71" fmla="*/ 12 h 2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04"/>
                  <a:gd name="T109" fmla="*/ 0 h 24"/>
                  <a:gd name="T110" fmla="*/ 104 w 104"/>
                  <a:gd name="T111" fmla="*/ 24 h 2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04" h="24">
                    <a:moveTo>
                      <a:pt x="103" y="11"/>
                    </a:moveTo>
                    <a:lnTo>
                      <a:pt x="102" y="10"/>
                    </a:lnTo>
                    <a:lnTo>
                      <a:pt x="102" y="9"/>
                    </a:lnTo>
                    <a:lnTo>
                      <a:pt x="101" y="8"/>
                    </a:lnTo>
                    <a:lnTo>
                      <a:pt x="99" y="7"/>
                    </a:lnTo>
                    <a:lnTo>
                      <a:pt x="97" y="6"/>
                    </a:lnTo>
                    <a:lnTo>
                      <a:pt x="95" y="6"/>
                    </a:lnTo>
                    <a:lnTo>
                      <a:pt x="93" y="4"/>
                    </a:lnTo>
                    <a:lnTo>
                      <a:pt x="90" y="4"/>
                    </a:lnTo>
                    <a:lnTo>
                      <a:pt x="87" y="3"/>
                    </a:lnTo>
                    <a:lnTo>
                      <a:pt x="84" y="2"/>
                    </a:lnTo>
                    <a:lnTo>
                      <a:pt x="80" y="2"/>
                    </a:lnTo>
                    <a:lnTo>
                      <a:pt x="76" y="1"/>
                    </a:lnTo>
                    <a:lnTo>
                      <a:pt x="72" y="1"/>
                    </a:lnTo>
                    <a:lnTo>
                      <a:pt x="69" y="0"/>
                    </a:lnTo>
                    <a:lnTo>
                      <a:pt x="64" y="0"/>
                    </a:lnTo>
                    <a:lnTo>
                      <a:pt x="60" y="0"/>
                    </a:lnTo>
                    <a:lnTo>
                      <a:pt x="55" y="0"/>
                    </a:lnTo>
                    <a:lnTo>
                      <a:pt x="51" y="0"/>
                    </a:lnTo>
                    <a:lnTo>
                      <a:pt x="46" y="0"/>
                    </a:lnTo>
                    <a:lnTo>
                      <a:pt x="42" y="0"/>
                    </a:lnTo>
                    <a:lnTo>
                      <a:pt x="37" y="0"/>
                    </a:lnTo>
                    <a:lnTo>
                      <a:pt x="33" y="0"/>
                    </a:lnTo>
                    <a:lnTo>
                      <a:pt x="29" y="1"/>
                    </a:lnTo>
                    <a:lnTo>
                      <a:pt x="25" y="1"/>
                    </a:lnTo>
                    <a:lnTo>
                      <a:pt x="21" y="2"/>
                    </a:lnTo>
                    <a:lnTo>
                      <a:pt x="17" y="2"/>
                    </a:lnTo>
                    <a:lnTo>
                      <a:pt x="14" y="3"/>
                    </a:lnTo>
                    <a:lnTo>
                      <a:pt x="12" y="4"/>
                    </a:lnTo>
                    <a:lnTo>
                      <a:pt x="8" y="4"/>
                    </a:lnTo>
                    <a:lnTo>
                      <a:pt x="6" y="6"/>
                    </a:lnTo>
                    <a:lnTo>
                      <a:pt x="4" y="6"/>
                    </a:lnTo>
                    <a:lnTo>
                      <a:pt x="3" y="7"/>
                    </a:lnTo>
                    <a:lnTo>
                      <a:pt x="1" y="8"/>
                    </a:lnTo>
                    <a:lnTo>
                      <a:pt x="0" y="9"/>
                    </a:lnTo>
                    <a:lnTo>
                      <a:pt x="0" y="10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3"/>
                    </a:lnTo>
                    <a:lnTo>
                      <a:pt x="1" y="14"/>
                    </a:lnTo>
                    <a:lnTo>
                      <a:pt x="3" y="15"/>
                    </a:lnTo>
                    <a:lnTo>
                      <a:pt x="4" y="16"/>
                    </a:lnTo>
                    <a:lnTo>
                      <a:pt x="6" y="17"/>
                    </a:lnTo>
                    <a:lnTo>
                      <a:pt x="8" y="17"/>
                    </a:lnTo>
                    <a:lnTo>
                      <a:pt x="12" y="18"/>
                    </a:lnTo>
                    <a:lnTo>
                      <a:pt x="14" y="19"/>
                    </a:lnTo>
                    <a:lnTo>
                      <a:pt x="17" y="20"/>
                    </a:lnTo>
                    <a:lnTo>
                      <a:pt x="21" y="20"/>
                    </a:lnTo>
                    <a:lnTo>
                      <a:pt x="25" y="21"/>
                    </a:lnTo>
                    <a:lnTo>
                      <a:pt x="29" y="21"/>
                    </a:lnTo>
                    <a:lnTo>
                      <a:pt x="33" y="22"/>
                    </a:lnTo>
                    <a:lnTo>
                      <a:pt x="37" y="22"/>
                    </a:lnTo>
                    <a:lnTo>
                      <a:pt x="42" y="22"/>
                    </a:lnTo>
                    <a:lnTo>
                      <a:pt x="46" y="23"/>
                    </a:lnTo>
                    <a:lnTo>
                      <a:pt x="51" y="23"/>
                    </a:lnTo>
                    <a:lnTo>
                      <a:pt x="55" y="23"/>
                    </a:lnTo>
                    <a:lnTo>
                      <a:pt x="60" y="22"/>
                    </a:lnTo>
                    <a:lnTo>
                      <a:pt x="64" y="22"/>
                    </a:lnTo>
                    <a:lnTo>
                      <a:pt x="69" y="22"/>
                    </a:lnTo>
                    <a:lnTo>
                      <a:pt x="72" y="21"/>
                    </a:lnTo>
                    <a:lnTo>
                      <a:pt x="76" y="21"/>
                    </a:lnTo>
                    <a:lnTo>
                      <a:pt x="80" y="20"/>
                    </a:lnTo>
                    <a:lnTo>
                      <a:pt x="84" y="20"/>
                    </a:lnTo>
                    <a:lnTo>
                      <a:pt x="87" y="19"/>
                    </a:lnTo>
                    <a:lnTo>
                      <a:pt x="90" y="18"/>
                    </a:lnTo>
                    <a:lnTo>
                      <a:pt x="93" y="17"/>
                    </a:lnTo>
                    <a:lnTo>
                      <a:pt x="95" y="17"/>
                    </a:lnTo>
                    <a:lnTo>
                      <a:pt x="97" y="16"/>
                    </a:lnTo>
                    <a:lnTo>
                      <a:pt x="99" y="15"/>
                    </a:lnTo>
                    <a:lnTo>
                      <a:pt x="101" y="14"/>
                    </a:lnTo>
                    <a:lnTo>
                      <a:pt x="102" y="13"/>
                    </a:lnTo>
                    <a:lnTo>
                      <a:pt x="102" y="12"/>
                    </a:lnTo>
                    <a:lnTo>
                      <a:pt x="103" y="11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5" name="Freeform 129"/>
              <p:cNvSpPr>
                <a:spLocks/>
              </p:cNvSpPr>
              <p:nvPr/>
            </p:nvSpPr>
            <p:spPr bwMode="auto">
              <a:xfrm>
                <a:off x="3897" y="1461"/>
                <a:ext cx="104" cy="17"/>
              </a:xfrm>
              <a:custGeom>
                <a:avLst/>
                <a:gdLst>
                  <a:gd name="T0" fmla="*/ 102 w 104"/>
                  <a:gd name="T1" fmla="*/ 6 h 17"/>
                  <a:gd name="T2" fmla="*/ 101 w 104"/>
                  <a:gd name="T3" fmla="*/ 8 h 17"/>
                  <a:gd name="T4" fmla="*/ 97 w 104"/>
                  <a:gd name="T5" fmla="*/ 10 h 17"/>
                  <a:gd name="T6" fmla="*/ 93 w 104"/>
                  <a:gd name="T7" fmla="*/ 11 h 17"/>
                  <a:gd name="T8" fmla="*/ 87 w 104"/>
                  <a:gd name="T9" fmla="*/ 12 h 17"/>
                  <a:gd name="T10" fmla="*/ 80 w 104"/>
                  <a:gd name="T11" fmla="*/ 14 h 17"/>
                  <a:gd name="T12" fmla="*/ 72 w 104"/>
                  <a:gd name="T13" fmla="*/ 14 h 17"/>
                  <a:gd name="T14" fmla="*/ 64 w 104"/>
                  <a:gd name="T15" fmla="*/ 15 h 17"/>
                  <a:gd name="T16" fmla="*/ 55 w 104"/>
                  <a:gd name="T17" fmla="*/ 16 h 17"/>
                  <a:gd name="T18" fmla="*/ 46 w 104"/>
                  <a:gd name="T19" fmla="*/ 16 h 17"/>
                  <a:gd name="T20" fmla="*/ 37 w 104"/>
                  <a:gd name="T21" fmla="*/ 15 h 17"/>
                  <a:gd name="T22" fmla="*/ 29 w 104"/>
                  <a:gd name="T23" fmla="*/ 14 h 17"/>
                  <a:gd name="T24" fmla="*/ 21 w 104"/>
                  <a:gd name="T25" fmla="*/ 14 h 17"/>
                  <a:gd name="T26" fmla="*/ 14 w 104"/>
                  <a:gd name="T27" fmla="*/ 12 h 17"/>
                  <a:gd name="T28" fmla="*/ 8 w 104"/>
                  <a:gd name="T29" fmla="*/ 11 h 17"/>
                  <a:gd name="T30" fmla="*/ 4 w 104"/>
                  <a:gd name="T31" fmla="*/ 10 h 17"/>
                  <a:gd name="T32" fmla="*/ 1 w 104"/>
                  <a:gd name="T33" fmla="*/ 8 h 17"/>
                  <a:gd name="T34" fmla="*/ 0 w 104"/>
                  <a:gd name="T35" fmla="*/ 6 h 17"/>
                  <a:gd name="T36" fmla="*/ 0 w 104"/>
                  <a:gd name="T37" fmla="*/ 0 h 17"/>
                  <a:gd name="T38" fmla="*/ 0 w 104"/>
                  <a:gd name="T39" fmla="*/ 2 h 17"/>
                  <a:gd name="T40" fmla="*/ 3 w 104"/>
                  <a:gd name="T41" fmla="*/ 4 h 17"/>
                  <a:gd name="T42" fmla="*/ 6 w 104"/>
                  <a:gd name="T43" fmla="*/ 5 h 17"/>
                  <a:gd name="T44" fmla="*/ 12 w 104"/>
                  <a:gd name="T45" fmla="*/ 6 h 17"/>
                  <a:gd name="T46" fmla="*/ 17 w 104"/>
                  <a:gd name="T47" fmla="*/ 8 h 17"/>
                  <a:gd name="T48" fmla="*/ 25 w 104"/>
                  <a:gd name="T49" fmla="*/ 9 h 17"/>
                  <a:gd name="T50" fmla="*/ 33 w 104"/>
                  <a:gd name="T51" fmla="*/ 10 h 17"/>
                  <a:gd name="T52" fmla="*/ 42 w 104"/>
                  <a:gd name="T53" fmla="*/ 10 h 17"/>
                  <a:gd name="T54" fmla="*/ 51 w 104"/>
                  <a:gd name="T55" fmla="*/ 10 h 17"/>
                  <a:gd name="T56" fmla="*/ 60 w 104"/>
                  <a:gd name="T57" fmla="*/ 10 h 17"/>
                  <a:gd name="T58" fmla="*/ 69 w 104"/>
                  <a:gd name="T59" fmla="*/ 10 h 17"/>
                  <a:gd name="T60" fmla="*/ 76 w 104"/>
                  <a:gd name="T61" fmla="*/ 9 h 17"/>
                  <a:gd name="T62" fmla="*/ 84 w 104"/>
                  <a:gd name="T63" fmla="*/ 8 h 17"/>
                  <a:gd name="T64" fmla="*/ 90 w 104"/>
                  <a:gd name="T65" fmla="*/ 6 h 17"/>
                  <a:gd name="T66" fmla="*/ 95 w 104"/>
                  <a:gd name="T67" fmla="*/ 5 h 17"/>
                  <a:gd name="T68" fmla="*/ 99 w 104"/>
                  <a:gd name="T69" fmla="*/ 4 h 17"/>
                  <a:gd name="T70" fmla="*/ 102 w 104"/>
                  <a:gd name="T71" fmla="*/ 2 h 17"/>
                  <a:gd name="T72" fmla="*/ 103 w 104"/>
                  <a:gd name="T73" fmla="*/ 0 h 1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04"/>
                  <a:gd name="T112" fmla="*/ 0 h 17"/>
                  <a:gd name="T113" fmla="*/ 104 w 104"/>
                  <a:gd name="T114" fmla="*/ 17 h 1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04" h="17">
                    <a:moveTo>
                      <a:pt x="103" y="5"/>
                    </a:moveTo>
                    <a:lnTo>
                      <a:pt x="102" y="6"/>
                    </a:lnTo>
                    <a:lnTo>
                      <a:pt x="102" y="7"/>
                    </a:lnTo>
                    <a:lnTo>
                      <a:pt x="101" y="8"/>
                    </a:lnTo>
                    <a:lnTo>
                      <a:pt x="99" y="8"/>
                    </a:lnTo>
                    <a:lnTo>
                      <a:pt x="97" y="10"/>
                    </a:lnTo>
                    <a:lnTo>
                      <a:pt x="95" y="10"/>
                    </a:lnTo>
                    <a:lnTo>
                      <a:pt x="93" y="11"/>
                    </a:lnTo>
                    <a:lnTo>
                      <a:pt x="90" y="12"/>
                    </a:lnTo>
                    <a:lnTo>
                      <a:pt x="87" y="12"/>
                    </a:lnTo>
                    <a:lnTo>
                      <a:pt x="84" y="13"/>
                    </a:lnTo>
                    <a:lnTo>
                      <a:pt x="80" y="14"/>
                    </a:lnTo>
                    <a:lnTo>
                      <a:pt x="76" y="14"/>
                    </a:lnTo>
                    <a:lnTo>
                      <a:pt x="72" y="14"/>
                    </a:lnTo>
                    <a:lnTo>
                      <a:pt x="69" y="15"/>
                    </a:lnTo>
                    <a:lnTo>
                      <a:pt x="64" y="15"/>
                    </a:lnTo>
                    <a:lnTo>
                      <a:pt x="60" y="16"/>
                    </a:lnTo>
                    <a:lnTo>
                      <a:pt x="55" y="16"/>
                    </a:lnTo>
                    <a:lnTo>
                      <a:pt x="51" y="16"/>
                    </a:lnTo>
                    <a:lnTo>
                      <a:pt x="46" y="16"/>
                    </a:lnTo>
                    <a:lnTo>
                      <a:pt x="42" y="16"/>
                    </a:lnTo>
                    <a:lnTo>
                      <a:pt x="37" y="15"/>
                    </a:lnTo>
                    <a:lnTo>
                      <a:pt x="33" y="15"/>
                    </a:lnTo>
                    <a:lnTo>
                      <a:pt x="29" y="14"/>
                    </a:lnTo>
                    <a:lnTo>
                      <a:pt x="25" y="14"/>
                    </a:lnTo>
                    <a:lnTo>
                      <a:pt x="21" y="14"/>
                    </a:lnTo>
                    <a:lnTo>
                      <a:pt x="17" y="13"/>
                    </a:lnTo>
                    <a:lnTo>
                      <a:pt x="14" y="12"/>
                    </a:lnTo>
                    <a:lnTo>
                      <a:pt x="12" y="12"/>
                    </a:lnTo>
                    <a:lnTo>
                      <a:pt x="8" y="11"/>
                    </a:lnTo>
                    <a:lnTo>
                      <a:pt x="6" y="10"/>
                    </a:lnTo>
                    <a:lnTo>
                      <a:pt x="4" y="10"/>
                    </a:lnTo>
                    <a:lnTo>
                      <a:pt x="3" y="8"/>
                    </a:lnTo>
                    <a:lnTo>
                      <a:pt x="1" y="8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1" y="2"/>
                    </a:lnTo>
                    <a:lnTo>
                      <a:pt x="3" y="4"/>
                    </a:lnTo>
                    <a:lnTo>
                      <a:pt x="4" y="4"/>
                    </a:lnTo>
                    <a:lnTo>
                      <a:pt x="6" y="5"/>
                    </a:lnTo>
                    <a:lnTo>
                      <a:pt x="8" y="6"/>
                    </a:lnTo>
                    <a:lnTo>
                      <a:pt x="12" y="6"/>
                    </a:lnTo>
                    <a:lnTo>
                      <a:pt x="14" y="7"/>
                    </a:lnTo>
                    <a:lnTo>
                      <a:pt x="17" y="8"/>
                    </a:lnTo>
                    <a:lnTo>
                      <a:pt x="21" y="8"/>
                    </a:lnTo>
                    <a:lnTo>
                      <a:pt x="25" y="9"/>
                    </a:lnTo>
                    <a:lnTo>
                      <a:pt x="29" y="10"/>
                    </a:lnTo>
                    <a:lnTo>
                      <a:pt x="33" y="10"/>
                    </a:lnTo>
                    <a:lnTo>
                      <a:pt x="37" y="10"/>
                    </a:lnTo>
                    <a:lnTo>
                      <a:pt x="42" y="10"/>
                    </a:lnTo>
                    <a:lnTo>
                      <a:pt x="46" y="10"/>
                    </a:lnTo>
                    <a:lnTo>
                      <a:pt x="51" y="10"/>
                    </a:lnTo>
                    <a:lnTo>
                      <a:pt x="55" y="10"/>
                    </a:lnTo>
                    <a:lnTo>
                      <a:pt x="60" y="10"/>
                    </a:lnTo>
                    <a:lnTo>
                      <a:pt x="64" y="10"/>
                    </a:lnTo>
                    <a:lnTo>
                      <a:pt x="69" y="10"/>
                    </a:lnTo>
                    <a:lnTo>
                      <a:pt x="72" y="10"/>
                    </a:lnTo>
                    <a:lnTo>
                      <a:pt x="76" y="9"/>
                    </a:lnTo>
                    <a:lnTo>
                      <a:pt x="80" y="8"/>
                    </a:lnTo>
                    <a:lnTo>
                      <a:pt x="84" y="8"/>
                    </a:lnTo>
                    <a:lnTo>
                      <a:pt x="87" y="7"/>
                    </a:lnTo>
                    <a:lnTo>
                      <a:pt x="90" y="6"/>
                    </a:lnTo>
                    <a:lnTo>
                      <a:pt x="93" y="6"/>
                    </a:lnTo>
                    <a:lnTo>
                      <a:pt x="95" y="5"/>
                    </a:lnTo>
                    <a:lnTo>
                      <a:pt x="97" y="4"/>
                    </a:lnTo>
                    <a:lnTo>
                      <a:pt x="99" y="4"/>
                    </a:lnTo>
                    <a:lnTo>
                      <a:pt x="101" y="2"/>
                    </a:lnTo>
                    <a:lnTo>
                      <a:pt x="102" y="2"/>
                    </a:lnTo>
                    <a:lnTo>
                      <a:pt x="102" y="1"/>
                    </a:lnTo>
                    <a:lnTo>
                      <a:pt x="103" y="0"/>
                    </a:lnTo>
                    <a:lnTo>
                      <a:pt x="103" y="5"/>
                    </a:lnTo>
                  </a:path>
                </a:pathLst>
              </a:custGeom>
              <a:solidFill>
                <a:srgbClr val="666666"/>
              </a:solidFill>
              <a:ln w="12700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6" name="Freeform 130"/>
              <p:cNvSpPr>
                <a:spLocks/>
              </p:cNvSpPr>
              <p:nvPr/>
            </p:nvSpPr>
            <p:spPr bwMode="auto">
              <a:xfrm>
                <a:off x="3840" y="1486"/>
                <a:ext cx="220" cy="77"/>
              </a:xfrm>
              <a:custGeom>
                <a:avLst/>
                <a:gdLst>
                  <a:gd name="T0" fmla="*/ 0 w 220"/>
                  <a:gd name="T1" fmla="*/ 76 h 77"/>
                  <a:gd name="T2" fmla="*/ 219 w 220"/>
                  <a:gd name="T3" fmla="*/ 76 h 77"/>
                  <a:gd name="T4" fmla="*/ 219 w 220"/>
                  <a:gd name="T5" fmla="*/ 0 h 77"/>
                  <a:gd name="T6" fmla="*/ 0 w 220"/>
                  <a:gd name="T7" fmla="*/ 0 h 77"/>
                  <a:gd name="T8" fmla="*/ 0 w 220"/>
                  <a:gd name="T9" fmla="*/ 76 h 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0"/>
                  <a:gd name="T16" fmla="*/ 0 h 77"/>
                  <a:gd name="T17" fmla="*/ 220 w 220"/>
                  <a:gd name="T18" fmla="*/ 77 h 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0" h="77">
                    <a:moveTo>
                      <a:pt x="0" y="76"/>
                    </a:moveTo>
                    <a:lnTo>
                      <a:pt x="219" y="76"/>
                    </a:lnTo>
                    <a:lnTo>
                      <a:pt x="219" y="0"/>
                    </a:lnTo>
                    <a:lnTo>
                      <a:pt x="0" y="0"/>
                    </a:lnTo>
                    <a:lnTo>
                      <a:pt x="0" y="76"/>
                    </a:lnTo>
                  </a:path>
                </a:pathLst>
              </a:custGeom>
              <a:solidFill>
                <a:srgbClr val="EFEFD1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7" name="Freeform 131"/>
              <p:cNvSpPr>
                <a:spLocks/>
              </p:cNvSpPr>
              <p:nvPr/>
            </p:nvSpPr>
            <p:spPr bwMode="auto">
              <a:xfrm>
                <a:off x="3875" y="1449"/>
                <a:ext cx="69" cy="17"/>
              </a:xfrm>
              <a:custGeom>
                <a:avLst/>
                <a:gdLst>
                  <a:gd name="T0" fmla="*/ 0 w 69"/>
                  <a:gd name="T1" fmla="*/ 16 h 17"/>
                  <a:gd name="T2" fmla="*/ 0 w 69"/>
                  <a:gd name="T3" fmla="*/ 0 h 17"/>
                  <a:gd name="T4" fmla="*/ 68 w 69"/>
                  <a:gd name="T5" fmla="*/ 0 h 17"/>
                  <a:gd name="T6" fmla="*/ 68 w 69"/>
                  <a:gd name="T7" fmla="*/ 16 h 17"/>
                  <a:gd name="T8" fmla="*/ 0 w 69"/>
                  <a:gd name="T9" fmla="*/ 16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9"/>
                  <a:gd name="T16" fmla="*/ 0 h 17"/>
                  <a:gd name="T17" fmla="*/ 69 w 69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9" h="17">
                    <a:moveTo>
                      <a:pt x="0" y="16"/>
                    </a:moveTo>
                    <a:lnTo>
                      <a:pt x="0" y="0"/>
                    </a:lnTo>
                    <a:lnTo>
                      <a:pt x="68" y="0"/>
                    </a:lnTo>
                    <a:lnTo>
                      <a:pt x="68" y="16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999999"/>
              </a:solidFill>
              <a:ln w="12700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8" name="Freeform 132"/>
              <p:cNvSpPr>
                <a:spLocks/>
              </p:cNvSpPr>
              <p:nvPr/>
            </p:nvSpPr>
            <p:spPr bwMode="auto">
              <a:xfrm>
                <a:off x="3931" y="1450"/>
                <a:ext cx="94" cy="17"/>
              </a:xfrm>
              <a:custGeom>
                <a:avLst/>
                <a:gdLst>
                  <a:gd name="T0" fmla="*/ 0 w 94"/>
                  <a:gd name="T1" fmla="*/ 16 h 17"/>
                  <a:gd name="T2" fmla="*/ 0 w 94"/>
                  <a:gd name="T3" fmla="*/ 0 h 17"/>
                  <a:gd name="T4" fmla="*/ 93 w 94"/>
                  <a:gd name="T5" fmla="*/ 0 h 17"/>
                  <a:gd name="T6" fmla="*/ 93 w 94"/>
                  <a:gd name="T7" fmla="*/ 16 h 17"/>
                  <a:gd name="T8" fmla="*/ 0 w 94"/>
                  <a:gd name="T9" fmla="*/ 16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4"/>
                  <a:gd name="T16" fmla="*/ 0 h 17"/>
                  <a:gd name="T17" fmla="*/ 94 w 9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4" h="17">
                    <a:moveTo>
                      <a:pt x="0" y="16"/>
                    </a:moveTo>
                    <a:lnTo>
                      <a:pt x="0" y="0"/>
                    </a:lnTo>
                    <a:lnTo>
                      <a:pt x="93" y="0"/>
                    </a:lnTo>
                    <a:lnTo>
                      <a:pt x="93" y="16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999999"/>
              </a:solidFill>
              <a:ln w="12700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09" name="Freeform 133"/>
              <p:cNvSpPr>
                <a:spLocks/>
              </p:cNvSpPr>
              <p:nvPr/>
            </p:nvSpPr>
            <p:spPr bwMode="auto">
              <a:xfrm>
                <a:off x="3877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6 h 17"/>
                  <a:gd name="T6" fmla="*/ 16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0" name="Freeform 134"/>
              <p:cNvSpPr>
                <a:spLocks/>
              </p:cNvSpPr>
              <p:nvPr/>
            </p:nvSpPr>
            <p:spPr bwMode="auto">
              <a:xfrm>
                <a:off x="3880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4 w 17"/>
                  <a:gd name="T5" fmla="*/ 14 h 17"/>
                  <a:gd name="T6" fmla="*/ 4 w 17"/>
                  <a:gd name="T7" fmla="*/ 16 h 17"/>
                  <a:gd name="T8" fmla="*/ 8 w 17"/>
                  <a:gd name="T9" fmla="*/ 16 h 17"/>
                  <a:gd name="T10" fmla="*/ 12 w 17"/>
                  <a:gd name="T11" fmla="*/ 14 h 17"/>
                  <a:gd name="T12" fmla="*/ 16 w 17"/>
                  <a:gd name="T13" fmla="*/ 14 h 17"/>
                  <a:gd name="T14" fmla="*/ 16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4"/>
                    </a:lnTo>
                    <a:lnTo>
                      <a:pt x="4" y="16"/>
                    </a:lnTo>
                    <a:lnTo>
                      <a:pt x="8" y="16"/>
                    </a:lnTo>
                    <a:lnTo>
                      <a:pt x="12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1" name="Freeform 135"/>
              <p:cNvSpPr>
                <a:spLocks/>
              </p:cNvSpPr>
              <p:nvPr/>
            </p:nvSpPr>
            <p:spPr bwMode="auto">
              <a:xfrm>
                <a:off x="3883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6 h 17"/>
                  <a:gd name="T6" fmla="*/ 16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2" name="Freeform 136"/>
              <p:cNvSpPr>
                <a:spLocks/>
              </p:cNvSpPr>
              <p:nvPr/>
            </p:nvSpPr>
            <p:spPr bwMode="auto">
              <a:xfrm>
                <a:off x="3885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0 w 17"/>
                  <a:gd name="T9" fmla="*/ 14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3" name="Freeform 137"/>
              <p:cNvSpPr>
                <a:spLocks/>
              </p:cNvSpPr>
              <p:nvPr/>
            </p:nvSpPr>
            <p:spPr bwMode="auto">
              <a:xfrm>
                <a:off x="3888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4 h 17"/>
                  <a:gd name="T6" fmla="*/ 5 w 17"/>
                  <a:gd name="T7" fmla="*/ 16 h 17"/>
                  <a:gd name="T8" fmla="*/ 10 w 17"/>
                  <a:gd name="T9" fmla="*/ 16 h 17"/>
                  <a:gd name="T10" fmla="*/ 10 w 17"/>
                  <a:gd name="T11" fmla="*/ 14 h 17"/>
                  <a:gd name="T12" fmla="*/ 16 w 17"/>
                  <a:gd name="T13" fmla="*/ 14 h 17"/>
                  <a:gd name="T14" fmla="*/ 16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4" name="Freeform 138"/>
              <p:cNvSpPr>
                <a:spLocks/>
              </p:cNvSpPr>
              <p:nvPr/>
            </p:nvSpPr>
            <p:spPr bwMode="auto">
              <a:xfrm>
                <a:off x="3890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5" name="Freeform 139"/>
              <p:cNvSpPr>
                <a:spLocks/>
              </p:cNvSpPr>
              <p:nvPr/>
            </p:nvSpPr>
            <p:spPr bwMode="auto">
              <a:xfrm>
                <a:off x="3893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0 w 17"/>
                  <a:gd name="T9" fmla="*/ 14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6" name="Freeform 140"/>
              <p:cNvSpPr>
                <a:spLocks/>
              </p:cNvSpPr>
              <p:nvPr/>
            </p:nvSpPr>
            <p:spPr bwMode="auto">
              <a:xfrm>
                <a:off x="3894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4 w 17"/>
                  <a:gd name="T5" fmla="*/ 14 h 17"/>
                  <a:gd name="T6" fmla="*/ 8 w 17"/>
                  <a:gd name="T7" fmla="*/ 16 h 17"/>
                  <a:gd name="T8" fmla="*/ 12 w 17"/>
                  <a:gd name="T9" fmla="*/ 16 h 17"/>
                  <a:gd name="T10" fmla="*/ 12 w 17"/>
                  <a:gd name="T11" fmla="*/ 14 h 17"/>
                  <a:gd name="T12" fmla="*/ 16 w 17"/>
                  <a:gd name="T13" fmla="*/ 14 h 17"/>
                  <a:gd name="T14" fmla="*/ 16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4"/>
                    </a:lnTo>
                    <a:lnTo>
                      <a:pt x="8" y="16"/>
                    </a:lnTo>
                    <a:lnTo>
                      <a:pt x="12" y="16"/>
                    </a:lnTo>
                    <a:lnTo>
                      <a:pt x="12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7" name="Freeform 141"/>
              <p:cNvSpPr>
                <a:spLocks/>
              </p:cNvSpPr>
              <p:nvPr/>
            </p:nvSpPr>
            <p:spPr bwMode="auto">
              <a:xfrm>
                <a:off x="3898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4 h 17"/>
                  <a:gd name="T6" fmla="*/ 8 w 17"/>
                  <a:gd name="T7" fmla="*/ 16 h 17"/>
                  <a:gd name="T8" fmla="*/ 16 w 17"/>
                  <a:gd name="T9" fmla="*/ 16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8" name="Freeform 142"/>
              <p:cNvSpPr>
                <a:spLocks/>
              </p:cNvSpPr>
              <p:nvPr/>
            </p:nvSpPr>
            <p:spPr bwMode="auto">
              <a:xfrm>
                <a:off x="3900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6 h 17"/>
                  <a:gd name="T6" fmla="*/ 16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19" name="Freeform 143"/>
              <p:cNvSpPr>
                <a:spLocks/>
              </p:cNvSpPr>
              <p:nvPr/>
            </p:nvSpPr>
            <p:spPr bwMode="auto">
              <a:xfrm>
                <a:off x="3902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0 w 17"/>
                  <a:gd name="T5" fmla="*/ 16 h 17"/>
                  <a:gd name="T6" fmla="*/ 8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0" y="16"/>
                    </a:lnTo>
                    <a:lnTo>
                      <a:pt x="8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0" name="Freeform 144"/>
              <p:cNvSpPr>
                <a:spLocks/>
              </p:cNvSpPr>
              <p:nvPr/>
            </p:nvSpPr>
            <p:spPr bwMode="auto">
              <a:xfrm>
                <a:off x="3905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4 w 17"/>
                  <a:gd name="T5" fmla="*/ 16 h 17"/>
                  <a:gd name="T6" fmla="*/ 8 w 17"/>
                  <a:gd name="T7" fmla="*/ 16 h 17"/>
                  <a:gd name="T8" fmla="*/ 12 w 17"/>
                  <a:gd name="T9" fmla="*/ 16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6"/>
                    </a:lnTo>
                    <a:lnTo>
                      <a:pt x="8" y="16"/>
                    </a:lnTo>
                    <a:lnTo>
                      <a:pt x="12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1" name="Freeform 145"/>
              <p:cNvSpPr>
                <a:spLocks/>
              </p:cNvSpPr>
              <p:nvPr/>
            </p:nvSpPr>
            <p:spPr bwMode="auto">
              <a:xfrm>
                <a:off x="3908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0 w 17"/>
                  <a:gd name="T9" fmla="*/ 14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2" name="Freeform 146"/>
              <p:cNvSpPr>
                <a:spLocks/>
              </p:cNvSpPr>
              <p:nvPr/>
            </p:nvSpPr>
            <p:spPr bwMode="auto">
              <a:xfrm>
                <a:off x="3910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4 h 17"/>
                  <a:gd name="T6" fmla="*/ 8 w 17"/>
                  <a:gd name="T7" fmla="*/ 16 h 17"/>
                  <a:gd name="T8" fmla="*/ 16 w 17"/>
                  <a:gd name="T9" fmla="*/ 16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3" name="Freeform 147"/>
              <p:cNvSpPr>
                <a:spLocks/>
              </p:cNvSpPr>
              <p:nvPr/>
            </p:nvSpPr>
            <p:spPr bwMode="auto">
              <a:xfrm>
                <a:off x="3912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4" name="Freeform 148"/>
              <p:cNvSpPr>
                <a:spLocks/>
              </p:cNvSpPr>
              <p:nvPr/>
            </p:nvSpPr>
            <p:spPr bwMode="auto">
              <a:xfrm>
                <a:off x="3916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5" name="Freeform 149"/>
              <p:cNvSpPr>
                <a:spLocks/>
              </p:cNvSpPr>
              <p:nvPr/>
            </p:nvSpPr>
            <p:spPr bwMode="auto">
              <a:xfrm>
                <a:off x="3918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4 h 17"/>
                  <a:gd name="T6" fmla="*/ 5 w 17"/>
                  <a:gd name="T7" fmla="*/ 16 h 17"/>
                  <a:gd name="T8" fmla="*/ 10 w 17"/>
                  <a:gd name="T9" fmla="*/ 16 h 17"/>
                  <a:gd name="T10" fmla="*/ 10 w 17"/>
                  <a:gd name="T11" fmla="*/ 14 h 17"/>
                  <a:gd name="T12" fmla="*/ 16 w 17"/>
                  <a:gd name="T13" fmla="*/ 14 h 17"/>
                  <a:gd name="T14" fmla="*/ 16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6" name="Freeform 150"/>
              <p:cNvSpPr>
                <a:spLocks/>
              </p:cNvSpPr>
              <p:nvPr/>
            </p:nvSpPr>
            <p:spPr bwMode="auto">
              <a:xfrm>
                <a:off x="3921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6 h 17"/>
                  <a:gd name="T6" fmla="*/ 16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7" name="Freeform 151"/>
              <p:cNvSpPr>
                <a:spLocks/>
              </p:cNvSpPr>
              <p:nvPr/>
            </p:nvSpPr>
            <p:spPr bwMode="auto">
              <a:xfrm>
                <a:off x="3923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8" name="Freeform 152"/>
              <p:cNvSpPr>
                <a:spLocks/>
              </p:cNvSpPr>
              <p:nvPr/>
            </p:nvSpPr>
            <p:spPr bwMode="auto">
              <a:xfrm>
                <a:off x="3925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4 w 17"/>
                  <a:gd name="T5" fmla="*/ 14 h 17"/>
                  <a:gd name="T6" fmla="*/ 8 w 17"/>
                  <a:gd name="T7" fmla="*/ 16 h 17"/>
                  <a:gd name="T8" fmla="*/ 12 w 17"/>
                  <a:gd name="T9" fmla="*/ 16 h 17"/>
                  <a:gd name="T10" fmla="*/ 12 w 17"/>
                  <a:gd name="T11" fmla="*/ 14 h 17"/>
                  <a:gd name="T12" fmla="*/ 16 w 17"/>
                  <a:gd name="T13" fmla="*/ 14 h 17"/>
                  <a:gd name="T14" fmla="*/ 16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4"/>
                    </a:lnTo>
                    <a:lnTo>
                      <a:pt x="8" y="16"/>
                    </a:lnTo>
                    <a:lnTo>
                      <a:pt x="12" y="16"/>
                    </a:lnTo>
                    <a:lnTo>
                      <a:pt x="12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9" name="Freeform 153"/>
              <p:cNvSpPr>
                <a:spLocks/>
              </p:cNvSpPr>
              <p:nvPr/>
            </p:nvSpPr>
            <p:spPr bwMode="auto">
              <a:xfrm>
                <a:off x="3855" y="1279"/>
                <a:ext cx="187" cy="174"/>
              </a:xfrm>
              <a:custGeom>
                <a:avLst/>
                <a:gdLst>
                  <a:gd name="T0" fmla="*/ 180 w 187"/>
                  <a:gd name="T1" fmla="*/ 173 h 174"/>
                  <a:gd name="T2" fmla="*/ 180 w 187"/>
                  <a:gd name="T3" fmla="*/ 173 h 174"/>
                  <a:gd name="T4" fmla="*/ 180 w 187"/>
                  <a:gd name="T5" fmla="*/ 172 h 174"/>
                  <a:gd name="T6" fmla="*/ 182 w 187"/>
                  <a:gd name="T7" fmla="*/ 172 h 174"/>
                  <a:gd name="T8" fmla="*/ 182 w 187"/>
                  <a:gd name="T9" fmla="*/ 172 h 174"/>
                  <a:gd name="T10" fmla="*/ 183 w 187"/>
                  <a:gd name="T11" fmla="*/ 171 h 174"/>
                  <a:gd name="T12" fmla="*/ 183 w 187"/>
                  <a:gd name="T13" fmla="*/ 171 h 174"/>
                  <a:gd name="T14" fmla="*/ 184 w 187"/>
                  <a:gd name="T15" fmla="*/ 171 h 174"/>
                  <a:gd name="T16" fmla="*/ 184 w 187"/>
                  <a:gd name="T17" fmla="*/ 170 h 174"/>
                  <a:gd name="T18" fmla="*/ 184 w 187"/>
                  <a:gd name="T19" fmla="*/ 170 h 174"/>
                  <a:gd name="T20" fmla="*/ 184 w 187"/>
                  <a:gd name="T21" fmla="*/ 169 h 174"/>
                  <a:gd name="T22" fmla="*/ 185 w 187"/>
                  <a:gd name="T23" fmla="*/ 169 h 174"/>
                  <a:gd name="T24" fmla="*/ 185 w 187"/>
                  <a:gd name="T25" fmla="*/ 168 h 174"/>
                  <a:gd name="T26" fmla="*/ 186 w 187"/>
                  <a:gd name="T27" fmla="*/ 167 h 174"/>
                  <a:gd name="T28" fmla="*/ 186 w 187"/>
                  <a:gd name="T29" fmla="*/ 167 h 174"/>
                  <a:gd name="T30" fmla="*/ 186 w 187"/>
                  <a:gd name="T31" fmla="*/ 6 h 174"/>
                  <a:gd name="T32" fmla="*/ 186 w 187"/>
                  <a:gd name="T33" fmla="*/ 5 h 174"/>
                  <a:gd name="T34" fmla="*/ 186 w 187"/>
                  <a:gd name="T35" fmla="*/ 5 h 174"/>
                  <a:gd name="T36" fmla="*/ 185 w 187"/>
                  <a:gd name="T37" fmla="*/ 5 h 174"/>
                  <a:gd name="T38" fmla="*/ 185 w 187"/>
                  <a:gd name="T39" fmla="*/ 3 h 174"/>
                  <a:gd name="T40" fmla="*/ 184 w 187"/>
                  <a:gd name="T41" fmla="*/ 3 h 174"/>
                  <a:gd name="T42" fmla="*/ 184 w 187"/>
                  <a:gd name="T43" fmla="*/ 2 h 174"/>
                  <a:gd name="T44" fmla="*/ 184 w 187"/>
                  <a:gd name="T45" fmla="*/ 1 h 174"/>
                  <a:gd name="T46" fmla="*/ 183 w 187"/>
                  <a:gd name="T47" fmla="*/ 1 h 174"/>
                  <a:gd name="T48" fmla="*/ 183 w 187"/>
                  <a:gd name="T49" fmla="*/ 1 h 174"/>
                  <a:gd name="T50" fmla="*/ 182 w 187"/>
                  <a:gd name="T51" fmla="*/ 1 h 174"/>
                  <a:gd name="T52" fmla="*/ 182 w 187"/>
                  <a:gd name="T53" fmla="*/ 0 h 174"/>
                  <a:gd name="T54" fmla="*/ 180 w 187"/>
                  <a:gd name="T55" fmla="*/ 0 h 174"/>
                  <a:gd name="T56" fmla="*/ 180 w 187"/>
                  <a:gd name="T57" fmla="*/ 0 h 174"/>
                  <a:gd name="T58" fmla="*/ 180 w 187"/>
                  <a:gd name="T59" fmla="*/ 0 h 174"/>
                  <a:gd name="T60" fmla="*/ 5 w 187"/>
                  <a:gd name="T61" fmla="*/ 0 h 174"/>
                  <a:gd name="T62" fmla="*/ 4 w 187"/>
                  <a:gd name="T63" fmla="*/ 0 h 174"/>
                  <a:gd name="T64" fmla="*/ 3 w 187"/>
                  <a:gd name="T65" fmla="*/ 0 h 174"/>
                  <a:gd name="T66" fmla="*/ 3 w 187"/>
                  <a:gd name="T67" fmla="*/ 0 h 174"/>
                  <a:gd name="T68" fmla="*/ 2 w 187"/>
                  <a:gd name="T69" fmla="*/ 0 h 174"/>
                  <a:gd name="T70" fmla="*/ 2 w 187"/>
                  <a:gd name="T71" fmla="*/ 1 h 174"/>
                  <a:gd name="T72" fmla="*/ 1 w 187"/>
                  <a:gd name="T73" fmla="*/ 1 h 174"/>
                  <a:gd name="T74" fmla="*/ 1 w 187"/>
                  <a:gd name="T75" fmla="*/ 1 h 174"/>
                  <a:gd name="T76" fmla="*/ 1 w 187"/>
                  <a:gd name="T77" fmla="*/ 2 h 174"/>
                  <a:gd name="T78" fmla="*/ 0 w 187"/>
                  <a:gd name="T79" fmla="*/ 3 h 174"/>
                  <a:gd name="T80" fmla="*/ 0 w 187"/>
                  <a:gd name="T81" fmla="*/ 3 h 174"/>
                  <a:gd name="T82" fmla="*/ 0 w 187"/>
                  <a:gd name="T83" fmla="*/ 3 h 174"/>
                  <a:gd name="T84" fmla="*/ 0 w 187"/>
                  <a:gd name="T85" fmla="*/ 5 h 174"/>
                  <a:gd name="T86" fmla="*/ 0 w 187"/>
                  <a:gd name="T87" fmla="*/ 5 h 174"/>
                  <a:gd name="T88" fmla="*/ 0 w 187"/>
                  <a:gd name="T89" fmla="*/ 6 h 174"/>
                  <a:gd name="T90" fmla="*/ 0 w 187"/>
                  <a:gd name="T91" fmla="*/ 167 h 174"/>
                  <a:gd name="T92" fmla="*/ 0 w 187"/>
                  <a:gd name="T93" fmla="*/ 167 h 174"/>
                  <a:gd name="T94" fmla="*/ 0 w 187"/>
                  <a:gd name="T95" fmla="*/ 168 h 174"/>
                  <a:gd name="T96" fmla="*/ 0 w 187"/>
                  <a:gd name="T97" fmla="*/ 169 h 174"/>
                  <a:gd name="T98" fmla="*/ 0 w 187"/>
                  <a:gd name="T99" fmla="*/ 169 h 174"/>
                  <a:gd name="T100" fmla="*/ 0 w 187"/>
                  <a:gd name="T101" fmla="*/ 170 h 174"/>
                  <a:gd name="T102" fmla="*/ 1 w 187"/>
                  <a:gd name="T103" fmla="*/ 170 h 174"/>
                  <a:gd name="T104" fmla="*/ 1 w 187"/>
                  <a:gd name="T105" fmla="*/ 171 h 174"/>
                  <a:gd name="T106" fmla="*/ 1 w 187"/>
                  <a:gd name="T107" fmla="*/ 171 h 174"/>
                  <a:gd name="T108" fmla="*/ 2 w 187"/>
                  <a:gd name="T109" fmla="*/ 171 h 174"/>
                  <a:gd name="T110" fmla="*/ 2 w 187"/>
                  <a:gd name="T111" fmla="*/ 172 h 174"/>
                  <a:gd name="T112" fmla="*/ 2 w 187"/>
                  <a:gd name="T113" fmla="*/ 172 h 174"/>
                  <a:gd name="T114" fmla="*/ 3 w 187"/>
                  <a:gd name="T115" fmla="*/ 172 h 174"/>
                  <a:gd name="T116" fmla="*/ 3 w 187"/>
                  <a:gd name="T117" fmla="*/ 172 h 174"/>
                  <a:gd name="T118" fmla="*/ 4 w 187"/>
                  <a:gd name="T119" fmla="*/ 173 h 174"/>
                  <a:gd name="T120" fmla="*/ 5 w 187"/>
                  <a:gd name="T121" fmla="*/ 173 h 174"/>
                  <a:gd name="T122" fmla="*/ 180 w 187"/>
                  <a:gd name="T123" fmla="*/ 173 h 174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187"/>
                  <a:gd name="T187" fmla="*/ 0 h 174"/>
                  <a:gd name="T188" fmla="*/ 187 w 187"/>
                  <a:gd name="T189" fmla="*/ 174 h 174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187" h="174">
                    <a:moveTo>
                      <a:pt x="180" y="173"/>
                    </a:moveTo>
                    <a:lnTo>
                      <a:pt x="180" y="173"/>
                    </a:lnTo>
                    <a:lnTo>
                      <a:pt x="180" y="172"/>
                    </a:lnTo>
                    <a:lnTo>
                      <a:pt x="182" y="172"/>
                    </a:lnTo>
                    <a:lnTo>
                      <a:pt x="183" y="171"/>
                    </a:lnTo>
                    <a:lnTo>
                      <a:pt x="184" y="171"/>
                    </a:lnTo>
                    <a:lnTo>
                      <a:pt x="184" y="170"/>
                    </a:lnTo>
                    <a:lnTo>
                      <a:pt x="184" y="169"/>
                    </a:lnTo>
                    <a:lnTo>
                      <a:pt x="185" y="169"/>
                    </a:lnTo>
                    <a:lnTo>
                      <a:pt x="185" y="168"/>
                    </a:lnTo>
                    <a:lnTo>
                      <a:pt x="186" y="167"/>
                    </a:lnTo>
                    <a:lnTo>
                      <a:pt x="186" y="6"/>
                    </a:lnTo>
                    <a:lnTo>
                      <a:pt x="186" y="5"/>
                    </a:lnTo>
                    <a:lnTo>
                      <a:pt x="185" y="5"/>
                    </a:lnTo>
                    <a:lnTo>
                      <a:pt x="185" y="3"/>
                    </a:lnTo>
                    <a:lnTo>
                      <a:pt x="184" y="3"/>
                    </a:lnTo>
                    <a:lnTo>
                      <a:pt x="184" y="2"/>
                    </a:lnTo>
                    <a:lnTo>
                      <a:pt x="184" y="1"/>
                    </a:lnTo>
                    <a:lnTo>
                      <a:pt x="183" y="1"/>
                    </a:lnTo>
                    <a:lnTo>
                      <a:pt x="182" y="1"/>
                    </a:lnTo>
                    <a:lnTo>
                      <a:pt x="182" y="0"/>
                    </a:lnTo>
                    <a:lnTo>
                      <a:pt x="180" y="0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167"/>
                    </a:lnTo>
                    <a:lnTo>
                      <a:pt x="0" y="168"/>
                    </a:lnTo>
                    <a:lnTo>
                      <a:pt x="0" y="169"/>
                    </a:lnTo>
                    <a:lnTo>
                      <a:pt x="0" y="170"/>
                    </a:lnTo>
                    <a:lnTo>
                      <a:pt x="1" y="170"/>
                    </a:lnTo>
                    <a:lnTo>
                      <a:pt x="1" y="171"/>
                    </a:lnTo>
                    <a:lnTo>
                      <a:pt x="2" y="171"/>
                    </a:lnTo>
                    <a:lnTo>
                      <a:pt x="2" y="172"/>
                    </a:lnTo>
                    <a:lnTo>
                      <a:pt x="3" y="172"/>
                    </a:lnTo>
                    <a:lnTo>
                      <a:pt x="4" y="173"/>
                    </a:lnTo>
                    <a:lnTo>
                      <a:pt x="5" y="173"/>
                    </a:lnTo>
                    <a:lnTo>
                      <a:pt x="180" y="173"/>
                    </a:lnTo>
                  </a:path>
                </a:pathLst>
              </a:custGeom>
              <a:solidFill>
                <a:srgbClr val="999999"/>
              </a:solidFill>
              <a:ln w="12700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0" name="Freeform 154"/>
              <p:cNvSpPr>
                <a:spLocks/>
              </p:cNvSpPr>
              <p:nvPr/>
            </p:nvSpPr>
            <p:spPr bwMode="auto">
              <a:xfrm>
                <a:off x="3855" y="1281"/>
                <a:ext cx="186" cy="172"/>
              </a:xfrm>
              <a:custGeom>
                <a:avLst/>
                <a:gdLst>
                  <a:gd name="T0" fmla="*/ 185 w 186"/>
                  <a:gd name="T1" fmla="*/ 165 h 172"/>
                  <a:gd name="T2" fmla="*/ 185 w 186"/>
                  <a:gd name="T3" fmla="*/ 166 h 172"/>
                  <a:gd name="T4" fmla="*/ 185 w 186"/>
                  <a:gd name="T5" fmla="*/ 167 h 172"/>
                  <a:gd name="T6" fmla="*/ 184 w 186"/>
                  <a:gd name="T7" fmla="*/ 167 h 172"/>
                  <a:gd name="T8" fmla="*/ 184 w 186"/>
                  <a:gd name="T9" fmla="*/ 168 h 172"/>
                  <a:gd name="T10" fmla="*/ 183 w 186"/>
                  <a:gd name="T11" fmla="*/ 169 h 172"/>
                  <a:gd name="T12" fmla="*/ 183 w 186"/>
                  <a:gd name="T13" fmla="*/ 169 h 172"/>
                  <a:gd name="T14" fmla="*/ 182 w 186"/>
                  <a:gd name="T15" fmla="*/ 170 h 172"/>
                  <a:gd name="T16" fmla="*/ 182 w 186"/>
                  <a:gd name="T17" fmla="*/ 170 h 172"/>
                  <a:gd name="T18" fmla="*/ 181 w 186"/>
                  <a:gd name="T19" fmla="*/ 170 h 172"/>
                  <a:gd name="T20" fmla="*/ 181 w 186"/>
                  <a:gd name="T21" fmla="*/ 171 h 172"/>
                  <a:gd name="T22" fmla="*/ 180 w 186"/>
                  <a:gd name="T23" fmla="*/ 171 h 172"/>
                  <a:gd name="T24" fmla="*/ 179 w 186"/>
                  <a:gd name="T25" fmla="*/ 171 h 172"/>
                  <a:gd name="T26" fmla="*/ 4 w 186"/>
                  <a:gd name="T27" fmla="*/ 171 h 172"/>
                  <a:gd name="T28" fmla="*/ 3 w 186"/>
                  <a:gd name="T29" fmla="*/ 171 h 172"/>
                  <a:gd name="T30" fmla="*/ 3 w 186"/>
                  <a:gd name="T31" fmla="*/ 171 h 172"/>
                  <a:gd name="T32" fmla="*/ 3 w 186"/>
                  <a:gd name="T33" fmla="*/ 170 h 172"/>
                  <a:gd name="T34" fmla="*/ 2 w 186"/>
                  <a:gd name="T35" fmla="*/ 170 h 172"/>
                  <a:gd name="T36" fmla="*/ 2 w 186"/>
                  <a:gd name="T37" fmla="*/ 170 h 172"/>
                  <a:gd name="T38" fmla="*/ 1 w 186"/>
                  <a:gd name="T39" fmla="*/ 169 h 172"/>
                  <a:gd name="T40" fmla="*/ 1 w 186"/>
                  <a:gd name="T41" fmla="*/ 169 h 172"/>
                  <a:gd name="T42" fmla="*/ 0 w 186"/>
                  <a:gd name="T43" fmla="*/ 169 h 172"/>
                  <a:gd name="T44" fmla="*/ 0 w 186"/>
                  <a:gd name="T45" fmla="*/ 168 h 172"/>
                  <a:gd name="T46" fmla="*/ 0 w 186"/>
                  <a:gd name="T47" fmla="*/ 167 h 172"/>
                  <a:gd name="T48" fmla="*/ 0 w 186"/>
                  <a:gd name="T49" fmla="*/ 167 h 172"/>
                  <a:gd name="T50" fmla="*/ 0 w 186"/>
                  <a:gd name="T51" fmla="*/ 166 h 172"/>
                  <a:gd name="T52" fmla="*/ 0 w 186"/>
                  <a:gd name="T53" fmla="*/ 165 h 172"/>
                  <a:gd name="T54" fmla="*/ 0 w 186"/>
                  <a:gd name="T55" fmla="*/ 5 h 172"/>
                  <a:gd name="T56" fmla="*/ 0 w 186"/>
                  <a:gd name="T57" fmla="*/ 4 h 172"/>
                  <a:gd name="T58" fmla="*/ 0 w 186"/>
                  <a:gd name="T59" fmla="*/ 3 h 172"/>
                  <a:gd name="T60" fmla="*/ 0 w 186"/>
                  <a:gd name="T61" fmla="*/ 3 h 172"/>
                  <a:gd name="T62" fmla="*/ 0 w 186"/>
                  <a:gd name="T63" fmla="*/ 2 h 172"/>
                  <a:gd name="T64" fmla="*/ 0 w 186"/>
                  <a:gd name="T65" fmla="*/ 2 h 172"/>
                  <a:gd name="T66" fmla="*/ 1 w 186"/>
                  <a:gd name="T67" fmla="*/ 1 h 172"/>
                  <a:gd name="T68" fmla="*/ 1 w 186"/>
                  <a:gd name="T69" fmla="*/ 1 h 172"/>
                  <a:gd name="T70" fmla="*/ 2 w 186"/>
                  <a:gd name="T71" fmla="*/ 1 h 172"/>
                  <a:gd name="T72" fmla="*/ 2 w 186"/>
                  <a:gd name="T73" fmla="*/ 0 h 172"/>
                  <a:gd name="T74" fmla="*/ 2 w 186"/>
                  <a:gd name="T75" fmla="*/ 0 h 172"/>
                  <a:gd name="T76" fmla="*/ 3 w 186"/>
                  <a:gd name="T77" fmla="*/ 0 h 172"/>
                  <a:gd name="T78" fmla="*/ 3 w 186"/>
                  <a:gd name="T79" fmla="*/ 0 h 172"/>
                  <a:gd name="T80" fmla="*/ 4 w 186"/>
                  <a:gd name="T81" fmla="*/ 0 h 172"/>
                  <a:gd name="T82" fmla="*/ 179 w 186"/>
                  <a:gd name="T83" fmla="*/ 0 h 172"/>
                  <a:gd name="T84" fmla="*/ 180 w 186"/>
                  <a:gd name="T85" fmla="*/ 0 h 172"/>
                  <a:gd name="T86" fmla="*/ 181 w 186"/>
                  <a:gd name="T87" fmla="*/ 0 h 172"/>
                  <a:gd name="T88" fmla="*/ 181 w 186"/>
                  <a:gd name="T89" fmla="*/ 0 h 172"/>
                  <a:gd name="T90" fmla="*/ 182 w 186"/>
                  <a:gd name="T91" fmla="*/ 0 h 172"/>
                  <a:gd name="T92" fmla="*/ 182 w 186"/>
                  <a:gd name="T93" fmla="*/ 1 h 172"/>
                  <a:gd name="T94" fmla="*/ 183 w 186"/>
                  <a:gd name="T95" fmla="*/ 1 h 172"/>
                  <a:gd name="T96" fmla="*/ 183 w 186"/>
                  <a:gd name="T97" fmla="*/ 1 h 172"/>
                  <a:gd name="T98" fmla="*/ 183 w 186"/>
                  <a:gd name="T99" fmla="*/ 2 h 172"/>
                  <a:gd name="T100" fmla="*/ 184 w 186"/>
                  <a:gd name="T101" fmla="*/ 2 h 172"/>
                  <a:gd name="T102" fmla="*/ 184 w 186"/>
                  <a:gd name="T103" fmla="*/ 3 h 172"/>
                  <a:gd name="T104" fmla="*/ 185 w 186"/>
                  <a:gd name="T105" fmla="*/ 3 h 172"/>
                  <a:gd name="T106" fmla="*/ 185 w 186"/>
                  <a:gd name="T107" fmla="*/ 4 h 172"/>
                  <a:gd name="T108" fmla="*/ 185 w 186"/>
                  <a:gd name="T109" fmla="*/ 5 h 172"/>
                  <a:gd name="T110" fmla="*/ 185 w 186"/>
                  <a:gd name="T111" fmla="*/ 165 h 172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186"/>
                  <a:gd name="T169" fmla="*/ 0 h 172"/>
                  <a:gd name="T170" fmla="*/ 186 w 186"/>
                  <a:gd name="T171" fmla="*/ 172 h 172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186" h="172">
                    <a:moveTo>
                      <a:pt x="185" y="165"/>
                    </a:moveTo>
                    <a:lnTo>
                      <a:pt x="185" y="166"/>
                    </a:lnTo>
                    <a:lnTo>
                      <a:pt x="185" y="167"/>
                    </a:lnTo>
                    <a:lnTo>
                      <a:pt x="184" y="167"/>
                    </a:lnTo>
                    <a:lnTo>
                      <a:pt x="184" y="168"/>
                    </a:lnTo>
                    <a:lnTo>
                      <a:pt x="183" y="169"/>
                    </a:lnTo>
                    <a:lnTo>
                      <a:pt x="182" y="170"/>
                    </a:lnTo>
                    <a:lnTo>
                      <a:pt x="181" y="170"/>
                    </a:lnTo>
                    <a:lnTo>
                      <a:pt x="181" y="171"/>
                    </a:lnTo>
                    <a:lnTo>
                      <a:pt x="180" y="171"/>
                    </a:lnTo>
                    <a:lnTo>
                      <a:pt x="179" y="171"/>
                    </a:lnTo>
                    <a:lnTo>
                      <a:pt x="4" y="171"/>
                    </a:lnTo>
                    <a:lnTo>
                      <a:pt x="3" y="171"/>
                    </a:lnTo>
                    <a:lnTo>
                      <a:pt x="3" y="170"/>
                    </a:lnTo>
                    <a:lnTo>
                      <a:pt x="2" y="170"/>
                    </a:lnTo>
                    <a:lnTo>
                      <a:pt x="1" y="169"/>
                    </a:lnTo>
                    <a:lnTo>
                      <a:pt x="0" y="169"/>
                    </a:lnTo>
                    <a:lnTo>
                      <a:pt x="0" y="168"/>
                    </a:lnTo>
                    <a:lnTo>
                      <a:pt x="0" y="167"/>
                    </a:lnTo>
                    <a:lnTo>
                      <a:pt x="0" y="166"/>
                    </a:lnTo>
                    <a:lnTo>
                      <a:pt x="0" y="165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179" y="0"/>
                    </a:lnTo>
                    <a:lnTo>
                      <a:pt x="180" y="0"/>
                    </a:lnTo>
                    <a:lnTo>
                      <a:pt x="181" y="0"/>
                    </a:lnTo>
                    <a:lnTo>
                      <a:pt x="182" y="0"/>
                    </a:lnTo>
                    <a:lnTo>
                      <a:pt x="182" y="1"/>
                    </a:lnTo>
                    <a:lnTo>
                      <a:pt x="183" y="1"/>
                    </a:lnTo>
                    <a:lnTo>
                      <a:pt x="183" y="2"/>
                    </a:lnTo>
                    <a:lnTo>
                      <a:pt x="184" y="2"/>
                    </a:lnTo>
                    <a:lnTo>
                      <a:pt x="184" y="3"/>
                    </a:lnTo>
                    <a:lnTo>
                      <a:pt x="185" y="3"/>
                    </a:lnTo>
                    <a:lnTo>
                      <a:pt x="185" y="4"/>
                    </a:lnTo>
                    <a:lnTo>
                      <a:pt x="185" y="5"/>
                    </a:lnTo>
                    <a:lnTo>
                      <a:pt x="185" y="165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1" name="Freeform 155"/>
              <p:cNvSpPr>
                <a:spLocks/>
              </p:cNvSpPr>
              <p:nvPr/>
            </p:nvSpPr>
            <p:spPr bwMode="auto">
              <a:xfrm>
                <a:off x="3857" y="1281"/>
                <a:ext cx="181" cy="171"/>
              </a:xfrm>
              <a:custGeom>
                <a:avLst/>
                <a:gdLst>
                  <a:gd name="T0" fmla="*/ 180 w 181"/>
                  <a:gd name="T1" fmla="*/ 3 h 171"/>
                  <a:gd name="T2" fmla="*/ 180 w 181"/>
                  <a:gd name="T3" fmla="*/ 3 h 171"/>
                  <a:gd name="T4" fmla="*/ 180 w 181"/>
                  <a:gd name="T5" fmla="*/ 2 h 171"/>
                  <a:gd name="T6" fmla="*/ 179 w 181"/>
                  <a:gd name="T7" fmla="*/ 2 h 171"/>
                  <a:gd name="T8" fmla="*/ 179 w 181"/>
                  <a:gd name="T9" fmla="*/ 1 h 171"/>
                  <a:gd name="T10" fmla="*/ 178 w 181"/>
                  <a:gd name="T11" fmla="*/ 1 h 171"/>
                  <a:gd name="T12" fmla="*/ 178 w 181"/>
                  <a:gd name="T13" fmla="*/ 0 h 171"/>
                  <a:gd name="T14" fmla="*/ 177 w 181"/>
                  <a:gd name="T15" fmla="*/ 0 h 171"/>
                  <a:gd name="T16" fmla="*/ 177 w 181"/>
                  <a:gd name="T17" fmla="*/ 0 h 171"/>
                  <a:gd name="T18" fmla="*/ 177 w 181"/>
                  <a:gd name="T19" fmla="*/ 0 h 171"/>
                  <a:gd name="T20" fmla="*/ 176 w 181"/>
                  <a:gd name="T21" fmla="*/ 0 h 171"/>
                  <a:gd name="T22" fmla="*/ 176 w 181"/>
                  <a:gd name="T23" fmla="*/ 0 h 171"/>
                  <a:gd name="T24" fmla="*/ 3 w 181"/>
                  <a:gd name="T25" fmla="*/ 0 h 171"/>
                  <a:gd name="T26" fmla="*/ 3 w 181"/>
                  <a:gd name="T27" fmla="*/ 0 h 171"/>
                  <a:gd name="T28" fmla="*/ 2 w 181"/>
                  <a:gd name="T29" fmla="*/ 0 h 171"/>
                  <a:gd name="T30" fmla="*/ 2 w 181"/>
                  <a:gd name="T31" fmla="*/ 0 h 171"/>
                  <a:gd name="T32" fmla="*/ 1 w 181"/>
                  <a:gd name="T33" fmla="*/ 0 h 171"/>
                  <a:gd name="T34" fmla="*/ 1 w 181"/>
                  <a:gd name="T35" fmla="*/ 0 h 171"/>
                  <a:gd name="T36" fmla="*/ 1 w 181"/>
                  <a:gd name="T37" fmla="*/ 1 h 171"/>
                  <a:gd name="T38" fmla="*/ 0 w 181"/>
                  <a:gd name="T39" fmla="*/ 1 h 171"/>
                  <a:gd name="T40" fmla="*/ 0 w 181"/>
                  <a:gd name="T41" fmla="*/ 1 h 171"/>
                  <a:gd name="T42" fmla="*/ 0 w 181"/>
                  <a:gd name="T43" fmla="*/ 2 h 171"/>
                  <a:gd name="T44" fmla="*/ 0 w 181"/>
                  <a:gd name="T45" fmla="*/ 3 h 171"/>
                  <a:gd name="T46" fmla="*/ 0 w 181"/>
                  <a:gd name="T47" fmla="*/ 3 h 171"/>
                  <a:gd name="T48" fmla="*/ 0 w 181"/>
                  <a:gd name="T49" fmla="*/ 166 h 171"/>
                  <a:gd name="T50" fmla="*/ 0 w 181"/>
                  <a:gd name="T51" fmla="*/ 166 h 171"/>
                  <a:gd name="T52" fmla="*/ 0 w 181"/>
                  <a:gd name="T53" fmla="*/ 167 h 171"/>
                  <a:gd name="T54" fmla="*/ 0 w 181"/>
                  <a:gd name="T55" fmla="*/ 168 h 171"/>
                  <a:gd name="T56" fmla="*/ 0 w 181"/>
                  <a:gd name="T57" fmla="*/ 168 h 171"/>
                  <a:gd name="T58" fmla="*/ 1 w 181"/>
                  <a:gd name="T59" fmla="*/ 168 h 171"/>
                  <a:gd name="T60" fmla="*/ 1 w 181"/>
                  <a:gd name="T61" fmla="*/ 169 h 171"/>
                  <a:gd name="T62" fmla="*/ 2 w 181"/>
                  <a:gd name="T63" fmla="*/ 169 h 171"/>
                  <a:gd name="T64" fmla="*/ 2 w 181"/>
                  <a:gd name="T65" fmla="*/ 169 h 171"/>
                  <a:gd name="T66" fmla="*/ 3 w 181"/>
                  <a:gd name="T67" fmla="*/ 170 h 171"/>
                  <a:gd name="T68" fmla="*/ 3 w 181"/>
                  <a:gd name="T69" fmla="*/ 170 h 171"/>
                  <a:gd name="T70" fmla="*/ 176 w 181"/>
                  <a:gd name="T71" fmla="*/ 170 h 171"/>
                  <a:gd name="T72" fmla="*/ 176 w 181"/>
                  <a:gd name="T73" fmla="*/ 169 h 171"/>
                  <a:gd name="T74" fmla="*/ 177 w 181"/>
                  <a:gd name="T75" fmla="*/ 169 h 171"/>
                  <a:gd name="T76" fmla="*/ 177 w 181"/>
                  <a:gd name="T77" fmla="*/ 169 h 171"/>
                  <a:gd name="T78" fmla="*/ 178 w 181"/>
                  <a:gd name="T79" fmla="*/ 169 h 171"/>
                  <a:gd name="T80" fmla="*/ 178 w 181"/>
                  <a:gd name="T81" fmla="*/ 168 h 171"/>
                  <a:gd name="T82" fmla="*/ 178 w 181"/>
                  <a:gd name="T83" fmla="*/ 168 h 171"/>
                  <a:gd name="T84" fmla="*/ 179 w 181"/>
                  <a:gd name="T85" fmla="*/ 168 h 171"/>
                  <a:gd name="T86" fmla="*/ 179 w 181"/>
                  <a:gd name="T87" fmla="*/ 167 h 171"/>
                  <a:gd name="T88" fmla="*/ 180 w 181"/>
                  <a:gd name="T89" fmla="*/ 166 h 171"/>
                  <a:gd name="T90" fmla="*/ 180 w 181"/>
                  <a:gd name="T91" fmla="*/ 166 h 171"/>
                  <a:gd name="T92" fmla="*/ 180 w 181"/>
                  <a:gd name="T93" fmla="*/ 3 h 171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181"/>
                  <a:gd name="T142" fmla="*/ 0 h 171"/>
                  <a:gd name="T143" fmla="*/ 181 w 181"/>
                  <a:gd name="T144" fmla="*/ 171 h 171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181" h="171">
                    <a:moveTo>
                      <a:pt x="180" y="3"/>
                    </a:moveTo>
                    <a:lnTo>
                      <a:pt x="180" y="3"/>
                    </a:lnTo>
                    <a:lnTo>
                      <a:pt x="180" y="2"/>
                    </a:lnTo>
                    <a:lnTo>
                      <a:pt x="179" y="2"/>
                    </a:lnTo>
                    <a:lnTo>
                      <a:pt x="179" y="1"/>
                    </a:lnTo>
                    <a:lnTo>
                      <a:pt x="178" y="1"/>
                    </a:lnTo>
                    <a:lnTo>
                      <a:pt x="178" y="0"/>
                    </a:lnTo>
                    <a:lnTo>
                      <a:pt x="177" y="0"/>
                    </a:lnTo>
                    <a:lnTo>
                      <a:pt x="176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166"/>
                    </a:lnTo>
                    <a:lnTo>
                      <a:pt x="0" y="167"/>
                    </a:lnTo>
                    <a:lnTo>
                      <a:pt x="0" y="168"/>
                    </a:lnTo>
                    <a:lnTo>
                      <a:pt x="1" y="168"/>
                    </a:lnTo>
                    <a:lnTo>
                      <a:pt x="1" y="169"/>
                    </a:lnTo>
                    <a:lnTo>
                      <a:pt x="2" y="169"/>
                    </a:lnTo>
                    <a:lnTo>
                      <a:pt x="3" y="170"/>
                    </a:lnTo>
                    <a:lnTo>
                      <a:pt x="176" y="170"/>
                    </a:lnTo>
                    <a:lnTo>
                      <a:pt x="176" y="169"/>
                    </a:lnTo>
                    <a:lnTo>
                      <a:pt x="177" y="169"/>
                    </a:lnTo>
                    <a:lnTo>
                      <a:pt x="178" y="169"/>
                    </a:lnTo>
                    <a:lnTo>
                      <a:pt x="178" y="168"/>
                    </a:lnTo>
                    <a:lnTo>
                      <a:pt x="179" y="168"/>
                    </a:lnTo>
                    <a:lnTo>
                      <a:pt x="179" y="167"/>
                    </a:lnTo>
                    <a:lnTo>
                      <a:pt x="180" y="166"/>
                    </a:lnTo>
                    <a:lnTo>
                      <a:pt x="180" y="3"/>
                    </a:lnTo>
                  </a:path>
                </a:pathLst>
              </a:custGeom>
              <a:solidFill>
                <a:srgbClr val="999999"/>
              </a:solidFill>
              <a:ln w="12700">
                <a:solidFill>
                  <a:srgbClr val="9999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2" name="Freeform 156"/>
              <p:cNvSpPr>
                <a:spLocks/>
              </p:cNvSpPr>
              <p:nvPr/>
            </p:nvSpPr>
            <p:spPr bwMode="auto">
              <a:xfrm>
                <a:off x="3858" y="1282"/>
                <a:ext cx="180" cy="168"/>
              </a:xfrm>
              <a:custGeom>
                <a:avLst/>
                <a:gdLst>
                  <a:gd name="T0" fmla="*/ 179 w 180"/>
                  <a:gd name="T1" fmla="*/ 163 h 168"/>
                  <a:gd name="T2" fmla="*/ 179 w 180"/>
                  <a:gd name="T3" fmla="*/ 164 h 168"/>
                  <a:gd name="T4" fmla="*/ 178 w 180"/>
                  <a:gd name="T5" fmla="*/ 165 h 168"/>
                  <a:gd name="T6" fmla="*/ 178 w 180"/>
                  <a:gd name="T7" fmla="*/ 165 h 168"/>
                  <a:gd name="T8" fmla="*/ 177 w 180"/>
                  <a:gd name="T9" fmla="*/ 166 h 168"/>
                  <a:gd name="T10" fmla="*/ 177 w 180"/>
                  <a:gd name="T11" fmla="*/ 166 h 168"/>
                  <a:gd name="T12" fmla="*/ 176 w 180"/>
                  <a:gd name="T13" fmla="*/ 167 h 168"/>
                  <a:gd name="T14" fmla="*/ 176 w 180"/>
                  <a:gd name="T15" fmla="*/ 167 h 168"/>
                  <a:gd name="T16" fmla="*/ 2 w 180"/>
                  <a:gd name="T17" fmla="*/ 167 h 168"/>
                  <a:gd name="T18" fmla="*/ 2 w 180"/>
                  <a:gd name="T19" fmla="*/ 167 h 168"/>
                  <a:gd name="T20" fmla="*/ 1 w 180"/>
                  <a:gd name="T21" fmla="*/ 167 h 168"/>
                  <a:gd name="T22" fmla="*/ 1 w 180"/>
                  <a:gd name="T23" fmla="*/ 166 h 168"/>
                  <a:gd name="T24" fmla="*/ 1 w 180"/>
                  <a:gd name="T25" fmla="*/ 166 h 168"/>
                  <a:gd name="T26" fmla="*/ 0 w 180"/>
                  <a:gd name="T27" fmla="*/ 166 h 168"/>
                  <a:gd name="T28" fmla="*/ 0 w 180"/>
                  <a:gd name="T29" fmla="*/ 165 h 168"/>
                  <a:gd name="T30" fmla="*/ 0 w 180"/>
                  <a:gd name="T31" fmla="*/ 165 h 168"/>
                  <a:gd name="T32" fmla="*/ 0 w 180"/>
                  <a:gd name="T33" fmla="*/ 165 h 168"/>
                  <a:gd name="T34" fmla="*/ 0 w 180"/>
                  <a:gd name="T35" fmla="*/ 164 h 168"/>
                  <a:gd name="T36" fmla="*/ 0 w 180"/>
                  <a:gd name="T37" fmla="*/ 163 h 168"/>
                  <a:gd name="T38" fmla="*/ 0 w 180"/>
                  <a:gd name="T39" fmla="*/ 3 h 168"/>
                  <a:gd name="T40" fmla="*/ 0 w 180"/>
                  <a:gd name="T41" fmla="*/ 2 h 168"/>
                  <a:gd name="T42" fmla="*/ 0 w 180"/>
                  <a:gd name="T43" fmla="*/ 1 h 168"/>
                  <a:gd name="T44" fmla="*/ 0 w 180"/>
                  <a:gd name="T45" fmla="*/ 1 h 168"/>
                  <a:gd name="T46" fmla="*/ 0 w 180"/>
                  <a:gd name="T47" fmla="*/ 1 h 168"/>
                  <a:gd name="T48" fmla="*/ 1 w 180"/>
                  <a:gd name="T49" fmla="*/ 0 h 168"/>
                  <a:gd name="T50" fmla="*/ 1 w 180"/>
                  <a:gd name="T51" fmla="*/ 0 h 168"/>
                  <a:gd name="T52" fmla="*/ 2 w 180"/>
                  <a:gd name="T53" fmla="*/ 0 h 168"/>
                  <a:gd name="T54" fmla="*/ 2 w 180"/>
                  <a:gd name="T55" fmla="*/ 0 h 168"/>
                  <a:gd name="T56" fmla="*/ 176 w 180"/>
                  <a:gd name="T57" fmla="*/ 0 h 168"/>
                  <a:gd name="T58" fmla="*/ 176 w 180"/>
                  <a:gd name="T59" fmla="*/ 0 h 168"/>
                  <a:gd name="T60" fmla="*/ 176 w 180"/>
                  <a:gd name="T61" fmla="*/ 0 h 168"/>
                  <a:gd name="T62" fmla="*/ 177 w 180"/>
                  <a:gd name="T63" fmla="*/ 0 h 168"/>
                  <a:gd name="T64" fmla="*/ 177 w 180"/>
                  <a:gd name="T65" fmla="*/ 0 h 168"/>
                  <a:gd name="T66" fmla="*/ 177 w 180"/>
                  <a:gd name="T67" fmla="*/ 1 h 168"/>
                  <a:gd name="T68" fmla="*/ 178 w 180"/>
                  <a:gd name="T69" fmla="*/ 1 h 168"/>
                  <a:gd name="T70" fmla="*/ 178 w 180"/>
                  <a:gd name="T71" fmla="*/ 1 h 168"/>
                  <a:gd name="T72" fmla="*/ 179 w 180"/>
                  <a:gd name="T73" fmla="*/ 2 h 168"/>
                  <a:gd name="T74" fmla="*/ 179 w 180"/>
                  <a:gd name="T75" fmla="*/ 3 h 168"/>
                  <a:gd name="T76" fmla="*/ 179 w 180"/>
                  <a:gd name="T77" fmla="*/ 163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80"/>
                  <a:gd name="T118" fmla="*/ 0 h 168"/>
                  <a:gd name="T119" fmla="*/ 180 w 180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80" h="168">
                    <a:moveTo>
                      <a:pt x="179" y="163"/>
                    </a:moveTo>
                    <a:lnTo>
                      <a:pt x="179" y="164"/>
                    </a:lnTo>
                    <a:lnTo>
                      <a:pt x="178" y="165"/>
                    </a:lnTo>
                    <a:lnTo>
                      <a:pt x="177" y="166"/>
                    </a:lnTo>
                    <a:lnTo>
                      <a:pt x="176" y="167"/>
                    </a:lnTo>
                    <a:lnTo>
                      <a:pt x="2" y="167"/>
                    </a:lnTo>
                    <a:lnTo>
                      <a:pt x="1" y="167"/>
                    </a:lnTo>
                    <a:lnTo>
                      <a:pt x="1" y="166"/>
                    </a:lnTo>
                    <a:lnTo>
                      <a:pt x="0" y="166"/>
                    </a:lnTo>
                    <a:lnTo>
                      <a:pt x="0" y="165"/>
                    </a:lnTo>
                    <a:lnTo>
                      <a:pt x="0" y="164"/>
                    </a:lnTo>
                    <a:lnTo>
                      <a:pt x="0" y="163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176" y="0"/>
                    </a:lnTo>
                    <a:lnTo>
                      <a:pt x="177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2"/>
                    </a:lnTo>
                    <a:lnTo>
                      <a:pt x="179" y="3"/>
                    </a:lnTo>
                    <a:lnTo>
                      <a:pt x="179" y="163"/>
                    </a:lnTo>
                  </a:path>
                </a:pathLst>
              </a:custGeom>
              <a:solidFill>
                <a:srgbClr val="EFEFD1"/>
              </a:solidFill>
              <a:ln w="12700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3" name="Freeform 157"/>
              <p:cNvSpPr>
                <a:spLocks/>
              </p:cNvSpPr>
              <p:nvPr/>
            </p:nvSpPr>
            <p:spPr bwMode="auto">
              <a:xfrm>
                <a:off x="3877" y="1304"/>
                <a:ext cx="142" cy="124"/>
              </a:xfrm>
              <a:custGeom>
                <a:avLst/>
                <a:gdLst>
                  <a:gd name="T0" fmla="*/ 0 w 142"/>
                  <a:gd name="T1" fmla="*/ 1 h 124"/>
                  <a:gd name="T2" fmla="*/ 1 w 142"/>
                  <a:gd name="T3" fmla="*/ 1 h 124"/>
                  <a:gd name="T4" fmla="*/ 1 w 142"/>
                  <a:gd name="T5" fmla="*/ 1 h 124"/>
                  <a:gd name="T6" fmla="*/ 2 w 142"/>
                  <a:gd name="T7" fmla="*/ 0 h 124"/>
                  <a:gd name="T8" fmla="*/ 2 w 142"/>
                  <a:gd name="T9" fmla="*/ 0 h 124"/>
                  <a:gd name="T10" fmla="*/ 3 w 142"/>
                  <a:gd name="T11" fmla="*/ 0 h 124"/>
                  <a:gd name="T12" fmla="*/ 3 w 142"/>
                  <a:gd name="T13" fmla="*/ 0 h 124"/>
                  <a:gd name="T14" fmla="*/ 4 w 142"/>
                  <a:gd name="T15" fmla="*/ 0 h 124"/>
                  <a:gd name="T16" fmla="*/ 135 w 142"/>
                  <a:gd name="T17" fmla="*/ 0 h 124"/>
                  <a:gd name="T18" fmla="*/ 136 w 142"/>
                  <a:gd name="T19" fmla="*/ 0 h 124"/>
                  <a:gd name="T20" fmla="*/ 137 w 142"/>
                  <a:gd name="T21" fmla="*/ 0 h 124"/>
                  <a:gd name="T22" fmla="*/ 137 w 142"/>
                  <a:gd name="T23" fmla="*/ 0 h 124"/>
                  <a:gd name="T24" fmla="*/ 138 w 142"/>
                  <a:gd name="T25" fmla="*/ 0 h 124"/>
                  <a:gd name="T26" fmla="*/ 138 w 142"/>
                  <a:gd name="T27" fmla="*/ 1 h 124"/>
                  <a:gd name="T28" fmla="*/ 139 w 142"/>
                  <a:gd name="T29" fmla="*/ 1 h 124"/>
                  <a:gd name="T30" fmla="*/ 139 w 142"/>
                  <a:gd name="T31" fmla="*/ 1 h 124"/>
                  <a:gd name="T32" fmla="*/ 140 w 142"/>
                  <a:gd name="T33" fmla="*/ 2 h 124"/>
                  <a:gd name="T34" fmla="*/ 140 w 142"/>
                  <a:gd name="T35" fmla="*/ 3 h 124"/>
                  <a:gd name="T36" fmla="*/ 141 w 142"/>
                  <a:gd name="T37" fmla="*/ 3 h 124"/>
                  <a:gd name="T38" fmla="*/ 141 w 142"/>
                  <a:gd name="T39" fmla="*/ 4 h 124"/>
                  <a:gd name="T40" fmla="*/ 141 w 142"/>
                  <a:gd name="T41" fmla="*/ 5 h 124"/>
                  <a:gd name="T42" fmla="*/ 141 w 142"/>
                  <a:gd name="T43" fmla="*/ 117 h 124"/>
                  <a:gd name="T44" fmla="*/ 141 w 142"/>
                  <a:gd name="T45" fmla="*/ 119 h 124"/>
                  <a:gd name="T46" fmla="*/ 140 w 142"/>
                  <a:gd name="T47" fmla="*/ 119 h 124"/>
                  <a:gd name="T48" fmla="*/ 140 w 142"/>
                  <a:gd name="T49" fmla="*/ 120 h 124"/>
                  <a:gd name="T50" fmla="*/ 139 w 142"/>
                  <a:gd name="T51" fmla="*/ 121 h 124"/>
                  <a:gd name="T52" fmla="*/ 139 w 142"/>
                  <a:gd name="T53" fmla="*/ 121 h 124"/>
                  <a:gd name="T54" fmla="*/ 138 w 142"/>
                  <a:gd name="T55" fmla="*/ 122 h 124"/>
                  <a:gd name="T56" fmla="*/ 138 w 142"/>
                  <a:gd name="T57" fmla="*/ 122 h 124"/>
                  <a:gd name="T58" fmla="*/ 137 w 142"/>
                  <a:gd name="T59" fmla="*/ 122 h 124"/>
                  <a:gd name="T60" fmla="*/ 137 w 142"/>
                  <a:gd name="T61" fmla="*/ 123 h 124"/>
                  <a:gd name="T62" fmla="*/ 136 w 142"/>
                  <a:gd name="T63" fmla="*/ 123 h 124"/>
                  <a:gd name="T64" fmla="*/ 135 w 142"/>
                  <a:gd name="T65" fmla="*/ 123 h 124"/>
                  <a:gd name="T66" fmla="*/ 4 w 142"/>
                  <a:gd name="T67" fmla="*/ 123 h 124"/>
                  <a:gd name="T68" fmla="*/ 3 w 142"/>
                  <a:gd name="T69" fmla="*/ 123 h 124"/>
                  <a:gd name="T70" fmla="*/ 3 w 142"/>
                  <a:gd name="T71" fmla="*/ 123 h 124"/>
                  <a:gd name="T72" fmla="*/ 2 w 142"/>
                  <a:gd name="T73" fmla="*/ 122 h 124"/>
                  <a:gd name="T74" fmla="*/ 2 w 142"/>
                  <a:gd name="T75" fmla="*/ 122 h 124"/>
                  <a:gd name="T76" fmla="*/ 1 w 142"/>
                  <a:gd name="T77" fmla="*/ 122 h 124"/>
                  <a:gd name="T78" fmla="*/ 1 w 142"/>
                  <a:gd name="T79" fmla="*/ 121 h 124"/>
                  <a:gd name="T80" fmla="*/ 0 w 142"/>
                  <a:gd name="T81" fmla="*/ 121 h 124"/>
                  <a:gd name="T82" fmla="*/ 0 w 142"/>
                  <a:gd name="T83" fmla="*/ 120 h 124"/>
                  <a:gd name="T84" fmla="*/ 0 w 142"/>
                  <a:gd name="T85" fmla="*/ 119 h 124"/>
                  <a:gd name="T86" fmla="*/ 0 w 142"/>
                  <a:gd name="T87" fmla="*/ 119 h 124"/>
                  <a:gd name="T88" fmla="*/ 0 w 142"/>
                  <a:gd name="T89" fmla="*/ 117 h 124"/>
                  <a:gd name="T90" fmla="*/ 0 w 142"/>
                  <a:gd name="T91" fmla="*/ 5 h 124"/>
                  <a:gd name="T92" fmla="*/ 0 w 142"/>
                  <a:gd name="T93" fmla="*/ 4 h 124"/>
                  <a:gd name="T94" fmla="*/ 0 w 142"/>
                  <a:gd name="T95" fmla="*/ 3 h 124"/>
                  <a:gd name="T96" fmla="*/ 0 w 142"/>
                  <a:gd name="T97" fmla="*/ 3 h 124"/>
                  <a:gd name="T98" fmla="*/ 0 w 142"/>
                  <a:gd name="T99" fmla="*/ 2 h 124"/>
                  <a:gd name="T100" fmla="*/ 0 w 142"/>
                  <a:gd name="T101" fmla="*/ 1 h 124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42"/>
                  <a:gd name="T154" fmla="*/ 0 h 124"/>
                  <a:gd name="T155" fmla="*/ 142 w 142"/>
                  <a:gd name="T156" fmla="*/ 124 h 124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42" h="124">
                    <a:moveTo>
                      <a:pt x="0" y="1"/>
                    </a:moveTo>
                    <a:lnTo>
                      <a:pt x="1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8" y="1"/>
                    </a:lnTo>
                    <a:lnTo>
                      <a:pt x="139" y="1"/>
                    </a:lnTo>
                    <a:lnTo>
                      <a:pt x="140" y="2"/>
                    </a:lnTo>
                    <a:lnTo>
                      <a:pt x="140" y="3"/>
                    </a:lnTo>
                    <a:lnTo>
                      <a:pt x="141" y="3"/>
                    </a:lnTo>
                    <a:lnTo>
                      <a:pt x="141" y="4"/>
                    </a:lnTo>
                    <a:lnTo>
                      <a:pt x="141" y="5"/>
                    </a:lnTo>
                    <a:lnTo>
                      <a:pt x="141" y="117"/>
                    </a:lnTo>
                    <a:lnTo>
                      <a:pt x="141" y="119"/>
                    </a:lnTo>
                    <a:lnTo>
                      <a:pt x="140" y="119"/>
                    </a:lnTo>
                    <a:lnTo>
                      <a:pt x="140" y="120"/>
                    </a:lnTo>
                    <a:lnTo>
                      <a:pt x="139" y="121"/>
                    </a:lnTo>
                    <a:lnTo>
                      <a:pt x="138" y="122"/>
                    </a:lnTo>
                    <a:lnTo>
                      <a:pt x="137" y="122"/>
                    </a:lnTo>
                    <a:lnTo>
                      <a:pt x="137" y="123"/>
                    </a:lnTo>
                    <a:lnTo>
                      <a:pt x="136" y="123"/>
                    </a:lnTo>
                    <a:lnTo>
                      <a:pt x="135" y="123"/>
                    </a:lnTo>
                    <a:lnTo>
                      <a:pt x="4" y="123"/>
                    </a:lnTo>
                    <a:lnTo>
                      <a:pt x="3" y="123"/>
                    </a:lnTo>
                    <a:lnTo>
                      <a:pt x="2" y="122"/>
                    </a:lnTo>
                    <a:lnTo>
                      <a:pt x="1" y="122"/>
                    </a:lnTo>
                    <a:lnTo>
                      <a:pt x="1" y="121"/>
                    </a:lnTo>
                    <a:lnTo>
                      <a:pt x="0" y="121"/>
                    </a:lnTo>
                    <a:lnTo>
                      <a:pt x="0" y="120"/>
                    </a:lnTo>
                    <a:lnTo>
                      <a:pt x="0" y="119"/>
                    </a:lnTo>
                    <a:lnTo>
                      <a:pt x="0" y="117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</a:path>
                </a:pathLst>
              </a:custGeom>
              <a:gradFill rotWithShape="0">
                <a:gsLst>
                  <a:gs pos="0">
                    <a:srgbClr val="1D2B4B"/>
                  </a:gs>
                  <a:gs pos="50000">
                    <a:srgbClr val="618FFD"/>
                  </a:gs>
                  <a:gs pos="100000">
                    <a:srgbClr val="1D2B4B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4" name="Freeform 158"/>
              <p:cNvSpPr>
                <a:spLocks/>
              </p:cNvSpPr>
              <p:nvPr/>
            </p:nvSpPr>
            <p:spPr bwMode="auto">
              <a:xfrm>
                <a:off x="3872" y="1298"/>
                <a:ext cx="153" cy="17"/>
              </a:xfrm>
              <a:custGeom>
                <a:avLst/>
                <a:gdLst>
                  <a:gd name="T0" fmla="*/ 152 w 153"/>
                  <a:gd name="T1" fmla="*/ 4 h 17"/>
                  <a:gd name="T2" fmla="*/ 151 w 153"/>
                  <a:gd name="T3" fmla="*/ 3 h 17"/>
                  <a:gd name="T4" fmla="*/ 151 w 153"/>
                  <a:gd name="T5" fmla="*/ 2 h 17"/>
                  <a:gd name="T6" fmla="*/ 150 w 153"/>
                  <a:gd name="T7" fmla="*/ 2 h 17"/>
                  <a:gd name="T8" fmla="*/ 150 w 153"/>
                  <a:gd name="T9" fmla="*/ 2 h 17"/>
                  <a:gd name="T10" fmla="*/ 150 w 153"/>
                  <a:gd name="T11" fmla="*/ 1 h 17"/>
                  <a:gd name="T12" fmla="*/ 149 w 153"/>
                  <a:gd name="T13" fmla="*/ 1 h 17"/>
                  <a:gd name="T14" fmla="*/ 149 w 153"/>
                  <a:gd name="T15" fmla="*/ 1 h 17"/>
                  <a:gd name="T16" fmla="*/ 148 w 153"/>
                  <a:gd name="T17" fmla="*/ 0 h 17"/>
                  <a:gd name="T18" fmla="*/ 148 w 153"/>
                  <a:gd name="T19" fmla="*/ 0 h 17"/>
                  <a:gd name="T20" fmla="*/ 147 w 153"/>
                  <a:gd name="T21" fmla="*/ 0 h 17"/>
                  <a:gd name="T22" fmla="*/ 146 w 153"/>
                  <a:gd name="T23" fmla="*/ 0 h 17"/>
                  <a:gd name="T24" fmla="*/ 3 w 153"/>
                  <a:gd name="T25" fmla="*/ 0 h 17"/>
                  <a:gd name="T26" fmla="*/ 3 w 153"/>
                  <a:gd name="T27" fmla="*/ 0 h 17"/>
                  <a:gd name="T28" fmla="*/ 2 w 153"/>
                  <a:gd name="T29" fmla="*/ 0 h 17"/>
                  <a:gd name="T30" fmla="*/ 1 w 153"/>
                  <a:gd name="T31" fmla="*/ 1 h 17"/>
                  <a:gd name="T32" fmla="*/ 1 w 153"/>
                  <a:gd name="T33" fmla="*/ 1 h 17"/>
                  <a:gd name="T34" fmla="*/ 0 w 153"/>
                  <a:gd name="T35" fmla="*/ 2 h 17"/>
                  <a:gd name="T36" fmla="*/ 0 w 153"/>
                  <a:gd name="T37" fmla="*/ 2 h 17"/>
                  <a:gd name="T38" fmla="*/ 0 w 153"/>
                  <a:gd name="T39" fmla="*/ 3 h 17"/>
                  <a:gd name="T40" fmla="*/ 6 w 153"/>
                  <a:gd name="T41" fmla="*/ 16 h 17"/>
                  <a:gd name="T42" fmla="*/ 7 w 153"/>
                  <a:gd name="T43" fmla="*/ 14 h 17"/>
                  <a:gd name="T44" fmla="*/ 7 w 153"/>
                  <a:gd name="T45" fmla="*/ 14 h 17"/>
                  <a:gd name="T46" fmla="*/ 8 w 153"/>
                  <a:gd name="T47" fmla="*/ 13 h 17"/>
                  <a:gd name="T48" fmla="*/ 8 w 153"/>
                  <a:gd name="T49" fmla="*/ 13 h 17"/>
                  <a:gd name="T50" fmla="*/ 8 w 153"/>
                  <a:gd name="T51" fmla="*/ 12 h 17"/>
                  <a:gd name="T52" fmla="*/ 9 w 153"/>
                  <a:gd name="T53" fmla="*/ 12 h 17"/>
                  <a:gd name="T54" fmla="*/ 10 w 153"/>
                  <a:gd name="T55" fmla="*/ 12 h 17"/>
                  <a:gd name="T56" fmla="*/ 140 w 153"/>
                  <a:gd name="T57" fmla="*/ 12 h 17"/>
                  <a:gd name="T58" fmla="*/ 141 w 153"/>
                  <a:gd name="T59" fmla="*/ 12 h 17"/>
                  <a:gd name="T60" fmla="*/ 142 w 153"/>
                  <a:gd name="T61" fmla="*/ 12 h 17"/>
                  <a:gd name="T62" fmla="*/ 142 w 153"/>
                  <a:gd name="T63" fmla="*/ 13 h 17"/>
                  <a:gd name="T64" fmla="*/ 143 w 153"/>
                  <a:gd name="T65" fmla="*/ 13 h 17"/>
                  <a:gd name="T66" fmla="*/ 143 w 153"/>
                  <a:gd name="T67" fmla="*/ 14 h 17"/>
                  <a:gd name="T68" fmla="*/ 143 w 153"/>
                  <a:gd name="T69" fmla="*/ 14 h 17"/>
                  <a:gd name="T70" fmla="*/ 144 w 153"/>
                  <a:gd name="T71" fmla="*/ 14 h 17"/>
                  <a:gd name="T72" fmla="*/ 152 w 153"/>
                  <a:gd name="T73" fmla="*/ 4 h 1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53"/>
                  <a:gd name="T112" fmla="*/ 0 h 17"/>
                  <a:gd name="T113" fmla="*/ 153 w 153"/>
                  <a:gd name="T114" fmla="*/ 17 h 1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53" h="17">
                    <a:moveTo>
                      <a:pt x="152" y="4"/>
                    </a:moveTo>
                    <a:lnTo>
                      <a:pt x="151" y="3"/>
                    </a:lnTo>
                    <a:lnTo>
                      <a:pt x="151" y="2"/>
                    </a:lnTo>
                    <a:lnTo>
                      <a:pt x="150" y="2"/>
                    </a:lnTo>
                    <a:lnTo>
                      <a:pt x="150" y="1"/>
                    </a:lnTo>
                    <a:lnTo>
                      <a:pt x="149" y="1"/>
                    </a:lnTo>
                    <a:lnTo>
                      <a:pt x="148" y="0"/>
                    </a:lnTo>
                    <a:lnTo>
                      <a:pt x="147" y="0"/>
                    </a:lnTo>
                    <a:lnTo>
                      <a:pt x="146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6" y="16"/>
                    </a:lnTo>
                    <a:lnTo>
                      <a:pt x="7" y="14"/>
                    </a:lnTo>
                    <a:lnTo>
                      <a:pt x="8" y="13"/>
                    </a:lnTo>
                    <a:lnTo>
                      <a:pt x="8" y="12"/>
                    </a:lnTo>
                    <a:lnTo>
                      <a:pt x="9" y="12"/>
                    </a:lnTo>
                    <a:lnTo>
                      <a:pt x="10" y="12"/>
                    </a:lnTo>
                    <a:lnTo>
                      <a:pt x="140" y="12"/>
                    </a:lnTo>
                    <a:lnTo>
                      <a:pt x="141" y="12"/>
                    </a:lnTo>
                    <a:lnTo>
                      <a:pt x="142" y="12"/>
                    </a:lnTo>
                    <a:lnTo>
                      <a:pt x="142" y="13"/>
                    </a:lnTo>
                    <a:lnTo>
                      <a:pt x="143" y="13"/>
                    </a:lnTo>
                    <a:lnTo>
                      <a:pt x="143" y="14"/>
                    </a:lnTo>
                    <a:lnTo>
                      <a:pt x="144" y="14"/>
                    </a:lnTo>
                    <a:lnTo>
                      <a:pt x="152" y="4"/>
                    </a:lnTo>
                  </a:path>
                </a:pathLst>
              </a:custGeom>
              <a:solidFill>
                <a:srgbClr val="9F9FA2"/>
              </a:solidFill>
              <a:ln w="12700">
                <a:solidFill>
                  <a:srgbClr val="9F9FA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5" name="Freeform 159"/>
              <p:cNvSpPr>
                <a:spLocks/>
              </p:cNvSpPr>
              <p:nvPr/>
            </p:nvSpPr>
            <p:spPr bwMode="auto">
              <a:xfrm>
                <a:off x="3870" y="1299"/>
                <a:ext cx="17" cy="135"/>
              </a:xfrm>
              <a:custGeom>
                <a:avLst/>
                <a:gdLst>
                  <a:gd name="T0" fmla="*/ 2 w 17"/>
                  <a:gd name="T1" fmla="*/ 0 h 135"/>
                  <a:gd name="T2" fmla="*/ 1 w 17"/>
                  <a:gd name="T3" fmla="*/ 0 h 135"/>
                  <a:gd name="T4" fmla="*/ 0 w 17"/>
                  <a:gd name="T5" fmla="*/ 1 h 135"/>
                  <a:gd name="T6" fmla="*/ 0 w 17"/>
                  <a:gd name="T7" fmla="*/ 2 h 135"/>
                  <a:gd name="T8" fmla="*/ 0 w 17"/>
                  <a:gd name="T9" fmla="*/ 2 h 135"/>
                  <a:gd name="T10" fmla="*/ 0 w 17"/>
                  <a:gd name="T11" fmla="*/ 3 h 135"/>
                  <a:gd name="T12" fmla="*/ 0 w 17"/>
                  <a:gd name="T13" fmla="*/ 4 h 135"/>
                  <a:gd name="T14" fmla="*/ 0 w 17"/>
                  <a:gd name="T15" fmla="*/ 130 h 135"/>
                  <a:gd name="T16" fmla="*/ 0 w 17"/>
                  <a:gd name="T17" fmla="*/ 130 h 135"/>
                  <a:gd name="T18" fmla="*/ 0 w 17"/>
                  <a:gd name="T19" fmla="*/ 131 h 135"/>
                  <a:gd name="T20" fmla="*/ 0 w 17"/>
                  <a:gd name="T21" fmla="*/ 132 h 135"/>
                  <a:gd name="T22" fmla="*/ 0 w 17"/>
                  <a:gd name="T23" fmla="*/ 132 h 135"/>
                  <a:gd name="T24" fmla="*/ 1 w 17"/>
                  <a:gd name="T25" fmla="*/ 133 h 135"/>
                  <a:gd name="T26" fmla="*/ 2 w 17"/>
                  <a:gd name="T27" fmla="*/ 133 h 135"/>
                  <a:gd name="T28" fmla="*/ 2 w 17"/>
                  <a:gd name="T29" fmla="*/ 134 h 135"/>
                  <a:gd name="T30" fmla="*/ 3 w 17"/>
                  <a:gd name="T31" fmla="*/ 134 h 135"/>
                  <a:gd name="T32" fmla="*/ 16 w 17"/>
                  <a:gd name="T33" fmla="*/ 127 h 135"/>
                  <a:gd name="T34" fmla="*/ 15 w 17"/>
                  <a:gd name="T35" fmla="*/ 126 h 135"/>
                  <a:gd name="T36" fmla="*/ 15 w 17"/>
                  <a:gd name="T37" fmla="*/ 126 h 135"/>
                  <a:gd name="T38" fmla="*/ 14 w 17"/>
                  <a:gd name="T39" fmla="*/ 126 h 135"/>
                  <a:gd name="T40" fmla="*/ 14 w 17"/>
                  <a:gd name="T41" fmla="*/ 125 h 135"/>
                  <a:gd name="T42" fmla="*/ 13 w 17"/>
                  <a:gd name="T43" fmla="*/ 124 h 135"/>
                  <a:gd name="T44" fmla="*/ 13 w 17"/>
                  <a:gd name="T45" fmla="*/ 124 h 135"/>
                  <a:gd name="T46" fmla="*/ 13 w 17"/>
                  <a:gd name="T47" fmla="*/ 10 h 135"/>
                  <a:gd name="T48" fmla="*/ 13 w 17"/>
                  <a:gd name="T49" fmla="*/ 9 h 135"/>
                  <a:gd name="T50" fmla="*/ 13 w 17"/>
                  <a:gd name="T51" fmla="*/ 8 h 135"/>
                  <a:gd name="T52" fmla="*/ 14 w 17"/>
                  <a:gd name="T53" fmla="*/ 8 h 135"/>
                  <a:gd name="T54" fmla="*/ 15 w 17"/>
                  <a:gd name="T55" fmla="*/ 7 h 135"/>
                  <a:gd name="T56" fmla="*/ 15 w 17"/>
                  <a:gd name="T57" fmla="*/ 6 h 135"/>
                  <a:gd name="T58" fmla="*/ 2 w 17"/>
                  <a:gd name="T59" fmla="*/ 0 h 135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7"/>
                  <a:gd name="T91" fmla="*/ 0 h 135"/>
                  <a:gd name="T92" fmla="*/ 17 w 17"/>
                  <a:gd name="T93" fmla="*/ 135 h 135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7" h="135">
                    <a:moveTo>
                      <a:pt x="2" y="0"/>
                    </a:moveTo>
                    <a:lnTo>
                      <a:pt x="1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0" y="130"/>
                    </a:lnTo>
                    <a:lnTo>
                      <a:pt x="0" y="131"/>
                    </a:lnTo>
                    <a:lnTo>
                      <a:pt x="0" y="132"/>
                    </a:lnTo>
                    <a:lnTo>
                      <a:pt x="1" y="133"/>
                    </a:lnTo>
                    <a:lnTo>
                      <a:pt x="2" y="133"/>
                    </a:lnTo>
                    <a:lnTo>
                      <a:pt x="2" y="134"/>
                    </a:lnTo>
                    <a:lnTo>
                      <a:pt x="3" y="134"/>
                    </a:lnTo>
                    <a:lnTo>
                      <a:pt x="16" y="127"/>
                    </a:lnTo>
                    <a:lnTo>
                      <a:pt x="15" y="126"/>
                    </a:lnTo>
                    <a:lnTo>
                      <a:pt x="14" y="126"/>
                    </a:lnTo>
                    <a:lnTo>
                      <a:pt x="14" y="125"/>
                    </a:lnTo>
                    <a:lnTo>
                      <a:pt x="13" y="124"/>
                    </a:lnTo>
                    <a:lnTo>
                      <a:pt x="13" y="10"/>
                    </a:lnTo>
                    <a:lnTo>
                      <a:pt x="13" y="9"/>
                    </a:lnTo>
                    <a:lnTo>
                      <a:pt x="13" y="8"/>
                    </a:lnTo>
                    <a:lnTo>
                      <a:pt x="14" y="8"/>
                    </a:lnTo>
                    <a:lnTo>
                      <a:pt x="15" y="7"/>
                    </a:lnTo>
                    <a:lnTo>
                      <a:pt x="15" y="6"/>
                    </a:lnTo>
                    <a:lnTo>
                      <a:pt x="2" y="0"/>
                    </a:lnTo>
                  </a:path>
                </a:pathLst>
              </a:custGeom>
              <a:solidFill>
                <a:srgbClr val="666666"/>
              </a:solidFill>
              <a:ln w="12700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6" name="Freeform 160"/>
              <p:cNvSpPr>
                <a:spLocks/>
              </p:cNvSpPr>
              <p:nvPr/>
            </p:nvSpPr>
            <p:spPr bwMode="auto">
              <a:xfrm>
                <a:off x="3872" y="1300"/>
                <a:ext cx="155" cy="136"/>
              </a:xfrm>
              <a:custGeom>
                <a:avLst/>
                <a:gdLst>
                  <a:gd name="T0" fmla="*/ 0 w 155"/>
                  <a:gd name="T1" fmla="*/ 133 h 136"/>
                  <a:gd name="T2" fmla="*/ 0 w 155"/>
                  <a:gd name="T3" fmla="*/ 134 h 136"/>
                  <a:gd name="T4" fmla="*/ 0 w 155"/>
                  <a:gd name="T5" fmla="*/ 134 h 136"/>
                  <a:gd name="T6" fmla="*/ 1 w 155"/>
                  <a:gd name="T7" fmla="*/ 134 h 136"/>
                  <a:gd name="T8" fmla="*/ 1 w 155"/>
                  <a:gd name="T9" fmla="*/ 134 h 136"/>
                  <a:gd name="T10" fmla="*/ 2 w 155"/>
                  <a:gd name="T11" fmla="*/ 135 h 136"/>
                  <a:gd name="T12" fmla="*/ 2 w 155"/>
                  <a:gd name="T13" fmla="*/ 135 h 136"/>
                  <a:gd name="T14" fmla="*/ 3 w 155"/>
                  <a:gd name="T15" fmla="*/ 135 h 136"/>
                  <a:gd name="T16" fmla="*/ 148 w 155"/>
                  <a:gd name="T17" fmla="*/ 135 h 136"/>
                  <a:gd name="T18" fmla="*/ 150 w 155"/>
                  <a:gd name="T19" fmla="*/ 134 h 136"/>
                  <a:gd name="T20" fmla="*/ 151 w 155"/>
                  <a:gd name="T21" fmla="*/ 134 h 136"/>
                  <a:gd name="T22" fmla="*/ 151 w 155"/>
                  <a:gd name="T23" fmla="*/ 133 h 136"/>
                  <a:gd name="T24" fmla="*/ 152 w 155"/>
                  <a:gd name="T25" fmla="*/ 133 h 136"/>
                  <a:gd name="T26" fmla="*/ 152 w 155"/>
                  <a:gd name="T27" fmla="*/ 133 h 136"/>
                  <a:gd name="T28" fmla="*/ 153 w 155"/>
                  <a:gd name="T29" fmla="*/ 132 h 136"/>
                  <a:gd name="T30" fmla="*/ 153 w 155"/>
                  <a:gd name="T31" fmla="*/ 131 h 136"/>
                  <a:gd name="T32" fmla="*/ 154 w 155"/>
                  <a:gd name="T33" fmla="*/ 131 h 136"/>
                  <a:gd name="T34" fmla="*/ 154 w 155"/>
                  <a:gd name="T35" fmla="*/ 129 h 136"/>
                  <a:gd name="T36" fmla="*/ 154 w 155"/>
                  <a:gd name="T37" fmla="*/ 129 h 136"/>
                  <a:gd name="T38" fmla="*/ 154 w 155"/>
                  <a:gd name="T39" fmla="*/ 3 h 136"/>
                  <a:gd name="T40" fmla="*/ 154 w 155"/>
                  <a:gd name="T41" fmla="*/ 2 h 136"/>
                  <a:gd name="T42" fmla="*/ 154 w 155"/>
                  <a:gd name="T43" fmla="*/ 1 h 136"/>
                  <a:gd name="T44" fmla="*/ 154 w 155"/>
                  <a:gd name="T45" fmla="*/ 1 h 136"/>
                  <a:gd name="T46" fmla="*/ 153 w 155"/>
                  <a:gd name="T47" fmla="*/ 1 h 136"/>
                  <a:gd name="T48" fmla="*/ 153 w 155"/>
                  <a:gd name="T49" fmla="*/ 0 h 136"/>
                  <a:gd name="T50" fmla="*/ 153 w 155"/>
                  <a:gd name="T51" fmla="*/ 0 h 136"/>
                  <a:gd name="T52" fmla="*/ 145 w 155"/>
                  <a:gd name="T53" fmla="*/ 5 h 136"/>
                  <a:gd name="T54" fmla="*/ 145 w 155"/>
                  <a:gd name="T55" fmla="*/ 5 h 136"/>
                  <a:gd name="T56" fmla="*/ 146 w 155"/>
                  <a:gd name="T57" fmla="*/ 6 h 136"/>
                  <a:gd name="T58" fmla="*/ 146 w 155"/>
                  <a:gd name="T59" fmla="*/ 7 h 136"/>
                  <a:gd name="T60" fmla="*/ 146 w 155"/>
                  <a:gd name="T61" fmla="*/ 7 h 136"/>
                  <a:gd name="T62" fmla="*/ 146 w 155"/>
                  <a:gd name="T63" fmla="*/ 7 h 136"/>
                  <a:gd name="T64" fmla="*/ 146 w 155"/>
                  <a:gd name="T65" fmla="*/ 8 h 136"/>
                  <a:gd name="T66" fmla="*/ 146 w 155"/>
                  <a:gd name="T67" fmla="*/ 9 h 136"/>
                  <a:gd name="T68" fmla="*/ 146 w 155"/>
                  <a:gd name="T69" fmla="*/ 9 h 136"/>
                  <a:gd name="T70" fmla="*/ 146 w 155"/>
                  <a:gd name="T71" fmla="*/ 123 h 136"/>
                  <a:gd name="T72" fmla="*/ 146 w 155"/>
                  <a:gd name="T73" fmla="*/ 123 h 136"/>
                  <a:gd name="T74" fmla="*/ 146 w 155"/>
                  <a:gd name="T75" fmla="*/ 124 h 136"/>
                  <a:gd name="T76" fmla="*/ 146 w 155"/>
                  <a:gd name="T77" fmla="*/ 125 h 136"/>
                  <a:gd name="T78" fmla="*/ 146 w 155"/>
                  <a:gd name="T79" fmla="*/ 125 h 136"/>
                  <a:gd name="T80" fmla="*/ 145 w 155"/>
                  <a:gd name="T81" fmla="*/ 126 h 136"/>
                  <a:gd name="T82" fmla="*/ 145 w 155"/>
                  <a:gd name="T83" fmla="*/ 127 h 136"/>
                  <a:gd name="T84" fmla="*/ 144 w 155"/>
                  <a:gd name="T85" fmla="*/ 127 h 136"/>
                  <a:gd name="T86" fmla="*/ 143 w 155"/>
                  <a:gd name="T87" fmla="*/ 127 h 136"/>
                  <a:gd name="T88" fmla="*/ 143 w 155"/>
                  <a:gd name="T89" fmla="*/ 128 h 136"/>
                  <a:gd name="T90" fmla="*/ 142 w 155"/>
                  <a:gd name="T91" fmla="*/ 128 h 136"/>
                  <a:gd name="T92" fmla="*/ 142 w 155"/>
                  <a:gd name="T93" fmla="*/ 128 h 136"/>
                  <a:gd name="T94" fmla="*/ 9 w 155"/>
                  <a:gd name="T95" fmla="*/ 128 h 136"/>
                  <a:gd name="T96" fmla="*/ 8 w 155"/>
                  <a:gd name="T97" fmla="*/ 128 h 136"/>
                  <a:gd name="T98" fmla="*/ 8 w 155"/>
                  <a:gd name="T99" fmla="*/ 128 h 136"/>
                  <a:gd name="T100" fmla="*/ 8 w 155"/>
                  <a:gd name="T101" fmla="*/ 127 h 136"/>
                  <a:gd name="T102" fmla="*/ 7 w 155"/>
                  <a:gd name="T103" fmla="*/ 127 h 136"/>
                  <a:gd name="T104" fmla="*/ 7 w 155"/>
                  <a:gd name="T105" fmla="*/ 127 h 136"/>
                  <a:gd name="T106" fmla="*/ 6 w 155"/>
                  <a:gd name="T107" fmla="*/ 127 h 136"/>
                  <a:gd name="T108" fmla="*/ 6 w 155"/>
                  <a:gd name="T109" fmla="*/ 127 h 136"/>
                  <a:gd name="T110" fmla="*/ 0 w 155"/>
                  <a:gd name="T111" fmla="*/ 133 h 1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155"/>
                  <a:gd name="T169" fmla="*/ 0 h 136"/>
                  <a:gd name="T170" fmla="*/ 155 w 155"/>
                  <a:gd name="T171" fmla="*/ 136 h 1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155" h="136">
                    <a:moveTo>
                      <a:pt x="0" y="133"/>
                    </a:moveTo>
                    <a:lnTo>
                      <a:pt x="0" y="134"/>
                    </a:lnTo>
                    <a:lnTo>
                      <a:pt x="1" y="134"/>
                    </a:lnTo>
                    <a:lnTo>
                      <a:pt x="2" y="135"/>
                    </a:lnTo>
                    <a:lnTo>
                      <a:pt x="3" y="135"/>
                    </a:lnTo>
                    <a:lnTo>
                      <a:pt x="148" y="135"/>
                    </a:lnTo>
                    <a:lnTo>
                      <a:pt x="150" y="134"/>
                    </a:lnTo>
                    <a:lnTo>
                      <a:pt x="151" y="134"/>
                    </a:lnTo>
                    <a:lnTo>
                      <a:pt x="151" y="133"/>
                    </a:lnTo>
                    <a:lnTo>
                      <a:pt x="152" y="133"/>
                    </a:lnTo>
                    <a:lnTo>
                      <a:pt x="153" y="132"/>
                    </a:lnTo>
                    <a:lnTo>
                      <a:pt x="153" y="131"/>
                    </a:lnTo>
                    <a:lnTo>
                      <a:pt x="154" y="131"/>
                    </a:lnTo>
                    <a:lnTo>
                      <a:pt x="154" y="129"/>
                    </a:lnTo>
                    <a:lnTo>
                      <a:pt x="154" y="3"/>
                    </a:lnTo>
                    <a:lnTo>
                      <a:pt x="154" y="2"/>
                    </a:lnTo>
                    <a:lnTo>
                      <a:pt x="154" y="1"/>
                    </a:lnTo>
                    <a:lnTo>
                      <a:pt x="153" y="1"/>
                    </a:lnTo>
                    <a:lnTo>
                      <a:pt x="153" y="0"/>
                    </a:lnTo>
                    <a:lnTo>
                      <a:pt x="145" y="5"/>
                    </a:lnTo>
                    <a:lnTo>
                      <a:pt x="146" y="6"/>
                    </a:lnTo>
                    <a:lnTo>
                      <a:pt x="146" y="7"/>
                    </a:lnTo>
                    <a:lnTo>
                      <a:pt x="146" y="8"/>
                    </a:lnTo>
                    <a:lnTo>
                      <a:pt x="146" y="9"/>
                    </a:lnTo>
                    <a:lnTo>
                      <a:pt x="146" y="123"/>
                    </a:lnTo>
                    <a:lnTo>
                      <a:pt x="146" y="124"/>
                    </a:lnTo>
                    <a:lnTo>
                      <a:pt x="146" y="125"/>
                    </a:lnTo>
                    <a:lnTo>
                      <a:pt x="145" y="126"/>
                    </a:lnTo>
                    <a:lnTo>
                      <a:pt x="145" y="127"/>
                    </a:lnTo>
                    <a:lnTo>
                      <a:pt x="144" y="127"/>
                    </a:lnTo>
                    <a:lnTo>
                      <a:pt x="143" y="127"/>
                    </a:lnTo>
                    <a:lnTo>
                      <a:pt x="143" y="128"/>
                    </a:lnTo>
                    <a:lnTo>
                      <a:pt x="142" y="128"/>
                    </a:lnTo>
                    <a:lnTo>
                      <a:pt x="9" y="128"/>
                    </a:lnTo>
                    <a:lnTo>
                      <a:pt x="8" y="128"/>
                    </a:lnTo>
                    <a:lnTo>
                      <a:pt x="8" y="127"/>
                    </a:lnTo>
                    <a:lnTo>
                      <a:pt x="7" y="127"/>
                    </a:lnTo>
                    <a:lnTo>
                      <a:pt x="6" y="127"/>
                    </a:lnTo>
                    <a:lnTo>
                      <a:pt x="0" y="133"/>
                    </a:lnTo>
                  </a:path>
                </a:pathLst>
              </a:custGeom>
              <a:solidFill>
                <a:srgbClr val="999999"/>
              </a:solidFill>
              <a:ln w="12700">
                <a:solidFill>
                  <a:srgbClr val="9999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7" name="Freeform 161"/>
              <p:cNvSpPr>
                <a:spLocks/>
              </p:cNvSpPr>
              <p:nvPr/>
            </p:nvSpPr>
            <p:spPr bwMode="auto">
              <a:xfrm>
                <a:off x="3872" y="1298"/>
                <a:ext cx="153" cy="17"/>
              </a:xfrm>
              <a:custGeom>
                <a:avLst/>
                <a:gdLst>
                  <a:gd name="T0" fmla="*/ 152 w 153"/>
                  <a:gd name="T1" fmla="*/ 16 h 17"/>
                  <a:gd name="T2" fmla="*/ 151 w 153"/>
                  <a:gd name="T3" fmla="*/ 16 h 17"/>
                  <a:gd name="T4" fmla="*/ 151 w 153"/>
                  <a:gd name="T5" fmla="*/ 10 h 17"/>
                  <a:gd name="T6" fmla="*/ 150 w 153"/>
                  <a:gd name="T7" fmla="*/ 10 h 17"/>
                  <a:gd name="T8" fmla="*/ 150 w 153"/>
                  <a:gd name="T9" fmla="*/ 10 h 17"/>
                  <a:gd name="T10" fmla="*/ 150 w 153"/>
                  <a:gd name="T11" fmla="*/ 5 h 17"/>
                  <a:gd name="T12" fmla="*/ 149 w 153"/>
                  <a:gd name="T13" fmla="*/ 5 h 17"/>
                  <a:gd name="T14" fmla="*/ 149 w 153"/>
                  <a:gd name="T15" fmla="*/ 5 h 17"/>
                  <a:gd name="T16" fmla="*/ 148 w 153"/>
                  <a:gd name="T17" fmla="*/ 0 h 17"/>
                  <a:gd name="T18" fmla="*/ 148 w 153"/>
                  <a:gd name="T19" fmla="*/ 0 h 17"/>
                  <a:gd name="T20" fmla="*/ 147 w 153"/>
                  <a:gd name="T21" fmla="*/ 0 h 17"/>
                  <a:gd name="T22" fmla="*/ 146 w 153"/>
                  <a:gd name="T23" fmla="*/ 0 h 17"/>
                  <a:gd name="T24" fmla="*/ 3 w 153"/>
                  <a:gd name="T25" fmla="*/ 0 h 17"/>
                  <a:gd name="T26" fmla="*/ 3 w 153"/>
                  <a:gd name="T27" fmla="*/ 0 h 17"/>
                  <a:gd name="T28" fmla="*/ 2 w 153"/>
                  <a:gd name="T29" fmla="*/ 0 h 17"/>
                  <a:gd name="T30" fmla="*/ 1 w 153"/>
                  <a:gd name="T31" fmla="*/ 5 h 17"/>
                  <a:gd name="T32" fmla="*/ 1 w 153"/>
                  <a:gd name="T33" fmla="*/ 5 h 17"/>
                  <a:gd name="T34" fmla="*/ 0 w 153"/>
                  <a:gd name="T35" fmla="*/ 10 h 17"/>
                  <a:gd name="T36" fmla="*/ 0 w 153"/>
                  <a:gd name="T37" fmla="*/ 10 h 17"/>
                  <a:gd name="T38" fmla="*/ 0 w 153"/>
                  <a:gd name="T39" fmla="*/ 16 h 1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53"/>
                  <a:gd name="T61" fmla="*/ 0 h 17"/>
                  <a:gd name="T62" fmla="*/ 153 w 153"/>
                  <a:gd name="T63" fmla="*/ 17 h 1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53" h="17">
                    <a:moveTo>
                      <a:pt x="152" y="16"/>
                    </a:moveTo>
                    <a:lnTo>
                      <a:pt x="151" y="16"/>
                    </a:lnTo>
                    <a:lnTo>
                      <a:pt x="151" y="10"/>
                    </a:lnTo>
                    <a:lnTo>
                      <a:pt x="150" y="10"/>
                    </a:lnTo>
                    <a:lnTo>
                      <a:pt x="150" y="5"/>
                    </a:lnTo>
                    <a:lnTo>
                      <a:pt x="149" y="5"/>
                    </a:lnTo>
                    <a:lnTo>
                      <a:pt x="148" y="0"/>
                    </a:lnTo>
                    <a:lnTo>
                      <a:pt x="147" y="0"/>
                    </a:lnTo>
                    <a:lnTo>
                      <a:pt x="146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5"/>
                    </a:lnTo>
                    <a:lnTo>
                      <a:pt x="0" y="10"/>
                    </a:lnTo>
                    <a:lnTo>
                      <a:pt x="0" y="16"/>
                    </a:lnTo>
                  </a:path>
                </a:pathLst>
              </a:custGeom>
              <a:noFill/>
              <a:ln w="12700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8" name="Freeform 162"/>
              <p:cNvSpPr>
                <a:spLocks/>
              </p:cNvSpPr>
              <p:nvPr/>
            </p:nvSpPr>
            <p:spPr bwMode="auto">
              <a:xfrm>
                <a:off x="3843" y="1489"/>
                <a:ext cx="215" cy="72"/>
              </a:xfrm>
              <a:custGeom>
                <a:avLst/>
                <a:gdLst>
                  <a:gd name="T0" fmla="*/ 0 w 215"/>
                  <a:gd name="T1" fmla="*/ 71 h 72"/>
                  <a:gd name="T2" fmla="*/ 0 w 215"/>
                  <a:gd name="T3" fmla="*/ 0 h 72"/>
                  <a:gd name="T4" fmla="*/ 214 w 215"/>
                  <a:gd name="T5" fmla="*/ 0 h 72"/>
                  <a:gd name="T6" fmla="*/ 214 w 215"/>
                  <a:gd name="T7" fmla="*/ 71 h 72"/>
                  <a:gd name="T8" fmla="*/ 0 w 215"/>
                  <a:gd name="T9" fmla="*/ 71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5"/>
                  <a:gd name="T16" fmla="*/ 0 h 72"/>
                  <a:gd name="T17" fmla="*/ 215 w 215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5" h="72">
                    <a:moveTo>
                      <a:pt x="0" y="71"/>
                    </a:moveTo>
                    <a:lnTo>
                      <a:pt x="0" y="0"/>
                    </a:lnTo>
                    <a:lnTo>
                      <a:pt x="214" y="0"/>
                    </a:lnTo>
                    <a:lnTo>
                      <a:pt x="214" y="71"/>
                    </a:lnTo>
                    <a:lnTo>
                      <a:pt x="0" y="71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9" name="Freeform 163"/>
              <p:cNvSpPr>
                <a:spLocks/>
              </p:cNvSpPr>
              <p:nvPr/>
            </p:nvSpPr>
            <p:spPr bwMode="auto">
              <a:xfrm>
                <a:off x="3841" y="1489"/>
                <a:ext cx="219" cy="23"/>
              </a:xfrm>
              <a:custGeom>
                <a:avLst/>
                <a:gdLst>
                  <a:gd name="T0" fmla="*/ 79 w 219"/>
                  <a:gd name="T1" fmla="*/ 0 h 23"/>
                  <a:gd name="T2" fmla="*/ 0 w 219"/>
                  <a:gd name="T3" fmla="*/ 0 h 23"/>
                  <a:gd name="T4" fmla="*/ 0 w 219"/>
                  <a:gd name="T5" fmla="*/ 22 h 23"/>
                  <a:gd name="T6" fmla="*/ 218 w 219"/>
                  <a:gd name="T7" fmla="*/ 22 h 23"/>
                  <a:gd name="T8" fmla="*/ 215 w 219"/>
                  <a:gd name="T9" fmla="*/ 0 h 23"/>
                  <a:gd name="T10" fmla="*/ 137 w 219"/>
                  <a:gd name="T11" fmla="*/ 0 h 23"/>
                  <a:gd name="T12" fmla="*/ 79 w 219"/>
                  <a:gd name="T13" fmla="*/ 0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19"/>
                  <a:gd name="T22" fmla="*/ 0 h 23"/>
                  <a:gd name="T23" fmla="*/ 219 w 219"/>
                  <a:gd name="T24" fmla="*/ 23 h 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19" h="23">
                    <a:moveTo>
                      <a:pt x="79" y="0"/>
                    </a:moveTo>
                    <a:lnTo>
                      <a:pt x="0" y="0"/>
                    </a:lnTo>
                    <a:lnTo>
                      <a:pt x="0" y="22"/>
                    </a:lnTo>
                    <a:lnTo>
                      <a:pt x="218" y="22"/>
                    </a:lnTo>
                    <a:lnTo>
                      <a:pt x="215" y="0"/>
                    </a:lnTo>
                    <a:lnTo>
                      <a:pt x="137" y="0"/>
                    </a:lnTo>
                    <a:lnTo>
                      <a:pt x="79" y="0"/>
                    </a:lnTo>
                  </a:path>
                </a:pathLst>
              </a:custGeom>
              <a:solidFill>
                <a:srgbClr val="EFEFD1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0" name="Freeform 164"/>
              <p:cNvSpPr>
                <a:spLocks/>
              </p:cNvSpPr>
              <p:nvPr/>
            </p:nvSpPr>
            <p:spPr bwMode="auto">
              <a:xfrm>
                <a:off x="3991" y="1495"/>
                <a:ext cx="56" cy="17"/>
              </a:xfrm>
              <a:custGeom>
                <a:avLst/>
                <a:gdLst>
                  <a:gd name="T0" fmla="*/ 0 w 56"/>
                  <a:gd name="T1" fmla="*/ 6 h 17"/>
                  <a:gd name="T2" fmla="*/ 18 w 56"/>
                  <a:gd name="T3" fmla="*/ 6 h 17"/>
                  <a:gd name="T4" fmla="*/ 18 w 56"/>
                  <a:gd name="T5" fmla="*/ 0 h 17"/>
                  <a:gd name="T6" fmla="*/ 35 w 56"/>
                  <a:gd name="T7" fmla="*/ 0 h 17"/>
                  <a:gd name="T8" fmla="*/ 35 w 56"/>
                  <a:gd name="T9" fmla="*/ 6 h 17"/>
                  <a:gd name="T10" fmla="*/ 55 w 56"/>
                  <a:gd name="T11" fmla="*/ 6 h 17"/>
                  <a:gd name="T12" fmla="*/ 55 w 56"/>
                  <a:gd name="T13" fmla="*/ 10 h 17"/>
                  <a:gd name="T14" fmla="*/ 35 w 56"/>
                  <a:gd name="T15" fmla="*/ 10 h 17"/>
                  <a:gd name="T16" fmla="*/ 35 w 56"/>
                  <a:gd name="T17" fmla="*/ 16 h 17"/>
                  <a:gd name="T18" fmla="*/ 18 w 56"/>
                  <a:gd name="T19" fmla="*/ 16 h 17"/>
                  <a:gd name="T20" fmla="*/ 18 w 56"/>
                  <a:gd name="T21" fmla="*/ 10 h 17"/>
                  <a:gd name="T22" fmla="*/ 0 w 56"/>
                  <a:gd name="T23" fmla="*/ 10 h 17"/>
                  <a:gd name="T24" fmla="*/ 0 w 56"/>
                  <a:gd name="T25" fmla="*/ 6 h 1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6"/>
                  <a:gd name="T40" fmla="*/ 0 h 17"/>
                  <a:gd name="T41" fmla="*/ 56 w 56"/>
                  <a:gd name="T42" fmla="*/ 17 h 1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6" h="17">
                    <a:moveTo>
                      <a:pt x="0" y="6"/>
                    </a:moveTo>
                    <a:lnTo>
                      <a:pt x="18" y="6"/>
                    </a:lnTo>
                    <a:lnTo>
                      <a:pt x="18" y="0"/>
                    </a:lnTo>
                    <a:lnTo>
                      <a:pt x="35" y="0"/>
                    </a:lnTo>
                    <a:lnTo>
                      <a:pt x="35" y="6"/>
                    </a:lnTo>
                    <a:lnTo>
                      <a:pt x="55" y="6"/>
                    </a:lnTo>
                    <a:lnTo>
                      <a:pt x="55" y="10"/>
                    </a:lnTo>
                    <a:lnTo>
                      <a:pt x="35" y="10"/>
                    </a:lnTo>
                    <a:lnTo>
                      <a:pt x="35" y="16"/>
                    </a:lnTo>
                    <a:lnTo>
                      <a:pt x="18" y="16"/>
                    </a:lnTo>
                    <a:lnTo>
                      <a:pt x="18" y="10"/>
                    </a:lnTo>
                    <a:lnTo>
                      <a:pt x="0" y="10"/>
                    </a:lnTo>
                    <a:lnTo>
                      <a:pt x="0" y="6"/>
                    </a:lnTo>
                  </a:path>
                </a:pathLst>
              </a:custGeom>
              <a:solidFill>
                <a:srgbClr val="999999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1" name="Freeform 165"/>
              <p:cNvSpPr>
                <a:spLocks/>
              </p:cNvSpPr>
              <p:nvPr/>
            </p:nvSpPr>
            <p:spPr bwMode="auto">
              <a:xfrm>
                <a:off x="3991" y="1501"/>
                <a:ext cx="17" cy="17"/>
              </a:xfrm>
              <a:custGeom>
                <a:avLst/>
                <a:gdLst>
                  <a:gd name="T0" fmla="*/ 0 w 17"/>
                  <a:gd name="T1" fmla="*/ 16 h 17"/>
                  <a:gd name="T2" fmla="*/ 16 w 17"/>
                  <a:gd name="T3" fmla="*/ 10 h 17"/>
                  <a:gd name="T4" fmla="*/ 16 w 17"/>
                  <a:gd name="T5" fmla="*/ 5 h 17"/>
                  <a:gd name="T6" fmla="*/ 0 w 17"/>
                  <a:gd name="T7" fmla="*/ 0 h 1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17"/>
                  <a:gd name="T14" fmla="*/ 17 w 17"/>
                  <a:gd name="T15" fmla="*/ 17 h 1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17">
                    <a:moveTo>
                      <a:pt x="0" y="16"/>
                    </a:moveTo>
                    <a:lnTo>
                      <a:pt x="16" y="10"/>
                    </a:lnTo>
                    <a:lnTo>
                      <a:pt x="16" y="5"/>
                    </a:ln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EFEFD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2" name="Freeform 166"/>
              <p:cNvSpPr>
                <a:spLocks/>
              </p:cNvSpPr>
              <p:nvPr/>
            </p:nvSpPr>
            <p:spPr bwMode="auto">
              <a:xfrm>
                <a:off x="4010" y="1495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16 w 17"/>
                  <a:gd name="T3" fmla="*/ 16 h 17"/>
                  <a:gd name="T4" fmla="*/ 0 w 17"/>
                  <a:gd name="T5" fmla="*/ 0 h 17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17"/>
                  <a:gd name="T11" fmla="*/ 17 w 17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17">
                    <a:moveTo>
                      <a:pt x="0" y="0"/>
                    </a:moveTo>
                    <a:lnTo>
                      <a:pt x="16" y="16"/>
                    </a:ln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EFE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3" name="Freeform 167"/>
              <p:cNvSpPr>
                <a:spLocks/>
              </p:cNvSpPr>
              <p:nvPr/>
            </p:nvSpPr>
            <p:spPr bwMode="auto">
              <a:xfrm>
                <a:off x="4046" y="1504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16 w 17"/>
                  <a:gd name="T3" fmla="*/ 16 h 17"/>
                  <a:gd name="T4" fmla="*/ 0 w 17"/>
                  <a:gd name="T5" fmla="*/ 0 h 17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17"/>
                  <a:gd name="T11" fmla="*/ 17 w 17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17">
                    <a:moveTo>
                      <a:pt x="0" y="0"/>
                    </a:moveTo>
                    <a:lnTo>
                      <a:pt x="16" y="16"/>
                    </a:ln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EFE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4" name="Freeform 168"/>
              <p:cNvSpPr>
                <a:spLocks/>
              </p:cNvSpPr>
              <p:nvPr/>
            </p:nvSpPr>
            <p:spPr bwMode="auto">
              <a:xfrm>
                <a:off x="4027" y="1495"/>
                <a:ext cx="17" cy="17"/>
              </a:xfrm>
              <a:custGeom>
                <a:avLst/>
                <a:gdLst>
                  <a:gd name="T0" fmla="*/ 0 w 17"/>
                  <a:gd name="T1" fmla="*/ 16 h 17"/>
                  <a:gd name="T2" fmla="*/ 16 w 17"/>
                  <a:gd name="T3" fmla="*/ 0 h 17"/>
                  <a:gd name="T4" fmla="*/ 0 w 17"/>
                  <a:gd name="T5" fmla="*/ 16 h 17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17"/>
                  <a:gd name="T11" fmla="*/ 17 w 17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17">
                    <a:moveTo>
                      <a:pt x="0" y="16"/>
                    </a:moveTo>
                    <a:lnTo>
                      <a:pt x="16" y="0"/>
                    </a:lnTo>
                    <a:lnTo>
                      <a:pt x="0" y="16"/>
                    </a:lnTo>
                  </a:path>
                </a:pathLst>
              </a:custGeom>
              <a:noFill/>
              <a:ln w="12700">
                <a:solidFill>
                  <a:srgbClr val="EFE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5" name="Freeform 169"/>
              <p:cNvSpPr>
                <a:spLocks/>
              </p:cNvSpPr>
              <p:nvPr/>
            </p:nvSpPr>
            <p:spPr bwMode="auto">
              <a:xfrm>
                <a:off x="4011" y="1499"/>
                <a:ext cx="17" cy="17"/>
              </a:xfrm>
              <a:custGeom>
                <a:avLst/>
                <a:gdLst>
                  <a:gd name="T0" fmla="*/ 0 w 17"/>
                  <a:gd name="T1" fmla="*/ 16 h 17"/>
                  <a:gd name="T2" fmla="*/ 16 w 17"/>
                  <a:gd name="T3" fmla="*/ 16 h 17"/>
                  <a:gd name="T4" fmla="*/ 16 w 17"/>
                  <a:gd name="T5" fmla="*/ 0 h 17"/>
                  <a:gd name="T6" fmla="*/ 0 w 17"/>
                  <a:gd name="T7" fmla="*/ 0 h 17"/>
                  <a:gd name="T8" fmla="*/ 0 w 17"/>
                  <a:gd name="T9" fmla="*/ 16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0" y="16"/>
                    </a:moveTo>
                    <a:lnTo>
                      <a:pt x="16" y="16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9F9FA2"/>
              </a:solidFill>
              <a:ln w="12700">
                <a:solidFill>
                  <a:srgbClr val="9F9FA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6" name="Freeform 170"/>
              <p:cNvSpPr>
                <a:spLocks/>
              </p:cNvSpPr>
              <p:nvPr/>
            </p:nvSpPr>
            <p:spPr bwMode="auto">
              <a:xfrm>
                <a:off x="3993" y="1502"/>
                <a:ext cx="54" cy="17"/>
              </a:xfrm>
              <a:custGeom>
                <a:avLst/>
                <a:gdLst>
                  <a:gd name="T0" fmla="*/ 0 w 54"/>
                  <a:gd name="T1" fmla="*/ 0 h 17"/>
                  <a:gd name="T2" fmla="*/ 53 w 54"/>
                  <a:gd name="T3" fmla="*/ 0 h 17"/>
                  <a:gd name="T4" fmla="*/ 53 w 54"/>
                  <a:gd name="T5" fmla="*/ 16 h 17"/>
                  <a:gd name="T6" fmla="*/ 0 w 54"/>
                  <a:gd name="T7" fmla="*/ 16 h 17"/>
                  <a:gd name="T8" fmla="*/ 0 w 54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"/>
                  <a:gd name="T16" fmla="*/ 0 h 17"/>
                  <a:gd name="T17" fmla="*/ 54 w 5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" h="17">
                    <a:moveTo>
                      <a:pt x="0" y="0"/>
                    </a:moveTo>
                    <a:lnTo>
                      <a:pt x="53" y="0"/>
                    </a:lnTo>
                    <a:lnTo>
                      <a:pt x="53" y="16"/>
                    </a:lnTo>
                    <a:lnTo>
                      <a:pt x="0" y="1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7" name="Freeform 171"/>
              <p:cNvSpPr>
                <a:spLocks/>
              </p:cNvSpPr>
              <p:nvPr/>
            </p:nvSpPr>
            <p:spPr bwMode="auto">
              <a:xfrm>
                <a:off x="4010" y="1496"/>
                <a:ext cx="19" cy="17"/>
              </a:xfrm>
              <a:custGeom>
                <a:avLst/>
                <a:gdLst>
                  <a:gd name="T0" fmla="*/ 18 w 19"/>
                  <a:gd name="T1" fmla="*/ 12 h 17"/>
                  <a:gd name="T2" fmla="*/ 17 w 19"/>
                  <a:gd name="T3" fmla="*/ 16 h 17"/>
                  <a:gd name="T4" fmla="*/ 17 w 19"/>
                  <a:gd name="T5" fmla="*/ 0 h 17"/>
                  <a:gd name="T6" fmla="*/ 0 w 19"/>
                  <a:gd name="T7" fmla="*/ 0 h 17"/>
                  <a:gd name="T8" fmla="*/ 0 w 19"/>
                  <a:gd name="T9" fmla="*/ 16 h 17"/>
                  <a:gd name="T10" fmla="*/ 0 w 19"/>
                  <a:gd name="T11" fmla="*/ 12 h 1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"/>
                  <a:gd name="T19" fmla="*/ 0 h 17"/>
                  <a:gd name="T20" fmla="*/ 19 w 19"/>
                  <a:gd name="T21" fmla="*/ 17 h 1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" h="17">
                    <a:moveTo>
                      <a:pt x="18" y="12"/>
                    </a:moveTo>
                    <a:lnTo>
                      <a:pt x="17" y="16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0" y="12"/>
                    </a:lnTo>
                  </a:path>
                </a:pathLst>
              </a:custGeom>
              <a:noFill/>
              <a:ln w="12700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8" name="Freeform 172"/>
              <p:cNvSpPr>
                <a:spLocks/>
              </p:cNvSpPr>
              <p:nvPr/>
            </p:nvSpPr>
            <p:spPr bwMode="auto">
              <a:xfrm>
                <a:off x="3945" y="1505"/>
                <a:ext cx="17" cy="17"/>
              </a:xfrm>
              <a:custGeom>
                <a:avLst/>
                <a:gdLst>
                  <a:gd name="T0" fmla="*/ 16 w 17"/>
                  <a:gd name="T1" fmla="*/ 0 h 17"/>
                  <a:gd name="T2" fmla="*/ 16 w 17"/>
                  <a:gd name="T3" fmla="*/ 16 h 17"/>
                  <a:gd name="T4" fmla="*/ 0 w 17"/>
                  <a:gd name="T5" fmla="*/ 16 h 17"/>
                  <a:gd name="T6" fmla="*/ 0 w 17"/>
                  <a:gd name="T7" fmla="*/ 0 h 17"/>
                  <a:gd name="T8" fmla="*/ 16 w 17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16" y="0"/>
                    </a:moveTo>
                    <a:lnTo>
                      <a:pt x="16" y="16"/>
                    </a:lnTo>
                    <a:lnTo>
                      <a:pt x="0" y="16"/>
                    </a:lnTo>
                    <a:lnTo>
                      <a:pt x="0" y="0"/>
                    </a:lnTo>
                    <a:lnTo>
                      <a:pt x="16" y="0"/>
                    </a:lnTo>
                  </a:path>
                </a:pathLst>
              </a:custGeom>
              <a:solidFill>
                <a:srgbClr val="999999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9" name="Freeform 173"/>
              <p:cNvSpPr>
                <a:spLocks/>
              </p:cNvSpPr>
              <p:nvPr/>
            </p:nvSpPr>
            <p:spPr bwMode="auto">
              <a:xfrm>
                <a:off x="3945" y="1505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16 w 17"/>
                  <a:gd name="T3" fmla="*/ 0 h 17"/>
                  <a:gd name="T4" fmla="*/ 16 w 17"/>
                  <a:gd name="T5" fmla="*/ 16 h 17"/>
                  <a:gd name="T6" fmla="*/ 0 w 17"/>
                  <a:gd name="T7" fmla="*/ 16 h 17"/>
                  <a:gd name="T8" fmla="*/ 0 w 17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0" y="0"/>
                    </a:moveTo>
                    <a:lnTo>
                      <a:pt x="16" y="0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0" name="Freeform 174"/>
              <p:cNvSpPr>
                <a:spLocks/>
              </p:cNvSpPr>
              <p:nvPr/>
            </p:nvSpPr>
            <p:spPr bwMode="auto">
              <a:xfrm>
                <a:off x="3930" y="1497"/>
                <a:ext cx="44" cy="17"/>
              </a:xfrm>
              <a:custGeom>
                <a:avLst/>
                <a:gdLst>
                  <a:gd name="T0" fmla="*/ 14 w 44"/>
                  <a:gd name="T1" fmla="*/ 16 h 17"/>
                  <a:gd name="T2" fmla="*/ 0 w 44"/>
                  <a:gd name="T3" fmla="*/ 16 h 17"/>
                  <a:gd name="T4" fmla="*/ 0 w 44"/>
                  <a:gd name="T5" fmla="*/ 8 h 17"/>
                  <a:gd name="T6" fmla="*/ 14 w 44"/>
                  <a:gd name="T7" fmla="*/ 8 h 17"/>
                  <a:gd name="T8" fmla="*/ 14 w 44"/>
                  <a:gd name="T9" fmla="*/ 0 h 17"/>
                  <a:gd name="T10" fmla="*/ 28 w 44"/>
                  <a:gd name="T11" fmla="*/ 0 h 17"/>
                  <a:gd name="T12" fmla="*/ 28 w 44"/>
                  <a:gd name="T13" fmla="*/ 8 h 17"/>
                  <a:gd name="T14" fmla="*/ 43 w 44"/>
                  <a:gd name="T15" fmla="*/ 8 h 17"/>
                  <a:gd name="T16" fmla="*/ 43 w 44"/>
                  <a:gd name="T17" fmla="*/ 16 h 17"/>
                  <a:gd name="T18" fmla="*/ 28 w 44"/>
                  <a:gd name="T19" fmla="*/ 16 h 17"/>
                  <a:gd name="T20" fmla="*/ 14 w 44"/>
                  <a:gd name="T21" fmla="*/ 16 h 1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4"/>
                  <a:gd name="T34" fmla="*/ 0 h 17"/>
                  <a:gd name="T35" fmla="*/ 44 w 44"/>
                  <a:gd name="T36" fmla="*/ 17 h 1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4" h="17">
                    <a:moveTo>
                      <a:pt x="14" y="16"/>
                    </a:moveTo>
                    <a:lnTo>
                      <a:pt x="0" y="16"/>
                    </a:lnTo>
                    <a:lnTo>
                      <a:pt x="0" y="8"/>
                    </a:lnTo>
                    <a:lnTo>
                      <a:pt x="14" y="8"/>
                    </a:lnTo>
                    <a:lnTo>
                      <a:pt x="14" y="0"/>
                    </a:lnTo>
                    <a:lnTo>
                      <a:pt x="28" y="0"/>
                    </a:lnTo>
                    <a:lnTo>
                      <a:pt x="28" y="8"/>
                    </a:lnTo>
                    <a:lnTo>
                      <a:pt x="43" y="8"/>
                    </a:lnTo>
                    <a:lnTo>
                      <a:pt x="43" y="16"/>
                    </a:lnTo>
                    <a:lnTo>
                      <a:pt x="28" y="16"/>
                    </a:lnTo>
                    <a:lnTo>
                      <a:pt x="14" y="16"/>
                    </a:lnTo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1" name="Freeform 175"/>
              <p:cNvSpPr>
                <a:spLocks/>
              </p:cNvSpPr>
              <p:nvPr/>
            </p:nvSpPr>
            <p:spPr bwMode="auto">
              <a:xfrm>
                <a:off x="3945" y="1497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16 w 17"/>
                  <a:gd name="T3" fmla="*/ 0 h 17"/>
                  <a:gd name="T4" fmla="*/ 16 w 17"/>
                  <a:gd name="T5" fmla="*/ 16 h 17"/>
                  <a:gd name="T6" fmla="*/ 0 w 17"/>
                  <a:gd name="T7" fmla="*/ 16 h 17"/>
                  <a:gd name="T8" fmla="*/ 0 w 17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0" y="0"/>
                    </a:moveTo>
                    <a:lnTo>
                      <a:pt x="16" y="0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999999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2" name="Freeform 176"/>
              <p:cNvSpPr>
                <a:spLocks/>
              </p:cNvSpPr>
              <p:nvPr/>
            </p:nvSpPr>
            <p:spPr bwMode="auto">
              <a:xfrm>
                <a:off x="3897" y="1494"/>
                <a:ext cx="20" cy="17"/>
              </a:xfrm>
              <a:custGeom>
                <a:avLst/>
                <a:gdLst>
                  <a:gd name="T0" fmla="*/ 5 w 20"/>
                  <a:gd name="T1" fmla="*/ 16 h 17"/>
                  <a:gd name="T2" fmla="*/ 3 w 20"/>
                  <a:gd name="T3" fmla="*/ 15 h 17"/>
                  <a:gd name="T4" fmla="*/ 2 w 20"/>
                  <a:gd name="T5" fmla="*/ 15 h 17"/>
                  <a:gd name="T6" fmla="*/ 1 w 20"/>
                  <a:gd name="T7" fmla="*/ 14 h 17"/>
                  <a:gd name="T8" fmla="*/ 1 w 20"/>
                  <a:gd name="T9" fmla="*/ 12 h 17"/>
                  <a:gd name="T10" fmla="*/ 0 w 20"/>
                  <a:gd name="T11" fmla="*/ 12 h 17"/>
                  <a:gd name="T12" fmla="*/ 0 w 20"/>
                  <a:gd name="T13" fmla="*/ 10 h 17"/>
                  <a:gd name="T14" fmla="*/ 0 w 20"/>
                  <a:gd name="T15" fmla="*/ 8 h 17"/>
                  <a:gd name="T16" fmla="*/ 0 w 20"/>
                  <a:gd name="T17" fmla="*/ 6 h 17"/>
                  <a:gd name="T18" fmla="*/ 0 w 20"/>
                  <a:gd name="T19" fmla="*/ 4 h 17"/>
                  <a:gd name="T20" fmla="*/ 0 w 20"/>
                  <a:gd name="T21" fmla="*/ 3 h 17"/>
                  <a:gd name="T22" fmla="*/ 1 w 20"/>
                  <a:gd name="T23" fmla="*/ 2 h 17"/>
                  <a:gd name="T24" fmla="*/ 2 w 20"/>
                  <a:gd name="T25" fmla="*/ 1 h 17"/>
                  <a:gd name="T26" fmla="*/ 3 w 20"/>
                  <a:gd name="T27" fmla="*/ 0 h 17"/>
                  <a:gd name="T28" fmla="*/ 4 w 20"/>
                  <a:gd name="T29" fmla="*/ 0 h 17"/>
                  <a:gd name="T30" fmla="*/ 5 w 20"/>
                  <a:gd name="T31" fmla="*/ 0 h 17"/>
                  <a:gd name="T32" fmla="*/ 12 w 20"/>
                  <a:gd name="T33" fmla="*/ 0 h 17"/>
                  <a:gd name="T34" fmla="*/ 13 w 20"/>
                  <a:gd name="T35" fmla="*/ 0 h 17"/>
                  <a:gd name="T36" fmla="*/ 15 w 20"/>
                  <a:gd name="T37" fmla="*/ 0 h 17"/>
                  <a:gd name="T38" fmla="*/ 16 w 20"/>
                  <a:gd name="T39" fmla="*/ 1 h 17"/>
                  <a:gd name="T40" fmla="*/ 17 w 20"/>
                  <a:gd name="T41" fmla="*/ 3 h 17"/>
                  <a:gd name="T42" fmla="*/ 17 w 20"/>
                  <a:gd name="T43" fmla="*/ 3 h 17"/>
                  <a:gd name="T44" fmla="*/ 18 w 20"/>
                  <a:gd name="T45" fmla="*/ 5 h 17"/>
                  <a:gd name="T46" fmla="*/ 18 w 20"/>
                  <a:gd name="T47" fmla="*/ 7 h 17"/>
                  <a:gd name="T48" fmla="*/ 18 w 20"/>
                  <a:gd name="T49" fmla="*/ 8 h 17"/>
                  <a:gd name="T50" fmla="*/ 18 w 20"/>
                  <a:gd name="T51" fmla="*/ 10 h 17"/>
                  <a:gd name="T52" fmla="*/ 17 w 20"/>
                  <a:gd name="T53" fmla="*/ 12 h 17"/>
                  <a:gd name="T54" fmla="*/ 16 w 20"/>
                  <a:gd name="T55" fmla="*/ 13 h 17"/>
                  <a:gd name="T56" fmla="*/ 15 w 20"/>
                  <a:gd name="T57" fmla="*/ 15 h 17"/>
                  <a:gd name="T58" fmla="*/ 13 w 20"/>
                  <a:gd name="T59" fmla="*/ 15 h 17"/>
                  <a:gd name="T60" fmla="*/ 13 w 20"/>
                  <a:gd name="T61" fmla="*/ 16 h 17"/>
                  <a:gd name="T62" fmla="*/ 12 w 20"/>
                  <a:gd name="T63" fmla="*/ 16 h 17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0"/>
                  <a:gd name="T97" fmla="*/ 0 h 17"/>
                  <a:gd name="T98" fmla="*/ 20 w 20"/>
                  <a:gd name="T99" fmla="*/ 17 h 17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0" h="17">
                    <a:moveTo>
                      <a:pt x="5" y="16"/>
                    </a:moveTo>
                    <a:lnTo>
                      <a:pt x="5" y="16"/>
                    </a:lnTo>
                    <a:lnTo>
                      <a:pt x="4" y="16"/>
                    </a:lnTo>
                    <a:lnTo>
                      <a:pt x="3" y="15"/>
                    </a:lnTo>
                    <a:lnTo>
                      <a:pt x="2" y="15"/>
                    </a:lnTo>
                    <a:lnTo>
                      <a:pt x="2" y="14"/>
                    </a:lnTo>
                    <a:lnTo>
                      <a:pt x="1" y="14"/>
                    </a:lnTo>
                    <a:lnTo>
                      <a:pt x="1" y="13"/>
                    </a:lnTo>
                    <a:lnTo>
                      <a:pt x="1" y="12"/>
                    </a:lnTo>
                    <a:lnTo>
                      <a:pt x="0" y="12"/>
                    </a:lnTo>
                    <a:lnTo>
                      <a:pt x="0" y="11"/>
                    </a:lnTo>
                    <a:lnTo>
                      <a:pt x="0" y="10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3"/>
                    </a:lnTo>
                    <a:lnTo>
                      <a:pt x="1" y="2"/>
                    </a:lnTo>
                    <a:lnTo>
                      <a:pt x="1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5" y="0"/>
                    </a:lnTo>
                    <a:lnTo>
                      <a:pt x="16" y="1"/>
                    </a:lnTo>
                    <a:lnTo>
                      <a:pt x="16" y="2"/>
                    </a:lnTo>
                    <a:lnTo>
                      <a:pt x="17" y="3"/>
                    </a:lnTo>
                    <a:lnTo>
                      <a:pt x="18" y="4"/>
                    </a:lnTo>
                    <a:lnTo>
                      <a:pt x="18" y="5"/>
                    </a:lnTo>
                    <a:lnTo>
                      <a:pt x="18" y="6"/>
                    </a:lnTo>
                    <a:lnTo>
                      <a:pt x="18" y="7"/>
                    </a:lnTo>
                    <a:lnTo>
                      <a:pt x="19" y="8"/>
                    </a:lnTo>
                    <a:lnTo>
                      <a:pt x="18" y="8"/>
                    </a:lnTo>
                    <a:lnTo>
                      <a:pt x="18" y="9"/>
                    </a:lnTo>
                    <a:lnTo>
                      <a:pt x="18" y="10"/>
                    </a:lnTo>
                    <a:lnTo>
                      <a:pt x="18" y="11"/>
                    </a:lnTo>
                    <a:lnTo>
                      <a:pt x="17" y="12"/>
                    </a:lnTo>
                    <a:lnTo>
                      <a:pt x="16" y="13"/>
                    </a:lnTo>
                    <a:lnTo>
                      <a:pt x="16" y="14"/>
                    </a:lnTo>
                    <a:lnTo>
                      <a:pt x="15" y="15"/>
                    </a:lnTo>
                    <a:lnTo>
                      <a:pt x="13" y="15"/>
                    </a:lnTo>
                    <a:lnTo>
                      <a:pt x="13" y="16"/>
                    </a:lnTo>
                    <a:lnTo>
                      <a:pt x="12" y="16"/>
                    </a:lnTo>
                    <a:lnTo>
                      <a:pt x="5" y="16"/>
                    </a:lnTo>
                  </a:path>
                </a:pathLst>
              </a:custGeom>
              <a:solidFill>
                <a:srgbClr val="666666"/>
              </a:solidFill>
              <a:ln w="12700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3" name="Freeform 177"/>
              <p:cNvSpPr>
                <a:spLocks/>
              </p:cNvSpPr>
              <p:nvPr/>
            </p:nvSpPr>
            <p:spPr bwMode="auto">
              <a:xfrm>
                <a:off x="3921" y="1489"/>
                <a:ext cx="17" cy="38"/>
              </a:xfrm>
              <a:custGeom>
                <a:avLst/>
                <a:gdLst>
                  <a:gd name="T0" fmla="*/ 8 w 17"/>
                  <a:gd name="T1" fmla="*/ 0 h 38"/>
                  <a:gd name="T2" fmla="*/ 0 w 17"/>
                  <a:gd name="T3" fmla="*/ 22 h 38"/>
                  <a:gd name="T4" fmla="*/ 16 w 17"/>
                  <a:gd name="T5" fmla="*/ 22 h 38"/>
                  <a:gd name="T6" fmla="*/ 16 w 17"/>
                  <a:gd name="T7" fmla="*/ 37 h 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38"/>
                  <a:gd name="T14" fmla="*/ 17 w 17"/>
                  <a:gd name="T15" fmla="*/ 38 h 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38">
                    <a:moveTo>
                      <a:pt x="8" y="0"/>
                    </a:moveTo>
                    <a:lnTo>
                      <a:pt x="0" y="22"/>
                    </a:lnTo>
                    <a:lnTo>
                      <a:pt x="16" y="22"/>
                    </a:lnTo>
                    <a:lnTo>
                      <a:pt x="16" y="37"/>
                    </a:lnTo>
                  </a:path>
                </a:pathLst>
              </a:custGeom>
              <a:noFill/>
              <a:ln w="12700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4" name="Freeform 178"/>
              <p:cNvSpPr>
                <a:spLocks/>
              </p:cNvSpPr>
              <p:nvPr/>
            </p:nvSpPr>
            <p:spPr bwMode="auto">
              <a:xfrm>
                <a:off x="3979" y="1489"/>
                <a:ext cx="17" cy="72"/>
              </a:xfrm>
              <a:custGeom>
                <a:avLst/>
                <a:gdLst>
                  <a:gd name="T0" fmla="*/ 0 w 17"/>
                  <a:gd name="T1" fmla="*/ 0 h 72"/>
                  <a:gd name="T2" fmla="*/ 16 w 17"/>
                  <a:gd name="T3" fmla="*/ 22 h 72"/>
                  <a:gd name="T4" fmla="*/ 0 w 17"/>
                  <a:gd name="T5" fmla="*/ 22 h 72"/>
                  <a:gd name="T6" fmla="*/ 0 w 17"/>
                  <a:gd name="T7" fmla="*/ 71 h 7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72"/>
                  <a:gd name="T14" fmla="*/ 17 w 17"/>
                  <a:gd name="T15" fmla="*/ 72 h 7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72">
                    <a:moveTo>
                      <a:pt x="0" y="0"/>
                    </a:moveTo>
                    <a:lnTo>
                      <a:pt x="16" y="22"/>
                    </a:lnTo>
                    <a:lnTo>
                      <a:pt x="0" y="22"/>
                    </a:lnTo>
                    <a:lnTo>
                      <a:pt x="0" y="71"/>
                    </a:lnTo>
                  </a:path>
                </a:pathLst>
              </a:custGeom>
              <a:noFill/>
              <a:ln w="12700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5" name="Freeform 179"/>
              <p:cNvSpPr>
                <a:spLocks/>
              </p:cNvSpPr>
              <p:nvPr/>
            </p:nvSpPr>
            <p:spPr bwMode="auto">
              <a:xfrm>
                <a:off x="3855" y="1532"/>
                <a:ext cx="250" cy="41"/>
              </a:xfrm>
              <a:custGeom>
                <a:avLst/>
                <a:gdLst>
                  <a:gd name="T0" fmla="*/ 0 w 250"/>
                  <a:gd name="T1" fmla="*/ 40 h 41"/>
                  <a:gd name="T2" fmla="*/ 249 w 250"/>
                  <a:gd name="T3" fmla="*/ 40 h 41"/>
                  <a:gd name="T4" fmla="*/ 240 w 250"/>
                  <a:gd name="T5" fmla="*/ 0 h 41"/>
                  <a:gd name="T6" fmla="*/ 10 w 250"/>
                  <a:gd name="T7" fmla="*/ 0 h 41"/>
                  <a:gd name="T8" fmla="*/ 0 w 250"/>
                  <a:gd name="T9" fmla="*/ 40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0"/>
                  <a:gd name="T16" fmla="*/ 0 h 41"/>
                  <a:gd name="T17" fmla="*/ 250 w 250"/>
                  <a:gd name="T18" fmla="*/ 41 h 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0" h="41">
                    <a:moveTo>
                      <a:pt x="0" y="40"/>
                    </a:moveTo>
                    <a:lnTo>
                      <a:pt x="249" y="40"/>
                    </a:lnTo>
                    <a:lnTo>
                      <a:pt x="240" y="0"/>
                    </a:lnTo>
                    <a:lnTo>
                      <a:pt x="10" y="0"/>
                    </a:lnTo>
                    <a:lnTo>
                      <a:pt x="0" y="40"/>
                    </a:lnTo>
                  </a:path>
                </a:pathLst>
              </a:custGeom>
              <a:solidFill>
                <a:srgbClr val="EFEFD1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6" name="Freeform 180"/>
              <p:cNvSpPr>
                <a:spLocks/>
              </p:cNvSpPr>
              <p:nvPr/>
            </p:nvSpPr>
            <p:spPr bwMode="auto">
              <a:xfrm>
                <a:off x="3855" y="1572"/>
                <a:ext cx="251" cy="17"/>
              </a:xfrm>
              <a:custGeom>
                <a:avLst/>
                <a:gdLst>
                  <a:gd name="T0" fmla="*/ 0 w 251"/>
                  <a:gd name="T1" fmla="*/ 16 h 17"/>
                  <a:gd name="T2" fmla="*/ 0 w 251"/>
                  <a:gd name="T3" fmla="*/ 0 h 17"/>
                  <a:gd name="T4" fmla="*/ 249 w 251"/>
                  <a:gd name="T5" fmla="*/ 0 h 17"/>
                  <a:gd name="T6" fmla="*/ 250 w 251"/>
                  <a:gd name="T7" fmla="*/ 16 h 17"/>
                  <a:gd name="T8" fmla="*/ 0 w 251"/>
                  <a:gd name="T9" fmla="*/ 16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1"/>
                  <a:gd name="T16" fmla="*/ 0 h 17"/>
                  <a:gd name="T17" fmla="*/ 251 w 251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1" h="17">
                    <a:moveTo>
                      <a:pt x="0" y="16"/>
                    </a:moveTo>
                    <a:lnTo>
                      <a:pt x="0" y="0"/>
                    </a:lnTo>
                    <a:lnTo>
                      <a:pt x="249" y="0"/>
                    </a:lnTo>
                    <a:lnTo>
                      <a:pt x="250" y="16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CCCC6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7" name="Freeform 181"/>
              <p:cNvSpPr>
                <a:spLocks/>
              </p:cNvSpPr>
              <p:nvPr/>
            </p:nvSpPr>
            <p:spPr bwMode="auto">
              <a:xfrm>
                <a:off x="3872" y="1538"/>
                <a:ext cx="223" cy="28"/>
              </a:xfrm>
              <a:custGeom>
                <a:avLst/>
                <a:gdLst>
                  <a:gd name="T0" fmla="*/ 0 w 223"/>
                  <a:gd name="T1" fmla="*/ 27 h 28"/>
                  <a:gd name="T2" fmla="*/ 222 w 223"/>
                  <a:gd name="T3" fmla="*/ 27 h 28"/>
                  <a:gd name="T4" fmla="*/ 214 w 223"/>
                  <a:gd name="T5" fmla="*/ 0 h 28"/>
                  <a:gd name="T6" fmla="*/ 8 w 223"/>
                  <a:gd name="T7" fmla="*/ 0 h 28"/>
                  <a:gd name="T8" fmla="*/ 0 w 223"/>
                  <a:gd name="T9" fmla="*/ 27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3"/>
                  <a:gd name="T16" fmla="*/ 0 h 28"/>
                  <a:gd name="T17" fmla="*/ 223 w 223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3" h="28">
                    <a:moveTo>
                      <a:pt x="0" y="27"/>
                    </a:moveTo>
                    <a:lnTo>
                      <a:pt x="222" y="27"/>
                    </a:lnTo>
                    <a:lnTo>
                      <a:pt x="214" y="0"/>
                    </a:lnTo>
                    <a:lnTo>
                      <a:pt x="8" y="0"/>
                    </a:lnTo>
                    <a:lnTo>
                      <a:pt x="0" y="27"/>
                    </a:lnTo>
                  </a:path>
                </a:pathLst>
              </a:custGeom>
              <a:solidFill>
                <a:srgbClr val="999999"/>
              </a:solidFill>
              <a:ln w="12700">
                <a:solidFill>
                  <a:srgbClr val="9F9FA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301" name="Freeform 182"/>
            <p:cNvSpPr>
              <a:spLocks/>
            </p:cNvSpPr>
            <p:nvPr/>
          </p:nvSpPr>
          <p:spPr bwMode="auto">
            <a:xfrm rot="388125">
              <a:off x="1465" y="795"/>
              <a:ext cx="3011" cy="2741"/>
            </a:xfrm>
            <a:custGeom>
              <a:avLst/>
              <a:gdLst>
                <a:gd name="T0" fmla="*/ 19546 w 1082"/>
                <a:gd name="T1" fmla="*/ 1134492 h 670"/>
                <a:gd name="T2" fmla="*/ 1016 w 1082"/>
                <a:gd name="T3" fmla="*/ 1392489 h 670"/>
                <a:gd name="T4" fmla="*/ 3662 w 1082"/>
                <a:gd name="T5" fmla="*/ 1636442 h 670"/>
                <a:gd name="T6" fmla="*/ 19546 w 1082"/>
                <a:gd name="T7" fmla="*/ 1814051 h 670"/>
                <a:gd name="T8" fmla="*/ 14334 w 1082"/>
                <a:gd name="T9" fmla="*/ 1977901 h 670"/>
                <a:gd name="T10" fmla="*/ 12002 w 1082"/>
                <a:gd name="T11" fmla="*/ 2222141 h 670"/>
                <a:gd name="T12" fmla="*/ 26036 w 1082"/>
                <a:gd name="T13" fmla="*/ 2437543 h 670"/>
                <a:gd name="T14" fmla="*/ 61767 w 1082"/>
                <a:gd name="T15" fmla="*/ 2564758 h 670"/>
                <a:gd name="T16" fmla="*/ 73769 w 1082"/>
                <a:gd name="T17" fmla="*/ 2648223 h 670"/>
                <a:gd name="T18" fmla="*/ 111003 w 1082"/>
                <a:gd name="T19" fmla="*/ 2892463 h 670"/>
                <a:gd name="T20" fmla="*/ 157360 w 1082"/>
                <a:gd name="T21" fmla="*/ 2948477 h 670"/>
                <a:gd name="T22" fmla="*/ 191432 w 1082"/>
                <a:gd name="T23" fmla="*/ 2840911 h 670"/>
                <a:gd name="T24" fmla="*/ 219619 w 1082"/>
                <a:gd name="T25" fmla="*/ 3060830 h 670"/>
                <a:gd name="T26" fmla="*/ 256853 w 1082"/>
                <a:gd name="T27" fmla="*/ 3141219 h 670"/>
                <a:gd name="T28" fmla="*/ 303752 w 1082"/>
                <a:gd name="T29" fmla="*/ 3009266 h 670"/>
                <a:gd name="T30" fmla="*/ 329780 w 1082"/>
                <a:gd name="T31" fmla="*/ 2714850 h 670"/>
                <a:gd name="T32" fmla="*/ 349262 w 1082"/>
                <a:gd name="T33" fmla="*/ 2733059 h 670"/>
                <a:gd name="T34" fmla="*/ 381353 w 1082"/>
                <a:gd name="T35" fmla="*/ 2746817 h 670"/>
                <a:gd name="T36" fmla="*/ 405035 w 1082"/>
                <a:gd name="T37" fmla="*/ 2658566 h 670"/>
                <a:gd name="T38" fmla="*/ 426735 w 1082"/>
                <a:gd name="T39" fmla="*/ 2461643 h 670"/>
                <a:gd name="T40" fmla="*/ 434238 w 1082"/>
                <a:gd name="T41" fmla="*/ 2245959 h 670"/>
                <a:gd name="T42" fmla="*/ 448564 w 1082"/>
                <a:gd name="T43" fmla="*/ 2156619 h 670"/>
                <a:gd name="T44" fmla="*/ 483474 w 1082"/>
                <a:gd name="T45" fmla="*/ 1959692 h 670"/>
                <a:gd name="T46" fmla="*/ 497338 w 1082"/>
                <a:gd name="T47" fmla="*/ 1762504 h 670"/>
                <a:gd name="T48" fmla="*/ 502486 w 1082"/>
                <a:gd name="T49" fmla="*/ 1524090 h 670"/>
                <a:gd name="T50" fmla="*/ 498281 w 1082"/>
                <a:gd name="T51" fmla="*/ 1307584 h 670"/>
                <a:gd name="T52" fmla="*/ 485828 w 1082"/>
                <a:gd name="T53" fmla="*/ 1116266 h 670"/>
                <a:gd name="T54" fmla="*/ 490801 w 1082"/>
                <a:gd name="T55" fmla="*/ 905319 h 670"/>
                <a:gd name="T56" fmla="*/ 478326 w 1082"/>
                <a:gd name="T57" fmla="*/ 585699 h 670"/>
                <a:gd name="T58" fmla="*/ 445397 w 1082"/>
                <a:gd name="T59" fmla="*/ 394115 h 670"/>
                <a:gd name="T60" fmla="*/ 432922 w 1082"/>
                <a:gd name="T61" fmla="*/ 168371 h 670"/>
                <a:gd name="T62" fmla="*/ 399887 w 1082"/>
                <a:gd name="T63" fmla="*/ 9238 h 670"/>
                <a:gd name="T64" fmla="*/ 372000 w 1082"/>
                <a:gd name="T65" fmla="*/ 22947 h 670"/>
                <a:gd name="T66" fmla="*/ 351115 w 1082"/>
                <a:gd name="T67" fmla="*/ 131666 h 670"/>
                <a:gd name="T68" fmla="*/ 338593 w 1082"/>
                <a:gd name="T69" fmla="*/ 98594 h 670"/>
                <a:gd name="T70" fmla="*/ 318078 w 1082"/>
                <a:gd name="T71" fmla="*/ 9238 h 670"/>
                <a:gd name="T72" fmla="*/ 292546 w 1082"/>
                <a:gd name="T73" fmla="*/ 18209 h 670"/>
                <a:gd name="T74" fmla="*/ 268842 w 1082"/>
                <a:gd name="T75" fmla="*/ 140908 h 670"/>
                <a:gd name="T76" fmla="*/ 251641 w 1082"/>
                <a:gd name="T77" fmla="*/ 183500 h 670"/>
                <a:gd name="T78" fmla="*/ 223794 w 1082"/>
                <a:gd name="T79" fmla="*/ 98594 h 670"/>
                <a:gd name="T80" fmla="*/ 193222 w 1082"/>
                <a:gd name="T81" fmla="*/ 136387 h 670"/>
                <a:gd name="T82" fmla="*/ 167742 w 1082"/>
                <a:gd name="T83" fmla="*/ 314012 h 670"/>
                <a:gd name="T84" fmla="*/ 143504 w 1082"/>
                <a:gd name="T85" fmla="*/ 309561 h 670"/>
                <a:gd name="T86" fmla="*/ 107277 w 1082"/>
                <a:gd name="T87" fmla="*/ 300307 h 670"/>
                <a:gd name="T88" fmla="*/ 78920 w 1082"/>
                <a:gd name="T89" fmla="*/ 398901 h 670"/>
                <a:gd name="T90" fmla="*/ 58058 w 1082"/>
                <a:gd name="T91" fmla="*/ 580977 h 670"/>
                <a:gd name="T92" fmla="*/ 45883 w 1082"/>
                <a:gd name="T93" fmla="*/ 820479 h 670"/>
                <a:gd name="T94" fmla="*/ 45040 w 1082"/>
                <a:gd name="T95" fmla="*/ 1045135 h 67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082"/>
                <a:gd name="T145" fmla="*/ 0 h 670"/>
                <a:gd name="T146" fmla="*/ 1082 w 1082"/>
                <a:gd name="T147" fmla="*/ 670 h 67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082" h="670">
                  <a:moveTo>
                    <a:pt x="98" y="223"/>
                  </a:moveTo>
                  <a:lnTo>
                    <a:pt x="78" y="226"/>
                  </a:lnTo>
                  <a:lnTo>
                    <a:pt x="59" y="233"/>
                  </a:lnTo>
                  <a:lnTo>
                    <a:pt x="42" y="242"/>
                  </a:lnTo>
                  <a:lnTo>
                    <a:pt x="28" y="253"/>
                  </a:lnTo>
                  <a:lnTo>
                    <a:pt x="16" y="266"/>
                  </a:lnTo>
                  <a:lnTo>
                    <a:pt x="7" y="281"/>
                  </a:lnTo>
                  <a:lnTo>
                    <a:pt x="2" y="297"/>
                  </a:lnTo>
                  <a:lnTo>
                    <a:pt x="0" y="314"/>
                  </a:lnTo>
                  <a:lnTo>
                    <a:pt x="1" y="326"/>
                  </a:lnTo>
                  <a:lnTo>
                    <a:pt x="4" y="338"/>
                  </a:lnTo>
                  <a:lnTo>
                    <a:pt x="8" y="349"/>
                  </a:lnTo>
                  <a:lnTo>
                    <a:pt x="14" y="360"/>
                  </a:lnTo>
                  <a:lnTo>
                    <a:pt x="22" y="370"/>
                  </a:lnTo>
                  <a:lnTo>
                    <a:pt x="31" y="379"/>
                  </a:lnTo>
                  <a:lnTo>
                    <a:pt x="42" y="387"/>
                  </a:lnTo>
                  <a:lnTo>
                    <a:pt x="54" y="394"/>
                  </a:lnTo>
                  <a:lnTo>
                    <a:pt x="53" y="393"/>
                  </a:lnTo>
                  <a:lnTo>
                    <a:pt x="40" y="407"/>
                  </a:lnTo>
                  <a:lnTo>
                    <a:pt x="31" y="422"/>
                  </a:lnTo>
                  <a:lnTo>
                    <a:pt x="26" y="438"/>
                  </a:lnTo>
                  <a:lnTo>
                    <a:pt x="24" y="456"/>
                  </a:lnTo>
                  <a:lnTo>
                    <a:pt x="25" y="465"/>
                  </a:lnTo>
                  <a:lnTo>
                    <a:pt x="26" y="474"/>
                  </a:lnTo>
                  <a:lnTo>
                    <a:pt x="29" y="483"/>
                  </a:lnTo>
                  <a:lnTo>
                    <a:pt x="33" y="491"/>
                  </a:lnTo>
                  <a:lnTo>
                    <a:pt x="43" y="507"/>
                  </a:lnTo>
                  <a:lnTo>
                    <a:pt x="56" y="520"/>
                  </a:lnTo>
                  <a:lnTo>
                    <a:pt x="72" y="531"/>
                  </a:lnTo>
                  <a:lnTo>
                    <a:pt x="91" y="540"/>
                  </a:lnTo>
                  <a:lnTo>
                    <a:pt x="111" y="545"/>
                  </a:lnTo>
                  <a:lnTo>
                    <a:pt x="133" y="547"/>
                  </a:lnTo>
                  <a:lnTo>
                    <a:pt x="139" y="547"/>
                  </a:lnTo>
                  <a:lnTo>
                    <a:pt x="146" y="547"/>
                  </a:lnTo>
                  <a:lnTo>
                    <a:pt x="145" y="547"/>
                  </a:lnTo>
                  <a:lnTo>
                    <a:pt x="159" y="565"/>
                  </a:lnTo>
                  <a:lnTo>
                    <a:pt x="176" y="582"/>
                  </a:lnTo>
                  <a:lnTo>
                    <a:pt x="195" y="596"/>
                  </a:lnTo>
                  <a:lnTo>
                    <a:pt x="216" y="608"/>
                  </a:lnTo>
                  <a:lnTo>
                    <a:pt x="239" y="617"/>
                  </a:lnTo>
                  <a:lnTo>
                    <a:pt x="263" y="624"/>
                  </a:lnTo>
                  <a:lnTo>
                    <a:pt x="287" y="629"/>
                  </a:lnTo>
                  <a:lnTo>
                    <a:pt x="313" y="630"/>
                  </a:lnTo>
                  <a:lnTo>
                    <a:pt x="339" y="629"/>
                  </a:lnTo>
                  <a:lnTo>
                    <a:pt x="365" y="624"/>
                  </a:lnTo>
                  <a:lnTo>
                    <a:pt x="389" y="617"/>
                  </a:lnTo>
                  <a:lnTo>
                    <a:pt x="413" y="606"/>
                  </a:lnTo>
                  <a:lnTo>
                    <a:pt x="412" y="606"/>
                  </a:lnTo>
                  <a:lnTo>
                    <a:pt x="425" y="620"/>
                  </a:lnTo>
                  <a:lnTo>
                    <a:pt x="440" y="633"/>
                  </a:lnTo>
                  <a:lnTo>
                    <a:pt x="456" y="644"/>
                  </a:lnTo>
                  <a:lnTo>
                    <a:pt x="473" y="653"/>
                  </a:lnTo>
                  <a:lnTo>
                    <a:pt x="492" y="660"/>
                  </a:lnTo>
                  <a:lnTo>
                    <a:pt x="511" y="666"/>
                  </a:lnTo>
                  <a:lnTo>
                    <a:pt x="532" y="669"/>
                  </a:lnTo>
                  <a:lnTo>
                    <a:pt x="553" y="670"/>
                  </a:lnTo>
                  <a:lnTo>
                    <a:pt x="580" y="668"/>
                  </a:lnTo>
                  <a:lnTo>
                    <a:pt x="606" y="663"/>
                  </a:lnTo>
                  <a:lnTo>
                    <a:pt x="631" y="654"/>
                  </a:lnTo>
                  <a:lnTo>
                    <a:pt x="654" y="642"/>
                  </a:lnTo>
                  <a:lnTo>
                    <a:pt x="674" y="627"/>
                  </a:lnTo>
                  <a:lnTo>
                    <a:pt x="691" y="610"/>
                  </a:lnTo>
                  <a:lnTo>
                    <a:pt x="705" y="590"/>
                  </a:lnTo>
                  <a:lnTo>
                    <a:pt x="710" y="579"/>
                  </a:lnTo>
                  <a:lnTo>
                    <a:pt x="715" y="568"/>
                  </a:lnTo>
                  <a:lnTo>
                    <a:pt x="715" y="569"/>
                  </a:lnTo>
                  <a:lnTo>
                    <a:pt x="733" y="577"/>
                  </a:lnTo>
                  <a:lnTo>
                    <a:pt x="752" y="583"/>
                  </a:lnTo>
                  <a:lnTo>
                    <a:pt x="771" y="587"/>
                  </a:lnTo>
                  <a:lnTo>
                    <a:pt x="792" y="588"/>
                  </a:lnTo>
                  <a:lnTo>
                    <a:pt x="807" y="587"/>
                  </a:lnTo>
                  <a:lnTo>
                    <a:pt x="821" y="586"/>
                  </a:lnTo>
                  <a:lnTo>
                    <a:pt x="835" y="583"/>
                  </a:lnTo>
                  <a:lnTo>
                    <a:pt x="848" y="579"/>
                  </a:lnTo>
                  <a:lnTo>
                    <a:pt x="860" y="573"/>
                  </a:lnTo>
                  <a:lnTo>
                    <a:pt x="872" y="567"/>
                  </a:lnTo>
                  <a:lnTo>
                    <a:pt x="894" y="553"/>
                  </a:lnTo>
                  <a:lnTo>
                    <a:pt x="903" y="544"/>
                  </a:lnTo>
                  <a:lnTo>
                    <a:pt x="911" y="535"/>
                  </a:lnTo>
                  <a:lnTo>
                    <a:pt x="919" y="525"/>
                  </a:lnTo>
                  <a:lnTo>
                    <a:pt x="925" y="514"/>
                  </a:lnTo>
                  <a:lnTo>
                    <a:pt x="930" y="503"/>
                  </a:lnTo>
                  <a:lnTo>
                    <a:pt x="933" y="491"/>
                  </a:lnTo>
                  <a:lnTo>
                    <a:pt x="935" y="479"/>
                  </a:lnTo>
                  <a:lnTo>
                    <a:pt x="936" y="467"/>
                  </a:lnTo>
                  <a:lnTo>
                    <a:pt x="936" y="466"/>
                  </a:lnTo>
                  <a:lnTo>
                    <a:pt x="952" y="464"/>
                  </a:lnTo>
                  <a:lnTo>
                    <a:pt x="966" y="460"/>
                  </a:lnTo>
                  <a:lnTo>
                    <a:pt x="981" y="455"/>
                  </a:lnTo>
                  <a:lnTo>
                    <a:pt x="994" y="450"/>
                  </a:lnTo>
                  <a:lnTo>
                    <a:pt x="1019" y="436"/>
                  </a:lnTo>
                  <a:lnTo>
                    <a:pt x="1041" y="418"/>
                  </a:lnTo>
                  <a:lnTo>
                    <a:pt x="1050" y="409"/>
                  </a:lnTo>
                  <a:lnTo>
                    <a:pt x="1058" y="398"/>
                  </a:lnTo>
                  <a:lnTo>
                    <a:pt x="1065" y="387"/>
                  </a:lnTo>
                  <a:lnTo>
                    <a:pt x="1071" y="376"/>
                  </a:lnTo>
                  <a:lnTo>
                    <a:pt x="1076" y="364"/>
                  </a:lnTo>
                  <a:lnTo>
                    <a:pt x="1079" y="351"/>
                  </a:lnTo>
                  <a:lnTo>
                    <a:pt x="1081" y="338"/>
                  </a:lnTo>
                  <a:lnTo>
                    <a:pt x="1082" y="325"/>
                  </a:lnTo>
                  <a:lnTo>
                    <a:pt x="1081" y="313"/>
                  </a:lnTo>
                  <a:lnTo>
                    <a:pt x="1080" y="301"/>
                  </a:lnTo>
                  <a:lnTo>
                    <a:pt x="1077" y="290"/>
                  </a:lnTo>
                  <a:lnTo>
                    <a:pt x="1073" y="279"/>
                  </a:lnTo>
                  <a:lnTo>
                    <a:pt x="1068" y="268"/>
                  </a:lnTo>
                  <a:lnTo>
                    <a:pt x="1062" y="258"/>
                  </a:lnTo>
                  <a:lnTo>
                    <a:pt x="1047" y="238"/>
                  </a:lnTo>
                  <a:lnTo>
                    <a:pt x="1046" y="238"/>
                  </a:lnTo>
                  <a:lnTo>
                    <a:pt x="1051" y="227"/>
                  </a:lnTo>
                  <a:lnTo>
                    <a:pt x="1054" y="216"/>
                  </a:lnTo>
                  <a:lnTo>
                    <a:pt x="1056" y="204"/>
                  </a:lnTo>
                  <a:lnTo>
                    <a:pt x="1057" y="193"/>
                  </a:lnTo>
                  <a:lnTo>
                    <a:pt x="1055" y="174"/>
                  </a:lnTo>
                  <a:lnTo>
                    <a:pt x="1050" y="156"/>
                  </a:lnTo>
                  <a:lnTo>
                    <a:pt x="1041" y="140"/>
                  </a:lnTo>
                  <a:lnTo>
                    <a:pt x="1030" y="125"/>
                  </a:lnTo>
                  <a:lnTo>
                    <a:pt x="1016" y="111"/>
                  </a:lnTo>
                  <a:lnTo>
                    <a:pt x="999" y="100"/>
                  </a:lnTo>
                  <a:lnTo>
                    <a:pt x="980" y="91"/>
                  </a:lnTo>
                  <a:lnTo>
                    <a:pt x="959" y="84"/>
                  </a:lnTo>
                  <a:lnTo>
                    <a:pt x="953" y="66"/>
                  </a:lnTo>
                  <a:lnTo>
                    <a:pt x="944" y="50"/>
                  </a:lnTo>
                  <a:lnTo>
                    <a:pt x="932" y="36"/>
                  </a:lnTo>
                  <a:lnTo>
                    <a:pt x="917" y="24"/>
                  </a:lnTo>
                  <a:lnTo>
                    <a:pt x="900" y="14"/>
                  </a:lnTo>
                  <a:lnTo>
                    <a:pt x="881" y="6"/>
                  </a:lnTo>
                  <a:lnTo>
                    <a:pt x="861" y="2"/>
                  </a:lnTo>
                  <a:lnTo>
                    <a:pt x="839" y="0"/>
                  </a:lnTo>
                  <a:lnTo>
                    <a:pt x="826" y="1"/>
                  </a:lnTo>
                  <a:lnTo>
                    <a:pt x="813" y="2"/>
                  </a:lnTo>
                  <a:lnTo>
                    <a:pt x="801" y="5"/>
                  </a:lnTo>
                  <a:lnTo>
                    <a:pt x="789" y="9"/>
                  </a:lnTo>
                  <a:lnTo>
                    <a:pt x="777" y="15"/>
                  </a:lnTo>
                  <a:lnTo>
                    <a:pt x="766" y="21"/>
                  </a:lnTo>
                  <a:lnTo>
                    <a:pt x="756" y="28"/>
                  </a:lnTo>
                  <a:lnTo>
                    <a:pt x="747" y="36"/>
                  </a:lnTo>
                  <a:lnTo>
                    <a:pt x="739" y="28"/>
                  </a:lnTo>
                  <a:lnTo>
                    <a:pt x="729" y="21"/>
                  </a:lnTo>
                  <a:lnTo>
                    <a:pt x="719" y="15"/>
                  </a:lnTo>
                  <a:lnTo>
                    <a:pt x="708" y="9"/>
                  </a:lnTo>
                  <a:lnTo>
                    <a:pt x="697" y="5"/>
                  </a:lnTo>
                  <a:lnTo>
                    <a:pt x="685" y="2"/>
                  </a:lnTo>
                  <a:lnTo>
                    <a:pt x="673" y="1"/>
                  </a:lnTo>
                  <a:lnTo>
                    <a:pt x="660" y="0"/>
                  </a:lnTo>
                  <a:lnTo>
                    <a:pt x="645" y="1"/>
                  </a:lnTo>
                  <a:lnTo>
                    <a:pt x="630" y="4"/>
                  </a:lnTo>
                  <a:lnTo>
                    <a:pt x="616" y="8"/>
                  </a:lnTo>
                  <a:lnTo>
                    <a:pt x="602" y="14"/>
                  </a:lnTo>
                  <a:lnTo>
                    <a:pt x="590" y="21"/>
                  </a:lnTo>
                  <a:lnTo>
                    <a:pt x="579" y="30"/>
                  </a:lnTo>
                  <a:lnTo>
                    <a:pt x="570" y="40"/>
                  </a:lnTo>
                  <a:lnTo>
                    <a:pt x="562" y="51"/>
                  </a:lnTo>
                  <a:lnTo>
                    <a:pt x="562" y="53"/>
                  </a:lnTo>
                  <a:lnTo>
                    <a:pt x="542" y="39"/>
                  </a:lnTo>
                  <a:lnTo>
                    <a:pt x="519" y="29"/>
                  </a:lnTo>
                  <a:lnTo>
                    <a:pt x="507" y="25"/>
                  </a:lnTo>
                  <a:lnTo>
                    <a:pt x="495" y="22"/>
                  </a:lnTo>
                  <a:lnTo>
                    <a:pt x="482" y="21"/>
                  </a:lnTo>
                  <a:lnTo>
                    <a:pt x="469" y="20"/>
                  </a:lnTo>
                  <a:lnTo>
                    <a:pt x="451" y="21"/>
                  </a:lnTo>
                  <a:lnTo>
                    <a:pt x="433" y="24"/>
                  </a:lnTo>
                  <a:lnTo>
                    <a:pt x="416" y="29"/>
                  </a:lnTo>
                  <a:lnTo>
                    <a:pt x="400" y="36"/>
                  </a:lnTo>
                  <a:lnTo>
                    <a:pt x="385" y="45"/>
                  </a:lnTo>
                  <a:lnTo>
                    <a:pt x="372" y="55"/>
                  </a:lnTo>
                  <a:lnTo>
                    <a:pt x="361" y="67"/>
                  </a:lnTo>
                  <a:lnTo>
                    <a:pt x="351" y="80"/>
                  </a:lnTo>
                  <a:lnTo>
                    <a:pt x="350" y="81"/>
                  </a:lnTo>
                  <a:lnTo>
                    <a:pt x="330" y="72"/>
                  </a:lnTo>
                  <a:lnTo>
                    <a:pt x="309" y="66"/>
                  </a:lnTo>
                  <a:lnTo>
                    <a:pt x="287" y="62"/>
                  </a:lnTo>
                  <a:lnTo>
                    <a:pt x="265" y="61"/>
                  </a:lnTo>
                  <a:lnTo>
                    <a:pt x="248" y="62"/>
                  </a:lnTo>
                  <a:lnTo>
                    <a:pt x="231" y="64"/>
                  </a:lnTo>
                  <a:lnTo>
                    <a:pt x="215" y="67"/>
                  </a:lnTo>
                  <a:lnTo>
                    <a:pt x="199" y="72"/>
                  </a:lnTo>
                  <a:lnTo>
                    <a:pt x="184" y="78"/>
                  </a:lnTo>
                  <a:lnTo>
                    <a:pt x="170" y="85"/>
                  </a:lnTo>
                  <a:lnTo>
                    <a:pt x="157" y="94"/>
                  </a:lnTo>
                  <a:lnTo>
                    <a:pt x="145" y="103"/>
                  </a:lnTo>
                  <a:lnTo>
                    <a:pt x="134" y="113"/>
                  </a:lnTo>
                  <a:lnTo>
                    <a:pt x="125" y="124"/>
                  </a:lnTo>
                  <a:lnTo>
                    <a:pt x="116" y="136"/>
                  </a:lnTo>
                  <a:lnTo>
                    <a:pt x="109" y="148"/>
                  </a:lnTo>
                  <a:lnTo>
                    <a:pt x="104" y="161"/>
                  </a:lnTo>
                  <a:lnTo>
                    <a:pt x="99" y="175"/>
                  </a:lnTo>
                  <a:lnTo>
                    <a:pt x="97" y="189"/>
                  </a:lnTo>
                  <a:lnTo>
                    <a:pt x="96" y="204"/>
                  </a:lnTo>
                  <a:lnTo>
                    <a:pt x="96" y="214"/>
                  </a:lnTo>
                  <a:lnTo>
                    <a:pt x="97" y="223"/>
                  </a:lnTo>
                  <a:lnTo>
                    <a:pt x="98" y="223"/>
                  </a:lnTo>
                  <a:close/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268" name="Rectangle 18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Message Switching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709613" y="1946275"/>
            <a:ext cx="7643812" cy="3436938"/>
            <a:chOff x="183" y="1362"/>
            <a:chExt cx="4815" cy="2165"/>
          </a:xfrm>
        </p:grpSpPr>
        <p:sp>
          <p:nvSpPr>
            <p:cNvPr id="12293" name="Line 3"/>
            <p:cNvSpPr>
              <a:spLocks noChangeShapeType="1"/>
            </p:cNvSpPr>
            <p:nvPr/>
          </p:nvSpPr>
          <p:spPr bwMode="auto">
            <a:xfrm>
              <a:off x="592" y="2842"/>
              <a:ext cx="42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294" name="Rectangle 4"/>
            <p:cNvSpPr>
              <a:spLocks noChangeArrowheads="1"/>
            </p:cNvSpPr>
            <p:nvPr/>
          </p:nvSpPr>
          <p:spPr bwMode="auto">
            <a:xfrm>
              <a:off x="4840" y="2713"/>
              <a:ext cx="158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i="1"/>
                <a:t>t</a:t>
              </a:r>
            </a:p>
          </p:txBody>
        </p:sp>
        <p:sp>
          <p:nvSpPr>
            <p:cNvPr id="12295" name="Line 5"/>
            <p:cNvSpPr>
              <a:spLocks noChangeShapeType="1"/>
            </p:cNvSpPr>
            <p:nvPr/>
          </p:nvSpPr>
          <p:spPr bwMode="auto">
            <a:xfrm>
              <a:off x="592" y="2426"/>
              <a:ext cx="42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296" name="Rectangle 6"/>
            <p:cNvSpPr>
              <a:spLocks noChangeArrowheads="1"/>
            </p:cNvSpPr>
            <p:nvPr/>
          </p:nvSpPr>
          <p:spPr bwMode="auto">
            <a:xfrm>
              <a:off x="4840" y="2297"/>
              <a:ext cx="158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i="1"/>
                <a:t>t</a:t>
              </a:r>
            </a:p>
          </p:txBody>
        </p:sp>
        <p:sp>
          <p:nvSpPr>
            <p:cNvPr id="12297" name="Line 7"/>
            <p:cNvSpPr>
              <a:spLocks noChangeShapeType="1"/>
            </p:cNvSpPr>
            <p:nvPr/>
          </p:nvSpPr>
          <p:spPr bwMode="auto">
            <a:xfrm>
              <a:off x="591" y="2000"/>
              <a:ext cx="42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298" name="Rectangle 8"/>
            <p:cNvSpPr>
              <a:spLocks noChangeArrowheads="1"/>
            </p:cNvSpPr>
            <p:nvPr/>
          </p:nvSpPr>
          <p:spPr bwMode="auto">
            <a:xfrm>
              <a:off x="4839" y="1871"/>
              <a:ext cx="158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i="1"/>
                <a:t>t</a:t>
              </a:r>
            </a:p>
          </p:txBody>
        </p:sp>
        <p:sp>
          <p:nvSpPr>
            <p:cNvPr id="12299" name="Line 9"/>
            <p:cNvSpPr>
              <a:spLocks noChangeShapeType="1"/>
            </p:cNvSpPr>
            <p:nvPr/>
          </p:nvSpPr>
          <p:spPr bwMode="auto">
            <a:xfrm>
              <a:off x="591" y="1584"/>
              <a:ext cx="425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300" name="Rectangle 10"/>
            <p:cNvSpPr>
              <a:spLocks noChangeArrowheads="1"/>
            </p:cNvSpPr>
            <p:nvPr/>
          </p:nvSpPr>
          <p:spPr bwMode="auto">
            <a:xfrm>
              <a:off x="4839" y="1455"/>
              <a:ext cx="158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i="1"/>
                <a:t>t</a:t>
              </a:r>
            </a:p>
          </p:txBody>
        </p:sp>
        <p:sp>
          <p:nvSpPr>
            <p:cNvPr id="12301" name="Line 11"/>
            <p:cNvSpPr>
              <a:spLocks noChangeShapeType="1"/>
            </p:cNvSpPr>
            <p:nvPr/>
          </p:nvSpPr>
          <p:spPr bwMode="auto">
            <a:xfrm>
              <a:off x="912" y="1580"/>
              <a:ext cx="0" cy="12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302" name="Line 12"/>
            <p:cNvSpPr>
              <a:spLocks noChangeShapeType="1"/>
            </p:cNvSpPr>
            <p:nvPr/>
          </p:nvSpPr>
          <p:spPr bwMode="auto">
            <a:xfrm>
              <a:off x="3961" y="2441"/>
              <a:ext cx="29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303" name="Line 13"/>
            <p:cNvSpPr>
              <a:spLocks noChangeShapeType="1"/>
            </p:cNvSpPr>
            <p:nvPr/>
          </p:nvSpPr>
          <p:spPr bwMode="auto">
            <a:xfrm>
              <a:off x="921" y="1588"/>
              <a:ext cx="29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304" name="Line 14"/>
            <p:cNvSpPr>
              <a:spLocks noChangeShapeType="1"/>
            </p:cNvSpPr>
            <p:nvPr/>
          </p:nvSpPr>
          <p:spPr bwMode="auto">
            <a:xfrm>
              <a:off x="1636" y="1588"/>
              <a:ext cx="29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305" name="Line 15"/>
            <p:cNvSpPr>
              <a:spLocks noChangeShapeType="1"/>
            </p:cNvSpPr>
            <p:nvPr/>
          </p:nvSpPr>
          <p:spPr bwMode="auto">
            <a:xfrm>
              <a:off x="1983" y="2009"/>
              <a:ext cx="295" cy="4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306" name="Line 16"/>
            <p:cNvSpPr>
              <a:spLocks noChangeShapeType="1"/>
            </p:cNvSpPr>
            <p:nvPr/>
          </p:nvSpPr>
          <p:spPr bwMode="auto">
            <a:xfrm>
              <a:off x="2796" y="1997"/>
              <a:ext cx="304" cy="42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307" name="Line 17"/>
            <p:cNvSpPr>
              <a:spLocks noChangeShapeType="1"/>
            </p:cNvSpPr>
            <p:nvPr/>
          </p:nvSpPr>
          <p:spPr bwMode="auto">
            <a:xfrm>
              <a:off x="3150" y="2430"/>
              <a:ext cx="29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308" name="Line 18"/>
            <p:cNvSpPr>
              <a:spLocks noChangeShapeType="1"/>
            </p:cNvSpPr>
            <p:nvPr/>
          </p:nvSpPr>
          <p:spPr bwMode="auto">
            <a:xfrm flipH="1">
              <a:off x="924" y="3067"/>
              <a:ext cx="131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309" name="Line 19"/>
            <p:cNvSpPr>
              <a:spLocks noChangeShapeType="1"/>
            </p:cNvSpPr>
            <p:nvPr/>
          </p:nvSpPr>
          <p:spPr bwMode="auto">
            <a:xfrm>
              <a:off x="3247" y="3067"/>
              <a:ext cx="10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310" name="Rectangle 20"/>
            <p:cNvSpPr>
              <a:spLocks noChangeArrowheads="1"/>
            </p:cNvSpPr>
            <p:nvPr/>
          </p:nvSpPr>
          <p:spPr bwMode="auto">
            <a:xfrm>
              <a:off x="2489" y="2956"/>
              <a:ext cx="524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Delay</a:t>
              </a:r>
            </a:p>
          </p:txBody>
        </p:sp>
        <p:sp>
          <p:nvSpPr>
            <p:cNvPr id="12311" name="Rectangle 21"/>
            <p:cNvSpPr>
              <a:spLocks noChangeArrowheads="1"/>
            </p:cNvSpPr>
            <p:nvPr/>
          </p:nvSpPr>
          <p:spPr bwMode="auto">
            <a:xfrm>
              <a:off x="183" y="1362"/>
              <a:ext cx="570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Source</a:t>
              </a:r>
            </a:p>
          </p:txBody>
        </p:sp>
        <p:sp>
          <p:nvSpPr>
            <p:cNvPr id="12312" name="Rectangle 22"/>
            <p:cNvSpPr>
              <a:spLocks noChangeArrowheads="1"/>
            </p:cNvSpPr>
            <p:nvPr/>
          </p:nvSpPr>
          <p:spPr bwMode="auto">
            <a:xfrm>
              <a:off x="183" y="2816"/>
              <a:ext cx="83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Destination</a:t>
              </a:r>
            </a:p>
          </p:txBody>
        </p:sp>
        <p:sp>
          <p:nvSpPr>
            <p:cNvPr id="12313" name="Rectangle 23"/>
            <p:cNvSpPr>
              <a:spLocks noChangeArrowheads="1"/>
            </p:cNvSpPr>
            <p:nvPr/>
          </p:nvSpPr>
          <p:spPr bwMode="auto">
            <a:xfrm>
              <a:off x="1215" y="1378"/>
              <a:ext cx="202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 i="1"/>
                <a:t>T</a:t>
              </a:r>
            </a:p>
          </p:txBody>
        </p:sp>
        <p:sp>
          <p:nvSpPr>
            <p:cNvPr id="12314" name="Rectangle 24"/>
            <p:cNvSpPr>
              <a:spLocks noChangeArrowheads="1"/>
            </p:cNvSpPr>
            <p:nvPr/>
          </p:nvSpPr>
          <p:spPr bwMode="auto">
            <a:xfrm>
              <a:off x="967" y="1968"/>
              <a:ext cx="177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ym typeface="Symbol" pitchFamily="18" charset="2"/>
                </a:rPr>
                <a:t></a:t>
              </a:r>
              <a:endParaRPr lang="en-US" sz="1800"/>
            </a:p>
          </p:txBody>
        </p:sp>
        <p:sp>
          <p:nvSpPr>
            <p:cNvPr id="12315" name="Rectangle 25"/>
            <p:cNvSpPr>
              <a:spLocks noChangeArrowheads="1"/>
            </p:cNvSpPr>
            <p:nvPr/>
          </p:nvSpPr>
          <p:spPr bwMode="auto">
            <a:xfrm>
              <a:off x="1199" y="3279"/>
              <a:ext cx="1898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Minimum delay = 3</a:t>
              </a:r>
              <a:r>
                <a:rPr lang="en-US" i="1">
                  <a:sym typeface="Symbol" pitchFamily="18" charset="2"/>
                </a:rPr>
                <a:t></a:t>
              </a:r>
              <a:r>
                <a:rPr lang="en-US"/>
                <a:t> + 3</a:t>
              </a:r>
              <a:r>
                <a:rPr lang="en-US" i="1"/>
                <a:t>T</a:t>
              </a:r>
              <a:endParaRPr lang="en-US" sz="2400"/>
            </a:p>
          </p:txBody>
        </p:sp>
        <p:sp>
          <p:nvSpPr>
            <p:cNvPr id="12316" name="Rectangle 26"/>
            <p:cNvSpPr>
              <a:spLocks noChangeArrowheads="1"/>
            </p:cNvSpPr>
            <p:nvPr/>
          </p:nvSpPr>
          <p:spPr bwMode="auto">
            <a:xfrm>
              <a:off x="183" y="1767"/>
              <a:ext cx="658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Switch 1</a:t>
              </a:r>
            </a:p>
          </p:txBody>
        </p:sp>
        <p:sp>
          <p:nvSpPr>
            <p:cNvPr id="12317" name="Rectangle 27"/>
            <p:cNvSpPr>
              <a:spLocks noChangeArrowheads="1"/>
            </p:cNvSpPr>
            <p:nvPr/>
          </p:nvSpPr>
          <p:spPr bwMode="auto">
            <a:xfrm>
              <a:off x="183" y="2202"/>
              <a:ext cx="658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Switch 2</a:t>
              </a:r>
            </a:p>
          </p:txBody>
        </p:sp>
        <p:sp>
          <p:nvSpPr>
            <p:cNvPr id="12318" name="Line 28"/>
            <p:cNvSpPr>
              <a:spLocks noChangeShapeType="1"/>
            </p:cNvSpPr>
            <p:nvPr/>
          </p:nvSpPr>
          <p:spPr bwMode="auto">
            <a:xfrm>
              <a:off x="774" y="2094"/>
              <a:ext cx="1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319" name="Line 29"/>
            <p:cNvSpPr>
              <a:spLocks noChangeShapeType="1"/>
            </p:cNvSpPr>
            <p:nvPr/>
          </p:nvSpPr>
          <p:spPr bwMode="auto">
            <a:xfrm>
              <a:off x="1206" y="2000"/>
              <a:ext cx="0" cy="2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320" name="Line 30"/>
            <p:cNvSpPr>
              <a:spLocks noChangeShapeType="1"/>
            </p:cNvSpPr>
            <p:nvPr/>
          </p:nvSpPr>
          <p:spPr bwMode="auto">
            <a:xfrm>
              <a:off x="1206" y="2094"/>
              <a:ext cx="1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2291" name="Rectangle 3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Message Switching Delay</a:t>
            </a:r>
          </a:p>
        </p:txBody>
      </p:sp>
      <p:sp>
        <p:nvSpPr>
          <p:cNvPr id="12292" name="Rectangle 33"/>
          <p:cNvSpPr>
            <a:spLocks noChangeArrowheads="1"/>
          </p:cNvSpPr>
          <p:nvPr/>
        </p:nvSpPr>
        <p:spPr bwMode="auto">
          <a:xfrm>
            <a:off x="1387475" y="5499100"/>
            <a:ext cx="4814888" cy="6429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What if  the message size is too long?</a:t>
            </a:r>
          </a:p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Not suitable for </a:t>
            </a:r>
            <a:r>
              <a:rPr lang="en-US" sz="1800" b="1"/>
              <a:t>Interactive </a:t>
            </a:r>
            <a:r>
              <a:rPr lang="en-US" sz="1800"/>
              <a:t>applications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Long Messages vs. Packets</a:t>
            </a:r>
          </a:p>
        </p:txBody>
      </p:sp>
      <p:sp>
        <p:nvSpPr>
          <p:cNvPr id="1196056" name="Rectangle 24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784475"/>
            <a:ext cx="4038600" cy="3768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smtClean="0"/>
              <a:t>Approach 1:  send 1 Mbit message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Probability message arrives correctly</a:t>
            </a:r>
          </a:p>
          <a:p>
            <a:pPr eaLnBrk="1" hangingPunct="1">
              <a:lnSpc>
                <a:spcPct val="90000"/>
              </a:lnSpc>
            </a:pPr>
            <a:endParaRPr lang="en-US" sz="2400" smtClean="0"/>
          </a:p>
          <a:p>
            <a:pPr eaLnBrk="1" hangingPunct="1">
              <a:lnSpc>
                <a:spcPct val="90000"/>
              </a:lnSpc>
            </a:pPr>
            <a:endParaRPr lang="en-US" sz="2600" smtClean="0"/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On average it takes about 3 transmissions/hop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Total # bits transmitted </a:t>
            </a:r>
            <a:r>
              <a:rPr lang="en-US" sz="2200" smtClean="0">
                <a:cs typeface="Arial" charset="0"/>
              </a:rPr>
              <a:t>≈ 6 Mbits to get 1 Mbit across the hops	</a:t>
            </a:r>
            <a:endParaRPr lang="en-US" sz="2600" smtClean="0"/>
          </a:p>
        </p:txBody>
      </p:sp>
      <p:sp>
        <p:nvSpPr>
          <p:cNvPr id="1030" name="Text Box 11"/>
          <p:cNvSpPr txBox="1">
            <a:spLocks noChangeArrowheads="1"/>
          </p:cNvSpPr>
          <p:nvPr/>
        </p:nvSpPr>
        <p:spPr bwMode="auto">
          <a:xfrm>
            <a:off x="155575" y="1274763"/>
            <a:ext cx="121443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/>
              <a:t>1 Mbit </a:t>
            </a:r>
          </a:p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/>
              <a:t>message</a:t>
            </a:r>
          </a:p>
        </p:txBody>
      </p:sp>
      <p:grpSp>
        <p:nvGrpSpPr>
          <p:cNvPr id="1031" name="Group 23"/>
          <p:cNvGrpSpPr>
            <a:grpSpLocks/>
          </p:cNvGrpSpPr>
          <p:nvPr/>
        </p:nvGrpSpPr>
        <p:grpSpPr bwMode="auto">
          <a:xfrm>
            <a:off x="1592263" y="1295400"/>
            <a:ext cx="6283325" cy="873125"/>
            <a:chOff x="704" y="913"/>
            <a:chExt cx="3958" cy="550"/>
          </a:xfrm>
        </p:grpSpPr>
        <p:sp>
          <p:nvSpPr>
            <p:cNvPr id="1034" name="Rectangle 4"/>
            <p:cNvSpPr>
              <a:spLocks noChangeArrowheads="1"/>
            </p:cNvSpPr>
            <p:nvPr/>
          </p:nvSpPr>
          <p:spPr bwMode="auto">
            <a:xfrm>
              <a:off x="2447" y="1002"/>
              <a:ext cx="479" cy="38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5" name="Oval 5"/>
            <p:cNvSpPr>
              <a:spLocks noChangeArrowheads="1"/>
            </p:cNvSpPr>
            <p:nvPr/>
          </p:nvSpPr>
          <p:spPr bwMode="auto">
            <a:xfrm>
              <a:off x="704" y="913"/>
              <a:ext cx="517" cy="47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source</a:t>
              </a:r>
            </a:p>
          </p:txBody>
        </p:sp>
        <p:sp>
          <p:nvSpPr>
            <p:cNvPr id="1036" name="Oval 8"/>
            <p:cNvSpPr>
              <a:spLocks noChangeArrowheads="1"/>
            </p:cNvSpPr>
            <p:nvPr/>
          </p:nvSpPr>
          <p:spPr bwMode="auto">
            <a:xfrm>
              <a:off x="4145" y="926"/>
              <a:ext cx="517" cy="47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dest</a:t>
              </a:r>
            </a:p>
          </p:txBody>
        </p:sp>
        <p:sp>
          <p:nvSpPr>
            <p:cNvPr id="1037" name="Line 9"/>
            <p:cNvSpPr>
              <a:spLocks noChangeShapeType="1"/>
            </p:cNvSpPr>
            <p:nvPr/>
          </p:nvSpPr>
          <p:spPr bwMode="auto">
            <a:xfrm>
              <a:off x="1236" y="1145"/>
              <a:ext cx="1196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38" name="Line 10"/>
            <p:cNvSpPr>
              <a:spLocks noChangeShapeType="1"/>
            </p:cNvSpPr>
            <p:nvPr/>
          </p:nvSpPr>
          <p:spPr bwMode="auto">
            <a:xfrm>
              <a:off x="2935" y="1166"/>
              <a:ext cx="1196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39" name="Text Box 12"/>
            <p:cNvSpPr txBox="1">
              <a:spLocks noChangeArrowheads="1"/>
            </p:cNvSpPr>
            <p:nvPr/>
          </p:nvSpPr>
          <p:spPr bwMode="auto">
            <a:xfrm>
              <a:off x="1431" y="1207"/>
              <a:ext cx="99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BER=p=10</a:t>
              </a:r>
              <a:r>
                <a:rPr lang="en-US" baseline="30000"/>
                <a:t>-6</a:t>
              </a:r>
              <a:endParaRPr lang="en-US"/>
            </a:p>
          </p:txBody>
        </p:sp>
        <p:sp>
          <p:nvSpPr>
            <p:cNvPr id="1040" name="Text Box 13"/>
            <p:cNvSpPr txBox="1">
              <a:spLocks noChangeArrowheads="1"/>
            </p:cNvSpPr>
            <p:nvPr/>
          </p:nvSpPr>
          <p:spPr bwMode="auto">
            <a:xfrm>
              <a:off x="3136" y="1213"/>
              <a:ext cx="81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BER=10</a:t>
              </a:r>
              <a:r>
                <a:rPr lang="en-US" baseline="30000"/>
                <a:t>-6</a:t>
              </a:r>
              <a:endParaRPr lang="en-US"/>
            </a:p>
          </p:txBody>
        </p:sp>
      </p:grpSp>
      <p:sp>
        <p:nvSpPr>
          <p:cNvPr id="1032" name="Text Box 14"/>
          <p:cNvSpPr txBox="1">
            <a:spLocks noChangeArrowheads="1"/>
          </p:cNvSpPr>
          <p:nvPr/>
        </p:nvSpPr>
        <p:spPr bwMode="auto">
          <a:xfrm>
            <a:off x="347663" y="2211388"/>
            <a:ext cx="89995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2400"/>
              <a:t>How many bits in bw need to be transmitted to deliver message?</a:t>
            </a:r>
          </a:p>
        </p:txBody>
      </p:sp>
      <p:sp>
        <p:nvSpPr>
          <p:cNvPr id="1196058" name="Rectangle 26"/>
          <p:cNvSpPr>
            <a:spLocks noChangeArrowheads="1"/>
          </p:cNvSpPr>
          <p:nvPr/>
        </p:nvSpPr>
        <p:spPr bwMode="auto">
          <a:xfrm>
            <a:off x="4699000" y="2781300"/>
            <a:ext cx="4038600" cy="376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buClr>
                <a:schemeClr val="tx2"/>
              </a:buClr>
              <a:buFont typeface="Wingdings" pitchFamily="2" charset="2"/>
              <a:buChar char="l"/>
            </a:pPr>
            <a:r>
              <a:rPr lang="en-US" sz="2400"/>
              <a:t>Approach 2:  send 10 100-kbit packets</a:t>
            </a:r>
          </a:p>
          <a:p>
            <a:pPr marL="342900" indent="-342900" algn="l">
              <a:buClr>
                <a:schemeClr val="tx2"/>
              </a:buClr>
              <a:buFont typeface="Wingdings" pitchFamily="2" charset="2"/>
              <a:buChar char="l"/>
            </a:pPr>
            <a:r>
              <a:rPr lang="en-US" sz="2400"/>
              <a:t>Probability packet arrives correctly</a:t>
            </a:r>
          </a:p>
          <a:p>
            <a:pPr marL="342900" indent="-342900" algn="l">
              <a:buClr>
                <a:schemeClr val="tx2"/>
              </a:buClr>
              <a:buFont typeface="Wingdings" pitchFamily="2" charset="2"/>
              <a:buChar char="l"/>
            </a:pPr>
            <a:endParaRPr lang="en-US" sz="2400"/>
          </a:p>
          <a:p>
            <a:pPr marL="342900" indent="-342900" algn="l">
              <a:buClr>
                <a:schemeClr val="tx2"/>
              </a:buClr>
              <a:buFont typeface="Wingdings" pitchFamily="2" charset="2"/>
              <a:buChar char="l"/>
            </a:pPr>
            <a:r>
              <a:rPr lang="en-US" sz="2400"/>
              <a:t>On average it takes about 1.1 transmissions/hop</a:t>
            </a:r>
          </a:p>
          <a:p>
            <a:pPr marL="342900" indent="-342900" algn="l">
              <a:buClr>
                <a:schemeClr val="tx2"/>
              </a:buClr>
              <a:buFont typeface="Wingdings" pitchFamily="2" charset="2"/>
              <a:buChar char="l"/>
            </a:pPr>
            <a:r>
              <a:rPr lang="en-US" sz="2400"/>
              <a:t>Total # bits transmitted </a:t>
            </a:r>
            <a:r>
              <a:rPr lang="en-US" sz="2400">
                <a:cs typeface="Arial" charset="0"/>
              </a:rPr>
              <a:t>≈ 2.2 Mbits </a:t>
            </a:r>
            <a:r>
              <a:rPr lang="en-US" sz="2800">
                <a:cs typeface="Arial" charset="0"/>
              </a:rPr>
              <a:t>to get 1 Mbit across the hops	</a:t>
            </a:r>
            <a:endParaRPr lang="en-US" sz="2600"/>
          </a:p>
        </p:txBody>
      </p:sp>
      <p:graphicFrame>
        <p:nvGraphicFramePr>
          <p:cNvPr id="1196059" name="Object 27"/>
          <p:cNvGraphicFramePr>
            <a:graphicFrameLocks noChangeAspect="1"/>
          </p:cNvGraphicFramePr>
          <p:nvPr/>
        </p:nvGraphicFramePr>
        <p:xfrm>
          <a:off x="782638" y="4421188"/>
          <a:ext cx="3494087" cy="534987"/>
        </p:xfrm>
        <a:graphic>
          <a:graphicData uri="http://schemas.openxmlformats.org/presentationml/2006/ole">
            <p:oleObj spid="_x0000_s1026" name="Equation" r:id="rId4" imgW="2286000" imgH="266700" progId="Equation.3">
              <p:embed/>
            </p:oleObj>
          </a:graphicData>
        </a:graphic>
      </p:graphicFrame>
      <p:graphicFrame>
        <p:nvGraphicFramePr>
          <p:cNvPr id="1196060" name="Object 28"/>
          <p:cNvGraphicFramePr>
            <a:graphicFrameLocks noChangeAspect="1"/>
          </p:cNvGraphicFramePr>
          <p:nvPr/>
        </p:nvGraphicFramePr>
        <p:xfrm>
          <a:off x="4813300" y="4432300"/>
          <a:ext cx="4005263" cy="460375"/>
        </p:xfrm>
        <a:graphic>
          <a:graphicData uri="http://schemas.openxmlformats.org/presentationml/2006/ole">
            <p:oleObj spid="_x0000_s1027" name="Equation" r:id="rId5" imgW="2323092" imgH="266584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96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1960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1960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1960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1960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196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196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6056" grpId="0" build="p"/>
      <p:bldP spid="119605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Packet Switching - Datagram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79400" y="1447800"/>
            <a:ext cx="5075238" cy="5045075"/>
          </a:xfrm>
          <a:noFill/>
        </p:spPr>
        <p:txBody>
          <a:bodyPr lIns="90488" tIns="44450" rIns="90488" bIns="44450"/>
          <a:lstStyle/>
          <a:p>
            <a:pPr algn="just" eaLnBrk="1" hangingPunct="1">
              <a:lnSpc>
                <a:spcPct val="80000"/>
              </a:lnSpc>
            </a:pPr>
            <a:r>
              <a:rPr lang="en-US" sz="2400" smtClean="0"/>
              <a:t>Messages broken into smaller units (packets)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sz="2400" smtClean="0"/>
              <a:t>Source &amp; destination addresses in packet header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sz="2400" smtClean="0"/>
              <a:t>Connectionless, packets routed independently (datagram)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sz="2400" smtClean="0"/>
              <a:t>Packet may arrive out of order’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sz="2400" smtClean="0"/>
              <a:t>Pipelining of packets across network can reduce delay, increase throughput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sz="2400" smtClean="0"/>
              <a:t>Lower delay that message switching, suitable for interactive traffic</a:t>
            </a:r>
          </a:p>
        </p:txBody>
      </p:sp>
      <p:grpSp>
        <p:nvGrpSpPr>
          <p:cNvPr id="13316" name="Group 42"/>
          <p:cNvGrpSpPr>
            <a:grpSpLocks/>
          </p:cNvGrpSpPr>
          <p:nvPr/>
        </p:nvGrpSpPr>
        <p:grpSpPr bwMode="auto">
          <a:xfrm>
            <a:off x="5367338" y="1484313"/>
            <a:ext cx="3340100" cy="3300412"/>
            <a:chOff x="720" y="618"/>
            <a:chExt cx="4376" cy="2953"/>
          </a:xfrm>
        </p:grpSpPr>
        <p:sp>
          <p:nvSpPr>
            <p:cNvPr id="13317" name="Line 43"/>
            <p:cNvSpPr>
              <a:spLocks noChangeShapeType="1"/>
            </p:cNvSpPr>
            <p:nvPr/>
          </p:nvSpPr>
          <p:spPr bwMode="auto">
            <a:xfrm flipV="1">
              <a:off x="1077" y="1242"/>
              <a:ext cx="971" cy="3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318" name="Line 44"/>
            <p:cNvSpPr>
              <a:spLocks noChangeShapeType="1"/>
            </p:cNvSpPr>
            <p:nvPr/>
          </p:nvSpPr>
          <p:spPr bwMode="auto">
            <a:xfrm>
              <a:off x="2303" y="1252"/>
              <a:ext cx="700" cy="3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319" name="Line 45"/>
            <p:cNvSpPr>
              <a:spLocks noChangeShapeType="1"/>
            </p:cNvSpPr>
            <p:nvPr/>
          </p:nvSpPr>
          <p:spPr bwMode="auto">
            <a:xfrm>
              <a:off x="3258" y="1692"/>
              <a:ext cx="671" cy="3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320" name="Line 46"/>
            <p:cNvSpPr>
              <a:spLocks noChangeShapeType="1"/>
            </p:cNvSpPr>
            <p:nvPr/>
          </p:nvSpPr>
          <p:spPr bwMode="auto">
            <a:xfrm>
              <a:off x="4130" y="2184"/>
              <a:ext cx="521" cy="6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321" name="Line 47"/>
            <p:cNvSpPr>
              <a:spLocks noChangeShapeType="1"/>
            </p:cNvSpPr>
            <p:nvPr/>
          </p:nvSpPr>
          <p:spPr bwMode="auto">
            <a:xfrm>
              <a:off x="2149" y="1317"/>
              <a:ext cx="0" cy="14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322" name="Line 48"/>
            <p:cNvSpPr>
              <a:spLocks noChangeShapeType="1"/>
            </p:cNvSpPr>
            <p:nvPr/>
          </p:nvSpPr>
          <p:spPr bwMode="auto">
            <a:xfrm flipH="1">
              <a:off x="2211" y="2223"/>
              <a:ext cx="201" cy="5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323" name="Line 49"/>
            <p:cNvSpPr>
              <a:spLocks noChangeShapeType="1"/>
            </p:cNvSpPr>
            <p:nvPr/>
          </p:nvSpPr>
          <p:spPr bwMode="auto">
            <a:xfrm>
              <a:off x="2249" y="1290"/>
              <a:ext cx="153" cy="7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324" name="Line 50"/>
            <p:cNvSpPr>
              <a:spLocks noChangeShapeType="1"/>
            </p:cNvSpPr>
            <p:nvPr/>
          </p:nvSpPr>
          <p:spPr bwMode="auto">
            <a:xfrm>
              <a:off x="2549" y="2172"/>
              <a:ext cx="548" cy="3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325" name="Line 51"/>
            <p:cNvSpPr>
              <a:spLocks noChangeShapeType="1"/>
            </p:cNvSpPr>
            <p:nvPr/>
          </p:nvSpPr>
          <p:spPr bwMode="auto">
            <a:xfrm flipV="1">
              <a:off x="2263" y="2706"/>
              <a:ext cx="752" cy="1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326" name="Line 52"/>
            <p:cNvSpPr>
              <a:spLocks noChangeShapeType="1"/>
            </p:cNvSpPr>
            <p:nvPr/>
          </p:nvSpPr>
          <p:spPr bwMode="auto">
            <a:xfrm flipV="1">
              <a:off x="2522" y="1696"/>
              <a:ext cx="493" cy="3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327" name="Line 53"/>
            <p:cNvSpPr>
              <a:spLocks noChangeShapeType="1"/>
            </p:cNvSpPr>
            <p:nvPr/>
          </p:nvSpPr>
          <p:spPr bwMode="auto">
            <a:xfrm flipV="1">
              <a:off x="1103" y="1191"/>
              <a:ext cx="849" cy="320"/>
            </a:xfrm>
            <a:prstGeom prst="line">
              <a:avLst/>
            </a:prstGeom>
            <a:noFill/>
            <a:ln w="12700">
              <a:solidFill>
                <a:srgbClr val="FF33CC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328" name="Line 54"/>
            <p:cNvSpPr>
              <a:spLocks noChangeShapeType="1"/>
            </p:cNvSpPr>
            <p:nvPr/>
          </p:nvSpPr>
          <p:spPr bwMode="auto">
            <a:xfrm>
              <a:off x="4238" y="2184"/>
              <a:ext cx="441" cy="534"/>
            </a:xfrm>
            <a:prstGeom prst="line">
              <a:avLst/>
            </a:prstGeom>
            <a:noFill/>
            <a:ln w="12700">
              <a:solidFill>
                <a:srgbClr val="FF33CC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329" name="Line 55"/>
            <p:cNvSpPr>
              <a:spLocks noChangeShapeType="1"/>
            </p:cNvSpPr>
            <p:nvPr/>
          </p:nvSpPr>
          <p:spPr bwMode="auto">
            <a:xfrm>
              <a:off x="2330" y="1174"/>
              <a:ext cx="726" cy="328"/>
            </a:xfrm>
            <a:prstGeom prst="line">
              <a:avLst/>
            </a:prstGeom>
            <a:noFill/>
            <a:ln w="19050">
              <a:solidFill>
                <a:srgbClr val="FF33CC"/>
              </a:solidFill>
              <a:prstDash val="lgDashDotDot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330" name="Line 56"/>
            <p:cNvSpPr>
              <a:spLocks noChangeShapeType="1"/>
            </p:cNvSpPr>
            <p:nvPr/>
          </p:nvSpPr>
          <p:spPr bwMode="auto">
            <a:xfrm>
              <a:off x="3312" y="1640"/>
              <a:ext cx="590" cy="314"/>
            </a:xfrm>
            <a:prstGeom prst="line">
              <a:avLst/>
            </a:prstGeom>
            <a:noFill/>
            <a:ln w="19050">
              <a:solidFill>
                <a:srgbClr val="FF33CC"/>
              </a:solidFill>
              <a:prstDash val="lgDashDotDot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331" name="Rectangle 57"/>
            <p:cNvSpPr>
              <a:spLocks noChangeArrowheads="1"/>
            </p:cNvSpPr>
            <p:nvPr/>
          </p:nvSpPr>
          <p:spPr bwMode="auto">
            <a:xfrm>
              <a:off x="1255" y="1759"/>
              <a:ext cx="862" cy="20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lnSpc>
                  <a:spcPct val="75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Packet 2</a:t>
              </a:r>
            </a:p>
          </p:txBody>
        </p:sp>
        <p:sp>
          <p:nvSpPr>
            <p:cNvPr id="13332" name="Rectangle 58"/>
            <p:cNvSpPr>
              <a:spLocks noChangeArrowheads="1"/>
            </p:cNvSpPr>
            <p:nvPr/>
          </p:nvSpPr>
          <p:spPr bwMode="auto">
            <a:xfrm>
              <a:off x="2443" y="968"/>
              <a:ext cx="862" cy="25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Packet 1</a:t>
              </a:r>
            </a:p>
          </p:txBody>
        </p:sp>
        <p:sp>
          <p:nvSpPr>
            <p:cNvPr id="13333" name="Rectangle 59"/>
            <p:cNvSpPr>
              <a:spLocks noChangeArrowheads="1"/>
            </p:cNvSpPr>
            <p:nvPr/>
          </p:nvSpPr>
          <p:spPr bwMode="auto">
            <a:xfrm>
              <a:off x="3453" y="1391"/>
              <a:ext cx="861" cy="2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Packet 1</a:t>
              </a:r>
            </a:p>
          </p:txBody>
        </p:sp>
        <p:sp>
          <p:nvSpPr>
            <p:cNvPr id="13334" name="Line 60"/>
            <p:cNvSpPr>
              <a:spLocks noChangeShapeType="1"/>
            </p:cNvSpPr>
            <p:nvPr/>
          </p:nvSpPr>
          <p:spPr bwMode="auto">
            <a:xfrm flipV="1">
              <a:off x="2277" y="2795"/>
              <a:ext cx="740" cy="179"/>
            </a:xfrm>
            <a:prstGeom prst="line">
              <a:avLst/>
            </a:prstGeom>
            <a:noFill/>
            <a:ln w="19050">
              <a:solidFill>
                <a:srgbClr val="FF33CC"/>
              </a:solidFill>
              <a:prstDash val="dashDot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335" name="Line 61"/>
            <p:cNvSpPr>
              <a:spLocks noChangeShapeType="1"/>
            </p:cNvSpPr>
            <p:nvPr/>
          </p:nvSpPr>
          <p:spPr bwMode="auto">
            <a:xfrm>
              <a:off x="2053" y="1290"/>
              <a:ext cx="0" cy="1441"/>
            </a:xfrm>
            <a:prstGeom prst="line">
              <a:avLst/>
            </a:prstGeom>
            <a:noFill/>
            <a:ln w="19050">
              <a:solidFill>
                <a:srgbClr val="FF33CC"/>
              </a:solidFill>
              <a:prstDash val="dashDot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336" name="Rectangle 62"/>
            <p:cNvSpPr>
              <a:spLocks noChangeArrowheads="1"/>
            </p:cNvSpPr>
            <p:nvPr/>
          </p:nvSpPr>
          <p:spPr bwMode="auto">
            <a:xfrm>
              <a:off x="3437" y="2531"/>
              <a:ext cx="862" cy="20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lnSpc>
                  <a:spcPct val="75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Packet 2</a:t>
              </a:r>
            </a:p>
          </p:txBody>
        </p:sp>
        <p:sp>
          <p:nvSpPr>
            <p:cNvPr id="13337" name="Line 63"/>
            <p:cNvSpPr>
              <a:spLocks noChangeShapeType="1"/>
            </p:cNvSpPr>
            <p:nvPr/>
          </p:nvSpPr>
          <p:spPr bwMode="auto">
            <a:xfrm flipV="1">
              <a:off x="3272" y="2199"/>
              <a:ext cx="644" cy="4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338" name="Line 64"/>
            <p:cNvSpPr>
              <a:spLocks noChangeShapeType="1"/>
            </p:cNvSpPr>
            <p:nvPr/>
          </p:nvSpPr>
          <p:spPr bwMode="auto">
            <a:xfrm flipV="1">
              <a:off x="3326" y="2277"/>
              <a:ext cx="631" cy="437"/>
            </a:xfrm>
            <a:prstGeom prst="line">
              <a:avLst/>
            </a:prstGeom>
            <a:noFill/>
            <a:ln w="19050">
              <a:solidFill>
                <a:srgbClr val="FF33CC"/>
              </a:solidFill>
              <a:prstDash val="dashDot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339" name="Rectangle 65"/>
            <p:cNvSpPr>
              <a:spLocks noChangeArrowheads="1"/>
            </p:cNvSpPr>
            <p:nvPr/>
          </p:nvSpPr>
          <p:spPr bwMode="auto">
            <a:xfrm>
              <a:off x="2302" y="2994"/>
              <a:ext cx="862" cy="20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lnSpc>
                  <a:spcPct val="75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Packet 2</a:t>
              </a:r>
            </a:p>
          </p:txBody>
        </p:sp>
        <p:sp>
          <p:nvSpPr>
            <p:cNvPr id="13340" name="Freeform 66"/>
            <p:cNvSpPr>
              <a:spLocks/>
            </p:cNvSpPr>
            <p:nvPr/>
          </p:nvSpPr>
          <p:spPr bwMode="auto">
            <a:xfrm>
              <a:off x="735" y="1793"/>
              <a:ext cx="380" cy="22"/>
            </a:xfrm>
            <a:custGeom>
              <a:avLst/>
              <a:gdLst>
                <a:gd name="T0" fmla="*/ 0 w 206"/>
                <a:gd name="T1" fmla="*/ 33 h 20"/>
                <a:gd name="T2" fmla="*/ 0 w 206"/>
                <a:gd name="T3" fmla="*/ 0 h 20"/>
                <a:gd name="T4" fmla="*/ 8072 w 206"/>
                <a:gd name="T5" fmla="*/ 0 h 20"/>
                <a:gd name="T6" fmla="*/ 8072 w 206"/>
                <a:gd name="T7" fmla="*/ 33 h 20"/>
                <a:gd name="T8" fmla="*/ 0 w 206"/>
                <a:gd name="T9" fmla="*/ 33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6"/>
                <a:gd name="T16" fmla="*/ 0 h 20"/>
                <a:gd name="T17" fmla="*/ 206 w 206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6" h="20">
                  <a:moveTo>
                    <a:pt x="0" y="19"/>
                  </a:moveTo>
                  <a:lnTo>
                    <a:pt x="0" y="0"/>
                  </a:lnTo>
                  <a:lnTo>
                    <a:pt x="205" y="0"/>
                  </a:lnTo>
                  <a:lnTo>
                    <a:pt x="205" y="19"/>
                  </a:lnTo>
                  <a:lnTo>
                    <a:pt x="0" y="19"/>
                  </a:lnTo>
                </a:path>
              </a:pathLst>
            </a:custGeom>
            <a:solidFill>
              <a:srgbClr val="666666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1" name="Freeform 67"/>
            <p:cNvSpPr>
              <a:spLocks/>
            </p:cNvSpPr>
            <p:nvPr/>
          </p:nvSpPr>
          <p:spPr bwMode="auto">
            <a:xfrm>
              <a:off x="720" y="1686"/>
              <a:ext cx="406" cy="38"/>
            </a:xfrm>
            <a:custGeom>
              <a:avLst/>
              <a:gdLst>
                <a:gd name="T0" fmla="*/ 7465 w 220"/>
                <a:gd name="T1" fmla="*/ 0 h 34"/>
                <a:gd name="T2" fmla="*/ 8653 w 220"/>
                <a:gd name="T3" fmla="*/ 64 h 34"/>
                <a:gd name="T4" fmla="*/ 0 w 220"/>
                <a:gd name="T5" fmla="*/ 64 h 34"/>
                <a:gd name="T6" fmla="*/ 1161 w 220"/>
                <a:gd name="T7" fmla="*/ 0 h 34"/>
                <a:gd name="T8" fmla="*/ 7465 w 220"/>
                <a:gd name="T9" fmla="*/ 0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0"/>
                <a:gd name="T16" fmla="*/ 0 h 34"/>
                <a:gd name="T17" fmla="*/ 220 w 220"/>
                <a:gd name="T18" fmla="*/ 34 h 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0" h="34">
                  <a:moveTo>
                    <a:pt x="189" y="0"/>
                  </a:moveTo>
                  <a:lnTo>
                    <a:pt x="219" y="33"/>
                  </a:lnTo>
                  <a:lnTo>
                    <a:pt x="0" y="33"/>
                  </a:lnTo>
                  <a:lnTo>
                    <a:pt x="29" y="0"/>
                  </a:lnTo>
                  <a:lnTo>
                    <a:pt x="189" y="0"/>
                  </a:lnTo>
                </a:path>
              </a:pathLst>
            </a:custGeom>
            <a:solidFill>
              <a:srgbClr val="EFEFD1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2" name="Freeform 68"/>
            <p:cNvSpPr>
              <a:spLocks/>
            </p:cNvSpPr>
            <p:nvPr/>
          </p:nvSpPr>
          <p:spPr bwMode="auto">
            <a:xfrm>
              <a:off x="825" y="1681"/>
              <a:ext cx="192" cy="27"/>
            </a:xfrm>
            <a:custGeom>
              <a:avLst/>
              <a:gdLst>
                <a:gd name="T0" fmla="*/ 4032 w 104"/>
                <a:gd name="T1" fmla="*/ 20 h 24"/>
                <a:gd name="T2" fmla="*/ 3984 w 104"/>
                <a:gd name="T3" fmla="*/ 16 h 24"/>
                <a:gd name="T4" fmla="*/ 3831 w 104"/>
                <a:gd name="T5" fmla="*/ 12 h 24"/>
                <a:gd name="T6" fmla="*/ 3694 w 104"/>
                <a:gd name="T7" fmla="*/ 10 h 24"/>
                <a:gd name="T8" fmla="*/ 3449 w 104"/>
                <a:gd name="T9" fmla="*/ 3 h 24"/>
                <a:gd name="T10" fmla="*/ 3170 w 104"/>
                <a:gd name="T11" fmla="*/ 2 h 24"/>
                <a:gd name="T12" fmla="*/ 2856 w 104"/>
                <a:gd name="T13" fmla="*/ 1 h 24"/>
                <a:gd name="T14" fmla="*/ 2529 w 104"/>
                <a:gd name="T15" fmla="*/ 0 h 24"/>
                <a:gd name="T16" fmla="*/ 2184 w 104"/>
                <a:gd name="T17" fmla="*/ 0 h 24"/>
                <a:gd name="T18" fmla="*/ 1824 w 104"/>
                <a:gd name="T19" fmla="*/ 0 h 24"/>
                <a:gd name="T20" fmla="*/ 1466 w 104"/>
                <a:gd name="T21" fmla="*/ 0 h 24"/>
                <a:gd name="T22" fmla="*/ 1165 w 104"/>
                <a:gd name="T23" fmla="*/ 1 h 24"/>
                <a:gd name="T24" fmla="*/ 838 w 104"/>
                <a:gd name="T25" fmla="*/ 2 h 24"/>
                <a:gd name="T26" fmla="*/ 559 w 104"/>
                <a:gd name="T27" fmla="*/ 3 h 24"/>
                <a:gd name="T28" fmla="*/ 327 w 104"/>
                <a:gd name="T29" fmla="*/ 10 h 24"/>
                <a:gd name="T30" fmla="*/ 150 w 104"/>
                <a:gd name="T31" fmla="*/ 12 h 24"/>
                <a:gd name="T32" fmla="*/ 44 w 104"/>
                <a:gd name="T33" fmla="*/ 16 h 24"/>
                <a:gd name="T34" fmla="*/ 0 w 104"/>
                <a:gd name="T35" fmla="*/ 20 h 24"/>
                <a:gd name="T36" fmla="*/ 0 w 104"/>
                <a:gd name="T37" fmla="*/ 26 h 24"/>
                <a:gd name="T38" fmla="*/ 44 w 104"/>
                <a:gd name="T39" fmla="*/ 29 h 24"/>
                <a:gd name="T40" fmla="*/ 150 w 104"/>
                <a:gd name="T41" fmla="*/ 33 h 24"/>
                <a:gd name="T42" fmla="*/ 327 w 104"/>
                <a:gd name="T43" fmla="*/ 34 h 24"/>
                <a:gd name="T44" fmla="*/ 559 w 104"/>
                <a:gd name="T45" fmla="*/ 38 h 24"/>
                <a:gd name="T46" fmla="*/ 838 w 104"/>
                <a:gd name="T47" fmla="*/ 42 h 24"/>
                <a:gd name="T48" fmla="*/ 1165 w 104"/>
                <a:gd name="T49" fmla="*/ 43 h 24"/>
                <a:gd name="T50" fmla="*/ 1466 w 104"/>
                <a:gd name="T51" fmla="*/ 44 h 24"/>
                <a:gd name="T52" fmla="*/ 1824 w 104"/>
                <a:gd name="T53" fmla="*/ 47 h 24"/>
                <a:gd name="T54" fmla="*/ 2184 w 104"/>
                <a:gd name="T55" fmla="*/ 47 h 24"/>
                <a:gd name="T56" fmla="*/ 2529 w 104"/>
                <a:gd name="T57" fmla="*/ 44 h 24"/>
                <a:gd name="T58" fmla="*/ 2856 w 104"/>
                <a:gd name="T59" fmla="*/ 43 h 24"/>
                <a:gd name="T60" fmla="*/ 3170 w 104"/>
                <a:gd name="T61" fmla="*/ 42 h 24"/>
                <a:gd name="T62" fmla="*/ 3449 w 104"/>
                <a:gd name="T63" fmla="*/ 38 h 24"/>
                <a:gd name="T64" fmla="*/ 3694 w 104"/>
                <a:gd name="T65" fmla="*/ 34 h 24"/>
                <a:gd name="T66" fmla="*/ 3831 w 104"/>
                <a:gd name="T67" fmla="*/ 33 h 24"/>
                <a:gd name="T68" fmla="*/ 3984 w 104"/>
                <a:gd name="T69" fmla="*/ 29 h 24"/>
                <a:gd name="T70" fmla="*/ 4032 w 104"/>
                <a:gd name="T71" fmla="*/ 26 h 2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04"/>
                <a:gd name="T109" fmla="*/ 0 h 24"/>
                <a:gd name="T110" fmla="*/ 104 w 104"/>
                <a:gd name="T111" fmla="*/ 24 h 2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04" h="24">
                  <a:moveTo>
                    <a:pt x="103" y="11"/>
                  </a:moveTo>
                  <a:lnTo>
                    <a:pt x="102" y="10"/>
                  </a:lnTo>
                  <a:lnTo>
                    <a:pt x="102" y="9"/>
                  </a:lnTo>
                  <a:lnTo>
                    <a:pt x="101" y="8"/>
                  </a:lnTo>
                  <a:lnTo>
                    <a:pt x="99" y="7"/>
                  </a:lnTo>
                  <a:lnTo>
                    <a:pt x="97" y="6"/>
                  </a:lnTo>
                  <a:lnTo>
                    <a:pt x="95" y="6"/>
                  </a:lnTo>
                  <a:lnTo>
                    <a:pt x="93" y="4"/>
                  </a:lnTo>
                  <a:lnTo>
                    <a:pt x="90" y="4"/>
                  </a:lnTo>
                  <a:lnTo>
                    <a:pt x="87" y="3"/>
                  </a:lnTo>
                  <a:lnTo>
                    <a:pt x="84" y="2"/>
                  </a:lnTo>
                  <a:lnTo>
                    <a:pt x="80" y="2"/>
                  </a:lnTo>
                  <a:lnTo>
                    <a:pt x="76" y="1"/>
                  </a:lnTo>
                  <a:lnTo>
                    <a:pt x="72" y="1"/>
                  </a:lnTo>
                  <a:lnTo>
                    <a:pt x="69" y="0"/>
                  </a:lnTo>
                  <a:lnTo>
                    <a:pt x="64" y="0"/>
                  </a:lnTo>
                  <a:lnTo>
                    <a:pt x="60" y="0"/>
                  </a:lnTo>
                  <a:lnTo>
                    <a:pt x="55" y="0"/>
                  </a:lnTo>
                  <a:lnTo>
                    <a:pt x="51" y="0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7" y="0"/>
                  </a:lnTo>
                  <a:lnTo>
                    <a:pt x="33" y="0"/>
                  </a:lnTo>
                  <a:lnTo>
                    <a:pt x="29" y="1"/>
                  </a:lnTo>
                  <a:lnTo>
                    <a:pt x="25" y="1"/>
                  </a:lnTo>
                  <a:lnTo>
                    <a:pt x="21" y="2"/>
                  </a:lnTo>
                  <a:lnTo>
                    <a:pt x="17" y="2"/>
                  </a:lnTo>
                  <a:lnTo>
                    <a:pt x="14" y="3"/>
                  </a:lnTo>
                  <a:lnTo>
                    <a:pt x="12" y="4"/>
                  </a:lnTo>
                  <a:lnTo>
                    <a:pt x="8" y="4"/>
                  </a:lnTo>
                  <a:lnTo>
                    <a:pt x="6" y="6"/>
                  </a:lnTo>
                  <a:lnTo>
                    <a:pt x="4" y="6"/>
                  </a:lnTo>
                  <a:lnTo>
                    <a:pt x="3" y="7"/>
                  </a:lnTo>
                  <a:lnTo>
                    <a:pt x="1" y="8"/>
                  </a:lnTo>
                  <a:lnTo>
                    <a:pt x="0" y="9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1" y="14"/>
                  </a:lnTo>
                  <a:lnTo>
                    <a:pt x="3" y="15"/>
                  </a:lnTo>
                  <a:lnTo>
                    <a:pt x="4" y="16"/>
                  </a:lnTo>
                  <a:lnTo>
                    <a:pt x="6" y="17"/>
                  </a:lnTo>
                  <a:lnTo>
                    <a:pt x="8" y="17"/>
                  </a:lnTo>
                  <a:lnTo>
                    <a:pt x="12" y="18"/>
                  </a:lnTo>
                  <a:lnTo>
                    <a:pt x="14" y="19"/>
                  </a:lnTo>
                  <a:lnTo>
                    <a:pt x="17" y="20"/>
                  </a:lnTo>
                  <a:lnTo>
                    <a:pt x="21" y="20"/>
                  </a:lnTo>
                  <a:lnTo>
                    <a:pt x="25" y="21"/>
                  </a:lnTo>
                  <a:lnTo>
                    <a:pt x="29" y="21"/>
                  </a:lnTo>
                  <a:lnTo>
                    <a:pt x="33" y="22"/>
                  </a:lnTo>
                  <a:lnTo>
                    <a:pt x="37" y="22"/>
                  </a:lnTo>
                  <a:lnTo>
                    <a:pt x="42" y="22"/>
                  </a:lnTo>
                  <a:lnTo>
                    <a:pt x="46" y="23"/>
                  </a:lnTo>
                  <a:lnTo>
                    <a:pt x="51" y="23"/>
                  </a:lnTo>
                  <a:lnTo>
                    <a:pt x="55" y="23"/>
                  </a:lnTo>
                  <a:lnTo>
                    <a:pt x="60" y="22"/>
                  </a:lnTo>
                  <a:lnTo>
                    <a:pt x="64" y="22"/>
                  </a:lnTo>
                  <a:lnTo>
                    <a:pt x="69" y="22"/>
                  </a:lnTo>
                  <a:lnTo>
                    <a:pt x="72" y="21"/>
                  </a:lnTo>
                  <a:lnTo>
                    <a:pt x="76" y="21"/>
                  </a:lnTo>
                  <a:lnTo>
                    <a:pt x="80" y="20"/>
                  </a:lnTo>
                  <a:lnTo>
                    <a:pt x="84" y="20"/>
                  </a:lnTo>
                  <a:lnTo>
                    <a:pt x="87" y="19"/>
                  </a:lnTo>
                  <a:lnTo>
                    <a:pt x="90" y="18"/>
                  </a:lnTo>
                  <a:lnTo>
                    <a:pt x="93" y="17"/>
                  </a:lnTo>
                  <a:lnTo>
                    <a:pt x="95" y="17"/>
                  </a:lnTo>
                  <a:lnTo>
                    <a:pt x="97" y="16"/>
                  </a:lnTo>
                  <a:lnTo>
                    <a:pt x="99" y="15"/>
                  </a:lnTo>
                  <a:lnTo>
                    <a:pt x="101" y="14"/>
                  </a:lnTo>
                  <a:lnTo>
                    <a:pt x="102" y="13"/>
                  </a:lnTo>
                  <a:lnTo>
                    <a:pt x="102" y="12"/>
                  </a:lnTo>
                  <a:lnTo>
                    <a:pt x="103" y="11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3" name="Freeform 69"/>
            <p:cNvSpPr>
              <a:spLocks/>
            </p:cNvSpPr>
            <p:nvPr/>
          </p:nvSpPr>
          <p:spPr bwMode="auto">
            <a:xfrm>
              <a:off x="825" y="1695"/>
              <a:ext cx="192" cy="19"/>
            </a:xfrm>
            <a:custGeom>
              <a:avLst/>
              <a:gdLst>
                <a:gd name="T0" fmla="*/ 4032 w 104"/>
                <a:gd name="T1" fmla="*/ 12 h 17"/>
                <a:gd name="T2" fmla="*/ 3984 w 104"/>
                <a:gd name="T3" fmla="*/ 15 h 17"/>
                <a:gd name="T4" fmla="*/ 3831 w 104"/>
                <a:gd name="T5" fmla="*/ 19 h 17"/>
                <a:gd name="T6" fmla="*/ 3694 w 104"/>
                <a:gd name="T7" fmla="*/ 21 h 17"/>
                <a:gd name="T8" fmla="*/ 3449 w 104"/>
                <a:gd name="T9" fmla="*/ 23 h 17"/>
                <a:gd name="T10" fmla="*/ 3170 w 104"/>
                <a:gd name="T11" fmla="*/ 28 h 17"/>
                <a:gd name="T12" fmla="*/ 2856 w 104"/>
                <a:gd name="T13" fmla="*/ 28 h 17"/>
                <a:gd name="T14" fmla="*/ 2529 w 104"/>
                <a:gd name="T15" fmla="*/ 29 h 17"/>
                <a:gd name="T16" fmla="*/ 2184 w 104"/>
                <a:gd name="T17" fmla="*/ 31 h 17"/>
                <a:gd name="T18" fmla="*/ 1824 w 104"/>
                <a:gd name="T19" fmla="*/ 31 h 17"/>
                <a:gd name="T20" fmla="*/ 1466 w 104"/>
                <a:gd name="T21" fmla="*/ 29 h 17"/>
                <a:gd name="T22" fmla="*/ 1165 w 104"/>
                <a:gd name="T23" fmla="*/ 28 h 17"/>
                <a:gd name="T24" fmla="*/ 838 w 104"/>
                <a:gd name="T25" fmla="*/ 28 h 17"/>
                <a:gd name="T26" fmla="*/ 559 w 104"/>
                <a:gd name="T27" fmla="*/ 23 h 17"/>
                <a:gd name="T28" fmla="*/ 327 w 104"/>
                <a:gd name="T29" fmla="*/ 21 h 17"/>
                <a:gd name="T30" fmla="*/ 150 w 104"/>
                <a:gd name="T31" fmla="*/ 19 h 17"/>
                <a:gd name="T32" fmla="*/ 44 w 104"/>
                <a:gd name="T33" fmla="*/ 15 h 17"/>
                <a:gd name="T34" fmla="*/ 0 w 104"/>
                <a:gd name="T35" fmla="*/ 12 h 17"/>
                <a:gd name="T36" fmla="*/ 0 w 104"/>
                <a:gd name="T37" fmla="*/ 0 h 17"/>
                <a:gd name="T38" fmla="*/ 0 w 104"/>
                <a:gd name="T39" fmla="*/ 2 h 17"/>
                <a:gd name="T40" fmla="*/ 126 w 104"/>
                <a:gd name="T41" fmla="*/ 4 h 17"/>
                <a:gd name="T42" fmla="*/ 233 w 104"/>
                <a:gd name="T43" fmla="*/ 11 h 17"/>
                <a:gd name="T44" fmla="*/ 476 w 104"/>
                <a:gd name="T45" fmla="*/ 12 h 17"/>
                <a:gd name="T46" fmla="*/ 661 w 104"/>
                <a:gd name="T47" fmla="*/ 15 h 17"/>
                <a:gd name="T48" fmla="*/ 988 w 104"/>
                <a:gd name="T49" fmla="*/ 17 h 17"/>
                <a:gd name="T50" fmla="*/ 1316 w 104"/>
                <a:gd name="T51" fmla="*/ 19 h 17"/>
                <a:gd name="T52" fmla="*/ 1673 w 104"/>
                <a:gd name="T53" fmla="*/ 19 h 17"/>
                <a:gd name="T54" fmla="*/ 2022 w 104"/>
                <a:gd name="T55" fmla="*/ 19 h 17"/>
                <a:gd name="T56" fmla="*/ 2380 w 104"/>
                <a:gd name="T57" fmla="*/ 19 h 17"/>
                <a:gd name="T58" fmla="*/ 2719 w 104"/>
                <a:gd name="T59" fmla="*/ 19 h 17"/>
                <a:gd name="T60" fmla="*/ 2996 w 104"/>
                <a:gd name="T61" fmla="*/ 17 h 17"/>
                <a:gd name="T62" fmla="*/ 3323 w 104"/>
                <a:gd name="T63" fmla="*/ 15 h 17"/>
                <a:gd name="T64" fmla="*/ 3556 w 104"/>
                <a:gd name="T65" fmla="*/ 12 h 17"/>
                <a:gd name="T66" fmla="*/ 3750 w 104"/>
                <a:gd name="T67" fmla="*/ 11 h 17"/>
                <a:gd name="T68" fmla="*/ 3927 w 104"/>
                <a:gd name="T69" fmla="*/ 4 h 17"/>
                <a:gd name="T70" fmla="*/ 4032 w 104"/>
                <a:gd name="T71" fmla="*/ 2 h 17"/>
                <a:gd name="T72" fmla="*/ 4076 w 104"/>
                <a:gd name="T73" fmla="*/ 0 h 1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04"/>
                <a:gd name="T112" fmla="*/ 0 h 17"/>
                <a:gd name="T113" fmla="*/ 104 w 104"/>
                <a:gd name="T114" fmla="*/ 17 h 17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04" h="17">
                  <a:moveTo>
                    <a:pt x="103" y="5"/>
                  </a:moveTo>
                  <a:lnTo>
                    <a:pt x="102" y="6"/>
                  </a:lnTo>
                  <a:lnTo>
                    <a:pt x="102" y="7"/>
                  </a:lnTo>
                  <a:lnTo>
                    <a:pt x="101" y="8"/>
                  </a:lnTo>
                  <a:lnTo>
                    <a:pt x="99" y="8"/>
                  </a:lnTo>
                  <a:lnTo>
                    <a:pt x="97" y="10"/>
                  </a:lnTo>
                  <a:lnTo>
                    <a:pt x="95" y="10"/>
                  </a:lnTo>
                  <a:lnTo>
                    <a:pt x="93" y="11"/>
                  </a:lnTo>
                  <a:lnTo>
                    <a:pt x="90" y="12"/>
                  </a:lnTo>
                  <a:lnTo>
                    <a:pt x="87" y="12"/>
                  </a:lnTo>
                  <a:lnTo>
                    <a:pt x="84" y="13"/>
                  </a:lnTo>
                  <a:lnTo>
                    <a:pt x="80" y="14"/>
                  </a:lnTo>
                  <a:lnTo>
                    <a:pt x="76" y="14"/>
                  </a:lnTo>
                  <a:lnTo>
                    <a:pt x="72" y="14"/>
                  </a:lnTo>
                  <a:lnTo>
                    <a:pt x="69" y="15"/>
                  </a:lnTo>
                  <a:lnTo>
                    <a:pt x="64" y="15"/>
                  </a:lnTo>
                  <a:lnTo>
                    <a:pt x="60" y="16"/>
                  </a:lnTo>
                  <a:lnTo>
                    <a:pt x="55" y="16"/>
                  </a:lnTo>
                  <a:lnTo>
                    <a:pt x="51" y="16"/>
                  </a:lnTo>
                  <a:lnTo>
                    <a:pt x="46" y="16"/>
                  </a:lnTo>
                  <a:lnTo>
                    <a:pt x="42" y="16"/>
                  </a:lnTo>
                  <a:lnTo>
                    <a:pt x="37" y="15"/>
                  </a:lnTo>
                  <a:lnTo>
                    <a:pt x="33" y="15"/>
                  </a:lnTo>
                  <a:lnTo>
                    <a:pt x="29" y="14"/>
                  </a:lnTo>
                  <a:lnTo>
                    <a:pt x="25" y="14"/>
                  </a:lnTo>
                  <a:lnTo>
                    <a:pt x="21" y="14"/>
                  </a:lnTo>
                  <a:lnTo>
                    <a:pt x="17" y="13"/>
                  </a:lnTo>
                  <a:lnTo>
                    <a:pt x="14" y="12"/>
                  </a:lnTo>
                  <a:lnTo>
                    <a:pt x="12" y="12"/>
                  </a:lnTo>
                  <a:lnTo>
                    <a:pt x="8" y="11"/>
                  </a:lnTo>
                  <a:lnTo>
                    <a:pt x="6" y="10"/>
                  </a:lnTo>
                  <a:lnTo>
                    <a:pt x="4" y="10"/>
                  </a:lnTo>
                  <a:lnTo>
                    <a:pt x="3" y="8"/>
                  </a:lnTo>
                  <a:lnTo>
                    <a:pt x="1" y="8"/>
                  </a:lnTo>
                  <a:lnTo>
                    <a:pt x="0" y="7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1" y="2"/>
                  </a:lnTo>
                  <a:lnTo>
                    <a:pt x="3" y="4"/>
                  </a:lnTo>
                  <a:lnTo>
                    <a:pt x="4" y="4"/>
                  </a:lnTo>
                  <a:lnTo>
                    <a:pt x="6" y="5"/>
                  </a:lnTo>
                  <a:lnTo>
                    <a:pt x="8" y="6"/>
                  </a:lnTo>
                  <a:lnTo>
                    <a:pt x="12" y="6"/>
                  </a:lnTo>
                  <a:lnTo>
                    <a:pt x="14" y="7"/>
                  </a:lnTo>
                  <a:lnTo>
                    <a:pt x="17" y="8"/>
                  </a:lnTo>
                  <a:lnTo>
                    <a:pt x="21" y="8"/>
                  </a:lnTo>
                  <a:lnTo>
                    <a:pt x="25" y="9"/>
                  </a:lnTo>
                  <a:lnTo>
                    <a:pt x="29" y="10"/>
                  </a:lnTo>
                  <a:lnTo>
                    <a:pt x="33" y="10"/>
                  </a:lnTo>
                  <a:lnTo>
                    <a:pt x="37" y="10"/>
                  </a:lnTo>
                  <a:lnTo>
                    <a:pt x="42" y="10"/>
                  </a:lnTo>
                  <a:lnTo>
                    <a:pt x="46" y="10"/>
                  </a:lnTo>
                  <a:lnTo>
                    <a:pt x="51" y="10"/>
                  </a:lnTo>
                  <a:lnTo>
                    <a:pt x="55" y="10"/>
                  </a:lnTo>
                  <a:lnTo>
                    <a:pt x="60" y="10"/>
                  </a:lnTo>
                  <a:lnTo>
                    <a:pt x="64" y="10"/>
                  </a:lnTo>
                  <a:lnTo>
                    <a:pt x="69" y="10"/>
                  </a:lnTo>
                  <a:lnTo>
                    <a:pt x="72" y="10"/>
                  </a:lnTo>
                  <a:lnTo>
                    <a:pt x="76" y="9"/>
                  </a:lnTo>
                  <a:lnTo>
                    <a:pt x="80" y="8"/>
                  </a:lnTo>
                  <a:lnTo>
                    <a:pt x="84" y="8"/>
                  </a:lnTo>
                  <a:lnTo>
                    <a:pt x="87" y="7"/>
                  </a:lnTo>
                  <a:lnTo>
                    <a:pt x="90" y="6"/>
                  </a:lnTo>
                  <a:lnTo>
                    <a:pt x="93" y="6"/>
                  </a:lnTo>
                  <a:lnTo>
                    <a:pt x="95" y="5"/>
                  </a:lnTo>
                  <a:lnTo>
                    <a:pt x="97" y="4"/>
                  </a:lnTo>
                  <a:lnTo>
                    <a:pt x="99" y="4"/>
                  </a:lnTo>
                  <a:lnTo>
                    <a:pt x="101" y="2"/>
                  </a:lnTo>
                  <a:lnTo>
                    <a:pt x="102" y="2"/>
                  </a:lnTo>
                  <a:lnTo>
                    <a:pt x="102" y="1"/>
                  </a:lnTo>
                  <a:lnTo>
                    <a:pt x="103" y="0"/>
                  </a:lnTo>
                  <a:lnTo>
                    <a:pt x="103" y="5"/>
                  </a:lnTo>
                </a:path>
              </a:pathLst>
            </a:custGeom>
            <a:solidFill>
              <a:srgbClr val="666666"/>
            </a:solidFill>
            <a:ln w="12700" cap="rnd">
              <a:solidFill>
                <a:srgbClr val="6666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4" name="Freeform 70"/>
            <p:cNvSpPr>
              <a:spLocks/>
            </p:cNvSpPr>
            <p:nvPr/>
          </p:nvSpPr>
          <p:spPr bwMode="auto">
            <a:xfrm>
              <a:off x="720" y="1722"/>
              <a:ext cx="406" cy="88"/>
            </a:xfrm>
            <a:custGeom>
              <a:avLst/>
              <a:gdLst>
                <a:gd name="T0" fmla="*/ 0 w 220"/>
                <a:gd name="T1" fmla="*/ 168 h 77"/>
                <a:gd name="T2" fmla="*/ 8653 w 220"/>
                <a:gd name="T3" fmla="*/ 168 h 77"/>
                <a:gd name="T4" fmla="*/ 8653 w 220"/>
                <a:gd name="T5" fmla="*/ 0 h 77"/>
                <a:gd name="T6" fmla="*/ 0 w 220"/>
                <a:gd name="T7" fmla="*/ 0 h 77"/>
                <a:gd name="T8" fmla="*/ 0 w 220"/>
                <a:gd name="T9" fmla="*/ 168 h 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0"/>
                <a:gd name="T16" fmla="*/ 0 h 77"/>
                <a:gd name="T17" fmla="*/ 220 w 220"/>
                <a:gd name="T18" fmla="*/ 77 h 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0" h="77">
                  <a:moveTo>
                    <a:pt x="0" y="76"/>
                  </a:moveTo>
                  <a:lnTo>
                    <a:pt x="219" y="76"/>
                  </a:lnTo>
                  <a:lnTo>
                    <a:pt x="219" y="0"/>
                  </a:lnTo>
                  <a:lnTo>
                    <a:pt x="0" y="0"/>
                  </a:lnTo>
                  <a:lnTo>
                    <a:pt x="0" y="76"/>
                  </a:lnTo>
                </a:path>
              </a:pathLst>
            </a:custGeom>
            <a:solidFill>
              <a:srgbClr val="EFEFD1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5" name="Freeform 71"/>
            <p:cNvSpPr>
              <a:spLocks/>
            </p:cNvSpPr>
            <p:nvPr/>
          </p:nvSpPr>
          <p:spPr bwMode="auto">
            <a:xfrm>
              <a:off x="785" y="1681"/>
              <a:ext cx="127" cy="20"/>
            </a:xfrm>
            <a:custGeom>
              <a:avLst/>
              <a:gdLst>
                <a:gd name="T0" fmla="*/ 0 w 69"/>
                <a:gd name="T1" fmla="*/ 42 h 17"/>
                <a:gd name="T2" fmla="*/ 0 w 69"/>
                <a:gd name="T3" fmla="*/ 0 h 17"/>
                <a:gd name="T4" fmla="*/ 2639 w 69"/>
                <a:gd name="T5" fmla="*/ 0 h 17"/>
                <a:gd name="T6" fmla="*/ 2639 w 69"/>
                <a:gd name="T7" fmla="*/ 42 h 17"/>
                <a:gd name="T8" fmla="*/ 0 w 69"/>
                <a:gd name="T9" fmla="*/ 42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17"/>
                <a:gd name="T17" fmla="*/ 69 w 69"/>
                <a:gd name="T18" fmla="*/ 17 h 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17">
                  <a:moveTo>
                    <a:pt x="0" y="16"/>
                  </a:moveTo>
                  <a:lnTo>
                    <a:pt x="0" y="0"/>
                  </a:lnTo>
                  <a:lnTo>
                    <a:pt x="68" y="0"/>
                  </a:lnTo>
                  <a:lnTo>
                    <a:pt x="68" y="16"/>
                  </a:lnTo>
                  <a:lnTo>
                    <a:pt x="0" y="16"/>
                  </a:lnTo>
                </a:path>
              </a:pathLst>
            </a:custGeom>
            <a:solidFill>
              <a:srgbClr val="999999"/>
            </a:solidFill>
            <a:ln w="12700" cap="rnd">
              <a:solidFill>
                <a:srgbClr val="6666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6" name="Freeform 72"/>
            <p:cNvSpPr>
              <a:spLocks/>
            </p:cNvSpPr>
            <p:nvPr/>
          </p:nvSpPr>
          <p:spPr bwMode="auto">
            <a:xfrm>
              <a:off x="887" y="1682"/>
              <a:ext cx="174" cy="20"/>
            </a:xfrm>
            <a:custGeom>
              <a:avLst/>
              <a:gdLst>
                <a:gd name="T0" fmla="*/ 0 w 94"/>
                <a:gd name="T1" fmla="*/ 42 h 17"/>
                <a:gd name="T2" fmla="*/ 0 w 94"/>
                <a:gd name="T3" fmla="*/ 0 h 17"/>
                <a:gd name="T4" fmla="*/ 3735 w 94"/>
                <a:gd name="T5" fmla="*/ 0 h 17"/>
                <a:gd name="T6" fmla="*/ 3735 w 94"/>
                <a:gd name="T7" fmla="*/ 42 h 17"/>
                <a:gd name="T8" fmla="*/ 0 w 94"/>
                <a:gd name="T9" fmla="*/ 42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4"/>
                <a:gd name="T16" fmla="*/ 0 h 17"/>
                <a:gd name="T17" fmla="*/ 94 w 94"/>
                <a:gd name="T18" fmla="*/ 17 h 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4" h="17">
                  <a:moveTo>
                    <a:pt x="0" y="16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6"/>
                  </a:lnTo>
                  <a:lnTo>
                    <a:pt x="0" y="16"/>
                  </a:lnTo>
                </a:path>
              </a:pathLst>
            </a:custGeom>
            <a:solidFill>
              <a:srgbClr val="999999"/>
            </a:solidFill>
            <a:ln w="12700" cap="rnd">
              <a:solidFill>
                <a:srgbClr val="6666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7" name="Freeform 73"/>
            <p:cNvSpPr>
              <a:spLocks/>
            </p:cNvSpPr>
            <p:nvPr/>
          </p:nvSpPr>
          <p:spPr bwMode="auto">
            <a:xfrm>
              <a:off x="788" y="1685"/>
              <a:ext cx="32" cy="19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28 h 17"/>
                <a:gd name="T4" fmla="*/ 354 w 17"/>
                <a:gd name="T5" fmla="*/ 31 h 17"/>
                <a:gd name="T6" fmla="*/ 702 w 17"/>
                <a:gd name="T7" fmla="*/ 31 h 17"/>
                <a:gd name="T8" fmla="*/ 702 w 17"/>
                <a:gd name="T9" fmla="*/ 28 h 17"/>
                <a:gd name="T10" fmla="*/ 702 w 17"/>
                <a:gd name="T11" fmla="*/ 0 h 17"/>
                <a:gd name="T12" fmla="*/ 0 w 17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"/>
                <a:gd name="T22" fmla="*/ 0 h 17"/>
                <a:gd name="T23" fmla="*/ 17 w 17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8" y="16"/>
                  </a:lnTo>
                  <a:lnTo>
                    <a:pt x="16" y="16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8" name="Freeform 74"/>
            <p:cNvSpPr>
              <a:spLocks/>
            </p:cNvSpPr>
            <p:nvPr/>
          </p:nvSpPr>
          <p:spPr bwMode="auto">
            <a:xfrm>
              <a:off x="794" y="1685"/>
              <a:ext cx="31" cy="19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28 h 17"/>
                <a:gd name="T4" fmla="*/ 146 w 17"/>
                <a:gd name="T5" fmla="*/ 28 h 17"/>
                <a:gd name="T6" fmla="*/ 146 w 17"/>
                <a:gd name="T7" fmla="*/ 31 h 17"/>
                <a:gd name="T8" fmla="*/ 295 w 17"/>
                <a:gd name="T9" fmla="*/ 31 h 17"/>
                <a:gd name="T10" fmla="*/ 443 w 17"/>
                <a:gd name="T11" fmla="*/ 28 h 17"/>
                <a:gd name="T12" fmla="*/ 589 w 17"/>
                <a:gd name="T13" fmla="*/ 28 h 17"/>
                <a:gd name="T14" fmla="*/ 589 w 17"/>
                <a:gd name="T15" fmla="*/ 0 h 17"/>
                <a:gd name="T16" fmla="*/ 0 w 17"/>
                <a:gd name="T17" fmla="*/ 0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7"/>
                <a:gd name="T28" fmla="*/ 0 h 17"/>
                <a:gd name="T29" fmla="*/ 17 w 17"/>
                <a:gd name="T30" fmla="*/ 17 h 1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4" y="14"/>
                  </a:lnTo>
                  <a:lnTo>
                    <a:pt x="4" y="16"/>
                  </a:lnTo>
                  <a:lnTo>
                    <a:pt x="8" y="16"/>
                  </a:lnTo>
                  <a:lnTo>
                    <a:pt x="12" y="14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9" name="Freeform 75"/>
            <p:cNvSpPr>
              <a:spLocks/>
            </p:cNvSpPr>
            <p:nvPr/>
          </p:nvSpPr>
          <p:spPr bwMode="auto">
            <a:xfrm>
              <a:off x="799" y="1685"/>
              <a:ext cx="32" cy="19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28 h 17"/>
                <a:gd name="T4" fmla="*/ 354 w 17"/>
                <a:gd name="T5" fmla="*/ 31 h 17"/>
                <a:gd name="T6" fmla="*/ 702 w 17"/>
                <a:gd name="T7" fmla="*/ 31 h 17"/>
                <a:gd name="T8" fmla="*/ 702 w 17"/>
                <a:gd name="T9" fmla="*/ 28 h 17"/>
                <a:gd name="T10" fmla="*/ 702 w 17"/>
                <a:gd name="T11" fmla="*/ 0 h 17"/>
                <a:gd name="T12" fmla="*/ 0 w 17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"/>
                <a:gd name="T22" fmla="*/ 0 h 17"/>
                <a:gd name="T23" fmla="*/ 17 w 17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8" y="16"/>
                  </a:lnTo>
                  <a:lnTo>
                    <a:pt x="16" y="16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0" name="Freeform 76"/>
            <p:cNvSpPr>
              <a:spLocks/>
            </p:cNvSpPr>
            <p:nvPr/>
          </p:nvSpPr>
          <p:spPr bwMode="auto">
            <a:xfrm>
              <a:off x="803" y="1685"/>
              <a:ext cx="32" cy="19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28 h 17"/>
                <a:gd name="T4" fmla="*/ 213 w 17"/>
                <a:gd name="T5" fmla="*/ 31 h 17"/>
                <a:gd name="T6" fmla="*/ 454 w 17"/>
                <a:gd name="T7" fmla="*/ 31 h 17"/>
                <a:gd name="T8" fmla="*/ 454 w 17"/>
                <a:gd name="T9" fmla="*/ 28 h 17"/>
                <a:gd name="T10" fmla="*/ 702 w 17"/>
                <a:gd name="T11" fmla="*/ 28 h 17"/>
                <a:gd name="T12" fmla="*/ 702 w 17"/>
                <a:gd name="T13" fmla="*/ 0 h 17"/>
                <a:gd name="T14" fmla="*/ 0 w 17"/>
                <a:gd name="T15" fmla="*/ 0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7"/>
                <a:gd name="T25" fmla="*/ 0 h 17"/>
                <a:gd name="T26" fmla="*/ 17 w 17"/>
                <a:gd name="T27" fmla="*/ 17 h 1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5" y="16"/>
                  </a:lnTo>
                  <a:lnTo>
                    <a:pt x="10" y="16"/>
                  </a:lnTo>
                  <a:lnTo>
                    <a:pt x="10" y="14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1" name="Freeform 77"/>
            <p:cNvSpPr>
              <a:spLocks/>
            </p:cNvSpPr>
            <p:nvPr/>
          </p:nvSpPr>
          <p:spPr bwMode="auto">
            <a:xfrm>
              <a:off x="808" y="1685"/>
              <a:ext cx="32" cy="19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28 h 17"/>
                <a:gd name="T4" fmla="*/ 213 w 17"/>
                <a:gd name="T5" fmla="*/ 28 h 17"/>
                <a:gd name="T6" fmla="*/ 213 w 17"/>
                <a:gd name="T7" fmla="*/ 31 h 17"/>
                <a:gd name="T8" fmla="*/ 454 w 17"/>
                <a:gd name="T9" fmla="*/ 31 h 17"/>
                <a:gd name="T10" fmla="*/ 454 w 17"/>
                <a:gd name="T11" fmla="*/ 28 h 17"/>
                <a:gd name="T12" fmla="*/ 702 w 17"/>
                <a:gd name="T13" fmla="*/ 28 h 17"/>
                <a:gd name="T14" fmla="*/ 702 w 17"/>
                <a:gd name="T15" fmla="*/ 0 h 17"/>
                <a:gd name="T16" fmla="*/ 0 w 17"/>
                <a:gd name="T17" fmla="*/ 0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7"/>
                <a:gd name="T28" fmla="*/ 0 h 17"/>
                <a:gd name="T29" fmla="*/ 17 w 17"/>
                <a:gd name="T30" fmla="*/ 17 h 1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5" y="14"/>
                  </a:lnTo>
                  <a:lnTo>
                    <a:pt x="5" y="16"/>
                  </a:lnTo>
                  <a:lnTo>
                    <a:pt x="10" y="16"/>
                  </a:lnTo>
                  <a:lnTo>
                    <a:pt x="10" y="14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2" name="Freeform 78"/>
            <p:cNvSpPr>
              <a:spLocks/>
            </p:cNvSpPr>
            <p:nvPr/>
          </p:nvSpPr>
          <p:spPr bwMode="auto">
            <a:xfrm>
              <a:off x="812" y="1685"/>
              <a:ext cx="32" cy="19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28 h 17"/>
                <a:gd name="T4" fmla="*/ 213 w 17"/>
                <a:gd name="T5" fmla="*/ 31 h 17"/>
                <a:gd name="T6" fmla="*/ 454 w 17"/>
                <a:gd name="T7" fmla="*/ 31 h 17"/>
                <a:gd name="T8" fmla="*/ 702 w 17"/>
                <a:gd name="T9" fmla="*/ 28 h 17"/>
                <a:gd name="T10" fmla="*/ 702 w 17"/>
                <a:gd name="T11" fmla="*/ 0 h 17"/>
                <a:gd name="T12" fmla="*/ 0 w 17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"/>
                <a:gd name="T22" fmla="*/ 0 h 17"/>
                <a:gd name="T23" fmla="*/ 17 w 17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5" y="16"/>
                  </a:lnTo>
                  <a:lnTo>
                    <a:pt x="10" y="16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3" name="Freeform 79"/>
            <p:cNvSpPr>
              <a:spLocks/>
            </p:cNvSpPr>
            <p:nvPr/>
          </p:nvSpPr>
          <p:spPr bwMode="auto">
            <a:xfrm>
              <a:off x="818" y="1685"/>
              <a:ext cx="31" cy="19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28 h 17"/>
                <a:gd name="T4" fmla="*/ 177 w 17"/>
                <a:gd name="T5" fmla="*/ 31 h 17"/>
                <a:gd name="T6" fmla="*/ 363 w 17"/>
                <a:gd name="T7" fmla="*/ 31 h 17"/>
                <a:gd name="T8" fmla="*/ 363 w 17"/>
                <a:gd name="T9" fmla="*/ 28 h 17"/>
                <a:gd name="T10" fmla="*/ 589 w 17"/>
                <a:gd name="T11" fmla="*/ 28 h 17"/>
                <a:gd name="T12" fmla="*/ 589 w 17"/>
                <a:gd name="T13" fmla="*/ 0 h 17"/>
                <a:gd name="T14" fmla="*/ 0 w 17"/>
                <a:gd name="T15" fmla="*/ 0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7"/>
                <a:gd name="T25" fmla="*/ 0 h 17"/>
                <a:gd name="T26" fmla="*/ 17 w 17"/>
                <a:gd name="T27" fmla="*/ 17 h 1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5" y="16"/>
                  </a:lnTo>
                  <a:lnTo>
                    <a:pt x="10" y="16"/>
                  </a:lnTo>
                  <a:lnTo>
                    <a:pt x="10" y="14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4" name="Freeform 80"/>
            <p:cNvSpPr>
              <a:spLocks/>
            </p:cNvSpPr>
            <p:nvPr/>
          </p:nvSpPr>
          <p:spPr bwMode="auto">
            <a:xfrm>
              <a:off x="820" y="1685"/>
              <a:ext cx="30" cy="19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28 h 17"/>
                <a:gd name="T4" fmla="*/ 115 w 17"/>
                <a:gd name="T5" fmla="*/ 28 h 17"/>
                <a:gd name="T6" fmla="*/ 244 w 17"/>
                <a:gd name="T7" fmla="*/ 31 h 17"/>
                <a:gd name="T8" fmla="*/ 358 w 17"/>
                <a:gd name="T9" fmla="*/ 31 h 17"/>
                <a:gd name="T10" fmla="*/ 358 w 17"/>
                <a:gd name="T11" fmla="*/ 28 h 17"/>
                <a:gd name="T12" fmla="*/ 473 w 17"/>
                <a:gd name="T13" fmla="*/ 28 h 17"/>
                <a:gd name="T14" fmla="*/ 473 w 17"/>
                <a:gd name="T15" fmla="*/ 0 h 17"/>
                <a:gd name="T16" fmla="*/ 0 w 17"/>
                <a:gd name="T17" fmla="*/ 0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7"/>
                <a:gd name="T28" fmla="*/ 0 h 17"/>
                <a:gd name="T29" fmla="*/ 17 w 17"/>
                <a:gd name="T30" fmla="*/ 17 h 1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4" y="14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12" y="14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5" name="Freeform 81"/>
            <p:cNvSpPr>
              <a:spLocks/>
            </p:cNvSpPr>
            <p:nvPr/>
          </p:nvSpPr>
          <p:spPr bwMode="auto">
            <a:xfrm>
              <a:off x="827" y="1685"/>
              <a:ext cx="31" cy="19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28 h 17"/>
                <a:gd name="T4" fmla="*/ 295 w 17"/>
                <a:gd name="T5" fmla="*/ 28 h 17"/>
                <a:gd name="T6" fmla="*/ 295 w 17"/>
                <a:gd name="T7" fmla="*/ 31 h 17"/>
                <a:gd name="T8" fmla="*/ 589 w 17"/>
                <a:gd name="T9" fmla="*/ 31 h 17"/>
                <a:gd name="T10" fmla="*/ 589 w 17"/>
                <a:gd name="T11" fmla="*/ 28 h 17"/>
                <a:gd name="T12" fmla="*/ 589 w 17"/>
                <a:gd name="T13" fmla="*/ 0 h 17"/>
                <a:gd name="T14" fmla="*/ 0 w 17"/>
                <a:gd name="T15" fmla="*/ 0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7"/>
                <a:gd name="T25" fmla="*/ 0 h 17"/>
                <a:gd name="T26" fmla="*/ 17 w 17"/>
                <a:gd name="T27" fmla="*/ 17 h 1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16" y="16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6" name="Freeform 82"/>
            <p:cNvSpPr>
              <a:spLocks/>
            </p:cNvSpPr>
            <p:nvPr/>
          </p:nvSpPr>
          <p:spPr bwMode="auto">
            <a:xfrm>
              <a:off x="831" y="1685"/>
              <a:ext cx="31" cy="19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28 h 17"/>
                <a:gd name="T4" fmla="*/ 295 w 17"/>
                <a:gd name="T5" fmla="*/ 31 h 17"/>
                <a:gd name="T6" fmla="*/ 589 w 17"/>
                <a:gd name="T7" fmla="*/ 31 h 17"/>
                <a:gd name="T8" fmla="*/ 589 w 17"/>
                <a:gd name="T9" fmla="*/ 28 h 17"/>
                <a:gd name="T10" fmla="*/ 589 w 17"/>
                <a:gd name="T11" fmla="*/ 0 h 17"/>
                <a:gd name="T12" fmla="*/ 0 w 17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"/>
                <a:gd name="T22" fmla="*/ 0 h 17"/>
                <a:gd name="T23" fmla="*/ 17 w 17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8" y="16"/>
                  </a:lnTo>
                  <a:lnTo>
                    <a:pt x="16" y="16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7" name="Freeform 83"/>
            <p:cNvSpPr>
              <a:spLocks/>
            </p:cNvSpPr>
            <p:nvPr/>
          </p:nvSpPr>
          <p:spPr bwMode="auto">
            <a:xfrm>
              <a:off x="835" y="1685"/>
              <a:ext cx="31" cy="19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28 h 17"/>
                <a:gd name="T4" fmla="*/ 0 w 17"/>
                <a:gd name="T5" fmla="*/ 31 h 17"/>
                <a:gd name="T6" fmla="*/ 295 w 17"/>
                <a:gd name="T7" fmla="*/ 31 h 17"/>
                <a:gd name="T8" fmla="*/ 589 w 17"/>
                <a:gd name="T9" fmla="*/ 28 h 17"/>
                <a:gd name="T10" fmla="*/ 589 w 17"/>
                <a:gd name="T11" fmla="*/ 0 h 17"/>
                <a:gd name="T12" fmla="*/ 0 w 17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"/>
                <a:gd name="T22" fmla="*/ 0 h 17"/>
                <a:gd name="T23" fmla="*/ 17 w 17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0" y="16"/>
                  </a:lnTo>
                  <a:lnTo>
                    <a:pt x="8" y="16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8" name="Freeform 84"/>
            <p:cNvSpPr>
              <a:spLocks/>
            </p:cNvSpPr>
            <p:nvPr/>
          </p:nvSpPr>
          <p:spPr bwMode="auto">
            <a:xfrm>
              <a:off x="840" y="1685"/>
              <a:ext cx="31" cy="19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28 h 17"/>
                <a:gd name="T4" fmla="*/ 146 w 17"/>
                <a:gd name="T5" fmla="*/ 31 h 17"/>
                <a:gd name="T6" fmla="*/ 295 w 17"/>
                <a:gd name="T7" fmla="*/ 31 h 17"/>
                <a:gd name="T8" fmla="*/ 443 w 17"/>
                <a:gd name="T9" fmla="*/ 31 h 17"/>
                <a:gd name="T10" fmla="*/ 589 w 17"/>
                <a:gd name="T11" fmla="*/ 28 h 17"/>
                <a:gd name="T12" fmla="*/ 589 w 17"/>
                <a:gd name="T13" fmla="*/ 0 h 17"/>
                <a:gd name="T14" fmla="*/ 0 w 17"/>
                <a:gd name="T15" fmla="*/ 0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7"/>
                <a:gd name="T25" fmla="*/ 0 h 17"/>
                <a:gd name="T26" fmla="*/ 17 w 17"/>
                <a:gd name="T27" fmla="*/ 17 h 1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4" y="16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9" name="Freeform 85"/>
            <p:cNvSpPr>
              <a:spLocks/>
            </p:cNvSpPr>
            <p:nvPr/>
          </p:nvSpPr>
          <p:spPr bwMode="auto">
            <a:xfrm>
              <a:off x="845" y="1685"/>
              <a:ext cx="32" cy="19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28 h 17"/>
                <a:gd name="T4" fmla="*/ 213 w 17"/>
                <a:gd name="T5" fmla="*/ 31 h 17"/>
                <a:gd name="T6" fmla="*/ 454 w 17"/>
                <a:gd name="T7" fmla="*/ 31 h 17"/>
                <a:gd name="T8" fmla="*/ 454 w 17"/>
                <a:gd name="T9" fmla="*/ 28 h 17"/>
                <a:gd name="T10" fmla="*/ 702 w 17"/>
                <a:gd name="T11" fmla="*/ 28 h 17"/>
                <a:gd name="T12" fmla="*/ 702 w 17"/>
                <a:gd name="T13" fmla="*/ 0 h 17"/>
                <a:gd name="T14" fmla="*/ 0 w 17"/>
                <a:gd name="T15" fmla="*/ 0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7"/>
                <a:gd name="T25" fmla="*/ 0 h 17"/>
                <a:gd name="T26" fmla="*/ 17 w 17"/>
                <a:gd name="T27" fmla="*/ 17 h 1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5" y="16"/>
                  </a:lnTo>
                  <a:lnTo>
                    <a:pt x="10" y="16"/>
                  </a:lnTo>
                  <a:lnTo>
                    <a:pt x="10" y="14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0" name="Freeform 86"/>
            <p:cNvSpPr>
              <a:spLocks/>
            </p:cNvSpPr>
            <p:nvPr/>
          </p:nvSpPr>
          <p:spPr bwMode="auto">
            <a:xfrm>
              <a:off x="849" y="1685"/>
              <a:ext cx="32" cy="19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28 h 17"/>
                <a:gd name="T4" fmla="*/ 354 w 17"/>
                <a:gd name="T5" fmla="*/ 28 h 17"/>
                <a:gd name="T6" fmla="*/ 354 w 17"/>
                <a:gd name="T7" fmla="*/ 31 h 17"/>
                <a:gd name="T8" fmla="*/ 702 w 17"/>
                <a:gd name="T9" fmla="*/ 31 h 17"/>
                <a:gd name="T10" fmla="*/ 702 w 17"/>
                <a:gd name="T11" fmla="*/ 28 h 17"/>
                <a:gd name="T12" fmla="*/ 702 w 17"/>
                <a:gd name="T13" fmla="*/ 0 h 17"/>
                <a:gd name="T14" fmla="*/ 0 w 17"/>
                <a:gd name="T15" fmla="*/ 0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7"/>
                <a:gd name="T25" fmla="*/ 0 h 17"/>
                <a:gd name="T26" fmla="*/ 17 w 17"/>
                <a:gd name="T27" fmla="*/ 17 h 1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16" y="16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1" name="Freeform 87"/>
            <p:cNvSpPr>
              <a:spLocks/>
            </p:cNvSpPr>
            <p:nvPr/>
          </p:nvSpPr>
          <p:spPr bwMode="auto">
            <a:xfrm>
              <a:off x="853" y="1685"/>
              <a:ext cx="31" cy="19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28 h 17"/>
                <a:gd name="T4" fmla="*/ 177 w 17"/>
                <a:gd name="T5" fmla="*/ 31 h 17"/>
                <a:gd name="T6" fmla="*/ 363 w 17"/>
                <a:gd name="T7" fmla="*/ 31 h 17"/>
                <a:gd name="T8" fmla="*/ 589 w 17"/>
                <a:gd name="T9" fmla="*/ 28 h 17"/>
                <a:gd name="T10" fmla="*/ 589 w 17"/>
                <a:gd name="T11" fmla="*/ 0 h 17"/>
                <a:gd name="T12" fmla="*/ 0 w 17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"/>
                <a:gd name="T22" fmla="*/ 0 h 17"/>
                <a:gd name="T23" fmla="*/ 17 w 17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5" y="16"/>
                  </a:lnTo>
                  <a:lnTo>
                    <a:pt x="10" y="16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2" name="Freeform 88"/>
            <p:cNvSpPr>
              <a:spLocks/>
            </p:cNvSpPr>
            <p:nvPr/>
          </p:nvSpPr>
          <p:spPr bwMode="auto">
            <a:xfrm>
              <a:off x="861" y="1685"/>
              <a:ext cx="30" cy="19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28 h 17"/>
                <a:gd name="T4" fmla="*/ 152 w 17"/>
                <a:gd name="T5" fmla="*/ 31 h 17"/>
                <a:gd name="T6" fmla="*/ 309 w 17"/>
                <a:gd name="T7" fmla="*/ 31 h 17"/>
                <a:gd name="T8" fmla="*/ 473 w 17"/>
                <a:gd name="T9" fmla="*/ 28 h 17"/>
                <a:gd name="T10" fmla="*/ 473 w 17"/>
                <a:gd name="T11" fmla="*/ 0 h 17"/>
                <a:gd name="T12" fmla="*/ 0 w 17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"/>
                <a:gd name="T22" fmla="*/ 0 h 17"/>
                <a:gd name="T23" fmla="*/ 17 w 17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5" y="16"/>
                  </a:lnTo>
                  <a:lnTo>
                    <a:pt x="10" y="16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3" name="Freeform 89"/>
            <p:cNvSpPr>
              <a:spLocks/>
            </p:cNvSpPr>
            <p:nvPr/>
          </p:nvSpPr>
          <p:spPr bwMode="auto">
            <a:xfrm>
              <a:off x="864" y="1685"/>
              <a:ext cx="31" cy="19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28 h 17"/>
                <a:gd name="T4" fmla="*/ 177 w 17"/>
                <a:gd name="T5" fmla="*/ 28 h 17"/>
                <a:gd name="T6" fmla="*/ 177 w 17"/>
                <a:gd name="T7" fmla="*/ 31 h 17"/>
                <a:gd name="T8" fmla="*/ 363 w 17"/>
                <a:gd name="T9" fmla="*/ 31 h 17"/>
                <a:gd name="T10" fmla="*/ 363 w 17"/>
                <a:gd name="T11" fmla="*/ 28 h 17"/>
                <a:gd name="T12" fmla="*/ 589 w 17"/>
                <a:gd name="T13" fmla="*/ 28 h 17"/>
                <a:gd name="T14" fmla="*/ 589 w 17"/>
                <a:gd name="T15" fmla="*/ 0 h 17"/>
                <a:gd name="T16" fmla="*/ 0 w 17"/>
                <a:gd name="T17" fmla="*/ 0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7"/>
                <a:gd name="T28" fmla="*/ 0 h 17"/>
                <a:gd name="T29" fmla="*/ 17 w 17"/>
                <a:gd name="T30" fmla="*/ 17 h 1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5" y="14"/>
                  </a:lnTo>
                  <a:lnTo>
                    <a:pt x="5" y="16"/>
                  </a:lnTo>
                  <a:lnTo>
                    <a:pt x="10" y="16"/>
                  </a:lnTo>
                  <a:lnTo>
                    <a:pt x="10" y="14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4" name="Freeform 90"/>
            <p:cNvSpPr>
              <a:spLocks/>
            </p:cNvSpPr>
            <p:nvPr/>
          </p:nvSpPr>
          <p:spPr bwMode="auto">
            <a:xfrm>
              <a:off x="870" y="1685"/>
              <a:ext cx="30" cy="19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28 h 17"/>
                <a:gd name="T4" fmla="*/ 244 w 17"/>
                <a:gd name="T5" fmla="*/ 31 h 17"/>
                <a:gd name="T6" fmla="*/ 473 w 17"/>
                <a:gd name="T7" fmla="*/ 31 h 17"/>
                <a:gd name="T8" fmla="*/ 473 w 17"/>
                <a:gd name="T9" fmla="*/ 28 h 17"/>
                <a:gd name="T10" fmla="*/ 473 w 17"/>
                <a:gd name="T11" fmla="*/ 0 h 17"/>
                <a:gd name="T12" fmla="*/ 0 w 17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"/>
                <a:gd name="T22" fmla="*/ 0 h 17"/>
                <a:gd name="T23" fmla="*/ 17 w 17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8" y="16"/>
                  </a:lnTo>
                  <a:lnTo>
                    <a:pt x="16" y="16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5" name="Freeform 91"/>
            <p:cNvSpPr>
              <a:spLocks/>
            </p:cNvSpPr>
            <p:nvPr/>
          </p:nvSpPr>
          <p:spPr bwMode="auto">
            <a:xfrm>
              <a:off x="873" y="1685"/>
              <a:ext cx="31" cy="19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28 h 17"/>
                <a:gd name="T4" fmla="*/ 177 w 17"/>
                <a:gd name="T5" fmla="*/ 31 h 17"/>
                <a:gd name="T6" fmla="*/ 363 w 17"/>
                <a:gd name="T7" fmla="*/ 31 h 17"/>
                <a:gd name="T8" fmla="*/ 589 w 17"/>
                <a:gd name="T9" fmla="*/ 28 h 17"/>
                <a:gd name="T10" fmla="*/ 589 w 17"/>
                <a:gd name="T11" fmla="*/ 0 h 17"/>
                <a:gd name="T12" fmla="*/ 0 w 17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"/>
                <a:gd name="T22" fmla="*/ 0 h 17"/>
                <a:gd name="T23" fmla="*/ 17 w 17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5" y="16"/>
                  </a:lnTo>
                  <a:lnTo>
                    <a:pt x="10" y="16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6" name="Freeform 92"/>
            <p:cNvSpPr>
              <a:spLocks/>
            </p:cNvSpPr>
            <p:nvPr/>
          </p:nvSpPr>
          <p:spPr bwMode="auto">
            <a:xfrm>
              <a:off x="877" y="1685"/>
              <a:ext cx="31" cy="19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28 h 17"/>
                <a:gd name="T4" fmla="*/ 146 w 17"/>
                <a:gd name="T5" fmla="*/ 28 h 17"/>
                <a:gd name="T6" fmla="*/ 295 w 17"/>
                <a:gd name="T7" fmla="*/ 31 h 17"/>
                <a:gd name="T8" fmla="*/ 443 w 17"/>
                <a:gd name="T9" fmla="*/ 31 h 17"/>
                <a:gd name="T10" fmla="*/ 443 w 17"/>
                <a:gd name="T11" fmla="*/ 28 h 17"/>
                <a:gd name="T12" fmla="*/ 589 w 17"/>
                <a:gd name="T13" fmla="*/ 28 h 17"/>
                <a:gd name="T14" fmla="*/ 589 w 17"/>
                <a:gd name="T15" fmla="*/ 0 h 17"/>
                <a:gd name="T16" fmla="*/ 0 w 17"/>
                <a:gd name="T17" fmla="*/ 0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7"/>
                <a:gd name="T28" fmla="*/ 0 h 17"/>
                <a:gd name="T29" fmla="*/ 17 w 17"/>
                <a:gd name="T30" fmla="*/ 17 h 1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4" y="14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12" y="14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7" name="Freeform 93"/>
            <p:cNvSpPr>
              <a:spLocks/>
            </p:cNvSpPr>
            <p:nvPr/>
          </p:nvSpPr>
          <p:spPr bwMode="auto">
            <a:xfrm>
              <a:off x="748" y="1489"/>
              <a:ext cx="345" cy="197"/>
            </a:xfrm>
            <a:custGeom>
              <a:avLst/>
              <a:gdLst>
                <a:gd name="T0" fmla="*/ 7103 w 187"/>
                <a:gd name="T1" fmla="*/ 365 h 174"/>
                <a:gd name="T2" fmla="*/ 7103 w 187"/>
                <a:gd name="T3" fmla="*/ 365 h 174"/>
                <a:gd name="T4" fmla="*/ 7103 w 187"/>
                <a:gd name="T5" fmla="*/ 362 h 174"/>
                <a:gd name="T6" fmla="*/ 7186 w 187"/>
                <a:gd name="T7" fmla="*/ 362 h 174"/>
                <a:gd name="T8" fmla="*/ 7186 w 187"/>
                <a:gd name="T9" fmla="*/ 362 h 174"/>
                <a:gd name="T10" fmla="*/ 7230 w 187"/>
                <a:gd name="T11" fmla="*/ 361 h 174"/>
                <a:gd name="T12" fmla="*/ 7230 w 187"/>
                <a:gd name="T13" fmla="*/ 361 h 174"/>
                <a:gd name="T14" fmla="*/ 7239 w 187"/>
                <a:gd name="T15" fmla="*/ 361 h 174"/>
                <a:gd name="T16" fmla="*/ 7239 w 187"/>
                <a:gd name="T17" fmla="*/ 358 h 174"/>
                <a:gd name="T18" fmla="*/ 7239 w 187"/>
                <a:gd name="T19" fmla="*/ 358 h 174"/>
                <a:gd name="T20" fmla="*/ 7239 w 187"/>
                <a:gd name="T21" fmla="*/ 356 h 174"/>
                <a:gd name="T22" fmla="*/ 7284 w 187"/>
                <a:gd name="T23" fmla="*/ 356 h 174"/>
                <a:gd name="T24" fmla="*/ 7284 w 187"/>
                <a:gd name="T25" fmla="*/ 352 h 174"/>
                <a:gd name="T26" fmla="*/ 7335 w 187"/>
                <a:gd name="T27" fmla="*/ 351 h 174"/>
                <a:gd name="T28" fmla="*/ 7335 w 187"/>
                <a:gd name="T29" fmla="*/ 351 h 174"/>
                <a:gd name="T30" fmla="*/ 7335 w 187"/>
                <a:gd name="T31" fmla="*/ 12 h 174"/>
                <a:gd name="T32" fmla="*/ 7335 w 187"/>
                <a:gd name="T33" fmla="*/ 11 h 174"/>
                <a:gd name="T34" fmla="*/ 7335 w 187"/>
                <a:gd name="T35" fmla="*/ 11 h 174"/>
                <a:gd name="T36" fmla="*/ 7284 w 187"/>
                <a:gd name="T37" fmla="*/ 11 h 174"/>
                <a:gd name="T38" fmla="*/ 7284 w 187"/>
                <a:gd name="T39" fmla="*/ 3 h 174"/>
                <a:gd name="T40" fmla="*/ 7239 w 187"/>
                <a:gd name="T41" fmla="*/ 3 h 174"/>
                <a:gd name="T42" fmla="*/ 7239 w 187"/>
                <a:gd name="T43" fmla="*/ 2 h 174"/>
                <a:gd name="T44" fmla="*/ 7239 w 187"/>
                <a:gd name="T45" fmla="*/ 1 h 174"/>
                <a:gd name="T46" fmla="*/ 7230 w 187"/>
                <a:gd name="T47" fmla="*/ 1 h 174"/>
                <a:gd name="T48" fmla="*/ 7230 w 187"/>
                <a:gd name="T49" fmla="*/ 1 h 174"/>
                <a:gd name="T50" fmla="*/ 7186 w 187"/>
                <a:gd name="T51" fmla="*/ 1 h 174"/>
                <a:gd name="T52" fmla="*/ 7186 w 187"/>
                <a:gd name="T53" fmla="*/ 0 h 174"/>
                <a:gd name="T54" fmla="*/ 7103 w 187"/>
                <a:gd name="T55" fmla="*/ 0 h 174"/>
                <a:gd name="T56" fmla="*/ 7103 w 187"/>
                <a:gd name="T57" fmla="*/ 0 h 174"/>
                <a:gd name="T58" fmla="*/ 7103 w 187"/>
                <a:gd name="T59" fmla="*/ 0 h 174"/>
                <a:gd name="T60" fmla="*/ 194 w 187"/>
                <a:gd name="T61" fmla="*/ 0 h 174"/>
                <a:gd name="T62" fmla="*/ 149 w 187"/>
                <a:gd name="T63" fmla="*/ 0 h 174"/>
                <a:gd name="T64" fmla="*/ 125 w 187"/>
                <a:gd name="T65" fmla="*/ 0 h 174"/>
                <a:gd name="T66" fmla="*/ 125 w 187"/>
                <a:gd name="T67" fmla="*/ 0 h 174"/>
                <a:gd name="T68" fmla="*/ 81 w 187"/>
                <a:gd name="T69" fmla="*/ 0 h 174"/>
                <a:gd name="T70" fmla="*/ 81 w 187"/>
                <a:gd name="T71" fmla="*/ 1 h 174"/>
                <a:gd name="T72" fmla="*/ 44 w 187"/>
                <a:gd name="T73" fmla="*/ 1 h 174"/>
                <a:gd name="T74" fmla="*/ 44 w 187"/>
                <a:gd name="T75" fmla="*/ 1 h 174"/>
                <a:gd name="T76" fmla="*/ 44 w 187"/>
                <a:gd name="T77" fmla="*/ 2 h 174"/>
                <a:gd name="T78" fmla="*/ 0 w 187"/>
                <a:gd name="T79" fmla="*/ 3 h 174"/>
                <a:gd name="T80" fmla="*/ 0 w 187"/>
                <a:gd name="T81" fmla="*/ 3 h 174"/>
                <a:gd name="T82" fmla="*/ 0 w 187"/>
                <a:gd name="T83" fmla="*/ 3 h 174"/>
                <a:gd name="T84" fmla="*/ 0 w 187"/>
                <a:gd name="T85" fmla="*/ 11 h 174"/>
                <a:gd name="T86" fmla="*/ 0 w 187"/>
                <a:gd name="T87" fmla="*/ 11 h 174"/>
                <a:gd name="T88" fmla="*/ 0 w 187"/>
                <a:gd name="T89" fmla="*/ 12 h 174"/>
                <a:gd name="T90" fmla="*/ 0 w 187"/>
                <a:gd name="T91" fmla="*/ 351 h 174"/>
                <a:gd name="T92" fmla="*/ 0 w 187"/>
                <a:gd name="T93" fmla="*/ 351 h 174"/>
                <a:gd name="T94" fmla="*/ 0 w 187"/>
                <a:gd name="T95" fmla="*/ 352 h 174"/>
                <a:gd name="T96" fmla="*/ 0 w 187"/>
                <a:gd name="T97" fmla="*/ 356 h 174"/>
                <a:gd name="T98" fmla="*/ 0 w 187"/>
                <a:gd name="T99" fmla="*/ 356 h 174"/>
                <a:gd name="T100" fmla="*/ 0 w 187"/>
                <a:gd name="T101" fmla="*/ 358 h 174"/>
                <a:gd name="T102" fmla="*/ 44 w 187"/>
                <a:gd name="T103" fmla="*/ 358 h 174"/>
                <a:gd name="T104" fmla="*/ 44 w 187"/>
                <a:gd name="T105" fmla="*/ 361 h 174"/>
                <a:gd name="T106" fmla="*/ 44 w 187"/>
                <a:gd name="T107" fmla="*/ 361 h 174"/>
                <a:gd name="T108" fmla="*/ 81 w 187"/>
                <a:gd name="T109" fmla="*/ 361 h 174"/>
                <a:gd name="T110" fmla="*/ 81 w 187"/>
                <a:gd name="T111" fmla="*/ 362 h 174"/>
                <a:gd name="T112" fmla="*/ 81 w 187"/>
                <a:gd name="T113" fmla="*/ 362 h 174"/>
                <a:gd name="T114" fmla="*/ 125 w 187"/>
                <a:gd name="T115" fmla="*/ 362 h 174"/>
                <a:gd name="T116" fmla="*/ 125 w 187"/>
                <a:gd name="T117" fmla="*/ 362 h 174"/>
                <a:gd name="T118" fmla="*/ 149 w 187"/>
                <a:gd name="T119" fmla="*/ 365 h 174"/>
                <a:gd name="T120" fmla="*/ 194 w 187"/>
                <a:gd name="T121" fmla="*/ 365 h 174"/>
                <a:gd name="T122" fmla="*/ 7103 w 187"/>
                <a:gd name="T123" fmla="*/ 365 h 17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87"/>
                <a:gd name="T187" fmla="*/ 0 h 174"/>
                <a:gd name="T188" fmla="*/ 187 w 187"/>
                <a:gd name="T189" fmla="*/ 174 h 174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87" h="174">
                  <a:moveTo>
                    <a:pt x="180" y="173"/>
                  </a:moveTo>
                  <a:lnTo>
                    <a:pt x="180" y="173"/>
                  </a:lnTo>
                  <a:lnTo>
                    <a:pt x="180" y="172"/>
                  </a:lnTo>
                  <a:lnTo>
                    <a:pt x="182" y="172"/>
                  </a:lnTo>
                  <a:lnTo>
                    <a:pt x="183" y="171"/>
                  </a:lnTo>
                  <a:lnTo>
                    <a:pt x="184" y="171"/>
                  </a:lnTo>
                  <a:lnTo>
                    <a:pt x="184" y="170"/>
                  </a:lnTo>
                  <a:lnTo>
                    <a:pt x="184" y="169"/>
                  </a:lnTo>
                  <a:lnTo>
                    <a:pt x="185" y="169"/>
                  </a:lnTo>
                  <a:lnTo>
                    <a:pt x="185" y="168"/>
                  </a:lnTo>
                  <a:lnTo>
                    <a:pt x="186" y="167"/>
                  </a:lnTo>
                  <a:lnTo>
                    <a:pt x="186" y="6"/>
                  </a:lnTo>
                  <a:lnTo>
                    <a:pt x="186" y="5"/>
                  </a:lnTo>
                  <a:lnTo>
                    <a:pt x="185" y="5"/>
                  </a:lnTo>
                  <a:lnTo>
                    <a:pt x="185" y="3"/>
                  </a:lnTo>
                  <a:lnTo>
                    <a:pt x="184" y="3"/>
                  </a:lnTo>
                  <a:lnTo>
                    <a:pt x="184" y="2"/>
                  </a:lnTo>
                  <a:lnTo>
                    <a:pt x="184" y="1"/>
                  </a:lnTo>
                  <a:lnTo>
                    <a:pt x="183" y="1"/>
                  </a:lnTo>
                  <a:lnTo>
                    <a:pt x="182" y="1"/>
                  </a:lnTo>
                  <a:lnTo>
                    <a:pt x="182" y="0"/>
                  </a:lnTo>
                  <a:lnTo>
                    <a:pt x="180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167"/>
                  </a:lnTo>
                  <a:lnTo>
                    <a:pt x="0" y="168"/>
                  </a:lnTo>
                  <a:lnTo>
                    <a:pt x="0" y="169"/>
                  </a:lnTo>
                  <a:lnTo>
                    <a:pt x="0" y="170"/>
                  </a:lnTo>
                  <a:lnTo>
                    <a:pt x="1" y="170"/>
                  </a:lnTo>
                  <a:lnTo>
                    <a:pt x="1" y="171"/>
                  </a:lnTo>
                  <a:lnTo>
                    <a:pt x="2" y="171"/>
                  </a:lnTo>
                  <a:lnTo>
                    <a:pt x="2" y="172"/>
                  </a:lnTo>
                  <a:lnTo>
                    <a:pt x="3" y="172"/>
                  </a:lnTo>
                  <a:lnTo>
                    <a:pt x="4" y="173"/>
                  </a:lnTo>
                  <a:lnTo>
                    <a:pt x="5" y="173"/>
                  </a:lnTo>
                  <a:lnTo>
                    <a:pt x="180" y="173"/>
                  </a:lnTo>
                </a:path>
              </a:pathLst>
            </a:custGeom>
            <a:solidFill>
              <a:srgbClr val="999999"/>
            </a:solidFill>
            <a:ln w="12700" cap="rnd">
              <a:solidFill>
                <a:srgbClr val="6666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8" name="Freeform 94"/>
            <p:cNvSpPr>
              <a:spLocks/>
            </p:cNvSpPr>
            <p:nvPr/>
          </p:nvSpPr>
          <p:spPr bwMode="auto">
            <a:xfrm>
              <a:off x="748" y="1492"/>
              <a:ext cx="343" cy="194"/>
            </a:xfrm>
            <a:custGeom>
              <a:avLst/>
              <a:gdLst>
                <a:gd name="T0" fmla="*/ 7275 w 186"/>
                <a:gd name="T1" fmla="*/ 340 h 172"/>
                <a:gd name="T2" fmla="*/ 7275 w 186"/>
                <a:gd name="T3" fmla="*/ 341 h 172"/>
                <a:gd name="T4" fmla="*/ 7275 w 186"/>
                <a:gd name="T5" fmla="*/ 344 h 172"/>
                <a:gd name="T6" fmla="*/ 7231 w 186"/>
                <a:gd name="T7" fmla="*/ 344 h 172"/>
                <a:gd name="T8" fmla="*/ 7231 w 186"/>
                <a:gd name="T9" fmla="*/ 345 h 172"/>
                <a:gd name="T10" fmla="*/ 7179 w 186"/>
                <a:gd name="T11" fmla="*/ 347 h 172"/>
                <a:gd name="T12" fmla="*/ 7179 w 186"/>
                <a:gd name="T13" fmla="*/ 347 h 172"/>
                <a:gd name="T14" fmla="*/ 7168 w 186"/>
                <a:gd name="T15" fmla="*/ 351 h 172"/>
                <a:gd name="T16" fmla="*/ 7168 w 186"/>
                <a:gd name="T17" fmla="*/ 351 h 172"/>
                <a:gd name="T18" fmla="*/ 7124 w 186"/>
                <a:gd name="T19" fmla="*/ 351 h 172"/>
                <a:gd name="T20" fmla="*/ 7124 w 186"/>
                <a:gd name="T21" fmla="*/ 352 h 172"/>
                <a:gd name="T22" fmla="*/ 7079 w 186"/>
                <a:gd name="T23" fmla="*/ 352 h 172"/>
                <a:gd name="T24" fmla="*/ 7043 w 186"/>
                <a:gd name="T25" fmla="*/ 352 h 172"/>
                <a:gd name="T26" fmla="*/ 149 w 186"/>
                <a:gd name="T27" fmla="*/ 352 h 172"/>
                <a:gd name="T28" fmla="*/ 125 w 186"/>
                <a:gd name="T29" fmla="*/ 352 h 172"/>
                <a:gd name="T30" fmla="*/ 125 w 186"/>
                <a:gd name="T31" fmla="*/ 352 h 172"/>
                <a:gd name="T32" fmla="*/ 125 w 186"/>
                <a:gd name="T33" fmla="*/ 351 h 172"/>
                <a:gd name="T34" fmla="*/ 81 w 186"/>
                <a:gd name="T35" fmla="*/ 351 h 172"/>
                <a:gd name="T36" fmla="*/ 81 w 186"/>
                <a:gd name="T37" fmla="*/ 351 h 172"/>
                <a:gd name="T38" fmla="*/ 44 w 186"/>
                <a:gd name="T39" fmla="*/ 347 h 172"/>
                <a:gd name="T40" fmla="*/ 44 w 186"/>
                <a:gd name="T41" fmla="*/ 347 h 172"/>
                <a:gd name="T42" fmla="*/ 0 w 186"/>
                <a:gd name="T43" fmla="*/ 347 h 172"/>
                <a:gd name="T44" fmla="*/ 0 w 186"/>
                <a:gd name="T45" fmla="*/ 345 h 172"/>
                <a:gd name="T46" fmla="*/ 0 w 186"/>
                <a:gd name="T47" fmla="*/ 344 h 172"/>
                <a:gd name="T48" fmla="*/ 0 w 186"/>
                <a:gd name="T49" fmla="*/ 344 h 172"/>
                <a:gd name="T50" fmla="*/ 0 w 186"/>
                <a:gd name="T51" fmla="*/ 341 h 172"/>
                <a:gd name="T52" fmla="*/ 0 w 186"/>
                <a:gd name="T53" fmla="*/ 340 h 172"/>
                <a:gd name="T54" fmla="*/ 0 w 186"/>
                <a:gd name="T55" fmla="*/ 11 h 172"/>
                <a:gd name="T56" fmla="*/ 0 w 186"/>
                <a:gd name="T57" fmla="*/ 10 h 172"/>
                <a:gd name="T58" fmla="*/ 0 w 186"/>
                <a:gd name="T59" fmla="*/ 3 h 172"/>
                <a:gd name="T60" fmla="*/ 0 w 186"/>
                <a:gd name="T61" fmla="*/ 3 h 172"/>
                <a:gd name="T62" fmla="*/ 0 w 186"/>
                <a:gd name="T63" fmla="*/ 2 h 172"/>
                <a:gd name="T64" fmla="*/ 0 w 186"/>
                <a:gd name="T65" fmla="*/ 2 h 172"/>
                <a:gd name="T66" fmla="*/ 44 w 186"/>
                <a:gd name="T67" fmla="*/ 1 h 172"/>
                <a:gd name="T68" fmla="*/ 44 w 186"/>
                <a:gd name="T69" fmla="*/ 1 h 172"/>
                <a:gd name="T70" fmla="*/ 81 w 186"/>
                <a:gd name="T71" fmla="*/ 1 h 172"/>
                <a:gd name="T72" fmla="*/ 81 w 186"/>
                <a:gd name="T73" fmla="*/ 0 h 172"/>
                <a:gd name="T74" fmla="*/ 81 w 186"/>
                <a:gd name="T75" fmla="*/ 0 h 172"/>
                <a:gd name="T76" fmla="*/ 125 w 186"/>
                <a:gd name="T77" fmla="*/ 0 h 172"/>
                <a:gd name="T78" fmla="*/ 125 w 186"/>
                <a:gd name="T79" fmla="*/ 0 h 172"/>
                <a:gd name="T80" fmla="*/ 149 w 186"/>
                <a:gd name="T81" fmla="*/ 0 h 172"/>
                <a:gd name="T82" fmla="*/ 7043 w 186"/>
                <a:gd name="T83" fmla="*/ 0 h 172"/>
                <a:gd name="T84" fmla="*/ 7079 w 186"/>
                <a:gd name="T85" fmla="*/ 0 h 172"/>
                <a:gd name="T86" fmla="*/ 7124 w 186"/>
                <a:gd name="T87" fmla="*/ 0 h 172"/>
                <a:gd name="T88" fmla="*/ 7124 w 186"/>
                <a:gd name="T89" fmla="*/ 0 h 172"/>
                <a:gd name="T90" fmla="*/ 7168 w 186"/>
                <a:gd name="T91" fmla="*/ 0 h 172"/>
                <a:gd name="T92" fmla="*/ 7168 w 186"/>
                <a:gd name="T93" fmla="*/ 1 h 172"/>
                <a:gd name="T94" fmla="*/ 7179 w 186"/>
                <a:gd name="T95" fmla="*/ 1 h 172"/>
                <a:gd name="T96" fmla="*/ 7179 w 186"/>
                <a:gd name="T97" fmla="*/ 1 h 172"/>
                <a:gd name="T98" fmla="*/ 7179 w 186"/>
                <a:gd name="T99" fmla="*/ 2 h 172"/>
                <a:gd name="T100" fmla="*/ 7231 w 186"/>
                <a:gd name="T101" fmla="*/ 2 h 172"/>
                <a:gd name="T102" fmla="*/ 7231 w 186"/>
                <a:gd name="T103" fmla="*/ 3 h 172"/>
                <a:gd name="T104" fmla="*/ 7275 w 186"/>
                <a:gd name="T105" fmla="*/ 3 h 172"/>
                <a:gd name="T106" fmla="*/ 7275 w 186"/>
                <a:gd name="T107" fmla="*/ 10 h 172"/>
                <a:gd name="T108" fmla="*/ 7275 w 186"/>
                <a:gd name="T109" fmla="*/ 11 h 172"/>
                <a:gd name="T110" fmla="*/ 7275 w 186"/>
                <a:gd name="T111" fmla="*/ 340 h 17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86"/>
                <a:gd name="T169" fmla="*/ 0 h 172"/>
                <a:gd name="T170" fmla="*/ 186 w 186"/>
                <a:gd name="T171" fmla="*/ 172 h 172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86" h="172">
                  <a:moveTo>
                    <a:pt x="185" y="165"/>
                  </a:moveTo>
                  <a:lnTo>
                    <a:pt x="185" y="166"/>
                  </a:lnTo>
                  <a:lnTo>
                    <a:pt x="185" y="167"/>
                  </a:lnTo>
                  <a:lnTo>
                    <a:pt x="184" y="167"/>
                  </a:lnTo>
                  <a:lnTo>
                    <a:pt x="184" y="168"/>
                  </a:lnTo>
                  <a:lnTo>
                    <a:pt x="183" y="169"/>
                  </a:lnTo>
                  <a:lnTo>
                    <a:pt x="182" y="170"/>
                  </a:lnTo>
                  <a:lnTo>
                    <a:pt x="181" y="170"/>
                  </a:lnTo>
                  <a:lnTo>
                    <a:pt x="181" y="171"/>
                  </a:lnTo>
                  <a:lnTo>
                    <a:pt x="180" y="171"/>
                  </a:lnTo>
                  <a:lnTo>
                    <a:pt x="179" y="171"/>
                  </a:lnTo>
                  <a:lnTo>
                    <a:pt x="4" y="171"/>
                  </a:lnTo>
                  <a:lnTo>
                    <a:pt x="3" y="171"/>
                  </a:lnTo>
                  <a:lnTo>
                    <a:pt x="3" y="170"/>
                  </a:lnTo>
                  <a:lnTo>
                    <a:pt x="2" y="170"/>
                  </a:lnTo>
                  <a:lnTo>
                    <a:pt x="1" y="169"/>
                  </a:lnTo>
                  <a:lnTo>
                    <a:pt x="0" y="169"/>
                  </a:lnTo>
                  <a:lnTo>
                    <a:pt x="0" y="168"/>
                  </a:lnTo>
                  <a:lnTo>
                    <a:pt x="0" y="167"/>
                  </a:lnTo>
                  <a:lnTo>
                    <a:pt x="0" y="166"/>
                  </a:lnTo>
                  <a:lnTo>
                    <a:pt x="0" y="165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2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179" y="0"/>
                  </a:lnTo>
                  <a:lnTo>
                    <a:pt x="180" y="0"/>
                  </a:lnTo>
                  <a:lnTo>
                    <a:pt x="181" y="0"/>
                  </a:lnTo>
                  <a:lnTo>
                    <a:pt x="182" y="0"/>
                  </a:lnTo>
                  <a:lnTo>
                    <a:pt x="182" y="1"/>
                  </a:lnTo>
                  <a:lnTo>
                    <a:pt x="183" y="1"/>
                  </a:lnTo>
                  <a:lnTo>
                    <a:pt x="183" y="2"/>
                  </a:lnTo>
                  <a:lnTo>
                    <a:pt x="184" y="2"/>
                  </a:lnTo>
                  <a:lnTo>
                    <a:pt x="184" y="3"/>
                  </a:lnTo>
                  <a:lnTo>
                    <a:pt x="185" y="3"/>
                  </a:lnTo>
                  <a:lnTo>
                    <a:pt x="185" y="4"/>
                  </a:lnTo>
                  <a:lnTo>
                    <a:pt x="185" y="5"/>
                  </a:lnTo>
                  <a:lnTo>
                    <a:pt x="185" y="165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9" name="Freeform 95"/>
            <p:cNvSpPr>
              <a:spLocks/>
            </p:cNvSpPr>
            <p:nvPr/>
          </p:nvSpPr>
          <p:spPr bwMode="auto">
            <a:xfrm>
              <a:off x="752" y="1492"/>
              <a:ext cx="334" cy="193"/>
            </a:xfrm>
            <a:custGeom>
              <a:avLst/>
              <a:gdLst>
                <a:gd name="T0" fmla="*/ 7106 w 181"/>
                <a:gd name="T1" fmla="*/ 3 h 171"/>
                <a:gd name="T2" fmla="*/ 7106 w 181"/>
                <a:gd name="T3" fmla="*/ 3 h 171"/>
                <a:gd name="T4" fmla="*/ 7106 w 181"/>
                <a:gd name="T5" fmla="*/ 2 h 171"/>
                <a:gd name="T6" fmla="*/ 7062 w 181"/>
                <a:gd name="T7" fmla="*/ 2 h 171"/>
                <a:gd name="T8" fmla="*/ 7062 w 181"/>
                <a:gd name="T9" fmla="*/ 1 h 171"/>
                <a:gd name="T10" fmla="*/ 7010 w 181"/>
                <a:gd name="T11" fmla="*/ 1 h 171"/>
                <a:gd name="T12" fmla="*/ 7010 w 181"/>
                <a:gd name="T13" fmla="*/ 0 h 171"/>
                <a:gd name="T14" fmla="*/ 6994 w 181"/>
                <a:gd name="T15" fmla="*/ 0 h 171"/>
                <a:gd name="T16" fmla="*/ 6994 w 181"/>
                <a:gd name="T17" fmla="*/ 0 h 171"/>
                <a:gd name="T18" fmla="*/ 6994 w 181"/>
                <a:gd name="T19" fmla="*/ 0 h 171"/>
                <a:gd name="T20" fmla="*/ 6957 w 181"/>
                <a:gd name="T21" fmla="*/ 0 h 171"/>
                <a:gd name="T22" fmla="*/ 6957 w 181"/>
                <a:gd name="T23" fmla="*/ 0 h 171"/>
                <a:gd name="T24" fmla="*/ 125 w 181"/>
                <a:gd name="T25" fmla="*/ 0 h 171"/>
                <a:gd name="T26" fmla="*/ 125 w 181"/>
                <a:gd name="T27" fmla="*/ 0 h 171"/>
                <a:gd name="T28" fmla="*/ 81 w 181"/>
                <a:gd name="T29" fmla="*/ 0 h 171"/>
                <a:gd name="T30" fmla="*/ 81 w 181"/>
                <a:gd name="T31" fmla="*/ 0 h 171"/>
                <a:gd name="T32" fmla="*/ 44 w 181"/>
                <a:gd name="T33" fmla="*/ 0 h 171"/>
                <a:gd name="T34" fmla="*/ 44 w 181"/>
                <a:gd name="T35" fmla="*/ 0 h 171"/>
                <a:gd name="T36" fmla="*/ 44 w 181"/>
                <a:gd name="T37" fmla="*/ 1 h 171"/>
                <a:gd name="T38" fmla="*/ 0 w 181"/>
                <a:gd name="T39" fmla="*/ 1 h 171"/>
                <a:gd name="T40" fmla="*/ 0 w 181"/>
                <a:gd name="T41" fmla="*/ 1 h 171"/>
                <a:gd name="T42" fmla="*/ 0 w 181"/>
                <a:gd name="T43" fmla="*/ 2 h 171"/>
                <a:gd name="T44" fmla="*/ 0 w 181"/>
                <a:gd name="T45" fmla="*/ 3 h 171"/>
                <a:gd name="T46" fmla="*/ 0 w 181"/>
                <a:gd name="T47" fmla="*/ 3 h 171"/>
                <a:gd name="T48" fmla="*/ 0 w 181"/>
                <a:gd name="T49" fmla="*/ 343 h 171"/>
                <a:gd name="T50" fmla="*/ 0 w 181"/>
                <a:gd name="T51" fmla="*/ 343 h 171"/>
                <a:gd name="T52" fmla="*/ 0 w 181"/>
                <a:gd name="T53" fmla="*/ 344 h 171"/>
                <a:gd name="T54" fmla="*/ 0 w 181"/>
                <a:gd name="T55" fmla="*/ 348 h 171"/>
                <a:gd name="T56" fmla="*/ 0 w 181"/>
                <a:gd name="T57" fmla="*/ 348 h 171"/>
                <a:gd name="T58" fmla="*/ 44 w 181"/>
                <a:gd name="T59" fmla="*/ 348 h 171"/>
                <a:gd name="T60" fmla="*/ 44 w 181"/>
                <a:gd name="T61" fmla="*/ 350 h 171"/>
                <a:gd name="T62" fmla="*/ 81 w 181"/>
                <a:gd name="T63" fmla="*/ 350 h 171"/>
                <a:gd name="T64" fmla="*/ 81 w 181"/>
                <a:gd name="T65" fmla="*/ 350 h 171"/>
                <a:gd name="T66" fmla="*/ 125 w 181"/>
                <a:gd name="T67" fmla="*/ 353 h 171"/>
                <a:gd name="T68" fmla="*/ 125 w 181"/>
                <a:gd name="T69" fmla="*/ 353 h 171"/>
                <a:gd name="T70" fmla="*/ 6957 w 181"/>
                <a:gd name="T71" fmla="*/ 353 h 171"/>
                <a:gd name="T72" fmla="*/ 6957 w 181"/>
                <a:gd name="T73" fmla="*/ 350 h 171"/>
                <a:gd name="T74" fmla="*/ 6994 w 181"/>
                <a:gd name="T75" fmla="*/ 350 h 171"/>
                <a:gd name="T76" fmla="*/ 6994 w 181"/>
                <a:gd name="T77" fmla="*/ 350 h 171"/>
                <a:gd name="T78" fmla="*/ 7010 w 181"/>
                <a:gd name="T79" fmla="*/ 350 h 171"/>
                <a:gd name="T80" fmla="*/ 7010 w 181"/>
                <a:gd name="T81" fmla="*/ 348 h 171"/>
                <a:gd name="T82" fmla="*/ 7010 w 181"/>
                <a:gd name="T83" fmla="*/ 348 h 171"/>
                <a:gd name="T84" fmla="*/ 7062 w 181"/>
                <a:gd name="T85" fmla="*/ 348 h 171"/>
                <a:gd name="T86" fmla="*/ 7062 w 181"/>
                <a:gd name="T87" fmla="*/ 344 h 171"/>
                <a:gd name="T88" fmla="*/ 7106 w 181"/>
                <a:gd name="T89" fmla="*/ 343 h 171"/>
                <a:gd name="T90" fmla="*/ 7106 w 181"/>
                <a:gd name="T91" fmla="*/ 343 h 171"/>
                <a:gd name="T92" fmla="*/ 7106 w 181"/>
                <a:gd name="T93" fmla="*/ 3 h 17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81"/>
                <a:gd name="T142" fmla="*/ 0 h 171"/>
                <a:gd name="T143" fmla="*/ 181 w 181"/>
                <a:gd name="T144" fmla="*/ 171 h 171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81" h="171">
                  <a:moveTo>
                    <a:pt x="180" y="3"/>
                  </a:moveTo>
                  <a:lnTo>
                    <a:pt x="180" y="3"/>
                  </a:lnTo>
                  <a:lnTo>
                    <a:pt x="180" y="2"/>
                  </a:lnTo>
                  <a:lnTo>
                    <a:pt x="179" y="2"/>
                  </a:lnTo>
                  <a:lnTo>
                    <a:pt x="179" y="1"/>
                  </a:lnTo>
                  <a:lnTo>
                    <a:pt x="178" y="1"/>
                  </a:lnTo>
                  <a:lnTo>
                    <a:pt x="178" y="0"/>
                  </a:lnTo>
                  <a:lnTo>
                    <a:pt x="177" y="0"/>
                  </a:lnTo>
                  <a:lnTo>
                    <a:pt x="176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166"/>
                  </a:lnTo>
                  <a:lnTo>
                    <a:pt x="0" y="167"/>
                  </a:lnTo>
                  <a:lnTo>
                    <a:pt x="0" y="168"/>
                  </a:lnTo>
                  <a:lnTo>
                    <a:pt x="1" y="168"/>
                  </a:lnTo>
                  <a:lnTo>
                    <a:pt x="1" y="169"/>
                  </a:lnTo>
                  <a:lnTo>
                    <a:pt x="2" y="169"/>
                  </a:lnTo>
                  <a:lnTo>
                    <a:pt x="3" y="170"/>
                  </a:lnTo>
                  <a:lnTo>
                    <a:pt x="176" y="170"/>
                  </a:lnTo>
                  <a:lnTo>
                    <a:pt x="176" y="169"/>
                  </a:lnTo>
                  <a:lnTo>
                    <a:pt x="177" y="169"/>
                  </a:lnTo>
                  <a:lnTo>
                    <a:pt x="178" y="169"/>
                  </a:lnTo>
                  <a:lnTo>
                    <a:pt x="178" y="168"/>
                  </a:lnTo>
                  <a:lnTo>
                    <a:pt x="179" y="168"/>
                  </a:lnTo>
                  <a:lnTo>
                    <a:pt x="179" y="167"/>
                  </a:lnTo>
                  <a:lnTo>
                    <a:pt x="180" y="166"/>
                  </a:lnTo>
                  <a:lnTo>
                    <a:pt x="180" y="3"/>
                  </a:lnTo>
                </a:path>
              </a:pathLst>
            </a:custGeom>
            <a:solidFill>
              <a:srgbClr val="999999"/>
            </a:solidFill>
            <a:ln w="12700" cap="rnd">
              <a:solidFill>
                <a:srgbClr val="999999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0" name="Freeform 96"/>
            <p:cNvSpPr>
              <a:spLocks/>
            </p:cNvSpPr>
            <p:nvPr/>
          </p:nvSpPr>
          <p:spPr bwMode="auto">
            <a:xfrm>
              <a:off x="753" y="1493"/>
              <a:ext cx="333" cy="189"/>
            </a:xfrm>
            <a:custGeom>
              <a:avLst/>
              <a:gdLst>
                <a:gd name="T0" fmla="*/ 7167 w 180"/>
                <a:gd name="T1" fmla="*/ 331 h 168"/>
                <a:gd name="T2" fmla="*/ 7167 w 180"/>
                <a:gd name="T3" fmla="*/ 333 h 168"/>
                <a:gd name="T4" fmla="*/ 7135 w 180"/>
                <a:gd name="T5" fmla="*/ 334 h 168"/>
                <a:gd name="T6" fmla="*/ 7135 w 180"/>
                <a:gd name="T7" fmla="*/ 334 h 168"/>
                <a:gd name="T8" fmla="*/ 7085 w 180"/>
                <a:gd name="T9" fmla="*/ 335 h 168"/>
                <a:gd name="T10" fmla="*/ 7085 w 180"/>
                <a:gd name="T11" fmla="*/ 335 h 168"/>
                <a:gd name="T12" fmla="*/ 7067 w 180"/>
                <a:gd name="T13" fmla="*/ 338 h 168"/>
                <a:gd name="T14" fmla="*/ 7067 w 180"/>
                <a:gd name="T15" fmla="*/ 338 h 168"/>
                <a:gd name="T16" fmla="*/ 81 w 180"/>
                <a:gd name="T17" fmla="*/ 338 h 168"/>
                <a:gd name="T18" fmla="*/ 81 w 180"/>
                <a:gd name="T19" fmla="*/ 338 h 168"/>
                <a:gd name="T20" fmla="*/ 44 w 180"/>
                <a:gd name="T21" fmla="*/ 338 h 168"/>
                <a:gd name="T22" fmla="*/ 44 w 180"/>
                <a:gd name="T23" fmla="*/ 335 h 168"/>
                <a:gd name="T24" fmla="*/ 44 w 180"/>
                <a:gd name="T25" fmla="*/ 335 h 168"/>
                <a:gd name="T26" fmla="*/ 0 w 180"/>
                <a:gd name="T27" fmla="*/ 335 h 168"/>
                <a:gd name="T28" fmla="*/ 0 w 180"/>
                <a:gd name="T29" fmla="*/ 334 h 168"/>
                <a:gd name="T30" fmla="*/ 0 w 180"/>
                <a:gd name="T31" fmla="*/ 334 h 168"/>
                <a:gd name="T32" fmla="*/ 0 w 180"/>
                <a:gd name="T33" fmla="*/ 334 h 168"/>
                <a:gd name="T34" fmla="*/ 0 w 180"/>
                <a:gd name="T35" fmla="*/ 333 h 168"/>
                <a:gd name="T36" fmla="*/ 0 w 180"/>
                <a:gd name="T37" fmla="*/ 331 h 168"/>
                <a:gd name="T38" fmla="*/ 0 w 180"/>
                <a:gd name="T39" fmla="*/ 3 h 168"/>
                <a:gd name="T40" fmla="*/ 0 w 180"/>
                <a:gd name="T41" fmla="*/ 2 h 168"/>
                <a:gd name="T42" fmla="*/ 0 w 180"/>
                <a:gd name="T43" fmla="*/ 1 h 168"/>
                <a:gd name="T44" fmla="*/ 0 w 180"/>
                <a:gd name="T45" fmla="*/ 1 h 168"/>
                <a:gd name="T46" fmla="*/ 0 w 180"/>
                <a:gd name="T47" fmla="*/ 1 h 168"/>
                <a:gd name="T48" fmla="*/ 44 w 180"/>
                <a:gd name="T49" fmla="*/ 0 h 168"/>
                <a:gd name="T50" fmla="*/ 44 w 180"/>
                <a:gd name="T51" fmla="*/ 0 h 168"/>
                <a:gd name="T52" fmla="*/ 81 w 180"/>
                <a:gd name="T53" fmla="*/ 0 h 168"/>
                <a:gd name="T54" fmla="*/ 81 w 180"/>
                <a:gd name="T55" fmla="*/ 0 h 168"/>
                <a:gd name="T56" fmla="*/ 7067 w 180"/>
                <a:gd name="T57" fmla="*/ 0 h 168"/>
                <a:gd name="T58" fmla="*/ 7067 w 180"/>
                <a:gd name="T59" fmla="*/ 0 h 168"/>
                <a:gd name="T60" fmla="*/ 7067 w 180"/>
                <a:gd name="T61" fmla="*/ 0 h 168"/>
                <a:gd name="T62" fmla="*/ 7085 w 180"/>
                <a:gd name="T63" fmla="*/ 0 h 168"/>
                <a:gd name="T64" fmla="*/ 7085 w 180"/>
                <a:gd name="T65" fmla="*/ 0 h 168"/>
                <a:gd name="T66" fmla="*/ 7085 w 180"/>
                <a:gd name="T67" fmla="*/ 1 h 168"/>
                <a:gd name="T68" fmla="*/ 7135 w 180"/>
                <a:gd name="T69" fmla="*/ 1 h 168"/>
                <a:gd name="T70" fmla="*/ 7135 w 180"/>
                <a:gd name="T71" fmla="*/ 1 h 168"/>
                <a:gd name="T72" fmla="*/ 7167 w 180"/>
                <a:gd name="T73" fmla="*/ 2 h 168"/>
                <a:gd name="T74" fmla="*/ 7167 w 180"/>
                <a:gd name="T75" fmla="*/ 3 h 168"/>
                <a:gd name="T76" fmla="*/ 7167 w 180"/>
                <a:gd name="T77" fmla="*/ 331 h 168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180"/>
                <a:gd name="T118" fmla="*/ 0 h 168"/>
                <a:gd name="T119" fmla="*/ 180 w 180"/>
                <a:gd name="T120" fmla="*/ 168 h 168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180" h="168">
                  <a:moveTo>
                    <a:pt x="179" y="163"/>
                  </a:moveTo>
                  <a:lnTo>
                    <a:pt x="179" y="164"/>
                  </a:lnTo>
                  <a:lnTo>
                    <a:pt x="178" y="165"/>
                  </a:lnTo>
                  <a:lnTo>
                    <a:pt x="177" y="166"/>
                  </a:lnTo>
                  <a:lnTo>
                    <a:pt x="176" y="167"/>
                  </a:lnTo>
                  <a:lnTo>
                    <a:pt x="2" y="167"/>
                  </a:lnTo>
                  <a:lnTo>
                    <a:pt x="1" y="167"/>
                  </a:lnTo>
                  <a:lnTo>
                    <a:pt x="1" y="166"/>
                  </a:lnTo>
                  <a:lnTo>
                    <a:pt x="0" y="166"/>
                  </a:lnTo>
                  <a:lnTo>
                    <a:pt x="0" y="165"/>
                  </a:lnTo>
                  <a:lnTo>
                    <a:pt x="0" y="164"/>
                  </a:lnTo>
                  <a:lnTo>
                    <a:pt x="0" y="163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1"/>
                  </a:lnTo>
                  <a:lnTo>
                    <a:pt x="1" y="0"/>
                  </a:lnTo>
                  <a:lnTo>
                    <a:pt x="2" y="0"/>
                  </a:lnTo>
                  <a:lnTo>
                    <a:pt x="176" y="0"/>
                  </a:lnTo>
                  <a:lnTo>
                    <a:pt x="177" y="0"/>
                  </a:lnTo>
                  <a:lnTo>
                    <a:pt x="177" y="1"/>
                  </a:lnTo>
                  <a:lnTo>
                    <a:pt x="178" y="1"/>
                  </a:lnTo>
                  <a:lnTo>
                    <a:pt x="179" y="2"/>
                  </a:lnTo>
                  <a:lnTo>
                    <a:pt x="179" y="3"/>
                  </a:lnTo>
                  <a:lnTo>
                    <a:pt x="179" y="163"/>
                  </a:lnTo>
                </a:path>
              </a:pathLst>
            </a:custGeom>
            <a:solidFill>
              <a:srgbClr val="EFEFD1"/>
            </a:solidFill>
            <a:ln w="12700" cap="rnd">
              <a:solidFill>
                <a:srgbClr val="6666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1" name="Freeform 97"/>
            <p:cNvSpPr>
              <a:spLocks/>
            </p:cNvSpPr>
            <p:nvPr/>
          </p:nvSpPr>
          <p:spPr bwMode="auto">
            <a:xfrm>
              <a:off x="788" y="1517"/>
              <a:ext cx="262" cy="140"/>
            </a:xfrm>
            <a:custGeom>
              <a:avLst/>
              <a:gdLst>
                <a:gd name="T0" fmla="*/ 0 w 142"/>
                <a:gd name="T1" fmla="*/ 1 h 124"/>
                <a:gd name="T2" fmla="*/ 44 w 142"/>
                <a:gd name="T3" fmla="*/ 1 h 124"/>
                <a:gd name="T4" fmla="*/ 44 w 142"/>
                <a:gd name="T5" fmla="*/ 1 h 124"/>
                <a:gd name="T6" fmla="*/ 81 w 142"/>
                <a:gd name="T7" fmla="*/ 0 h 124"/>
                <a:gd name="T8" fmla="*/ 81 w 142"/>
                <a:gd name="T9" fmla="*/ 0 h 124"/>
                <a:gd name="T10" fmla="*/ 125 w 142"/>
                <a:gd name="T11" fmla="*/ 0 h 124"/>
                <a:gd name="T12" fmla="*/ 125 w 142"/>
                <a:gd name="T13" fmla="*/ 0 h 124"/>
                <a:gd name="T14" fmla="*/ 149 w 142"/>
                <a:gd name="T15" fmla="*/ 0 h 124"/>
                <a:gd name="T16" fmla="*/ 5321 w 142"/>
                <a:gd name="T17" fmla="*/ 0 h 124"/>
                <a:gd name="T18" fmla="*/ 5365 w 142"/>
                <a:gd name="T19" fmla="*/ 0 h 124"/>
                <a:gd name="T20" fmla="*/ 5413 w 142"/>
                <a:gd name="T21" fmla="*/ 0 h 124"/>
                <a:gd name="T22" fmla="*/ 5413 w 142"/>
                <a:gd name="T23" fmla="*/ 0 h 124"/>
                <a:gd name="T24" fmla="*/ 5447 w 142"/>
                <a:gd name="T25" fmla="*/ 0 h 124"/>
                <a:gd name="T26" fmla="*/ 5447 w 142"/>
                <a:gd name="T27" fmla="*/ 1 h 124"/>
                <a:gd name="T28" fmla="*/ 5471 w 142"/>
                <a:gd name="T29" fmla="*/ 1 h 124"/>
                <a:gd name="T30" fmla="*/ 5471 w 142"/>
                <a:gd name="T31" fmla="*/ 1 h 124"/>
                <a:gd name="T32" fmla="*/ 5515 w 142"/>
                <a:gd name="T33" fmla="*/ 2 h 124"/>
                <a:gd name="T34" fmla="*/ 5515 w 142"/>
                <a:gd name="T35" fmla="*/ 3 h 124"/>
                <a:gd name="T36" fmla="*/ 5567 w 142"/>
                <a:gd name="T37" fmla="*/ 3 h 124"/>
                <a:gd name="T38" fmla="*/ 5567 w 142"/>
                <a:gd name="T39" fmla="*/ 10 h 124"/>
                <a:gd name="T40" fmla="*/ 5567 w 142"/>
                <a:gd name="T41" fmla="*/ 11 h 124"/>
                <a:gd name="T42" fmla="*/ 5567 w 142"/>
                <a:gd name="T43" fmla="*/ 243 h 124"/>
                <a:gd name="T44" fmla="*/ 5567 w 142"/>
                <a:gd name="T45" fmla="*/ 245 h 124"/>
                <a:gd name="T46" fmla="*/ 5515 w 142"/>
                <a:gd name="T47" fmla="*/ 245 h 124"/>
                <a:gd name="T48" fmla="*/ 5515 w 142"/>
                <a:gd name="T49" fmla="*/ 247 h 124"/>
                <a:gd name="T50" fmla="*/ 5471 w 142"/>
                <a:gd name="T51" fmla="*/ 253 h 124"/>
                <a:gd name="T52" fmla="*/ 5471 w 142"/>
                <a:gd name="T53" fmla="*/ 253 h 124"/>
                <a:gd name="T54" fmla="*/ 5447 w 142"/>
                <a:gd name="T55" fmla="*/ 254 h 124"/>
                <a:gd name="T56" fmla="*/ 5447 w 142"/>
                <a:gd name="T57" fmla="*/ 254 h 124"/>
                <a:gd name="T58" fmla="*/ 5413 w 142"/>
                <a:gd name="T59" fmla="*/ 254 h 124"/>
                <a:gd name="T60" fmla="*/ 5413 w 142"/>
                <a:gd name="T61" fmla="*/ 255 h 124"/>
                <a:gd name="T62" fmla="*/ 5365 w 142"/>
                <a:gd name="T63" fmla="*/ 255 h 124"/>
                <a:gd name="T64" fmla="*/ 5321 w 142"/>
                <a:gd name="T65" fmla="*/ 255 h 124"/>
                <a:gd name="T66" fmla="*/ 149 w 142"/>
                <a:gd name="T67" fmla="*/ 255 h 124"/>
                <a:gd name="T68" fmla="*/ 125 w 142"/>
                <a:gd name="T69" fmla="*/ 255 h 124"/>
                <a:gd name="T70" fmla="*/ 125 w 142"/>
                <a:gd name="T71" fmla="*/ 255 h 124"/>
                <a:gd name="T72" fmla="*/ 81 w 142"/>
                <a:gd name="T73" fmla="*/ 254 h 124"/>
                <a:gd name="T74" fmla="*/ 81 w 142"/>
                <a:gd name="T75" fmla="*/ 254 h 124"/>
                <a:gd name="T76" fmla="*/ 44 w 142"/>
                <a:gd name="T77" fmla="*/ 254 h 124"/>
                <a:gd name="T78" fmla="*/ 44 w 142"/>
                <a:gd name="T79" fmla="*/ 253 h 124"/>
                <a:gd name="T80" fmla="*/ 0 w 142"/>
                <a:gd name="T81" fmla="*/ 253 h 124"/>
                <a:gd name="T82" fmla="*/ 0 w 142"/>
                <a:gd name="T83" fmla="*/ 247 h 124"/>
                <a:gd name="T84" fmla="*/ 0 w 142"/>
                <a:gd name="T85" fmla="*/ 245 h 124"/>
                <a:gd name="T86" fmla="*/ 0 w 142"/>
                <a:gd name="T87" fmla="*/ 245 h 124"/>
                <a:gd name="T88" fmla="*/ 0 w 142"/>
                <a:gd name="T89" fmla="*/ 243 h 124"/>
                <a:gd name="T90" fmla="*/ 0 w 142"/>
                <a:gd name="T91" fmla="*/ 11 h 124"/>
                <a:gd name="T92" fmla="*/ 0 w 142"/>
                <a:gd name="T93" fmla="*/ 10 h 124"/>
                <a:gd name="T94" fmla="*/ 0 w 142"/>
                <a:gd name="T95" fmla="*/ 3 h 124"/>
                <a:gd name="T96" fmla="*/ 0 w 142"/>
                <a:gd name="T97" fmla="*/ 3 h 124"/>
                <a:gd name="T98" fmla="*/ 0 w 142"/>
                <a:gd name="T99" fmla="*/ 2 h 124"/>
                <a:gd name="T100" fmla="*/ 0 w 142"/>
                <a:gd name="T101" fmla="*/ 1 h 12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42"/>
                <a:gd name="T154" fmla="*/ 0 h 124"/>
                <a:gd name="T155" fmla="*/ 142 w 142"/>
                <a:gd name="T156" fmla="*/ 124 h 124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42" h="124">
                  <a:moveTo>
                    <a:pt x="0" y="1"/>
                  </a:moveTo>
                  <a:lnTo>
                    <a:pt x="1" y="1"/>
                  </a:lnTo>
                  <a:lnTo>
                    <a:pt x="2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135" y="0"/>
                  </a:lnTo>
                  <a:lnTo>
                    <a:pt x="136" y="0"/>
                  </a:lnTo>
                  <a:lnTo>
                    <a:pt x="137" y="0"/>
                  </a:lnTo>
                  <a:lnTo>
                    <a:pt x="138" y="0"/>
                  </a:lnTo>
                  <a:lnTo>
                    <a:pt x="138" y="1"/>
                  </a:lnTo>
                  <a:lnTo>
                    <a:pt x="139" y="1"/>
                  </a:lnTo>
                  <a:lnTo>
                    <a:pt x="140" y="2"/>
                  </a:lnTo>
                  <a:lnTo>
                    <a:pt x="140" y="3"/>
                  </a:lnTo>
                  <a:lnTo>
                    <a:pt x="141" y="3"/>
                  </a:lnTo>
                  <a:lnTo>
                    <a:pt x="141" y="4"/>
                  </a:lnTo>
                  <a:lnTo>
                    <a:pt x="141" y="5"/>
                  </a:lnTo>
                  <a:lnTo>
                    <a:pt x="141" y="117"/>
                  </a:lnTo>
                  <a:lnTo>
                    <a:pt x="141" y="119"/>
                  </a:lnTo>
                  <a:lnTo>
                    <a:pt x="140" y="119"/>
                  </a:lnTo>
                  <a:lnTo>
                    <a:pt x="140" y="120"/>
                  </a:lnTo>
                  <a:lnTo>
                    <a:pt x="139" y="121"/>
                  </a:lnTo>
                  <a:lnTo>
                    <a:pt x="138" y="122"/>
                  </a:lnTo>
                  <a:lnTo>
                    <a:pt x="137" y="122"/>
                  </a:lnTo>
                  <a:lnTo>
                    <a:pt x="137" y="123"/>
                  </a:lnTo>
                  <a:lnTo>
                    <a:pt x="136" y="123"/>
                  </a:lnTo>
                  <a:lnTo>
                    <a:pt x="135" y="123"/>
                  </a:lnTo>
                  <a:lnTo>
                    <a:pt x="4" y="123"/>
                  </a:lnTo>
                  <a:lnTo>
                    <a:pt x="3" y="123"/>
                  </a:lnTo>
                  <a:lnTo>
                    <a:pt x="2" y="122"/>
                  </a:lnTo>
                  <a:lnTo>
                    <a:pt x="1" y="122"/>
                  </a:lnTo>
                  <a:lnTo>
                    <a:pt x="1" y="121"/>
                  </a:lnTo>
                  <a:lnTo>
                    <a:pt x="0" y="121"/>
                  </a:lnTo>
                  <a:lnTo>
                    <a:pt x="0" y="120"/>
                  </a:lnTo>
                  <a:lnTo>
                    <a:pt x="0" y="119"/>
                  </a:lnTo>
                  <a:lnTo>
                    <a:pt x="0" y="117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1"/>
                  </a:lnTo>
                </a:path>
              </a:pathLst>
            </a:custGeom>
            <a:gradFill rotWithShape="0">
              <a:gsLst>
                <a:gs pos="0">
                  <a:srgbClr val="1D2B4B"/>
                </a:gs>
                <a:gs pos="50000">
                  <a:srgbClr val="618FFD"/>
                </a:gs>
                <a:gs pos="100000">
                  <a:srgbClr val="1D2B4B"/>
                </a:gs>
              </a:gsLst>
              <a:lin ang="2700000" scaled="1"/>
            </a:gra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2" name="Freeform 98"/>
            <p:cNvSpPr>
              <a:spLocks/>
            </p:cNvSpPr>
            <p:nvPr/>
          </p:nvSpPr>
          <p:spPr bwMode="auto">
            <a:xfrm>
              <a:off x="779" y="1511"/>
              <a:ext cx="282" cy="19"/>
            </a:xfrm>
            <a:custGeom>
              <a:avLst/>
              <a:gdLst>
                <a:gd name="T0" fmla="*/ 5955 w 153"/>
                <a:gd name="T1" fmla="*/ 4 h 17"/>
                <a:gd name="T2" fmla="*/ 5911 w 153"/>
                <a:gd name="T3" fmla="*/ 3 h 17"/>
                <a:gd name="T4" fmla="*/ 5911 w 153"/>
                <a:gd name="T5" fmla="*/ 2 h 17"/>
                <a:gd name="T6" fmla="*/ 5874 w 153"/>
                <a:gd name="T7" fmla="*/ 2 h 17"/>
                <a:gd name="T8" fmla="*/ 5874 w 153"/>
                <a:gd name="T9" fmla="*/ 2 h 17"/>
                <a:gd name="T10" fmla="*/ 5874 w 153"/>
                <a:gd name="T11" fmla="*/ 1 h 17"/>
                <a:gd name="T12" fmla="*/ 5846 w 153"/>
                <a:gd name="T13" fmla="*/ 1 h 17"/>
                <a:gd name="T14" fmla="*/ 5846 w 153"/>
                <a:gd name="T15" fmla="*/ 1 h 17"/>
                <a:gd name="T16" fmla="*/ 5806 w 153"/>
                <a:gd name="T17" fmla="*/ 0 h 17"/>
                <a:gd name="T18" fmla="*/ 5806 w 153"/>
                <a:gd name="T19" fmla="*/ 0 h 17"/>
                <a:gd name="T20" fmla="*/ 5762 w 153"/>
                <a:gd name="T21" fmla="*/ 0 h 17"/>
                <a:gd name="T22" fmla="*/ 5725 w 153"/>
                <a:gd name="T23" fmla="*/ 0 h 17"/>
                <a:gd name="T24" fmla="*/ 125 w 153"/>
                <a:gd name="T25" fmla="*/ 0 h 17"/>
                <a:gd name="T26" fmla="*/ 125 w 153"/>
                <a:gd name="T27" fmla="*/ 0 h 17"/>
                <a:gd name="T28" fmla="*/ 81 w 153"/>
                <a:gd name="T29" fmla="*/ 0 h 17"/>
                <a:gd name="T30" fmla="*/ 44 w 153"/>
                <a:gd name="T31" fmla="*/ 1 h 17"/>
                <a:gd name="T32" fmla="*/ 44 w 153"/>
                <a:gd name="T33" fmla="*/ 1 h 17"/>
                <a:gd name="T34" fmla="*/ 0 w 153"/>
                <a:gd name="T35" fmla="*/ 2 h 17"/>
                <a:gd name="T36" fmla="*/ 0 w 153"/>
                <a:gd name="T37" fmla="*/ 2 h 17"/>
                <a:gd name="T38" fmla="*/ 0 w 153"/>
                <a:gd name="T39" fmla="*/ 3 h 17"/>
                <a:gd name="T40" fmla="*/ 230 w 153"/>
                <a:gd name="T41" fmla="*/ 31 h 17"/>
                <a:gd name="T42" fmla="*/ 275 w 153"/>
                <a:gd name="T43" fmla="*/ 28 h 17"/>
                <a:gd name="T44" fmla="*/ 275 w 153"/>
                <a:gd name="T45" fmla="*/ 28 h 17"/>
                <a:gd name="T46" fmla="*/ 326 w 153"/>
                <a:gd name="T47" fmla="*/ 26 h 17"/>
                <a:gd name="T48" fmla="*/ 326 w 153"/>
                <a:gd name="T49" fmla="*/ 26 h 17"/>
                <a:gd name="T50" fmla="*/ 326 w 153"/>
                <a:gd name="T51" fmla="*/ 23 h 17"/>
                <a:gd name="T52" fmla="*/ 358 w 153"/>
                <a:gd name="T53" fmla="*/ 23 h 17"/>
                <a:gd name="T54" fmla="*/ 380 w 153"/>
                <a:gd name="T55" fmla="*/ 23 h 17"/>
                <a:gd name="T56" fmla="*/ 5491 w 153"/>
                <a:gd name="T57" fmla="*/ 23 h 17"/>
                <a:gd name="T58" fmla="*/ 5528 w 153"/>
                <a:gd name="T59" fmla="*/ 23 h 17"/>
                <a:gd name="T60" fmla="*/ 5572 w 153"/>
                <a:gd name="T61" fmla="*/ 23 h 17"/>
                <a:gd name="T62" fmla="*/ 5572 w 153"/>
                <a:gd name="T63" fmla="*/ 26 h 17"/>
                <a:gd name="T64" fmla="*/ 5622 w 153"/>
                <a:gd name="T65" fmla="*/ 26 h 17"/>
                <a:gd name="T66" fmla="*/ 5622 w 153"/>
                <a:gd name="T67" fmla="*/ 28 h 17"/>
                <a:gd name="T68" fmla="*/ 5622 w 153"/>
                <a:gd name="T69" fmla="*/ 28 h 17"/>
                <a:gd name="T70" fmla="*/ 5629 w 153"/>
                <a:gd name="T71" fmla="*/ 28 h 17"/>
                <a:gd name="T72" fmla="*/ 5955 w 153"/>
                <a:gd name="T73" fmla="*/ 4 h 1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53"/>
                <a:gd name="T112" fmla="*/ 0 h 17"/>
                <a:gd name="T113" fmla="*/ 153 w 153"/>
                <a:gd name="T114" fmla="*/ 17 h 17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53" h="17">
                  <a:moveTo>
                    <a:pt x="152" y="4"/>
                  </a:moveTo>
                  <a:lnTo>
                    <a:pt x="151" y="3"/>
                  </a:lnTo>
                  <a:lnTo>
                    <a:pt x="151" y="2"/>
                  </a:lnTo>
                  <a:lnTo>
                    <a:pt x="150" y="2"/>
                  </a:lnTo>
                  <a:lnTo>
                    <a:pt x="150" y="1"/>
                  </a:lnTo>
                  <a:lnTo>
                    <a:pt x="149" y="1"/>
                  </a:lnTo>
                  <a:lnTo>
                    <a:pt x="148" y="0"/>
                  </a:lnTo>
                  <a:lnTo>
                    <a:pt x="147" y="0"/>
                  </a:lnTo>
                  <a:lnTo>
                    <a:pt x="146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6" y="16"/>
                  </a:lnTo>
                  <a:lnTo>
                    <a:pt x="7" y="14"/>
                  </a:lnTo>
                  <a:lnTo>
                    <a:pt x="8" y="13"/>
                  </a:lnTo>
                  <a:lnTo>
                    <a:pt x="8" y="12"/>
                  </a:lnTo>
                  <a:lnTo>
                    <a:pt x="9" y="12"/>
                  </a:lnTo>
                  <a:lnTo>
                    <a:pt x="10" y="12"/>
                  </a:lnTo>
                  <a:lnTo>
                    <a:pt x="140" y="12"/>
                  </a:lnTo>
                  <a:lnTo>
                    <a:pt x="141" y="12"/>
                  </a:lnTo>
                  <a:lnTo>
                    <a:pt x="142" y="12"/>
                  </a:lnTo>
                  <a:lnTo>
                    <a:pt x="142" y="13"/>
                  </a:lnTo>
                  <a:lnTo>
                    <a:pt x="143" y="13"/>
                  </a:lnTo>
                  <a:lnTo>
                    <a:pt x="143" y="14"/>
                  </a:lnTo>
                  <a:lnTo>
                    <a:pt x="144" y="14"/>
                  </a:lnTo>
                  <a:lnTo>
                    <a:pt x="152" y="4"/>
                  </a:lnTo>
                </a:path>
              </a:pathLst>
            </a:custGeom>
            <a:solidFill>
              <a:srgbClr val="9F9FA2"/>
            </a:solidFill>
            <a:ln w="12700" cap="rnd">
              <a:solidFill>
                <a:srgbClr val="9F9FA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3" name="Freeform 99"/>
            <p:cNvSpPr>
              <a:spLocks/>
            </p:cNvSpPr>
            <p:nvPr/>
          </p:nvSpPr>
          <p:spPr bwMode="auto">
            <a:xfrm>
              <a:off x="775" y="1513"/>
              <a:ext cx="32" cy="151"/>
            </a:xfrm>
            <a:custGeom>
              <a:avLst/>
              <a:gdLst>
                <a:gd name="T0" fmla="*/ 100 w 17"/>
                <a:gd name="T1" fmla="*/ 0 h 135"/>
                <a:gd name="T2" fmla="*/ 53 w 17"/>
                <a:gd name="T3" fmla="*/ 0 h 135"/>
                <a:gd name="T4" fmla="*/ 0 w 17"/>
                <a:gd name="T5" fmla="*/ 1 h 135"/>
                <a:gd name="T6" fmla="*/ 0 w 17"/>
                <a:gd name="T7" fmla="*/ 2 h 135"/>
                <a:gd name="T8" fmla="*/ 0 w 17"/>
                <a:gd name="T9" fmla="*/ 2 h 135"/>
                <a:gd name="T10" fmla="*/ 0 w 17"/>
                <a:gd name="T11" fmla="*/ 3 h 135"/>
                <a:gd name="T12" fmla="*/ 0 w 17"/>
                <a:gd name="T13" fmla="*/ 4 h 135"/>
                <a:gd name="T14" fmla="*/ 0 w 17"/>
                <a:gd name="T15" fmla="*/ 253 h 135"/>
                <a:gd name="T16" fmla="*/ 0 w 17"/>
                <a:gd name="T17" fmla="*/ 253 h 135"/>
                <a:gd name="T18" fmla="*/ 0 w 17"/>
                <a:gd name="T19" fmla="*/ 256 h 135"/>
                <a:gd name="T20" fmla="*/ 0 w 17"/>
                <a:gd name="T21" fmla="*/ 261 h 135"/>
                <a:gd name="T22" fmla="*/ 0 w 17"/>
                <a:gd name="T23" fmla="*/ 261 h 135"/>
                <a:gd name="T24" fmla="*/ 53 w 17"/>
                <a:gd name="T25" fmla="*/ 262 h 135"/>
                <a:gd name="T26" fmla="*/ 100 w 17"/>
                <a:gd name="T27" fmla="*/ 262 h 135"/>
                <a:gd name="T28" fmla="*/ 100 w 17"/>
                <a:gd name="T29" fmla="*/ 263 h 135"/>
                <a:gd name="T30" fmla="*/ 141 w 17"/>
                <a:gd name="T31" fmla="*/ 263 h 135"/>
                <a:gd name="T32" fmla="*/ 702 w 17"/>
                <a:gd name="T33" fmla="*/ 249 h 135"/>
                <a:gd name="T34" fmla="*/ 666 w 17"/>
                <a:gd name="T35" fmla="*/ 247 h 135"/>
                <a:gd name="T36" fmla="*/ 666 w 17"/>
                <a:gd name="T37" fmla="*/ 247 h 135"/>
                <a:gd name="T38" fmla="*/ 614 w 17"/>
                <a:gd name="T39" fmla="*/ 247 h 135"/>
                <a:gd name="T40" fmla="*/ 614 w 17"/>
                <a:gd name="T41" fmla="*/ 246 h 135"/>
                <a:gd name="T42" fmla="*/ 567 w 17"/>
                <a:gd name="T43" fmla="*/ 243 h 135"/>
                <a:gd name="T44" fmla="*/ 567 w 17"/>
                <a:gd name="T45" fmla="*/ 243 h 135"/>
                <a:gd name="T46" fmla="*/ 567 w 17"/>
                <a:gd name="T47" fmla="*/ 19 h 135"/>
                <a:gd name="T48" fmla="*/ 567 w 17"/>
                <a:gd name="T49" fmla="*/ 17 h 135"/>
                <a:gd name="T50" fmla="*/ 567 w 17"/>
                <a:gd name="T51" fmla="*/ 15 h 135"/>
                <a:gd name="T52" fmla="*/ 614 w 17"/>
                <a:gd name="T53" fmla="*/ 15 h 135"/>
                <a:gd name="T54" fmla="*/ 666 w 17"/>
                <a:gd name="T55" fmla="*/ 13 h 135"/>
                <a:gd name="T56" fmla="*/ 666 w 17"/>
                <a:gd name="T57" fmla="*/ 12 h 135"/>
                <a:gd name="T58" fmla="*/ 100 w 17"/>
                <a:gd name="T59" fmla="*/ 0 h 135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17"/>
                <a:gd name="T91" fmla="*/ 0 h 135"/>
                <a:gd name="T92" fmla="*/ 17 w 17"/>
                <a:gd name="T93" fmla="*/ 135 h 135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17" h="135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130"/>
                  </a:lnTo>
                  <a:lnTo>
                    <a:pt x="0" y="131"/>
                  </a:lnTo>
                  <a:lnTo>
                    <a:pt x="0" y="132"/>
                  </a:lnTo>
                  <a:lnTo>
                    <a:pt x="1" y="133"/>
                  </a:lnTo>
                  <a:lnTo>
                    <a:pt x="2" y="133"/>
                  </a:lnTo>
                  <a:lnTo>
                    <a:pt x="2" y="134"/>
                  </a:lnTo>
                  <a:lnTo>
                    <a:pt x="3" y="134"/>
                  </a:lnTo>
                  <a:lnTo>
                    <a:pt x="16" y="127"/>
                  </a:lnTo>
                  <a:lnTo>
                    <a:pt x="15" y="126"/>
                  </a:lnTo>
                  <a:lnTo>
                    <a:pt x="14" y="126"/>
                  </a:lnTo>
                  <a:lnTo>
                    <a:pt x="14" y="125"/>
                  </a:lnTo>
                  <a:lnTo>
                    <a:pt x="13" y="124"/>
                  </a:lnTo>
                  <a:lnTo>
                    <a:pt x="13" y="10"/>
                  </a:lnTo>
                  <a:lnTo>
                    <a:pt x="13" y="9"/>
                  </a:lnTo>
                  <a:lnTo>
                    <a:pt x="13" y="8"/>
                  </a:lnTo>
                  <a:lnTo>
                    <a:pt x="14" y="8"/>
                  </a:lnTo>
                  <a:lnTo>
                    <a:pt x="15" y="7"/>
                  </a:lnTo>
                  <a:lnTo>
                    <a:pt x="15" y="6"/>
                  </a:lnTo>
                  <a:lnTo>
                    <a:pt x="2" y="0"/>
                  </a:lnTo>
                </a:path>
              </a:pathLst>
            </a:custGeom>
            <a:solidFill>
              <a:srgbClr val="666666"/>
            </a:solidFill>
            <a:ln w="12700" cap="rnd">
              <a:solidFill>
                <a:srgbClr val="6666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4" name="Freeform 100"/>
            <p:cNvSpPr>
              <a:spLocks/>
            </p:cNvSpPr>
            <p:nvPr/>
          </p:nvSpPr>
          <p:spPr bwMode="auto">
            <a:xfrm>
              <a:off x="779" y="1514"/>
              <a:ext cx="286" cy="153"/>
            </a:xfrm>
            <a:custGeom>
              <a:avLst/>
              <a:gdLst>
                <a:gd name="T0" fmla="*/ 0 w 155"/>
                <a:gd name="T1" fmla="*/ 271 h 136"/>
                <a:gd name="T2" fmla="*/ 0 w 155"/>
                <a:gd name="T3" fmla="*/ 272 h 136"/>
                <a:gd name="T4" fmla="*/ 0 w 155"/>
                <a:gd name="T5" fmla="*/ 272 h 136"/>
                <a:gd name="T6" fmla="*/ 44 w 155"/>
                <a:gd name="T7" fmla="*/ 272 h 136"/>
                <a:gd name="T8" fmla="*/ 44 w 155"/>
                <a:gd name="T9" fmla="*/ 272 h 136"/>
                <a:gd name="T10" fmla="*/ 81 w 155"/>
                <a:gd name="T11" fmla="*/ 273 h 136"/>
                <a:gd name="T12" fmla="*/ 81 w 155"/>
                <a:gd name="T13" fmla="*/ 273 h 136"/>
                <a:gd name="T14" fmla="*/ 125 w 155"/>
                <a:gd name="T15" fmla="*/ 273 h 136"/>
                <a:gd name="T16" fmla="*/ 5842 w 155"/>
                <a:gd name="T17" fmla="*/ 273 h 136"/>
                <a:gd name="T18" fmla="*/ 5925 w 155"/>
                <a:gd name="T19" fmla="*/ 272 h 136"/>
                <a:gd name="T20" fmla="*/ 5969 w 155"/>
                <a:gd name="T21" fmla="*/ 272 h 136"/>
                <a:gd name="T22" fmla="*/ 5969 w 155"/>
                <a:gd name="T23" fmla="*/ 271 h 136"/>
                <a:gd name="T24" fmla="*/ 5991 w 155"/>
                <a:gd name="T25" fmla="*/ 271 h 136"/>
                <a:gd name="T26" fmla="*/ 5991 w 155"/>
                <a:gd name="T27" fmla="*/ 271 h 136"/>
                <a:gd name="T28" fmla="*/ 6026 w 155"/>
                <a:gd name="T29" fmla="*/ 270 h 136"/>
                <a:gd name="T30" fmla="*/ 6026 w 155"/>
                <a:gd name="T31" fmla="*/ 264 h 136"/>
                <a:gd name="T32" fmla="*/ 6074 w 155"/>
                <a:gd name="T33" fmla="*/ 264 h 136"/>
                <a:gd name="T34" fmla="*/ 6074 w 155"/>
                <a:gd name="T35" fmla="*/ 261 h 136"/>
                <a:gd name="T36" fmla="*/ 6074 w 155"/>
                <a:gd name="T37" fmla="*/ 261 h 136"/>
                <a:gd name="T38" fmla="*/ 6074 w 155"/>
                <a:gd name="T39" fmla="*/ 3 h 136"/>
                <a:gd name="T40" fmla="*/ 6074 w 155"/>
                <a:gd name="T41" fmla="*/ 2 h 136"/>
                <a:gd name="T42" fmla="*/ 6074 w 155"/>
                <a:gd name="T43" fmla="*/ 1 h 136"/>
                <a:gd name="T44" fmla="*/ 6074 w 155"/>
                <a:gd name="T45" fmla="*/ 1 h 136"/>
                <a:gd name="T46" fmla="*/ 6026 w 155"/>
                <a:gd name="T47" fmla="*/ 1 h 136"/>
                <a:gd name="T48" fmla="*/ 6026 w 155"/>
                <a:gd name="T49" fmla="*/ 0 h 136"/>
                <a:gd name="T50" fmla="*/ 6026 w 155"/>
                <a:gd name="T51" fmla="*/ 0 h 136"/>
                <a:gd name="T52" fmla="*/ 5737 w 155"/>
                <a:gd name="T53" fmla="*/ 11 h 136"/>
                <a:gd name="T54" fmla="*/ 5737 w 155"/>
                <a:gd name="T55" fmla="*/ 11 h 136"/>
                <a:gd name="T56" fmla="*/ 5748 w 155"/>
                <a:gd name="T57" fmla="*/ 12 h 136"/>
                <a:gd name="T58" fmla="*/ 5748 w 155"/>
                <a:gd name="T59" fmla="*/ 13 h 136"/>
                <a:gd name="T60" fmla="*/ 5748 w 155"/>
                <a:gd name="T61" fmla="*/ 13 h 136"/>
                <a:gd name="T62" fmla="*/ 5748 w 155"/>
                <a:gd name="T63" fmla="*/ 13 h 136"/>
                <a:gd name="T64" fmla="*/ 5748 w 155"/>
                <a:gd name="T65" fmla="*/ 15 h 136"/>
                <a:gd name="T66" fmla="*/ 5748 w 155"/>
                <a:gd name="T67" fmla="*/ 17 h 136"/>
                <a:gd name="T68" fmla="*/ 5748 w 155"/>
                <a:gd name="T69" fmla="*/ 17 h 136"/>
                <a:gd name="T70" fmla="*/ 5748 w 155"/>
                <a:gd name="T71" fmla="*/ 247 h 136"/>
                <a:gd name="T72" fmla="*/ 5748 w 155"/>
                <a:gd name="T73" fmla="*/ 247 h 136"/>
                <a:gd name="T74" fmla="*/ 5748 w 155"/>
                <a:gd name="T75" fmla="*/ 252 h 136"/>
                <a:gd name="T76" fmla="*/ 5748 w 155"/>
                <a:gd name="T77" fmla="*/ 254 h 136"/>
                <a:gd name="T78" fmla="*/ 5748 w 155"/>
                <a:gd name="T79" fmla="*/ 254 h 136"/>
                <a:gd name="T80" fmla="*/ 5737 w 155"/>
                <a:gd name="T81" fmla="*/ 255 h 136"/>
                <a:gd name="T82" fmla="*/ 5737 w 155"/>
                <a:gd name="T83" fmla="*/ 258 h 136"/>
                <a:gd name="T84" fmla="*/ 5692 w 155"/>
                <a:gd name="T85" fmla="*/ 258 h 136"/>
                <a:gd name="T86" fmla="*/ 5648 w 155"/>
                <a:gd name="T87" fmla="*/ 258 h 136"/>
                <a:gd name="T88" fmla="*/ 5648 w 155"/>
                <a:gd name="T89" fmla="*/ 260 h 136"/>
                <a:gd name="T90" fmla="*/ 5596 w 155"/>
                <a:gd name="T91" fmla="*/ 260 h 136"/>
                <a:gd name="T92" fmla="*/ 5596 w 155"/>
                <a:gd name="T93" fmla="*/ 260 h 136"/>
                <a:gd name="T94" fmla="*/ 358 w 155"/>
                <a:gd name="T95" fmla="*/ 260 h 136"/>
                <a:gd name="T96" fmla="*/ 327 w 155"/>
                <a:gd name="T97" fmla="*/ 260 h 136"/>
                <a:gd name="T98" fmla="*/ 327 w 155"/>
                <a:gd name="T99" fmla="*/ 260 h 136"/>
                <a:gd name="T100" fmla="*/ 327 w 155"/>
                <a:gd name="T101" fmla="*/ 258 h 136"/>
                <a:gd name="T102" fmla="*/ 275 w 155"/>
                <a:gd name="T103" fmla="*/ 258 h 136"/>
                <a:gd name="T104" fmla="*/ 275 w 155"/>
                <a:gd name="T105" fmla="*/ 258 h 136"/>
                <a:gd name="T106" fmla="*/ 231 w 155"/>
                <a:gd name="T107" fmla="*/ 258 h 136"/>
                <a:gd name="T108" fmla="*/ 231 w 155"/>
                <a:gd name="T109" fmla="*/ 258 h 136"/>
                <a:gd name="T110" fmla="*/ 0 w 155"/>
                <a:gd name="T111" fmla="*/ 271 h 1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55"/>
                <a:gd name="T169" fmla="*/ 0 h 136"/>
                <a:gd name="T170" fmla="*/ 155 w 155"/>
                <a:gd name="T171" fmla="*/ 136 h 1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55" h="136">
                  <a:moveTo>
                    <a:pt x="0" y="133"/>
                  </a:moveTo>
                  <a:lnTo>
                    <a:pt x="0" y="134"/>
                  </a:lnTo>
                  <a:lnTo>
                    <a:pt x="1" y="134"/>
                  </a:lnTo>
                  <a:lnTo>
                    <a:pt x="2" y="135"/>
                  </a:lnTo>
                  <a:lnTo>
                    <a:pt x="3" y="135"/>
                  </a:lnTo>
                  <a:lnTo>
                    <a:pt x="148" y="135"/>
                  </a:lnTo>
                  <a:lnTo>
                    <a:pt x="150" y="134"/>
                  </a:lnTo>
                  <a:lnTo>
                    <a:pt x="151" y="134"/>
                  </a:lnTo>
                  <a:lnTo>
                    <a:pt x="151" y="133"/>
                  </a:lnTo>
                  <a:lnTo>
                    <a:pt x="152" y="133"/>
                  </a:lnTo>
                  <a:lnTo>
                    <a:pt x="153" y="132"/>
                  </a:lnTo>
                  <a:lnTo>
                    <a:pt x="153" y="131"/>
                  </a:lnTo>
                  <a:lnTo>
                    <a:pt x="154" y="131"/>
                  </a:lnTo>
                  <a:lnTo>
                    <a:pt x="154" y="129"/>
                  </a:lnTo>
                  <a:lnTo>
                    <a:pt x="154" y="3"/>
                  </a:lnTo>
                  <a:lnTo>
                    <a:pt x="154" y="2"/>
                  </a:lnTo>
                  <a:lnTo>
                    <a:pt x="154" y="1"/>
                  </a:lnTo>
                  <a:lnTo>
                    <a:pt x="153" y="1"/>
                  </a:lnTo>
                  <a:lnTo>
                    <a:pt x="153" y="0"/>
                  </a:lnTo>
                  <a:lnTo>
                    <a:pt x="145" y="5"/>
                  </a:lnTo>
                  <a:lnTo>
                    <a:pt x="146" y="6"/>
                  </a:lnTo>
                  <a:lnTo>
                    <a:pt x="146" y="7"/>
                  </a:lnTo>
                  <a:lnTo>
                    <a:pt x="146" y="8"/>
                  </a:lnTo>
                  <a:lnTo>
                    <a:pt x="146" y="9"/>
                  </a:lnTo>
                  <a:lnTo>
                    <a:pt x="146" y="123"/>
                  </a:lnTo>
                  <a:lnTo>
                    <a:pt x="146" y="124"/>
                  </a:lnTo>
                  <a:lnTo>
                    <a:pt x="146" y="125"/>
                  </a:lnTo>
                  <a:lnTo>
                    <a:pt x="145" y="126"/>
                  </a:lnTo>
                  <a:lnTo>
                    <a:pt x="145" y="127"/>
                  </a:lnTo>
                  <a:lnTo>
                    <a:pt x="144" y="127"/>
                  </a:lnTo>
                  <a:lnTo>
                    <a:pt x="143" y="127"/>
                  </a:lnTo>
                  <a:lnTo>
                    <a:pt x="143" y="128"/>
                  </a:lnTo>
                  <a:lnTo>
                    <a:pt x="142" y="128"/>
                  </a:lnTo>
                  <a:lnTo>
                    <a:pt x="9" y="128"/>
                  </a:lnTo>
                  <a:lnTo>
                    <a:pt x="8" y="128"/>
                  </a:lnTo>
                  <a:lnTo>
                    <a:pt x="8" y="127"/>
                  </a:lnTo>
                  <a:lnTo>
                    <a:pt x="7" y="127"/>
                  </a:lnTo>
                  <a:lnTo>
                    <a:pt x="6" y="127"/>
                  </a:lnTo>
                  <a:lnTo>
                    <a:pt x="0" y="133"/>
                  </a:lnTo>
                </a:path>
              </a:pathLst>
            </a:custGeom>
            <a:solidFill>
              <a:srgbClr val="999999"/>
            </a:solidFill>
            <a:ln w="12700" cap="rnd">
              <a:solidFill>
                <a:srgbClr val="999999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5" name="Freeform 101"/>
            <p:cNvSpPr>
              <a:spLocks/>
            </p:cNvSpPr>
            <p:nvPr/>
          </p:nvSpPr>
          <p:spPr bwMode="auto">
            <a:xfrm>
              <a:off x="779" y="1511"/>
              <a:ext cx="282" cy="19"/>
            </a:xfrm>
            <a:custGeom>
              <a:avLst/>
              <a:gdLst>
                <a:gd name="T0" fmla="*/ 5955 w 153"/>
                <a:gd name="T1" fmla="*/ 31 h 17"/>
                <a:gd name="T2" fmla="*/ 5911 w 153"/>
                <a:gd name="T3" fmla="*/ 31 h 17"/>
                <a:gd name="T4" fmla="*/ 5911 w 153"/>
                <a:gd name="T5" fmla="*/ 19 h 17"/>
                <a:gd name="T6" fmla="*/ 5874 w 153"/>
                <a:gd name="T7" fmla="*/ 19 h 17"/>
                <a:gd name="T8" fmla="*/ 5874 w 153"/>
                <a:gd name="T9" fmla="*/ 19 h 17"/>
                <a:gd name="T10" fmla="*/ 5874 w 153"/>
                <a:gd name="T11" fmla="*/ 11 h 17"/>
                <a:gd name="T12" fmla="*/ 5846 w 153"/>
                <a:gd name="T13" fmla="*/ 11 h 17"/>
                <a:gd name="T14" fmla="*/ 5846 w 153"/>
                <a:gd name="T15" fmla="*/ 11 h 17"/>
                <a:gd name="T16" fmla="*/ 5806 w 153"/>
                <a:gd name="T17" fmla="*/ 0 h 17"/>
                <a:gd name="T18" fmla="*/ 5806 w 153"/>
                <a:gd name="T19" fmla="*/ 0 h 17"/>
                <a:gd name="T20" fmla="*/ 5762 w 153"/>
                <a:gd name="T21" fmla="*/ 0 h 17"/>
                <a:gd name="T22" fmla="*/ 5725 w 153"/>
                <a:gd name="T23" fmla="*/ 0 h 17"/>
                <a:gd name="T24" fmla="*/ 125 w 153"/>
                <a:gd name="T25" fmla="*/ 0 h 17"/>
                <a:gd name="T26" fmla="*/ 125 w 153"/>
                <a:gd name="T27" fmla="*/ 0 h 17"/>
                <a:gd name="T28" fmla="*/ 81 w 153"/>
                <a:gd name="T29" fmla="*/ 0 h 17"/>
                <a:gd name="T30" fmla="*/ 44 w 153"/>
                <a:gd name="T31" fmla="*/ 11 h 17"/>
                <a:gd name="T32" fmla="*/ 44 w 153"/>
                <a:gd name="T33" fmla="*/ 11 h 17"/>
                <a:gd name="T34" fmla="*/ 0 w 153"/>
                <a:gd name="T35" fmla="*/ 19 h 17"/>
                <a:gd name="T36" fmla="*/ 0 w 153"/>
                <a:gd name="T37" fmla="*/ 19 h 17"/>
                <a:gd name="T38" fmla="*/ 0 w 153"/>
                <a:gd name="T39" fmla="*/ 31 h 1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53"/>
                <a:gd name="T61" fmla="*/ 0 h 17"/>
                <a:gd name="T62" fmla="*/ 153 w 153"/>
                <a:gd name="T63" fmla="*/ 17 h 17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53" h="17">
                  <a:moveTo>
                    <a:pt x="152" y="16"/>
                  </a:moveTo>
                  <a:lnTo>
                    <a:pt x="151" y="16"/>
                  </a:lnTo>
                  <a:lnTo>
                    <a:pt x="151" y="10"/>
                  </a:lnTo>
                  <a:lnTo>
                    <a:pt x="150" y="10"/>
                  </a:lnTo>
                  <a:lnTo>
                    <a:pt x="150" y="5"/>
                  </a:lnTo>
                  <a:lnTo>
                    <a:pt x="149" y="5"/>
                  </a:lnTo>
                  <a:lnTo>
                    <a:pt x="148" y="0"/>
                  </a:lnTo>
                  <a:lnTo>
                    <a:pt x="147" y="0"/>
                  </a:lnTo>
                  <a:lnTo>
                    <a:pt x="146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1" y="5"/>
                  </a:lnTo>
                  <a:lnTo>
                    <a:pt x="0" y="10"/>
                  </a:lnTo>
                  <a:lnTo>
                    <a:pt x="0" y="16"/>
                  </a:lnTo>
                </a:path>
              </a:pathLst>
            </a:custGeom>
            <a:noFill/>
            <a:ln w="12700" cap="rnd">
              <a:solidFill>
                <a:srgbClr val="9F9FA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6" name="Freeform 102"/>
            <p:cNvSpPr>
              <a:spLocks/>
            </p:cNvSpPr>
            <p:nvPr/>
          </p:nvSpPr>
          <p:spPr bwMode="auto">
            <a:xfrm>
              <a:off x="725" y="1726"/>
              <a:ext cx="398" cy="81"/>
            </a:xfrm>
            <a:custGeom>
              <a:avLst/>
              <a:gdLst>
                <a:gd name="T0" fmla="*/ 0 w 215"/>
                <a:gd name="T1" fmla="*/ 144 h 72"/>
                <a:gd name="T2" fmla="*/ 0 w 215"/>
                <a:gd name="T3" fmla="*/ 0 h 72"/>
                <a:gd name="T4" fmla="*/ 8608 w 215"/>
                <a:gd name="T5" fmla="*/ 0 h 72"/>
                <a:gd name="T6" fmla="*/ 8608 w 215"/>
                <a:gd name="T7" fmla="*/ 144 h 72"/>
                <a:gd name="T8" fmla="*/ 0 w 215"/>
                <a:gd name="T9" fmla="*/ 144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5"/>
                <a:gd name="T16" fmla="*/ 0 h 72"/>
                <a:gd name="T17" fmla="*/ 215 w 215"/>
                <a:gd name="T18" fmla="*/ 72 h 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5" h="72">
                  <a:moveTo>
                    <a:pt x="0" y="71"/>
                  </a:moveTo>
                  <a:lnTo>
                    <a:pt x="0" y="0"/>
                  </a:lnTo>
                  <a:lnTo>
                    <a:pt x="214" y="0"/>
                  </a:lnTo>
                  <a:lnTo>
                    <a:pt x="214" y="71"/>
                  </a:lnTo>
                  <a:lnTo>
                    <a:pt x="0" y="71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7" name="Freeform 103"/>
            <p:cNvSpPr>
              <a:spLocks/>
            </p:cNvSpPr>
            <p:nvPr/>
          </p:nvSpPr>
          <p:spPr bwMode="auto">
            <a:xfrm>
              <a:off x="721" y="1726"/>
              <a:ext cx="405" cy="26"/>
            </a:xfrm>
            <a:custGeom>
              <a:avLst/>
              <a:gdLst>
                <a:gd name="T0" fmla="*/ 3157 w 219"/>
                <a:gd name="T1" fmla="*/ 0 h 23"/>
                <a:gd name="T2" fmla="*/ 0 w 219"/>
                <a:gd name="T3" fmla="*/ 0 h 23"/>
                <a:gd name="T4" fmla="*/ 0 w 219"/>
                <a:gd name="T5" fmla="*/ 46 h 23"/>
                <a:gd name="T6" fmla="*/ 8714 w 219"/>
                <a:gd name="T7" fmla="*/ 46 h 23"/>
                <a:gd name="T8" fmla="*/ 8609 w 219"/>
                <a:gd name="T9" fmla="*/ 0 h 23"/>
                <a:gd name="T10" fmla="*/ 5472 w 219"/>
                <a:gd name="T11" fmla="*/ 0 h 23"/>
                <a:gd name="T12" fmla="*/ 3157 w 219"/>
                <a:gd name="T13" fmla="*/ 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9"/>
                <a:gd name="T22" fmla="*/ 0 h 23"/>
                <a:gd name="T23" fmla="*/ 219 w 219"/>
                <a:gd name="T24" fmla="*/ 23 h 2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9" h="23">
                  <a:moveTo>
                    <a:pt x="79" y="0"/>
                  </a:moveTo>
                  <a:lnTo>
                    <a:pt x="0" y="0"/>
                  </a:lnTo>
                  <a:lnTo>
                    <a:pt x="0" y="22"/>
                  </a:lnTo>
                  <a:lnTo>
                    <a:pt x="218" y="22"/>
                  </a:lnTo>
                  <a:lnTo>
                    <a:pt x="215" y="0"/>
                  </a:lnTo>
                  <a:lnTo>
                    <a:pt x="137" y="0"/>
                  </a:lnTo>
                  <a:lnTo>
                    <a:pt x="79" y="0"/>
                  </a:lnTo>
                </a:path>
              </a:pathLst>
            </a:custGeom>
            <a:solidFill>
              <a:srgbClr val="EFEFD1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8" name="Freeform 104"/>
            <p:cNvSpPr>
              <a:spLocks/>
            </p:cNvSpPr>
            <p:nvPr/>
          </p:nvSpPr>
          <p:spPr bwMode="auto">
            <a:xfrm>
              <a:off x="999" y="1733"/>
              <a:ext cx="103" cy="19"/>
            </a:xfrm>
            <a:custGeom>
              <a:avLst/>
              <a:gdLst>
                <a:gd name="T0" fmla="*/ 0 w 56"/>
                <a:gd name="T1" fmla="*/ 12 h 17"/>
                <a:gd name="T2" fmla="*/ 697 w 56"/>
                <a:gd name="T3" fmla="*/ 12 h 17"/>
                <a:gd name="T4" fmla="*/ 697 w 56"/>
                <a:gd name="T5" fmla="*/ 0 h 17"/>
                <a:gd name="T6" fmla="*/ 1350 w 56"/>
                <a:gd name="T7" fmla="*/ 0 h 17"/>
                <a:gd name="T8" fmla="*/ 1350 w 56"/>
                <a:gd name="T9" fmla="*/ 12 h 17"/>
                <a:gd name="T10" fmla="*/ 2128 w 56"/>
                <a:gd name="T11" fmla="*/ 12 h 17"/>
                <a:gd name="T12" fmla="*/ 2128 w 56"/>
                <a:gd name="T13" fmla="*/ 19 h 17"/>
                <a:gd name="T14" fmla="*/ 1350 w 56"/>
                <a:gd name="T15" fmla="*/ 19 h 17"/>
                <a:gd name="T16" fmla="*/ 1350 w 56"/>
                <a:gd name="T17" fmla="*/ 31 h 17"/>
                <a:gd name="T18" fmla="*/ 697 w 56"/>
                <a:gd name="T19" fmla="*/ 31 h 17"/>
                <a:gd name="T20" fmla="*/ 697 w 56"/>
                <a:gd name="T21" fmla="*/ 19 h 17"/>
                <a:gd name="T22" fmla="*/ 0 w 56"/>
                <a:gd name="T23" fmla="*/ 19 h 17"/>
                <a:gd name="T24" fmla="*/ 0 w 56"/>
                <a:gd name="T25" fmla="*/ 12 h 1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6"/>
                <a:gd name="T40" fmla="*/ 0 h 17"/>
                <a:gd name="T41" fmla="*/ 56 w 56"/>
                <a:gd name="T42" fmla="*/ 17 h 1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6" h="17">
                  <a:moveTo>
                    <a:pt x="0" y="6"/>
                  </a:moveTo>
                  <a:lnTo>
                    <a:pt x="18" y="6"/>
                  </a:lnTo>
                  <a:lnTo>
                    <a:pt x="18" y="0"/>
                  </a:lnTo>
                  <a:lnTo>
                    <a:pt x="35" y="0"/>
                  </a:lnTo>
                  <a:lnTo>
                    <a:pt x="35" y="6"/>
                  </a:lnTo>
                  <a:lnTo>
                    <a:pt x="55" y="6"/>
                  </a:lnTo>
                  <a:lnTo>
                    <a:pt x="55" y="10"/>
                  </a:lnTo>
                  <a:lnTo>
                    <a:pt x="35" y="10"/>
                  </a:lnTo>
                  <a:lnTo>
                    <a:pt x="35" y="16"/>
                  </a:lnTo>
                  <a:lnTo>
                    <a:pt x="18" y="16"/>
                  </a:lnTo>
                  <a:lnTo>
                    <a:pt x="18" y="10"/>
                  </a:lnTo>
                  <a:lnTo>
                    <a:pt x="0" y="10"/>
                  </a:lnTo>
                  <a:lnTo>
                    <a:pt x="0" y="6"/>
                  </a:lnTo>
                </a:path>
              </a:pathLst>
            </a:custGeom>
            <a:solidFill>
              <a:srgbClr val="999999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9" name="Freeform 105"/>
            <p:cNvSpPr>
              <a:spLocks/>
            </p:cNvSpPr>
            <p:nvPr/>
          </p:nvSpPr>
          <p:spPr bwMode="auto">
            <a:xfrm>
              <a:off x="999" y="1739"/>
              <a:ext cx="32" cy="20"/>
            </a:xfrm>
            <a:custGeom>
              <a:avLst/>
              <a:gdLst>
                <a:gd name="T0" fmla="*/ 0 w 17"/>
                <a:gd name="T1" fmla="*/ 42 h 17"/>
                <a:gd name="T2" fmla="*/ 702 w 17"/>
                <a:gd name="T3" fmla="*/ 26 h 17"/>
                <a:gd name="T4" fmla="*/ 702 w 17"/>
                <a:gd name="T5" fmla="*/ 13 h 17"/>
                <a:gd name="T6" fmla="*/ 0 w 17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"/>
                <a:gd name="T13" fmla="*/ 0 h 17"/>
                <a:gd name="T14" fmla="*/ 17 w 17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" h="17">
                  <a:moveTo>
                    <a:pt x="0" y="16"/>
                  </a:moveTo>
                  <a:lnTo>
                    <a:pt x="16" y="10"/>
                  </a:lnTo>
                  <a:lnTo>
                    <a:pt x="16" y="5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EFEFD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0" name="Freeform 106"/>
            <p:cNvSpPr>
              <a:spLocks/>
            </p:cNvSpPr>
            <p:nvPr/>
          </p:nvSpPr>
          <p:spPr bwMode="auto">
            <a:xfrm>
              <a:off x="1033" y="1733"/>
              <a:ext cx="32" cy="19"/>
            </a:xfrm>
            <a:custGeom>
              <a:avLst/>
              <a:gdLst>
                <a:gd name="T0" fmla="*/ 0 w 17"/>
                <a:gd name="T1" fmla="*/ 0 h 17"/>
                <a:gd name="T2" fmla="*/ 702 w 17"/>
                <a:gd name="T3" fmla="*/ 31 h 17"/>
                <a:gd name="T4" fmla="*/ 0 w 17"/>
                <a:gd name="T5" fmla="*/ 0 h 17"/>
                <a:gd name="T6" fmla="*/ 0 60000 65536"/>
                <a:gd name="T7" fmla="*/ 0 60000 65536"/>
                <a:gd name="T8" fmla="*/ 0 60000 65536"/>
                <a:gd name="T9" fmla="*/ 0 w 17"/>
                <a:gd name="T10" fmla="*/ 0 h 17"/>
                <a:gd name="T11" fmla="*/ 17 w 17"/>
                <a:gd name="T12" fmla="*/ 17 h 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17">
                  <a:moveTo>
                    <a:pt x="0" y="0"/>
                  </a:moveTo>
                  <a:lnTo>
                    <a:pt x="16" y="16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EFEFD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1" name="Freeform 107"/>
            <p:cNvSpPr>
              <a:spLocks/>
            </p:cNvSpPr>
            <p:nvPr/>
          </p:nvSpPr>
          <p:spPr bwMode="auto">
            <a:xfrm>
              <a:off x="1100" y="1743"/>
              <a:ext cx="32" cy="20"/>
            </a:xfrm>
            <a:custGeom>
              <a:avLst/>
              <a:gdLst>
                <a:gd name="T0" fmla="*/ 0 w 17"/>
                <a:gd name="T1" fmla="*/ 0 h 17"/>
                <a:gd name="T2" fmla="*/ 702 w 17"/>
                <a:gd name="T3" fmla="*/ 42 h 17"/>
                <a:gd name="T4" fmla="*/ 0 w 17"/>
                <a:gd name="T5" fmla="*/ 0 h 17"/>
                <a:gd name="T6" fmla="*/ 0 60000 65536"/>
                <a:gd name="T7" fmla="*/ 0 60000 65536"/>
                <a:gd name="T8" fmla="*/ 0 60000 65536"/>
                <a:gd name="T9" fmla="*/ 0 w 17"/>
                <a:gd name="T10" fmla="*/ 0 h 17"/>
                <a:gd name="T11" fmla="*/ 17 w 17"/>
                <a:gd name="T12" fmla="*/ 17 h 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17">
                  <a:moveTo>
                    <a:pt x="0" y="0"/>
                  </a:moveTo>
                  <a:lnTo>
                    <a:pt x="16" y="16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EFEFD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2" name="Freeform 108"/>
            <p:cNvSpPr>
              <a:spLocks/>
            </p:cNvSpPr>
            <p:nvPr/>
          </p:nvSpPr>
          <p:spPr bwMode="auto">
            <a:xfrm>
              <a:off x="1065" y="1733"/>
              <a:ext cx="31" cy="19"/>
            </a:xfrm>
            <a:custGeom>
              <a:avLst/>
              <a:gdLst>
                <a:gd name="T0" fmla="*/ 0 w 17"/>
                <a:gd name="T1" fmla="*/ 31 h 17"/>
                <a:gd name="T2" fmla="*/ 589 w 17"/>
                <a:gd name="T3" fmla="*/ 0 h 17"/>
                <a:gd name="T4" fmla="*/ 0 w 17"/>
                <a:gd name="T5" fmla="*/ 31 h 17"/>
                <a:gd name="T6" fmla="*/ 0 60000 65536"/>
                <a:gd name="T7" fmla="*/ 0 60000 65536"/>
                <a:gd name="T8" fmla="*/ 0 60000 65536"/>
                <a:gd name="T9" fmla="*/ 0 w 17"/>
                <a:gd name="T10" fmla="*/ 0 h 17"/>
                <a:gd name="T11" fmla="*/ 17 w 17"/>
                <a:gd name="T12" fmla="*/ 17 h 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17">
                  <a:moveTo>
                    <a:pt x="0" y="16"/>
                  </a:moveTo>
                  <a:lnTo>
                    <a:pt x="16" y="0"/>
                  </a:lnTo>
                  <a:lnTo>
                    <a:pt x="0" y="16"/>
                  </a:lnTo>
                </a:path>
              </a:pathLst>
            </a:custGeom>
            <a:noFill/>
            <a:ln w="12700" cap="rnd">
              <a:solidFill>
                <a:srgbClr val="EFEFD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3" name="Freeform 109"/>
            <p:cNvSpPr>
              <a:spLocks/>
            </p:cNvSpPr>
            <p:nvPr/>
          </p:nvSpPr>
          <p:spPr bwMode="auto">
            <a:xfrm>
              <a:off x="1036" y="1737"/>
              <a:ext cx="30" cy="19"/>
            </a:xfrm>
            <a:custGeom>
              <a:avLst/>
              <a:gdLst>
                <a:gd name="T0" fmla="*/ 0 w 17"/>
                <a:gd name="T1" fmla="*/ 31 h 17"/>
                <a:gd name="T2" fmla="*/ 473 w 17"/>
                <a:gd name="T3" fmla="*/ 31 h 17"/>
                <a:gd name="T4" fmla="*/ 473 w 17"/>
                <a:gd name="T5" fmla="*/ 0 h 17"/>
                <a:gd name="T6" fmla="*/ 0 w 17"/>
                <a:gd name="T7" fmla="*/ 0 h 17"/>
                <a:gd name="T8" fmla="*/ 0 w 17"/>
                <a:gd name="T9" fmla="*/ 31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17"/>
                <a:gd name="T17" fmla="*/ 17 w 17"/>
                <a:gd name="T18" fmla="*/ 17 h 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17">
                  <a:moveTo>
                    <a:pt x="0" y="16"/>
                  </a:moveTo>
                  <a:lnTo>
                    <a:pt x="16" y="16"/>
                  </a:lnTo>
                  <a:lnTo>
                    <a:pt x="16" y="0"/>
                  </a:lnTo>
                  <a:lnTo>
                    <a:pt x="0" y="0"/>
                  </a:lnTo>
                  <a:lnTo>
                    <a:pt x="0" y="16"/>
                  </a:lnTo>
                </a:path>
              </a:pathLst>
            </a:custGeom>
            <a:solidFill>
              <a:srgbClr val="9F9FA2"/>
            </a:solidFill>
            <a:ln w="12700" cap="rnd">
              <a:solidFill>
                <a:srgbClr val="9F9FA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4" name="Freeform 110"/>
            <p:cNvSpPr>
              <a:spLocks/>
            </p:cNvSpPr>
            <p:nvPr/>
          </p:nvSpPr>
          <p:spPr bwMode="auto">
            <a:xfrm>
              <a:off x="1002" y="1741"/>
              <a:ext cx="100" cy="19"/>
            </a:xfrm>
            <a:custGeom>
              <a:avLst/>
              <a:gdLst>
                <a:gd name="T0" fmla="*/ 0 w 54"/>
                <a:gd name="T1" fmla="*/ 0 h 17"/>
                <a:gd name="T2" fmla="*/ 2126 w 54"/>
                <a:gd name="T3" fmla="*/ 0 h 17"/>
                <a:gd name="T4" fmla="*/ 2126 w 54"/>
                <a:gd name="T5" fmla="*/ 31 h 17"/>
                <a:gd name="T6" fmla="*/ 0 w 54"/>
                <a:gd name="T7" fmla="*/ 31 h 17"/>
                <a:gd name="T8" fmla="*/ 0 w 54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"/>
                <a:gd name="T16" fmla="*/ 0 h 17"/>
                <a:gd name="T17" fmla="*/ 54 w 54"/>
                <a:gd name="T18" fmla="*/ 17 h 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" h="17">
                  <a:moveTo>
                    <a:pt x="0" y="0"/>
                  </a:moveTo>
                  <a:lnTo>
                    <a:pt x="53" y="0"/>
                  </a:lnTo>
                  <a:lnTo>
                    <a:pt x="53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5" name="Freeform 111"/>
            <p:cNvSpPr>
              <a:spLocks/>
            </p:cNvSpPr>
            <p:nvPr/>
          </p:nvSpPr>
          <p:spPr bwMode="auto">
            <a:xfrm>
              <a:off x="1033" y="1735"/>
              <a:ext cx="36" cy="18"/>
            </a:xfrm>
            <a:custGeom>
              <a:avLst/>
              <a:gdLst>
                <a:gd name="T0" fmla="*/ 822 w 19"/>
                <a:gd name="T1" fmla="*/ 18 h 17"/>
                <a:gd name="T2" fmla="*/ 790 w 19"/>
                <a:gd name="T3" fmla="*/ 22 h 17"/>
                <a:gd name="T4" fmla="*/ 790 w 19"/>
                <a:gd name="T5" fmla="*/ 0 h 17"/>
                <a:gd name="T6" fmla="*/ 0 w 19"/>
                <a:gd name="T7" fmla="*/ 0 h 17"/>
                <a:gd name="T8" fmla="*/ 0 w 19"/>
                <a:gd name="T9" fmla="*/ 22 h 17"/>
                <a:gd name="T10" fmla="*/ 0 w 19"/>
                <a:gd name="T11" fmla="*/ 18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"/>
                <a:gd name="T19" fmla="*/ 0 h 17"/>
                <a:gd name="T20" fmla="*/ 19 w 19"/>
                <a:gd name="T21" fmla="*/ 17 h 1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" h="17">
                  <a:moveTo>
                    <a:pt x="18" y="12"/>
                  </a:moveTo>
                  <a:lnTo>
                    <a:pt x="17" y="16"/>
                  </a:lnTo>
                  <a:lnTo>
                    <a:pt x="17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0" y="12"/>
                  </a:lnTo>
                </a:path>
              </a:pathLst>
            </a:custGeom>
            <a:noFill/>
            <a:ln w="12700" cap="rnd">
              <a:solidFill>
                <a:srgbClr val="9F9FA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6" name="Freeform 112"/>
            <p:cNvSpPr>
              <a:spLocks/>
            </p:cNvSpPr>
            <p:nvPr/>
          </p:nvSpPr>
          <p:spPr bwMode="auto">
            <a:xfrm>
              <a:off x="914" y="1744"/>
              <a:ext cx="31" cy="20"/>
            </a:xfrm>
            <a:custGeom>
              <a:avLst/>
              <a:gdLst>
                <a:gd name="T0" fmla="*/ 589 w 17"/>
                <a:gd name="T1" fmla="*/ 0 h 17"/>
                <a:gd name="T2" fmla="*/ 589 w 17"/>
                <a:gd name="T3" fmla="*/ 42 h 17"/>
                <a:gd name="T4" fmla="*/ 0 w 17"/>
                <a:gd name="T5" fmla="*/ 42 h 17"/>
                <a:gd name="T6" fmla="*/ 0 w 17"/>
                <a:gd name="T7" fmla="*/ 0 h 17"/>
                <a:gd name="T8" fmla="*/ 589 w 17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17"/>
                <a:gd name="T17" fmla="*/ 17 w 17"/>
                <a:gd name="T18" fmla="*/ 17 h 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17">
                  <a:moveTo>
                    <a:pt x="16" y="0"/>
                  </a:moveTo>
                  <a:lnTo>
                    <a:pt x="16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</a:path>
              </a:pathLst>
            </a:custGeom>
            <a:solidFill>
              <a:srgbClr val="999999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7" name="Freeform 113"/>
            <p:cNvSpPr>
              <a:spLocks/>
            </p:cNvSpPr>
            <p:nvPr/>
          </p:nvSpPr>
          <p:spPr bwMode="auto">
            <a:xfrm>
              <a:off x="914" y="1744"/>
              <a:ext cx="31" cy="20"/>
            </a:xfrm>
            <a:custGeom>
              <a:avLst/>
              <a:gdLst>
                <a:gd name="T0" fmla="*/ 0 w 17"/>
                <a:gd name="T1" fmla="*/ 0 h 17"/>
                <a:gd name="T2" fmla="*/ 589 w 17"/>
                <a:gd name="T3" fmla="*/ 0 h 17"/>
                <a:gd name="T4" fmla="*/ 589 w 17"/>
                <a:gd name="T5" fmla="*/ 42 h 17"/>
                <a:gd name="T6" fmla="*/ 0 w 17"/>
                <a:gd name="T7" fmla="*/ 42 h 17"/>
                <a:gd name="T8" fmla="*/ 0 w 17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17"/>
                <a:gd name="T17" fmla="*/ 17 w 17"/>
                <a:gd name="T18" fmla="*/ 17 h 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17">
                  <a:moveTo>
                    <a:pt x="0" y="0"/>
                  </a:move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8" name="Freeform 114"/>
            <p:cNvSpPr>
              <a:spLocks/>
            </p:cNvSpPr>
            <p:nvPr/>
          </p:nvSpPr>
          <p:spPr bwMode="auto">
            <a:xfrm>
              <a:off x="886" y="1736"/>
              <a:ext cx="81" cy="18"/>
            </a:xfrm>
            <a:custGeom>
              <a:avLst/>
              <a:gdLst>
                <a:gd name="T0" fmla="*/ 549 w 44"/>
                <a:gd name="T1" fmla="*/ 22 h 17"/>
                <a:gd name="T2" fmla="*/ 0 w 44"/>
                <a:gd name="T3" fmla="*/ 22 h 17"/>
                <a:gd name="T4" fmla="*/ 0 w 44"/>
                <a:gd name="T5" fmla="*/ 8 h 17"/>
                <a:gd name="T6" fmla="*/ 549 w 44"/>
                <a:gd name="T7" fmla="*/ 8 h 17"/>
                <a:gd name="T8" fmla="*/ 549 w 44"/>
                <a:gd name="T9" fmla="*/ 0 h 17"/>
                <a:gd name="T10" fmla="*/ 1105 w 44"/>
                <a:gd name="T11" fmla="*/ 0 h 17"/>
                <a:gd name="T12" fmla="*/ 1105 w 44"/>
                <a:gd name="T13" fmla="*/ 8 h 17"/>
                <a:gd name="T14" fmla="*/ 1668 w 44"/>
                <a:gd name="T15" fmla="*/ 8 h 17"/>
                <a:gd name="T16" fmla="*/ 1668 w 44"/>
                <a:gd name="T17" fmla="*/ 22 h 17"/>
                <a:gd name="T18" fmla="*/ 1105 w 44"/>
                <a:gd name="T19" fmla="*/ 22 h 17"/>
                <a:gd name="T20" fmla="*/ 549 w 44"/>
                <a:gd name="T21" fmla="*/ 22 h 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4"/>
                <a:gd name="T34" fmla="*/ 0 h 17"/>
                <a:gd name="T35" fmla="*/ 44 w 44"/>
                <a:gd name="T36" fmla="*/ 17 h 1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4" h="17">
                  <a:moveTo>
                    <a:pt x="14" y="16"/>
                  </a:moveTo>
                  <a:lnTo>
                    <a:pt x="0" y="16"/>
                  </a:lnTo>
                  <a:lnTo>
                    <a:pt x="0" y="8"/>
                  </a:lnTo>
                  <a:lnTo>
                    <a:pt x="14" y="8"/>
                  </a:lnTo>
                  <a:lnTo>
                    <a:pt x="14" y="0"/>
                  </a:lnTo>
                  <a:lnTo>
                    <a:pt x="28" y="0"/>
                  </a:lnTo>
                  <a:lnTo>
                    <a:pt x="28" y="8"/>
                  </a:lnTo>
                  <a:lnTo>
                    <a:pt x="43" y="8"/>
                  </a:lnTo>
                  <a:lnTo>
                    <a:pt x="43" y="16"/>
                  </a:lnTo>
                  <a:lnTo>
                    <a:pt x="28" y="16"/>
                  </a:lnTo>
                  <a:lnTo>
                    <a:pt x="14" y="16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9" name="Freeform 115"/>
            <p:cNvSpPr>
              <a:spLocks/>
            </p:cNvSpPr>
            <p:nvPr/>
          </p:nvSpPr>
          <p:spPr bwMode="auto">
            <a:xfrm>
              <a:off x="914" y="1736"/>
              <a:ext cx="31" cy="18"/>
            </a:xfrm>
            <a:custGeom>
              <a:avLst/>
              <a:gdLst>
                <a:gd name="T0" fmla="*/ 0 w 17"/>
                <a:gd name="T1" fmla="*/ 0 h 17"/>
                <a:gd name="T2" fmla="*/ 589 w 17"/>
                <a:gd name="T3" fmla="*/ 0 h 17"/>
                <a:gd name="T4" fmla="*/ 589 w 17"/>
                <a:gd name="T5" fmla="*/ 22 h 17"/>
                <a:gd name="T6" fmla="*/ 0 w 17"/>
                <a:gd name="T7" fmla="*/ 22 h 17"/>
                <a:gd name="T8" fmla="*/ 0 w 17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17"/>
                <a:gd name="T17" fmla="*/ 17 w 17"/>
                <a:gd name="T18" fmla="*/ 17 h 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17">
                  <a:moveTo>
                    <a:pt x="0" y="0"/>
                  </a:move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999999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0" name="Freeform 116"/>
            <p:cNvSpPr>
              <a:spLocks/>
            </p:cNvSpPr>
            <p:nvPr/>
          </p:nvSpPr>
          <p:spPr bwMode="auto">
            <a:xfrm>
              <a:off x="825" y="1732"/>
              <a:ext cx="37" cy="20"/>
            </a:xfrm>
            <a:custGeom>
              <a:avLst/>
              <a:gdLst>
                <a:gd name="T0" fmla="*/ 194 w 20"/>
                <a:gd name="T1" fmla="*/ 42 h 17"/>
                <a:gd name="T2" fmla="*/ 126 w 20"/>
                <a:gd name="T3" fmla="*/ 40 h 17"/>
                <a:gd name="T4" fmla="*/ 81 w 20"/>
                <a:gd name="T5" fmla="*/ 40 h 17"/>
                <a:gd name="T6" fmla="*/ 44 w 20"/>
                <a:gd name="T7" fmla="*/ 36 h 17"/>
                <a:gd name="T8" fmla="*/ 44 w 20"/>
                <a:gd name="T9" fmla="*/ 31 h 17"/>
                <a:gd name="T10" fmla="*/ 0 w 20"/>
                <a:gd name="T11" fmla="*/ 31 h 17"/>
                <a:gd name="T12" fmla="*/ 0 w 20"/>
                <a:gd name="T13" fmla="*/ 26 h 17"/>
                <a:gd name="T14" fmla="*/ 0 w 20"/>
                <a:gd name="T15" fmla="*/ 21 h 17"/>
                <a:gd name="T16" fmla="*/ 0 w 20"/>
                <a:gd name="T17" fmla="*/ 15 h 17"/>
                <a:gd name="T18" fmla="*/ 0 w 20"/>
                <a:gd name="T19" fmla="*/ 11 h 17"/>
                <a:gd name="T20" fmla="*/ 0 w 20"/>
                <a:gd name="T21" fmla="*/ 9 h 17"/>
                <a:gd name="T22" fmla="*/ 44 w 20"/>
                <a:gd name="T23" fmla="*/ 2 h 17"/>
                <a:gd name="T24" fmla="*/ 81 w 20"/>
                <a:gd name="T25" fmla="*/ 1 h 17"/>
                <a:gd name="T26" fmla="*/ 126 w 20"/>
                <a:gd name="T27" fmla="*/ 0 h 17"/>
                <a:gd name="T28" fmla="*/ 150 w 20"/>
                <a:gd name="T29" fmla="*/ 0 h 17"/>
                <a:gd name="T30" fmla="*/ 194 w 20"/>
                <a:gd name="T31" fmla="*/ 0 h 17"/>
                <a:gd name="T32" fmla="*/ 483 w 20"/>
                <a:gd name="T33" fmla="*/ 0 h 17"/>
                <a:gd name="T34" fmla="*/ 514 w 20"/>
                <a:gd name="T35" fmla="*/ 0 h 17"/>
                <a:gd name="T36" fmla="*/ 609 w 20"/>
                <a:gd name="T37" fmla="*/ 0 h 17"/>
                <a:gd name="T38" fmla="*/ 647 w 20"/>
                <a:gd name="T39" fmla="*/ 1 h 17"/>
                <a:gd name="T40" fmla="*/ 664 w 20"/>
                <a:gd name="T41" fmla="*/ 9 h 17"/>
                <a:gd name="T42" fmla="*/ 664 w 20"/>
                <a:gd name="T43" fmla="*/ 9 h 17"/>
                <a:gd name="T44" fmla="*/ 716 w 20"/>
                <a:gd name="T45" fmla="*/ 13 h 17"/>
                <a:gd name="T46" fmla="*/ 716 w 20"/>
                <a:gd name="T47" fmla="*/ 18 h 17"/>
                <a:gd name="T48" fmla="*/ 716 w 20"/>
                <a:gd name="T49" fmla="*/ 21 h 17"/>
                <a:gd name="T50" fmla="*/ 716 w 20"/>
                <a:gd name="T51" fmla="*/ 26 h 17"/>
                <a:gd name="T52" fmla="*/ 664 w 20"/>
                <a:gd name="T53" fmla="*/ 31 h 17"/>
                <a:gd name="T54" fmla="*/ 647 w 20"/>
                <a:gd name="T55" fmla="*/ 34 h 17"/>
                <a:gd name="T56" fmla="*/ 609 w 20"/>
                <a:gd name="T57" fmla="*/ 40 h 17"/>
                <a:gd name="T58" fmla="*/ 514 w 20"/>
                <a:gd name="T59" fmla="*/ 40 h 17"/>
                <a:gd name="T60" fmla="*/ 514 w 20"/>
                <a:gd name="T61" fmla="*/ 42 h 17"/>
                <a:gd name="T62" fmla="*/ 483 w 20"/>
                <a:gd name="T63" fmla="*/ 42 h 1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0"/>
                <a:gd name="T97" fmla="*/ 0 h 17"/>
                <a:gd name="T98" fmla="*/ 20 w 20"/>
                <a:gd name="T99" fmla="*/ 17 h 17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0" h="17">
                  <a:moveTo>
                    <a:pt x="5" y="16"/>
                  </a:moveTo>
                  <a:lnTo>
                    <a:pt x="5" y="16"/>
                  </a:lnTo>
                  <a:lnTo>
                    <a:pt x="4" y="16"/>
                  </a:lnTo>
                  <a:lnTo>
                    <a:pt x="3" y="15"/>
                  </a:lnTo>
                  <a:lnTo>
                    <a:pt x="2" y="15"/>
                  </a:lnTo>
                  <a:lnTo>
                    <a:pt x="2" y="14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2"/>
                  </a:lnTo>
                  <a:lnTo>
                    <a:pt x="0" y="12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0" y="9"/>
                  </a:lnTo>
                  <a:lnTo>
                    <a:pt x="0" y="8"/>
                  </a:lnTo>
                  <a:lnTo>
                    <a:pt x="0" y="7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0"/>
                  </a:lnTo>
                  <a:lnTo>
                    <a:pt x="16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8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8" y="8"/>
                  </a:lnTo>
                  <a:lnTo>
                    <a:pt x="18" y="9"/>
                  </a:lnTo>
                  <a:lnTo>
                    <a:pt x="18" y="10"/>
                  </a:lnTo>
                  <a:lnTo>
                    <a:pt x="18" y="11"/>
                  </a:lnTo>
                  <a:lnTo>
                    <a:pt x="17" y="12"/>
                  </a:lnTo>
                  <a:lnTo>
                    <a:pt x="16" y="13"/>
                  </a:lnTo>
                  <a:lnTo>
                    <a:pt x="16" y="14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3" y="16"/>
                  </a:lnTo>
                  <a:lnTo>
                    <a:pt x="12" y="16"/>
                  </a:lnTo>
                  <a:lnTo>
                    <a:pt x="5" y="16"/>
                  </a:lnTo>
                </a:path>
              </a:pathLst>
            </a:custGeom>
            <a:solidFill>
              <a:srgbClr val="666666"/>
            </a:solidFill>
            <a:ln w="12700" cap="rnd">
              <a:solidFill>
                <a:srgbClr val="6666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1" name="Freeform 117"/>
            <p:cNvSpPr>
              <a:spLocks/>
            </p:cNvSpPr>
            <p:nvPr/>
          </p:nvSpPr>
          <p:spPr bwMode="auto">
            <a:xfrm>
              <a:off x="870" y="1726"/>
              <a:ext cx="30" cy="43"/>
            </a:xfrm>
            <a:custGeom>
              <a:avLst/>
              <a:gdLst>
                <a:gd name="T0" fmla="*/ 244 w 17"/>
                <a:gd name="T1" fmla="*/ 0 h 38"/>
                <a:gd name="T2" fmla="*/ 0 w 17"/>
                <a:gd name="T3" fmla="*/ 46 h 38"/>
                <a:gd name="T4" fmla="*/ 473 w 17"/>
                <a:gd name="T5" fmla="*/ 46 h 38"/>
                <a:gd name="T6" fmla="*/ 473 w 17"/>
                <a:gd name="T7" fmla="*/ 78 h 3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"/>
                <a:gd name="T13" fmla="*/ 0 h 38"/>
                <a:gd name="T14" fmla="*/ 17 w 17"/>
                <a:gd name="T15" fmla="*/ 38 h 3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" h="38">
                  <a:moveTo>
                    <a:pt x="8" y="0"/>
                  </a:moveTo>
                  <a:lnTo>
                    <a:pt x="0" y="22"/>
                  </a:lnTo>
                  <a:lnTo>
                    <a:pt x="16" y="22"/>
                  </a:lnTo>
                  <a:lnTo>
                    <a:pt x="16" y="37"/>
                  </a:lnTo>
                </a:path>
              </a:pathLst>
            </a:custGeom>
            <a:noFill/>
            <a:ln w="12700" cap="rnd">
              <a:solidFill>
                <a:srgbClr val="9F9FA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2" name="Freeform 118"/>
            <p:cNvSpPr>
              <a:spLocks/>
            </p:cNvSpPr>
            <p:nvPr/>
          </p:nvSpPr>
          <p:spPr bwMode="auto">
            <a:xfrm>
              <a:off x="977" y="1726"/>
              <a:ext cx="31" cy="81"/>
            </a:xfrm>
            <a:custGeom>
              <a:avLst/>
              <a:gdLst>
                <a:gd name="T0" fmla="*/ 0 w 17"/>
                <a:gd name="T1" fmla="*/ 0 h 72"/>
                <a:gd name="T2" fmla="*/ 589 w 17"/>
                <a:gd name="T3" fmla="*/ 44 h 72"/>
                <a:gd name="T4" fmla="*/ 0 w 17"/>
                <a:gd name="T5" fmla="*/ 44 h 72"/>
                <a:gd name="T6" fmla="*/ 0 w 17"/>
                <a:gd name="T7" fmla="*/ 144 h 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"/>
                <a:gd name="T13" fmla="*/ 0 h 72"/>
                <a:gd name="T14" fmla="*/ 17 w 17"/>
                <a:gd name="T15" fmla="*/ 72 h 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" h="72">
                  <a:moveTo>
                    <a:pt x="0" y="0"/>
                  </a:moveTo>
                  <a:lnTo>
                    <a:pt x="16" y="22"/>
                  </a:lnTo>
                  <a:lnTo>
                    <a:pt x="0" y="22"/>
                  </a:lnTo>
                  <a:lnTo>
                    <a:pt x="0" y="71"/>
                  </a:lnTo>
                </a:path>
              </a:pathLst>
            </a:custGeom>
            <a:noFill/>
            <a:ln w="12700" cap="rnd">
              <a:solidFill>
                <a:srgbClr val="9F9FA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3" name="Freeform 119"/>
            <p:cNvSpPr>
              <a:spLocks/>
            </p:cNvSpPr>
            <p:nvPr/>
          </p:nvSpPr>
          <p:spPr bwMode="auto">
            <a:xfrm>
              <a:off x="748" y="1775"/>
              <a:ext cx="461" cy="46"/>
            </a:xfrm>
            <a:custGeom>
              <a:avLst/>
              <a:gdLst>
                <a:gd name="T0" fmla="*/ 0 w 250"/>
                <a:gd name="T1" fmla="*/ 80 h 41"/>
                <a:gd name="T2" fmla="*/ 9782 w 250"/>
                <a:gd name="T3" fmla="*/ 80 h 41"/>
                <a:gd name="T4" fmla="*/ 9449 w 250"/>
                <a:gd name="T5" fmla="*/ 0 h 41"/>
                <a:gd name="T6" fmla="*/ 382 w 250"/>
                <a:gd name="T7" fmla="*/ 0 h 41"/>
                <a:gd name="T8" fmla="*/ 0 w 250"/>
                <a:gd name="T9" fmla="*/ 8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0"/>
                <a:gd name="T16" fmla="*/ 0 h 41"/>
                <a:gd name="T17" fmla="*/ 250 w 250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0" h="41">
                  <a:moveTo>
                    <a:pt x="0" y="40"/>
                  </a:moveTo>
                  <a:lnTo>
                    <a:pt x="249" y="40"/>
                  </a:lnTo>
                  <a:lnTo>
                    <a:pt x="240" y="0"/>
                  </a:lnTo>
                  <a:lnTo>
                    <a:pt x="10" y="0"/>
                  </a:lnTo>
                  <a:lnTo>
                    <a:pt x="0" y="40"/>
                  </a:lnTo>
                </a:path>
              </a:pathLst>
            </a:custGeom>
            <a:solidFill>
              <a:srgbClr val="EFEFD1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4" name="Freeform 120"/>
            <p:cNvSpPr>
              <a:spLocks/>
            </p:cNvSpPr>
            <p:nvPr/>
          </p:nvSpPr>
          <p:spPr bwMode="auto">
            <a:xfrm>
              <a:off x="748" y="1820"/>
              <a:ext cx="463" cy="19"/>
            </a:xfrm>
            <a:custGeom>
              <a:avLst/>
              <a:gdLst>
                <a:gd name="T0" fmla="*/ 0 w 251"/>
                <a:gd name="T1" fmla="*/ 31 h 17"/>
                <a:gd name="T2" fmla="*/ 0 w 251"/>
                <a:gd name="T3" fmla="*/ 0 h 17"/>
                <a:gd name="T4" fmla="*/ 9802 w 251"/>
                <a:gd name="T5" fmla="*/ 0 h 17"/>
                <a:gd name="T6" fmla="*/ 9841 w 251"/>
                <a:gd name="T7" fmla="*/ 31 h 17"/>
                <a:gd name="T8" fmla="*/ 0 w 251"/>
                <a:gd name="T9" fmla="*/ 31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1"/>
                <a:gd name="T16" fmla="*/ 0 h 17"/>
                <a:gd name="T17" fmla="*/ 251 w 251"/>
                <a:gd name="T18" fmla="*/ 17 h 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1" h="17">
                  <a:moveTo>
                    <a:pt x="0" y="16"/>
                  </a:moveTo>
                  <a:lnTo>
                    <a:pt x="0" y="0"/>
                  </a:lnTo>
                  <a:lnTo>
                    <a:pt x="249" y="0"/>
                  </a:lnTo>
                  <a:lnTo>
                    <a:pt x="250" y="16"/>
                  </a:lnTo>
                  <a:lnTo>
                    <a:pt x="0" y="16"/>
                  </a:lnTo>
                </a:path>
              </a:pathLst>
            </a:custGeom>
            <a:solidFill>
              <a:srgbClr val="CCCC6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5" name="Freeform 121"/>
            <p:cNvSpPr>
              <a:spLocks/>
            </p:cNvSpPr>
            <p:nvPr/>
          </p:nvSpPr>
          <p:spPr bwMode="auto">
            <a:xfrm>
              <a:off x="779" y="1782"/>
              <a:ext cx="411" cy="32"/>
            </a:xfrm>
            <a:custGeom>
              <a:avLst/>
              <a:gdLst>
                <a:gd name="T0" fmla="*/ 0 w 223"/>
                <a:gd name="T1" fmla="*/ 61 h 28"/>
                <a:gd name="T2" fmla="*/ 8703 w 223"/>
                <a:gd name="T3" fmla="*/ 61 h 28"/>
                <a:gd name="T4" fmla="*/ 8377 w 223"/>
                <a:gd name="T5" fmla="*/ 0 h 28"/>
                <a:gd name="T6" fmla="*/ 326 w 223"/>
                <a:gd name="T7" fmla="*/ 0 h 28"/>
                <a:gd name="T8" fmla="*/ 0 w 223"/>
                <a:gd name="T9" fmla="*/ 6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3"/>
                <a:gd name="T16" fmla="*/ 0 h 28"/>
                <a:gd name="T17" fmla="*/ 223 w 223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3" h="28">
                  <a:moveTo>
                    <a:pt x="0" y="27"/>
                  </a:moveTo>
                  <a:lnTo>
                    <a:pt x="222" y="27"/>
                  </a:lnTo>
                  <a:lnTo>
                    <a:pt x="214" y="0"/>
                  </a:lnTo>
                  <a:lnTo>
                    <a:pt x="8" y="0"/>
                  </a:lnTo>
                  <a:lnTo>
                    <a:pt x="0" y="27"/>
                  </a:lnTo>
                </a:path>
              </a:pathLst>
            </a:custGeom>
            <a:solidFill>
              <a:srgbClr val="999999"/>
            </a:solidFill>
            <a:ln w="12700" cap="rnd">
              <a:solidFill>
                <a:srgbClr val="9F9FA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6" name="Freeform 122"/>
            <p:cNvSpPr>
              <a:spLocks/>
            </p:cNvSpPr>
            <p:nvPr/>
          </p:nvSpPr>
          <p:spPr bwMode="auto">
            <a:xfrm>
              <a:off x="4621" y="3045"/>
              <a:ext cx="379" cy="22"/>
            </a:xfrm>
            <a:custGeom>
              <a:avLst/>
              <a:gdLst>
                <a:gd name="T0" fmla="*/ 0 w 206"/>
                <a:gd name="T1" fmla="*/ 33 h 20"/>
                <a:gd name="T2" fmla="*/ 0 w 206"/>
                <a:gd name="T3" fmla="*/ 0 h 20"/>
                <a:gd name="T4" fmla="*/ 7952 w 206"/>
                <a:gd name="T5" fmla="*/ 0 h 20"/>
                <a:gd name="T6" fmla="*/ 7952 w 206"/>
                <a:gd name="T7" fmla="*/ 33 h 20"/>
                <a:gd name="T8" fmla="*/ 0 w 206"/>
                <a:gd name="T9" fmla="*/ 33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6"/>
                <a:gd name="T16" fmla="*/ 0 h 20"/>
                <a:gd name="T17" fmla="*/ 206 w 206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6" h="20">
                  <a:moveTo>
                    <a:pt x="0" y="19"/>
                  </a:moveTo>
                  <a:lnTo>
                    <a:pt x="0" y="0"/>
                  </a:lnTo>
                  <a:lnTo>
                    <a:pt x="205" y="0"/>
                  </a:lnTo>
                  <a:lnTo>
                    <a:pt x="205" y="19"/>
                  </a:lnTo>
                  <a:lnTo>
                    <a:pt x="0" y="19"/>
                  </a:lnTo>
                </a:path>
              </a:pathLst>
            </a:custGeom>
            <a:solidFill>
              <a:srgbClr val="666666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7" name="Freeform 123"/>
            <p:cNvSpPr>
              <a:spLocks/>
            </p:cNvSpPr>
            <p:nvPr/>
          </p:nvSpPr>
          <p:spPr bwMode="auto">
            <a:xfrm>
              <a:off x="4605" y="2939"/>
              <a:ext cx="407" cy="37"/>
            </a:xfrm>
            <a:custGeom>
              <a:avLst/>
              <a:gdLst>
                <a:gd name="T0" fmla="*/ 7591 w 220"/>
                <a:gd name="T1" fmla="*/ 0 h 34"/>
                <a:gd name="T2" fmla="*/ 8775 w 220"/>
                <a:gd name="T3" fmla="*/ 54 h 34"/>
                <a:gd name="T4" fmla="*/ 0 w 220"/>
                <a:gd name="T5" fmla="*/ 54 h 34"/>
                <a:gd name="T6" fmla="*/ 1171 w 220"/>
                <a:gd name="T7" fmla="*/ 0 h 34"/>
                <a:gd name="T8" fmla="*/ 7591 w 220"/>
                <a:gd name="T9" fmla="*/ 0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0"/>
                <a:gd name="T16" fmla="*/ 0 h 34"/>
                <a:gd name="T17" fmla="*/ 220 w 220"/>
                <a:gd name="T18" fmla="*/ 34 h 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0" h="34">
                  <a:moveTo>
                    <a:pt x="189" y="0"/>
                  </a:moveTo>
                  <a:lnTo>
                    <a:pt x="219" y="33"/>
                  </a:lnTo>
                  <a:lnTo>
                    <a:pt x="0" y="33"/>
                  </a:lnTo>
                  <a:lnTo>
                    <a:pt x="29" y="0"/>
                  </a:lnTo>
                  <a:lnTo>
                    <a:pt x="189" y="0"/>
                  </a:lnTo>
                </a:path>
              </a:pathLst>
            </a:custGeom>
            <a:solidFill>
              <a:srgbClr val="EFEFD1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8" name="Freeform 124"/>
            <p:cNvSpPr>
              <a:spLocks/>
            </p:cNvSpPr>
            <p:nvPr/>
          </p:nvSpPr>
          <p:spPr bwMode="auto">
            <a:xfrm>
              <a:off x="4710" y="2934"/>
              <a:ext cx="192" cy="26"/>
            </a:xfrm>
            <a:custGeom>
              <a:avLst/>
              <a:gdLst>
                <a:gd name="T0" fmla="*/ 4032 w 104"/>
                <a:gd name="T1" fmla="*/ 16 h 24"/>
                <a:gd name="T2" fmla="*/ 3984 w 104"/>
                <a:gd name="T3" fmla="*/ 14 h 24"/>
                <a:gd name="T4" fmla="*/ 3831 w 104"/>
                <a:gd name="T5" fmla="*/ 12 h 24"/>
                <a:gd name="T6" fmla="*/ 3694 w 104"/>
                <a:gd name="T7" fmla="*/ 4 h 24"/>
                <a:gd name="T8" fmla="*/ 3449 w 104"/>
                <a:gd name="T9" fmla="*/ 3 h 24"/>
                <a:gd name="T10" fmla="*/ 3170 w 104"/>
                <a:gd name="T11" fmla="*/ 2 h 24"/>
                <a:gd name="T12" fmla="*/ 2856 w 104"/>
                <a:gd name="T13" fmla="*/ 1 h 24"/>
                <a:gd name="T14" fmla="*/ 2529 w 104"/>
                <a:gd name="T15" fmla="*/ 0 h 24"/>
                <a:gd name="T16" fmla="*/ 2184 w 104"/>
                <a:gd name="T17" fmla="*/ 0 h 24"/>
                <a:gd name="T18" fmla="*/ 1824 w 104"/>
                <a:gd name="T19" fmla="*/ 0 h 24"/>
                <a:gd name="T20" fmla="*/ 1466 w 104"/>
                <a:gd name="T21" fmla="*/ 0 h 24"/>
                <a:gd name="T22" fmla="*/ 1165 w 104"/>
                <a:gd name="T23" fmla="*/ 1 h 24"/>
                <a:gd name="T24" fmla="*/ 838 w 104"/>
                <a:gd name="T25" fmla="*/ 2 h 24"/>
                <a:gd name="T26" fmla="*/ 559 w 104"/>
                <a:gd name="T27" fmla="*/ 3 h 24"/>
                <a:gd name="T28" fmla="*/ 327 w 104"/>
                <a:gd name="T29" fmla="*/ 4 h 24"/>
                <a:gd name="T30" fmla="*/ 150 w 104"/>
                <a:gd name="T31" fmla="*/ 12 h 24"/>
                <a:gd name="T32" fmla="*/ 44 w 104"/>
                <a:gd name="T33" fmla="*/ 14 h 24"/>
                <a:gd name="T34" fmla="*/ 0 w 104"/>
                <a:gd name="T35" fmla="*/ 16 h 24"/>
                <a:gd name="T36" fmla="*/ 0 w 104"/>
                <a:gd name="T37" fmla="*/ 18 h 24"/>
                <a:gd name="T38" fmla="*/ 44 w 104"/>
                <a:gd name="T39" fmla="*/ 22 h 24"/>
                <a:gd name="T40" fmla="*/ 150 w 104"/>
                <a:gd name="T41" fmla="*/ 26 h 24"/>
                <a:gd name="T42" fmla="*/ 327 w 104"/>
                <a:gd name="T43" fmla="*/ 28 h 24"/>
                <a:gd name="T44" fmla="*/ 559 w 104"/>
                <a:gd name="T45" fmla="*/ 31 h 24"/>
                <a:gd name="T46" fmla="*/ 838 w 104"/>
                <a:gd name="T47" fmla="*/ 32 h 24"/>
                <a:gd name="T48" fmla="*/ 1165 w 104"/>
                <a:gd name="T49" fmla="*/ 34 h 24"/>
                <a:gd name="T50" fmla="*/ 1466 w 104"/>
                <a:gd name="T51" fmla="*/ 35 h 24"/>
                <a:gd name="T52" fmla="*/ 1824 w 104"/>
                <a:gd name="T53" fmla="*/ 37 h 24"/>
                <a:gd name="T54" fmla="*/ 2184 w 104"/>
                <a:gd name="T55" fmla="*/ 37 h 24"/>
                <a:gd name="T56" fmla="*/ 2529 w 104"/>
                <a:gd name="T57" fmla="*/ 35 h 24"/>
                <a:gd name="T58" fmla="*/ 2856 w 104"/>
                <a:gd name="T59" fmla="*/ 34 h 24"/>
                <a:gd name="T60" fmla="*/ 3170 w 104"/>
                <a:gd name="T61" fmla="*/ 32 h 24"/>
                <a:gd name="T62" fmla="*/ 3449 w 104"/>
                <a:gd name="T63" fmla="*/ 31 h 24"/>
                <a:gd name="T64" fmla="*/ 3694 w 104"/>
                <a:gd name="T65" fmla="*/ 28 h 24"/>
                <a:gd name="T66" fmla="*/ 3831 w 104"/>
                <a:gd name="T67" fmla="*/ 26 h 24"/>
                <a:gd name="T68" fmla="*/ 3984 w 104"/>
                <a:gd name="T69" fmla="*/ 22 h 24"/>
                <a:gd name="T70" fmla="*/ 4032 w 104"/>
                <a:gd name="T71" fmla="*/ 18 h 2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04"/>
                <a:gd name="T109" fmla="*/ 0 h 24"/>
                <a:gd name="T110" fmla="*/ 104 w 104"/>
                <a:gd name="T111" fmla="*/ 24 h 2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04" h="24">
                  <a:moveTo>
                    <a:pt x="103" y="11"/>
                  </a:moveTo>
                  <a:lnTo>
                    <a:pt x="102" y="10"/>
                  </a:lnTo>
                  <a:lnTo>
                    <a:pt x="102" y="9"/>
                  </a:lnTo>
                  <a:lnTo>
                    <a:pt x="101" y="8"/>
                  </a:lnTo>
                  <a:lnTo>
                    <a:pt x="99" y="7"/>
                  </a:lnTo>
                  <a:lnTo>
                    <a:pt x="97" y="6"/>
                  </a:lnTo>
                  <a:lnTo>
                    <a:pt x="95" y="6"/>
                  </a:lnTo>
                  <a:lnTo>
                    <a:pt x="93" y="4"/>
                  </a:lnTo>
                  <a:lnTo>
                    <a:pt x="90" y="4"/>
                  </a:lnTo>
                  <a:lnTo>
                    <a:pt x="87" y="3"/>
                  </a:lnTo>
                  <a:lnTo>
                    <a:pt x="84" y="2"/>
                  </a:lnTo>
                  <a:lnTo>
                    <a:pt x="80" y="2"/>
                  </a:lnTo>
                  <a:lnTo>
                    <a:pt x="76" y="1"/>
                  </a:lnTo>
                  <a:lnTo>
                    <a:pt x="72" y="1"/>
                  </a:lnTo>
                  <a:lnTo>
                    <a:pt x="69" y="0"/>
                  </a:lnTo>
                  <a:lnTo>
                    <a:pt x="64" y="0"/>
                  </a:lnTo>
                  <a:lnTo>
                    <a:pt x="60" y="0"/>
                  </a:lnTo>
                  <a:lnTo>
                    <a:pt x="55" y="0"/>
                  </a:lnTo>
                  <a:lnTo>
                    <a:pt x="51" y="0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7" y="0"/>
                  </a:lnTo>
                  <a:lnTo>
                    <a:pt x="33" y="0"/>
                  </a:lnTo>
                  <a:lnTo>
                    <a:pt x="29" y="1"/>
                  </a:lnTo>
                  <a:lnTo>
                    <a:pt x="25" y="1"/>
                  </a:lnTo>
                  <a:lnTo>
                    <a:pt x="21" y="2"/>
                  </a:lnTo>
                  <a:lnTo>
                    <a:pt x="17" y="2"/>
                  </a:lnTo>
                  <a:lnTo>
                    <a:pt x="14" y="3"/>
                  </a:lnTo>
                  <a:lnTo>
                    <a:pt x="12" y="4"/>
                  </a:lnTo>
                  <a:lnTo>
                    <a:pt x="8" y="4"/>
                  </a:lnTo>
                  <a:lnTo>
                    <a:pt x="6" y="6"/>
                  </a:lnTo>
                  <a:lnTo>
                    <a:pt x="4" y="6"/>
                  </a:lnTo>
                  <a:lnTo>
                    <a:pt x="3" y="7"/>
                  </a:lnTo>
                  <a:lnTo>
                    <a:pt x="1" y="8"/>
                  </a:lnTo>
                  <a:lnTo>
                    <a:pt x="0" y="9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1" y="14"/>
                  </a:lnTo>
                  <a:lnTo>
                    <a:pt x="3" y="15"/>
                  </a:lnTo>
                  <a:lnTo>
                    <a:pt x="4" y="16"/>
                  </a:lnTo>
                  <a:lnTo>
                    <a:pt x="6" y="17"/>
                  </a:lnTo>
                  <a:lnTo>
                    <a:pt x="8" y="17"/>
                  </a:lnTo>
                  <a:lnTo>
                    <a:pt x="12" y="18"/>
                  </a:lnTo>
                  <a:lnTo>
                    <a:pt x="14" y="19"/>
                  </a:lnTo>
                  <a:lnTo>
                    <a:pt x="17" y="20"/>
                  </a:lnTo>
                  <a:lnTo>
                    <a:pt x="21" y="20"/>
                  </a:lnTo>
                  <a:lnTo>
                    <a:pt x="25" y="21"/>
                  </a:lnTo>
                  <a:lnTo>
                    <a:pt x="29" y="21"/>
                  </a:lnTo>
                  <a:lnTo>
                    <a:pt x="33" y="22"/>
                  </a:lnTo>
                  <a:lnTo>
                    <a:pt x="37" y="22"/>
                  </a:lnTo>
                  <a:lnTo>
                    <a:pt x="42" y="22"/>
                  </a:lnTo>
                  <a:lnTo>
                    <a:pt x="46" y="23"/>
                  </a:lnTo>
                  <a:lnTo>
                    <a:pt x="51" y="23"/>
                  </a:lnTo>
                  <a:lnTo>
                    <a:pt x="55" y="23"/>
                  </a:lnTo>
                  <a:lnTo>
                    <a:pt x="60" y="22"/>
                  </a:lnTo>
                  <a:lnTo>
                    <a:pt x="64" y="22"/>
                  </a:lnTo>
                  <a:lnTo>
                    <a:pt x="69" y="22"/>
                  </a:lnTo>
                  <a:lnTo>
                    <a:pt x="72" y="21"/>
                  </a:lnTo>
                  <a:lnTo>
                    <a:pt x="76" y="21"/>
                  </a:lnTo>
                  <a:lnTo>
                    <a:pt x="80" y="20"/>
                  </a:lnTo>
                  <a:lnTo>
                    <a:pt x="84" y="20"/>
                  </a:lnTo>
                  <a:lnTo>
                    <a:pt x="87" y="19"/>
                  </a:lnTo>
                  <a:lnTo>
                    <a:pt x="90" y="18"/>
                  </a:lnTo>
                  <a:lnTo>
                    <a:pt x="93" y="17"/>
                  </a:lnTo>
                  <a:lnTo>
                    <a:pt x="95" y="17"/>
                  </a:lnTo>
                  <a:lnTo>
                    <a:pt x="97" y="16"/>
                  </a:lnTo>
                  <a:lnTo>
                    <a:pt x="99" y="15"/>
                  </a:lnTo>
                  <a:lnTo>
                    <a:pt x="101" y="14"/>
                  </a:lnTo>
                  <a:lnTo>
                    <a:pt x="102" y="13"/>
                  </a:lnTo>
                  <a:lnTo>
                    <a:pt x="102" y="12"/>
                  </a:lnTo>
                  <a:lnTo>
                    <a:pt x="103" y="11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9" name="Freeform 125"/>
            <p:cNvSpPr>
              <a:spLocks/>
            </p:cNvSpPr>
            <p:nvPr/>
          </p:nvSpPr>
          <p:spPr bwMode="auto">
            <a:xfrm>
              <a:off x="4710" y="2947"/>
              <a:ext cx="192" cy="20"/>
            </a:xfrm>
            <a:custGeom>
              <a:avLst/>
              <a:gdLst>
                <a:gd name="T0" fmla="*/ 4032 w 104"/>
                <a:gd name="T1" fmla="*/ 15 h 17"/>
                <a:gd name="T2" fmla="*/ 3984 w 104"/>
                <a:gd name="T3" fmla="*/ 21 h 17"/>
                <a:gd name="T4" fmla="*/ 3831 w 104"/>
                <a:gd name="T5" fmla="*/ 26 h 17"/>
                <a:gd name="T6" fmla="*/ 3694 w 104"/>
                <a:gd name="T7" fmla="*/ 29 h 17"/>
                <a:gd name="T8" fmla="*/ 3449 w 104"/>
                <a:gd name="T9" fmla="*/ 31 h 17"/>
                <a:gd name="T10" fmla="*/ 3170 w 104"/>
                <a:gd name="T11" fmla="*/ 36 h 17"/>
                <a:gd name="T12" fmla="*/ 2856 w 104"/>
                <a:gd name="T13" fmla="*/ 36 h 17"/>
                <a:gd name="T14" fmla="*/ 2529 w 104"/>
                <a:gd name="T15" fmla="*/ 40 h 17"/>
                <a:gd name="T16" fmla="*/ 2184 w 104"/>
                <a:gd name="T17" fmla="*/ 42 h 17"/>
                <a:gd name="T18" fmla="*/ 1824 w 104"/>
                <a:gd name="T19" fmla="*/ 42 h 17"/>
                <a:gd name="T20" fmla="*/ 1466 w 104"/>
                <a:gd name="T21" fmla="*/ 40 h 17"/>
                <a:gd name="T22" fmla="*/ 1165 w 104"/>
                <a:gd name="T23" fmla="*/ 36 h 17"/>
                <a:gd name="T24" fmla="*/ 838 w 104"/>
                <a:gd name="T25" fmla="*/ 36 h 17"/>
                <a:gd name="T26" fmla="*/ 559 w 104"/>
                <a:gd name="T27" fmla="*/ 31 h 17"/>
                <a:gd name="T28" fmla="*/ 327 w 104"/>
                <a:gd name="T29" fmla="*/ 29 h 17"/>
                <a:gd name="T30" fmla="*/ 150 w 104"/>
                <a:gd name="T31" fmla="*/ 26 h 17"/>
                <a:gd name="T32" fmla="*/ 44 w 104"/>
                <a:gd name="T33" fmla="*/ 21 h 17"/>
                <a:gd name="T34" fmla="*/ 0 w 104"/>
                <a:gd name="T35" fmla="*/ 15 h 17"/>
                <a:gd name="T36" fmla="*/ 0 w 104"/>
                <a:gd name="T37" fmla="*/ 0 h 17"/>
                <a:gd name="T38" fmla="*/ 0 w 104"/>
                <a:gd name="T39" fmla="*/ 2 h 17"/>
                <a:gd name="T40" fmla="*/ 126 w 104"/>
                <a:gd name="T41" fmla="*/ 11 h 17"/>
                <a:gd name="T42" fmla="*/ 233 w 104"/>
                <a:gd name="T43" fmla="*/ 13 h 17"/>
                <a:gd name="T44" fmla="*/ 476 w 104"/>
                <a:gd name="T45" fmla="*/ 15 h 17"/>
                <a:gd name="T46" fmla="*/ 661 w 104"/>
                <a:gd name="T47" fmla="*/ 21 h 17"/>
                <a:gd name="T48" fmla="*/ 988 w 104"/>
                <a:gd name="T49" fmla="*/ 25 h 17"/>
                <a:gd name="T50" fmla="*/ 1316 w 104"/>
                <a:gd name="T51" fmla="*/ 26 h 17"/>
                <a:gd name="T52" fmla="*/ 1673 w 104"/>
                <a:gd name="T53" fmla="*/ 26 h 17"/>
                <a:gd name="T54" fmla="*/ 2022 w 104"/>
                <a:gd name="T55" fmla="*/ 26 h 17"/>
                <a:gd name="T56" fmla="*/ 2380 w 104"/>
                <a:gd name="T57" fmla="*/ 26 h 17"/>
                <a:gd name="T58" fmla="*/ 2719 w 104"/>
                <a:gd name="T59" fmla="*/ 26 h 17"/>
                <a:gd name="T60" fmla="*/ 2996 w 104"/>
                <a:gd name="T61" fmla="*/ 25 h 17"/>
                <a:gd name="T62" fmla="*/ 3323 w 104"/>
                <a:gd name="T63" fmla="*/ 21 h 17"/>
                <a:gd name="T64" fmla="*/ 3556 w 104"/>
                <a:gd name="T65" fmla="*/ 15 h 17"/>
                <a:gd name="T66" fmla="*/ 3750 w 104"/>
                <a:gd name="T67" fmla="*/ 13 h 17"/>
                <a:gd name="T68" fmla="*/ 3927 w 104"/>
                <a:gd name="T69" fmla="*/ 11 h 17"/>
                <a:gd name="T70" fmla="*/ 4032 w 104"/>
                <a:gd name="T71" fmla="*/ 2 h 17"/>
                <a:gd name="T72" fmla="*/ 4076 w 104"/>
                <a:gd name="T73" fmla="*/ 0 h 1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04"/>
                <a:gd name="T112" fmla="*/ 0 h 17"/>
                <a:gd name="T113" fmla="*/ 104 w 104"/>
                <a:gd name="T114" fmla="*/ 17 h 17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04" h="17">
                  <a:moveTo>
                    <a:pt x="103" y="5"/>
                  </a:moveTo>
                  <a:lnTo>
                    <a:pt x="102" y="6"/>
                  </a:lnTo>
                  <a:lnTo>
                    <a:pt x="102" y="7"/>
                  </a:lnTo>
                  <a:lnTo>
                    <a:pt x="101" y="8"/>
                  </a:lnTo>
                  <a:lnTo>
                    <a:pt x="99" y="8"/>
                  </a:lnTo>
                  <a:lnTo>
                    <a:pt x="97" y="10"/>
                  </a:lnTo>
                  <a:lnTo>
                    <a:pt x="95" y="10"/>
                  </a:lnTo>
                  <a:lnTo>
                    <a:pt x="93" y="11"/>
                  </a:lnTo>
                  <a:lnTo>
                    <a:pt x="90" y="12"/>
                  </a:lnTo>
                  <a:lnTo>
                    <a:pt x="87" y="12"/>
                  </a:lnTo>
                  <a:lnTo>
                    <a:pt x="84" y="13"/>
                  </a:lnTo>
                  <a:lnTo>
                    <a:pt x="80" y="14"/>
                  </a:lnTo>
                  <a:lnTo>
                    <a:pt x="76" y="14"/>
                  </a:lnTo>
                  <a:lnTo>
                    <a:pt x="72" y="14"/>
                  </a:lnTo>
                  <a:lnTo>
                    <a:pt x="69" y="15"/>
                  </a:lnTo>
                  <a:lnTo>
                    <a:pt x="64" y="15"/>
                  </a:lnTo>
                  <a:lnTo>
                    <a:pt x="60" y="16"/>
                  </a:lnTo>
                  <a:lnTo>
                    <a:pt x="55" y="16"/>
                  </a:lnTo>
                  <a:lnTo>
                    <a:pt x="51" y="16"/>
                  </a:lnTo>
                  <a:lnTo>
                    <a:pt x="46" y="16"/>
                  </a:lnTo>
                  <a:lnTo>
                    <a:pt x="42" y="16"/>
                  </a:lnTo>
                  <a:lnTo>
                    <a:pt x="37" y="15"/>
                  </a:lnTo>
                  <a:lnTo>
                    <a:pt x="33" y="15"/>
                  </a:lnTo>
                  <a:lnTo>
                    <a:pt x="29" y="14"/>
                  </a:lnTo>
                  <a:lnTo>
                    <a:pt x="25" y="14"/>
                  </a:lnTo>
                  <a:lnTo>
                    <a:pt x="21" y="14"/>
                  </a:lnTo>
                  <a:lnTo>
                    <a:pt x="17" y="13"/>
                  </a:lnTo>
                  <a:lnTo>
                    <a:pt x="14" y="12"/>
                  </a:lnTo>
                  <a:lnTo>
                    <a:pt x="12" y="12"/>
                  </a:lnTo>
                  <a:lnTo>
                    <a:pt x="8" y="11"/>
                  </a:lnTo>
                  <a:lnTo>
                    <a:pt x="6" y="10"/>
                  </a:lnTo>
                  <a:lnTo>
                    <a:pt x="4" y="10"/>
                  </a:lnTo>
                  <a:lnTo>
                    <a:pt x="3" y="8"/>
                  </a:lnTo>
                  <a:lnTo>
                    <a:pt x="1" y="8"/>
                  </a:lnTo>
                  <a:lnTo>
                    <a:pt x="0" y="7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1" y="2"/>
                  </a:lnTo>
                  <a:lnTo>
                    <a:pt x="3" y="4"/>
                  </a:lnTo>
                  <a:lnTo>
                    <a:pt x="4" y="4"/>
                  </a:lnTo>
                  <a:lnTo>
                    <a:pt x="6" y="5"/>
                  </a:lnTo>
                  <a:lnTo>
                    <a:pt x="8" y="6"/>
                  </a:lnTo>
                  <a:lnTo>
                    <a:pt x="12" y="6"/>
                  </a:lnTo>
                  <a:lnTo>
                    <a:pt x="14" y="7"/>
                  </a:lnTo>
                  <a:lnTo>
                    <a:pt x="17" y="8"/>
                  </a:lnTo>
                  <a:lnTo>
                    <a:pt x="21" y="8"/>
                  </a:lnTo>
                  <a:lnTo>
                    <a:pt x="25" y="9"/>
                  </a:lnTo>
                  <a:lnTo>
                    <a:pt x="29" y="10"/>
                  </a:lnTo>
                  <a:lnTo>
                    <a:pt x="33" y="10"/>
                  </a:lnTo>
                  <a:lnTo>
                    <a:pt x="37" y="10"/>
                  </a:lnTo>
                  <a:lnTo>
                    <a:pt x="42" y="10"/>
                  </a:lnTo>
                  <a:lnTo>
                    <a:pt x="46" y="10"/>
                  </a:lnTo>
                  <a:lnTo>
                    <a:pt x="51" y="10"/>
                  </a:lnTo>
                  <a:lnTo>
                    <a:pt x="55" y="10"/>
                  </a:lnTo>
                  <a:lnTo>
                    <a:pt x="60" y="10"/>
                  </a:lnTo>
                  <a:lnTo>
                    <a:pt x="64" y="10"/>
                  </a:lnTo>
                  <a:lnTo>
                    <a:pt x="69" y="10"/>
                  </a:lnTo>
                  <a:lnTo>
                    <a:pt x="72" y="10"/>
                  </a:lnTo>
                  <a:lnTo>
                    <a:pt x="76" y="9"/>
                  </a:lnTo>
                  <a:lnTo>
                    <a:pt x="80" y="8"/>
                  </a:lnTo>
                  <a:lnTo>
                    <a:pt x="84" y="8"/>
                  </a:lnTo>
                  <a:lnTo>
                    <a:pt x="87" y="7"/>
                  </a:lnTo>
                  <a:lnTo>
                    <a:pt x="90" y="6"/>
                  </a:lnTo>
                  <a:lnTo>
                    <a:pt x="93" y="6"/>
                  </a:lnTo>
                  <a:lnTo>
                    <a:pt x="95" y="5"/>
                  </a:lnTo>
                  <a:lnTo>
                    <a:pt x="97" y="4"/>
                  </a:lnTo>
                  <a:lnTo>
                    <a:pt x="99" y="4"/>
                  </a:lnTo>
                  <a:lnTo>
                    <a:pt x="101" y="2"/>
                  </a:lnTo>
                  <a:lnTo>
                    <a:pt x="102" y="2"/>
                  </a:lnTo>
                  <a:lnTo>
                    <a:pt x="102" y="1"/>
                  </a:lnTo>
                  <a:lnTo>
                    <a:pt x="103" y="0"/>
                  </a:lnTo>
                  <a:lnTo>
                    <a:pt x="103" y="5"/>
                  </a:lnTo>
                </a:path>
              </a:pathLst>
            </a:custGeom>
            <a:solidFill>
              <a:srgbClr val="666666"/>
            </a:solidFill>
            <a:ln w="12700" cap="rnd">
              <a:solidFill>
                <a:srgbClr val="6666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0" name="Freeform 126"/>
            <p:cNvSpPr>
              <a:spLocks/>
            </p:cNvSpPr>
            <p:nvPr/>
          </p:nvSpPr>
          <p:spPr bwMode="auto">
            <a:xfrm>
              <a:off x="4605" y="2975"/>
              <a:ext cx="407" cy="87"/>
            </a:xfrm>
            <a:custGeom>
              <a:avLst/>
              <a:gdLst>
                <a:gd name="T0" fmla="*/ 0 w 220"/>
                <a:gd name="T1" fmla="*/ 158 h 77"/>
                <a:gd name="T2" fmla="*/ 8775 w 220"/>
                <a:gd name="T3" fmla="*/ 158 h 77"/>
                <a:gd name="T4" fmla="*/ 8775 w 220"/>
                <a:gd name="T5" fmla="*/ 0 h 77"/>
                <a:gd name="T6" fmla="*/ 0 w 220"/>
                <a:gd name="T7" fmla="*/ 0 h 77"/>
                <a:gd name="T8" fmla="*/ 0 w 220"/>
                <a:gd name="T9" fmla="*/ 158 h 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0"/>
                <a:gd name="T16" fmla="*/ 0 h 77"/>
                <a:gd name="T17" fmla="*/ 220 w 220"/>
                <a:gd name="T18" fmla="*/ 77 h 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0" h="77">
                  <a:moveTo>
                    <a:pt x="0" y="76"/>
                  </a:moveTo>
                  <a:lnTo>
                    <a:pt x="219" y="76"/>
                  </a:lnTo>
                  <a:lnTo>
                    <a:pt x="219" y="0"/>
                  </a:lnTo>
                  <a:lnTo>
                    <a:pt x="0" y="0"/>
                  </a:lnTo>
                  <a:lnTo>
                    <a:pt x="0" y="76"/>
                  </a:lnTo>
                </a:path>
              </a:pathLst>
            </a:custGeom>
            <a:solidFill>
              <a:srgbClr val="EFEFD1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1" name="Freeform 127"/>
            <p:cNvSpPr>
              <a:spLocks/>
            </p:cNvSpPr>
            <p:nvPr/>
          </p:nvSpPr>
          <p:spPr bwMode="auto">
            <a:xfrm>
              <a:off x="4670" y="2934"/>
              <a:ext cx="127" cy="19"/>
            </a:xfrm>
            <a:custGeom>
              <a:avLst/>
              <a:gdLst>
                <a:gd name="T0" fmla="*/ 0 w 69"/>
                <a:gd name="T1" fmla="*/ 31 h 17"/>
                <a:gd name="T2" fmla="*/ 0 w 69"/>
                <a:gd name="T3" fmla="*/ 0 h 17"/>
                <a:gd name="T4" fmla="*/ 2639 w 69"/>
                <a:gd name="T5" fmla="*/ 0 h 17"/>
                <a:gd name="T6" fmla="*/ 2639 w 69"/>
                <a:gd name="T7" fmla="*/ 31 h 17"/>
                <a:gd name="T8" fmla="*/ 0 w 69"/>
                <a:gd name="T9" fmla="*/ 31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17"/>
                <a:gd name="T17" fmla="*/ 69 w 69"/>
                <a:gd name="T18" fmla="*/ 17 h 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17">
                  <a:moveTo>
                    <a:pt x="0" y="16"/>
                  </a:moveTo>
                  <a:lnTo>
                    <a:pt x="0" y="0"/>
                  </a:lnTo>
                  <a:lnTo>
                    <a:pt x="68" y="0"/>
                  </a:lnTo>
                  <a:lnTo>
                    <a:pt x="68" y="16"/>
                  </a:lnTo>
                  <a:lnTo>
                    <a:pt x="0" y="16"/>
                  </a:lnTo>
                </a:path>
              </a:pathLst>
            </a:custGeom>
            <a:solidFill>
              <a:srgbClr val="999999"/>
            </a:solidFill>
            <a:ln w="12700" cap="rnd">
              <a:solidFill>
                <a:srgbClr val="6666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2" name="Freeform 128"/>
            <p:cNvSpPr>
              <a:spLocks/>
            </p:cNvSpPr>
            <p:nvPr/>
          </p:nvSpPr>
          <p:spPr bwMode="auto">
            <a:xfrm>
              <a:off x="4773" y="2935"/>
              <a:ext cx="173" cy="19"/>
            </a:xfrm>
            <a:custGeom>
              <a:avLst/>
              <a:gdLst>
                <a:gd name="T0" fmla="*/ 0 w 94"/>
                <a:gd name="T1" fmla="*/ 31 h 17"/>
                <a:gd name="T2" fmla="*/ 0 w 94"/>
                <a:gd name="T3" fmla="*/ 0 h 17"/>
                <a:gd name="T4" fmla="*/ 3615 w 94"/>
                <a:gd name="T5" fmla="*/ 0 h 17"/>
                <a:gd name="T6" fmla="*/ 3615 w 94"/>
                <a:gd name="T7" fmla="*/ 31 h 17"/>
                <a:gd name="T8" fmla="*/ 0 w 94"/>
                <a:gd name="T9" fmla="*/ 31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4"/>
                <a:gd name="T16" fmla="*/ 0 h 17"/>
                <a:gd name="T17" fmla="*/ 94 w 94"/>
                <a:gd name="T18" fmla="*/ 17 h 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4" h="17">
                  <a:moveTo>
                    <a:pt x="0" y="16"/>
                  </a:moveTo>
                  <a:lnTo>
                    <a:pt x="0" y="0"/>
                  </a:lnTo>
                  <a:lnTo>
                    <a:pt x="93" y="0"/>
                  </a:lnTo>
                  <a:lnTo>
                    <a:pt x="93" y="16"/>
                  </a:lnTo>
                  <a:lnTo>
                    <a:pt x="0" y="16"/>
                  </a:lnTo>
                </a:path>
              </a:pathLst>
            </a:custGeom>
            <a:solidFill>
              <a:srgbClr val="999999"/>
            </a:solidFill>
            <a:ln w="12700" cap="rnd">
              <a:solidFill>
                <a:srgbClr val="6666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3" name="Freeform 129"/>
            <p:cNvSpPr>
              <a:spLocks/>
            </p:cNvSpPr>
            <p:nvPr/>
          </p:nvSpPr>
          <p:spPr bwMode="auto">
            <a:xfrm>
              <a:off x="4673" y="2937"/>
              <a:ext cx="32" cy="20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36 h 17"/>
                <a:gd name="T4" fmla="*/ 354 w 17"/>
                <a:gd name="T5" fmla="*/ 42 h 17"/>
                <a:gd name="T6" fmla="*/ 702 w 17"/>
                <a:gd name="T7" fmla="*/ 42 h 17"/>
                <a:gd name="T8" fmla="*/ 702 w 17"/>
                <a:gd name="T9" fmla="*/ 36 h 17"/>
                <a:gd name="T10" fmla="*/ 702 w 17"/>
                <a:gd name="T11" fmla="*/ 0 h 17"/>
                <a:gd name="T12" fmla="*/ 0 w 17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"/>
                <a:gd name="T22" fmla="*/ 0 h 17"/>
                <a:gd name="T23" fmla="*/ 17 w 17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8" y="16"/>
                  </a:lnTo>
                  <a:lnTo>
                    <a:pt x="16" y="16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4" name="Freeform 130"/>
            <p:cNvSpPr>
              <a:spLocks/>
            </p:cNvSpPr>
            <p:nvPr/>
          </p:nvSpPr>
          <p:spPr bwMode="auto">
            <a:xfrm>
              <a:off x="4679" y="2937"/>
              <a:ext cx="31" cy="20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36 h 17"/>
                <a:gd name="T4" fmla="*/ 146 w 17"/>
                <a:gd name="T5" fmla="*/ 36 h 17"/>
                <a:gd name="T6" fmla="*/ 146 w 17"/>
                <a:gd name="T7" fmla="*/ 42 h 17"/>
                <a:gd name="T8" fmla="*/ 295 w 17"/>
                <a:gd name="T9" fmla="*/ 42 h 17"/>
                <a:gd name="T10" fmla="*/ 443 w 17"/>
                <a:gd name="T11" fmla="*/ 36 h 17"/>
                <a:gd name="T12" fmla="*/ 589 w 17"/>
                <a:gd name="T13" fmla="*/ 36 h 17"/>
                <a:gd name="T14" fmla="*/ 589 w 17"/>
                <a:gd name="T15" fmla="*/ 0 h 17"/>
                <a:gd name="T16" fmla="*/ 0 w 17"/>
                <a:gd name="T17" fmla="*/ 0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7"/>
                <a:gd name="T28" fmla="*/ 0 h 17"/>
                <a:gd name="T29" fmla="*/ 17 w 17"/>
                <a:gd name="T30" fmla="*/ 17 h 1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4" y="14"/>
                  </a:lnTo>
                  <a:lnTo>
                    <a:pt x="4" y="16"/>
                  </a:lnTo>
                  <a:lnTo>
                    <a:pt x="8" y="16"/>
                  </a:lnTo>
                  <a:lnTo>
                    <a:pt x="12" y="14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5" name="Freeform 131"/>
            <p:cNvSpPr>
              <a:spLocks/>
            </p:cNvSpPr>
            <p:nvPr/>
          </p:nvSpPr>
          <p:spPr bwMode="auto">
            <a:xfrm>
              <a:off x="4684" y="2937"/>
              <a:ext cx="32" cy="20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36 h 17"/>
                <a:gd name="T4" fmla="*/ 354 w 17"/>
                <a:gd name="T5" fmla="*/ 42 h 17"/>
                <a:gd name="T6" fmla="*/ 702 w 17"/>
                <a:gd name="T7" fmla="*/ 42 h 17"/>
                <a:gd name="T8" fmla="*/ 702 w 17"/>
                <a:gd name="T9" fmla="*/ 36 h 17"/>
                <a:gd name="T10" fmla="*/ 702 w 17"/>
                <a:gd name="T11" fmla="*/ 0 h 17"/>
                <a:gd name="T12" fmla="*/ 0 w 17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"/>
                <a:gd name="T22" fmla="*/ 0 h 17"/>
                <a:gd name="T23" fmla="*/ 17 w 17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8" y="16"/>
                  </a:lnTo>
                  <a:lnTo>
                    <a:pt x="16" y="16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6" name="Freeform 132"/>
            <p:cNvSpPr>
              <a:spLocks/>
            </p:cNvSpPr>
            <p:nvPr/>
          </p:nvSpPr>
          <p:spPr bwMode="auto">
            <a:xfrm>
              <a:off x="4688" y="2937"/>
              <a:ext cx="32" cy="20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36 h 17"/>
                <a:gd name="T4" fmla="*/ 213 w 17"/>
                <a:gd name="T5" fmla="*/ 42 h 17"/>
                <a:gd name="T6" fmla="*/ 454 w 17"/>
                <a:gd name="T7" fmla="*/ 42 h 17"/>
                <a:gd name="T8" fmla="*/ 454 w 17"/>
                <a:gd name="T9" fmla="*/ 36 h 17"/>
                <a:gd name="T10" fmla="*/ 702 w 17"/>
                <a:gd name="T11" fmla="*/ 36 h 17"/>
                <a:gd name="T12" fmla="*/ 702 w 17"/>
                <a:gd name="T13" fmla="*/ 0 h 17"/>
                <a:gd name="T14" fmla="*/ 0 w 17"/>
                <a:gd name="T15" fmla="*/ 0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7"/>
                <a:gd name="T25" fmla="*/ 0 h 17"/>
                <a:gd name="T26" fmla="*/ 17 w 17"/>
                <a:gd name="T27" fmla="*/ 17 h 1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5" y="16"/>
                  </a:lnTo>
                  <a:lnTo>
                    <a:pt x="10" y="16"/>
                  </a:lnTo>
                  <a:lnTo>
                    <a:pt x="10" y="14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7" name="Freeform 133"/>
            <p:cNvSpPr>
              <a:spLocks/>
            </p:cNvSpPr>
            <p:nvPr/>
          </p:nvSpPr>
          <p:spPr bwMode="auto">
            <a:xfrm>
              <a:off x="4693" y="2937"/>
              <a:ext cx="32" cy="20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36 h 17"/>
                <a:gd name="T4" fmla="*/ 213 w 17"/>
                <a:gd name="T5" fmla="*/ 36 h 17"/>
                <a:gd name="T6" fmla="*/ 213 w 17"/>
                <a:gd name="T7" fmla="*/ 42 h 17"/>
                <a:gd name="T8" fmla="*/ 454 w 17"/>
                <a:gd name="T9" fmla="*/ 42 h 17"/>
                <a:gd name="T10" fmla="*/ 454 w 17"/>
                <a:gd name="T11" fmla="*/ 36 h 17"/>
                <a:gd name="T12" fmla="*/ 702 w 17"/>
                <a:gd name="T13" fmla="*/ 36 h 17"/>
                <a:gd name="T14" fmla="*/ 702 w 17"/>
                <a:gd name="T15" fmla="*/ 0 h 17"/>
                <a:gd name="T16" fmla="*/ 0 w 17"/>
                <a:gd name="T17" fmla="*/ 0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7"/>
                <a:gd name="T28" fmla="*/ 0 h 17"/>
                <a:gd name="T29" fmla="*/ 17 w 17"/>
                <a:gd name="T30" fmla="*/ 17 h 1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5" y="14"/>
                  </a:lnTo>
                  <a:lnTo>
                    <a:pt x="5" y="16"/>
                  </a:lnTo>
                  <a:lnTo>
                    <a:pt x="10" y="16"/>
                  </a:lnTo>
                  <a:lnTo>
                    <a:pt x="10" y="14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8" name="Freeform 134"/>
            <p:cNvSpPr>
              <a:spLocks/>
            </p:cNvSpPr>
            <p:nvPr/>
          </p:nvSpPr>
          <p:spPr bwMode="auto">
            <a:xfrm>
              <a:off x="4697" y="2937"/>
              <a:ext cx="32" cy="20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36 h 17"/>
                <a:gd name="T4" fmla="*/ 213 w 17"/>
                <a:gd name="T5" fmla="*/ 42 h 17"/>
                <a:gd name="T6" fmla="*/ 454 w 17"/>
                <a:gd name="T7" fmla="*/ 42 h 17"/>
                <a:gd name="T8" fmla="*/ 702 w 17"/>
                <a:gd name="T9" fmla="*/ 36 h 17"/>
                <a:gd name="T10" fmla="*/ 702 w 17"/>
                <a:gd name="T11" fmla="*/ 0 h 17"/>
                <a:gd name="T12" fmla="*/ 0 w 17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"/>
                <a:gd name="T22" fmla="*/ 0 h 17"/>
                <a:gd name="T23" fmla="*/ 17 w 17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5" y="16"/>
                  </a:lnTo>
                  <a:lnTo>
                    <a:pt x="10" y="16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9" name="Freeform 135"/>
            <p:cNvSpPr>
              <a:spLocks/>
            </p:cNvSpPr>
            <p:nvPr/>
          </p:nvSpPr>
          <p:spPr bwMode="auto">
            <a:xfrm>
              <a:off x="4704" y="2937"/>
              <a:ext cx="30" cy="20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36 h 17"/>
                <a:gd name="T4" fmla="*/ 152 w 17"/>
                <a:gd name="T5" fmla="*/ 42 h 17"/>
                <a:gd name="T6" fmla="*/ 309 w 17"/>
                <a:gd name="T7" fmla="*/ 42 h 17"/>
                <a:gd name="T8" fmla="*/ 309 w 17"/>
                <a:gd name="T9" fmla="*/ 36 h 17"/>
                <a:gd name="T10" fmla="*/ 473 w 17"/>
                <a:gd name="T11" fmla="*/ 36 h 17"/>
                <a:gd name="T12" fmla="*/ 473 w 17"/>
                <a:gd name="T13" fmla="*/ 0 h 17"/>
                <a:gd name="T14" fmla="*/ 0 w 17"/>
                <a:gd name="T15" fmla="*/ 0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7"/>
                <a:gd name="T25" fmla="*/ 0 h 17"/>
                <a:gd name="T26" fmla="*/ 17 w 17"/>
                <a:gd name="T27" fmla="*/ 17 h 1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5" y="16"/>
                  </a:lnTo>
                  <a:lnTo>
                    <a:pt x="10" y="16"/>
                  </a:lnTo>
                  <a:lnTo>
                    <a:pt x="10" y="14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10" name="Freeform 136"/>
            <p:cNvSpPr>
              <a:spLocks/>
            </p:cNvSpPr>
            <p:nvPr/>
          </p:nvSpPr>
          <p:spPr bwMode="auto">
            <a:xfrm>
              <a:off x="4705" y="2937"/>
              <a:ext cx="31" cy="20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36 h 17"/>
                <a:gd name="T4" fmla="*/ 146 w 17"/>
                <a:gd name="T5" fmla="*/ 36 h 17"/>
                <a:gd name="T6" fmla="*/ 295 w 17"/>
                <a:gd name="T7" fmla="*/ 42 h 17"/>
                <a:gd name="T8" fmla="*/ 443 w 17"/>
                <a:gd name="T9" fmla="*/ 42 h 17"/>
                <a:gd name="T10" fmla="*/ 443 w 17"/>
                <a:gd name="T11" fmla="*/ 36 h 17"/>
                <a:gd name="T12" fmla="*/ 589 w 17"/>
                <a:gd name="T13" fmla="*/ 36 h 17"/>
                <a:gd name="T14" fmla="*/ 589 w 17"/>
                <a:gd name="T15" fmla="*/ 0 h 17"/>
                <a:gd name="T16" fmla="*/ 0 w 17"/>
                <a:gd name="T17" fmla="*/ 0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7"/>
                <a:gd name="T28" fmla="*/ 0 h 17"/>
                <a:gd name="T29" fmla="*/ 17 w 17"/>
                <a:gd name="T30" fmla="*/ 17 h 1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4" y="14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12" y="14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11" name="Freeform 137"/>
            <p:cNvSpPr>
              <a:spLocks/>
            </p:cNvSpPr>
            <p:nvPr/>
          </p:nvSpPr>
          <p:spPr bwMode="auto">
            <a:xfrm>
              <a:off x="4713" y="2937"/>
              <a:ext cx="30" cy="20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36 h 17"/>
                <a:gd name="T4" fmla="*/ 244 w 17"/>
                <a:gd name="T5" fmla="*/ 36 h 17"/>
                <a:gd name="T6" fmla="*/ 244 w 17"/>
                <a:gd name="T7" fmla="*/ 42 h 17"/>
                <a:gd name="T8" fmla="*/ 473 w 17"/>
                <a:gd name="T9" fmla="*/ 42 h 17"/>
                <a:gd name="T10" fmla="*/ 473 w 17"/>
                <a:gd name="T11" fmla="*/ 36 h 17"/>
                <a:gd name="T12" fmla="*/ 473 w 17"/>
                <a:gd name="T13" fmla="*/ 0 h 17"/>
                <a:gd name="T14" fmla="*/ 0 w 17"/>
                <a:gd name="T15" fmla="*/ 0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7"/>
                <a:gd name="T25" fmla="*/ 0 h 17"/>
                <a:gd name="T26" fmla="*/ 17 w 17"/>
                <a:gd name="T27" fmla="*/ 17 h 1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16" y="16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12" name="Freeform 138"/>
            <p:cNvSpPr>
              <a:spLocks/>
            </p:cNvSpPr>
            <p:nvPr/>
          </p:nvSpPr>
          <p:spPr bwMode="auto">
            <a:xfrm>
              <a:off x="4716" y="2937"/>
              <a:ext cx="31" cy="20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36 h 17"/>
                <a:gd name="T4" fmla="*/ 295 w 17"/>
                <a:gd name="T5" fmla="*/ 42 h 17"/>
                <a:gd name="T6" fmla="*/ 589 w 17"/>
                <a:gd name="T7" fmla="*/ 42 h 17"/>
                <a:gd name="T8" fmla="*/ 589 w 17"/>
                <a:gd name="T9" fmla="*/ 36 h 17"/>
                <a:gd name="T10" fmla="*/ 589 w 17"/>
                <a:gd name="T11" fmla="*/ 0 h 17"/>
                <a:gd name="T12" fmla="*/ 0 w 17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"/>
                <a:gd name="T22" fmla="*/ 0 h 17"/>
                <a:gd name="T23" fmla="*/ 17 w 17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8" y="16"/>
                  </a:lnTo>
                  <a:lnTo>
                    <a:pt x="16" y="16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13" name="Freeform 139"/>
            <p:cNvSpPr>
              <a:spLocks/>
            </p:cNvSpPr>
            <p:nvPr/>
          </p:nvSpPr>
          <p:spPr bwMode="auto">
            <a:xfrm>
              <a:off x="4720" y="2937"/>
              <a:ext cx="31" cy="20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36 h 17"/>
                <a:gd name="T4" fmla="*/ 0 w 17"/>
                <a:gd name="T5" fmla="*/ 42 h 17"/>
                <a:gd name="T6" fmla="*/ 295 w 17"/>
                <a:gd name="T7" fmla="*/ 42 h 17"/>
                <a:gd name="T8" fmla="*/ 589 w 17"/>
                <a:gd name="T9" fmla="*/ 36 h 17"/>
                <a:gd name="T10" fmla="*/ 589 w 17"/>
                <a:gd name="T11" fmla="*/ 0 h 17"/>
                <a:gd name="T12" fmla="*/ 0 w 17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"/>
                <a:gd name="T22" fmla="*/ 0 h 17"/>
                <a:gd name="T23" fmla="*/ 17 w 17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0" y="16"/>
                  </a:lnTo>
                  <a:lnTo>
                    <a:pt x="8" y="16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14" name="Freeform 140"/>
            <p:cNvSpPr>
              <a:spLocks/>
            </p:cNvSpPr>
            <p:nvPr/>
          </p:nvSpPr>
          <p:spPr bwMode="auto">
            <a:xfrm>
              <a:off x="4725" y="2937"/>
              <a:ext cx="31" cy="20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36 h 17"/>
                <a:gd name="T4" fmla="*/ 146 w 17"/>
                <a:gd name="T5" fmla="*/ 42 h 17"/>
                <a:gd name="T6" fmla="*/ 295 w 17"/>
                <a:gd name="T7" fmla="*/ 42 h 17"/>
                <a:gd name="T8" fmla="*/ 443 w 17"/>
                <a:gd name="T9" fmla="*/ 42 h 17"/>
                <a:gd name="T10" fmla="*/ 589 w 17"/>
                <a:gd name="T11" fmla="*/ 36 h 17"/>
                <a:gd name="T12" fmla="*/ 589 w 17"/>
                <a:gd name="T13" fmla="*/ 0 h 17"/>
                <a:gd name="T14" fmla="*/ 0 w 17"/>
                <a:gd name="T15" fmla="*/ 0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7"/>
                <a:gd name="T25" fmla="*/ 0 h 17"/>
                <a:gd name="T26" fmla="*/ 17 w 17"/>
                <a:gd name="T27" fmla="*/ 17 h 1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4" y="16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15" name="Freeform 141"/>
            <p:cNvSpPr>
              <a:spLocks/>
            </p:cNvSpPr>
            <p:nvPr/>
          </p:nvSpPr>
          <p:spPr bwMode="auto">
            <a:xfrm>
              <a:off x="4730" y="2937"/>
              <a:ext cx="32" cy="20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36 h 17"/>
                <a:gd name="T4" fmla="*/ 213 w 17"/>
                <a:gd name="T5" fmla="*/ 42 h 17"/>
                <a:gd name="T6" fmla="*/ 454 w 17"/>
                <a:gd name="T7" fmla="*/ 42 h 17"/>
                <a:gd name="T8" fmla="*/ 454 w 17"/>
                <a:gd name="T9" fmla="*/ 36 h 17"/>
                <a:gd name="T10" fmla="*/ 702 w 17"/>
                <a:gd name="T11" fmla="*/ 36 h 17"/>
                <a:gd name="T12" fmla="*/ 702 w 17"/>
                <a:gd name="T13" fmla="*/ 0 h 17"/>
                <a:gd name="T14" fmla="*/ 0 w 17"/>
                <a:gd name="T15" fmla="*/ 0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7"/>
                <a:gd name="T25" fmla="*/ 0 h 17"/>
                <a:gd name="T26" fmla="*/ 17 w 17"/>
                <a:gd name="T27" fmla="*/ 17 h 1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5" y="16"/>
                  </a:lnTo>
                  <a:lnTo>
                    <a:pt x="10" y="16"/>
                  </a:lnTo>
                  <a:lnTo>
                    <a:pt x="10" y="14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16" name="Freeform 142"/>
            <p:cNvSpPr>
              <a:spLocks/>
            </p:cNvSpPr>
            <p:nvPr/>
          </p:nvSpPr>
          <p:spPr bwMode="auto">
            <a:xfrm>
              <a:off x="4734" y="2937"/>
              <a:ext cx="32" cy="20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36 h 17"/>
                <a:gd name="T4" fmla="*/ 354 w 17"/>
                <a:gd name="T5" fmla="*/ 36 h 17"/>
                <a:gd name="T6" fmla="*/ 354 w 17"/>
                <a:gd name="T7" fmla="*/ 42 h 17"/>
                <a:gd name="T8" fmla="*/ 702 w 17"/>
                <a:gd name="T9" fmla="*/ 42 h 17"/>
                <a:gd name="T10" fmla="*/ 702 w 17"/>
                <a:gd name="T11" fmla="*/ 36 h 17"/>
                <a:gd name="T12" fmla="*/ 702 w 17"/>
                <a:gd name="T13" fmla="*/ 0 h 17"/>
                <a:gd name="T14" fmla="*/ 0 w 17"/>
                <a:gd name="T15" fmla="*/ 0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7"/>
                <a:gd name="T25" fmla="*/ 0 h 17"/>
                <a:gd name="T26" fmla="*/ 17 w 17"/>
                <a:gd name="T27" fmla="*/ 17 h 1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16" y="16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17" name="Freeform 143"/>
            <p:cNvSpPr>
              <a:spLocks/>
            </p:cNvSpPr>
            <p:nvPr/>
          </p:nvSpPr>
          <p:spPr bwMode="auto">
            <a:xfrm>
              <a:off x="4738" y="2937"/>
              <a:ext cx="31" cy="20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36 h 17"/>
                <a:gd name="T4" fmla="*/ 177 w 17"/>
                <a:gd name="T5" fmla="*/ 42 h 17"/>
                <a:gd name="T6" fmla="*/ 363 w 17"/>
                <a:gd name="T7" fmla="*/ 42 h 17"/>
                <a:gd name="T8" fmla="*/ 589 w 17"/>
                <a:gd name="T9" fmla="*/ 36 h 17"/>
                <a:gd name="T10" fmla="*/ 589 w 17"/>
                <a:gd name="T11" fmla="*/ 0 h 17"/>
                <a:gd name="T12" fmla="*/ 0 w 17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"/>
                <a:gd name="T22" fmla="*/ 0 h 17"/>
                <a:gd name="T23" fmla="*/ 17 w 17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5" y="16"/>
                  </a:lnTo>
                  <a:lnTo>
                    <a:pt x="10" y="16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18" name="Freeform 144"/>
            <p:cNvSpPr>
              <a:spLocks/>
            </p:cNvSpPr>
            <p:nvPr/>
          </p:nvSpPr>
          <p:spPr bwMode="auto">
            <a:xfrm>
              <a:off x="4746" y="2937"/>
              <a:ext cx="30" cy="20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36 h 17"/>
                <a:gd name="T4" fmla="*/ 152 w 17"/>
                <a:gd name="T5" fmla="*/ 42 h 17"/>
                <a:gd name="T6" fmla="*/ 309 w 17"/>
                <a:gd name="T7" fmla="*/ 42 h 17"/>
                <a:gd name="T8" fmla="*/ 473 w 17"/>
                <a:gd name="T9" fmla="*/ 36 h 17"/>
                <a:gd name="T10" fmla="*/ 473 w 17"/>
                <a:gd name="T11" fmla="*/ 0 h 17"/>
                <a:gd name="T12" fmla="*/ 0 w 17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"/>
                <a:gd name="T22" fmla="*/ 0 h 17"/>
                <a:gd name="T23" fmla="*/ 17 w 17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5" y="16"/>
                  </a:lnTo>
                  <a:lnTo>
                    <a:pt x="10" y="16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19" name="Freeform 145"/>
            <p:cNvSpPr>
              <a:spLocks/>
            </p:cNvSpPr>
            <p:nvPr/>
          </p:nvSpPr>
          <p:spPr bwMode="auto">
            <a:xfrm>
              <a:off x="4750" y="2937"/>
              <a:ext cx="30" cy="20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36 h 17"/>
                <a:gd name="T4" fmla="*/ 152 w 17"/>
                <a:gd name="T5" fmla="*/ 36 h 17"/>
                <a:gd name="T6" fmla="*/ 152 w 17"/>
                <a:gd name="T7" fmla="*/ 42 h 17"/>
                <a:gd name="T8" fmla="*/ 309 w 17"/>
                <a:gd name="T9" fmla="*/ 42 h 17"/>
                <a:gd name="T10" fmla="*/ 309 w 17"/>
                <a:gd name="T11" fmla="*/ 36 h 17"/>
                <a:gd name="T12" fmla="*/ 473 w 17"/>
                <a:gd name="T13" fmla="*/ 36 h 17"/>
                <a:gd name="T14" fmla="*/ 473 w 17"/>
                <a:gd name="T15" fmla="*/ 0 h 17"/>
                <a:gd name="T16" fmla="*/ 0 w 17"/>
                <a:gd name="T17" fmla="*/ 0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7"/>
                <a:gd name="T28" fmla="*/ 0 h 17"/>
                <a:gd name="T29" fmla="*/ 17 w 17"/>
                <a:gd name="T30" fmla="*/ 17 h 1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5" y="14"/>
                  </a:lnTo>
                  <a:lnTo>
                    <a:pt x="5" y="16"/>
                  </a:lnTo>
                  <a:lnTo>
                    <a:pt x="10" y="16"/>
                  </a:lnTo>
                  <a:lnTo>
                    <a:pt x="10" y="14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20" name="Freeform 146"/>
            <p:cNvSpPr>
              <a:spLocks/>
            </p:cNvSpPr>
            <p:nvPr/>
          </p:nvSpPr>
          <p:spPr bwMode="auto">
            <a:xfrm>
              <a:off x="4755" y="2937"/>
              <a:ext cx="30" cy="20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36 h 17"/>
                <a:gd name="T4" fmla="*/ 244 w 17"/>
                <a:gd name="T5" fmla="*/ 42 h 17"/>
                <a:gd name="T6" fmla="*/ 473 w 17"/>
                <a:gd name="T7" fmla="*/ 42 h 17"/>
                <a:gd name="T8" fmla="*/ 473 w 17"/>
                <a:gd name="T9" fmla="*/ 36 h 17"/>
                <a:gd name="T10" fmla="*/ 473 w 17"/>
                <a:gd name="T11" fmla="*/ 0 h 17"/>
                <a:gd name="T12" fmla="*/ 0 w 17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"/>
                <a:gd name="T22" fmla="*/ 0 h 17"/>
                <a:gd name="T23" fmla="*/ 17 w 17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8" y="16"/>
                  </a:lnTo>
                  <a:lnTo>
                    <a:pt x="16" y="16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21" name="Freeform 147"/>
            <p:cNvSpPr>
              <a:spLocks/>
            </p:cNvSpPr>
            <p:nvPr/>
          </p:nvSpPr>
          <p:spPr bwMode="auto">
            <a:xfrm>
              <a:off x="4759" y="2937"/>
              <a:ext cx="30" cy="20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36 h 17"/>
                <a:gd name="T4" fmla="*/ 152 w 17"/>
                <a:gd name="T5" fmla="*/ 42 h 17"/>
                <a:gd name="T6" fmla="*/ 309 w 17"/>
                <a:gd name="T7" fmla="*/ 42 h 17"/>
                <a:gd name="T8" fmla="*/ 473 w 17"/>
                <a:gd name="T9" fmla="*/ 36 h 17"/>
                <a:gd name="T10" fmla="*/ 473 w 17"/>
                <a:gd name="T11" fmla="*/ 0 h 17"/>
                <a:gd name="T12" fmla="*/ 0 w 17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"/>
                <a:gd name="T22" fmla="*/ 0 h 17"/>
                <a:gd name="T23" fmla="*/ 17 w 17"/>
                <a:gd name="T24" fmla="*/ 17 h 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5" y="16"/>
                  </a:lnTo>
                  <a:lnTo>
                    <a:pt x="10" y="16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22" name="Freeform 148"/>
            <p:cNvSpPr>
              <a:spLocks/>
            </p:cNvSpPr>
            <p:nvPr/>
          </p:nvSpPr>
          <p:spPr bwMode="auto">
            <a:xfrm>
              <a:off x="4762" y="2937"/>
              <a:ext cx="31" cy="20"/>
            </a:xfrm>
            <a:custGeom>
              <a:avLst/>
              <a:gdLst>
                <a:gd name="T0" fmla="*/ 0 w 17"/>
                <a:gd name="T1" fmla="*/ 0 h 17"/>
                <a:gd name="T2" fmla="*/ 0 w 17"/>
                <a:gd name="T3" fmla="*/ 36 h 17"/>
                <a:gd name="T4" fmla="*/ 146 w 17"/>
                <a:gd name="T5" fmla="*/ 36 h 17"/>
                <a:gd name="T6" fmla="*/ 295 w 17"/>
                <a:gd name="T7" fmla="*/ 42 h 17"/>
                <a:gd name="T8" fmla="*/ 443 w 17"/>
                <a:gd name="T9" fmla="*/ 42 h 17"/>
                <a:gd name="T10" fmla="*/ 443 w 17"/>
                <a:gd name="T11" fmla="*/ 36 h 17"/>
                <a:gd name="T12" fmla="*/ 589 w 17"/>
                <a:gd name="T13" fmla="*/ 36 h 17"/>
                <a:gd name="T14" fmla="*/ 589 w 17"/>
                <a:gd name="T15" fmla="*/ 0 h 17"/>
                <a:gd name="T16" fmla="*/ 0 w 17"/>
                <a:gd name="T17" fmla="*/ 0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7"/>
                <a:gd name="T28" fmla="*/ 0 h 17"/>
                <a:gd name="T29" fmla="*/ 17 w 17"/>
                <a:gd name="T30" fmla="*/ 17 h 1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7" h="17">
                  <a:moveTo>
                    <a:pt x="0" y="0"/>
                  </a:moveTo>
                  <a:lnTo>
                    <a:pt x="0" y="14"/>
                  </a:lnTo>
                  <a:lnTo>
                    <a:pt x="4" y="14"/>
                  </a:lnTo>
                  <a:lnTo>
                    <a:pt x="8" y="16"/>
                  </a:lnTo>
                  <a:lnTo>
                    <a:pt x="12" y="16"/>
                  </a:lnTo>
                  <a:lnTo>
                    <a:pt x="12" y="14"/>
                  </a:lnTo>
                  <a:lnTo>
                    <a:pt x="16" y="14"/>
                  </a:lnTo>
                  <a:lnTo>
                    <a:pt x="16" y="0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23" name="Freeform 149"/>
            <p:cNvSpPr>
              <a:spLocks/>
            </p:cNvSpPr>
            <p:nvPr/>
          </p:nvSpPr>
          <p:spPr bwMode="auto">
            <a:xfrm>
              <a:off x="4633" y="2742"/>
              <a:ext cx="345" cy="197"/>
            </a:xfrm>
            <a:custGeom>
              <a:avLst/>
              <a:gdLst>
                <a:gd name="T0" fmla="*/ 7103 w 187"/>
                <a:gd name="T1" fmla="*/ 365 h 174"/>
                <a:gd name="T2" fmla="*/ 7103 w 187"/>
                <a:gd name="T3" fmla="*/ 365 h 174"/>
                <a:gd name="T4" fmla="*/ 7103 w 187"/>
                <a:gd name="T5" fmla="*/ 362 h 174"/>
                <a:gd name="T6" fmla="*/ 7186 w 187"/>
                <a:gd name="T7" fmla="*/ 362 h 174"/>
                <a:gd name="T8" fmla="*/ 7186 w 187"/>
                <a:gd name="T9" fmla="*/ 362 h 174"/>
                <a:gd name="T10" fmla="*/ 7230 w 187"/>
                <a:gd name="T11" fmla="*/ 361 h 174"/>
                <a:gd name="T12" fmla="*/ 7230 w 187"/>
                <a:gd name="T13" fmla="*/ 361 h 174"/>
                <a:gd name="T14" fmla="*/ 7239 w 187"/>
                <a:gd name="T15" fmla="*/ 361 h 174"/>
                <a:gd name="T16" fmla="*/ 7239 w 187"/>
                <a:gd name="T17" fmla="*/ 358 h 174"/>
                <a:gd name="T18" fmla="*/ 7239 w 187"/>
                <a:gd name="T19" fmla="*/ 358 h 174"/>
                <a:gd name="T20" fmla="*/ 7239 w 187"/>
                <a:gd name="T21" fmla="*/ 356 h 174"/>
                <a:gd name="T22" fmla="*/ 7284 w 187"/>
                <a:gd name="T23" fmla="*/ 356 h 174"/>
                <a:gd name="T24" fmla="*/ 7284 w 187"/>
                <a:gd name="T25" fmla="*/ 352 h 174"/>
                <a:gd name="T26" fmla="*/ 7335 w 187"/>
                <a:gd name="T27" fmla="*/ 351 h 174"/>
                <a:gd name="T28" fmla="*/ 7335 w 187"/>
                <a:gd name="T29" fmla="*/ 351 h 174"/>
                <a:gd name="T30" fmla="*/ 7335 w 187"/>
                <a:gd name="T31" fmla="*/ 12 h 174"/>
                <a:gd name="T32" fmla="*/ 7335 w 187"/>
                <a:gd name="T33" fmla="*/ 11 h 174"/>
                <a:gd name="T34" fmla="*/ 7335 w 187"/>
                <a:gd name="T35" fmla="*/ 11 h 174"/>
                <a:gd name="T36" fmla="*/ 7284 w 187"/>
                <a:gd name="T37" fmla="*/ 11 h 174"/>
                <a:gd name="T38" fmla="*/ 7284 w 187"/>
                <a:gd name="T39" fmla="*/ 3 h 174"/>
                <a:gd name="T40" fmla="*/ 7239 w 187"/>
                <a:gd name="T41" fmla="*/ 3 h 174"/>
                <a:gd name="T42" fmla="*/ 7239 w 187"/>
                <a:gd name="T43" fmla="*/ 2 h 174"/>
                <a:gd name="T44" fmla="*/ 7239 w 187"/>
                <a:gd name="T45" fmla="*/ 1 h 174"/>
                <a:gd name="T46" fmla="*/ 7230 w 187"/>
                <a:gd name="T47" fmla="*/ 1 h 174"/>
                <a:gd name="T48" fmla="*/ 7230 w 187"/>
                <a:gd name="T49" fmla="*/ 1 h 174"/>
                <a:gd name="T50" fmla="*/ 7186 w 187"/>
                <a:gd name="T51" fmla="*/ 1 h 174"/>
                <a:gd name="T52" fmla="*/ 7186 w 187"/>
                <a:gd name="T53" fmla="*/ 0 h 174"/>
                <a:gd name="T54" fmla="*/ 7103 w 187"/>
                <a:gd name="T55" fmla="*/ 0 h 174"/>
                <a:gd name="T56" fmla="*/ 7103 w 187"/>
                <a:gd name="T57" fmla="*/ 0 h 174"/>
                <a:gd name="T58" fmla="*/ 7103 w 187"/>
                <a:gd name="T59" fmla="*/ 0 h 174"/>
                <a:gd name="T60" fmla="*/ 194 w 187"/>
                <a:gd name="T61" fmla="*/ 0 h 174"/>
                <a:gd name="T62" fmla="*/ 149 w 187"/>
                <a:gd name="T63" fmla="*/ 0 h 174"/>
                <a:gd name="T64" fmla="*/ 125 w 187"/>
                <a:gd name="T65" fmla="*/ 0 h 174"/>
                <a:gd name="T66" fmla="*/ 125 w 187"/>
                <a:gd name="T67" fmla="*/ 0 h 174"/>
                <a:gd name="T68" fmla="*/ 81 w 187"/>
                <a:gd name="T69" fmla="*/ 0 h 174"/>
                <a:gd name="T70" fmla="*/ 81 w 187"/>
                <a:gd name="T71" fmla="*/ 1 h 174"/>
                <a:gd name="T72" fmla="*/ 44 w 187"/>
                <a:gd name="T73" fmla="*/ 1 h 174"/>
                <a:gd name="T74" fmla="*/ 44 w 187"/>
                <a:gd name="T75" fmla="*/ 1 h 174"/>
                <a:gd name="T76" fmla="*/ 44 w 187"/>
                <a:gd name="T77" fmla="*/ 2 h 174"/>
                <a:gd name="T78" fmla="*/ 0 w 187"/>
                <a:gd name="T79" fmla="*/ 3 h 174"/>
                <a:gd name="T80" fmla="*/ 0 w 187"/>
                <a:gd name="T81" fmla="*/ 3 h 174"/>
                <a:gd name="T82" fmla="*/ 0 w 187"/>
                <a:gd name="T83" fmla="*/ 3 h 174"/>
                <a:gd name="T84" fmla="*/ 0 w 187"/>
                <a:gd name="T85" fmla="*/ 11 h 174"/>
                <a:gd name="T86" fmla="*/ 0 w 187"/>
                <a:gd name="T87" fmla="*/ 11 h 174"/>
                <a:gd name="T88" fmla="*/ 0 w 187"/>
                <a:gd name="T89" fmla="*/ 12 h 174"/>
                <a:gd name="T90" fmla="*/ 0 w 187"/>
                <a:gd name="T91" fmla="*/ 351 h 174"/>
                <a:gd name="T92" fmla="*/ 0 w 187"/>
                <a:gd name="T93" fmla="*/ 351 h 174"/>
                <a:gd name="T94" fmla="*/ 0 w 187"/>
                <a:gd name="T95" fmla="*/ 352 h 174"/>
                <a:gd name="T96" fmla="*/ 0 w 187"/>
                <a:gd name="T97" fmla="*/ 356 h 174"/>
                <a:gd name="T98" fmla="*/ 0 w 187"/>
                <a:gd name="T99" fmla="*/ 356 h 174"/>
                <a:gd name="T100" fmla="*/ 0 w 187"/>
                <a:gd name="T101" fmla="*/ 358 h 174"/>
                <a:gd name="T102" fmla="*/ 44 w 187"/>
                <a:gd name="T103" fmla="*/ 358 h 174"/>
                <a:gd name="T104" fmla="*/ 44 w 187"/>
                <a:gd name="T105" fmla="*/ 361 h 174"/>
                <a:gd name="T106" fmla="*/ 44 w 187"/>
                <a:gd name="T107" fmla="*/ 361 h 174"/>
                <a:gd name="T108" fmla="*/ 81 w 187"/>
                <a:gd name="T109" fmla="*/ 361 h 174"/>
                <a:gd name="T110" fmla="*/ 81 w 187"/>
                <a:gd name="T111" fmla="*/ 362 h 174"/>
                <a:gd name="T112" fmla="*/ 81 w 187"/>
                <a:gd name="T113" fmla="*/ 362 h 174"/>
                <a:gd name="T114" fmla="*/ 125 w 187"/>
                <a:gd name="T115" fmla="*/ 362 h 174"/>
                <a:gd name="T116" fmla="*/ 125 w 187"/>
                <a:gd name="T117" fmla="*/ 362 h 174"/>
                <a:gd name="T118" fmla="*/ 149 w 187"/>
                <a:gd name="T119" fmla="*/ 365 h 174"/>
                <a:gd name="T120" fmla="*/ 194 w 187"/>
                <a:gd name="T121" fmla="*/ 365 h 174"/>
                <a:gd name="T122" fmla="*/ 7103 w 187"/>
                <a:gd name="T123" fmla="*/ 365 h 17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87"/>
                <a:gd name="T187" fmla="*/ 0 h 174"/>
                <a:gd name="T188" fmla="*/ 187 w 187"/>
                <a:gd name="T189" fmla="*/ 174 h 174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87" h="174">
                  <a:moveTo>
                    <a:pt x="180" y="173"/>
                  </a:moveTo>
                  <a:lnTo>
                    <a:pt x="180" y="173"/>
                  </a:lnTo>
                  <a:lnTo>
                    <a:pt x="180" y="172"/>
                  </a:lnTo>
                  <a:lnTo>
                    <a:pt x="182" y="172"/>
                  </a:lnTo>
                  <a:lnTo>
                    <a:pt x="183" y="171"/>
                  </a:lnTo>
                  <a:lnTo>
                    <a:pt x="184" y="171"/>
                  </a:lnTo>
                  <a:lnTo>
                    <a:pt x="184" y="170"/>
                  </a:lnTo>
                  <a:lnTo>
                    <a:pt x="184" y="169"/>
                  </a:lnTo>
                  <a:lnTo>
                    <a:pt x="185" y="169"/>
                  </a:lnTo>
                  <a:lnTo>
                    <a:pt x="185" y="168"/>
                  </a:lnTo>
                  <a:lnTo>
                    <a:pt x="186" y="167"/>
                  </a:lnTo>
                  <a:lnTo>
                    <a:pt x="186" y="6"/>
                  </a:lnTo>
                  <a:lnTo>
                    <a:pt x="186" y="5"/>
                  </a:lnTo>
                  <a:lnTo>
                    <a:pt x="185" y="5"/>
                  </a:lnTo>
                  <a:lnTo>
                    <a:pt x="185" y="3"/>
                  </a:lnTo>
                  <a:lnTo>
                    <a:pt x="184" y="3"/>
                  </a:lnTo>
                  <a:lnTo>
                    <a:pt x="184" y="2"/>
                  </a:lnTo>
                  <a:lnTo>
                    <a:pt x="184" y="1"/>
                  </a:lnTo>
                  <a:lnTo>
                    <a:pt x="183" y="1"/>
                  </a:lnTo>
                  <a:lnTo>
                    <a:pt x="182" y="1"/>
                  </a:lnTo>
                  <a:lnTo>
                    <a:pt x="182" y="0"/>
                  </a:lnTo>
                  <a:lnTo>
                    <a:pt x="180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167"/>
                  </a:lnTo>
                  <a:lnTo>
                    <a:pt x="0" y="168"/>
                  </a:lnTo>
                  <a:lnTo>
                    <a:pt x="0" y="169"/>
                  </a:lnTo>
                  <a:lnTo>
                    <a:pt x="0" y="170"/>
                  </a:lnTo>
                  <a:lnTo>
                    <a:pt x="1" y="170"/>
                  </a:lnTo>
                  <a:lnTo>
                    <a:pt x="1" y="171"/>
                  </a:lnTo>
                  <a:lnTo>
                    <a:pt x="2" y="171"/>
                  </a:lnTo>
                  <a:lnTo>
                    <a:pt x="2" y="172"/>
                  </a:lnTo>
                  <a:lnTo>
                    <a:pt x="3" y="172"/>
                  </a:lnTo>
                  <a:lnTo>
                    <a:pt x="4" y="173"/>
                  </a:lnTo>
                  <a:lnTo>
                    <a:pt x="5" y="173"/>
                  </a:lnTo>
                  <a:lnTo>
                    <a:pt x="180" y="173"/>
                  </a:lnTo>
                </a:path>
              </a:pathLst>
            </a:custGeom>
            <a:solidFill>
              <a:srgbClr val="999999"/>
            </a:solidFill>
            <a:ln w="12700" cap="rnd">
              <a:solidFill>
                <a:srgbClr val="6666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24" name="Freeform 150"/>
            <p:cNvSpPr>
              <a:spLocks/>
            </p:cNvSpPr>
            <p:nvPr/>
          </p:nvSpPr>
          <p:spPr bwMode="auto">
            <a:xfrm>
              <a:off x="4633" y="2744"/>
              <a:ext cx="343" cy="195"/>
            </a:xfrm>
            <a:custGeom>
              <a:avLst/>
              <a:gdLst>
                <a:gd name="T0" fmla="*/ 7275 w 186"/>
                <a:gd name="T1" fmla="*/ 349 h 172"/>
                <a:gd name="T2" fmla="*/ 7275 w 186"/>
                <a:gd name="T3" fmla="*/ 351 h 172"/>
                <a:gd name="T4" fmla="*/ 7275 w 186"/>
                <a:gd name="T5" fmla="*/ 354 h 172"/>
                <a:gd name="T6" fmla="*/ 7231 w 186"/>
                <a:gd name="T7" fmla="*/ 354 h 172"/>
                <a:gd name="T8" fmla="*/ 7231 w 186"/>
                <a:gd name="T9" fmla="*/ 356 h 172"/>
                <a:gd name="T10" fmla="*/ 7179 w 186"/>
                <a:gd name="T11" fmla="*/ 359 h 172"/>
                <a:gd name="T12" fmla="*/ 7179 w 186"/>
                <a:gd name="T13" fmla="*/ 359 h 172"/>
                <a:gd name="T14" fmla="*/ 7168 w 186"/>
                <a:gd name="T15" fmla="*/ 362 h 172"/>
                <a:gd name="T16" fmla="*/ 7168 w 186"/>
                <a:gd name="T17" fmla="*/ 362 h 172"/>
                <a:gd name="T18" fmla="*/ 7124 w 186"/>
                <a:gd name="T19" fmla="*/ 362 h 172"/>
                <a:gd name="T20" fmla="*/ 7124 w 186"/>
                <a:gd name="T21" fmla="*/ 363 h 172"/>
                <a:gd name="T22" fmla="*/ 7079 w 186"/>
                <a:gd name="T23" fmla="*/ 363 h 172"/>
                <a:gd name="T24" fmla="*/ 7043 w 186"/>
                <a:gd name="T25" fmla="*/ 363 h 172"/>
                <a:gd name="T26" fmla="*/ 149 w 186"/>
                <a:gd name="T27" fmla="*/ 363 h 172"/>
                <a:gd name="T28" fmla="*/ 125 w 186"/>
                <a:gd name="T29" fmla="*/ 363 h 172"/>
                <a:gd name="T30" fmla="*/ 125 w 186"/>
                <a:gd name="T31" fmla="*/ 363 h 172"/>
                <a:gd name="T32" fmla="*/ 125 w 186"/>
                <a:gd name="T33" fmla="*/ 362 h 172"/>
                <a:gd name="T34" fmla="*/ 81 w 186"/>
                <a:gd name="T35" fmla="*/ 362 h 172"/>
                <a:gd name="T36" fmla="*/ 81 w 186"/>
                <a:gd name="T37" fmla="*/ 362 h 172"/>
                <a:gd name="T38" fmla="*/ 44 w 186"/>
                <a:gd name="T39" fmla="*/ 359 h 172"/>
                <a:gd name="T40" fmla="*/ 44 w 186"/>
                <a:gd name="T41" fmla="*/ 359 h 172"/>
                <a:gd name="T42" fmla="*/ 0 w 186"/>
                <a:gd name="T43" fmla="*/ 359 h 172"/>
                <a:gd name="T44" fmla="*/ 0 w 186"/>
                <a:gd name="T45" fmla="*/ 356 h 172"/>
                <a:gd name="T46" fmla="*/ 0 w 186"/>
                <a:gd name="T47" fmla="*/ 354 h 172"/>
                <a:gd name="T48" fmla="*/ 0 w 186"/>
                <a:gd name="T49" fmla="*/ 354 h 172"/>
                <a:gd name="T50" fmla="*/ 0 w 186"/>
                <a:gd name="T51" fmla="*/ 351 h 172"/>
                <a:gd name="T52" fmla="*/ 0 w 186"/>
                <a:gd name="T53" fmla="*/ 349 h 172"/>
                <a:gd name="T54" fmla="*/ 0 w 186"/>
                <a:gd name="T55" fmla="*/ 11 h 172"/>
                <a:gd name="T56" fmla="*/ 0 w 186"/>
                <a:gd name="T57" fmla="*/ 10 h 172"/>
                <a:gd name="T58" fmla="*/ 0 w 186"/>
                <a:gd name="T59" fmla="*/ 3 h 172"/>
                <a:gd name="T60" fmla="*/ 0 w 186"/>
                <a:gd name="T61" fmla="*/ 3 h 172"/>
                <a:gd name="T62" fmla="*/ 0 w 186"/>
                <a:gd name="T63" fmla="*/ 2 h 172"/>
                <a:gd name="T64" fmla="*/ 0 w 186"/>
                <a:gd name="T65" fmla="*/ 2 h 172"/>
                <a:gd name="T66" fmla="*/ 44 w 186"/>
                <a:gd name="T67" fmla="*/ 1 h 172"/>
                <a:gd name="T68" fmla="*/ 44 w 186"/>
                <a:gd name="T69" fmla="*/ 1 h 172"/>
                <a:gd name="T70" fmla="*/ 81 w 186"/>
                <a:gd name="T71" fmla="*/ 1 h 172"/>
                <a:gd name="T72" fmla="*/ 81 w 186"/>
                <a:gd name="T73" fmla="*/ 0 h 172"/>
                <a:gd name="T74" fmla="*/ 81 w 186"/>
                <a:gd name="T75" fmla="*/ 0 h 172"/>
                <a:gd name="T76" fmla="*/ 125 w 186"/>
                <a:gd name="T77" fmla="*/ 0 h 172"/>
                <a:gd name="T78" fmla="*/ 125 w 186"/>
                <a:gd name="T79" fmla="*/ 0 h 172"/>
                <a:gd name="T80" fmla="*/ 149 w 186"/>
                <a:gd name="T81" fmla="*/ 0 h 172"/>
                <a:gd name="T82" fmla="*/ 7043 w 186"/>
                <a:gd name="T83" fmla="*/ 0 h 172"/>
                <a:gd name="T84" fmla="*/ 7079 w 186"/>
                <a:gd name="T85" fmla="*/ 0 h 172"/>
                <a:gd name="T86" fmla="*/ 7124 w 186"/>
                <a:gd name="T87" fmla="*/ 0 h 172"/>
                <a:gd name="T88" fmla="*/ 7124 w 186"/>
                <a:gd name="T89" fmla="*/ 0 h 172"/>
                <a:gd name="T90" fmla="*/ 7168 w 186"/>
                <a:gd name="T91" fmla="*/ 0 h 172"/>
                <a:gd name="T92" fmla="*/ 7168 w 186"/>
                <a:gd name="T93" fmla="*/ 1 h 172"/>
                <a:gd name="T94" fmla="*/ 7179 w 186"/>
                <a:gd name="T95" fmla="*/ 1 h 172"/>
                <a:gd name="T96" fmla="*/ 7179 w 186"/>
                <a:gd name="T97" fmla="*/ 1 h 172"/>
                <a:gd name="T98" fmla="*/ 7179 w 186"/>
                <a:gd name="T99" fmla="*/ 2 h 172"/>
                <a:gd name="T100" fmla="*/ 7231 w 186"/>
                <a:gd name="T101" fmla="*/ 2 h 172"/>
                <a:gd name="T102" fmla="*/ 7231 w 186"/>
                <a:gd name="T103" fmla="*/ 3 h 172"/>
                <a:gd name="T104" fmla="*/ 7275 w 186"/>
                <a:gd name="T105" fmla="*/ 3 h 172"/>
                <a:gd name="T106" fmla="*/ 7275 w 186"/>
                <a:gd name="T107" fmla="*/ 10 h 172"/>
                <a:gd name="T108" fmla="*/ 7275 w 186"/>
                <a:gd name="T109" fmla="*/ 11 h 172"/>
                <a:gd name="T110" fmla="*/ 7275 w 186"/>
                <a:gd name="T111" fmla="*/ 349 h 17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86"/>
                <a:gd name="T169" fmla="*/ 0 h 172"/>
                <a:gd name="T170" fmla="*/ 186 w 186"/>
                <a:gd name="T171" fmla="*/ 172 h 172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86" h="172">
                  <a:moveTo>
                    <a:pt x="185" y="165"/>
                  </a:moveTo>
                  <a:lnTo>
                    <a:pt x="185" y="166"/>
                  </a:lnTo>
                  <a:lnTo>
                    <a:pt x="185" y="167"/>
                  </a:lnTo>
                  <a:lnTo>
                    <a:pt x="184" y="167"/>
                  </a:lnTo>
                  <a:lnTo>
                    <a:pt x="184" y="168"/>
                  </a:lnTo>
                  <a:lnTo>
                    <a:pt x="183" y="169"/>
                  </a:lnTo>
                  <a:lnTo>
                    <a:pt x="182" y="170"/>
                  </a:lnTo>
                  <a:lnTo>
                    <a:pt x="181" y="170"/>
                  </a:lnTo>
                  <a:lnTo>
                    <a:pt x="181" y="171"/>
                  </a:lnTo>
                  <a:lnTo>
                    <a:pt x="180" y="171"/>
                  </a:lnTo>
                  <a:lnTo>
                    <a:pt x="179" y="171"/>
                  </a:lnTo>
                  <a:lnTo>
                    <a:pt x="4" y="171"/>
                  </a:lnTo>
                  <a:lnTo>
                    <a:pt x="3" y="171"/>
                  </a:lnTo>
                  <a:lnTo>
                    <a:pt x="3" y="170"/>
                  </a:lnTo>
                  <a:lnTo>
                    <a:pt x="2" y="170"/>
                  </a:lnTo>
                  <a:lnTo>
                    <a:pt x="1" y="169"/>
                  </a:lnTo>
                  <a:lnTo>
                    <a:pt x="0" y="169"/>
                  </a:lnTo>
                  <a:lnTo>
                    <a:pt x="0" y="168"/>
                  </a:lnTo>
                  <a:lnTo>
                    <a:pt x="0" y="167"/>
                  </a:lnTo>
                  <a:lnTo>
                    <a:pt x="0" y="166"/>
                  </a:lnTo>
                  <a:lnTo>
                    <a:pt x="0" y="165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2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179" y="0"/>
                  </a:lnTo>
                  <a:lnTo>
                    <a:pt x="180" y="0"/>
                  </a:lnTo>
                  <a:lnTo>
                    <a:pt x="181" y="0"/>
                  </a:lnTo>
                  <a:lnTo>
                    <a:pt x="182" y="0"/>
                  </a:lnTo>
                  <a:lnTo>
                    <a:pt x="182" y="1"/>
                  </a:lnTo>
                  <a:lnTo>
                    <a:pt x="183" y="1"/>
                  </a:lnTo>
                  <a:lnTo>
                    <a:pt x="183" y="2"/>
                  </a:lnTo>
                  <a:lnTo>
                    <a:pt x="184" y="2"/>
                  </a:lnTo>
                  <a:lnTo>
                    <a:pt x="184" y="3"/>
                  </a:lnTo>
                  <a:lnTo>
                    <a:pt x="185" y="3"/>
                  </a:lnTo>
                  <a:lnTo>
                    <a:pt x="185" y="4"/>
                  </a:lnTo>
                  <a:lnTo>
                    <a:pt x="185" y="5"/>
                  </a:lnTo>
                  <a:lnTo>
                    <a:pt x="185" y="165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25" name="Freeform 151"/>
            <p:cNvSpPr>
              <a:spLocks/>
            </p:cNvSpPr>
            <p:nvPr/>
          </p:nvSpPr>
          <p:spPr bwMode="auto">
            <a:xfrm>
              <a:off x="4637" y="2744"/>
              <a:ext cx="334" cy="193"/>
            </a:xfrm>
            <a:custGeom>
              <a:avLst/>
              <a:gdLst>
                <a:gd name="T0" fmla="*/ 7106 w 181"/>
                <a:gd name="T1" fmla="*/ 3 h 171"/>
                <a:gd name="T2" fmla="*/ 7106 w 181"/>
                <a:gd name="T3" fmla="*/ 3 h 171"/>
                <a:gd name="T4" fmla="*/ 7106 w 181"/>
                <a:gd name="T5" fmla="*/ 2 h 171"/>
                <a:gd name="T6" fmla="*/ 7062 w 181"/>
                <a:gd name="T7" fmla="*/ 2 h 171"/>
                <a:gd name="T8" fmla="*/ 7062 w 181"/>
                <a:gd name="T9" fmla="*/ 1 h 171"/>
                <a:gd name="T10" fmla="*/ 7010 w 181"/>
                <a:gd name="T11" fmla="*/ 1 h 171"/>
                <a:gd name="T12" fmla="*/ 7010 w 181"/>
                <a:gd name="T13" fmla="*/ 0 h 171"/>
                <a:gd name="T14" fmla="*/ 6994 w 181"/>
                <a:gd name="T15" fmla="*/ 0 h 171"/>
                <a:gd name="T16" fmla="*/ 6994 w 181"/>
                <a:gd name="T17" fmla="*/ 0 h 171"/>
                <a:gd name="T18" fmla="*/ 6994 w 181"/>
                <a:gd name="T19" fmla="*/ 0 h 171"/>
                <a:gd name="T20" fmla="*/ 6957 w 181"/>
                <a:gd name="T21" fmla="*/ 0 h 171"/>
                <a:gd name="T22" fmla="*/ 6957 w 181"/>
                <a:gd name="T23" fmla="*/ 0 h 171"/>
                <a:gd name="T24" fmla="*/ 125 w 181"/>
                <a:gd name="T25" fmla="*/ 0 h 171"/>
                <a:gd name="T26" fmla="*/ 125 w 181"/>
                <a:gd name="T27" fmla="*/ 0 h 171"/>
                <a:gd name="T28" fmla="*/ 81 w 181"/>
                <a:gd name="T29" fmla="*/ 0 h 171"/>
                <a:gd name="T30" fmla="*/ 81 w 181"/>
                <a:gd name="T31" fmla="*/ 0 h 171"/>
                <a:gd name="T32" fmla="*/ 44 w 181"/>
                <a:gd name="T33" fmla="*/ 0 h 171"/>
                <a:gd name="T34" fmla="*/ 44 w 181"/>
                <a:gd name="T35" fmla="*/ 0 h 171"/>
                <a:gd name="T36" fmla="*/ 44 w 181"/>
                <a:gd name="T37" fmla="*/ 1 h 171"/>
                <a:gd name="T38" fmla="*/ 0 w 181"/>
                <a:gd name="T39" fmla="*/ 1 h 171"/>
                <a:gd name="T40" fmla="*/ 0 w 181"/>
                <a:gd name="T41" fmla="*/ 1 h 171"/>
                <a:gd name="T42" fmla="*/ 0 w 181"/>
                <a:gd name="T43" fmla="*/ 2 h 171"/>
                <a:gd name="T44" fmla="*/ 0 w 181"/>
                <a:gd name="T45" fmla="*/ 3 h 171"/>
                <a:gd name="T46" fmla="*/ 0 w 181"/>
                <a:gd name="T47" fmla="*/ 3 h 171"/>
                <a:gd name="T48" fmla="*/ 0 w 181"/>
                <a:gd name="T49" fmla="*/ 343 h 171"/>
                <a:gd name="T50" fmla="*/ 0 w 181"/>
                <a:gd name="T51" fmla="*/ 343 h 171"/>
                <a:gd name="T52" fmla="*/ 0 w 181"/>
                <a:gd name="T53" fmla="*/ 344 h 171"/>
                <a:gd name="T54" fmla="*/ 0 w 181"/>
                <a:gd name="T55" fmla="*/ 348 h 171"/>
                <a:gd name="T56" fmla="*/ 0 w 181"/>
                <a:gd name="T57" fmla="*/ 348 h 171"/>
                <a:gd name="T58" fmla="*/ 44 w 181"/>
                <a:gd name="T59" fmla="*/ 348 h 171"/>
                <a:gd name="T60" fmla="*/ 44 w 181"/>
                <a:gd name="T61" fmla="*/ 350 h 171"/>
                <a:gd name="T62" fmla="*/ 81 w 181"/>
                <a:gd name="T63" fmla="*/ 350 h 171"/>
                <a:gd name="T64" fmla="*/ 81 w 181"/>
                <a:gd name="T65" fmla="*/ 350 h 171"/>
                <a:gd name="T66" fmla="*/ 125 w 181"/>
                <a:gd name="T67" fmla="*/ 353 h 171"/>
                <a:gd name="T68" fmla="*/ 125 w 181"/>
                <a:gd name="T69" fmla="*/ 353 h 171"/>
                <a:gd name="T70" fmla="*/ 6957 w 181"/>
                <a:gd name="T71" fmla="*/ 353 h 171"/>
                <a:gd name="T72" fmla="*/ 6957 w 181"/>
                <a:gd name="T73" fmla="*/ 350 h 171"/>
                <a:gd name="T74" fmla="*/ 6994 w 181"/>
                <a:gd name="T75" fmla="*/ 350 h 171"/>
                <a:gd name="T76" fmla="*/ 6994 w 181"/>
                <a:gd name="T77" fmla="*/ 350 h 171"/>
                <a:gd name="T78" fmla="*/ 7010 w 181"/>
                <a:gd name="T79" fmla="*/ 350 h 171"/>
                <a:gd name="T80" fmla="*/ 7010 w 181"/>
                <a:gd name="T81" fmla="*/ 348 h 171"/>
                <a:gd name="T82" fmla="*/ 7010 w 181"/>
                <a:gd name="T83" fmla="*/ 348 h 171"/>
                <a:gd name="T84" fmla="*/ 7062 w 181"/>
                <a:gd name="T85" fmla="*/ 348 h 171"/>
                <a:gd name="T86" fmla="*/ 7062 w 181"/>
                <a:gd name="T87" fmla="*/ 344 h 171"/>
                <a:gd name="T88" fmla="*/ 7106 w 181"/>
                <a:gd name="T89" fmla="*/ 343 h 171"/>
                <a:gd name="T90" fmla="*/ 7106 w 181"/>
                <a:gd name="T91" fmla="*/ 343 h 171"/>
                <a:gd name="T92" fmla="*/ 7106 w 181"/>
                <a:gd name="T93" fmla="*/ 3 h 17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81"/>
                <a:gd name="T142" fmla="*/ 0 h 171"/>
                <a:gd name="T143" fmla="*/ 181 w 181"/>
                <a:gd name="T144" fmla="*/ 171 h 171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81" h="171">
                  <a:moveTo>
                    <a:pt x="180" y="3"/>
                  </a:moveTo>
                  <a:lnTo>
                    <a:pt x="180" y="3"/>
                  </a:lnTo>
                  <a:lnTo>
                    <a:pt x="180" y="2"/>
                  </a:lnTo>
                  <a:lnTo>
                    <a:pt x="179" y="2"/>
                  </a:lnTo>
                  <a:lnTo>
                    <a:pt x="179" y="1"/>
                  </a:lnTo>
                  <a:lnTo>
                    <a:pt x="178" y="1"/>
                  </a:lnTo>
                  <a:lnTo>
                    <a:pt x="178" y="0"/>
                  </a:lnTo>
                  <a:lnTo>
                    <a:pt x="177" y="0"/>
                  </a:lnTo>
                  <a:lnTo>
                    <a:pt x="176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166"/>
                  </a:lnTo>
                  <a:lnTo>
                    <a:pt x="0" y="167"/>
                  </a:lnTo>
                  <a:lnTo>
                    <a:pt x="0" y="168"/>
                  </a:lnTo>
                  <a:lnTo>
                    <a:pt x="1" y="168"/>
                  </a:lnTo>
                  <a:lnTo>
                    <a:pt x="1" y="169"/>
                  </a:lnTo>
                  <a:lnTo>
                    <a:pt x="2" y="169"/>
                  </a:lnTo>
                  <a:lnTo>
                    <a:pt x="3" y="170"/>
                  </a:lnTo>
                  <a:lnTo>
                    <a:pt x="176" y="170"/>
                  </a:lnTo>
                  <a:lnTo>
                    <a:pt x="176" y="169"/>
                  </a:lnTo>
                  <a:lnTo>
                    <a:pt x="177" y="169"/>
                  </a:lnTo>
                  <a:lnTo>
                    <a:pt x="178" y="169"/>
                  </a:lnTo>
                  <a:lnTo>
                    <a:pt x="178" y="168"/>
                  </a:lnTo>
                  <a:lnTo>
                    <a:pt x="179" y="168"/>
                  </a:lnTo>
                  <a:lnTo>
                    <a:pt x="179" y="167"/>
                  </a:lnTo>
                  <a:lnTo>
                    <a:pt x="180" y="166"/>
                  </a:lnTo>
                  <a:lnTo>
                    <a:pt x="180" y="3"/>
                  </a:lnTo>
                </a:path>
              </a:pathLst>
            </a:custGeom>
            <a:solidFill>
              <a:srgbClr val="999999"/>
            </a:solidFill>
            <a:ln w="12700" cap="rnd">
              <a:solidFill>
                <a:srgbClr val="999999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26" name="Freeform 152"/>
            <p:cNvSpPr>
              <a:spLocks/>
            </p:cNvSpPr>
            <p:nvPr/>
          </p:nvSpPr>
          <p:spPr bwMode="auto">
            <a:xfrm>
              <a:off x="4638" y="2746"/>
              <a:ext cx="333" cy="189"/>
            </a:xfrm>
            <a:custGeom>
              <a:avLst/>
              <a:gdLst>
                <a:gd name="T0" fmla="*/ 7167 w 180"/>
                <a:gd name="T1" fmla="*/ 331 h 168"/>
                <a:gd name="T2" fmla="*/ 7167 w 180"/>
                <a:gd name="T3" fmla="*/ 333 h 168"/>
                <a:gd name="T4" fmla="*/ 7135 w 180"/>
                <a:gd name="T5" fmla="*/ 334 h 168"/>
                <a:gd name="T6" fmla="*/ 7135 w 180"/>
                <a:gd name="T7" fmla="*/ 334 h 168"/>
                <a:gd name="T8" fmla="*/ 7085 w 180"/>
                <a:gd name="T9" fmla="*/ 335 h 168"/>
                <a:gd name="T10" fmla="*/ 7085 w 180"/>
                <a:gd name="T11" fmla="*/ 335 h 168"/>
                <a:gd name="T12" fmla="*/ 7067 w 180"/>
                <a:gd name="T13" fmla="*/ 338 h 168"/>
                <a:gd name="T14" fmla="*/ 7067 w 180"/>
                <a:gd name="T15" fmla="*/ 338 h 168"/>
                <a:gd name="T16" fmla="*/ 81 w 180"/>
                <a:gd name="T17" fmla="*/ 338 h 168"/>
                <a:gd name="T18" fmla="*/ 81 w 180"/>
                <a:gd name="T19" fmla="*/ 338 h 168"/>
                <a:gd name="T20" fmla="*/ 44 w 180"/>
                <a:gd name="T21" fmla="*/ 338 h 168"/>
                <a:gd name="T22" fmla="*/ 44 w 180"/>
                <a:gd name="T23" fmla="*/ 335 h 168"/>
                <a:gd name="T24" fmla="*/ 44 w 180"/>
                <a:gd name="T25" fmla="*/ 335 h 168"/>
                <a:gd name="T26" fmla="*/ 0 w 180"/>
                <a:gd name="T27" fmla="*/ 335 h 168"/>
                <a:gd name="T28" fmla="*/ 0 w 180"/>
                <a:gd name="T29" fmla="*/ 334 h 168"/>
                <a:gd name="T30" fmla="*/ 0 w 180"/>
                <a:gd name="T31" fmla="*/ 334 h 168"/>
                <a:gd name="T32" fmla="*/ 0 w 180"/>
                <a:gd name="T33" fmla="*/ 334 h 168"/>
                <a:gd name="T34" fmla="*/ 0 w 180"/>
                <a:gd name="T35" fmla="*/ 333 h 168"/>
                <a:gd name="T36" fmla="*/ 0 w 180"/>
                <a:gd name="T37" fmla="*/ 331 h 168"/>
                <a:gd name="T38" fmla="*/ 0 w 180"/>
                <a:gd name="T39" fmla="*/ 3 h 168"/>
                <a:gd name="T40" fmla="*/ 0 w 180"/>
                <a:gd name="T41" fmla="*/ 2 h 168"/>
                <a:gd name="T42" fmla="*/ 0 w 180"/>
                <a:gd name="T43" fmla="*/ 1 h 168"/>
                <a:gd name="T44" fmla="*/ 0 w 180"/>
                <a:gd name="T45" fmla="*/ 1 h 168"/>
                <a:gd name="T46" fmla="*/ 0 w 180"/>
                <a:gd name="T47" fmla="*/ 1 h 168"/>
                <a:gd name="T48" fmla="*/ 44 w 180"/>
                <a:gd name="T49" fmla="*/ 0 h 168"/>
                <a:gd name="T50" fmla="*/ 44 w 180"/>
                <a:gd name="T51" fmla="*/ 0 h 168"/>
                <a:gd name="T52" fmla="*/ 81 w 180"/>
                <a:gd name="T53" fmla="*/ 0 h 168"/>
                <a:gd name="T54" fmla="*/ 81 w 180"/>
                <a:gd name="T55" fmla="*/ 0 h 168"/>
                <a:gd name="T56" fmla="*/ 7067 w 180"/>
                <a:gd name="T57" fmla="*/ 0 h 168"/>
                <a:gd name="T58" fmla="*/ 7067 w 180"/>
                <a:gd name="T59" fmla="*/ 0 h 168"/>
                <a:gd name="T60" fmla="*/ 7067 w 180"/>
                <a:gd name="T61" fmla="*/ 0 h 168"/>
                <a:gd name="T62" fmla="*/ 7085 w 180"/>
                <a:gd name="T63" fmla="*/ 0 h 168"/>
                <a:gd name="T64" fmla="*/ 7085 w 180"/>
                <a:gd name="T65" fmla="*/ 0 h 168"/>
                <a:gd name="T66" fmla="*/ 7085 w 180"/>
                <a:gd name="T67" fmla="*/ 1 h 168"/>
                <a:gd name="T68" fmla="*/ 7135 w 180"/>
                <a:gd name="T69" fmla="*/ 1 h 168"/>
                <a:gd name="T70" fmla="*/ 7135 w 180"/>
                <a:gd name="T71" fmla="*/ 1 h 168"/>
                <a:gd name="T72" fmla="*/ 7167 w 180"/>
                <a:gd name="T73" fmla="*/ 2 h 168"/>
                <a:gd name="T74" fmla="*/ 7167 w 180"/>
                <a:gd name="T75" fmla="*/ 3 h 168"/>
                <a:gd name="T76" fmla="*/ 7167 w 180"/>
                <a:gd name="T77" fmla="*/ 331 h 168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180"/>
                <a:gd name="T118" fmla="*/ 0 h 168"/>
                <a:gd name="T119" fmla="*/ 180 w 180"/>
                <a:gd name="T120" fmla="*/ 168 h 168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180" h="168">
                  <a:moveTo>
                    <a:pt x="179" y="163"/>
                  </a:moveTo>
                  <a:lnTo>
                    <a:pt x="179" y="164"/>
                  </a:lnTo>
                  <a:lnTo>
                    <a:pt x="178" y="165"/>
                  </a:lnTo>
                  <a:lnTo>
                    <a:pt x="177" y="166"/>
                  </a:lnTo>
                  <a:lnTo>
                    <a:pt x="176" y="167"/>
                  </a:lnTo>
                  <a:lnTo>
                    <a:pt x="2" y="167"/>
                  </a:lnTo>
                  <a:lnTo>
                    <a:pt x="1" y="167"/>
                  </a:lnTo>
                  <a:lnTo>
                    <a:pt x="1" y="166"/>
                  </a:lnTo>
                  <a:lnTo>
                    <a:pt x="0" y="166"/>
                  </a:lnTo>
                  <a:lnTo>
                    <a:pt x="0" y="165"/>
                  </a:lnTo>
                  <a:lnTo>
                    <a:pt x="0" y="164"/>
                  </a:lnTo>
                  <a:lnTo>
                    <a:pt x="0" y="163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1"/>
                  </a:lnTo>
                  <a:lnTo>
                    <a:pt x="1" y="0"/>
                  </a:lnTo>
                  <a:lnTo>
                    <a:pt x="2" y="0"/>
                  </a:lnTo>
                  <a:lnTo>
                    <a:pt x="176" y="0"/>
                  </a:lnTo>
                  <a:lnTo>
                    <a:pt x="177" y="0"/>
                  </a:lnTo>
                  <a:lnTo>
                    <a:pt x="177" y="1"/>
                  </a:lnTo>
                  <a:lnTo>
                    <a:pt x="178" y="1"/>
                  </a:lnTo>
                  <a:lnTo>
                    <a:pt x="179" y="2"/>
                  </a:lnTo>
                  <a:lnTo>
                    <a:pt x="179" y="3"/>
                  </a:lnTo>
                  <a:lnTo>
                    <a:pt x="179" y="163"/>
                  </a:lnTo>
                </a:path>
              </a:pathLst>
            </a:custGeom>
            <a:solidFill>
              <a:srgbClr val="EFEFD1"/>
            </a:solidFill>
            <a:ln w="12700" cap="rnd">
              <a:solidFill>
                <a:srgbClr val="6666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27" name="Freeform 153"/>
            <p:cNvSpPr>
              <a:spLocks/>
            </p:cNvSpPr>
            <p:nvPr/>
          </p:nvSpPr>
          <p:spPr bwMode="auto">
            <a:xfrm>
              <a:off x="4673" y="2770"/>
              <a:ext cx="262" cy="140"/>
            </a:xfrm>
            <a:custGeom>
              <a:avLst/>
              <a:gdLst>
                <a:gd name="T0" fmla="*/ 0 w 142"/>
                <a:gd name="T1" fmla="*/ 1 h 124"/>
                <a:gd name="T2" fmla="*/ 44 w 142"/>
                <a:gd name="T3" fmla="*/ 1 h 124"/>
                <a:gd name="T4" fmla="*/ 44 w 142"/>
                <a:gd name="T5" fmla="*/ 1 h 124"/>
                <a:gd name="T6" fmla="*/ 81 w 142"/>
                <a:gd name="T7" fmla="*/ 0 h 124"/>
                <a:gd name="T8" fmla="*/ 81 w 142"/>
                <a:gd name="T9" fmla="*/ 0 h 124"/>
                <a:gd name="T10" fmla="*/ 125 w 142"/>
                <a:gd name="T11" fmla="*/ 0 h 124"/>
                <a:gd name="T12" fmla="*/ 125 w 142"/>
                <a:gd name="T13" fmla="*/ 0 h 124"/>
                <a:gd name="T14" fmla="*/ 149 w 142"/>
                <a:gd name="T15" fmla="*/ 0 h 124"/>
                <a:gd name="T16" fmla="*/ 5321 w 142"/>
                <a:gd name="T17" fmla="*/ 0 h 124"/>
                <a:gd name="T18" fmla="*/ 5365 w 142"/>
                <a:gd name="T19" fmla="*/ 0 h 124"/>
                <a:gd name="T20" fmla="*/ 5413 w 142"/>
                <a:gd name="T21" fmla="*/ 0 h 124"/>
                <a:gd name="T22" fmla="*/ 5413 w 142"/>
                <a:gd name="T23" fmla="*/ 0 h 124"/>
                <a:gd name="T24" fmla="*/ 5447 w 142"/>
                <a:gd name="T25" fmla="*/ 0 h 124"/>
                <a:gd name="T26" fmla="*/ 5447 w 142"/>
                <a:gd name="T27" fmla="*/ 1 h 124"/>
                <a:gd name="T28" fmla="*/ 5471 w 142"/>
                <a:gd name="T29" fmla="*/ 1 h 124"/>
                <a:gd name="T30" fmla="*/ 5471 w 142"/>
                <a:gd name="T31" fmla="*/ 1 h 124"/>
                <a:gd name="T32" fmla="*/ 5515 w 142"/>
                <a:gd name="T33" fmla="*/ 2 h 124"/>
                <a:gd name="T34" fmla="*/ 5515 w 142"/>
                <a:gd name="T35" fmla="*/ 3 h 124"/>
                <a:gd name="T36" fmla="*/ 5567 w 142"/>
                <a:gd name="T37" fmla="*/ 3 h 124"/>
                <a:gd name="T38" fmla="*/ 5567 w 142"/>
                <a:gd name="T39" fmla="*/ 10 h 124"/>
                <a:gd name="T40" fmla="*/ 5567 w 142"/>
                <a:gd name="T41" fmla="*/ 11 h 124"/>
                <a:gd name="T42" fmla="*/ 5567 w 142"/>
                <a:gd name="T43" fmla="*/ 243 h 124"/>
                <a:gd name="T44" fmla="*/ 5567 w 142"/>
                <a:gd name="T45" fmla="*/ 245 h 124"/>
                <a:gd name="T46" fmla="*/ 5515 w 142"/>
                <a:gd name="T47" fmla="*/ 245 h 124"/>
                <a:gd name="T48" fmla="*/ 5515 w 142"/>
                <a:gd name="T49" fmla="*/ 247 h 124"/>
                <a:gd name="T50" fmla="*/ 5471 w 142"/>
                <a:gd name="T51" fmla="*/ 253 h 124"/>
                <a:gd name="T52" fmla="*/ 5471 w 142"/>
                <a:gd name="T53" fmla="*/ 253 h 124"/>
                <a:gd name="T54" fmla="*/ 5447 w 142"/>
                <a:gd name="T55" fmla="*/ 254 h 124"/>
                <a:gd name="T56" fmla="*/ 5447 w 142"/>
                <a:gd name="T57" fmla="*/ 254 h 124"/>
                <a:gd name="T58" fmla="*/ 5413 w 142"/>
                <a:gd name="T59" fmla="*/ 254 h 124"/>
                <a:gd name="T60" fmla="*/ 5413 w 142"/>
                <a:gd name="T61" fmla="*/ 255 h 124"/>
                <a:gd name="T62" fmla="*/ 5365 w 142"/>
                <a:gd name="T63" fmla="*/ 255 h 124"/>
                <a:gd name="T64" fmla="*/ 5321 w 142"/>
                <a:gd name="T65" fmla="*/ 255 h 124"/>
                <a:gd name="T66" fmla="*/ 149 w 142"/>
                <a:gd name="T67" fmla="*/ 255 h 124"/>
                <a:gd name="T68" fmla="*/ 125 w 142"/>
                <a:gd name="T69" fmla="*/ 255 h 124"/>
                <a:gd name="T70" fmla="*/ 125 w 142"/>
                <a:gd name="T71" fmla="*/ 255 h 124"/>
                <a:gd name="T72" fmla="*/ 81 w 142"/>
                <a:gd name="T73" fmla="*/ 254 h 124"/>
                <a:gd name="T74" fmla="*/ 81 w 142"/>
                <a:gd name="T75" fmla="*/ 254 h 124"/>
                <a:gd name="T76" fmla="*/ 44 w 142"/>
                <a:gd name="T77" fmla="*/ 254 h 124"/>
                <a:gd name="T78" fmla="*/ 44 w 142"/>
                <a:gd name="T79" fmla="*/ 253 h 124"/>
                <a:gd name="T80" fmla="*/ 0 w 142"/>
                <a:gd name="T81" fmla="*/ 253 h 124"/>
                <a:gd name="T82" fmla="*/ 0 w 142"/>
                <a:gd name="T83" fmla="*/ 247 h 124"/>
                <a:gd name="T84" fmla="*/ 0 w 142"/>
                <a:gd name="T85" fmla="*/ 245 h 124"/>
                <a:gd name="T86" fmla="*/ 0 w 142"/>
                <a:gd name="T87" fmla="*/ 245 h 124"/>
                <a:gd name="T88" fmla="*/ 0 w 142"/>
                <a:gd name="T89" fmla="*/ 243 h 124"/>
                <a:gd name="T90" fmla="*/ 0 w 142"/>
                <a:gd name="T91" fmla="*/ 11 h 124"/>
                <a:gd name="T92" fmla="*/ 0 w 142"/>
                <a:gd name="T93" fmla="*/ 10 h 124"/>
                <a:gd name="T94" fmla="*/ 0 w 142"/>
                <a:gd name="T95" fmla="*/ 3 h 124"/>
                <a:gd name="T96" fmla="*/ 0 w 142"/>
                <a:gd name="T97" fmla="*/ 3 h 124"/>
                <a:gd name="T98" fmla="*/ 0 w 142"/>
                <a:gd name="T99" fmla="*/ 2 h 124"/>
                <a:gd name="T100" fmla="*/ 0 w 142"/>
                <a:gd name="T101" fmla="*/ 1 h 12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42"/>
                <a:gd name="T154" fmla="*/ 0 h 124"/>
                <a:gd name="T155" fmla="*/ 142 w 142"/>
                <a:gd name="T156" fmla="*/ 124 h 124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42" h="124">
                  <a:moveTo>
                    <a:pt x="0" y="1"/>
                  </a:moveTo>
                  <a:lnTo>
                    <a:pt x="1" y="1"/>
                  </a:lnTo>
                  <a:lnTo>
                    <a:pt x="2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135" y="0"/>
                  </a:lnTo>
                  <a:lnTo>
                    <a:pt x="136" y="0"/>
                  </a:lnTo>
                  <a:lnTo>
                    <a:pt x="137" y="0"/>
                  </a:lnTo>
                  <a:lnTo>
                    <a:pt x="138" y="0"/>
                  </a:lnTo>
                  <a:lnTo>
                    <a:pt x="138" y="1"/>
                  </a:lnTo>
                  <a:lnTo>
                    <a:pt x="139" y="1"/>
                  </a:lnTo>
                  <a:lnTo>
                    <a:pt x="140" y="2"/>
                  </a:lnTo>
                  <a:lnTo>
                    <a:pt x="140" y="3"/>
                  </a:lnTo>
                  <a:lnTo>
                    <a:pt x="141" y="3"/>
                  </a:lnTo>
                  <a:lnTo>
                    <a:pt x="141" y="4"/>
                  </a:lnTo>
                  <a:lnTo>
                    <a:pt x="141" y="5"/>
                  </a:lnTo>
                  <a:lnTo>
                    <a:pt x="141" y="117"/>
                  </a:lnTo>
                  <a:lnTo>
                    <a:pt x="141" y="119"/>
                  </a:lnTo>
                  <a:lnTo>
                    <a:pt x="140" y="119"/>
                  </a:lnTo>
                  <a:lnTo>
                    <a:pt x="140" y="120"/>
                  </a:lnTo>
                  <a:lnTo>
                    <a:pt x="139" y="121"/>
                  </a:lnTo>
                  <a:lnTo>
                    <a:pt x="138" y="122"/>
                  </a:lnTo>
                  <a:lnTo>
                    <a:pt x="137" y="122"/>
                  </a:lnTo>
                  <a:lnTo>
                    <a:pt x="137" y="123"/>
                  </a:lnTo>
                  <a:lnTo>
                    <a:pt x="136" y="123"/>
                  </a:lnTo>
                  <a:lnTo>
                    <a:pt x="135" y="123"/>
                  </a:lnTo>
                  <a:lnTo>
                    <a:pt x="4" y="123"/>
                  </a:lnTo>
                  <a:lnTo>
                    <a:pt x="3" y="123"/>
                  </a:lnTo>
                  <a:lnTo>
                    <a:pt x="2" y="122"/>
                  </a:lnTo>
                  <a:lnTo>
                    <a:pt x="1" y="122"/>
                  </a:lnTo>
                  <a:lnTo>
                    <a:pt x="1" y="121"/>
                  </a:lnTo>
                  <a:lnTo>
                    <a:pt x="0" y="121"/>
                  </a:lnTo>
                  <a:lnTo>
                    <a:pt x="0" y="120"/>
                  </a:lnTo>
                  <a:lnTo>
                    <a:pt x="0" y="119"/>
                  </a:lnTo>
                  <a:lnTo>
                    <a:pt x="0" y="117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1"/>
                  </a:lnTo>
                </a:path>
              </a:pathLst>
            </a:custGeom>
            <a:gradFill rotWithShape="0">
              <a:gsLst>
                <a:gs pos="0">
                  <a:srgbClr val="1D2B4B"/>
                </a:gs>
                <a:gs pos="50000">
                  <a:srgbClr val="618FFD"/>
                </a:gs>
                <a:gs pos="100000">
                  <a:srgbClr val="1D2B4B"/>
                </a:gs>
              </a:gsLst>
              <a:lin ang="2700000" scaled="1"/>
            </a:gra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28" name="Freeform 154"/>
            <p:cNvSpPr>
              <a:spLocks/>
            </p:cNvSpPr>
            <p:nvPr/>
          </p:nvSpPr>
          <p:spPr bwMode="auto">
            <a:xfrm>
              <a:off x="4664" y="2764"/>
              <a:ext cx="282" cy="18"/>
            </a:xfrm>
            <a:custGeom>
              <a:avLst/>
              <a:gdLst>
                <a:gd name="T0" fmla="*/ 5955 w 153"/>
                <a:gd name="T1" fmla="*/ 4 h 17"/>
                <a:gd name="T2" fmla="*/ 5911 w 153"/>
                <a:gd name="T3" fmla="*/ 3 h 17"/>
                <a:gd name="T4" fmla="*/ 5911 w 153"/>
                <a:gd name="T5" fmla="*/ 2 h 17"/>
                <a:gd name="T6" fmla="*/ 5874 w 153"/>
                <a:gd name="T7" fmla="*/ 2 h 17"/>
                <a:gd name="T8" fmla="*/ 5874 w 153"/>
                <a:gd name="T9" fmla="*/ 2 h 17"/>
                <a:gd name="T10" fmla="*/ 5874 w 153"/>
                <a:gd name="T11" fmla="*/ 1 h 17"/>
                <a:gd name="T12" fmla="*/ 5846 w 153"/>
                <a:gd name="T13" fmla="*/ 1 h 17"/>
                <a:gd name="T14" fmla="*/ 5846 w 153"/>
                <a:gd name="T15" fmla="*/ 1 h 17"/>
                <a:gd name="T16" fmla="*/ 5806 w 153"/>
                <a:gd name="T17" fmla="*/ 0 h 17"/>
                <a:gd name="T18" fmla="*/ 5806 w 153"/>
                <a:gd name="T19" fmla="*/ 0 h 17"/>
                <a:gd name="T20" fmla="*/ 5762 w 153"/>
                <a:gd name="T21" fmla="*/ 0 h 17"/>
                <a:gd name="T22" fmla="*/ 5725 w 153"/>
                <a:gd name="T23" fmla="*/ 0 h 17"/>
                <a:gd name="T24" fmla="*/ 125 w 153"/>
                <a:gd name="T25" fmla="*/ 0 h 17"/>
                <a:gd name="T26" fmla="*/ 125 w 153"/>
                <a:gd name="T27" fmla="*/ 0 h 17"/>
                <a:gd name="T28" fmla="*/ 81 w 153"/>
                <a:gd name="T29" fmla="*/ 0 h 17"/>
                <a:gd name="T30" fmla="*/ 44 w 153"/>
                <a:gd name="T31" fmla="*/ 1 h 17"/>
                <a:gd name="T32" fmla="*/ 44 w 153"/>
                <a:gd name="T33" fmla="*/ 1 h 17"/>
                <a:gd name="T34" fmla="*/ 0 w 153"/>
                <a:gd name="T35" fmla="*/ 2 h 17"/>
                <a:gd name="T36" fmla="*/ 0 w 153"/>
                <a:gd name="T37" fmla="*/ 2 h 17"/>
                <a:gd name="T38" fmla="*/ 0 w 153"/>
                <a:gd name="T39" fmla="*/ 3 h 17"/>
                <a:gd name="T40" fmla="*/ 230 w 153"/>
                <a:gd name="T41" fmla="*/ 22 h 17"/>
                <a:gd name="T42" fmla="*/ 275 w 153"/>
                <a:gd name="T43" fmla="*/ 20 h 17"/>
                <a:gd name="T44" fmla="*/ 275 w 153"/>
                <a:gd name="T45" fmla="*/ 20 h 17"/>
                <a:gd name="T46" fmla="*/ 326 w 153"/>
                <a:gd name="T47" fmla="*/ 19 h 17"/>
                <a:gd name="T48" fmla="*/ 326 w 153"/>
                <a:gd name="T49" fmla="*/ 19 h 17"/>
                <a:gd name="T50" fmla="*/ 326 w 153"/>
                <a:gd name="T51" fmla="*/ 18 h 17"/>
                <a:gd name="T52" fmla="*/ 358 w 153"/>
                <a:gd name="T53" fmla="*/ 18 h 17"/>
                <a:gd name="T54" fmla="*/ 380 w 153"/>
                <a:gd name="T55" fmla="*/ 18 h 17"/>
                <a:gd name="T56" fmla="*/ 5491 w 153"/>
                <a:gd name="T57" fmla="*/ 18 h 17"/>
                <a:gd name="T58" fmla="*/ 5528 w 153"/>
                <a:gd name="T59" fmla="*/ 18 h 17"/>
                <a:gd name="T60" fmla="*/ 5572 w 153"/>
                <a:gd name="T61" fmla="*/ 18 h 17"/>
                <a:gd name="T62" fmla="*/ 5572 w 153"/>
                <a:gd name="T63" fmla="*/ 19 h 17"/>
                <a:gd name="T64" fmla="*/ 5622 w 153"/>
                <a:gd name="T65" fmla="*/ 19 h 17"/>
                <a:gd name="T66" fmla="*/ 5622 w 153"/>
                <a:gd name="T67" fmla="*/ 20 h 17"/>
                <a:gd name="T68" fmla="*/ 5622 w 153"/>
                <a:gd name="T69" fmla="*/ 20 h 17"/>
                <a:gd name="T70" fmla="*/ 5629 w 153"/>
                <a:gd name="T71" fmla="*/ 20 h 17"/>
                <a:gd name="T72" fmla="*/ 5955 w 153"/>
                <a:gd name="T73" fmla="*/ 4 h 1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53"/>
                <a:gd name="T112" fmla="*/ 0 h 17"/>
                <a:gd name="T113" fmla="*/ 153 w 153"/>
                <a:gd name="T114" fmla="*/ 17 h 17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53" h="17">
                  <a:moveTo>
                    <a:pt x="152" y="4"/>
                  </a:moveTo>
                  <a:lnTo>
                    <a:pt x="151" y="3"/>
                  </a:lnTo>
                  <a:lnTo>
                    <a:pt x="151" y="2"/>
                  </a:lnTo>
                  <a:lnTo>
                    <a:pt x="150" y="2"/>
                  </a:lnTo>
                  <a:lnTo>
                    <a:pt x="150" y="1"/>
                  </a:lnTo>
                  <a:lnTo>
                    <a:pt x="149" y="1"/>
                  </a:lnTo>
                  <a:lnTo>
                    <a:pt x="148" y="0"/>
                  </a:lnTo>
                  <a:lnTo>
                    <a:pt x="147" y="0"/>
                  </a:lnTo>
                  <a:lnTo>
                    <a:pt x="146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6" y="16"/>
                  </a:lnTo>
                  <a:lnTo>
                    <a:pt x="7" y="14"/>
                  </a:lnTo>
                  <a:lnTo>
                    <a:pt x="8" y="13"/>
                  </a:lnTo>
                  <a:lnTo>
                    <a:pt x="8" y="12"/>
                  </a:lnTo>
                  <a:lnTo>
                    <a:pt x="9" y="12"/>
                  </a:lnTo>
                  <a:lnTo>
                    <a:pt x="10" y="12"/>
                  </a:lnTo>
                  <a:lnTo>
                    <a:pt x="140" y="12"/>
                  </a:lnTo>
                  <a:lnTo>
                    <a:pt x="141" y="12"/>
                  </a:lnTo>
                  <a:lnTo>
                    <a:pt x="142" y="12"/>
                  </a:lnTo>
                  <a:lnTo>
                    <a:pt x="142" y="13"/>
                  </a:lnTo>
                  <a:lnTo>
                    <a:pt x="143" y="13"/>
                  </a:lnTo>
                  <a:lnTo>
                    <a:pt x="143" y="14"/>
                  </a:lnTo>
                  <a:lnTo>
                    <a:pt x="144" y="14"/>
                  </a:lnTo>
                  <a:lnTo>
                    <a:pt x="152" y="4"/>
                  </a:lnTo>
                </a:path>
              </a:pathLst>
            </a:custGeom>
            <a:solidFill>
              <a:srgbClr val="9F9FA2"/>
            </a:solidFill>
            <a:ln w="12700" cap="rnd">
              <a:solidFill>
                <a:srgbClr val="9F9FA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29" name="Freeform 155"/>
            <p:cNvSpPr>
              <a:spLocks/>
            </p:cNvSpPr>
            <p:nvPr/>
          </p:nvSpPr>
          <p:spPr bwMode="auto">
            <a:xfrm>
              <a:off x="4660" y="2765"/>
              <a:ext cx="32" cy="152"/>
            </a:xfrm>
            <a:custGeom>
              <a:avLst/>
              <a:gdLst>
                <a:gd name="T0" fmla="*/ 100 w 17"/>
                <a:gd name="T1" fmla="*/ 0 h 135"/>
                <a:gd name="T2" fmla="*/ 53 w 17"/>
                <a:gd name="T3" fmla="*/ 0 h 135"/>
                <a:gd name="T4" fmla="*/ 0 w 17"/>
                <a:gd name="T5" fmla="*/ 1 h 135"/>
                <a:gd name="T6" fmla="*/ 0 w 17"/>
                <a:gd name="T7" fmla="*/ 2 h 135"/>
                <a:gd name="T8" fmla="*/ 0 w 17"/>
                <a:gd name="T9" fmla="*/ 2 h 135"/>
                <a:gd name="T10" fmla="*/ 0 w 17"/>
                <a:gd name="T11" fmla="*/ 3 h 135"/>
                <a:gd name="T12" fmla="*/ 0 w 17"/>
                <a:gd name="T13" fmla="*/ 10 h 135"/>
                <a:gd name="T14" fmla="*/ 0 w 17"/>
                <a:gd name="T15" fmla="*/ 263 h 135"/>
                <a:gd name="T16" fmla="*/ 0 w 17"/>
                <a:gd name="T17" fmla="*/ 263 h 135"/>
                <a:gd name="T18" fmla="*/ 0 w 17"/>
                <a:gd name="T19" fmla="*/ 268 h 135"/>
                <a:gd name="T20" fmla="*/ 0 w 17"/>
                <a:gd name="T21" fmla="*/ 270 h 135"/>
                <a:gd name="T22" fmla="*/ 0 w 17"/>
                <a:gd name="T23" fmla="*/ 270 h 135"/>
                <a:gd name="T24" fmla="*/ 53 w 17"/>
                <a:gd name="T25" fmla="*/ 271 h 135"/>
                <a:gd name="T26" fmla="*/ 100 w 17"/>
                <a:gd name="T27" fmla="*/ 271 h 135"/>
                <a:gd name="T28" fmla="*/ 100 w 17"/>
                <a:gd name="T29" fmla="*/ 272 h 135"/>
                <a:gd name="T30" fmla="*/ 141 w 17"/>
                <a:gd name="T31" fmla="*/ 272 h 135"/>
                <a:gd name="T32" fmla="*/ 702 w 17"/>
                <a:gd name="T33" fmla="*/ 259 h 135"/>
                <a:gd name="T34" fmla="*/ 666 w 17"/>
                <a:gd name="T35" fmla="*/ 258 h 135"/>
                <a:gd name="T36" fmla="*/ 666 w 17"/>
                <a:gd name="T37" fmla="*/ 258 h 135"/>
                <a:gd name="T38" fmla="*/ 614 w 17"/>
                <a:gd name="T39" fmla="*/ 258 h 135"/>
                <a:gd name="T40" fmla="*/ 614 w 17"/>
                <a:gd name="T41" fmla="*/ 256 h 135"/>
                <a:gd name="T42" fmla="*/ 567 w 17"/>
                <a:gd name="T43" fmla="*/ 253 h 135"/>
                <a:gd name="T44" fmla="*/ 567 w 17"/>
                <a:gd name="T45" fmla="*/ 253 h 135"/>
                <a:gd name="T46" fmla="*/ 567 w 17"/>
                <a:gd name="T47" fmla="*/ 20 h 135"/>
                <a:gd name="T48" fmla="*/ 567 w 17"/>
                <a:gd name="T49" fmla="*/ 18 h 135"/>
                <a:gd name="T50" fmla="*/ 567 w 17"/>
                <a:gd name="T51" fmla="*/ 16 h 135"/>
                <a:gd name="T52" fmla="*/ 614 w 17"/>
                <a:gd name="T53" fmla="*/ 16 h 135"/>
                <a:gd name="T54" fmla="*/ 666 w 17"/>
                <a:gd name="T55" fmla="*/ 14 h 135"/>
                <a:gd name="T56" fmla="*/ 666 w 17"/>
                <a:gd name="T57" fmla="*/ 12 h 135"/>
                <a:gd name="T58" fmla="*/ 100 w 17"/>
                <a:gd name="T59" fmla="*/ 0 h 135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17"/>
                <a:gd name="T91" fmla="*/ 0 h 135"/>
                <a:gd name="T92" fmla="*/ 17 w 17"/>
                <a:gd name="T93" fmla="*/ 135 h 135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17" h="135">
                  <a:moveTo>
                    <a:pt x="2" y="0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130"/>
                  </a:lnTo>
                  <a:lnTo>
                    <a:pt x="0" y="131"/>
                  </a:lnTo>
                  <a:lnTo>
                    <a:pt x="0" y="132"/>
                  </a:lnTo>
                  <a:lnTo>
                    <a:pt x="1" y="133"/>
                  </a:lnTo>
                  <a:lnTo>
                    <a:pt x="2" y="133"/>
                  </a:lnTo>
                  <a:lnTo>
                    <a:pt x="2" y="134"/>
                  </a:lnTo>
                  <a:lnTo>
                    <a:pt x="3" y="134"/>
                  </a:lnTo>
                  <a:lnTo>
                    <a:pt x="16" y="127"/>
                  </a:lnTo>
                  <a:lnTo>
                    <a:pt x="15" y="126"/>
                  </a:lnTo>
                  <a:lnTo>
                    <a:pt x="14" y="126"/>
                  </a:lnTo>
                  <a:lnTo>
                    <a:pt x="14" y="125"/>
                  </a:lnTo>
                  <a:lnTo>
                    <a:pt x="13" y="124"/>
                  </a:lnTo>
                  <a:lnTo>
                    <a:pt x="13" y="10"/>
                  </a:lnTo>
                  <a:lnTo>
                    <a:pt x="13" y="9"/>
                  </a:lnTo>
                  <a:lnTo>
                    <a:pt x="13" y="8"/>
                  </a:lnTo>
                  <a:lnTo>
                    <a:pt x="14" y="8"/>
                  </a:lnTo>
                  <a:lnTo>
                    <a:pt x="15" y="7"/>
                  </a:lnTo>
                  <a:lnTo>
                    <a:pt x="15" y="6"/>
                  </a:lnTo>
                  <a:lnTo>
                    <a:pt x="2" y="0"/>
                  </a:lnTo>
                </a:path>
              </a:pathLst>
            </a:custGeom>
            <a:solidFill>
              <a:srgbClr val="666666"/>
            </a:solidFill>
            <a:ln w="12700" cap="rnd">
              <a:solidFill>
                <a:srgbClr val="6666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30" name="Freeform 156"/>
            <p:cNvSpPr>
              <a:spLocks/>
            </p:cNvSpPr>
            <p:nvPr/>
          </p:nvSpPr>
          <p:spPr bwMode="auto">
            <a:xfrm>
              <a:off x="4664" y="2766"/>
              <a:ext cx="286" cy="153"/>
            </a:xfrm>
            <a:custGeom>
              <a:avLst/>
              <a:gdLst>
                <a:gd name="T0" fmla="*/ 0 w 155"/>
                <a:gd name="T1" fmla="*/ 271 h 136"/>
                <a:gd name="T2" fmla="*/ 0 w 155"/>
                <a:gd name="T3" fmla="*/ 272 h 136"/>
                <a:gd name="T4" fmla="*/ 0 w 155"/>
                <a:gd name="T5" fmla="*/ 272 h 136"/>
                <a:gd name="T6" fmla="*/ 44 w 155"/>
                <a:gd name="T7" fmla="*/ 272 h 136"/>
                <a:gd name="T8" fmla="*/ 44 w 155"/>
                <a:gd name="T9" fmla="*/ 272 h 136"/>
                <a:gd name="T10" fmla="*/ 81 w 155"/>
                <a:gd name="T11" fmla="*/ 273 h 136"/>
                <a:gd name="T12" fmla="*/ 81 w 155"/>
                <a:gd name="T13" fmla="*/ 273 h 136"/>
                <a:gd name="T14" fmla="*/ 125 w 155"/>
                <a:gd name="T15" fmla="*/ 273 h 136"/>
                <a:gd name="T16" fmla="*/ 5842 w 155"/>
                <a:gd name="T17" fmla="*/ 273 h 136"/>
                <a:gd name="T18" fmla="*/ 5925 w 155"/>
                <a:gd name="T19" fmla="*/ 272 h 136"/>
                <a:gd name="T20" fmla="*/ 5969 w 155"/>
                <a:gd name="T21" fmla="*/ 272 h 136"/>
                <a:gd name="T22" fmla="*/ 5969 w 155"/>
                <a:gd name="T23" fmla="*/ 271 h 136"/>
                <a:gd name="T24" fmla="*/ 5991 w 155"/>
                <a:gd name="T25" fmla="*/ 271 h 136"/>
                <a:gd name="T26" fmla="*/ 5991 w 155"/>
                <a:gd name="T27" fmla="*/ 271 h 136"/>
                <a:gd name="T28" fmla="*/ 6026 w 155"/>
                <a:gd name="T29" fmla="*/ 270 h 136"/>
                <a:gd name="T30" fmla="*/ 6026 w 155"/>
                <a:gd name="T31" fmla="*/ 264 h 136"/>
                <a:gd name="T32" fmla="*/ 6074 w 155"/>
                <a:gd name="T33" fmla="*/ 264 h 136"/>
                <a:gd name="T34" fmla="*/ 6074 w 155"/>
                <a:gd name="T35" fmla="*/ 261 h 136"/>
                <a:gd name="T36" fmla="*/ 6074 w 155"/>
                <a:gd name="T37" fmla="*/ 261 h 136"/>
                <a:gd name="T38" fmla="*/ 6074 w 155"/>
                <a:gd name="T39" fmla="*/ 3 h 136"/>
                <a:gd name="T40" fmla="*/ 6074 w 155"/>
                <a:gd name="T41" fmla="*/ 2 h 136"/>
                <a:gd name="T42" fmla="*/ 6074 w 155"/>
                <a:gd name="T43" fmla="*/ 1 h 136"/>
                <a:gd name="T44" fmla="*/ 6074 w 155"/>
                <a:gd name="T45" fmla="*/ 1 h 136"/>
                <a:gd name="T46" fmla="*/ 6026 w 155"/>
                <a:gd name="T47" fmla="*/ 1 h 136"/>
                <a:gd name="T48" fmla="*/ 6026 w 155"/>
                <a:gd name="T49" fmla="*/ 0 h 136"/>
                <a:gd name="T50" fmla="*/ 6026 w 155"/>
                <a:gd name="T51" fmla="*/ 0 h 136"/>
                <a:gd name="T52" fmla="*/ 5737 w 155"/>
                <a:gd name="T53" fmla="*/ 11 h 136"/>
                <a:gd name="T54" fmla="*/ 5737 w 155"/>
                <a:gd name="T55" fmla="*/ 11 h 136"/>
                <a:gd name="T56" fmla="*/ 5748 w 155"/>
                <a:gd name="T57" fmla="*/ 12 h 136"/>
                <a:gd name="T58" fmla="*/ 5748 w 155"/>
                <a:gd name="T59" fmla="*/ 13 h 136"/>
                <a:gd name="T60" fmla="*/ 5748 w 155"/>
                <a:gd name="T61" fmla="*/ 13 h 136"/>
                <a:gd name="T62" fmla="*/ 5748 w 155"/>
                <a:gd name="T63" fmla="*/ 13 h 136"/>
                <a:gd name="T64" fmla="*/ 5748 w 155"/>
                <a:gd name="T65" fmla="*/ 15 h 136"/>
                <a:gd name="T66" fmla="*/ 5748 w 155"/>
                <a:gd name="T67" fmla="*/ 17 h 136"/>
                <a:gd name="T68" fmla="*/ 5748 w 155"/>
                <a:gd name="T69" fmla="*/ 17 h 136"/>
                <a:gd name="T70" fmla="*/ 5748 w 155"/>
                <a:gd name="T71" fmla="*/ 247 h 136"/>
                <a:gd name="T72" fmla="*/ 5748 w 155"/>
                <a:gd name="T73" fmla="*/ 247 h 136"/>
                <a:gd name="T74" fmla="*/ 5748 w 155"/>
                <a:gd name="T75" fmla="*/ 252 h 136"/>
                <a:gd name="T76" fmla="*/ 5748 w 155"/>
                <a:gd name="T77" fmla="*/ 254 h 136"/>
                <a:gd name="T78" fmla="*/ 5748 w 155"/>
                <a:gd name="T79" fmla="*/ 254 h 136"/>
                <a:gd name="T80" fmla="*/ 5737 w 155"/>
                <a:gd name="T81" fmla="*/ 255 h 136"/>
                <a:gd name="T82" fmla="*/ 5737 w 155"/>
                <a:gd name="T83" fmla="*/ 258 h 136"/>
                <a:gd name="T84" fmla="*/ 5692 w 155"/>
                <a:gd name="T85" fmla="*/ 258 h 136"/>
                <a:gd name="T86" fmla="*/ 5648 w 155"/>
                <a:gd name="T87" fmla="*/ 258 h 136"/>
                <a:gd name="T88" fmla="*/ 5648 w 155"/>
                <a:gd name="T89" fmla="*/ 260 h 136"/>
                <a:gd name="T90" fmla="*/ 5596 w 155"/>
                <a:gd name="T91" fmla="*/ 260 h 136"/>
                <a:gd name="T92" fmla="*/ 5596 w 155"/>
                <a:gd name="T93" fmla="*/ 260 h 136"/>
                <a:gd name="T94" fmla="*/ 358 w 155"/>
                <a:gd name="T95" fmla="*/ 260 h 136"/>
                <a:gd name="T96" fmla="*/ 327 w 155"/>
                <a:gd name="T97" fmla="*/ 260 h 136"/>
                <a:gd name="T98" fmla="*/ 327 w 155"/>
                <a:gd name="T99" fmla="*/ 260 h 136"/>
                <a:gd name="T100" fmla="*/ 327 w 155"/>
                <a:gd name="T101" fmla="*/ 258 h 136"/>
                <a:gd name="T102" fmla="*/ 275 w 155"/>
                <a:gd name="T103" fmla="*/ 258 h 136"/>
                <a:gd name="T104" fmla="*/ 275 w 155"/>
                <a:gd name="T105" fmla="*/ 258 h 136"/>
                <a:gd name="T106" fmla="*/ 231 w 155"/>
                <a:gd name="T107" fmla="*/ 258 h 136"/>
                <a:gd name="T108" fmla="*/ 231 w 155"/>
                <a:gd name="T109" fmla="*/ 258 h 136"/>
                <a:gd name="T110" fmla="*/ 0 w 155"/>
                <a:gd name="T111" fmla="*/ 271 h 1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55"/>
                <a:gd name="T169" fmla="*/ 0 h 136"/>
                <a:gd name="T170" fmla="*/ 155 w 155"/>
                <a:gd name="T171" fmla="*/ 136 h 1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55" h="136">
                  <a:moveTo>
                    <a:pt x="0" y="133"/>
                  </a:moveTo>
                  <a:lnTo>
                    <a:pt x="0" y="134"/>
                  </a:lnTo>
                  <a:lnTo>
                    <a:pt x="1" y="134"/>
                  </a:lnTo>
                  <a:lnTo>
                    <a:pt x="2" y="135"/>
                  </a:lnTo>
                  <a:lnTo>
                    <a:pt x="3" y="135"/>
                  </a:lnTo>
                  <a:lnTo>
                    <a:pt x="148" y="135"/>
                  </a:lnTo>
                  <a:lnTo>
                    <a:pt x="150" y="134"/>
                  </a:lnTo>
                  <a:lnTo>
                    <a:pt x="151" y="134"/>
                  </a:lnTo>
                  <a:lnTo>
                    <a:pt x="151" y="133"/>
                  </a:lnTo>
                  <a:lnTo>
                    <a:pt x="152" y="133"/>
                  </a:lnTo>
                  <a:lnTo>
                    <a:pt x="153" y="132"/>
                  </a:lnTo>
                  <a:lnTo>
                    <a:pt x="153" y="131"/>
                  </a:lnTo>
                  <a:lnTo>
                    <a:pt x="154" y="131"/>
                  </a:lnTo>
                  <a:lnTo>
                    <a:pt x="154" y="129"/>
                  </a:lnTo>
                  <a:lnTo>
                    <a:pt x="154" y="3"/>
                  </a:lnTo>
                  <a:lnTo>
                    <a:pt x="154" y="2"/>
                  </a:lnTo>
                  <a:lnTo>
                    <a:pt x="154" y="1"/>
                  </a:lnTo>
                  <a:lnTo>
                    <a:pt x="153" y="1"/>
                  </a:lnTo>
                  <a:lnTo>
                    <a:pt x="153" y="0"/>
                  </a:lnTo>
                  <a:lnTo>
                    <a:pt x="145" y="5"/>
                  </a:lnTo>
                  <a:lnTo>
                    <a:pt x="146" y="6"/>
                  </a:lnTo>
                  <a:lnTo>
                    <a:pt x="146" y="7"/>
                  </a:lnTo>
                  <a:lnTo>
                    <a:pt x="146" y="8"/>
                  </a:lnTo>
                  <a:lnTo>
                    <a:pt x="146" y="9"/>
                  </a:lnTo>
                  <a:lnTo>
                    <a:pt x="146" y="123"/>
                  </a:lnTo>
                  <a:lnTo>
                    <a:pt x="146" y="124"/>
                  </a:lnTo>
                  <a:lnTo>
                    <a:pt x="146" y="125"/>
                  </a:lnTo>
                  <a:lnTo>
                    <a:pt x="145" y="126"/>
                  </a:lnTo>
                  <a:lnTo>
                    <a:pt x="145" y="127"/>
                  </a:lnTo>
                  <a:lnTo>
                    <a:pt x="144" y="127"/>
                  </a:lnTo>
                  <a:lnTo>
                    <a:pt x="143" y="127"/>
                  </a:lnTo>
                  <a:lnTo>
                    <a:pt x="143" y="128"/>
                  </a:lnTo>
                  <a:lnTo>
                    <a:pt x="142" y="128"/>
                  </a:lnTo>
                  <a:lnTo>
                    <a:pt x="9" y="128"/>
                  </a:lnTo>
                  <a:lnTo>
                    <a:pt x="8" y="128"/>
                  </a:lnTo>
                  <a:lnTo>
                    <a:pt x="8" y="127"/>
                  </a:lnTo>
                  <a:lnTo>
                    <a:pt x="7" y="127"/>
                  </a:lnTo>
                  <a:lnTo>
                    <a:pt x="6" y="127"/>
                  </a:lnTo>
                  <a:lnTo>
                    <a:pt x="0" y="133"/>
                  </a:lnTo>
                </a:path>
              </a:pathLst>
            </a:custGeom>
            <a:solidFill>
              <a:srgbClr val="999999"/>
            </a:solidFill>
            <a:ln w="12700" cap="rnd">
              <a:solidFill>
                <a:srgbClr val="999999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31" name="Freeform 157"/>
            <p:cNvSpPr>
              <a:spLocks/>
            </p:cNvSpPr>
            <p:nvPr/>
          </p:nvSpPr>
          <p:spPr bwMode="auto">
            <a:xfrm>
              <a:off x="4664" y="2764"/>
              <a:ext cx="282" cy="18"/>
            </a:xfrm>
            <a:custGeom>
              <a:avLst/>
              <a:gdLst>
                <a:gd name="T0" fmla="*/ 5955 w 153"/>
                <a:gd name="T1" fmla="*/ 22 h 17"/>
                <a:gd name="T2" fmla="*/ 5911 w 153"/>
                <a:gd name="T3" fmla="*/ 22 h 17"/>
                <a:gd name="T4" fmla="*/ 5911 w 153"/>
                <a:gd name="T5" fmla="*/ 16 h 17"/>
                <a:gd name="T6" fmla="*/ 5874 w 153"/>
                <a:gd name="T7" fmla="*/ 16 h 17"/>
                <a:gd name="T8" fmla="*/ 5874 w 153"/>
                <a:gd name="T9" fmla="*/ 16 h 17"/>
                <a:gd name="T10" fmla="*/ 5874 w 153"/>
                <a:gd name="T11" fmla="*/ 5 h 17"/>
                <a:gd name="T12" fmla="*/ 5846 w 153"/>
                <a:gd name="T13" fmla="*/ 5 h 17"/>
                <a:gd name="T14" fmla="*/ 5846 w 153"/>
                <a:gd name="T15" fmla="*/ 5 h 17"/>
                <a:gd name="T16" fmla="*/ 5806 w 153"/>
                <a:gd name="T17" fmla="*/ 0 h 17"/>
                <a:gd name="T18" fmla="*/ 5806 w 153"/>
                <a:gd name="T19" fmla="*/ 0 h 17"/>
                <a:gd name="T20" fmla="*/ 5762 w 153"/>
                <a:gd name="T21" fmla="*/ 0 h 17"/>
                <a:gd name="T22" fmla="*/ 5725 w 153"/>
                <a:gd name="T23" fmla="*/ 0 h 17"/>
                <a:gd name="T24" fmla="*/ 125 w 153"/>
                <a:gd name="T25" fmla="*/ 0 h 17"/>
                <a:gd name="T26" fmla="*/ 125 w 153"/>
                <a:gd name="T27" fmla="*/ 0 h 17"/>
                <a:gd name="T28" fmla="*/ 81 w 153"/>
                <a:gd name="T29" fmla="*/ 0 h 17"/>
                <a:gd name="T30" fmla="*/ 44 w 153"/>
                <a:gd name="T31" fmla="*/ 5 h 17"/>
                <a:gd name="T32" fmla="*/ 44 w 153"/>
                <a:gd name="T33" fmla="*/ 5 h 17"/>
                <a:gd name="T34" fmla="*/ 0 w 153"/>
                <a:gd name="T35" fmla="*/ 16 h 17"/>
                <a:gd name="T36" fmla="*/ 0 w 153"/>
                <a:gd name="T37" fmla="*/ 16 h 17"/>
                <a:gd name="T38" fmla="*/ 0 w 153"/>
                <a:gd name="T39" fmla="*/ 22 h 1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53"/>
                <a:gd name="T61" fmla="*/ 0 h 17"/>
                <a:gd name="T62" fmla="*/ 153 w 153"/>
                <a:gd name="T63" fmla="*/ 17 h 17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53" h="17">
                  <a:moveTo>
                    <a:pt x="152" y="16"/>
                  </a:moveTo>
                  <a:lnTo>
                    <a:pt x="151" y="16"/>
                  </a:lnTo>
                  <a:lnTo>
                    <a:pt x="151" y="10"/>
                  </a:lnTo>
                  <a:lnTo>
                    <a:pt x="150" y="10"/>
                  </a:lnTo>
                  <a:lnTo>
                    <a:pt x="150" y="5"/>
                  </a:lnTo>
                  <a:lnTo>
                    <a:pt x="149" y="5"/>
                  </a:lnTo>
                  <a:lnTo>
                    <a:pt x="148" y="0"/>
                  </a:lnTo>
                  <a:lnTo>
                    <a:pt x="147" y="0"/>
                  </a:lnTo>
                  <a:lnTo>
                    <a:pt x="146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1" y="5"/>
                  </a:lnTo>
                  <a:lnTo>
                    <a:pt x="0" y="10"/>
                  </a:lnTo>
                  <a:lnTo>
                    <a:pt x="0" y="16"/>
                  </a:lnTo>
                </a:path>
              </a:pathLst>
            </a:custGeom>
            <a:noFill/>
            <a:ln w="12700" cap="rnd">
              <a:solidFill>
                <a:srgbClr val="9F9FA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32" name="Freeform 158"/>
            <p:cNvSpPr>
              <a:spLocks/>
            </p:cNvSpPr>
            <p:nvPr/>
          </p:nvSpPr>
          <p:spPr bwMode="auto">
            <a:xfrm>
              <a:off x="4610" y="2979"/>
              <a:ext cx="398" cy="81"/>
            </a:xfrm>
            <a:custGeom>
              <a:avLst/>
              <a:gdLst>
                <a:gd name="T0" fmla="*/ 0 w 215"/>
                <a:gd name="T1" fmla="*/ 144 h 72"/>
                <a:gd name="T2" fmla="*/ 0 w 215"/>
                <a:gd name="T3" fmla="*/ 0 h 72"/>
                <a:gd name="T4" fmla="*/ 8608 w 215"/>
                <a:gd name="T5" fmla="*/ 0 h 72"/>
                <a:gd name="T6" fmla="*/ 8608 w 215"/>
                <a:gd name="T7" fmla="*/ 144 h 72"/>
                <a:gd name="T8" fmla="*/ 0 w 215"/>
                <a:gd name="T9" fmla="*/ 144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5"/>
                <a:gd name="T16" fmla="*/ 0 h 72"/>
                <a:gd name="T17" fmla="*/ 215 w 215"/>
                <a:gd name="T18" fmla="*/ 72 h 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5" h="72">
                  <a:moveTo>
                    <a:pt x="0" y="71"/>
                  </a:moveTo>
                  <a:lnTo>
                    <a:pt x="0" y="0"/>
                  </a:lnTo>
                  <a:lnTo>
                    <a:pt x="214" y="0"/>
                  </a:lnTo>
                  <a:lnTo>
                    <a:pt x="214" y="71"/>
                  </a:lnTo>
                  <a:lnTo>
                    <a:pt x="0" y="71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33" name="Freeform 159"/>
            <p:cNvSpPr>
              <a:spLocks/>
            </p:cNvSpPr>
            <p:nvPr/>
          </p:nvSpPr>
          <p:spPr bwMode="auto">
            <a:xfrm>
              <a:off x="4607" y="2979"/>
              <a:ext cx="405" cy="25"/>
            </a:xfrm>
            <a:custGeom>
              <a:avLst/>
              <a:gdLst>
                <a:gd name="T0" fmla="*/ 3157 w 219"/>
                <a:gd name="T1" fmla="*/ 0 h 23"/>
                <a:gd name="T2" fmla="*/ 0 w 219"/>
                <a:gd name="T3" fmla="*/ 0 h 23"/>
                <a:gd name="T4" fmla="*/ 0 w 219"/>
                <a:gd name="T5" fmla="*/ 36 h 23"/>
                <a:gd name="T6" fmla="*/ 8714 w 219"/>
                <a:gd name="T7" fmla="*/ 36 h 23"/>
                <a:gd name="T8" fmla="*/ 8609 w 219"/>
                <a:gd name="T9" fmla="*/ 0 h 23"/>
                <a:gd name="T10" fmla="*/ 5472 w 219"/>
                <a:gd name="T11" fmla="*/ 0 h 23"/>
                <a:gd name="T12" fmla="*/ 3157 w 219"/>
                <a:gd name="T13" fmla="*/ 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9"/>
                <a:gd name="T22" fmla="*/ 0 h 23"/>
                <a:gd name="T23" fmla="*/ 219 w 219"/>
                <a:gd name="T24" fmla="*/ 23 h 2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9" h="23">
                  <a:moveTo>
                    <a:pt x="79" y="0"/>
                  </a:moveTo>
                  <a:lnTo>
                    <a:pt x="0" y="0"/>
                  </a:lnTo>
                  <a:lnTo>
                    <a:pt x="0" y="22"/>
                  </a:lnTo>
                  <a:lnTo>
                    <a:pt x="218" y="22"/>
                  </a:lnTo>
                  <a:lnTo>
                    <a:pt x="215" y="0"/>
                  </a:lnTo>
                  <a:lnTo>
                    <a:pt x="137" y="0"/>
                  </a:lnTo>
                  <a:lnTo>
                    <a:pt x="79" y="0"/>
                  </a:lnTo>
                </a:path>
              </a:pathLst>
            </a:custGeom>
            <a:solidFill>
              <a:srgbClr val="EFEFD1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34" name="Freeform 160"/>
            <p:cNvSpPr>
              <a:spLocks/>
            </p:cNvSpPr>
            <p:nvPr/>
          </p:nvSpPr>
          <p:spPr bwMode="auto">
            <a:xfrm>
              <a:off x="4884" y="2986"/>
              <a:ext cx="103" cy="18"/>
            </a:xfrm>
            <a:custGeom>
              <a:avLst/>
              <a:gdLst>
                <a:gd name="T0" fmla="*/ 0 w 56"/>
                <a:gd name="T1" fmla="*/ 6 h 17"/>
                <a:gd name="T2" fmla="*/ 697 w 56"/>
                <a:gd name="T3" fmla="*/ 6 h 17"/>
                <a:gd name="T4" fmla="*/ 697 w 56"/>
                <a:gd name="T5" fmla="*/ 0 h 17"/>
                <a:gd name="T6" fmla="*/ 1350 w 56"/>
                <a:gd name="T7" fmla="*/ 0 h 17"/>
                <a:gd name="T8" fmla="*/ 1350 w 56"/>
                <a:gd name="T9" fmla="*/ 6 h 17"/>
                <a:gd name="T10" fmla="*/ 2128 w 56"/>
                <a:gd name="T11" fmla="*/ 6 h 17"/>
                <a:gd name="T12" fmla="*/ 2128 w 56"/>
                <a:gd name="T13" fmla="*/ 16 h 17"/>
                <a:gd name="T14" fmla="*/ 1350 w 56"/>
                <a:gd name="T15" fmla="*/ 16 h 17"/>
                <a:gd name="T16" fmla="*/ 1350 w 56"/>
                <a:gd name="T17" fmla="*/ 22 h 17"/>
                <a:gd name="T18" fmla="*/ 697 w 56"/>
                <a:gd name="T19" fmla="*/ 22 h 17"/>
                <a:gd name="T20" fmla="*/ 697 w 56"/>
                <a:gd name="T21" fmla="*/ 16 h 17"/>
                <a:gd name="T22" fmla="*/ 0 w 56"/>
                <a:gd name="T23" fmla="*/ 16 h 17"/>
                <a:gd name="T24" fmla="*/ 0 w 56"/>
                <a:gd name="T25" fmla="*/ 6 h 1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6"/>
                <a:gd name="T40" fmla="*/ 0 h 17"/>
                <a:gd name="T41" fmla="*/ 56 w 56"/>
                <a:gd name="T42" fmla="*/ 17 h 1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6" h="17">
                  <a:moveTo>
                    <a:pt x="0" y="6"/>
                  </a:moveTo>
                  <a:lnTo>
                    <a:pt x="18" y="6"/>
                  </a:lnTo>
                  <a:lnTo>
                    <a:pt x="18" y="0"/>
                  </a:lnTo>
                  <a:lnTo>
                    <a:pt x="35" y="0"/>
                  </a:lnTo>
                  <a:lnTo>
                    <a:pt x="35" y="6"/>
                  </a:lnTo>
                  <a:lnTo>
                    <a:pt x="55" y="6"/>
                  </a:lnTo>
                  <a:lnTo>
                    <a:pt x="55" y="10"/>
                  </a:lnTo>
                  <a:lnTo>
                    <a:pt x="35" y="10"/>
                  </a:lnTo>
                  <a:lnTo>
                    <a:pt x="35" y="16"/>
                  </a:lnTo>
                  <a:lnTo>
                    <a:pt x="18" y="16"/>
                  </a:lnTo>
                  <a:lnTo>
                    <a:pt x="18" y="10"/>
                  </a:lnTo>
                  <a:lnTo>
                    <a:pt x="0" y="10"/>
                  </a:lnTo>
                  <a:lnTo>
                    <a:pt x="0" y="6"/>
                  </a:lnTo>
                </a:path>
              </a:pathLst>
            </a:custGeom>
            <a:solidFill>
              <a:srgbClr val="999999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35" name="Freeform 161"/>
            <p:cNvSpPr>
              <a:spLocks/>
            </p:cNvSpPr>
            <p:nvPr/>
          </p:nvSpPr>
          <p:spPr bwMode="auto">
            <a:xfrm>
              <a:off x="4884" y="2992"/>
              <a:ext cx="32" cy="19"/>
            </a:xfrm>
            <a:custGeom>
              <a:avLst/>
              <a:gdLst>
                <a:gd name="T0" fmla="*/ 0 w 17"/>
                <a:gd name="T1" fmla="*/ 31 h 17"/>
                <a:gd name="T2" fmla="*/ 702 w 17"/>
                <a:gd name="T3" fmla="*/ 19 h 17"/>
                <a:gd name="T4" fmla="*/ 702 w 17"/>
                <a:gd name="T5" fmla="*/ 11 h 17"/>
                <a:gd name="T6" fmla="*/ 0 w 17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"/>
                <a:gd name="T13" fmla="*/ 0 h 17"/>
                <a:gd name="T14" fmla="*/ 17 w 17"/>
                <a:gd name="T15" fmla="*/ 17 h 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" h="17">
                  <a:moveTo>
                    <a:pt x="0" y="16"/>
                  </a:moveTo>
                  <a:lnTo>
                    <a:pt x="16" y="10"/>
                  </a:lnTo>
                  <a:lnTo>
                    <a:pt x="16" y="5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EFEFD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36" name="Freeform 162"/>
            <p:cNvSpPr>
              <a:spLocks/>
            </p:cNvSpPr>
            <p:nvPr/>
          </p:nvSpPr>
          <p:spPr bwMode="auto">
            <a:xfrm>
              <a:off x="4918" y="2986"/>
              <a:ext cx="32" cy="18"/>
            </a:xfrm>
            <a:custGeom>
              <a:avLst/>
              <a:gdLst>
                <a:gd name="T0" fmla="*/ 0 w 17"/>
                <a:gd name="T1" fmla="*/ 0 h 17"/>
                <a:gd name="T2" fmla="*/ 702 w 17"/>
                <a:gd name="T3" fmla="*/ 22 h 17"/>
                <a:gd name="T4" fmla="*/ 0 w 17"/>
                <a:gd name="T5" fmla="*/ 0 h 17"/>
                <a:gd name="T6" fmla="*/ 0 60000 65536"/>
                <a:gd name="T7" fmla="*/ 0 60000 65536"/>
                <a:gd name="T8" fmla="*/ 0 60000 65536"/>
                <a:gd name="T9" fmla="*/ 0 w 17"/>
                <a:gd name="T10" fmla="*/ 0 h 17"/>
                <a:gd name="T11" fmla="*/ 17 w 17"/>
                <a:gd name="T12" fmla="*/ 17 h 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17">
                  <a:moveTo>
                    <a:pt x="0" y="0"/>
                  </a:moveTo>
                  <a:lnTo>
                    <a:pt x="16" y="16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EFEFD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37" name="Freeform 163"/>
            <p:cNvSpPr>
              <a:spLocks/>
            </p:cNvSpPr>
            <p:nvPr/>
          </p:nvSpPr>
          <p:spPr bwMode="auto">
            <a:xfrm>
              <a:off x="4985" y="2996"/>
              <a:ext cx="32" cy="19"/>
            </a:xfrm>
            <a:custGeom>
              <a:avLst/>
              <a:gdLst>
                <a:gd name="T0" fmla="*/ 0 w 17"/>
                <a:gd name="T1" fmla="*/ 0 h 17"/>
                <a:gd name="T2" fmla="*/ 702 w 17"/>
                <a:gd name="T3" fmla="*/ 31 h 17"/>
                <a:gd name="T4" fmla="*/ 0 w 17"/>
                <a:gd name="T5" fmla="*/ 0 h 17"/>
                <a:gd name="T6" fmla="*/ 0 60000 65536"/>
                <a:gd name="T7" fmla="*/ 0 60000 65536"/>
                <a:gd name="T8" fmla="*/ 0 60000 65536"/>
                <a:gd name="T9" fmla="*/ 0 w 17"/>
                <a:gd name="T10" fmla="*/ 0 h 17"/>
                <a:gd name="T11" fmla="*/ 17 w 17"/>
                <a:gd name="T12" fmla="*/ 17 h 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17">
                  <a:moveTo>
                    <a:pt x="0" y="0"/>
                  </a:moveTo>
                  <a:lnTo>
                    <a:pt x="16" y="16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EFEFD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38" name="Freeform 164"/>
            <p:cNvSpPr>
              <a:spLocks/>
            </p:cNvSpPr>
            <p:nvPr/>
          </p:nvSpPr>
          <p:spPr bwMode="auto">
            <a:xfrm>
              <a:off x="4950" y="2986"/>
              <a:ext cx="31" cy="18"/>
            </a:xfrm>
            <a:custGeom>
              <a:avLst/>
              <a:gdLst>
                <a:gd name="T0" fmla="*/ 0 w 17"/>
                <a:gd name="T1" fmla="*/ 22 h 17"/>
                <a:gd name="T2" fmla="*/ 589 w 17"/>
                <a:gd name="T3" fmla="*/ 0 h 17"/>
                <a:gd name="T4" fmla="*/ 0 w 17"/>
                <a:gd name="T5" fmla="*/ 22 h 17"/>
                <a:gd name="T6" fmla="*/ 0 60000 65536"/>
                <a:gd name="T7" fmla="*/ 0 60000 65536"/>
                <a:gd name="T8" fmla="*/ 0 60000 65536"/>
                <a:gd name="T9" fmla="*/ 0 w 17"/>
                <a:gd name="T10" fmla="*/ 0 h 17"/>
                <a:gd name="T11" fmla="*/ 17 w 17"/>
                <a:gd name="T12" fmla="*/ 17 h 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17">
                  <a:moveTo>
                    <a:pt x="0" y="16"/>
                  </a:moveTo>
                  <a:lnTo>
                    <a:pt x="16" y="0"/>
                  </a:lnTo>
                  <a:lnTo>
                    <a:pt x="0" y="16"/>
                  </a:lnTo>
                </a:path>
              </a:pathLst>
            </a:custGeom>
            <a:noFill/>
            <a:ln w="12700" cap="rnd">
              <a:solidFill>
                <a:srgbClr val="EFEFD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39" name="Freeform 165"/>
            <p:cNvSpPr>
              <a:spLocks/>
            </p:cNvSpPr>
            <p:nvPr/>
          </p:nvSpPr>
          <p:spPr bwMode="auto">
            <a:xfrm>
              <a:off x="4921" y="2990"/>
              <a:ext cx="31" cy="19"/>
            </a:xfrm>
            <a:custGeom>
              <a:avLst/>
              <a:gdLst>
                <a:gd name="T0" fmla="*/ 0 w 17"/>
                <a:gd name="T1" fmla="*/ 31 h 17"/>
                <a:gd name="T2" fmla="*/ 589 w 17"/>
                <a:gd name="T3" fmla="*/ 31 h 17"/>
                <a:gd name="T4" fmla="*/ 589 w 17"/>
                <a:gd name="T5" fmla="*/ 0 h 17"/>
                <a:gd name="T6" fmla="*/ 0 w 17"/>
                <a:gd name="T7" fmla="*/ 0 h 17"/>
                <a:gd name="T8" fmla="*/ 0 w 17"/>
                <a:gd name="T9" fmla="*/ 31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17"/>
                <a:gd name="T17" fmla="*/ 17 w 17"/>
                <a:gd name="T18" fmla="*/ 17 h 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17">
                  <a:moveTo>
                    <a:pt x="0" y="16"/>
                  </a:moveTo>
                  <a:lnTo>
                    <a:pt x="16" y="16"/>
                  </a:lnTo>
                  <a:lnTo>
                    <a:pt x="16" y="0"/>
                  </a:lnTo>
                  <a:lnTo>
                    <a:pt x="0" y="0"/>
                  </a:lnTo>
                  <a:lnTo>
                    <a:pt x="0" y="16"/>
                  </a:lnTo>
                </a:path>
              </a:pathLst>
            </a:custGeom>
            <a:solidFill>
              <a:srgbClr val="9F9FA2"/>
            </a:solidFill>
            <a:ln w="12700" cap="rnd">
              <a:solidFill>
                <a:srgbClr val="9F9FA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40" name="Freeform 166"/>
            <p:cNvSpPr>
              <a:spLocks/>
            </p:cNvSpPr>
            <p:nvPr/>
          </p:nvSpPr>
          <p:spPr bwMode="auto">
            <a:xfrm>
              <a:off x="4888" y="2993"/>
              <a:ext cx="99" cy="20"/>
            </a:xfrm>
            <a:custGeom>
              <a:avLst/>
              <a:gdLst>
                <a:gd name="T0" fmla="*/ 0 w 54"/>
                <a:gd name="T1" fmla="*/ 0 h 17"/>
                <a:gd name="T2" fmla="*/ 2009 w 54"/>
                <a:gd name="T3" fmla="*/ 0 h 17"/>
                <a:gd name="T4" fmla="*/ 2009 w 54"/>
                <a:gd name="T5" fmla="*/ 42 h 17"/>
                <a:gd name="T6" fmla="*/ 0 w 54"/>
                <a:gd name="T7" fmla="*/ 42 h 17"/>
                <a:gd name="T8" fmla="*/ 0 w 54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"/>
                <a:gd name="T16" fmla="*/ 0 h 17"/>
                <a:gd name="T17" fmla="*/ 54 w 54"/>
                <a:gd name="T18" fmla="*/ 17 h 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" h="17">
                  <a:moveTo>
                    <a:pt x="0" y="0"/>
                  </a:moveTo>
                  <a:lnTo>
                    <a:pt x="53" y="0"/>
                  </a:lnTo>
                  <a:lnTo>
                    <a:pt x="53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41" name="Freeform 167"/>
            <p:cNvSpPr>
              <a:spLocks/>
            </p:cNvSpPr>
            <p:nvPr/>
          </p:nvSpPr>
          <p:spPr bwMode="auto">
            <a:xfrm>
              <a:off x="4918" y="2987"/>
              <a:ext cx="36" cy="18"/>
            </a:xfrm>
            <a:custGeom>
              <a:avLst/>
              <a:gdLst>
                <a:gd name="T0" fmla="*/ 822 w 19"/>
                <a:gd name="T1" fmla="*/ 18 h 17"/>
                <a:gd name="T2" fmla="*/ 790 w 19"/>
                <a:gd name="T3" fmla="*/ 22 h 17"/>
                <a:gd name="T4" fmla="*/ 790 w 19"/>
                <a:gd name="T5" fmla="*/ 0 h 17"/>
                <a:gd name="T6" fmla="*/ 0 w 19"/>
                <a:gd name="T7" fmla="*/ 0 h 17"/>
                <a:gd name="T8" fmla="*/ 0 w 19"/>
                <a:gd name="T9" fmla="*/ 22 h 17"/>
                <a:gd name="T10" fmla="*/ 0 w 19"/>
                <a:gd name="T11" fmla="*/ 18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"/>
                <a:gd name="T19" fmla="*/ 0 h 17"/>
                <a:gd name="T20" fmla="*/ 19 w 19"/>
                <a:gd name="T21" fmla="*/ 17 h 1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" h="17">
                  <a:moveTo>
                    <a:pt x="18" y="12"/>
                  </a:moveTo>
                  <a:lnTo>
                    <a:pt x="17" y="16"/>
                  </a:lnTo>
                  <a:lnTo>
                    <a:pt x="17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0" y="12"/>
                  </a:lnTo>
                </a:path>
              </a:pathLst>
            </a:custGeom>
            <a:noFill/>
            <a:ln w="12700" cap="rnd">
              <a:solidFill>
                <a:srgbClr val="9F9FA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42" name="Freeform 168"/>
            <p:cNvSpPr>
              <a:spLocks/>
            </p:cNvSpPr>
            <p:nvPr/>
          </p:nvSpPr>
          <p:spPr bwMode="auto">
            <a:xfrm>
              <a:off x="4799" y="2997"/>
              <a:ext cx="31" cy="19"/>
            </a:xfrm>
            <a:custGeom>
              <a:avLst/>
              <a:gdLst>
                <a:gd name="T0" fmla="*/ 589 w 17"/>
                <a:gd name="T1" fmla="*/ 0 h 17"/>
                <a:gd name="T2" fmla="*/ 589 w 17"/>
                <a:gd name="T3" fmla="*/ 31 h 17"/>
                <a:gd name="T4" fmla="*/ 0 w 17"/>
                <a:gd name="T5" fmla="*/ 31 h 17"/>
                <a:gd name="T6" fmla="*/ 0 w 17"/>
                <a:gd name="T7" fmla="*/ 0 h 17"/>
                <a:gd name="T8" fmla="*/ 589 w 17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17"/>
                <a:gd name="T17" fmla="*/ 17 w 17"/>
                <a:gd name="T18" fmla="*/ 17 h 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17">
                  <a:moveTo>
                    <a:pt x="16" y="0"/>
                  </a:moveTo>
                  <a:lnTo>
                    <a:pt x="16" y="16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6" y="0"/>
                  </a:lnTo>
                </a:path>
              </a:pathLst>
            </a:custGeom>
            <a:solidFill>
              <a:srgbClr val="999999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43" name="Freeform 169"/>
            <p:cNvSpPr>
              <a:spLocks/>
            </p:cNvSpPr>
            <p:nvPr/>
          </p:nvSpPr>
          <p:spPr bwMode="auto">
            <a:xfrm>
              <a:off x="4799" y="2997"/>
              <a:ext cx="31" cy="19"/>
            </a:xfrm>
            <a:custGeom>
              <a:avLst/>
              <a:gdLst>
                <a:gd name="T0" fmla="*/ 0 w 17"/>
                <a:gd name="T1" fmla="*/ 0 h 17"/>
                <a:gd name="T2" fmla="*/ 589 w 17"/>
                <a:gd name="T3" fmla="*/ 0 h 17"/>
                <a:gd name="T4" fmla="*/ 589 w 17"/>
                <a:gd name="T5" fmla="*/ 31 h 17"/>
                <a:gd name="T6" fmla="*/ 0 w 17"/>
                <a:gd name="T7" fmla="*/ 31 h 17"/>
                <a:gd name="T8" fmla="*/ 0 w 17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17"/>
                <a:gd name="T17" fmla="*/ 17 w 17"/>
                <a:gd name="T18" fmla="*/ 17 h 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17">
                  <a:moveTo>
                    <a:pt x="0" y="0"/>
                  </a:move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44" name="Freeform 170"/>
            <p:cNvSpPr>
              <a:spLocks/>
            </p:cNvSpPr>
            <p:nvPr/>
          </p:nvSpPr>
          <p:spPr bwMode="auto">
            <a:xfrm>
              <a:off x="4771" y="2988"/>
              <a:ext cx="81" cy="19"/>
            </a:xfrm>
            <a:custGeom>
              <a:avLst/>
              <a:gdLst>
                <a:gd name="T0" fmla="*/ 549 w 44"/>
                <a:gd name="T1" fmla="*/ 31 h 17"/>
                <a:gd name="T2" fmla="*/ 0 w 44"/>
                <a:gd name="T3" fmla="*/ 31 h 17"/>
                <a:gd name="T4" fmla="*/ 0 w 44"/>
                <a:gd name="T5" fmla="*/ 15 h 17"/>
                <a:gd name="T6" fmla="*/ 549 w 44"/>
                <a:gd name="T7" fmla="*/ 15 h 17"/>
                <a:gd name="T8" fmla="*/ 549 w 44"/>
                <a:gd name="T9" fmla="*/ 0 h 17"/>
                <a:gd name="T10" fmla="*/ 1105 w 44"/>
                <a:gd name="T11" fmla="*/ 0 h 17"/>
                <a:gd name="T12" fmla="*/ 1105 w 44"/>
                <a:gd name="T13" fmla="*/ 15 h 17"/>
                <a:gd name="T14" fmla="*/ 1668 w 44"/>
                <a:gd name="T15" fmla="*/ 15 h 17"/>
                <a:gd name="T16" fmla="*/ 1668 w 44"/>
                <a:gd name="T17" fmla="*/ 31 h 17"/>
                <a:gd name="T18" fmla="*/ 1105 w 44"/>
                <a:gd name="T19" fmla="*/ 31 h 17"/>
                <a:gd name="T20" fmla="*/ 549 w 44"/>
                <a:gd name="T21" fmla="*/ 31 h 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4"/>
                <a:gd name="T34" fmla="*/ 0 h 17"/>
                <a:gd name="T35" fmla="*/ 44 w 44"/>
                <a:gd name="T36" fmla="*/ 17 h 1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4" h="17">
                  <a:moveTo>
                    <a:pt x="14" y="16"/>
                  </a:moveTo>
                  <a:lnTo>
                    <a:pt x="0" y="16"/>
                  </a:lnTo>
                  <a:lnTo>
                    <a:pt x="0" y="8"/>
                  </a:lnTo>
                  <a:lnTo>
                    <a:pt x="14" y="8"/>
                  </a:lnTo>
                  <a:lnTo>
                    <a:pt x="14" y="0"/>
                  </a:lnTo>
                  <a:lnTo>
                    <a:pt x="28" y="0"/>
                  </a:lnTo>
                  <a:lnTo>
                    <a:pt x="28" y="8"/>
                  </a:lnTo>
                  <a:lnTo>
                    <a:pt x="43" y="8"/>
                  </a:lnTo>
                  <a:lnTo>
                    <a:pt x="43" y="16"/>
                  </a:lnTo>
                  <a:lnTo>
                    <a:pt x="28" y="16"/>
                  </a:lnTo>
                  <a:lnTo>
                    <a:pt x="14" y="16"/>
                  </a:lnTo>
                </a:path>
              </a:pathLst>
            </a:custGeom>
            <a:solidFill>
              <a:srgbClr val="00000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45" name="Freeform 171"/>
            <p:cNvSpPr>
              <a:spLocks/>
            </p:cNvSpPr>
            <p:nvPr/>
          </p:nvSpPr>
          <p:spPr bwMode="auto">
            <a:xfrm>
              <a:off x="4799" y="2988"/>
              <a:ext cx="31" cy="19"/>
            </a:xfrm>
            <a:custGeom>
              <a:avLst/>
              <a:gdLst>
                <a:gd name="T0" fmla="*/ 0 w 17"/>
                <a:gd name="T1" fmla="*/ 0 h 17"/>
                <a:gd name="T2" fmla="*/ 589 w 17"/>
                <a:gd name="T3" fmla="*/ 0 h 17"/>
                <a:gd name="T4" fmla="*/ 589 w 17"/>
                <a:gd name="T5" fmla="*/ 31 h 17"/>
                <a:gd name="T6" fmla="*/ 0 w 17"/>
                <a:gd name="T7" fmla="*/ 31 h 17"/>
                <a:gd name="T8" fmla="*/ 0 w 17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17"/>
                <a:gd name="T17" fmla="*/ 17 w 17"/>
                <a:gd name="T18" fmla="*/ 17 h 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17">
                  <a:moveTo>
                    <a:pt x="0" y="0"/>
                  </a:moveTo>
                  <a:lnTo>
                    <a:pt x="16" y="0"/>
                  </a:lnTo>
                  <a:lnTo>
                    <a:pt x="16" y="16"/>
                  </a:lnTo>
                  <a:lnTo>
                    <a:pt x="0" y="16"/>
                  </a:lnTo>
                  <a:lnTo>
                    <a:pt x="0" y="0"/>
                  </a:lnTo>
                </a:path>
              </a:pathLst>
            </a:custGeom>
            <a:solidFill>
              <a:srgbClr val="999999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46" name="Freeform 172"/>
            <p:cNvSpPr>
              <a:spLocks/>
            </p:cNvSpPr>
            <p:nvPr/>
          </p:nvSpPr>
          <p:spPr bwMode="auto">
            <a:xfrm>
              <a:off x="4710" y="2985"/>
              <a:ext cx="37" cy="19"/>
            </a:xfrm>
            <a:custGeom>
              <a:avLst/>
              <a:gdLst>
                <a:gd name="T0" fmla="*/ 194 w 20"/>
                <a:gd name="T1" fmla="*/ 31 h 17"/>
                <a:gd name="T2" fmla="*/ 126 w 20"/>
                <a:gd name="T3" fmla="*/ 29 h 17"/>
                <a:gd name="T4" fmla="*/ 81 w 20"/>
                <a:gd name="T5" fmla="*/ 29 h 17"/>
                <a:gd name="T6" fmla="*/ 44 w 20"/>
                <a:gd name="T7" fmla="*/ 28 h 17"/>
                <a:gd name="T8" fmla="*/ 44 w 20"/>
                <a:gd name="T9" fmla="*/ 23 h 17"/>
                <a:gd name="T10" fmla="*/ 0 w 20"/>
                <a:gd name="T11" fmla="*/ 23 h 17"/>
                <a:gd name="T12" fmla="*/ 0 w 20"/>
                <a:gd name="T13" fmla="*/ 19 h 17"/>
                <a:gd name="T14" fmla="*/ 0 w 20"/>
                <a:gd name="T15" fmla="*/ 15 h 17"/>
                <a:gd name="T16" fmla="*/ 0 w 20"/>
                <a:gd name="T17" fmla="*/ 12 h 17"/>
                <a:gd name="T18" fmla="*/ 0 w 20"/>
                <a:gd name="T19" fmla="*/ 4 h 17"/>
                <a:gd name="T20" fmla="*/ 0 w 20"/>
                <a:gd name="T21" fmla="*/ 3 h 17"/>
                <a:gd name="T22" fmla="*/ 44 w 20"/>
                <a:gd name="T23" fmla="*/ 2 h 17"/>
                <a:gd name="T24" fmla="*/ 81 w 20"/>
                <a:gd name="T25" fmla="*/ 1 h 17"/>
                <a:gd name="T26" fmla="*/ 126 w 20"/>
                <a:gd name="T27" fmla="*/ 0 h 17"/>
                <a:gd name="T28" fmla="*/ 150 w 20"/>
                <a:gd name="T29" fmla="*/ 0 h 17"/>
                <a:gd name="T30" fmla="*/ 194 w 20"/>
                <a:gd name="T31" fmla="*/ 0 h 17"/>
                <a:gd name="T32" fmla="*/ 483 w 20"/>
                <a:gd name="T33" fmla="*/ 0 h 17"/>
                <a:gd name="T34" fmla="*/ 514 w 20"/>
                <a:gd name="T35" fmla="*/ 0 h 17"/>
                <a:gd name="T36" fmla="*/ 609 w 20"/>
                <a:gd name="T37" fmla="*/ 0 h 17"/>
                <a:gd name="T38" fmla="*/ 647 w 20"/>
                <a:gd name="T39" fmla="*/ 1 h 17"/>
                <a:gd name="T40" fmla="*/ 664 w 20"/>
                <a:gd name="T41" fmla="*/ 3 h 17"/>
                <a:gd name="T42" fmla="*/ 664 w 20"/>
                <a:gd name="T43" fmla="*/ 3 h 17"/>
                <a:gd name="T44" fmla="*/ 716 w 20"/>
                <a:gd name="T45" fmla="*/ 11 h 17"/>
                <a:gd name="T46" fmla="*/ 716 w 20"/>
                <a:gd name="T47" fmla="*/ 13 h 17"/>
                <a:gd name="T48" fmla="*/ 716 w 20"/>
                <a:gd name="T49" fmla="*/ 15 h 17"/>
                <a:gd name="T50" fmla="*/ 716 w 20"/>
                <a:gd name="T51" fmla="*/ 19 h 17"/>
                <a:gd name="T52" fmla="*/ 664 w 20"/>
                <a:gd name="T53" fmla="*/ 23 h 17"/>
                <a:gd name="T54" fmla="*/ 647 w 20"/>
                <a:gd name="T55" fmla="*/ 26 h 17"/>
                <a:gd name="T56" fmla="*/ 609 w 20"/>
                <a:gd name="T57" fmla="*/ 29 h 17"/>
                <a:gd name="T58" fmla="*/ 514 w 20"/>
                <a:gd name="T59" fmla="*/ 29 h 17"/>
                <a:gd name="T60" fmla="*/ 514 w 20"/>
                <a:gd name="T61" fmla="*/ 31 h 17"/>
                <a:gd name="T62" fmla="*/ 483 w 20"/>
                <a:gd name="T63" fmla="*/ 31 h 1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0"/>
                <a:gd name="T97" fmla="*/ 0 h 17"/>
                <a:gd name="T98" fmla="*/ 20 w 20"/>
                <a:gd name="T99" fmla="*/ 17 h 17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0" h="17">
                  <a:moveTo>
                    <a:pt x="5" y="16"/>
                  </a:moveTo>
                  <a:lnTo>
                    <a:pt x="5" y="16"/>
                  </a:lnTo>
                  <a:lnTo>
                    <a:pt x="4" y="16"/>
                  </a:lnTo>
                  <a:lnTo>
                    <a:pt x="3" y="15"/>
                  </a:lnTo>
                  <a:lnTo>
                    <a:pt x="2" y="15"/>
                  </a:lnTo>
                  <a:lnTo>
                    <a:pt x="2" y="14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2"/>
                  </a:lnTo>
                  <a:lnTo>
                    <a:pt x="0" y="12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0" y="9"/>
                  </a:lnTo>
                  <a:lnTo>
                    <a:pt x="0" y="8"/>
                  </a:lnTo>
                  <a:lnTo>
                    <a:pt x="0" y="7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12" y="0"/>
                  </a:lnTo>
                  <a:lnTo>
                    <a:pt x="13" y="0"/>
                  </a:lnTo>
                  <a:lnTo>
                    <a:pt x="15" y="0"/>
                  </a:lnTo>
                  <a:lnTo>
                    <a:pt x="16" y="1"/>
                  </a:lnTo>
                  <a:lnTo>
                    <a:pt x="16" y="2"/>
                  </a:lnTo>
                  <a:lnTo>
                    <a:pt x="17" y="3"/>
                  </a:lnTo>
                  <a:lnTo>
                    <a:pt x="18" y="4"/>
                  </a:lnTo>
                  <a:lnTo>
                    <a:pt x="18" y="5"/>
                  </a:lnTo>
                  <a:lnTo>
                    <a:pt x="18" y="6"/>
                  </a:lnTo>
                  <a:lnTo>
                    <a:pt x="18" y="7"/>
                  </a:lnTo>
                  <a:lnTo>
                    <a:pt x="19" y="8"/>
                  </a:lnTo>
                  <a:lnTo>
                    <a:pt x="18" y="8"/>
                  </a:lnTo>
                  <a:lnTo>
                    <a:pt x="18" y="9"/>
                  </a:lnTo>
                  <a:lnTo>
                    <a:pt x="18" y="10"/>
                  </a:lnTo>
                  <a:lnTo>
                    <a:pt x="18" y="11"/>
                  </a:lnTo>
                  <a:lnTo>
                    <a:pt x="17" y="12"/>
                  </a:lnTo>
                  <a:lnTo>
                    <a:pt x="16" y="13"/>
                  </a:lnTo>
                  <a:lnTo>
                    <a:pt x="16" y="14"/>
                  </a:lnTo>
                  <a:lnTo>
                    <a:pt x="15" y="15"/>
                  </a:lnTo>
                  <a:lnTo>
                    <a:pt x="13" y="15"/>
                  </a:lnTo>
                  <a:lnTo>
                    <a:pt x="13" y="16"/>
                  </a:lnTo>
                  <a:lnTo>
                    <a:pt x="12" y="16"/>
                  </a:lnTo>
                  <a:lnTo>
                    <a:pt x="5" y="16"/>
                  </a:lnTo>
                </a:path>
              </a:pathLst>
            </a:custGeom>
            <a:solidFill>
              <a:srgbClr val="666666"/>
            </a:solidFill>
            <a:ln w="12700" cap="rnd">
              <a:solidFill>
                <a:srgbClr val="6666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47" name="Freeform 173"/>
            <p:cNvSpPr>
              <a:spLocks/>
            </p:cNvSpPr>
            <p:nvPr/>
          </p:nvSpPr>
          <p:spPr bwMode="auto">
            <a:xfrm>
              <a:off x="4755" y="2979"/>
              <a:ext cx="30" cy="42"/>
            </a:xfrm>
            <a:custGeom>
              <a:avLst/>
              <a:gdLst>
                <a:gd name="T0" fmla="*/ 244 w 17"/>
                <a:gd name="T1" fmla="*/ 0 h 38"/>
                <a:gd name="T2" fmla="*/ 0 w 17"/>
                <a:gd name="T3" fmla="*/ 40 h 38"/>
                <a:gd name="T4" fmla="*/ 473 w 17"/>
                <a:gd name="T5" fmla="*/ 40 h 38"/>
                <a:gd name="T6" fmla="*/ 473 w 17"/>
                <a:gd name="T7" fmla="*/ 67 h 3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"/>
                <a:gd name="T13" fmla="*/ 0 h 38"/>
                <a:gd name="T14" fmla="*/ 17 w 17"/>
                <a:gd name="T15" fmla="*/ 38 h 3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" h="38">
                  <a:moveTo>
                    <a:pt x="8" y="0"/>
                  </a:moveTo>
                  <a:lnTo>
                    <a:pt x="0" y="22"/>
                  </a:lnTo>
                  <a:lnTo>
                    <a:pt x="16" y="22"/>
                  </a:lnTo>
                  <a:lnTo>
                    <a:pt x="16" y="37"/>
                  </a:lnTo>
                </a:path>
              </a:pathLst>
            </a:custGeom>
            <a:noFill/>
            <a:ln w="12700" cap="rnd">
              <a:solidFill>
                <a:srgbClr val="9F9FA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48" name="Freeform 174"/>
            <p:cNvSpPr>
              <a:spLocks/>
            </p:cNvSpPr>
            <p:nvPr/>
          </p:nvSpPr>
          <p:spPr bwMode="auto">
            <a:xfrm>
              <a:off x="4862" y="2979"/>
              <a:ext cx="31" cy="81"/>
            </a:xfrm>
            <a:custGeom>
              <a:avLst/>
              <a:gdLst>
                <a:gd name="T0" fmla="*/ 0 w 17"/>
                <a:gd name="T1" fmla="*/ 0 h 72"/>
                <a:gd name="T2" fmla="*/ 589 w 17"/>
                <a:gd name="T3" fmla="*/ 44 h 72"/>
                <a:gd name="T4" fmla="*/ 0 w 17"/>
                <a:gd name="T5" fmla="*/ 44 h 72"/>
                <a:gd name="T6" fmla="*/ 0 w 17"/>
                <a:gd name="T7" fmla="*/ 144 h 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"/>
                <a:gd name="T13" fmla="*/ 0 h 72"/>
                <a:gd name="T14" fmla="*/ 17 w 17"/>
                <a:gd name="T15" fmla="*/ 72 h 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" h="72">
                  <a:moveTo>
                    <a:pt x="0" y="0"/>
                  </a:moveTo>
                  <a:lnTo>
                    <a:pt x="16" y="22"/>
                  </a:lnTo>
                  <a:lnTo>
                    <a:pt x="0" y="22"/>
                  </a:lnTo>
                  <a:lnTo>
                    <a:pt x="0" y="71"/>
                  </a:lnTo>
                </a:path>
              </a:pathLst>
            </a:custGeom>
            <a:noFill/>
            <a:ln w="12700" cap="rnd">
              <a:solidFill>
                <a:srgbClr val="9F9FA2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49" name="Freeform 175"/>
            <p:cNvSpPr>
              <a:spLocks/>
            </p:cNvSpPr>
            <p:nvPr/>
          </p:nvSpPr>
          <p:spPr bwMode="auto">
            <a:xfrm>
              <a:off x="4633" y="3027"/>
              <a:ext cx="462" cy="46"/>
            </a:xfrm>
            <a:custGeom>
              <a:avLst/>
              <a:gdLst>
                <a:gd name="T0" fmla="*/ 0 w 250"/>
                <a:gd name="T1" fmla="*/ 80 h 41"/>
                <a:gd name="T2" fmla="*/ 9915 w 250"/>
                <a:gd name="T3" fmla="*/ 80 h 41"/>
                <a:gd name="T4" fmla="*/ 9573 w 250"/>
                <a:gd name="T5" fmla="*/ 0 h 41"/>
                <a:gd name="T6" fmla="*/ 386 w 250"/>
                <a:gd name="T7" fmla="*/ 0 h 41"/>
                <a:gd name="T8" fmla="*/ 0 w 250"/>
                <a:gd name="T9" fmla="*/ 8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0"/>
                <a:gd name="T16" fmla="*/ 0 h 41"/>
                <a:gd name="T17" fmla="*/ 250 w 250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0" h="41">
                  <a:moveTo>
                    <a:pt x="0" y="40"/>
                  </a:moveTo>
                  <a:lnTo>
                    <a:pt x="249" y="40"/>
                  </a:lnTo>
                  <a:lnTo>
                    <a:pt x="240" y="0"/>
                  </a:lnTo>
                  <a:lnTo>
                    <a:pt x="10" y="0"/>
                  </a:lnTo>
                  <a:lnTo>
                    <a:pt x="0" y="40"/>
                  </a:lnTo>
                </a:path>
              </a:pathLst>
            </a:custGeom>
            <a:solidFill>
              <a:srgbClr val="EFEFD1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50" name="Freeform 176"/>
            <p:cNvSpPr>
              <a:spLocks/>
            </p:cNvSpPr>
            <p:nvPr/>
          </p:nvSpPr>
          <p:spPr bwMode="auto">
            <a:xfrm>
              <a:off x="4633" y="3072"/>
              <a:ext cx="463" cy="20"/>
            </a:xfrm>
            <a:custGeom>
              <a:avLst/>
              <a:gdLst>
                <a:gd name="T0" fmla="*/ 0 w 251"/>
                <a:gd name="T1" fmla="*/ 42 h 17"/>
                <a:gd name="T2" fmla="*/ 0 w 251"/>
                <a:gd name="T3" fmla="*/ 0 h 17"/>
                <a:gd name="T4" fmla="*/ 9802 w 251"/>
                <a:gd name="T5" fmla="*/ 0 h 17"/>
                <a:gd name="T6" fmla="*/ 9841 w 251"/>
                <a:gd name="T7" fmla="*/ 42 h 17"/>
                <a:gd name="T8" fmla="*/ 0 w 251"/>
                <a:gd name="T9" fmla="*/ 42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1"/>
                <a:gd name="T16" fmla="*/ 0 h 17"/>
                <a:gd name="T17" fmla="*/ 251 w 251"/>
                <a:gd name="T18" fmla="*/ 17 h 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1" h="17">
                  <a:moveTo>
                    <a:pt x="0" y="16"/>
                  </a:moveTo>
                  <a:lnTo>
                    <a:pt x="0" y="0"/>
                  </a:lnTo>
                  <a:lnTo>
                    <a:pt x="249" y="0"/>
                  </a:lnTo>
                  <a:lnTo>
                    <a:pt x="250" y="16"/>
                  </a:lnTo>
                  <a:lnTo>
                    <a:pt x="0" y="16"/>
                  </a:lnTo>
                </a:path>
              </a:pathLst>
            </a:custGeom>
            <a:solidFill>
              <a:srgbClr val="CCCC6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51" name="Freeform 177"/>
            <p:cNvSpPr>
              <a:spLocks/>
            </p:cNvSpPr>
            <p:nvPr/>
          </p:nvSpPr>
          <p:spPr bwMode="auto">
            <a:xfrm>
              <a:off x="4664" y="3035"/>
              <a:ext cx="412" cy="31"/>
            </a:xfrm>
            <a:custGeom>
              <a:avLst/>
              <a:gdLst>
                <a:gd name="T0" fmla="*/ 0 w 223"/>
                <a:gd name="T1" fmla="*/ 50 h 28"/>
                <a:gd name="T2" fmla="*/ 8824 w 223"/>
                <a:gd name="T3" fmla="*/ 50 h 28"/>
                <a:gd name="T4" fmla="*/ 8506 w 223"/>
                <a:gd name="T5" fmla="*/ 0 h 28"/>
                <a:gd name="T6" fmla="*/ 327 w 223"/>
                <a:gd name="T7" fmla="*/ 0 h 28"/>
                <a:gd name="T8" fmla="*/ 0 w 223"/>
                <a:gd name="T9" fmla="*/ 5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3"/>
                <a:gd name="T16" fmla="*/ 0 h 28"/>
                <a:gd name="T17" fmla="*/ 223 w 223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3" h="28">
                  <a:moveTo>
                    <a:pt x="0" y="27"/>
                  </a:moveTo>
                  <a:lnTo>
                    <a:pt x="222" y="27"/>
                  </a:lnTo>
                  <a:lnTo>
                    <a:pt x="214" y="0"/>
                  </a:lnTo>
                  <a:lnTo>
                    <a:pt x="8" y="0"/>
                  </a:lnTo>
                  <a:lnTo>
                    <a:pt x="0" y="27"/>
                  </a:lnTo>
                </a:path>
              </a:pathLst>
            </a:custGeom>
            <a:solidFill>
              <a:srgbClr val="999999"/>
            </a:solidFill>
            <a:ln w="12700" cap="rnd">
              <a:solidFill>
                <a:srgbClr val="9F9FA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52" name="Freeform 178"/>
            <p:cNvSpPr>
              <a:spLocks/>
            </p:cNvSpPr>
            <p:nvPr/>
          </p:nvSpPr>
          <p:spPr bwMode="auto">
            <a:xfrm rot="388125">
              <a:off x="1234" y="618"/>
              <a:ext cx="3303" cy="2953"/>
            </a:xfrm>
            <a:custGeom>
              <a:avLst/>
              <a:gdLst>
                <a:gd name="T0" fmla="*/ 33967 w 1082"/>
                <a:gd name="T1" fmla="*/ 1774696 h 670"/>
                <a:gd name="T2" fmla="*/ 1566 w 1082"/>
                <a:gd name="T3" fmla="*/ 2177022 h 670"/>
                <a:gd name="T4" fmla="*/ 6347 w 1082"/>
                <a:gd name="T5" fmla="*/ 2558096 h 670"/>
                <a:gd name="T6" fmla="*/ 33967 w 1082"/>
                <a:gd name="T7" fmla="*/ 2837379 h 670"/>
                <a:gd name="T8" fmla="*/ 25179 w 1082"/>
                <a:gd name="T9" fmla="*/ 3093545 h 670"/>
                <a:gd name="T10" fmla="*/ 20938 w 1082"/>
                <a:gd name="T11" fmla="*/ 3474389 h 670"/>
                <a:gd name="T12" fmla="*/ 45317 w 1082"/>
                <a:gd name="T13" fmla="*/ 3812067 h 670"/>
                <a:gd name="T14" fmla="*/ 107586 w 1082"/>
                <a:gd name="T15" fmla="*/ 4009839 h 670"/>
                <a:gd name="T16" fmla="*/ 128609 w 1082"/>
                <a:gd name="T17" fmla="*/ 4141525 h 670"/>
                <a:gd name="T18" fmla="*/ 193470 w 1082"/>
                <a:gd name="T19" fmla="*/ 4522268 h 670"/>
                <a:gd name="T20" fmla="*/ 274402 w 1082"/>
                <a:gd name="T21" fmla="*/ 4610192 h 670"/>
                <a:gd name="T22" fmla="*/ 333466 w 1082"/>
                <a:gd name="T23" fmla="*/ 4442294 h 670"/>
                <a:gd name="T24" fmla="*/ 382791 w 1082"/>
                <a:gd name="T25" fmla="*/ 4786831 h 670"/>
                <a:gd name="T26" fmla="*/ 447483 w 1082"/>
                <a:gd name="T27" fmla="*/ 4911311 h 670"/>
                <a:gd name="T28" fmla="*/ 529124 w 1082"/>
                <a:gd name="T29" fmla="*/ 4706774 h 670"/>
                <a:gd name="T30" fmla="*/ 574441 w 1082"/>
                <a:gd name="T31" fmla="*/ 4244523 h 670"/>
                <a:gd name="T32" fmla="*/ 608662 w 1082"/>
                <a:gd name="T33" fmla="*/ 4274322 h 670"/>
                <a:gd name="T34" fmla="*/ 664333 w 1082"/>
                <a:gd name="T35" fmla="*/ 4295883 h 670"/>
                <a:gd name="T36" fmla="*/ 705670 w 1082"/>
                <a:gd name="T37" fmla="*/ 4156250 h 670"/>
                <a:gd name="T38" fmla="*/ 743617 w 1082"/>
                <a:gd name="T39" fmla="*/ 3848702 h 670"/>
                <a:gd name="T40" fmla="*/ 756561 w 1082"/>
                <a:gd name="T41" fmla="*/ 3510949 h 670"/>
                <a:gd name="T42" fmla="*/ 781739 w 1082"/>
                <a:gd name="T43" fmla="*/ 3371295 h 670"/>
                <a:gd name="T44" fmla="*/ 842442 w 1082"/>
                <a:gd name="T45" fmla="*/ 3063768 h 670"/>
                <a:gd name="T46" fmla="*/ 866598 w 1082"/>
                <a:gd name="T47" fmla="*/ 2755872 h 670"/>
                <a:gd name="T48" fmla="*/ 875609 w 1082"/>
                <a:gd name="T49" fmla="*/ 2381476 h 670"/>
                <a:gd name="T50" fmla="*/ 868500 w 1082"/>
                <a:gd name="T51" fmla="*/ 2045684 h 670"/>
                <a:gd name="T52" fmla="*/ 846423 w 1082"/>
                <a:gd name="T53" fmla="*/ 1744549 h 670"/>
                <a:gd name="T54" fmla="*/ 855471 w 1082"/>
                <a:gd name="T55" fmla="*/ 1415435 h 670"/>
                <a:gd name="T56" fmla="*/ 833516 w 1082"/>
                <a:gd name="T57" fmla="*/ 916624 h 670"/>
                <a:gd name="T58" fmla="*/ 776187 w 1082"/>
                <a:gd name="T59" fmla="*/ 615502 h 670"/>
                <a:gd name="T60" fmla="*/ 754232 w 1082"/>
                <a:gd name="T61" fmla="*/ 264558 h 670"/>
                <a:gd name="T62" fmla="*/ 696649 w 1082"/>
                <a:gd name="T63" fmla="*/ 15074 h 670"/>
                <a:gd name="T64" fmla="*/ 648172 w 1082"/>
                <a:gd name="T65" fmla="*/ 36635 h 670"/>
                <a:gd name="T66" fmla="*/ 611876 w 1082"/>
                <a:gd name="T67" fmla="*/ 204533 h 670"/>
                <a:gd name="T68" fmla="*/ 589827 w 1082"/>
                <a:gd name="T69" fmla="*/ 154706 h 670"/>
                <a:gd name="T70" fmla="*/ 554293 w 1082"/>
                <a:gd name="T71" fmla="*/ 15074 h 670"/>
                <a:gd name="T72" fmla="*/ 509752 w 1082"/>
                <a:gd name="T73" fmla="*/ 29799 h 670"/>
                <a:gd name="T74" fmla="*/ 468672 w 1082"/>
                <a:gd name="T75" fmla="*/ 219606 h 670"/>
                <a:gd name="T76" fmla="*/ 438713 w 1082"/>
                <a:gd name="T77" fmla="*/ 286044 h 670"/>
                <a:gd name="T78" fmla="*/ 389928 w 1082"/>
                <a:gd name="T79" fmla="*/ 154706 h 670"/>
                <a:gd name="T80" fmla="*/ 336671 w 1082"/>
                <a:gd name="T81" fmla="*/ 212850 h 670"/>
                <a:gd name="T82" fmla="*/ 292126 w 1082"/>
                <a:gd name="T83" fmla="*/ 490595 h 670"/>
                <a:gd name="T84" fmla="*/ 250024 w 1082"/>
                <a:gd name="T85" fmla="*/ 484169 h 670"/>
                <a:gd name="T86" fmla="*/ 186870 w 1082"/>
                <a:gd name="T87" fmla="*/ 469016 h 670"/>
                <a:gd name="T88" fmla="*/ 137548 w 1082"/>
                <a:gd name="T89" fmla="*/ 623819 h 670"/>
                <a:gd name="T90" fmla="*/ 101239 w 1082"/>
                <a:gd name="T91" fmla="*/ 909784 h 670"/>
                <a:gd name="T92" fmla="*/ 80078 w 1082"/>
                <a:gd name="T93" fmla="*/ 1282312 h 670"/>
                <a:gd name="T94" fmla="*/ 78512 w 1082"/>
                <a:gd name="T95" fmla="*/ 1635142 h 67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082"/>
                <a:gd name="T145" fmla="*/ 0 h 670"/>
                <a:gd name="T146" fmla="*/ 1082 w 1082"/>
                <a:gd name="T147" fmla="*/ 670 h 67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082" h="670">
                  <a:moveTo>
                    <a:pt x="98" y="223"/>
                  </a:moveTo>
                  <a:lnTo>
                    <a:pt x="78" y="226"/>
                  </a:lnTo>
                  <a:lnTo>
                    <a:pt x="59" y="233"/>
                  </a:lnTo>
                  <a:lnTo>
                    <a:pt x="42" y="242"/>
                  </a:lnTo>
                  <a:lnTo>
                    <a:pt x="28" y="253"/>
                  </a:lnTo>
                  <a:lnTo>
                    <a:pt x="16" y="266"/>
                  </a:lnTo>
                  <a:lnTo>
                    <a:pt x="7" y="281"/>
                  </a:lnTo>
                  <a:lnTo>
                    <a:pt x="2" y="297"/>
                  </a:lnTo>
                  <a:lnTo>
                    <a:pt x="0" y="314"/>
                  </a:lnTo>
                  <a:lnTo>
                    <a:pt x="1" y="326"/>
                  </a:lnTo>
                  <a:lnTo>
                    <a:pt x="4" y="338"/>
                  </a:lnTo>
                  <a:lnTo>
                    <a:pt x="8" y="349"/>
                  </a:lnTo>
                  <a:lnTo>
                    <a:pt x="14" y="360"/>
                  </a:lnTo>
                  <a:lnTo>
                    <a:pt x="22" y="370"/>
                  </a:lnTo>
                  <a:lnTo>
                    <a:pt x="31" y="379"/>
                  </a:lnTo>
                  <a:lnTo>
                    <a:pt x="42" y="387"/>
                  </a:lnTo>
                  <a:lnTo>
                    <a:pt x="54" y="394"/>
                  </a:lnTo>
                  <a:lnTo>
                    <a:pt x="53" y="393"/>
                  </a:lnTo>
                  <a:lnTo>
                    <a:pt x="40" y="407"/>
                  </a:lnTo>
                  <a:lnTo>
                    <a:pt x="31" y="422"/>
                  </a:lnTo>
                  <a:lnTo>
                    <a:pt x="26" y="438"/>
                  </a:lnTo>
                  <a:lnTo>
                    <a:pt x="24" y="456"/>
                  </a:lnTo>
                  <a:lnTo>
                    <a:pt x="25" y="465"/>
                  </a:lnTo>
                  <a:lnTo>
                    <a:pt x="26" y="474"/>
                  </a:lnTo>
                  <a:lnTo>
                    <a:pt x="29" y="483"/>
                  </a:lnTo>
                  <a:lnTo>
                    <a:pt x="33" y="491"/>
                  </a:lnTo>
                  <a:lnTo>
                    <a:pt x="43" y="507"/>
                  </a:lnTo>
                  <a:lnTo>
                    <a:pt x="56" y="520"/>
                  </a:lnTo>
                  <a:lnTo>
                    <a:pt x="72" y="531"/>
                  </a:lnTo>
                  <a:lnTo>
                    <a:pt x="91" y="540"/>
                  </a:lnTo>
                  <a:lnTo>
                    <a:pt x="111" y="545"/>
                  </a:lnTo>
                  <a:lnTo>
                    <a:pt x="133" y="547"/>
                  </a:lnTo>
                  <a:lnTo>
                    <a:pt x="139" y="547"/>
                  </a:lnTo>
                  <a:lnTo>
                    <a:pt x="146" y="547"/>
                  </a:lnTo>
                  <a:lnTo>
                    <a:pt x="145" y="547"/>
                  </a:lnTo>
                  <a:lnTo>
                    <a:pt x="159" y="565"/>
                  </a:lnTo>
                  <a:lnTo>
                    <a:pt x="176" y="582"/>
                  </a:lnTo>
                  <a:lnTo>
                    <a:pt x="195" y="596"/>
                  </a:lnTo>
                  <a:lnTo>
                    <a:pt x="216" y="608"/>
                  </a:lnTo>
                  <a:lnTo>
                    <a:pt x="239" y="617"/>
                  </a:lnTo>
                  <a:lnTo>
                    <a:pt x="263" y="624"/>
                  </a:lnTo>
                  <a:lnTo>
                    <a:pt x="287" y="629"/>
                  </a:lnTo>
                  <a:lnTo>
                    <a:pt x="313" y="630"/>
                  </a:lnTo>
                  <a:lnTo>
                    <a:pt x="339" y="629"/>
                  </a:lnTo>
                  <a:lnTo>
                    <a:pt x="365" y="624"/>
                  </a:lnTo>
                  <a:lnTo>
                    <a:pt x="389" y="617"/>
                  </a:lnTo>
                  <a:lnTo>
                    <a:pt x="413" y="606"/>
                  </a:lnTo>
                  <a:lnTo>
                    <a:pt x="412" y="606"/>
                  </a:lnTo>
                  <a:lnTo>
                    <a:pt x="425" y="620"/>
                  </a:lnTo>
                  <a:lnTo>
                    <a:pt x="440" y="633"/>
                  </a:lnTo>
                  <a:lnTo>
                    <a:pt x="456" y="644"/>
                  </a:lnTo>
                  <a:lnTo>
                    <a:pt x="473" y="653"/>
                  </a:lnTo>
                  <a:lnTo>
                    <a:pt x="492" y="660"/>
                  </a:lnTo>
                  <a:lnTo>
                    <a:pt x="511" y="666"/>
                  </a:lnTo>
                  <a:lnTo>
                    <a:pt x="532" y="669"/>
                  </a:lnTo>
                  <a:lnTo>
                    <a:pt x="553" y="670"/>
                  </a:lnTo>
                  <a:lnTo>
                    <a:pt x="580" y="668"/>
                  </a:lnTo>
                  <a:lnTo>
                    <a:pt x="606" y="663"/>
                  </a:lnTo>
                  <a:lnTo>
                    <a:pt x="631" y="654"/>
                  </a:lnTo>
                  <a:lnTo>
                    <a:pt x="654" y="642"/>
                  </a:lnTo>
                  <a:lnTo>
                    <a:pt x="674" y="627"/>
                  </a:lnTo>
                  <a:lnTo>
                    <a:pt x="691" y="610"/>
                  </a:lnTo>
                  <a:lnTo>
                    <a:pt x="705" y="590"/>
                  </a:lnTo>
                  <a:lnTo>
                    <a:pt x="710" y="579"/>
                  </a:lnTo>
                  <a:lnTo>
                    <a:pt x="715" y="568"/>
                  </a:lnTo>
                  <a:lnTo>
                    <a:pt x="715" y="569"/>
                  </a:lnTo>
                  <a:lnTo>
                    <a:pt x="733" y="577"/>
                  </a:lnTo>
                  <a:lnTo>
                    <a:pt x="752" y="583"/>
                  </a:lnTo>
                  <a:lnTo>
                    <a:pt x="771" y="587"/>
                  </a:lnTo>
                  <a:lnTo>
                    <a:pt x="792" y="588"/>
                  </a:lnTo>
                  <a:lnTo>
                    <a:pt x="807" y="587"/>
                  </a:lnTo>
                  <a:lnTo>
                    <a:pt x="821" y="586"/>
                  </a:lnTo>
                  <a:lnTo>
                    <a:pt x="835" y="583"/>
                  </a:lnTo>
                  <a:lnTo>
                    <a:pt x="848" y="579"/>
                  </a:lnTo>
                  <a:lnTo>
                    <a:pt x="860" y="573"/>
                  </a:lnTo>
                  <a:lnTo>
                    <a:pt x="872" y="567"/>
                  </a:lnTo>
                  <a:lnTo>
                    <a:pt x="894" y="553"/>
                  </a:lnTo>
                  <a:lnTo>
                    <a:pt x="903" y="544"/>
                  </a:lnTo>
                  <a:lnTo>
                    <a:pt x="911" y="535"/>
                  </a:lnTo>
                  <a:lnTo>
                    <a:pt x="919" y="525"/>
                  </a:lnTo>
                  <a:lnTo>
                    <a:pt x="925" y="514"/>
                  </a:lnTo>
                  <a:lnTo>
                    <a:pt x="930" y="503"/>
                  </a:lnTo>
                  <a:lnTo>
                    <a:pt x="933" y="491"/>
                  </a:lnTo>
                  <a:lnTo>
                    <a:pt x="935" y="479"/>
                  </a:lnTo>
                  <a:lnTo>
                    <a:pt x="936" y="467"/>
                  </a:lnTo>
                  <a:lnTo>
                    <a:pt x="936" y="466"/>
                  </a:lnTo>
                  <a:lnTo>
                    <a:pt x="952" y="464"/>
                  </a:lnTo>
                  <a:lnTo>
                    <a:pt x="966" y="460"/>
                  </a:lnTo>
                  <a:lnTo>
                    <a:pt x="981" y="455"/>
                  </a:lnTo>
                  <a:lnTo>
                    <a:pt x="994" y="450"/>
                  </a:lnTo>
                  <a:lnTo>
                    <a:pt x="1019" y="436"/>
                  </a:lnTo>
                  <a:lnTo>
                    <a:pt x="1041" y="418"/>
                  </a:lnTo>
                  <a:lnTo>
                    <a:pt x="1050" y="409"/>
                  </a:lnTo>
                  <a:lnTo>
                    <a:pt x="1058" y="398"/>
                  </a:lnTo>
                  <a:lnTo>
                    <a:pt x="1065" y="387"/>
                  </a:lnTo>
                  <a:lnTo>
                    <a:pt x="1071" y="376"/>
                  </a:lnTo>
                  <a:lnTo>
                    <a:pt x="1076" y="364"/>
                  </a:lnTo>
                  <a:lnTo>
                    <a:pt x="1079" y="351"/>
                  </a:lnTo>
                  <a:lnTo>
                    <a:pt x="1081" y="338"/>
                  </a:lnTo>
                  <a:lnTo>
                    <a:pt x="1082" y="325"/>
                  </a:lnTo>
                  <a:lnTo>
                    <a:pt x="1081" y="313"/>
                  </a:lnTo>
                  <a:lnTo>
                    <a:pt x="1080" y="301"/>
                  </a:lnTo>
                  <a:lnTo>
                    <a:pt x="1077" y="290"/>
                  </a:lnTo>
                  <a:lnTo>
                    <a:pt x="1073" y="279"/>
                  </a:lnTo>
                  <a:lnTo>
                    <a:pt x="1068" y="268"/>
                  </a:lnTo>
                  <a:lnTo>
                    <a:pt x="1062" y="258"/>
                  </a:lnTo>
                  <a:lnTo>
                    <a:pt x="1047" y="238"/>
                  </a:lnTo>
                  <a:lnTo>
                    <a:pt x="1046" y="238"/>
                  </a:lnTo>
                  <a:lnTo>
                    <a:pt x="1051" y="227"/>
                  </a:lnTo>
                  <a:lnTo>
                    <a:pt x="1054" y="216"/>
                  </a:lnTo>
                  <a:lnTo>
                    <a:pt x="1056" y="204"/>
                  </a:lnTo>
                  <a:lnTo>
                    <a:pt x="1057" y="193"/>
                  </a:lnTo>
                  <a:lnTo>
                    <a:pt x="1055" y="174"/>
                  </a:lnTo>
                  <a:lnTo>
                    <a:pt x="1050" y="156"/>
                  </a:lnTo>
                  <a:lnTo>
                    <a:pt x="1041" y="140"/>
                  </a:lnTo>
                  <a:lnTo>
                    <a:pt x="1030" y="125"/>
                  </a:lnTo>
                  <a:lnTo>
                    <a:pt x="1016" y="111"/>
                  </a:lnTo>
                  <a:lnTo>
                    <a:pt x="999" y="100"/>
                  </a:lnTo>
                  <a:lnTo>
                    <a:pt x="980" y="91"/>
                  </a:lnTo>
                  <a:lnTo>
                    <a:pt x="959" y="84"/>
                  </a:lnTo>
                  <a:lnTo>
                    <a:pt x="953" y="66"/>
                  </a:lnTo>
                  <a:lnTo>
                    <a:pt x="944" y="50"/>
                  </a:lnTo>
                  <a:lnTo>
                    <a:pt x="932" y="36"/>
                  </a:lnTo>
                  <a:lnTo>
                    <a:pt x="917" y="24"/>
                  </a:lnTo>
                  <a:lnTo>
                    <a:pt x="900" y="14"/>
                  </a:lnTo>
                  <a:lnTo>
                    <a:pt x="881" y="6"/>
                  </a:lnTo>
                  <a:lnTo>
                    <a:pt x="861" y="2"/>
                  </a:lnTo>
                  <a:lnTo>
                    <a:pt x="839" y="0"/>
                  </a:lnTo>
                  <a:lnTo>
                    <a:pt x="826" y="1"/>
                  </a:lnTo>
                  <a:lnTo>
                    <a:pt x="813" y="2"/>
                  </a:lnTo>
                  <a:lnTo>
                    <a:pt x="801" y="5"/>
                  </a:lnTo>
                  <a:lnTo>
                    <a:pt x="789" y="9"/>
                  </a:lnTo>
                  <a:lnTo>
                    <a:pt x="777" y="15"/>
                  </a:lnTo>
                  <a:lnTo>
                    <a:pt x="766" y="21"/>
                  </a:lnTo>
                  <a:lnTo>
                    <a:pt x="756" y="28"/>
                  </a:lnTo>
                  <a:lnTo>
                    <a:pt x="747" y="36"/>
                  </a:lnTo>
                  <a:lnTo>
                    <a:pt x="739" y="28"/>
                  </a:lnTo>
                  <a:lnTo>
                    <a:pt x="729" y="21"/>
                  </a:lnTo>
                  <a:lnTo>
                    <a:pt x="719" y="15"/>
                  </a:lnTo>
                  <a:lnTo>
                    <a:pt x="708" y="9"/>
                  </a:lnTo>
                  <a:lnTo>
                    <a:pt x="697" y="5"/>
                  </a:lnTo>
                  <a:lnTo>
                    <a:pt x="685" y="2"/>
                  </a:lnTo>
                  <a:lnTo>
                    <a:pt x="673" y="1"/>
                  </a:lnTo>
                  <a:lnTo>
                    <a:pt x="660" y="0"/>
                  </a:lnTo>
                  <a:lnTo>
                    <a:pt x="645" y="1"/>
                  </a:lnTo>
                  <a:lnTo>
                    <a:pt x="630" y="4"/>
                  </a:lnTo>
                  <a:lnTo>
                    <a:pt x="616" y="8"/>
                  </a:lnTo>
                  <a:lnTo>
                    <a:pt x="602" y="14"/>
                  </a:lnTo>
                  <a:lnTo>
                    <a:pt x="590" y="21"/>
                  </a:lnTo>
                  <a:lnTo>
                    <a:pt x="579" y="30"/>
                  </a:lnTo>
                  <a:lnTo>
                    <a:pt x="570" y="40"/>
                  </a:lnTo>
                  <a:lnTo>
                    <a:pt x="562" y="51"/>
                  </a:lnTo>
                  <a:lnTo>
                    <a:pt x="562" y="53"/>
                  </a:lnTo>
                  <a:lnTo>
                    <a:pt x="542" y="39"/>
                  </a:lnTo>
                  <a:lnTo>
                    <a:pt x="519" y="29"/>
                  </a:lnTo>
                  <a:lnTo>
                    <a:pt x="507" y="25"/>
                  </a:lnTo>
                  <a:lnTo>
                    <a:pt x="495" y="22"/>
                  </a:lnTo>
                  <a:lnTo>
                    <a:pt x="482" y="21"/>
                  </a:lnTo>
                  <a:lnTo>
                    <a:pt x="469" y="20"/>
                  </a:lnTo>
                  <a:lnTo>
                    <a:pt x="451" y="21"/>
                  </a:lnTo>
                  <a:lnTo>
                    <a:pt x="433" y="24"/>
                  </a:lnTo>
                  <a:lnTo>
                    <a:pt x="416" y="29"/>
                  </a:lnTo>
                  <a:lnTo>
                    <a:pt x="400" y="36"/>
                  </a:lnTo>
                  <a:lnTo>
                    <a:pt x="385" y="45"/>
                  </a:lnTo>
                  <a:lnTo>
                    <a:pt x="372" y="55"/>
                  </a:lnTo>
                  <a:lnTo>
                    <a:pt x="361" y="67"/>
                  </a:lnTo>
                  <a:lnTo>
                    <a:pt x="351" y="80"/>
                  </a:lnTo>
                  <a:lnTo>
                    <a:pt x="350" y="81"/>
                  </a:lnTo>
                  <a:lnTo>
                    <a:pt x="330" y="72"/>
                  </a:lnTo>
                  <a:lnTo>
                    <a:pt x="309" y="66"/>
                  </a:lnTo>
                  <a:lnTo>
                    <a:pt x="287" y="62"/>
                  </a:lnTo>
                  <a:lnTo>
                    <a:pt x="265" y="61"/>
                  </a:lnTo>
                  <a:lnTo>
                    <a:pt x="248" y="62"/>
                  </a:lnTo>
                  <a:lnTo>
                    <a:pt x="231" y="64"/>
                  </a:lnTo>
                  <a:lnTo>
                    <a:pt x="215" y="67"/>
                  </a:lnTo>
                  <a:lnTo>
                    <a:pt x="199" y="72"/>
                  </a:lnTo>
                  <a:lnTo>
                    <a:pt x="184" y="78"/>
                  </a:lnTo>
                  <a:lnTo>
                    <a:pt x="170" y="85"/>
                  </a:lnTo>
                  <a:lnTo>
                    <a:pt x="157" y="94"/>
                  </a:lnTo>
                  <a:lnTo>
                    <a:pt x="145" y="103"/>
                  </a:lnTo>
                  <a:lnTo>
                    <a:pt x="134" y="113"/>
                  </a:lnTo>
                  <a:lnTo>
                    <a:pt x="125" y="124"/>
                  </a:lnTo>
                  <a:lnTo>
                    <a:pt x="116" y="136"/>
                  </a:lnTo>
                  <a:lnTo>
                    <a:pt x="109" y="148"/>
                  </a:lnTo>
                  <a:lnTo>
                    <a:pt x="104" y="161"/>
                  </a:lnTo>
                  <a:lnTo>
                    <a:pt x="99" y="175"/>
                  </a:lnTo>
                  <a:lnTo>
                    <a:pt x="97" y="189"/>
                  </a:lnTo>
                  <a:lnTo>
                    <a:pt x="96" y="204"/>
                  </a:lnTo>
                  <a:lnTo>
                    <a:pt x="96" y="214"/>
                  </a:lnTo>
                  <a:lnTo>
                    <a:pt x="97" y="223"/>
                  </a:lnTo>
                  <a:lnTo>
                    <a:pt x="98" y="223"/>
                  </a:lnTo>
                  <a:close/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53" name="Rectangle 179"/>
            <p:cNvSpPr>
              <a:spLocks noChangeArrowheads="1"/>
            </p:cNvSpPr>
            <p:nvPr/>
          </p:nvSpPr>
          <p:spPr bwMode="auto">
            <a:xfrm>
              <a:off x="2039" y="1111"/>
              <a:ext cx="245" cy="223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US"/>
            </a:p>
          </p:txBody>
        </p:sp>
        <p:sp>
          <p:nvSpPr>
            <p:cNvPr id="13454" name="Rectangle 180"/>
            <p:cNvSpPr>
              <a:spLocks noChangeArrowheads="1"/>
            </p:cNvSpPr>
            <p:nvPr/>
          </p:nvSpPr>
          <p:spPr bwMode="auto">
            <a:xfrm>
              <a:off x="3020" y="2567"/>
              <a:ext cx="246" cy="224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US"/>
            </a:p>
          </p:txBody>
        </p:sp>
        <p:sp>
          <p:nvSpPr>
            <p:cNvPr id="13455" name="Rectangle 181"/>
            <p:cNvSpPr>
              <a:spLocks noChangeArrowheads="1"/>
            </p:cNvSpPr>
            <p:nvPr/>
          </p:nvSpPr>
          <p:spPr bwMode="auto">
            <a:xfrm>
              <a:off x="3920" y="2014"/>
              <a:ext cx="246" cy="223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US"/>
            </a:p>
          </p:txBody>
        </p:sp>
        <p:sp>
          <p:nvSpPr>
            <p:cNvPr id="13456" name="Rectangle 182"/>
            <p:cNvSpPr>
              <a:spLocks noChangeArrowheads="1"/>
            </p:cNvSpPr>
            <p:nvPr/>
          </p:nvSpPr>
          <p:spPr bwMode="auto">
            <a:xfrm>
              <a:off x="2029" y="2752"/>
              <a:ext cx="245" cy="223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US"/>
            </a:p>
          </p:txBody>
        </p:sp>
        <p:sp>
          <p:nvSpPr>
            <p:cNvPr id="13457" name="Rectangle 183"/>
            <p:cNvSpPr>
              <a:spLocks noChangeArrowheads="1"/>
            </p:cNvSpPr>
            <p:nvPr/>
          </p:nvSpPr>
          <p:spPr bwMode="auto">
            <a:xfrm>
              <a:off x="2335" y="2004"/>
              <a:ext cx="246" cy="223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US"/>
            </a:p>
          </p:txBody>
        </p:sp>
        <p:sp>
          <p:nvSpPr>
            <p:cNvPr id="13458" name="Rectangle 184"/>
            <p:cNvSpPr>
              <a:spLocks noChangeArrowheads="1"/>
            </p:cNvSpPr>
            <p:nvPr/>
          </p:nvSpPr>
          <p:spPr bwMode="auto">
            <a:xfrm>
              <a:off x="3010" y="1528"/>
              <a:ext cx="246" cy="224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52"/>
          <p:cNvGrpSpPr>
            <a:grpSpLocks/>
          </p:cNvGrpSpPr>
          <p:nvPr/>
        </p:nvGrpSpPr>
        <p:grpSpPr bwMode="auto">
          <a:xfrm>
            <a:off x="795338" y="2214563"/>
            <a:ext cx="7656512" cy="2733675"/>
            <a:chOff x="572" y="411"/>
            <a:chExt cx="4823" cy="1722"/>
          </a:xfrm>
        </p:grpSpPr>
        <p:sp>
          <p:nvSpPr>
            <p:cNvPr id="14343" name="Line 3"/>
            <p:cNvSpPr>
              <a:spLocks noChangeShapeType="1"/>
            </p:cNvSpPr>
            <p:nvPr/>
          </p:nvSpPr>
          <p:spPr bwMode="auto">
            <a:xfrm>
              <a:off x="573" y="1787"/>
              <a:ext cx="4631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344" name="Rectangle 4"/>
            <p:cNvSpPr>
              <a:spLocks noChangeArrowheads="1"/>
            </p:cNvSpPr>
            <p:nvPr/>
          </p:nvSpPr>
          <p:spPr bwMode="auto">
            <a:xfrm>
              <a:off x="5237" y="1636"/>
              <a:ext cx="158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i="1"/>
                <a:t>t</a:t>
              </a:r>
            </a:p>
          </p:txBody>
        </p:sp>
        <p:sp>
          <p:nvSpPr>
            <p:cNvPr id="14345" name="Line 5"/>
            <p:cNvSpPr>
              <a:spLocks noChangeShapeType="1"/>
            </p:cNvSpPr>
            <p:nvPr/>
          </p:nvSpPr>
          <p:spPr bwMode="auto">
            <a:xfrm>
              <a:off x="573" y="1371"/>
              <a:ext cx="4631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346" name="Rectangle 6"/>
            <p:cNvSpPr>
              <a:spLocks noChangeArrowheads="1"/>
            </p:cNvSpPr>
            <p:nvPr/>
          </p:nvSpPr>
          <p:spPr bwMode="auto">
            <a:xfrm>
              <a:off x="5237" y="1220"/>
              <a:ext cx="158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i="1"/>
                <a:t>t</a:t>
              </a:r>
            </a:p>
          </p:txBody>
        </p:sp>
        <p:sp>
          <p:nvSpPr>
            <p:cNvPr id="14347" name="Line 7"/>
            <p:cNvSpPr>
              <a:spLocks noChangeShapeType="1"/>
            </p:cNvSpPr>
            <p:nvPr/>
          </p:nvSpPr>
          <p:spPr bwMode="auto">
            <a:xfrm>
              <a:off x="572" y="945"/>
              <a:ext cx="46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348" name="Rectangle 8"/>
            <p:cNvSpPr>
              <a:spLocks noChangeArrowheads="1"/>
            </p:cNvSpPr>
            <p:nvPr/>
          </p:nvSpPr>
          <p:spPr bwMode="auto">
            <a:xfrm>
              <a:off x="5236" y="805"/>
              <a:ext cx="158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i="1"/>
                <a:t>t</a:t>
              </a:r>
            </a:p>
          </p:txBody>
        </p:sp>
        <p:sp>
          <p:nvSpPr>
            <p:cNvPr id="14349" name="Line 9"/>
            <p:cNvSpPr>
              <a:spLocks noChangeShapeType="1"/>
            </p:cNvSpPr>
            <p:nvPr/>
          </p:nvSpPr>
          <p:spPr bwMode="auto">
            <a:xfrm>
              <a:off x="572" y="529"/>
              <a:ext cx="46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350" name="Rectangle 10"/>
            <p:cNvSpPr>
              <a:spLocks noChangeArrowheads="1"/>
            </p:cNvSpPr>
            <p:nvPr/>
          </p:nvSpPr>
          <p:spPr bwMode="auto">
            <a:xfrm>
              <a:off x="5225" y="411"/>
              <a:ext cx="158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i="1"/>
                <a:t>t</a:t>
              </a:r>
            </a:p>
          </p:txBody>
        </p:sp>
        <p:sp>
          <p:nvSpPr>
            <p:cNvPr id="14351" name="Line 11"/>
            <p:cNvSpPr>
              <a:spLocks noChangeShapeType="1"/>
            </p:cNvSpPr>
            <p:nvPr/>
          </p:nvSpPr>
          <p:spPr bwMode="auto">
            <a:xfrm>
              <a:off x="877" y="533"/>
              <a:ext cx="0" cy="12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352" name="Line 12"/>
            <p:cNvSpPr>
              <a:spLocks noChangeShapeType="1"/>
            </p:cNvSpPr>
            <p:nvPr/>
          </p:nvSpPr>
          <p:spPr bwMode="auto">
            <a:xfrm>
              <a:off x="2503" y="955"/>
              <a:ext cx="29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353" name="Line 15"/>
            <p:cNvSpPr>
              <a:spLocks noChangeShapeType="1"/>
            </p:cNvSpPr>
            <p:nvPr/>
          </p:nvSpPr>
          <p:spPr bwMode="auto">
            <a:xfrm>
              <a:off x="1583" y="968"/>
              <a:ext cx="29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354" name="Line 16"/>
            <p:cNvSpPr>
              <a:spLocks noChangeShapeType="1"/>
            </p:cNvSpPr>
            <p:nvPr/>
          </p:nvSpPr>
          <p:spPr bwMode="auto">
            <a:xfrm>
              <a:off x="1540" y="533"/>
              <a:ext cx="29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355" name="Line 17"/>
            <p:cNvSpPr>
              <a:spLocks noChangeShapeType="1"/>
            </p:cNvSpPr>
            <p:nvPr/>
          </p:nvSpPr>
          <p:spPr bwMode="auto">
            <a:xfrm>
              <a:off x="2228" y="1387"/>
              <a:ext cx="29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356" name="Line 18"/>
            <p:cNvSpPr>
              <a:spLocks noChangeShapeType="1"/>
            </p:cNvSpPr>
            <p:nvPr/>
          </p:nvSpPr>
          <p:spPr bwMode="auto">
            <a:xfrm flipH="1">
              <a:off x="905" y="2012"/>
              <a:ext cx="94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357" name="Line 19"/>
            <p:cNvSpPr>
              <a:spLocks noChangeShapeType="1"/>
            </p:cNvSpPr>
            <p:nvPr/>
          </p:nvSpPr>
          <p:spPr bwMode="auto">
            <a:xfrm>
              <a:off x="2564" y="2012"/>
              <a:ext cx="9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358" name="Rectangle 20"/>
            <p:cNvSpPr>
              <a:spLocks noChangeArrowheads="1"/>
            </p:cNvSpPr>
            <p:nvPr/>
          </p:nvSpPr>
          <p:spPr bwMode="auto">
            <a:xfrm>
              <a:off x="1934" y="1885"/>
              <a:ext cx="524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Delay</a:t>
              </a:r>
            </a:p>
          </p:txBody>
        </p:sp>
        <p:sp>
          <p:nvSpPr>
            <p:cNvPr id="14359" name="Line 21"/>
            <p:cNvSpPr>
              <a:spLocks noChangeShapeType="1"/>
            </p:cNvSpPr>
            <p:nvPr/>
          </p:nvSpPr>
          <p:spPr bwMode="auto">
            <a:xfrm>
              <a:off x="1883" y="959"/>
              <a:ext cx="29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360" name="Line 22"/>
            <p:cNvSpPr>
              <a:spLocks noChangeShapeType="1"/>
            </p:cNvSpPr>
            <p:nvPr/>
          </p:nvSpPr>
          <p:spPr bwMode="auto">
            <a:xfrm>
              <a:off x="3145" y="1375"/>
              <a:ext cx="29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361" name="Line 23"/>
            <p:cNvSpPr>
              <a:spLocks noChangeShapeType="1"/>
            </p:cNvSpPr>
            <p:nvPr/>
          </p:nvSpPr>
          <p:spPr bwMode="auto">
            <a:xfrm>
              <a:off x="2564" y="1391"/>
              <a:ext cx="29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362" name="Rectangle 24"/>
            <p:cNvSpPr>
              <a:spLocks noChangeArrowheads="1"/>
            </p:cNvSpPr>
            <p:nvPr/>
          </p:nvSpPr>
          <p:spPr bwMode="auto">
            <a:xfrm>
              <a:off x="2407" y="1034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3</a:t>
              </a:r>
            </a:p>
          </p:txBody>
        </p:sp>
        <p:sp>
          <p:nvSpPr>
            <p:cNvPr id="14363" name="Rectangle 25"/>
            <p:cNvSpPr>
              <a:spLocks noChangeArrowheads="1"/>
            </p:cNvSpPr>
            <p:nvPr/>
          </p:nvSpPr>
          <p:spPr bwMode="auto">
            <a:xfrm>
              <a:off x="1757" y="1045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1</a:t>
              </a:r>
            </a:p>
          </p:txBody>
        </p:sp>
        <p:sp>
          <p:nvSpPr>
            <p:cNvPr id="14364" name="Line 26"/>
            <p:cNvSpPr>
              <a:spLocks noChangeShapeType="1"/>
            </p:cNvSpPr>
            <p:nvPr/>
          </p:nvSpPr>
          <p:spPr bwMode="auto">
            <a:xfrm>
              <a:off x="2205" y="964"/>
              <a:ext cx="29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365" name="Rectangle 27"/>
            <p:cNvSpPr>
              <a:spLocks noChangeArrowheads="1"/>
            </p:cNvSpPr>
            <p:nvPr/>
          </p:nvSpPr>
          <p:spPr bwMode="auto">
            <a:xfrm>
              <a:off x="2058" y="1050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2</a:t>
              </a:r>
            </a:p>
          </p:txBody>
        </p:sp>
        <p:sp>
          <p:nvSpPr>
            <p:cNvPr id="14366" name="Rectangle 28"/>
            <p:cNvSpPr>
              <a:spLocks noChangeArrowheads="1"/>
            </p:cNvSpPr>
            <p:nvPr/>
          </p:nvSpPr>
          <p:spPr bwMode="auto">
            <a:xfrm>
              <a:off x="3021" y="1479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3</a:t>
              </a:r>
            </a:p>
          </p:txBody>
        </p:sp>
        <p:sp>
          <p:nvSpPr>
            <p:cNvPr id="14367" name="Rectangle 29"/>
            <p:cNvSpPr>
              <a:spLocks noChangeArrowheads="1"/>
            </p:cNvSpPr>
            <p:nvPr/>
          </p:nvSpPr>
          <p:spPr bwMode="auto">
            <a:xfrm>
              <a:off x="2376" y="1461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1</a:t>
              </a:r>
            </a:p>
          </p:txBody>
        </p:sp>
        <p:sp>
          <p:nvSpPr>
            <p:cNvPr id="14368" name="Rectangle 30"/>
            <p:cNvSpPr>
              <a:spLocks noChangeArrowheads="1"/>
            </p:cNvSpPr>
            <p:nvPr/>
          </p:nvSpPr>
          <p:spPr bwMode="auto">
            <a:xfrm>
              <a:off x="2714" y="1466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2</a:t>
              </a:r>
            </a:p>
          </p:txBody>
        </p:sp>
        <p:sp>
          <p:nvSpPr>
            <p:cNvPr id="14369" name="Line 31"/>
            <p:cNvSpPr>
              <a:spLocks noChangeShapeType="1"/>
            </p:cNvSpPr>
            <p:nvPr/>
          </p:nvSpPr>
          <p:spPr bwMode="auto">
            <a:xfrm>
              <a:off x="1877" y="542"/>
              <a:ext cx="29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370" name="Line 32"/>
            <p:cNvSpPr>
              <a:spLocks noChangeShapeType="1"/>
            </p:cNvSpPr>
            <p:nvPr/>
          </p:nvSpPr>
          <p:spPr bwMode="auto">
            <a:xfrm>
              <a:off x="2867" y="1383"/>
              <a:ext cx="29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371" name="Rectangle 33"/>
            <p:cNvSpPr>
              <a:spLocks noChangeArrowheads="1"/>
            </p:cNvSpPr>
            <p:nvPr/>
          </p:nvSpPr>
          <p:spPr bwMode="auto">
            <a:xfrm>
              <a:off x="1770" y="629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3</a:t>
              </a:r>
            </a:p>
          </p:txBody>
        </p:sp>
        <p:sp>
          <p:nvSpPr>
            <p:cNvPr id="14372" name="Rectangle 35"/>
            <p:cNvSpPr>
              <a:spLocks noChangeArrowheads="1"/>
            </p:cNvSpPr>
            <p:nvPr/>
          </p:nvSpPr>
          <p:spPr bwMode="auto">
            <a:xfrm>
              <a:off x="1447" y="632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2</a:t>
              </a:r>
            </a:p>
          </p:txBody>
        </p:sp>
        <p:sp>
          <p:nvSpPr>
            <p:cNvPr id="14373" name="Line 38"/>
            <p:cNvSpPr>
              <a:spLocks noChangeShapeType="1"/>
            </p:cNvSpPr>
            <p:nvPr/>
          </p:nvSpPr>
          <p:spPr bwMode="auto">
            <a:xfrm>
              <a:off x="902" y="533"/>
              <a:ext cx="29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374" name="Line 39"/>
            <p:cNvSpPr>
              <a:spLocks noChangeShapeType="1"/>
            </p:cNvSpPr>
            <p:nvPr/>
          </p:nvSpPr>
          <p:spPr bwMode="auto">
            <a:xfrm>
              <a:off x="1244" y="542"/>
              <a:ext cx="29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375" name="Rectangle 40"/>
            <p:cNvSpPr>
              <a:spLocks noChangeArrowheads="1"/>
            </p:cNvSpPr>
            <p:nvPr/>
          </p:nvSpPr>
          <p:spPr bwMode="auto">
            <a:xfrm>
              <a:off x="1133" y="619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1</a:t>
              </a:r>
            </a:p>
          </p:txBody>
        </p:sp>
      </p:grpSp>
      <p:sp>
        <p:nvSpPr>
          <p:cNvPr id="14339" name="Rectangle 50"/>
          <p:cNvSpPr>
            <a:spLocks noChangeArrowheads="1"/>
          </p:cNvSpPr>
          <p:nvPr/>
        </p:nvSpPr>
        <p:spPr bwMode="auto">
          <a:xfrm>
            <a:off x="906463" y="4937125"/>
            <a:ext cx="7239000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2400"/>
              <a:t>Minimum Delay = 3</a:t>
            </a:r>
            <a:r>
              <a:rPr lang="el-GR" sz="2400" i="1">
                <a:latin typeface="Times New Roman" pitchFamily="18" charset="0"/>
                <a:cs typeface="Times New Roman" pitchFamily="18" charset="0"/>
              </a:rPr>
              <a:t>τ</a:t>
            </a:r>
            <a:r>
              <a:rPr lang="en-US" sz="2400"/>
              <a:t> + 5(</a:t>
            </a:r>
            <a:r>
              <a:rPr lang="en-US" sz="2400" i="1"/>
              <a:t>T</a:t>
            </a:r>
            <a:r>
              <a:rPr lang="en-US" sz="2400"/>
              <a:t>/3)  (single path assumed)</a:t>
            </a:r>
          </a:p>
        </p:txBody>
      </p:sp>
      <p:sp>
        <p:nvSpPr>
          <p:cNvPr id="14340" name="Rectangle 51"/>
          <p:cNvSpPr>
            <a:spLocks noChangeArrowheads="1"/>
          </p:cNvSpPr>
          <p:nvPr/>
        </p:nvSpPr>
        <p:spPr bwMode="auto">
          <a:xfrm>
            <a:off x="898525" y="5394325"/>
            <a:ext cx="7169150" cy="819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2400"/>
              <a:t>Additional queueing delays possible at each link</a:t>
            </a:r>
          </a:p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2400"/>
              <a:t>Packet pipelining enables message to arrive sooner</a:t>
            </a:r>
          </a:p>
        </p:txBody>
      </p:sp>
      <p:sp>
        <p:nvSpPr>
          <p:cNvPr id="14341" name="Rectangle 5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Packet Switching Delay</a:t>
            </a:r>
          </a:p>
        </p:txBody>
      </p:sp>
      <p:sp>
        <p:nvSpPr>
          <p:cNvPr id="14342" name="Rectangle 55"/>
          <p:cNvSpPr>
            <a:spLocks noChangeArrowheads="1"/>
          </p:cNvSpPr>
          <p:nvPr/>
        </p:nvSpPr>
        <p:spPr bwMode="auto">
          <a:xfrm>
            <a:off x="849313" y="1366838"/>
            <a:ext cx="7656512" cy="819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2400"/>
              <a:t>Assume three packets corresponding to one message traverse same path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Line 1027"/>
          <p:cNvSpPr>
            <a:spLocks noChangeShapeType="1"/>
          </p:cNvSpPr>
          <p:nvPr/>
        </p:nvSpPr>
        <p:spPr bwMode="auto">
          <a:xfrm>
            <a:off x="960438" y="3733800"/>
            <a:ext cx="7351712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5363" name="Rectangle 1028"/>
          <p:cNvSpPr>
            <a:spLocks noChangeArrowheads="1"/>
          </p:cNvSpPr>
          <p:nvPr/>
        </p:nvSpPr>
        <p:spPr bwMode="auto">
          <a:xfrm>
            <a:off x="8364538" y="3494088"/>
            <a:ext cx="250825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i="1"/>
              <a:t>t</a:t>
            </a:r>
          </a:p>
        </p:txBody>
      </p:sp>
      <p:sp>
        <p:nvSpPr>
          <p:cNvPr id="15364" name="Line 1029"/>
          <p:cNvSpPr>
            <a:spLocks noChangeShapeType="1"/>
          </p:cNvSpPr>
          <p:nvPr/>
        </p:nvSpPr>
        <p:spPr bwMode="auto">
          <a:xfrm>
            <a:off x="960438" y="3073400"/>
            <a:ext cx="7351712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5365" name="Rectangle 1030"/>
          <p:cNvSpPr>
            <a:spLocks noChangeArrowheads="1"/>
          </p:cNvSpPr>
          <p:nvPr/>
        </p:nvSpPr>
        <p:spPr bwMode="auto">
          <a:xfrm>
            <a:off x="8364538" y="2833688"/>
            <a:ext cx="250825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i="1"/>
              <a:t>t</a:t>
            </a:r>
          </a:p>
        </p:txBody>
      </p:sp>
      <p:sp>
        <p:nvSpPr>
          <p:cNvPr id="15366" name="Line 1031"/>
          <p:cNvSpPr>
            <a:spLocks noChangeShapeType="1"/>
          </p:cNvSpPr>
          <p:nvPr/>
        </p:nvSpPr>
        <p:spPr bwMode="auto">
          <a:xfrm>
            <a:off x="958850" y="2397125"/>
            <a:ext cx="7353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5367" name="Rectangle 1032"/>
          <p:cNvSpPr>
            <a:spLocks noChangeArrowheads="1"/>
          </p:cNvSpPr>
          <p:nvPr/>
        </p:nvSpPr>
        <p:spPr bwMode="auto">
          <a:xfrm>
            <a:off x="8362950" y="2174875"/>
            <a:ext cx="250825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i="1"/>
              <a:t>t</a:t>
            </a:r>
          </a:p>
        </p:txBody>
      </p:sp>
      <p:sp>
        <p:nvSpPr>
          <p:cNvPr id="15368" name="Line 1033"/>
          <p:cNvSpPr>
            <a:spLocks noChangeShapeType="1"/>
          </p:cNvSpPr>
          <p:nvPr/>
        </p:nvSpPr>
        <p:spPr bwMode="auto">
          <a:xfrm>
            <a:off x="958850" y="1736725"/>
            <a:ext cx="73199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5369" name="Rectangle 1034"/>
          <p:cNvSpPr>
            <a:spLocks noChangeArrowheads="1"/>
          </p:cNvSpPr>
          <p:nvPr/>
        </p:nvSpPr>
        <p:spPr bwMode="auto">
          <a:xfrm>
            <a:off x="8345488" y="1549400"/>
            <a:ext cx="250825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i="1"/>
              <a:t>t</a:t>
            </a:r>
          </a:p>
        </p:txBody>
      </p:sp>
      <p:sp>
        <p:nvSpPr>
          <p:cNvPr id="15370" name="Line 1035"/>
          <p:cNvSpPr>
            <a:spLocks noChangeShapeType="1"/>
          </p:cNvSpPr>
          <p:nvPr/>
        </p:nvSpPr>
        <p:spPr bwMode="auto">
          <a:xfrm>
            <a:off x="1443038" y="1743075"/>
            <a:ext cx="0" cy="1973263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5371" name="Line 1036"/>
          <p:cNvSpPr>
            <a:spLocks noChangeShapeType="1"/>
          </p:cNvSpPr>
          <p:nvPr/>
        </p:nvSpPr>
        <p:spPr bwMode="auto">
          <a:xfrm>
            <a:off x="4024313" y="2413000"/>
            <a:ext cx="461962" cy="647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5372" name="Line 1037"/>
          <p:cNvSpPr>
            <a:spLocks noChangeShapeType="1"/>
          </p:cNvSpPr>
          <p:nvPr/>
        </p:nvSpPr>
        <p:spPr bwMode="auto">
          <a:xfrm>
            <a:off x="2563813" y="2433638"/>
            <a:ext cx="461962" cy="647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5373" name="Line 1038"/>
          <p:cNvSpPr>
            <a:spLocks noChangeShapeType="1"/>
          </p:cNvSpPr>
          <p:nvPr/>
        </p:nvSpPr>
        <p:spPr bwMode="auto">
          <a:xfrm>
            <a:off x="2495550" y="1743075"/>
            <a:ext cx="461963" cy="647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5374" name="Line 1039"/>
          <p:cNvSpPr>
            <a:spLocks noChangeShapeType="1"/>
          </p:cNvSpPr>
          <p:nvPr/>
        </p:nvSpPr>
        <p:spPr bwMode="auto">
          <a:xfrm>
            <a:off x="3587750" y="3098800"/>
            <a:ext cx="461963" cy="647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5375" name="Line 1040"/>
          <p:cNvSpPr>
            <a:spLocks noChangeShapeType="1"/>
          </p:cNvSpPr>
          <p:nvPr/>
        </p:nvSpPr>
        <p:spPr bwMode="auto">
          <a:xfrm>
            <a:off x="3040063" y="2419350"/>
            <a:ext cx="461962" cy="647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5376" name="Line 1041"/>
          <p:cNvSpPr>
            <a:spLocks noChangeShapeType="1"/>
          </p:cNvSpPr>
          <p:nvPr/>
        </p:nvSpPr>
        <p:spPr bwMode="auto">
          <a:xfrm>
            <a:off x="5043488" y="3079750"/>
            <a:ext cx="461962" cy="647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5377" name="Line 1042"/>
          <p:cNvSpPr>
            <a:spLocks noChangeShapeType="1"/>
          </p:cNvSpPr>
          <p:nvPr/>
        </p:nvSpPr>
        <p:spPr bwMode="auto">
          <a:xfrm>
            <a:off x="4121150" y="3105150"/>
            <a:ext cx="461963" cy="647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5378" name="Rectangle 1043"/>
          <p:cNvSpPr>
            <a:spLocks noChangeArrowheads="1"/>
          </p:cNvSpPr>
          <p:nvPr/>
        </p:nvSpPr>
        <p:spPr bwMode="auto">
          <a:xfrm>
            <a:off x="3871913" y="2538413"/>
            <a:ext cx="3079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3</a:t>
            </a:r>
          </a:p>
        </p:txBody>
      </p:sp>
      <p:sp>
        <p:nvSpPr>
          <p:cNvPr id="15379" name="Rectangle 1044"/>
          <p:cNvSpPr>
            <a:spLocks noChangeArrowheads="1"/>
          </p:cNvSpPr>
          <p:nvPr/>
        </p:nvSpPr>
        <p:spPr bwMode="auto">
          <a:xfrm>
            <a:off x="2840038" y="2555875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1</a:t>
            </a:r>
          </a:p>
        </p:txBody>
      </p:sp>
      <p:sp>
        <p:nvSpPr>
          <p:cNvPr id="15380" name="Line 1045"/>
          <p:cNvSpPr>
            <a:spLocks noChangeShapeType="1"/>
          </p:cNvSpPr>
          <p:nvPr/>
        </p:nvSpPr>
        <p:spPr bwMode="auto">
          <a:xfrm>
            <a:off x="3551238" y="2427288"/>
            <a:ext cx="461962" cy="647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5381" name="Rectangle 1046"/>
          <p:cNvSpPr>
            <a:spLocks noChangeArrowheads="1"/>
          </p:cNvSpPr>
          <p:nvPr/>
        </p:nvSpPr>
        <p:spPr bwMode="auto">
          <a:xfrm>
            <a:off x="3317875" y="2563813"/>
            <a:ext cx="3079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2</a:t>
            </a:r>
          </a:p>
        </p:txBody>
      </p:sp>
      <p:sp>
        <p:nvSpPr>
          <p:cNvPr id="15382" name="Rectangle 1047"/>
          <p:cNvSpPr>
            <a:spLocks noChangeArrowheads="1"/>
          </p:cNvSpPr>
          <p:nvPr/>
        </p:nvSpPr>
        <p:spPr bwMode="auto">
          <a:xfrm>
            <a:off x="4846638" y="3244850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3</a:t>
            </a:r>
          </a:p>
        </p:txBody>
      </p:sp>
      <p:sp>
        <p:nvSpPr>
          <p:cNvPr id="15383" name="Rectangle 1048"/>
          <p:cNvSpPr>
            <a:spLocks noChangeArrowheads="1"/>
          </p:cNvSpPr>
          <p:nvPr/>
        </p:nvSpPr>
        <p:spPr bwMode="auto">
          <a:xfrm>
            <a:off x="3822700" y="3216275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1</a:t>
            </a:r>
          </a:p>
        </p:txBody>
      </p:sp>
      <p:sp>
        <p:nvSpPr>
          <p:cNvPr id="15384" name="Rectangle 1049"/>
          <p:cNvSpPr>
            <a:spLocks noChangeArrowheads="1"/>
          </p:cNvSpPr>
          <p:nvPr/>
        </p:nvSpPr>
        <p:spPr bwMode="auto">
          <a:xfrm>
            <a:off x="4359275" y="3224213"/>
            <a:ext cx="3079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2</a:t>
            </a:r>
          </a:p>
        </p:txBody>
      </p:sp>
      <p:sp>
        <p:nvSpPr>
          <p:cNvPr id="15385" name="Line 1050"/>
          <p:cNvSpPr>
            <a:spLocks noChangeShapeType="1"/>
          </p:cNvSpPr>
          <p:nvPr/>
        </p:nvSpPr>
        <p:spPr bwMode="auto">
          <a:xfrm>
            <a:off x="3030538" y="1757363"/>
            <a:ext cx="461962" cy="647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5386" name="Line 1051"/>
          <p:cNvSpPr>
            <a:spLocks noChangeShapeType="1"/>
          </p:cNvSpPr>
          <p:nvPr/>
        </p:nvSpPr>
        <p:spPr bwMode="auto">
          <a:xfrm>
            <a:off x="4602163" y="3092450"/>
            <a:ext cx="461962" cy="647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5387" name="Rectangle 1052"/>
          <p:cNvSpPr>
            <a:spLocks noChangeArrowheads="1"/>
          </p:cNvSpPr>
          <p:nvPr/>
        </p:nvSpPr>
        <p:spPr bwMode="auto">
          <a:xfrm>
            <a:off x="2860675" y="1895475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3</a:t>
            </a:r>
          </a:p>
        </p:txBody>
      </p:sp>
      <p:sp>
        <p:nvSpPr>
          <p:cNvPr id="15388" name="Rectangle 1053"/>
          <p:cNvSpPr>
            <a:spLocks noChangeArrowheads="1"/>
          </p:cNvSpPr>
          <p:nvPr/>
        </p:nvSpPr>
        <p:spPr bwMode="auto">
          <a:xfrm>
            <a:off x="2347913" y="1900238"/>
            <a:ext cx="3079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2</a:t>
            </a:r>
          </a:p>
        </p:txBody>
      </p:sp>
      <p:sp>
        <p:nvSpPr>
          <p:cNvPr id="15389" name="Line 1054"/>
          <p:cNvSpPr>
            <a:spLocks noChangeShapeType="1"/>
          </p:cNvSpPr>
          <p:nvPr/>
        </p:nvSpPr>
        <p:spPr bwMode="auto">
          <a:xfrm>
            <a:off x="1482725" y="1743075"/>
            <a:ext cx="461963" cy="647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5390" name="Line 1055"/>
          <p:cNvSpPr>
            <a:spLocks noChangeShapeType="1"/>
          </p:cNvSpPr>
          <p:nvPr/>
        </p:nvSpPr>
        <p:spPr bwMode="auto">
          <a:xfrm>
            <a:off x="2025650" y="1757363"/>
            <a:ext cx="461963" cy="647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5391" name="Rectangle 1056"/>
          <p:cNvSpPr>
            <a:spLocks noChangeArrowheads="1"/>
          </p:cNvSpPr>
          <p:nvPr/>
        </p:nvSpPr>
        <p:spPr bwMode="auto">
          <a:xfrm>
            <a:off x="1849438" y="1879600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1</a:t>
            </a:r>
          </a:p>
        </p:txBody>
      </p:sp>
      <p:sp>
        <p:nvSpPr>
          <p:cNvPr id="15392" name="Line 1059"/>
          <p:cNvSpPr>
            <a:spLocks noChangeShapeType="1"/>
          </p:cNvSpPr>
          <p:nvPr/>
        </p:nvSpPr>
        <p:spPr bwMode="auto">
          <a:xfrm flipV="1">
            <a:off x="3533775" y="3776663"/>
            <a:ext cx="1044575" cy="1270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5393" name="Rectangle 1060"/>
          <p:cNvSpPr>
            <a:spLocks noChangeArrowheads="1"/>
          </p:cNvSpPr>
          <p:nvPr/>
        </p:nvSpPr>
        <p:spPr bwMode="auto">
          <a:xfrm>
            <a:off x="455613" y="4814888"/>
            <a:ext cx="332740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/>
              <a:t>3</a:t>
            </a:r>
            <a:r>
              <a:rPr lang="en-US" i="1">
                <a:sym typeface="Symbol" pitchFamily="18" charset="2"/>
              </a:rPr>
              <a:t></a:t>
            </a:r>
            <a:r>
              <a:rPr lang="en-US"/>
              <a:t> + 3(</a:t>
            </a:r>
            <a:r>
              <a:rPr lang="en-US" i="1"/>
              <a:t>T</a:t>
            </a:r>
            <a:r>
              <a:rPr lang="en-US"/>
              <a:t>/3)  first bit released</a:t>
            </a:r>
          </a:p>
        </p:txBody>
      </p:sp>
      <p:sp>
        <p:nvSpPr>
          <p:cNvPr id="15394" name="Rectangle 1061"/>
          <p:cNvSpPr>
            <a:spLocks noChangeArrowheads="1"/>
          </p:cNvSpPr>
          <p:nvPr/>
        </p:nvSpPr>
        <p:spPr bwMode="auto">
          <a:xfrm>
            <a:off x="455613" y="5310188"/>
            <a:ext cx="3454400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/>
              <a:t>3</a:t>
            </a:r>
            <a:r>
              <a:rPr lang="en-US" i="1">
                <a:sym typeface="Symbol" pitchFamily="18" charset="2"/>
              </a:rPr>
              <a:t></a:t>
            </a:r>
            <a:r>
              <a:rPr lang="en-US"/>
              <a:t>  + 5 (</a:t>
            </a:r>
            <a:r>
              <a:rPr lang="en-US" i="1"/>
              <a:t>T</a:t>
            </a:r>
            <a:r>
              <a:rPr lang="en-US"/>
              <a:t>/3)  last bit released</a:t>
            </a:r>
          </a:p>
        </p:txBody>
      </p:sp>
      <p:sp>
        <p:nvSpPr>
          <p:cNvPr id="15395" name="Line 1062"/>
          <p:cNvSpPr>
            <a:spLocks noChangeShapeType="1"/>
          </p:cNvSpPr>
          <p:nvPr/>
        </p:nvSpPr>
        <p:spPr bwMode="auto">
          <a:xfrm flipV="1">
            <a:off x="3571875" y="3767138"/>
            <a:ext cx="1939925" cy="1717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5396" name="Rectangle 1064"/>
          <p:cNvSpPr>
            <a:spLocks noChangeArrowheads="1"/>
          </p:cNvSpPr>
          <p:nvPr/>
        </p:nvSpPr>
        <p:spPr bwMode="auto">
          <a:xfrm>
            <a:off x="4941888" y="4795838"/>
            <a:ext cx="3032125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i="1"/>
              <a:t>L</a:t>
            </a:r>
            <a:r>
              <a:rPr lang="en-US" i="1">
                <a:sym typeface="Symbol" pitchFamily="18" charset="2"/>
              </a:rPr>
              <a:t></a:t>
            </a:r>
            <a:r>
              <a:rPr lang="en-US" i="1"/>
              <a:t> + LP</a:t>
            </a:r>
            <a:r>
              <a:rPr lang="en-US"/>
              <a:t>   first bit released</a:t>
            </a:r>
          </a:p>
        </p:txBody>
      </p:sp>
      <p:sp>
        <p:nvSpPr>
          <p:cNvPr id="15397" name="Rectangle 1065"/>
          <p:cNvSpPr>
            <a:spLocks noChangeArrowheads="1"/>
          </p:cNvSpPr>
          <p:nvPr/>
        </p:nvSpPr>
        <p:spPr bwMode="auto">
          <a:xfrm>
            <a:off x="4598988" y="5310188"/>
            <a:ext cx="4410075" cy="698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i="1"/>
              <a:t>L</a:t>
            </a:r>
            <a:r>
              <a:rPr lang="en-US" i="1">
                <a:sym typeface="Symbol" pitchFamily="18" charset="2"/>
              </a:rPr>
              <a:t></a:t>
            </a:r>
            <a:r>
              <a:rPr lang="en-US" i="1"/>
              <a:t> +  LP + (k-</a:t>
            </a:r>
            <a:r>
              <a:rPr lang="en-US"/>
              <a:t>1</a:t>
            </a:r>
            <a:r>
              <a:rPr lang="en-US" i="1"/>
              <a:t>)P  </a:t>
            </a:r>
            <a:r>
              <a:rPr lang="en-US"/>
              <a:t> last bit released</a:t>
            </a:r>
          </a:p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/>
              <a:t>where </a:t>
            </a:r>
            <a:r>
              <a:rPr lang="en-US" i="1"/>
              <a:t>T = k P</a:t>
            </a:r>
          </a:p>
        </p:txBody>
      </p:sp>
      <p:sp>
        <p:nvSpPr>
          <p:cNvPr id="15398" name="Rectangle 1066"/>
          <p:cNvSpPr>
            <a:spLocks noChangeArrowheads="1"/>
          </p:cNvSpPr>
          <p:nvPr/>
        </p:nvSpPr>
        <p:spPr bwMode="auto">
          <a:xfrm>
            <a:off x="1550988" y="3871913"/>
            <a:ext cx="1000125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b="1"/>
              <a:t>3 hops</a:t>
            </a:r>
          </a:p>
        </p:txBody>
      </p:sp>
      <p:sp>
        <p:nvSpPr>
          <p:cNvPr id="15399" name="Rectangle 1067"/>
          <p:cNvSpPr>
            <a:spLocks noChangeArrowheads="1"/>
          </p:cNvSpPr>
          <p:nvPr/>
        </p:nvSpPr>
        <p:spPr bwMode="auto">
          <a:xfrm>
            <a:off x="5980113" y="3814763"/>
            <a:ext cx="1014412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b="1" i="1"/>
              <a:t>L </a:t>
            </a:r>
            <a:r>
              <a:rPr lang="en-US" b="1"/>
              <a:t>hops</a:t>
            </a:r>
          </a:p>
        </p:txBody>
      </p:sp>
      <p:sp>
        <p:nvSpPr>
          <p:cNvPr id="15400" name="Rectangle 1068"/>
          <p:cNvSpPr>
            <a:spLocks noChangeArrowheads="1"/>
          </p:cNvSpPr>
          <p:nvPr/>
        </p:nvSpPr>
        <p:spPr bwMode="auto">
          <a:xfrm>
            <a:off x="122238" y="1389063"/>
            <a:ext cx="9048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Source</a:t>
            </a:r>
          </a:p>
        </p:txBody>
      </p:sp>
      <p:sp>
        <p:nvSpPr>
          <p:cNvPr id="15401" name="Rectangle 1069"/>
          <p:cNvSpPr>
            <a:spLocks noChangeArrowheads="1"/>
          </p:cNvSpPr>
          <p:nvPr/>
        </p:nvSpPr>
        <p:spPr bwMode="auto">
          <a:xfrm>
            <a:off x="122238" y="3678238"/>
            <a:ext cx="13239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Destination</a:t>
            </a:r>
          </a:p>
        </p:txBody>
      </p:sp>
      <p:sp>
        <p:nvSpPr>
          <p:cNvPr id="15402" name="Rectangle 1070"/>
          <p:cNvSpPr>
            <a:spLocks noChangeArrowheads="1"/>
          </p:cNvSpPr>
          <p:nvPr/>
        </p:nvSpPr>
        <p:spPr bwMode="auto">
          <a:xfrm>
            <a:off x="122238" y="2022475"/>
            <a:ext cx="10445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Switch 1</a:t>
            </a:r>
          </a:p>
        </p:txBody>
      </p:sp>
      <p:sp>
        <p:nvSpPr>
          <p:cNvPr id="15403" name="Rectangle 1071"/>
          <p:cNvSpPr>
            <a:spLocks noChangeArrowheads="1"/>
          </p:cNvSpPr>
          <p:nvPr/>
        </p:nvSpPr>
        <p:spPr bwMode="auto">
          <a:xfrm>
            <a:off x="122238" y="2722563"/>
            <a:ext cx="10445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Switch 2</a:t>
            </a:r>
          </a:p>
        </p:txBody>
      </p:sp>
      <p:sp>
        <p:nvSpPr>
          <p:cNvPr id="15404" name="Rectangle 1072"/>
          <p:cNvSpPr>
            <a:spLocks noChangeArrowheads="1"/>
          </p:cNvSpPr>
          <p:nvPr/>
        </p:nvSpPr>
        <p:spPr bwMode="auto">
          <a:xfrm>
            <a:off x="1503363" y="2298700"/>
            <a:ext cx="2952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i="1">
                <a:sym typeface="Symbol" pitchFamily="18" charset="2"/>
              </a:rPr>
              <a:t></a:t>
            </a:r>
          </a:p>
        </p:txBody>
      </p:sp>
      <p:sp>
        <p:nvSpPr>
          <p:cNvPr id="15405" name="Rectangle 107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500" smtClean="0"/>
              <a:t>Delay for k-Packet Message over L Hops</a:t>
            </a:r>
          </a:p>
        </p:txBody>
      </p:sp>
      <p:sp>
        <p:nvSpPr>
          <p:cNvPr id="15406" name="TextBox 47"/>
          <p:cNvSpPr txBox="1">
            <a:spLocks noChangeArrowheads="1"/>
          </p:cNvSpPr>
          <p:nvPr/>
        </p:nvSpPr>
        <p:spPr bwMode="auto">
          <a:xfrm>
            <a:off x="741363" y="5976938"/>
            <a:ext cx="60436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IN"/>
              <a:t>In message Switching </a:t>
            </a:r>
          </a:p>
        </p:txBody>
      </p:sp>
      <p:sp>
        <p:nvSpPr>
          <p:cNvPr id="15407" name="Rectangle 48"/>
          <p:cNvSpPr>
            <a:spLocks noChangeArrowheads="1"/>
          </p:cNvSpPr>
          <p:nvPr/>
        </p:nvSpPr>
        <p:spPr bwMode="auto">
          <a:xfrm>
            <a:off x="3563938" y="6457950"/>
            <a:ext cx="24574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L</a:t>
            </a:r>
            <a:r>
              <a:rPr lang="en-US" i="1">
                <a:sym typeface="Symbol" pitchFamily="18" charset="2"/>
              </a:rPr>
              <a:t></a:t>
            </a:r>
            <a:r>
              <a:rPr lang="en-US" i="1"/>
              <a:t> + LT= L</a:t>
            </a:r>
            <a:r>
              <a:rPr lang="en-US" i="1">
                <a:sym typeface="Symbol" pitchFamily="18" charset="2"/>
              </a:rPr>
              <a:t></a:t>
            </a:r>
            <a:r>
              <a:rPr lang="en-US" i="1"/>
              <a:t> + L(kP)</a:t>
            </a:r>
            <a:r>
              <a:rPr lang="en-US"/>
              <a:t> </a:t>
            </a:r>
            <a:endParaRPr lang="en-I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/>
          <p:cNvGrpSpPr>
            <a:grpSpLocks/>
          </p:cNvGrpSpPr>
          <p:nvPr/>
        </p:nvGrpSpPr>
        <p:grpSpPr bwMode="auto">
          <a:xfrm>
            <a:off x="469900" y="1595438"/>
            <a:ext cx="4108450" cy="4756150"/>
            <a:chOff x="1590" y="638"/>
            <a:chExt cx="2588" cy="2996"/>
          </a:xfrm>
        </p:grpSpPr>
        <p:sp>
          <p:nvSpPr>
            <p:cNvPr id="16389" name="Rectangle 3"/>
            <p:cNvSpPr>
              <a:spLocks noChangeArrowheads="1"/>
            </p:cNvSpPr>
            <p:nvPr/>
          </p:nvSpPr>
          <p:spPr bwMode="auto">
            <a:xfrm>
              <a:off x="1590" y="1091"/>
              <a:ext cx="2585" cy="2543"/>
            </a:xfrm>
            <a:prstGeom prst="rect">
              <a:avLst/>
            </a:prstGeom>
            <a:solidFill>
              <a:schemeClr val="folHlink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0" name="Line 4"/>
            <p:cNvSpPr>
              <a:spLocks noChangeShapeType="1"/>
            </p:cNvSpPr>
            <p:nvPr/>
          </p:nvSpPr>
          <p:spPr bwMode="auto">
            <a:xfrm>
              <a:off x="2861" y="1091"/>
              <a:ext cx="3" cy="2543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391" name="Rectangle 5"/>
            <p:cNvSpPr>
              <a:spLocks noChangeArrowheads="1"/>
            </p:cNvSpPr>
            <p:nvPr/>
          </p:nvSpPr>
          <p:spPr bwMode="auto">
            <a:xfrm>
              <a:off x="1590" y="1851"/>
              <a:ext cx="2588" cy="171"/>
            </a:xfrm>
            <a:prstGeom prst="rect">
              <a:avLst/>
            </a:prstGeom>
            <a:solidFill>
              <a:schemeClr val="accent2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2" name="Rectangle 6"/>
            <p:cNvSpPr>
              <a:spLocks noChangeArrowheads="1"/>
            </p:cNvSpPr>
            <p:nvPr/>
          </p:nvSpPr>
          <p:spPr bwMode="auto">
            <a:xfrm>
              <a:off x="1625" y="655"/>
              <a:ext cx="1127" cy="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3" name="Rectangle 7"/>
            <p:cNvSpPr>
              <a:spLocks noChangeArrowheads="1"/>
            </p:cNvSpPr>
            <p:nvPr/>
          </p:nvSpPr>
          <p:spPr bwMode="auto">
            <a:xfrm>
              <a:off x="1974" y="694"/>
              <a:ext cx="639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Destination</a:t>
              </a:r>
              <a:endParaRPr lang="en-US" sz="4000"/>
            </a:p>
          </p:txBody>
        </p:sp>
        <p:sp>
          <p:nvSpPr>
            <p:cNvPr id="16394" name="Rectangle 8"/>
            <p:cNvSpPr>
              <a:spLocks noChangeArrowheads="1"/>
            </p:cNvSpPr>
            <p:nvPr/>
          </p:nvSpPr>
          <p:spPr bwMode="auto">
            <a:xfrm>
              <a:off x="2052" y="880"/>
              <a:ext cx="45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address</a:t>
              </a:r>
              <a:endParaRPr lang="en-US" sz="4000"/>
            </a:p>
          </p:txBody>
        </p:sp>
        <p:sp>
          <p:nvSpPr>
            <p:cNvPr id="16395" name="Rectangle 9"/>
            <p:cNvSpPr>
              <a:spLocks noChangeArrowheads="1"/>
            </p:cNvSpPr>
            <p:nvPr/>
          </p:nvSpPr>
          <p:spPr bwMode="auto">
            <a:xfrm>
              <a:off x="3113" y="638"/>
              <a:ext cx="735" cy="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6" name="Rectangle 10"/>
            <p:cNvSpPr>
              <a:spLocks noChangeArrowheads="1"/>
            </p:cNvSpPr>
            <p:nvPr/>
          </p:nvSpPr>
          <p:spPr bwMode="auto">
            <a:xfrm>
              <a:off x="3371" y="701"/>
              <a:ext cx="38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Output</a:t>
              </a:r>
              <a:endParaRPr lang="en-US" sz="4000"/>
            </a:p>
          </p:txBody>
        </p:sp>
        <p:sp>
          <p:nvSpPr>
            <p:cNvPr id="16397" name="Rectangle 11"/>
            <p:cNvSpPr>
              <a:spLocks noChangeArrowheads="1"/>
            </p:cNvSpPr>
            <p:nvPr/>
          </p:nvSpPr>
          <p:spPr bwMode="auto">
            <a:xfrm>
              <a:off x="3448" y="890"/>
              <a:ext cx="22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port</a:t>
              </a:r>
              <a:endParaRPr lang="en-US" sz="4000"/>
            </a:p>
          </p:txBody>
        </p:sp>
        <p:sp>
          <p:nvSpPr>
            <p:cNvPr id="16398" name="Rectangle 12"/>
            <p:cNvSpPr>
              <a:spLocks noChangeArrowheads="1"/>
            </p:cNvSpPr>
            <p:nvPr/>
          </p:nvSpPr>
          <p:spPr bwMode="auto">
            <a:xfrm>
              <a:off x="1948" y="1824"/>
              <a:ext cx="531" cy="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9" name="Rectangle 13"/>
            <p:cNvSpPr>
              <a:spLocks noChangeArrowheads="1"/>
            </p:cNvSpPr>
            <p:nvPr/>
          </p:nvSpPr>
          <p:spPr bwMode="auto">
            <a:xfrm>
              <a:off x="2134" y="1851"/>
              <a:ext cx="28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1345</a:t>
              </a:r>
              <a:endParaRPr lang="en-US" sz="4000"/>
            </a:p>
          </p:txBody>
        </p:sp>
        <p:sp>
          <p:nvSpPr>
            <p:cNvPr id="16400" name="Rectangle 14"/>
            <p:cNvSpPr>
              <a:spLocks noChangeArrowheads="1"/>
            </p:cNvSpPr>
            <p:nvPr/>
          </p:nvSpPr>
          <p:spPr bwMode="auto">
            <a:xfrm>
              <a:off x="3233" y="1851"/>
              <a:ext cx="342" cy="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1" name="Rectangle 15"/>
            <p:cNvSpPr>
              <a:spLocks noChangeArrowheads="1"/>
            </p:cNvSpPr>
            <p:nvPr/>
          </p:nvSpPr>
          <p:spPr bwMode="auto">
            <a:xfrm>
              <a:off x="3391" y="1878"/>
              <a:ext cx="14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12</a:t>
              </a:r>
              <a:endParaRPr lang="en-US" sz="4000"/>
            </a:p>
          </p:txBody>
        </p:sp>
        <p:sp>
          <p:nvSpPr>
            <p:cNvPr id="16402" name="Rectangle 16"/>
            <p:cNvSpPr>
              <a:spLocks noChangeArrowheads="1"/>
            </p:cNvSpPr>
            <p:nvPr/>
          </p:nvSpPr>
          <p:spPr bwMode="auto">
            <a:xfrm>
              <a:off x="1590" y="1292"/>
              <a:ext cx="2585" cy="172"/>
            </a:xfrm>
            <a:prstGeom prst="rect">
              <a:avLst/>
            </a:prstGeom>
            <a:solidFill>
              <a:schemeClr val="accent2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3" name="Rectangle 17"/>
            <p:cNvSpPr>
              <a:spLocks noChangeArrowheads="1"/>
            </p:cNvSpPr>
            <p:nvPr/>
          </p:nvSpPr>
          <p:spPr bwMode="auto">
            <a:xfrm>
              <a:off x="1590" y="2289"/>
              <a:ext cx="2585" cy="174"/>
            </a:xfrm>
            <a:prstGeom prst="rect">
              <a:avLst/>
            </a:prstGeom>
            <a:solidFill>
              <a:schemeClr val="accent2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4" name="Rectangle 18"/>
            <p:cNvSpPr>
              <a:spLocks noChangeArrowheads="1"/>
            </p:cNvSpPr>
            <p:nvPr/>
          </p:nvSpPr>
          <p:spPr bwMode="auto">
            <a:xfrm>
              <a:off x="1590" y="3286"/>
              <a:ext cx="2585" cy="174"/>
            </a:xfrm>
            <a:prstGeom prst="rect">
              <a:avLst/>
            </a:prstGeom>
            <a:solidFill>
              <a:schemeClr val="accent2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5" name="Rectangle 19"/>
            <p:cNvSpPr>
              <a:spLocks noChangeArrowheads="1"/>
            </p:cNvSpPr>
            <p:nvPr/>
          </p:nvSpPr>
          <p:spPr bwMode="auto">
            <a:xfrm>
              <a:off x="1983" y="3274"/>
              <a:ext cx="530" cy="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6" name="Rectangle 20"/>
            <p:cNvSpPr>
              <a:spLocks noChangeArrowheads="1"/>
            </p:cNvSpPr>
            <p:nvPr/>
          </p:nvSpPr>
          <p:spPr bwMode="auto">
            <a:xfrm>
              <a:off x="2172" y="3301"/>
              <a:ext cx="28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2458</a:t>
              </a:r>
              <a:endParaRPr lang="en-US" sz="4000"/>
            </a:p>
          </p:txBody>
        </p:sp>
        <p:sp>
          <p:nvSpPr>
            <p:cNvPr id="16407" name="Rectangle 21"/>
            <p:cNvSpPr>
              <a:spLocks noChangeArrowheads="1"/>
            </p:cNvSpPr>
            <p:nvPr/>
          </p:nvSpPr>
          <p:spPr bwMode="auto">
            <a:xfrm>
              <a:off x="3283" y="1292"/>
              <a:ext cx="257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8" name="Rectangle 22"/>
            <p:cNvSpPr>
              <a:spLocks noChangeArrowheads="1"/>
            </p:cNvSpPr>
            <p:nvPr/>
          </p:nvSpPr>
          <p:spPr bwMode="auto">
            <a:xfrm>
              <a:off x="3430" y="1319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7</a:t>
              </a:r>
              <a:endParaRPr lang="en-US" sz="4000"/>
            </a:p>
          </p:txBody>
        </p:sp>
        <p:sp>
          <p:nvSpPr>
            <p:cNvPr id="16409" name="Rectangle 23"/>
            <p:cNvSpPr>
              <a:spLocks noChangeArrowheads="1"/>
            </p:cNvSpPr>
            <p:nvPr/>
          </p:nvSpPr>
          <p:spPr bwMode="auto">
            <a:xfrm>
              <a:off x="1914" y="1278"/>
              <a:ext cx="530" cy="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0" name="Rectangle 24"/>
            <p:cNvSpPr>
              <a:spLocks noChangeArrowheads="1"/>
            </p:cNvSpPr>
            <p:nvPr/>
          </p:nvSpPr>
          <p:spPr bwMode="auto">
            <a:xfrm>
              <a:off x="2106" y="1304"/>
              <a:ext cx="28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0785</a:t>
              </a:r>
              <a:endParaRPr lang="en-US" sz="4000"/>
            </a:p>
          </p:txBody>
        </p:sp>
        <p:sp>
          <p:nvSpPr>
            <p:cNvPr id="16411" name="Rectangle 25"/>
            <p:cNvSpPr>
              <a:spLocks noChangeArrowheads="1"/>
            </p:cNvSpPr>
            <p:nvPr/>
          </p:nvSpPr>
          <p:spPr bwMode="auto">
            <a:xfrm>
              <a:off x="3267" y="2301"/>
              <a:ext cx="258" cy="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2" name="Rectangle 26"/>
            <p:cNvSpPr>
              <a:spLocks noChangeArrowheads="1"/>
            </p:cNvSpPr>
            <p:nvPr/>
          </p:nvSpPr>
          <p:spPr bwMode="auto">
            <a:xfrm>
              <a:off x="3408" y="2331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6</a:t>
              </a:r>
              <a:endParaRPr lang="en-US" sz="4000"/>
            </a:p>
          </p:txBody>
        </p:sp>
        <p:sp>
          <p:nvSpPr>
            <p:cNvPr id="16413" name="Rectangle 27"/>
            <p:cNvSpPr>
              <a:spLocks noChangeArrowheads="1"/>
            </p:cNvSpPr>
            <p:nvPr/>
          </p:nvSpPr>
          <p:spPr bwMode="auto">
            <a:xfrm>
              <a:off x="3283" y="3274"/>
              <a:ext cx="345" cy="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4" name="Rectangle 28"/>
            <p:cNvSpPr>
              <a:spLocks noChangeArrowheads="1"/>
            </p:cNvSpPr>
            <p:nvPr/>
          </p:nvSpPr>
          <p:spPr bwMode="auto">
            <a:xfrm>
              <a:off x="3444" y="3301"/>
              <a:ext cx="14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12</a:t>
              </a:r>
              <a:endParaRPr lang="en-US" sz="4000"/>
            </a:p>
          </p:txBody>
        </p:sp>
        <p:sp>
          <p:nvSpPr>
            <p:cNvPr id="16415" name="Rectangle 29"/>
            <p:cNvSpPr>
              <a:spLocks noChangeArrowheads="1"/>
            </p:cNvSpPr>
            <p:nvPr/>
          </p:nvSpPr>
          <p:spPr bwMode="auto">
            <a:xfrm>
              <a:off x="1967" y="2301"/>
              <a:ext cx="531" cy="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6" name="Rectangle 30"/>
            <p:cNvSpPr>
              <a:spLocks noChangeArrowheads="1"/>
            </p:cNvSpPr>
            <p:nvPr/>
          </p:nvSpPr>
          <p:spPr bwMode="auto">
            <a:xfrm>
              <a:off x="2156" y="2331"/>
              <a:ext cx="28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1566</a:t>
              </a:r>
              <a:endParaRPr lang="en-US" sz="4000"/>
            </a:p>
          </p:txBody>
        </p:sp>
      </p:grpSp>
      <p:sp>
        <p:nvSpPr>
          <p:cNvPr id="16387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500" smtClean="0"/>
              <a:t>Routing Tables in Datagram Networks</a:t>
            </a:r>
          </a:p>
        </p:txBody>
      </p:sp>
      <p:sp>
        <p:nvSpPr>
          <p:cNvPr id="16388" name="Rectangle 35"/>
          <p:cNvSpPr>
            <a:spLocks noGrp="1" noChangeArrowheads="1"/>
          </p:cNvSpPr>
          <p:nvPr>
            <p:ph type="body" sz="half" idx="2"/>
          </p:nvPr>
        </p:nvSpPr>
        <p:spPr>
          <a:xfrm>
            <a:off x="4873625" y="1697038"/>
            <a:ext cx="4038600" cy="4683125"/>
          </a:xfrm>
        </p:spPr>
        <p:txBody>
          <a:bodyPr/>
          <a:lstStyle/>
          <a:p>
            <a:pPr eaLnBrk="1" hangingPunct="1"/>
            <a:r>
              <a:rPr lang="en-US" sz="2200" smtClean="0"/>
              <a:t>Route determined by table lookup</a:t>
            </a:r>
          </a:p>
          <a:p>
            <a:pPr eaLnBrk="1" hangingPunct="1"/>
            <a:r>
              <a:rPr lang="en-US" sz="2200" smtClean="0"/>
              <a:t>Routing decision involves finding next hop in route to given destination</a:t>
            </a:r>
          </a:p>
          <a:p>
            <a:pPr eaLnBrk="1" hangingPunct="1"/>
            <a:r>
              <a:rPr lang="en-US" sz="2200" smtClean="0"/>
              <a:t>Routing table has an entry for each destination specifying output port that leads to next hop</a:t>
            </a:r>
          </a:p>
          <a:p>
            <a:pPr eaLnBrk="1" hangingPunct="1"/>
            <a:r>
              <a:rPr lang="en-US" sz="2200" smtClean="0"/>
              <a:t>Size of table becomes impractical for very large number of destinations</a:t>
            </a:r>
          </a:p>
          <a:p>
            <a:pPr eaLnBrk="1" hangingPunct="1"/>
            <a:endParaRPr lang="en-US" sz="22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Example:  </a:t>
            </a:r>
            <a:r>
              <a:rPr lang="en-US" dirty="0" smtClean="0"/>
              <a:t>IP Internetworks</a:t>
            </a:r>
            <a:endParaRPr lang="en-US" dirty="0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 smtClean="0"/>
              <a:t>The objective  of IP (internet protocol) is to provide communication between dissimilar </a:t>
            </a:r>
            <a:r>
              <a:rPr lang="en-US" i="1" dirty="0" smtClean="0"/>
              <a:t>networks</a:t>
            </a:r>
            <a:endParaRPr lang="en-US" dirty="0" smtClean="0"/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Hosts have two-port IP address: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Network address + Host address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Routers do table lookup on network address of Destination </a:t>
            </a:r>
            <a:r>
              <a:rPr lang="en-US" dirty="0" smtClean="0"/>
              <a:t>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500" smtClean="0"/>
              <a:t>Packet Switching – Virtual Circuit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" y="3894138"/>
            <a:ext cx="8229600" cy="2265362"/>
          </a:xfrm>
          <a:noFill/>
        </p:spPr>
        <p:txBody>
          <a:bodyPr lIns="90488" tIns="44450" rIns="90488" bIns="44450"/>
          <a:lstStyle/>
          <a:p>
            <a:pPr eaLnBrk="1" hangingPunct="1">
              <a:lnSpc>
                <a:spcPct val="80000"/>
              </a:lnSpc>
            </a:pPr>
            <a:r>
              <a:rPr lang="en-US" sz="2000" smtClean="0"/>
              <a:t>Call set-up phase pointers in fixed path along network.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smtClean="0"/>
              <a:t>Circuit-Physical  but Virtual circuit -till network layer.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smtClean="0"/>
              <a:t>VC are created by configuring the routing tables in switches. 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smtClean="0"/>
              <a:t>All packets for a connection follow the same path.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smtClean="0"/>
              <a:t>Abbreviated header identifies connection on each link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smtClean="0"/>
              <a:t>Packets queue for transmission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smtClean="0"/>
              <a:t>Variable bit rates possible, negotiated during call set-up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smtClean="0"/>
              <a:t>Minimum delay is similar to datagram except set up delay for VC.</a:t>
            </a:r>
          </a:p>
        </p:txBody>
      </p:sp>
      <p:grpSp>
        <p:nvGrpSpPr>
          <p:cNvPr id="18436" name="Group 24"/>
          <p:cNvGrpSpPr>
            <a:grpSpLocks/>
          </p:cNvGrpSpPr>
          <p:nvPr/>
        </p:nvGrpSpPr>
        <p:grpSpPr bwMode="auto">
          <a:xfrm>
            <a:off x="1704975" y="1184275"/>
            <a:ext cx="5222875" cy="2586038"/>
            <a:chOff x="370" y="502"/>
            <a:chExt cx="5018" cy="2397"/>
          </a:xfrm>
        </p:grpSpPr>
        <p:sp>
          <p:nvSpPr>
            <p:cNvPr id="18437" name="Line 25"/>
            <p:cNvSpPr>
              <a:spLocks noChangeShapeType="1"/>
            </p:cNvSpPr>
            <p:nvPr/>
          </p:nvSpPr>
          <p:spPr bwMode="auto">
            <a:xfrm>
              <a:off x="1728" y="1283"/>
              <a:ext cx="1137" cy="1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8438" name="Line 26"/>
            <p:cNvSpPr>
              <a:spLocks noChangeShapeType="1"/>
            </p:cNvSpPr>
            <p:nvPr/>
          </p:nvSpPr>
          <p:spPr bwMode="auto">
            <a:xfrm>
              <a:off x="3069" y="1492"/>
              <a:ext cx="1004" cy="39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8439" name="Line 27"/>
            <p:cNvSpPr>
              <a:spLocks noChangeShapeType="1"/>
            </p:cNvSpPr>
            <p:nvPr/>
          </p:nvSpPr>
          <p:spPr bwMode="auto">
            <a:xfrm flipH="1">
              <a:off x="2967" y="2037"/>
              <a:ext cx="1167" cy="58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8440" name="Line 28"/>
            <p:cNvSpPr>
              <a:spLocks noChangeShapeType="1"/>
            </p:cNvSpPr>
            <p:nvPr/>
          </p:nvSpPr>
          <p:spPr bwMode="auto">
            <a:xfrm>
              <a:off x="2103" y="2389"/>
              <a:ext cx="658" cy="2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8441" name="Line 29"/>
            <p:cNvSpPr>
              <a:spLocks noChangeShapeType="1"/>
            </p:cNvSpPr>
            <p:nvPr/>
          </p:nvSpPr>
          <p:spPr bwMode="auto">
            <a:xfrm>
              <a:off x="1652" y="1406"/>
              <a:ext cx="288" cy="8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8442" name="Rectangle 30"/>
            <p:cNvSpPr>
              <a:spLocks noChangeArrowheads="1"/>
            </p:cNvSpPr>
            <p:nvPr/>
          </p:nvSpPr>
          <p:spPr bwMode="auto">
            <a:xfrm>
              <a:off x="2168" y="2004"/>
              <a:ext cx="1150" cy="28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Virtual circuit</a:t>
              </a:r>
            </a:p>
          </p:txBody>
        </p:sp>
        <p:grpSp>
          <p:nvGrpSpPr>
            <p:cNvPr id="18443" name="Group 31"/>
            <p:cNvGrpSpPr>
              <a:grpSpLocks/>
            </p:cNvGrpSpPr>
            <p:nvPr/>
          </p:nvGrpSpPr>
          <p:grpSpPr bwMode="auto">
            <a:xfrm>
              <a:off x="370" y="1195"/>
              <a:ext cx="463" cy="381"/>
              <a:chOff x="3840" y="1279"/>
              <a:chExt cx="266" cy="310"/>
            </a:xfrm>
          </p:grpSpPr>
          <p:sp>
            <p:nvSpPr>
              <p:cNvPr id="18519" name="Freeform 32"/>
              <p:cNvSpPr>
                <a:spLocks/>
              </p:cNvSpPr>
              <p:nvPr/>
            </p:nvSpPr>
            <p:spPr bwMode="auto">
              <a:xfrm>
                <a:off x="3848" y="1548"/>
                <a:ext cx="206" cy="20"/>
              </a:xfrm>
              <a:custGeom>
                <a:avLst/>
                <a:gdLst>
                  <a:gd name="T0" fmla="*/ 0 w 206"/>
                  <a:gd name="T1" fmla="*/ 19 h 20"/>
                  <a:gd name="T2" fmla="*/ 0 w 206"/>
                  <a:gd name="T3" fmla="*/ 0 h 20"/>
                  <a:gd name="T4" fmla="*/ 205 w 206"/>
                  <a:gd name="T5" fmla="*/ 0 h 20"/>
                  <a:gd name="T6" fmla="*/ 205 w 206"/>
                  <a:gd name="T7" fmla="*/ 19 h 20"/>
                  <a:gd name="T8" fmla="*/ 0 w 206"/>
                  <a:gd name="T9" fmla="*/ 19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6"/>
                  <a:gd name="T16" fmla="*/ 0 h 20"/>
                  <a:gd name="T17" fmla="*/ 206 w 206"/>
                  <a:gd name="T18" fmla="*/ 20 h 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6" h="20">
                    <a:moveTo>
                      <a:pt x="0" y="19"/>
                    </a:moveTo>
                    <a:lnTo>
                      <a:pt x="0" y="0"/>
                    </a:lnTo>
                    <a:lnTo>
                      <a:pt x="205" y="0"/>
                    </a:lnTo>
                    <a:lnTo>
                      <a:pt x="205" y="19"/>
                    </a:lnTo>
                    <a:lnTo>
                      <a:pt x="0" y="19"/>
                    </a:lnTo>
                  </a:path>
                </a:pathLst>
              </a:custGeom>
              <a:solidFill>
                <a:srgbClr val="666666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0" name="Freeform 33"/>
              <p:cNvSpPr>
                <a:spLocks/>
              </p:cNvSpPr>
              <p:nvPr/>
            </p:nvSpPr>
            <p:spPr bwMode="auto">
              <a:xfrm>
                <a:off x="3840" y="1453"/>
                <a:ext cx="220" cy="34"/>
              </a:xfrm>
              <a:custGeom>
                <a:avLst/>
                <a:gdLst>
                  <a:gd name="T0" fmla="*/ 189 w 220"/>
                  <a:gd name="T1" fmla="*/ 0 h 34"/>
                  <a:gd name="T2" fmla="*/ 219 w 220"/>
                  <a:gd name="T3" fmla="*/ 33 h 34"/>
                  <a:gd name="T4" fmla="*/ 0 w 220"/>
                  <a:gd name="T5" fmla="*/ 33 h 34"/>
                  <a:gd name="T6" fmla="*/ 29 w 220"/>
                  <a:gd name="T7" fmla="*/ 0 h 34"/>
                  <a:gd name="T8" fmla="*/ 189 w 220"/>
                  <a:gd name="T9" fmla="*/ 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0"/>
                  <a:gd name="T16" fmla="*/ 0 h 34"/>
                  <a:gd name="T17" fmla="*/ 220 w 220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0" h="34">
                    <a:moveTo>
                      <a:pt x="189" y="0"/>
                    </a:moveTo>
                    <a:lnTo>
                      <a:pt x="219" y="33"/>
                    </a:lnTo>
                    <a:lnTo>
                      <a:pt x="0" y="33"/>
                    </a:lnTo>
                    <a:lnTo>
                      <a:pt x="29" y="0"/>
                    </a:lnTo>
                    <a:lnTo>
                      <a:pt x="189" y="0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1" name="Freeform 34"/>
              <p:cNvSpPr>
                <a:spLocks/>
              </p:cNvSpPr>
              <p:nvPr/>
            </p:nvSpPr>
            <p:spPr bwMode="auto">
              <a:xfrm>
                <a:off x="3897" y="1449"/>
                <a:ext cx="104" cy="24"/>
              </a:xfrm>
              <a:custGeom>
                <a:avLst/>
                <a:gdLst>
                  <a:gd name="T0" fmla="*/ 102 w 104"/>
                  <a:gd name="T1" fmla="*/ 10 h 24"/>
                  <a:gd name="T2" fmla="*/ 101 w 104"/>
                  <a:gd name="T3" fmla="*/ 8 h 24"/>
                  <a:gd name="T4" fmla="*/ 97 w 104"/>
                  <a:gd name="T5" fmla="*/ 6 h 24"/>
                  <a:gd name="T6" fmla="*/ 93 w 104"/>
                  <a:gd name="T7" fmla="*/ 4 h 24"/>
                  <a:gd name="T8" fmla="*/ 87 w 104"/>
                  <a:gd name="T9" fmla="*/ 3 h 24"/>
                  <a:gd name="T10" fmla="*/ 80 w 104"/>
                  <a:gd name="T11" fmla="*/ 2 h 24"/>
                  <a:gd name="T12" fmla="*/ 72 w 104"/>
                  <a:gd name="T13" fmla="*/ 1 h 24"/>
                  <a:gd name="T14" fmla="*/ 64 w 104"/>
                  <a:gd name="T15" fmla="*/ 0 h 24"/>
                  <a:gd name="T16" fmla="*/ 55 w 104"/>
                  <a:gd name="T17" fmla="*/ 0 h 24"/>
                  <a:gd name="T18" fmla="*/ 46 w 104"/>
                  <a:gd name="T19" fmla="*/ 0 h 24"/>
                  <a:gd name="T20" fmla="*/ 37 w 104"/>
                  <a:gd name="T21" fmla="*/ 0 h 24"/>
                  <a:gd name="T22" fmla="*/ 29 w 104"/>
                  <a:gd name="T23" fmla="*/ 1 h 24"/>
                  <a:gd name="T24" fmla="*/ 21 w 104"/>
                  <a:gd name="T25" fmla="*/ 2 h 24"/>
                  <a:gd name="T26" fmla="*/ 14 w 104"/>
                  <a:gd name="T27" fmla="*/ 3 h 24"/>
                  <a:gd name="T28" fmla="*/ 8 w 104"/>
                  <a:gd name="T29" fmla="*/ 4 h 24"/>
                  <a:gd name="T30" fmla="*/ 4 w 104"/>
                  <a:gd name="T31" fmla="*/ 6 h 24"/>
                  <a:gd name="T32" fmla="*/ 1 w 104"/>
                  <a:gd name="T33" fmla="*/ 8 h 24"/>
                  <a:gd name="T34" fmla="*/ 0 w 104"/>
                  <a:gd name="T35" fmla="*/ 10 h 24"/>
                  <a:gd name="T36" fmla="*/ 0 w 104"/>
                  <a:gd name="T37" fmla="*/ 12 h 24"/>
                  <a:gd name="T38" fmla="*/ 1 w 104"/>
                  <a:gd name="T39" fmla="*/ 14 h 24"/>
                  <a:gd name="T40" fmla="*/ 4 w 104"/>
                  <a:gd name="T41" fmla="*/ 16 h 24"/>
                  <a:gd name="T42" fmla="*/ 8 w 104"/>
                  <a:gd name="T43" fmla="*/ 17 h 24"/>
                  <a:gd name="T44" fmla="*/ 14 w 104"/>
                  <a:gd name="T45" fmla="*/ 19 h 24"/>
                  <a:gd name="T46" fmla="*/ 21 w 104"/>
                  <a:gd name="T47" fmla="*/ 20 h 24"/>
                  <a:gd name="T48" fmla="*/ 29 w 104"/>
                  <a:gd name="T49" fmla="*/ 21 h 24"/>
                  <a:gd name="T50" fmla="*/ 37 w 104"/>
                  <a:gd name="T51" fmla="*/ 22 h 24"/>
                  <a:gd name="T52" fmla="*/ 46 w 104"/>
                  <a:gd name="T53" fmla="*/ 23 h 24"/>
                  <a:gd name="T54" fmla="*/ 55 w 104"/>
                  <a:gd name="T55" fmla="*/ 23 h 24"/>
                  <a:gd name="T56" fmla="*/ 64 w 104"/>
                  <a:gd name="T57" fmla="*/ 22 h 24"/>
                  <a:gd name="T58" fmla="*/ 72 w 104"/>
                  <a:gd name="T59" fmla="*/ 21 h 24"/>
                  <a:gd name="T60" fmla="*/ 80 w 104"/>
                  <a:gd name="T61" fmla="*/ 20 h 24"/>
                  <a:gd name="T62" fmla="*/ 87 w 104"/>
                  <a:gd name="T63" fmla="*/ 19 h 24"/>
                  <a:gd name="T64" fmla="*/ 93 w 104"/>
                  <a:gd name="T65" fmla="*/ 17 h 24"/>
                  <a:gd name="T66" fmla="*/ 97 w 104"/>
                  <a:gd name="T67" fmla="*/ 16 h 24"/>
                  <a:gd name="T68" fmla="*/ 101 w 104"/>
                  <a:gd name="T69" fmla="*/ 14 h 24"/>
                  <a:gd name="T70" fmla="*/ 102 w 104"/>
                  <a:gd name="T71" fmla="*/ 12 h 2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04"/>
                  <a:gd name="T109" fmla="*/ 0 h 24"/>
                  <a:gd name="T110" fmla="*/ 104 w 104"/>
                  <a:gd name="T111" fmla="*/ 24 h 2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04" h="24">
                    <a:moveTo>
                      <a:pt x="103" y="11"/>
                    </a:moveTo>
                    <a:lnTo>
                      <a:pt x="102" y="10"/>
                    </a:lnTo>
                    <a:lnTo>
                      <a:pt x="102" y="9"/>
                    </a:lnTo>
                    <a:lnTo>
                      <a:pt x="101" y="8"/>
                    </a:lnTo>
                    <a:lnTo>
                      <a:pt x="99" y="7"/>
                    </a:lnTo>
                    <a:lnTo>
                      <a:pt x="97" y="6"/>
                    </a:lnTo>
                    <a:lnTo>
                      <a:pt x="95" y="6"/>
                    </a:lnTo>
                    <a:lnTo>
                      <a:pt x="93" y="4"/>
                    </a:lnTo>
                    <a:lnTo>
                      <a:pt x="90" y="4"/>
                    </a:lnTo>
                    <a:lnTo>
                      <a:pt x="87" y="3"/>
                    </a:lnTo>
                    <a:lnTo>
                      <a:pt x="84" y="2"/>
                    </a:lnTo>
                    <a:lnTo>
                      <a:pt x="80" y="2"/>
                    </a:lnTo>
                    <a:lnTo>
                      <a:pt x="76" y="1"/>
                    </a:lnTo>
                    <a:lnTo>
                      <a:pt x="72" y="1"/>
                    </a:lnTo>
                    <a:lnTo>
                      <a:pt x="69" y="0"/>
                    </a:lnTo>
                    <a:lnTo>
                      <a:pt x="64" y="0"/>
                    </a:lnTo>
                    <a:lnTo>
                      <a:pt x="60" y="0"/>
                    </a:lnTo>
                    <a:lnTo>
                      <a:pt x="55" y="0"/>
                    </a:lnTo>
                    <a:lnTo>
                      <a:pt x="51" y="0"/>
                    </a:lnTo>
                    <a:lnTo>
                      <a:pt x="46" y="0"/>
                    </a:lnTo>
                    <a:lnTo>
                      <a:pt x="42" y="0"/>
                    </a:lnTo>
                    <a:lnTo>
                      <a:pt x="37" y="0"/>
                    </a:lnTo>
                    <a:lnTo>
                      <a:pt x="33" y="0"/>
                    </a:lnTo>
                    <a:lnTo>
                      <a:pt x="29" y="1"/>
                    </a:lnTo>
                    <a:lnTo>
                      <a:pt x="25" y="1"/>
                    </a:lnTo>
                    <a:lnTo>
                      <a:pt x="21" y="2"/>
                    </a:lnTo>
                    <a:lnTo>
                      <a:pt x="17" y="2"/>
                    </a:lnTo>
                    <a:lnTo>
                      <a:pt x="14" y="3"/>
                    </a:lnTo>
                    <a:lnTo>
                      <a:pt x="12" y="4"/>
                    </a:lnTo>
                    <a:lnTo>
                      <a:pt x="8" y="4"/>
                    </a:lnTo>
                    <a:lnTo>
                      <a:pt x="6" y="6"/>
                    </a:lnTo>
                    <a:lnTo>
                      <a:pt x="4" y="6"/>
                    </a:lnTo>
                    <a:lnTo>
                      <a:pt x="3" y="7"/>
                    </a:lnTo>
                    <a:lnTo>
                      <a:pt x="1" y="8"/>
                    </a:lnTo>
                    <a:lnTo>
                      <a:pt x="0" y="9"/>
                    </a:lnTo>
                    <a:lnTo>
                      <a:pt x="0" y="10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3"/>
                    </a:lnTo>
                    <a:lnTo>
                      <a:pt x="1" y="14"/>
                    </a:lnTo>
                    <a:lnTo>
                      <a:pt x="3" y="15"/>
                    </a:lnTo>
                    <a:lnTo>
                      <a:pt x="4" y="16"/>
                    </a:lnTo>
                    <a:lnTo>
                      <a:pt x="6" y="17"/>
                    </a:lnTo>
                    <a:lnTo>
                      <a:pt x="8" y="17"/>
                    </a:lnTo>
                    <a:lnTo>
                      <a:pt x="12" y="18"/>
                    </a:lnTo>
                    <a:lnTo>
                      <a:pt x="14" y="19"/>
                    </a:lnTo>
                    <a:lnTo>
                      <a:pt x="17" y="20"/>
                    </a:lnTo>
                    <a:lnTo>
                      <a:pt x="21" y="20"/>
                    </a:lnTo>
                    <a:lnTo>
                      <a:pt x="25" y="21"/>
                    </a:lnTo>
                    <a:lnTo>
                      <a:pt x="29" y="21"/>
                    </a:lnTo>
                    <a:lnTo>
                      <a:pt x="33" y="22"/>
                    </a:lnTo>
                    <a:lnTo>
                      <a:pt x="37" y="22"/>
                    </a:lnTo>
                    <a:lnTo>
                      <a:pt x="42" y="22"/>
                    </a:lnTo>
                    <a:lnTo>
                      <a:pt x="46" y="23"/>
                    </a:lnTo>
                    <a:lnTo>
                      <a:pt x="51" y="23"/>
                    </a:lnTo>
                    <a:lnTo>
                      <a:pt x="55" y="23"/>
                    </a:lnTo>
                    <a:lnTo>
                      <a:pt x="60" y="22"/>
                    </a:lnTo>
                    <a:lnTo>
                      <a:pt x="64" y="22"/>
                    </a:lnTo>
                    <a:lnTo>
                      <a:pt x="69" y="22"/>
                    </a:lnTo>
                    <a:lnTo>
                      <a:pt x="72" y="21"/>
                    </a:lnTo>
                    <a:lnTo>
                      <a:pt x="76" y="21"/>
                    </a:lnTo>
                    <a:lnTo>
                      <a:pt x="80" y="20"/>
                    </a:lnTo>
                    <a:lnTo>
                      <a:pt x="84" y="20"/>
                    </a:lnTo>
                    <a:lnTo>
                      <a:pt x="87" y="19"/>
                    </a:lnTo>
                    <a:lnTo>
                      <a:pt x="90" y="18"/>
                    </a:lnTo>
                    <a:lnTo>
                      <a:pt x="93" y="17"/>
                    </a:lnTo>
                    <a:lnTo>
                      <a:pt x="95" y="17"/>
                    </a:lnTo>
                    <a:lnTo>
                      <a:pt x="97" y="16"/>
                    </a:lnTo>
                    <a:lnTo>
                      <a:pt x="99" y="15"/>
                    </a:lnTo>
                    <a:lnTo>
                      <a:pt x="101" y="14"/>
                    </a:lnTo>
                    <a:lnTo>
                      <a:pt x="102" y="13"/>
                    </a:lnTo>
                    <a:lnTo>
                      <a:pt x="102" y="12"/>
                    </a:lnTo>
                    <a:lnTo>
                      <a:pt x="103" y="11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2" name="Freeform 35"/>
              <p:cNvSpPr>
                <a:spLocks/>
              </p:cNvSpPr>
              <p:nvPr/>
            </p:nvSpPr>
            <p:spPr bwMode="auto">
              <a:xfrm>
                <a:off x="3897" y="1461"/>
                <a:ext cx="104" cy="17"/>
              </a:xfrm>
              <a:custGeom>
                <a:avLst/>
                <a:gdLst>
                  <a:gd name="T0" fmla="*/ 102 w 104"/>
                  <a:gd name="T1" fmla="*/ 6 h 17"/>
                  <a:gd name="T2" fmla="*/ 101 w 104"/>
                  <a:gd name="T3" fmla="*/ 8 h 17"/>
                  <a:gd name="T4" fmla="*/ 97 w 104"/>
                  <a:gd name="T5" fmla="*/ 10 h 17"/>
                  <a:gd name="T6" fmla="*/ 93 w 104"/>
                  <a:gd name="T7" fmla="*/ 11 h 17"/>
                  <a:gd name="T8" fmla="*/ 87 w 104"/>
                  <a:gd name="T9" fmla="*/ 12 h 17"/>
                  <a:gd name="T10" fmla="*/ 80 w 104"/>
                  <a:gd name="T11" fmla="*/ 14 h 17"/>
                  <a:gd name="T12" fmla="*/ 72 w 104"/>
                  <a:gd name="T13" fmla="*/ 14 h 17"/>
                  <a:gd name="T14" fmla="*/ 64 w 104"/>
                  <a:gd name="T15" fmla="*/ 15 h 17"/>
                  <a:gd name="T16" fmla="*/ 55 w 104"/>
                  <a:gd name="T17" fmla="*/ 16 h 17"/>
                  <a:gd name="T18" fmla="*/ 46 w 104"/>
                  <a:gd name="T19" fmla="*/ 16 h 17"/>
                  <a:gd name="T20" fmla="*/ 37 w 104"/>
                  <a:gd name="T21" fmla="*/ 15 h 17"/>
                  <a:gd name="T22" fmla="*/ 29 w 104"/>
                  <a:gd name="T23" fmla="*/ 14 h 17"/>
                  <a:gd name="T24" fmla="*/ 21 w 104"/>
                  <a:gd name="T25" fmla="*/ 14 h 17"/>
                  <a:gd name="T26" fmla="*/ 14 w 104"/>
                  <a:gd name="T27" fmla="*/ 12 h 17"/>
                  <a:gd name="T28" fmla="*/ 8 w 104"/>
                  <a:gd name="T29" fmla="*/ 11 h 17"/>
                  <a:gd name="T30" fmla="*/ 4 w 104"/>
                  <a:gd name="T31" fmla="*/ 10 h 17"/>
                  <a:gd name="T32" fmla="*/ 1 w 104"/>
                  <a:gd name="T33" fmla="*/ 8 h 17"/>
                  <a:gd name="T34" fmla="*/ 0 w 104"/>
                  <a:gd name="T35" fmla="*/ 6 h 17"/>
                  <a:gd name="T36" fmla="*/ 0 w 104"/>
                  <a:gd name="T37" fmla="*/ 0 h 17"/>
                  <a:gd name="T38" fmla="*/ 0 w 104"/>
                  <a:gd name="T39" fmla="*/ 2 h 17"/>
                  <a:gd name="T40" fmla="*/ 3 w 104"/>
                  <a:gd name="T41" fmla="*/ 4 h 17"/>
                  <a:gd name="T42" fmla="*/ 6 w 104"/>
                  <a:gd name="T43" fmla="*/ 5 h 17"/>
                  <a:gd name="T44" fmla="*/ 12 w 104"/>
                  <a:gd name="T45" fmla="*/ 6 h 17"/>
                  <a:gd name="T46" fmla="*/ 17 w 104"/>
                  <a:gd name="T47" fmla="*/ 8 h 17"/>
                  <a:gd name="T48" fmla="*/ 25 w 104"/>
                  <a:gd name="T49" fmla="*/ 9 h 17"/>
                  <a:gd name="T50" fmla="*/ 33 w 104"/>
                  <a:gd name="T51" fmla="*/ 10 h 17"/>
                  <a:gd name="T52" fmla="*/ 42 w 104"/>
                  <a:gd name="T53" fmla="*/ 10 h 17"/>
                  <a:gd name="T54" fmla="*/ 51 w 104"/>
                  <a:gd name="T55" fmla="*/ 10 h 17"/>
                  <a:gd name="T56" fmla="*/ 60 w 104"/>
                  <a:gd name="T57" fmla="*/ 10 h 17"/>
                  <a:gd name="T58" fmla="*/ 69 w 104"/>
                  <a:gd name="T59" fmla="*/ 10 h 17"/>
                  <a:gd name="T60" fmla="*/ 76 w 104"/>
                  <a:gd name="T61" fmla="*/ 9 h 17"/>
                  <a:gd name="T62" fmla="*/ 84 w 104"/>
                  <a:gd name="T63" fmla="*/ 8 h 17"/>
                  <a:gd name="T64" fmla="*/ 90 w 104"/>
                  <a:gd name="T65" fmla="*/ 6 h 17"/>
                  <a:gd name="T66" fmla="*/ 95 w 104"/>
                  <a:gd name="T67" fmla="*/ 5 h 17"/>
                  <a:gd name="T68" fmla="*/ 99 w 104"/>
                  <a:gd name="T69" fmla="*/ 4 h 17"/>
                  <a:gd name="T70" fmla="*/ 102 w 104"/>
                  <a:gd name="T71" fmla="*/ 2 h 17"/>
                  <a:gd name="T72" fmla="*/ 103 w 104"/>
                  <a:gd name="T73" fmla="*/ 0 h 1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04"/>
                  <a:gd name="T112" fmla="*/ 0 h 17"/>
                  <a:gd name="T113" fmla="*/ 104 w 104"/>
                  <a:gd name="T114" fmla="*/ 17 h 1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04" h="17">
                    <a:moveTo>
                      <a:pt x="103" y="5"/>
                    </a:moveTo>
                    <a:lnTo>
                      <a:pt x="102" y="6"/>
                    </a:lnTo>
                    <a:lnTo>
                      <a:pt x="102" y="7"/>
                    </a:lnTo>
                    <a:lnTo>
                      <a:pt x="101" y="8"/>
                    </a:lnTo>
                    <a:lnTo>
                      <a:pt x="99" y="8"/>
                    </a:lnTo>
                    <a:lnTo>
                      <a:pt x="97" y="10"/>
                    </a:lnTo>
                    <a:lnTo>
                      <a:pt x="95" y="10"/>
                    </a:lnTo>
                    <a:lnTo>
                      <a:pt x="93" y="11"/>
                    </a:lnTo>
                    <a:lnTo>
                      <a:pt x="90" y="12"/>
                    </a:lnTo>
                    <a:lnTo>
                      <a:pt x="87" y="12"/>
                    </a:lnTo>
                    <a:lnTo>
                      <a:pt x="84" y="13"/>
                    </a:lnTo>
                    <a:lnTo>
                      <a:pt x="80" y="14"/>
                    </a:lnTo>
                    <a:lnTo>
                      <a:pt x="76" y="14"/>
                    </a:lnTo>
                    <a:lnTo>
                      <a:pt x="72" y="14"/>
                    </a:lnTo>
                    <a:lnTo>
                      <a:pt x="69" y="15"/>
                    </a:lnTo>
                    <a:lnTo>
                      <a:pt x="64" y="15"/>
                    </a:lnTo>
                    <a:lnTo>
                      <a:pt x="60" y="16"/>
                    </a:lnTo>
                    <a:lnTo>
                      <a:pt x="55" y="16"/>
                    </a:lnTo>
                    <a:lnTo>
                      <a:pt x="51" y="16"/>
                    </a:lnTo>
                    <a:lnTo>
                      <a:pt x="46" y="16"/>
                    </a:lnTo>
                    <a:lnTo>
                      <a:pt x="42" y="16"/>
                    </a:lnTo>
                    <a:lnTo>
                      <a:pt x="37" y="15"/>
                    </a:lnTo>
                    <a:lnTo>
                      <a:pt x="33" y="15"/>
                    </a:lnTo>
                    <a:lnTo>
                      <a:pt x="29" y="14"/>
                    </a:lnTo>
                    <a:lnTo>
                      <a:pt x="25" y="14"/>
                    </a:lnTo>
                    <a:lnTo>
                      <a:pt x="21" y="14"/>
                    </a:lnTo>
                    <a:lnTo>
                      <a:pt x="17" y="13"/>
                    </a:lnTo>
                    <a:lnTo>
                      <a:pt x="14" y="12"/>
                    </a:lnTo>
                    <a:lnTo>
                      <a:pt x="12" y="12"/>
                    </a:lnTo>
                    <a:lnTo>
                      <a:pt x="8" y="11"/>
                    </a:lnTo>
                    <a:lnTo>
                      <a:pt x="6" y="10"/>
                    </a:lnTo>
                    <a:lnTo>
                      <a:pt x="4" y="10"/>
                    </a:lnTo>
                    <a:lnTo>
                      <a:pt x="3" y="8"/>
                    </a:lnTo>
                    <a:lnTo>
                      <a:pt x="1" y="8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1" y="2"/>
                    </a:lnTo>
                    <a:lnTo>
                      <a:pt x="3" y="4"/>
                    </a:lnTo>
                    <a:lnTo>
                      <a:pt x="4" y="4"/>
                    </a:lnTo>
                    <a:lnTo>
                      <a:pt x="6" y="5"/>
                    </a:lnTo>
                    <a:lnTo>
                      <a:pt x="8" y="6"/>
                    </a:lnTo>
                    <a:lnTo>
                      <a:pt x="12" y="6"/>
                    </a:lnTo>
                    <a:lnTo>
                      <a:pt x="14" y="7"/>
                    </a:lnTo>
                    <a:lnTo>
                      <a:pt x="17" y="8"/>
                    </a:lnTo>
                    <a:lnTo>
                      <a:pt x="21" y="8"/>
                    </a:lnTo>
                    <a:lnTo>
                      <a:pt x="25" y="9"/>
                    </a:lnTo>
                    <a:lnTo>
                      <a:pt x="29" y="10"/>
                    </a:lnTo>
                    <a:lnTo>
                      <a:pt x="33" y="10"/>
                    </a:lnTo>
                    <a:lnTo>
                      <a:pt x="37" y="10"/>
                    </a:lnTo>
                    <a:lnTo>
                      <a:pt x="42" y="10"/>
                    </a:lnTo>
                    <a:lnTo>
                      <a:pt x="46" y="10"/>
                    </a:lnTo>
                    <a:lnTo>
                      <a:pt x="51" y="10"/>
                    </a:lnTo>
                    <a:lnTo>
                      <a:pt x="55" y="10"/>
                    </a:lnTo>
                    <a:lnTo>
                      <a:pt x="60" y="10"/>
                    </a:lnTo>
                    <a:lnTo>
                      <a:pt x="64" y="10"/>
                    </a:lnTo>
                    <a:lnTo>
                      <a:pt x="69" y="10"/>
                    </a:lnTo>
                    <a:lnTo>
                      <a:pt x="72" y="10"/>
                    </a:lnTo>
                    <a:lnTo>
                      <a:pt x="76" y="9"/>
                    </a:lnTo>
                    <a:lnTo>
                      <a:pt x="80" y="8"/>
                    </a:lnTo>
                    <a:lnTo>
                      <a:pt x="84" y="8"/>
                    </a:lnTo>
                    <a:lnTo>
                      <a:pt x="87" y="7"/>
                    </a:lnTo>
                    <a:lnTo>
                      <a:pt x="90" y="6"/>
                    </a:lnTo>
                    <a:lnTo>
                      <a:pt x="93" y="6"/>
                    </a:lnTo>
                    <a:lnTo>
                      <a:pt x="95" y="5"/>
                    </a:lnTo>
                    <a:lnTo>
                      <a:pt x="97" y="4"/>
                    </a:lnTo>
                    <a:lnTo>
                      <a:pt x="99" y="4"/>
                    </a:lnTo>
                    <a:lnTo>
                      <a:pt x="101" y="2"/>
                    </a:lnTo>
                    <a:lnTo>
                      <a:pt x="102" y="2"/>
                    </a:lnTo>
                    <a:lnTo>
                      <a:pt x="102" y="1"/>
                    </a:lnTo>
                    <a:lnTo>
                      <a:pt x="103" y="0"/>
                    </a:lnTo>
                    <a:lnTo>
                      <a:pt x="103" y="5"/>
                    </a:lnTo>
                  </a:path>
                </a:pathLst>
              </a:custGeom>
              <a:solidFill>
                <a:srgbClr val="666666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3" name="Freeform 36"/>
              <p:cNvSpPr>
                <a:spLocks/>
              </p:cNvSpPr>
              <p:nvPr/>
            </p:nvSpPr>
            <p:spPr bwMode="auto">
              <a:xfrm>
                <a:off x="3840" y="1486"/>
                <a:ext cx="220" cy="77"/>
              </a:xfrm>
              <a:custGeom>
                <a:avLst/>
                <a:gdLst>
                  <a:gd name="T0" fmla="*/ 0 w 220"/>
                  <a:gd name="T1" fmla="*/ 76 h 77"/>
                  <a:gd name="T2" fmla="*/ 219 w 220"/>
                  <a:gd name="T3" fmla="*/ 76 h 77"/>
                  <a:gd name="T4" fmla="*/ 219 w 220"/>
                  <a:gd name="T5" fmla="*/ 0 h 77"/>
                  <a:gd name="T6" fmla="*/ 0 w 220"/>
                  <a:gd name="T7" fmla="*/ 0 h 77"/>
                  <a:gd name="T8" fmla="*/ 0 w 220"/>
                  <a:gd name="T9" fmla="*/ 76 h 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0"/>
                  <a:gd name="T16" fmla="*/ 0 h 77"/>
                  <a:gd name="T17" fmla="*/ 220 w 220"/>
                  <a:gd name="T18" fmla="*/ 77 h 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0" h="77">
                    <a:moveTo>
                      <a:pt x="0" y="76"/>
                    </a:moveTo>
                    <a:lnTo>
                      <a:pt x="219" y="76"/>
                    </a:lnTo>
                    <a:lnTo>
                      <a:pt x="219" y="0"/>
                    </a:lnTo>
                    <a:lnTo>
                      <a:pt x="0" y="0"/>
                    </a:lnTo>
                    <a:lnTo>
                      <a:pt x="0" y="76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4" name="Freeform 37"/>
              <p:cNvSpPr>
                <a:spLocks/>
              </p:cNvSpPr>
              <p:nvPr/>
            </p:nvSpPr>
            <p:spPr bwMode="auto">
              <a:xfrm>
                <a:off x="3875" y="1449"/>
                <a:ext cx="69" cy="17"/>
              </a:xfrm>
              <a:custGeom>
                <a:avLst/>
                <a:gdLst>
                  <a:gd name="T0" fmla="*/ 0 w 69"/>
                  <a:gd name="T1" fmla="*/ 16 h 17"/>
                  <a:gd name="T2" fmla="*/ 0 w 69"/>
                  <a:gd name="T3" fmla="*/ 0 h 17"/>
                  <a:gd name="T4" fmla="*/ 68 w 69"/>
                  <a:gd name="T5" fmla="*/ 0 h 17"/>
                  <a:gd name="T6" fmla="*/ 68 w 69"/>
                  <a:gd name="T7" fmla="*/ 16 h 17"/>
                  <a:gd name="T8" fmla="*/ 0 w 69"/>
                  <a:gd name="T9" fmla="*/ 16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9"/>
                  <a:gd name="T16" fmla="*/ 0 h 17"/>
                  <a:gd name="T17" fmla="*/ 69 w 69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9" h="17">
                    <a:moveTo>
                      <a:pt x="0" y="16"/>
                    </a:moveTo>
                    <a:lnTo>
                      <a:pt x="0" y="0"/>
                    </a:lnTo>
                    <a:lnTo>
                      <a:pt x="68" y="0"/>
                    </a:lnTo>
                    <a:lnTo>
                      <a:pt x="68" y="16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5" name="Freeform 38"/>
              <p:cNvSpPr>
                <a:spLocks/>
              </p:cNvSpPr>
              <p:nvPr/>
            </p:nvSpPr>
            <p:spPr bwMode="auto">
              <a:xfrm>
                <a:off x="3931" y="1450"/>
                <a:ext cx="94" cy="17"/>
              </a:xfrm>
              <a:custGeom>
                <a:avLst/>
                <a:gdLst>
                  <a:gd name="T0" fmla="*/ 0 w 94"/>
                  <a:gd name="T1" fmla="*/ 16 h 17"/>
                  <a:gd name="T2" fmla="*/ 0 w 94"/>
                  <a:gd name="T3" fmla="*/ 0 h 17"/>
                  <a:gd name="T4" fmla="*/ 93 w 94"/>
                  <a:gd name="T5" fmla="*/ 0 h 17"/>
                  <a:gd name="T6" fmla="*/ 93 w 94"/>
                  <a:gd name="T7" fmla="*/ 16 h 17"/>
                  <a:gd name="T8" fmla="*/ 0 w 94"/>
                  <a:gd name="T9" fmla="*/ 16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4"/>
                  <a:gd name="T16" fmla="*/ 0 h 17"/>
                  <a:gd name="T17" fmla="*/ 94 w 9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4" h="17">
                    <a:moveTo>
                      <a:pt x="0" y="16"/>
                    </a:moveTo>
                    <a:lnTo>
                      <a:pt x="0" y="0"/>
                    </a:lnTo>
                    <a:lnTo>
                      <a:pt x="93" y="0"/>
                    </a:lnTo>
                    <a:lnTo>
                      <a:pt x="93" y="16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6" name="Freeform 39"/>
              <p:cNvSpPr>
                <a:spLocks/>
              </p:cNvSpPr>
              <p:nvPr/>
            </p:nvSpPr>
            <p:spPr bwMode="auto">
              <a:xfrm>
                <a:off x="3877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6 h 17"/>
                  <a:gd name="T6" fmla="*/ 16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7" name="Freeform 40"/>
              <p:cNvSpPr>
                <a:spLocks/>
              </p:cNvSpPr>
              <p:nvPr/>
            </p:nvSpPr>
            <p:spPr bwMode="auto">
              <a:xfrm>
                <a:off x="3880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4 w 17"/>
                  <a:gd name="T5" fmla="*/ 14 h 17"/>
                  <a:gd name="T6" fmla="*/ 4 w 17"/>
                  <a:gd name="T7" fmla="*/ 16 h 17"/>
                  <a:gd name="T8" fmla="*/ 8 w 17"/>
                  <a:gd name="T9" fmla="*/ 16 h 17"/>
                  <a:gd name="T10" fmla="*/ 12 w 17"/>
                  <a:gd name="T11" fmla="*/ 14 h 17"/>
                  <a:gd name="T12" fmla="*/ 16 w 17"/>
                  <a:gd name="T13" fmla="*/ 14 h 17"/>
                  <a:gd name="T14" fmla="*/ 16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4"/>
                    </a:lnTo>
                    <a:lnTo>
                      <a:pt x="4" y="16"/>
                    </a:lnTo>
                    <a:lnTo>
                      <a:pt x="8" y="16"/>
                    </a:lnTo>
                    <a:lnTo>
                      <a:pt x="12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8" name="Freeform 41"/>
              <p:cNvSpPr>
                <a:spLocks/>
              </p:cNvSpPr>
              <p:nvPr/>
            </p:nvSpPr>
            <p:spPr bwMode="auto">
              <a:xfrm>
                <a:off x="3883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6 h 17"/>
                  <a:gd name="T6" fmla="*/ 16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9" name="Freeform 42"/>
              <p:cNvSpPr>
                <a:spLocks/>
              </p:cNvSpPr>
              <p:nvPr/>
            </p:nvSpPr>
            <p:spPr bwMode="auto">
              <a:xfrm>
                <a:off x="3885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0 w 17"/>
                  <a:gd name="T9" fmla="*/ 14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0" name="Freeform 43"/>
              <p:cNvSpPr>
                <a:spLocks/>
              </p:cNvSpPr>
              <p:nvPr/>
            </p:nvSpPr>
            <p:spPr bwMode="auto">
              <a:xfrm>
                <a:off x="3888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4 h 17"/>
                  <a:gd name="T6" fmla="*/ 5 w 17"/>
                  <a:gd name="T7" fmla="*/ 16 h 17"/>
                  <a:gd name="T8" fmla="*/ 10 w 17"/>
                  <a:gd name="T9" fmla="*/ 16 h 17"/>
                  <a:gd name="T10" fmla="*/ 10 w 17"/>
                  <a:gd name="T11" fmla="*/ 14 h 17"/>
                  <a:gd name="T12" fmla="*/ 16 w 17"/>
                  <a:gd name="T13" fmla="*/ 14 h 17"/>
                  <a:gd name="T14" fmla="*/ 16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1" name="Freeform 44"/>
              <p:cNvSpPr>
                <a:spLocks/>
              </p:cNvSpPr>
              <p:nvPr/>
            </p:nvSpPr>
            <p:spPr bwMode="auto">
              <a:xfrm>
                <a:off x="3890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2" name="Freeform 45"/>
              <p:cNvSpPr>
                <a:spLocks/>
              </p:cNvSpPr>
              <p:nvPr/>
            </p:nvSpPr>
            <p:spPr bwMode="auto">
              <a:xfrm>
                <a:off x="3893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0 w 17"/>
                  <a:gd name="T9" fmla="*/ 14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3" name="Freeform 46"/>
              <p:cNvSpPr>
                <a:spLocks/>
              </p:cNvSpPr>
              <p:nvPr/>
            </p:nvSpPr>
            <p:spPr bwMode="auto">
              <a:xfrm>
                <a:off x="3894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4 w 17"/>
                  <a:gd name="T5" fmla="*/ 14 h 17"/>
                  <a:gd name="T6" fmla="*/ 8 w 17"/>
                  <a:gd name="T7" fmla="*/ 16 h 17"/>
                  <a:gd name="T8" fmla="*/ 12 w 17"/>
                  <a:gd name="T9" fmla="*/ 16 h 17"/>
                  <a:gd name="T10" fmla="*/ 12 w 17"/>
                  <a:gd name="T11" fmla="*/ 14 h 17"/>
                  <a:gd name="T12" fmla="*/ 16 w 17"/>
                  <a:gd name="T13" fmla="*/ 14 h 17"/>
                  <a:gd name="T14" fmla="*/ 16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4"/>
                    </a:lnTo>
                    <a:lnTo>
                      <a:pt x="8" y="16"/>
                    </a:lnTo>
                    <a:lnTo>
                      <a:pt x="12" y="16"/>
                    </a:lnTo>
                    <a:lnTo>
                      <a:pt x="12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4" name="Freeform 47"/>
              <p:cNvSpPr>
                <a:spLocks/>
              </p:cNvSpPr>
              <p:nvPr/>
            </p:nvSpPr>
            <p:spPr bwMode="auto">
              <a:xfrm>
                <a:off x="3898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4 h 17"/>
                  <a:gd name="T6" fmla="*/ 8 w 17"/>
                  <a:gd name="T7" fmla="*/ 16 h 17"/>
                  <a:gd name="T8" fmla="*/ 16 w 17"/>
                  <a:gd name="T9" fmla="*/ 16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5" name="Freeform 48"/>
              <p:cNvSpPr>
                <a:spLocks/>
              </p:cNvSpPr>
              <p:nvPr/>
            </p:nvSpPr>
            <p:spPr bwMode="auto">
              <a:xfrm>
                <a:off x="3900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6 h 17"/>
                  <a:gd name="T6" fmla="*/ 16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6" name="Freeform 49"/>
              <p:cNvSpPr>
                <a:spLocks/>
              </p:cNvSpPr>
              <p:nvPr/>
            </p:nvSpPr>
            <p:spPr bwMode="auto">
              <a:xfrm>
                <a:off x="3902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0 w 17"/>
                  <a:gd name="T5" fmla="*/ 16 h 17"/>
                  <a:gd name="T6" fmla="*/ 8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0" y="16"/>
                    </a:lnTo>
                    <a:lnTo>
                      <a:pt x="8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7" name="Freeform 50"/>
              <p:cNvSpPr>
                <a:spLocks/>
              </p:cNvSpPr>
              <p:nvPr/>
            </p:nvSpPr>
            <p:spPr bwMode="auto">
              <a:xfrm>
                <a:off x="3905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4 w 17"/>
                  <a:gd name="T5" fmla="*/ 16 h 17"/>
                  <a:gd name="T6" fmla="*/ 8 w 17"/>
                  <a:gd name="T7" fmla="*/ 16 h 17"/>
                  <a:gd name="T8" fmla="*/ 12 w 17"/>
                  <a:gd name="T9" fmla="*/ 16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6"/>
                    </a:lnTo>
                    <a:lnTo>
                      <a:pt x="8" y="16"/>
                    </a:lnTo>
                    <a:lnTo>
                      <a:pt x="12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8" name="Freeform 51"/>
              <p:cNvSpPr>
                <a:spLocks/>
              </p:cNvSpPr>
              <p:nvPr/>
            </p:nvSpPr>
            <p:spPr bwMode="auto">
              <a:xfrm>
                <a:off x="3908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0 w 17"/>
                  <a:gd name="T9" fmla="*/ 14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9" name="Freeform 52"/>
              <p:cNvSpPr>
                <a:spLocks/>
              </p:cNvSpPr>
              <p:nvPr/>
            </p:nvSpPr>
            <p:spPr bwMode="auto">
              <a:xfrm>
                <a:off x="3910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4 h 17"/>
                  <a:gd name="T6" fmla="*/ 8 w 17"/>
                  <a:gd name="T7" fmla="*/ 16 h 17"/>
                  <a:gd name="T8" fmla="*/ 16 w 17"/>
                  <a:gd name="T9" fmla="*/ 16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0" name="Freeform 53"/>
              <p:cNvSpPr>
                <a:spLocks/>
              </p:cNvSpPr>
              <p:nvPr/>
            </p:nvSpPr>
            <p:spPr bwMode="auto">
              <a:xfrm>
                <a:off x="3912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1" name="Freeform 54"/>
              <p:cNvSpPr>
                <a:spLocks/>
              </p:cNvSpPr>
              <p:nvPr/>
            </p:nvSpPr>
            <p:spPr bwMode="auto">
              <a:xfrm>
                <a:off x="3916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2" name="Freeform 55"/>
              <p:cNvSpPr>
                <a:spLocks/>
              </p:cNvSpPr>
              <p:nvPr/>
            </p:nvSpPr>
            <p:spPr bwMode="auto">
              <a:xfrm>
                <a:off x="3918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4 h 17"/>
                  <a:gd name="T6" fmla="*/ 5 w 17"/>
                  <a:gd name="T7" fmla="*/ 16 h 17"/>
                  <a:gd name="T8" fmla="*/ 10 w 17"/>
                  <a:gd name="T9" fmla="*/ 16 h 17"/>
                  <a:gd name="T10" fmla="*/ 10 w 17"/>
                  <a:gd name="T11" fmla="*/ 14 h 17"/>
                  <a:gd name="T12" fmla="*/ 16 w 17"/>
                  <a:gd name="T13" fmla="*/ 14 h 17"/>
                  <a:gd name="T14" fmla="*/ 16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3" name="Freeform 56"/>
              <p:cNvSpPr>
                <a:spLocks/>
              </p:cNvSpPr>
              <p:nvPr/>
            </p:nvSpPr>
            <p:spPr bwMode="auto">
              <a:xfrm>
                <a:off x="3921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6 h 17"/>
                  <a:gd name="T6" fmla="*/ 16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4" name="Freeform 57"/>
              <p:cNvSpPr>
                <a:spLocks/>
              </p:cNvSpPr>
              <p:nvPr/>
            </p:nvSpPr>
            <p:spPr bwMode="auto">
              <a:xfrm>
                <a:off x="3923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5" name="Freeform 58"/>
              <p:cNvSpPr>
                <a:spLocks/>
              </p:cNvSpPr>
              <p:nvPr/>
            </p:nvSpPr>
            <p:spPr bwMode="auto">
              <a:xfrm>
                <a:off x="3925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4 w 17"/>
                  <a:gd name="T5" fmla="*/ 14 h 17"/>
                  <a:gd name="T6" fmla="*/ 8 w 17"/>
                  <a:gd name="T7" fmla="*/ 16 h 17"/>
                  <a:gd name="T8" fmla="*/ 12 w 17"/>
                  <a:gd name="T9" fmla="*/ 16 h 17"/>
                  <a:gd name="T10" fmla="*/ 12 w 17"/>
                  <a:gd name="T11" fmla="*/ 14 h 17"/>
                  <a:gd name="T12" fmla="*/ 16 w 17"/>
                  <a:gd name="T13" fmla="*/ 14 h 17"/>
                  <a:gd name="T14" fmla="*/ 16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4"/>
                    </a:lnTo>
                    <a:lnTo>
                      <a:pt x="8" y="16"/>
                    </a:lnTo>
                    <a:lnTo>
                      <a:pt x="12" y="16"/>
                    </a:lnTo>
                    <a:lnTo>
                      <a:pt x="12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6" name="Freeform 59"/>
              <p:cNvSpPr>
                <a:spLocks/>
              </p:cNvSpPr>
              <p:nvPr/>
            </p:nvSpPr>
            <p:spPr bwMode="auto">
              <a:xfrm>
                <a:off x="3855" y="1279"/>
                <a:ext cx="187" cy="174"/>
              </a:xfrm>
              <a:custGeom>
                <a:avLst/>
                <a:gdLst>
                  <a:gd name="T0" fmla="*/ 180 w 187"/>
                  <a:gd name="T1" fmla="*/ 173 h 174"/>
                  <a:gd name="T2" fmla="*/ 180 w 187"/>
                  <a:gd name="T3" fmla="*/ 173 h 174"/>
                  <a:gd name="T4" fmla="*/ 180 w 187"/>
                  <a:gd name="T5" fmla="*/ 172 h 174"/>
                  <a:gd name="T6" fmla="*/ 182 w 187"/>
                  <a:gd name="T7" fmla="*/ 172 h 174"/>
                  <a:gd name="T8" fmla="*/ 182 w 187"/>
                  <a:gd name="T9" fmla="*/ 172 h 174"/>
                  <a:gd name="T10" fmla="*/ 183 w 187"/>
                  <a:gd name="T11" fmla="*/ 171 h 174"/>
                  <a:gd name="T12" fmla="*/ 183 w 187"/>
                  <a:gd name="T13" fmla="*/ 171 h 174"/>
                  <a:gd name="T14" fmla="*/ 184 w 187"/>
                  <a:gd name="T15" fmla="*/ 171 h 174"/>
                  <a:gd name="T16" fmla="*/ 184 w 187"/>
                  <a:gd name="T17" fmla="*/ 170 h 174"/>
                  <a:gd name="T18" fmla="*/ 184 w 187"/>
                  <a:gd name="T19" fmla="*/ 170 h 174"/>
                  <a:gd name="T20" fmla="*/ 184 w 187"/>
                  <a:gd name="T21" fmla="*/ 169 h 174"/>
                  <a:gd name="T22" fmla="*/ 185 w 187"/>
                  <a:gd name="T23" fmla="*/ 169 h 174"/>
                  <a:gd name="T24" fmla="*/ 185 w 187"/>
                  <a:gd name="T25" fmla="*/ 168 h 174"/>
                  <a:gd name="T26" fmla="*/ 186 w 187"/>
                  <a:gd name="T27" fmla="*/ 167 h 174"/>
                  <a:gd name="T28" fmla="*/ 186 w 187"/>
                  <a:gd name="T29" fmla="*/ 167 h 174"/>
                  <a:gd name="T30" fmla="*/ 186 w 187"/>
                  <a:gd name="T31" fmla="*/ 6 h 174"/>
                  <a:gd name="T32" fmla="*/ 186 w 187"/>
                  <a:gd name="T33" fmla="*/ 5 h 174"/>
                  <a:gd name="T34" fmla="*/ 186 w 187"/>
                  <a:gd name="T35" fmla="*/ 5 h 174"/>
                  <a:gd name="T36" fmla="*/ 185 w 187"/>
                  <a:gd name="T37" fmla="*/ 5 h 174"/>
                  <a:gd name="T38" fmla="*/ 185 w 187"/>
                  <a:gd name="T39" fmla="*/ 3 h 174"/>
                  <a:gd name="T40" fmla="*/ 184 w 187"/>
                  <a:gd name="T41" fmla="*/ 3 h 174"/>
                  <a:gd name="T42" fmla="*/ 184 w 187"/>
                  <a:gd name="T43" fmla="*/ 2 h 174"/>
                  <a:gd name="T44" fmla="*/ 184 w 187"/>
                  <a:gd name="T45" fmla="*/ 1 h 174"/>
                  <a:gd name="T46" fmla="*/ 183 w 187"/>
                  <a:gd name="T47" fmla="*/ 1 h 174"/>
                  <a:gd name="T48" fmla="*/ 183 w 187"/>
                  <a:gd name="T49" fmla="*/ 1 h 174"/>
                  <a:gd name="T50" fmla="*/ 182 w 187"/>
                  <a:gd name="T51" fmla="*/ 1 h 174"/>
                  <a:gd name="T52" fmla="*/ 182 w 187"/>
                  <a:gd name="T53" fmla="*/ 0 h 174"/>
                  <a:gd name="T54" fmla="*/ 180 w 187"/>
                  <a:gd name="T55" fmla="*/ 0 h 174"/>
                  <a:gd name="T56" fmla="*/ 180 w 187"/>
                  <a:gd name="T57" fmla="*/ 0 h 174"/>
                  <a:gd name="T58" fmla="*/ 180 w 187"/>
                  <a:gd name="T59" fmla="*/ 0 h 174"/>
                  <a:gd name="T60" fmla="*/ 5 w 187"/>
                  <a:gd name="T61" fmla="*/ 0 h 174"/>
                  <a:gd name="T62" fmla="*/ 4 w 187"/>
                  <a:gd name="T63" fmla="*/ 0 h 174"/>
                  <a:gd name="T64" fmla="*/ 3 w 187"/>
                  <a:gd name="T65" fmla="*/ 0 h 174"/>
                  <a:gd name="T66" fmla="*/ 3 w 187"/>
                  <a:gd name="T67" fmla="*/ 0 h 174"/>
                  <a:gd name="T68" fmla="*/ 2 w 187"/>
                  <a:gd name="T69" fmla="*/ 0 h 174"/>
                  <a:gd name="T70" fmla="*/ 2 w 187"/>
                  <a:gd name="T71" fmla="*/ 1 h 174"/>
                  <a:gd name="T72" fmla="*/ 1 w 187"/>
                  <a:gd name="T73" fmla="*/ 1 h 174"/>
                  <a:gd name="T74" fmla="*/ 1 w 187"/>
                  <a:gd name="T75" fmla="*/ 1 h 174"/>
                  <a:gd name="T76" fmla="*/ 1 w 187"/>
                  <a:gd name="T77" fmla="*/ 2 h 174"/>
                  <a:gd name="T78" fmla="*/ 0 w 187"/>
                  <a:gd name="T79" fmla="*/ 3 h 174"/>
                  <a:gd name="T80" fmla="*/ 0 w 187"/>
                  <a:gd name="T81" fmla="*/ 3 h 174"/>
                  <a:gd name="T82" fmla="*/ 0 w 187"/>
                  <a:gd name="T83" fmla="*/ 3 h 174"/>
                  <a:gd name="T84" fmla="*/ 0 w 187"/>
                  <a:gd name="T85" fmla="*/ 5 h 174"/>
                  <a:gd name="T86" fmla="*/ 0 w 187"/>
                  <a:gd name="T87" fmla="*/ 5 h 174"/>
                  <a:gd name="T88" fmla="*/ 0 w 187"/>
                  <a:gd name="T89" fmla="*/ 6 h 174"/>
                  <a:gd name="T90" fmla="*/ 0 w 187"/>
                  <a:gd name="T91" fmla="*/ 167 h 174"/>
                  <a:gd name="T92" fmla="*/ 0 w 187"/>
                  <a:gd name="T93" fmla="*/ 167 h 174"/>
                  <a:gd name="T94" fmla="*/ 0 w 187"/>
                  <a:gd name="T95" fmla="*/ 168 h 174"/>
                  <a:gd name="T96" fmla="*/ 0 w 187"/>
                  <a:gd name="T97" fmla="*/ 169 h 174"/>
                  <a:gd name="T98" fmla="*/ 0 w 187"/>
                  <a:gd name="T99" fmla="*/ 169 h 174"/>
                  <a:gd name="T100" fmla="*/ 0 w 187"/>
                  <a:gd name="T101" fmla="*/ 170 h 174"/>
                  <a:gd name="T102" fmla="*/ 1 w 187"/>
                  <a:gd name="T103" fmla="*/ 170 h 174"/>
                  <a:gd name="T104" fmla="*/ 1 w 187"/>
                  <a:gd name="T105" fmla="*/ 171 h 174"/>
                  <a:gd name="T106" fmla="*/ 1 w 187"/>
                  <a:gd name="T107" fmla="*/ 171 h 174"/>
                  <a:gd name="T108" fmla="*/ 2 w 187"/>
                  <a:gd name="T109" fmla="*/ 171 h 174"/>
                  <a:gd name="T110" fmla="*/ 2 w 187"/>
                  <a:gd name="T111" fmla="*/ 172 h 174"/>
                  <a:gd name="T112" fmla="*/ 2 w 187"/>
                  <a:gd name="T113" fmla="*/ 172 h 174"/>
                  <a:gd name="T114" fmla="*/ 3 w 187"/>
                  <a:gd name="T115" fmla="*/ 172 h 174"/>
                  <a:gd name="T116" fmla="*/ 3 w 187"/>
                  <a:gd name="T117" fmla="*/ 172 h 174"/>
                  <a:gd name="T118" fmla="*/ 4 w 187"/>
                  <a:gd name="T119" fmla="*/ 173 h 174"/>
                  <a:gd name="T120" fmla="*/ 5 w 187"/>
                  <a:gd name="T121" fmla="*/ 173 h 174"/>
                  <a:gd name="T122" fmla="*/ 180 w 187"/>
                  <a:gd name="T123" fmla="*/ 173 h 174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187"/>
                  <a:gd name="T187" fmla="*/ 0 h 174"/>
                  <a:gd name="T188" fmla="*/ 187 w 187"/>
                  <a:gd name="T189" fmla="*/ 174 h 174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187" h="174">
                    <a:moveTo>
                      <a:pt x="180" y="173"/>
                    </a:moveTo>
                    <a:lnTo>
                      <a:pt x="180" y="173"/>
                    </a:lnTo>
                    <a:lnTo>
                      <a:pt x="180" y="172"/>
                    </a:lnTo>
                    <a:lnTo>
                      <a:pt x="182" y="172"/>
                    </a:lnTo>
                    <a:lnTo>
                      <a:pt x="183" y="171"/>
                    </a:lnTo>
                    <a:lnTo>
                      <a:pt x="184" y="171"/>
                    </a:lnTo>
                    <a:lnTo>
                      <a:pt x="184" y="170"/>
                    </a:lnTo>
                    <a:lnTo>
                      <a:pt x="184" y="169"/>
                    </a:lnTo>
                    <a:lnTo>
                      <a:pt x="185" y="169"/>
                    </a:lnTo>
                    <a:lnTo>
                      <a:pt x="185" y="168"/>
                    </a:lnTo>
                    <a:lnTo>
                      <a:pt x="186" y="167"/>
                    </a:lnTo>
                    <a:lnTo>
                      <a:pt x="186" y="6"/>
                    </a:lnTo>
                    <a:lnTo>
                      <a:pt x="186" y="5"/>
                    </a:lnTo>
                    <a:lnTo>
                      <a:pt x="185" y="5"/>
                    </a:lnTo>
                    <a:lnTo>
                      <a:pt x="185" y="3"/>
                    </a:lnTo>
                    <a:lnTo>
                      <a:pt x="184" y="3"/>
                    </a:lnTo>
                    <a:lnTo>
                      <a:pt x="184" y="2"/>
                    </a:lnTo>
                    <a:lnTo>
                      <a:pt x="184" y="1"/>
                    </a:lnTo>
                    <a:lnTo>
                      <a:pt x="183" y="1"/>
                    </a:lnTo>
                    <a:lnTo>
                      <a:pt x="182" y="1"/>
                    </a:lnTo>
                    <a:lnTo>
                      <a:pt x="182" y="0"/>
                    </a:lnTo>
                    <a:lnTo>
                      <a:pt x="180" y="0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167"/>
                    </a:lnTo>
                    <a:lnTo>
                      <a:pt x="0" y="168"/>
                    </a:lnTo>
                    <a:lnTo>
                      <a:pt x="0" y="169"/>
                    </a:lnTo>
                    <a:lnTo>
                      <a:pt x="0" y="170"/>
                    </a:lnTo>
                    <a:lnTo>
                      <a:pt x="1" y="170"/>
                    </a:lnTo>
                    <a:lnTo>
                      <a:pt x="1" y="171"/>
                    </a:lnTo>
                    <a:lnTo>
                      <a:pt x="2" y="171"/>
                    </a:lnTo>
                    <a:lnTo>
                      <a:pt x="2" y="172"/>
                    </a:lnTo>
                    <a:lnTo>
                      <a:pt x="3" y="172"/>
                    </a:lnTo>
                    <a:lnTo>
                      <a:pt x="4" y="173"/>
                    </a:lnTo>
                    <a:lnTo>
                      <a:pt x="5" y="173"/>
                    </a:lnTo>
                    <a:lnTo>
                      <a:pt x="180" y="173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7" name="Freeform 60"/>
              <p:cNvSpPr>
                <a:spLocks/>
              </p:cNvSpPr>
              <p:nvPr/>
            </p:nvSpPr>
            <p:spPr bwMode="auto">
              <a:xfrm>
                <a:off x="3855" y="1281"/>
                <a:ext cx="186" cy="172"/>
              </a:xfrm>
              <a:custGeom>
                <a:avLst/>
                <a:gdLst>
                  <a:gd name="T0" fmla="*/ 185 w 186"/>
                  <a:gd name="T1" fmla="*/ 165 h 172"/>
                  <a:gd name="T2" fmla="*/ 185 w 186"/>
                  <a:gd name="T3" fmla="*/ 166 h 172"/>
                  <a:gd name="T4" fmla="*/ 185 w 186"/>
                  <a:gd name="T5" fmla="*/ 167 h 172"/>
                  <a:gd name="T6" fmla="*/ 184 w 186"/>
                  <a:gd name="T7" fmla="*/ 167 h 172"/>
                  <a:gd name="T8" fmla="*/ 184 w 186"/>
                  <a:gd name="T9" fmla="*/ 168 h 172"/>
                  <a:gd name="T10" fmla="*/ 183 w 186"/>
                  <a:gd name="T11" fmla="*/ 169 h 172"/>
                  <a:gd name="T12" fmla="*/ 183 w 186"/>
                  <a:gd name="T13" fmla="*/ 169 h 172"/>
                  <a:gd name="T14" fmla="*/ 182 w 186"/>
                  <a:gd name="T15" fmla="*/ 170 h 172"/>
                  <a:gd name="T16" fmla="*/ 182 w 186"/>
                  <a:gd name="T17" fmla="*/ 170 h 172"/>
                  <a:gd name="T18" fmla="*/ 181 w 186"/>
                  <a:gd name="T19" fmla="*/ 170 h 172"/>
                  <a:gd name="T20" fmla="*/ 181 w 186"/>
                  <a:gd name="T21" fmla="*/ 171 h 172"/>
                  <a:gd name="T22" fmla="*/ 180 w 186"/>
                  <a:gd name="T23" fmla="*/ 171 h 172"/>
                  <a:gd name="T24" fmla="*/ 179 w 186"/>
                  <a:gd name="T25" fmla="*/ 171 h 172"/>
                  <a:gd name="T26" fmla="*/ 4 w 186"/>
                  <a:gd name="T27" fmla="*/ 171 h 172"/>
                  <a:gd name="T28" fmla="*/ 3 w 186"/>
                  <a:gd name="T29" fmla="*/ 171 h 172"/>
                  <a:gd name="T30" fmla="*/ 3 w 186"/>
                  <a:gd name="T31" fmla="*/ 171 h 172"/>
                  <a:gd name="T32" fmla="*/ 3 w 186"/>
                  <a:gd name="T33" fmla="*/ 170 h 172"/>
                  <a:gd name="T34" fmla="*/ 2 w 186"/>
                  <a:gd name="T35" fmla="*/ 170 h 172"/>
                  <a:gd name="T36" fmla="*/ 2 w 186"/>
                  <a:gd name="T37" fmla="*/ 170 h 172"/>
                  <a:gd name="T38" fmla="*/ 1 w 186"/>
                  <a:gd name="T39" fmla="*/ 169 h 172"/>
                  <a:gd name="T40" fmla="*/ 1 w 186"/>
                  <a:gd name="T41" fmla="*/ 169 h 172"/>
                  <a:gd name="T42" fmla="*/ 0 w 186"/>
                  <a:gd name="T43" fmla="*/ 169 h 172"/>
                  <a:gd name="T44" fmla="*/ 0 w 186"/>
                  <a:gd name="T45" fmla="*/ 168 h 172"/>
                  <a:gd name="T46" fmla="*/ 0 w 186"/>
                  <a:gd name="T47" fmla="*/ 167 h 172"/>
                  <a:gd name="T48" fmla="*/ 0 w 186"/>
                  <a:gd name="T49" fmla="*/ 167 h 172"/>
                  <a:gd name="T50" fmla="*/ 0 w 186"/>
                  <a:gd name="T51" fmla="*/ 166 h 172"/>
                  <a:gd name="T52" fmla="*/ 0 w 186"/>
                  <a:gd name="T53" fmla="*/ 165 h 172"/>
                  <a:gd name="T54" fmla="*/ 0 w 186"/>
                  <a:gd name="T55" fmla="*/ 5 h 172"/>
                  <a:gd name="T56" fmla="*/ 0 w 186"/>
                  <a:gd name="T57" fmla="*/ 4 h 172"/>
                  <a:gd name="T58" fmla="*/ 0 w 186"/>
                  <a:gd name="T59" fmla="*/ 3 h 172"/>
                  <a:gd name="T60" fmla="*/ 0 w 186"/>
                  <a:gd name="T61" fmla="*/ 3 h 172"/>
                  <a:gd name="T62" fmla="*/ 0 w 186"/>
                  <a:gd name="T63" fmla="*/ 2 h 172"/>
                  <a:gd name="T64" fmla="*/ 0 w 186"/>
                  <a:gd name="T65" fmla="*/ 2 h 172"/>
                  <a:gd name="T66" fmla="*/ 1 w 186"/>
                  <a:gd name="T67" fmla="*/ 1 h 172"/>
                  <a:gd name="T68" fmla="*/ 1 w 186"/>
                  <a:gd name="T69" fmla="*/ 1 h 172"/>
                  <a:gd name="T70" fmla="*/ 2 w 186"/>
                  <a:gd name="T71" fmla="*/ 1 h 172"/>
                  <a:gd name="T72" fmla="*/ 2 w 186"/>
                  <a:gd name="T73" fmla="*/ 0 h 172"/>
                  <a:gd name="T74" fmla="*/ 2 w 186"/>
                  <a:gd name="T75" fmla="*/ 0 h 172"/>
                  <a:gd name="T76" fmla="*/ 3 w 186"/>
                  <a:gd name="T77" fmla="*/ 0 h 172"/>
                  <a:gd name="T78" fmla="*/ 3 w 186"/>
                  <a:gd name="T79" fmla="*/ 0 h 172"/>
                  <a:gd name="T80" fmla="*/ 4 w 186"/>
                  <a:gd name="T81" fmla="*/ 0 h 172"/>
                  <a:gd name="T82" fmla="*/ 179 w 186"/>
                  <a:gd name="T83" fmla="*/ 0 h 172"/>
                  <a:gd name="T84" fmla="*/ 180 w 186"/>
                  <a:gd name="T85" fmla="*/ 0 h 172"/>
                  <a:gd name="T86" fmla="*/ 181 w 186"/>
                  <a:gd name="T87" fmla="*/ 0 h 172"/>
                  <a:gd name="T88" fmla="*/ 181 w 186"/>
                  <a:gd name="T89" fmla="*/ 0 h 172"/>
                  <a:gd name="T90" fmla="*/ 182 w 186"/>
                  <a:gd name="T91" fmla="*/ 0 h 172"/>
                  <a:gd name="T92" fmla="*/ 182 w 186"/>
                  <a:gd name="T93" fmla="*/ 1 h 172"/>
                  <a:gd name="T94" fmla="*/ 183 w 186"/>
                  <a:gd name="T95" fmla="*/ 1 h 172"/>
                  <a:gd name="T96" fmla="*/ 183 w 186"/>
                  <a:gd name="T97" fmla="*/ 1 h 172"/>
                  <a:gd name="T98" fmla="*/ 183 w 186"/>
                  <a:gd name="T99" fmla="*/ 2 h 172"/>
                  <a:gd name="T100" fmla="*/ 184 w 186"/>
                  <a:gd name="T101" fmla="*/ 2 h 172"/>
                  <a:gd name="T102" fmla="*/ 184 w 186"/>
                  <a:gd name="T103" fmla="*/ 3 h 172"/>
                  <a:gd name="T104" fmla="*/ 185 w 186"/>
                  <a:gd name="T105" fmla="*/ 3 h 172"/>
                  <a:gd name="T106" fmla="*/ 185 w 186"/>
                  <a:gd name="T107" fmla="*/ 4 h 172"/>
                  <a:gd name="T108" fmla="*/ 185 w 186"/>
                  <a:gd name="T109" fmla="*/ 5 h 172"/>
                  <a:gd name="T110" fmla="*/ 185 w 186"/>
                  <a:gd name="T111" fmla="*/ 165 h 172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186"/>
                  <a:gd name="T169" fmla="*/ 0 h 172"/>
                  <a:gd name="T170" fmla="*/ 186 w 186"/>
                  <a:gd name="T171" fmla="*/ 172 h 172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186" h="172">
                    <a:moveTo>
                      <a:pt x="185" y="165"/>
                    </a:moveTo>
                    <a:lnTo>
                      <a:pt x="185" y="166"/>
                    </a:lnTo>
                    <a:lnTo>
                      <a:pt x="185" y="167"/>
                    </a:lnTo>
                    <a:lnTo>
                      <a:pt x="184" y="167"/>
                    </a:lnTo>
                    <a:lnTo>
                      <a:pt x="184" y="168"/>
                    </a:lnTo>
                    <a:lnTo>
                      <a:pt x="183" y="169"/>
                    </a:lnTo>
                    <a:lnTo>
                      <a:pt x="182" y="170"/>
                    </a:lnTo>
                    <a:lnTo>
                      <a:pt x="181" y="170"/>
                    </a:lnTo>
                    <a:lnTo>
                      <a:pt x="181" y="171"/>
                    </a:lnTo>
                    <a:lnTo>
                      <a:pt x="180" y="171"/>
                    </a:lnTo>
                    <a:lnTo>
                      <a:pt x="179" y="171"/>
                    </a:lnTo>
                    <a:lnTo>
                      <a:pt x="4" y="171"/>
                    </a:lnTo>
                    <a:lnTo>
                      <a:pt x="3" y="171"/>
                    </a:lnTo>
                    <a:lnTo>
                      <a:pt x="3" y="170"/>
                    </a:lnTo>
                    <a:lnTo>
                      <a:pt x="2" y="170"/>
                    </a:lnTo>
                    <a:lnTo>
                      <a:pt x="1" y="169"/>
                    </a:lnTo>
                    <a:lnTo>
                      <a:pt x="0" y="169"/>
                    </a:lnTo>
                    <a:lnTo>
                      <a:pt x="0" y="168"/>
                    </a:lnTo>
                    <a:lnTo>
                      <a:pt x="0" y="167"/>
                    </a:lnTo>
                    <a:lnTo>
                      <a:pt x="0" y="166"/>
                    </a:lnTo>
                    <a:lnTo>
                      <a:pt x="0" y="165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179" y="0"/>
                    </a:lnTo>
                    <a:lnTo>
                      <a:pt x="180" y="0"/>
                    </a:lnTo>
                    <a:lnTo>
                      <a:pt x="181" y="0"/>
                    </a:lnTo>
                    <a:lnTo>
                      <a:pt x="182" y="0"/>
                    </a:lnTo>
                    <a:lnTo>
                      <a:pt x="182" y="1"/>
                    </a:lnTo>
                    <a:lnTo>
                      <a:pt x="183" y="1"/>
                    </a:lnTo>
                    <a:lnTo>
                      <a:pt x="183" y="2"/>
                    </a:lnTo>
                    <a:lnTo>
                      <a:pt x="184" y="2"/>
                    </a:lnTo>
                    <a:lnTo>
                      <a:pt x="184" y="3"/>
                    </a:lnTo>
                    <a:lnTo>
                      <a:pt x="185" y="3"/>
                    </a:lnTo>
                    <a:lnTo>
                      <a:pt x="185" y="4"/>
                    </a:lnTo>
                    <a:lnTo>
                      <a:pt x="185" y="5"/>
                    </a:lnTo>
                    <a:lnTo>
                      <a:pt x="185" y="165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8" name="Freeform 61"/>
              <p:cNvSpPr>
                <a:spLocks/>
              </p:cNvSpPr>
              <p:nvPr/>
            </p:nvSpPr>
            <p:spPr bwMode="auto">
              <a:xfrm>
                <a:off x="3857" y="1281"/>
                <a:ext cx="181" cy="171"/>
              </a:xfrm>
              <a:custGeom>
                <a:avLst/>
                <a:gdLst>
                  <a:gd name="T0" fmla="*/ 180 w 181"/>
                  <a:gd name="T1" fmla="*/ 3 h 171"/>
                  <a:gd name="T2" fmla="*/ 180 w 181"/>
                  <a:gd name="T3" fmla="*/ 3 h 171"/>
                  <a:gd name="T4" fmla="*/ 180 w 181"/>
                  <a:gd name="T5" fmla="*/ 2 h 171"/>
                  <a:gd name="T6" fmla="*/ 179 w 181"/>
                  <a:gd name="T7" fmla="*/ 2 h 171"/>
                  <a:gd name="T8" fmla="*/ 179 w 181"/>
                  <a:gd name="T9" fmla="*/ 1 h 171"/>
                  <a:gd name="T10" fmla="*/ 178 w 181"/>
                  <a:gd name="T11" fmla="*/ 1 h 171"/>
                  <a:gd name="T12" fmla="*/ 178 w 181"/>
                  <a:gd name="T13" fmla="*/ 0 h 171"/>
                  <a:gd name="T14" fmla="*/ 177 w 181"/>
                  <a:gd name="T15" fmla="*/ 0 h 171"/>
                  <a:gd name="T16" fmla="*/ 177 w 181"/>
                  <a:gd name="T17" fmla="*/ 0 h 171"/>
                  <a:gd name="T18" fmla="*/ 177 w 181"/>
                  <a:gd name="T19" fmla="*/ 0 h 171"/>
                  <a:gd name="T20" fmla="*/ 176 w 181"/>
                  <a:gd name="T21" fmla="*/ 0 h 171"/>
                  <a:gd name="T22" fmla="*/ 176 w 181"/>
                  <a:gd name="T23" fmla="*/ 0 h 171"/>
                  <a:gd name="T24" fmla="*/ 3 w 181"/>
                  <a:gd name="T25" fmla="*/ 0 h 171"/>
                  <a:gd name="T26" fmla="*/ 3 w 181"/>
                  <a:gd name="T27" fmla="*/ 0 h 171"/>
                  <a:gd name="T28" fmla="*/ 2 w 181"/>
                  <a:gd name="T29" fmla="*/ 0 h 171"/>
                  <a:gd name="T30" fmla="*/ 2 w 181"/>
                  <a:gd name="T31" fmla="*/ 0 h 171"/>
                  <a:gd name="T32" fmla="*/ 1 w 181"/>
                  <a:gd name="T33" fmla="*/ 0 h 171"/>
                  <a:gd name="T34" fmla="*/ 1 w 181"/>
                  <a:gd name="T35" fmla="*/ 0 h 171"/>
                  <a:gd name="T36" fmla="*/ 1 w 181"/>
                  <a:gd name="T37" fmla="*/ 1 h 171"/>
                  <a:gd name="T38" fmla="*/ 0 w 181"/>
                  <a:gd name="T39" fmla="*/ 1 h 171"/>
                  <a:gd name="T40" fmla="*/ 0 w 181"/>
                  <a:gd name="T41" fmla="*/ 1 h 171"/>
                  <a:gd name="T42" fmla="*/ 0 w 181"/>
                  <a:gd name="T43" fmla="*/ 2 h 171"/>
                  <a:gd name="T44" fmla="*/ 0 w 181"/>
                  <a:gd name="T45" fmla="*/ 3 h 171"/>
                  <a:gd name="T46" fmla="*/ 0 w 181"/>
                  <a:gd name="T47" fmla="*/ 3 h 171"/>
                  <a:gd name="T48" fmla="*/ 0 w 181"/>
                  <a:gd name="T49" fmla="*/ 166 h 171"/>
                  <a:gd name="T50" fmla="*/ 0 w 181"/>
                  <a:gd name="T51" fmla="*/ 166 h 171"/>
                  <a:gd name="T52" fmla="*/ 0 w 181"/>
                  <a:gd name="T53" fmla="*/ 167 h 171"/>
                  <a:gd name="T54" fmla="*/ 0 w 181"/>
                  <a:gd name="T55" fmla="*/ 168 h 171"/>
                  <a:gd name="T56" fmla="*/ 0 w 181"/>
                  <a:gd name="T57" fmla="*/ 168 h 171"/>
                  <a:gd name="T58" fmla="*/ 1 w 181"/>
                  <a:gd name="T59" fmla="*/ 168 h 171"/>
                  <a:gd name="T60" fmla="*/ 1 w 181"/>
                  <a:gd name="T61" fmla="*/ 169 h 171"/>
                  <a:gd name="T62" fmla="*/ 2 w 181"/>
                  <a:gd name="T63" fmla="*/ 169 h 171"/>
                  <a:gd name="T64" fmla="*/ 2 w 181"/>
                  <a:gd name="T65" fmla="*/ 169 h 171"/>
                  <a:gd name="T66" fmla="*/ 3 w 181"/>
                  <a:gd name="T67" fmla="*/ 170 h 171"/>
                  <a:gd name="T68" fmla="*/ 3 w 181"/>
                  <a:gd name="T69" fmla="*/ 170 h 171"/>
                  <a:gd name="T70" fmla="*/ 176 w 181"/>
                  <a:gd name="T71" fmla="*/ 170 h 171"/>
                  <a:gd name="T72" fmla="*/ 176 w 181"/>
                  <a:gd name="T73" fmla="*/ 169 h 171"/>
                  <a:gd name="T74" fmla="*/ 177 w 181"/>
                  <a:gd name="T75" fmla="*/ 169 h 171"/>
                  <a:gd name="T76" fmla="*/ 177 w 181"/>
                  <a:gd name="T77" fmla="*/ 169 h 171"/>
                  <a:gd name="T78" fmla="*/ 178 w 181"/>
                  <a:gd name="T79" fmla="*/ 169 h 171"/>
                  <a:gd name="T80" fmla="*/ 178 w 181"/>
                  <a:gd name="T81" fmla="*/ 168 h 171"/>
                  <a:gd name="T82" fmla="*/ 178 w 181"/>
                  <a:gd name="T83" fmla="*/ 168 h 171"/>
                  <a:gd name="T84" fmla="*/ 179 w 181"/>
                  <a:gd name="T85" fmla="*/ 168 h 171"/>
                  <a:gd name="T86" fmla="*/ 179 w 181"/>
                  <a:gd name="T87" fmla="*/ 167 h 171"/>
                  <a:gd name="T88" fmla="*/ 180 w 181"/>
                  <a:gd name="T89" fmla="*/ 166 h 171"/>
                  <a:gd name="T90" fmla="*/ 180 w 181"/>
                  <a:gd name="T91" fmla="*/ 166 h 171"/>
                  <a:gd name="T92" fmla="*/ 180 w 181"/>
                  <a:gd name="T93" fmla="*/ 3 h 171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181"/>
                  <a:gd name="T142" fmla="*/ 0 h 171"/>
                  <a:gd name="T143" fmla="*/ 181 w 181"/>
                  <a:gd name="T144" fmla="*/ 171 h 171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181" h="171">
                    <a:moveTo>
                      <a:pt x="180" y="3"/>
                    </a:moveTo>
                    <a:lnTo>
                      <a:pt x="180" y="3"/>
                    </a:lnTo>
                    <a:lnTo>
                      <a:pt x="180" y="2"/>
                    </a:lnTo>
                    <a:lnTo>
                      <a:pt x="179" y="2"/>
                    </a:lnTo>
                    <a:lnTo>
                      <a:pt x="179" y="1"/>
                    </a:lnTo>
                    <a:lnTo>
                      <a:pt x="178" y="1"/>
                    </a:lnTo>
                    <a:lnTo>
                      <a:pt x="178" y="0"/>
                    </a:lnTo>
                    <a:lnTo>
                      <a:pt x="177" y="0"/>
                    </a:lnTo>
                    <a:lnTo>
                      <a:pt x="176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166"/>
                    </a:lnTo>
                    <a:lnTo>
                      <a:pt x="0" y="167"/>
                    </a:lnTo>
                    <a:lnTo>
                      <a:pt x="0" y="168"/>
                    </a:lnTo>
                    <a:lnTo>
                      <a:pt x="1" y="168"/>
                    </a:lnTo>
                    <a:lnTo>
                      <a:pt x="1" y="169"/>
                    </a:lnTo>
                    <a:lnTo>
                      <a:pt x="2" y="169"/>
                    </a:lnTo>
                    <a:lnTo>
                      <a:pt x="3" y="170"/>
                    </a:lnTo>
                    <a:lnTo>
                      <a:pt x="176" y="170"/>
                    </a:lnTo>
                    <a:lnTo>
                      <a:pt x="176" y="169"/>
                    </a:lnTo>
                    <a:lnTo>
                      <a:pt x="177" y="169"/>
                    </a:lnTo>
                    <a:lnTo>
                      <a:pt x="178" y="169"/>
                    </a:lnTo>
                    <a:lnTo>
                      <a:pt x="178" y="168"/>
                    </a:lnTo>
                    <a:lnTo>
                      <a:pt x="179" y="168"/>
                    </a:lnTo>
                    <a:lnTo>
                      <a:pt x="179" y="167"/>
                    </a:lnTo>
                    <a:lnTo>
                      <a:pt x="180" y="166"/>
                    </a:lnTo>
                    <a:lnTo>
                      <a:pt x="180" y="3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9999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9" name="Freeform 62"/>
              <p:cNvSpPr>
                <a:spLocks/>
              </p:cNvSpPr>
              <p:nvPr/>
            </p:nvSpPr>
            <p:spPr bwMode="auto">
              <a:xfrm>
                <a:off x="3858" y="1282"/>
                <a:ext cx="180" cy="168"/>
              </a:xfrm>
              <a:custGeom>
                <a:avLst/>
                <a:gdLst>
                  <a:gd name="T0" fmla="*/ 179 w 180"/>
                  <a:gd name="T1" fmla="*/ 163 h 168"/>
                  <a:gd name="T2" fmla="*/ 179 w 180"/>
                  <a:gd name="T3" fmla="*/ 164 h 168"/>
                  <a:gd name="T4" fmla="*/ 178 w 180"/>
                  <a:gd name="T5" fmla="*/ 165 h 168"/>
                  <a:gd name="T6" fmla="*/ 178 w 180"/>
                  <a:gd name="T7" fmla="*/ 165 h 168"/>
                  <a:gd name="T8" fmla="*/ 177 w 180"/>
                  <a:gd name="T9" fmla="*/ 166 h 168"/>
                  <a:gd name="T10" fmla="*/ 177 w 180"/>
                  <a:gd name="T11" fmla="*/ 166 h 168"/>
                  <a:gd name="T12" fmla="*/ 176 w 180"/>
                  <a:gd name="T13" fmla="*/ 167 h 168"/>
                  <a:gd name="T14" fmla="*/ 176 w 180"/>
                  <a:gd name="T15" fmla="*/ 167 h 168"/>
                  <a:gd name="T16" fmla="*/ 2 w 180"/>
                  <a:gd name="T17" fmla="*/ 167 h 168"/>
                  <a:gd name="T18" fmla="*/ 2 w 180"/>
                  <a:gd name="T19" fmla="*/ 167 h 168"/>
                  <a:gd name="T20" fmla="*/ 1 w 180"/>
                  <a:gd name="T21" fmla="*/ 167 h 168"/>
                  <a:gd name="T22" fmla="*/ 1 w 180"/>
                  <a:gd name="T23" fmla="*/ 166 h 168"/>
                  <a:gd name="T24" fmla="*/ 1 w 180"/>
                  <a:gd name="T25" fmla="*/ 166 h 168"/>
                  <a:gd name="T26" fmla="*/ 0 w 180"/>
                  <a:gd name="T27" fmla="*/ 166 h 168"/>
                  <a:gd name="T28" fmla="*/ 0 w 180"/>
                  <a:gd name="T29" fmla="*/ 165 h 168"/>
                  <a:gd name="T30" fmla="*/ 0 w 180"/>
                  <a:gd name="T31" fmla="*/ 165 h 168"/>
                  <a:gd name="T32" fmla="*/ 0 w 180"/>
                  <a:gd name="T33" fmla="*/ 165 h 168"/>
                  <a:gd name="T34" fmla="*/ 0 w 180"/>
                  <a:gd name="T35" fmla="*/ 164 h 168"/>
                  <a:gd name="T36" fmla="*/ 0 w 180"/>
                  <a:gd name="T37" fmla="*/ 163 h 168"/>
                  <a:gd name="T38" fmla="*/ 0 w 180"/>
                  <a:gd name="T39" fmla="*/ 3 h 168"/>
                  <a:gd name="T40" fmla="*/ 0 w 180"/>
                  <a:gd name="T41" fmla="*/ 2 h 168"/>
                  <a:gd name="T42" fmla="*/ 0 w 180"/>
                  <a:gd name="T43" fmla="*/ 1 h 168"/>
                  <a:gd name="T44" fmla="*/ 0 w 180"/>
                  <a:gd name="T45" fmla="*/ 1 h 168"/>
                  <a:gd name="T46" fmla="*/ 0 w 180"/>
                  <a:gd name="T47" fmla="*/ 1 h 168"/>
                  <a:gd name="T48" fmla="*/ 1 w 180"/>
                  <a:gd name="T49" fmla="*/ 0 h 168"/>
                  <a:gd name="T50" fmla="*/ 1 w 180"/>
                  <a:gd name="T51" fmla="*/ 0 h 168"/>
                  <a:gd name="T52" fmla="*/ 2 w 180"/>
                  <a:gd name="T53" fmla="*/ 0 h 168"/>
                  <a:gd name="T54" fmla="*/ 2 w 180"/>
                  <a:gd name="T55" fmla="*/ 0 h 168"/>
                  <a:gd name="T56" fmla="*/ 176 w 180"/>
                  <a:gd name="T57" fmla="*/ 0 h 168"/>
                  <a:gd name="T58" fmla="*/ 176 w 180"/>
                  <a:gd name="T59" fmla="*/ 0 h 168"/>
                  <a:gd name="T60" fmla="*/ 176 w 180"/>
                  <a:gd name="T61" fmla="*/ 0 h 168"/>
                  <a:gd name="T62" fmla="*/ 177 w 180"/>
                  <a:gd name="T63" fmla="*/ 0 h 168"/>
                  <a:gd name="T64" fmla="*/ 177 w 180"/>
                  <a:gd name="T65" fmla="*/ 0 h 168"/>
                  <a:gd name="T66" fmla="*/ 177 w 180"/>
                  <a:gd name="T67" fmla="*/ 1 h 168"/>
                  <a:gd name="T68" fmla="*/ 178 w 180"/>
                  <a:gd name="T69" fmla="*/ 1 h 168"/>
                  <a:gd name="T70" fmla="*/ 178 w 180"/>
                  <a:gd name="T71" fmla="*/ 1 h 168"/>
                  <a:gd name="T72" fmla="*/ 179 w 180"/>
                  <a:gd name="T73" fmla="*/ 2 h 168"/>
                  <a:gd name="T74" fmla="*/ 179 w 180"/>
                  <a:gd name="T75" fmla="*/ 3 h 168"/>
                  <a:gd name="T76" fmla="*/ 179 w 180"/>
                  <a:gd name="T77" fmla="*/ 163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80"/>
                  <a:gd name="T118" fmla="*/ 0 h 168"/>
                  <a:gd name="T119" fmla="*/ 180 w 180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80" h="168">
                    <a:moveTo>
                      <a:pt x="179" y="163"/>
                    </a:moveTo>
                    <a:lnTo>
                      <a:pt x="179" y="164"/>
                    </a:lnTo>
                    <a:lnTo>
                      <a:pt x="178" y="165"/>
                    </a:lnTo>
                    <a:lnTo>
                      <a:pt x="177" y="166"/>
                    </a:lnTo>
                    <a:lnTo>
                      <a:pt x="176" y="167"/>
                    </a:lnTo>
                    <a:lnTo>
                      <a:pt x="2" y="167"/>
                    </a:lnTo>
                    <a:lnTo>
                      <a:pt x="1" y="167"/>
                    </a:lnTo>
                    <a:lnTo>
                      <a:pt x="1" y="166"/>
                    </a:lnTo>
                    <a:lnTo>
                      <a:pt x="0" y="166"/>
                    </a:lnTo>
                    <a:lnTo>
                      <a:pt x="0" y="165"/>
                    </a:lnTo>
                    <a:lnTo>
                      <a:pt x="0" y="164"/>
                    </a:lnTo>
                    <a:lnTo>
                      <a:pt x="0" y="163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176" y="0"/>
                    </a:lnTo>
                    <a:lnTo>
                      <a:pt x="177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2"/>
                    </a:lnTo>
                    <a:lnTo>
                      <a:pt x="179" y="3"/>
                    </a:lnTo>
                    <a:lnTo>
                      <a:pt x="179" y="163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0" name="Freeform 63"/>
              <p:cNvSpPr>
                <a:spLocks/>
              </p:cNvSpPr>
              <p:nvPr/>
            </p:nvSpPr>
            <p:spPr bwMode="auto">
              <a:xfrm>
                <a:off x="3877" y="1304"/>
                <a:ext cx="142" cy="124"/>
              </a:xfrm>
              <a:custGeom>
                <a:avLst/>
                <a:gdLst>
                  <a:gd name="T0" fmla="*/ 0 w 142"/>
                  <a:gd name="T1" fmla="*/ 1 h 124"/>
                  <a:gd name="T2" fmla="*/ 1 w 142"/>
                  <a:gd name="T3" fmla="*/ 1 h 124"/>
                  <a:gd name="T4" fmla="*/ 1 w 142"/>
                  <a:gd name="T5" fmla="*/ 1 h 124"/>
                  <a:gd name="T6" fmla="*/ 2 w 142"/>
                  <a:gd name="T7" fmla="*/ 0 h 124"/>
                  <a:gd name="T8" fmla="*/ 2 w 142"/>
                  <a:gd name="T9" fmla="*/ 0 h 124"/>
                  <a:gd name="T10" fmla="*/ 3 w 142"/>
                  <a:gd name="T11" fmla="*/ 0 h 124"/>
                  <a:gd name="T12" fmla="*/ 3 w 142"/>
                  <a:gd name="T13" fmla="*/ 0 h 124"/>
                  <a:gd name="T14" fmla="*/ 4 w 142"/>
                  <a:gd name="T15" fmla="*/ 0 h 124"/>
                  <a:gd name="T16" fmla="*/ 135 w 142"/>
                  <a:gd name="T17" fmla="*/ 0 h 124"/>
                  <a:gd name="T18" fmla="*/ 136 w 142"/>
                  <a:gd name="T19" fmla="*/ 0 h 124"/>
                  <a:gd name="T20" fmla="*/ 137 w 142"/>
                  <a:gd name="T21" fmla="*/ 0 h 124"/>
                  <a:gd name="T22" fmla="*/ 137 w 142"/>
                  <a:gd name="T23" fmla="*/ 0 h 124"/>
                  <a:gd name="T24" fmla="*/ 138 w 142"/>
                  <a:gd name="T25" fmla="*/ 0 h 124"/>
                  <a:gd name="T26" fmla="*/ 138 w 142"/>
                  <a:gd name="T27" fmla="*/ 1 h 124"/>
                  <a:gd name="T28" fmla="*/ 139 w 142"/>
                  <a:gd name="T29" fmla="*/ 1 h 124"/>
                  <a:gd name="T30" fmla="*/ 139 w 142"/>
                  <a:gd name="T31" fmla="*/ 1 h 124"/>
                  <a:gd name="T32" fmla="*/ 140 w 142"/>
                  <a:gd name="T33" fmla="*/ 2 h 124"/>
                  <a:gd name="T34" fmla="*/ 140 w 142"/>
                  <a:gd name="T35" fmla="*/ 3 h 124"/>
                  <a:gd name="T36" fmla="*/ 141 w 142"/>
                  <a:gd name="T37" fmla="*/ 3 h 124"/>
                  <a:gd name="T38" fmla="*/ 141 w 142"/>
                  <a:gd name="T39" fmla="*/ 4 h 124"/>
                  <a:gd name="T40" fmla="*/ 141 w 142"/>
                  <a:gd name="T41" fmla="*/ 5 h 124"/>
                  <a:gd name="T42" fmla="*/ 141 w 142"/>
                  <a:gd name="T43" fmla="*/ 117 h 124"/>
                  <a:gd name="T44" fmla="*/ 141 w 142"/>
                  <a:gd name="T45" fmla="*/ 119 h 124"/>
                  <a:gd name="T46" fmla="*/ 140 w 142"/>
                  <a:gd name="T47" fmla="*/ 119 h 124"/>
                  <a:gd name="T48" fmla="*/ 140 w 142"/>
                  <a:gd name="T49" fmla="*/ 120 h 124"/>
                  <a:gd name="T50" fmla="*/ 139 w 142"/>
                  <a:gd name="T51" fmla="*/ 121 h 124"/>
                  <a:gd name="T52" fmla="*/ 139 w 142"/>
                  <a:gd name="T53" fmla="*/ 121 h 124"/>
                  <a:gd name="T54" fmla="*/ 138 w 142"/>
                  <a:gd name="T55" fmla="*/ 122 h 124"/>
                  <a:gd name="T56" fmla="*/ 138 w 142"/>
                  <a:gd name="T57" fmla="*/ 122 h 124"/>
                  <a:gd name="T58" fmla="*/ 137 w 142"/>
                  <a:gd name="T59" fmla="*/ 122 h 124"/>
                  <a:gd name="T60" fmla="*/ 137 w 142"/>
                  <a:gd name="T61" fmla="*/ 123 h 124"/>
                  <a:gd name="T62" fmla="*/ 136 w 142"/>
                  <a:gd name="T63" fmla="*/ 123 h 124"/>
                  <a:gd name="T64" fmla="*/ 135 w 142"/>
                  <a:gd name="T65" fmla="*/ 123 h 124"/>
                  <a:gd name="T66" fmla="*/ 4 w 142"/>
                  <a:gd name="T67" fmla="*/ 123 h 124"/>
                  <a:gd name="T68" fmla="*/ 3 w 142"/>
                  <a:gd name="T69" fmla="*/ 123 h 124"/>
                  <a:gd name="T70" fmla="*/ 3 w 142"/>
                  <a:gd name="T71" fmla="*/ 123 h 124"/>
                  <a:gd name="T72" fmla="*/ 2 w 142"/>
                  <a:gd name="T73" fmla="*/ 122 h 124"/>
                  <a:gd name="T74" fmla="*/ 2 w 142"/>
                  <a:gd name="T75" fmla="*/ 122 h 124"/>
                  <a:gd name="T76" fmla="*/ 1 w 142"/>
                  <a:gd name="T77" fmla="*/ 122 h 124"/>
                  <a:gd name="T78" fmla="*/ 1 w 142"/>
                  <a:gd name="T79" fmla="*/ 121 h 124"/>
                  <a:gd name="T80" fmla="*/ 0 w 142"/>
                  <a:gd name="T81" fmla="*/ 121 h 124"/>
                  <a:gd name="T82" fmla="*/ 0 w 142"/>
                  <a:gd name="T83" fmla="*/ 120 h 124"/>
                  <a:gd name="T84" fmla="*/ 0 w 142"/>
                  <a:gd name="T85" fmla="*/ 119 h 124"/>
                  <a:gd name="T86" fmla="*/ 0 w 142"/>
                  <a:gd name="T87" fmla="*/ 119 h 124"/>
                  <a:gd name="T88" fmla="*/ 0 w 142"/>
                  <a:gd name="T89" fmla="*/ 117 h 124"/>
                  <a:gd name="T90" fmla="*/ 0 w 142"/>
                  <a:gd name="T91" fmla="*/ 5 h 124"/>
                  <a:gd name="T92" fmla="*/ 0 w 142"/>
                  <a:gd name="T93" fmla="*/ 4 h 124"/>
                  <a:gd name="T94" fmla="*/ 0 w 142"/>
                  <a:gd name="T95" fmla="*/ 3 h 124"/>
                  <a:gd name="T96" fmla="*/ 0 w 142"/>
                  <a:gd name="T97" fmla="*/ 3 h 124"/>
                  <a:gd name="T98" fmla="*/ 0 w 142"/>
                  <a:gd name="T99" fmla="*/ 2 h 124"/>
                  <a:gd name="T100" fmla="*/ 0 w 142"/>
                  <a:gd name="T101" fmla="*/ 1 h 124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42"/>
                  <a:gd name="T154" fmla="*/ 0 h 124"/>
                  <a:gd name="T155" fmla="*/ 142 w 142"/>
                  <a:gd name="T156" fmla="*/ 124 h 124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42" h="124">
                    <a:moveTo>
                      <a:pt x="0" y="1"/>
                    </a:moveTo>
                    <a:lnTo>
                      <a:pt x="1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8" y="1"/>
                    </a:lnTo>
                    <a:lnTo>
                      <a:pt x="139" y="1"/>
                    </a:lnTo>
                    <a:lnTo>
                      <a:pt x="140" y="2"/>
                    </a:lnTo>
                    <a:lnTo>
                      <a:pt x="140" y="3"/>
                    </a:lnTo>
                    <a:lnTo>
                      <a:pt x="141" y="3"/>
                    </a:lnTo>
                    <a:lnTo>
                      <a:pt x="141" y="4"/>
                    </a:lnTo>
                    <a:lnTo>
                      <a:pt x="141" y="5"/>
                    </a:lnTo>
                    <a:lnTo>
                      <a:pt x="141" y="117"/>
                    </a:lnTo>
                    <a:lnTo>
                      <a:pt x="141" y="119"/>
                    </a:lnTo>
                    <a:lnTo>
                      <a:pt x="140" y="119"/>
                    </a:lnTo>
                    <a:lnTo>
                      <a:pt x="140" y="120"/>
                    </a:lnTo>
                    <a:lnTo>
                      <a:pt x="139" y="121"/>
                    </a:lnTo>
                    <a:lnTo>
                      <a:pt x="138" y="122"/>
                    </a:lnTo>
                    <a:lnTo>
                      <a:pt x="137" y="122"/>
                    </a:lnTo>
                    <a:lnTo>
                      <a:pt x="137" y="123"/>
                    </a:lnTo>
                    <a:lnTo>
                      <a:pt x="136" y="123"/>
                    </a:lnTo>
                    <a:lnTo>
                      <a:pt x="135" y="123"/>
                    </a:lnTo>
                    <a:lnTo>
                      <a:pt x="4" y="123"/>
                    </a:lnTo>
                    <a:lnTo>
                      <a:pt x="3" y="123"/>
                    </a:lnTo>
                    <a:lnTo>
                      <a:pt x="2" y="122"/>
                    </a:lnTo>
                    <a:lnTo>
                      <a:pt x="1" y="122"/>
                    </a:lnTo>
                    <a:lnTo>
                      <a:pt x="1" y="121"/>
                    </a:lnTo>
                    <a:lnTo>
                      <a:pt x="0" y="121"/>
                    </a:lnTo>
                    <a:lnTo>
                      <a:pt x="0" y="120"/>
                    </a:lnTo>
                    <a:lnTo>
                      <a:pt x="0" y="119"/>
                    </a:lnTo>
                    <a:lnTo>
                      <a:pt x="0" y="117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</a:path>
                </a:pathLst>
              </a:custGeom>
              <a:gradFill rotWithShape="0">
                <a:gsLst>
                  <a:gs pos="0">
                    <a:srgbClr val="1D2B4B"/>
                  </a:gs>
                  <a:gs pos="50000">
                    <a:srgbClr val="618FFD"/>
                  </a:gs>
                  <a:gs pos="100000">
                    <a:srgbClr val="1D2B4B"/>
                  </a:gs>
                </a:gsLst>
                <a:lin ang="2700000" scaled="1"/>
              </a:gra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1" name="Freeform 64"/>
              <p:cNvSpPr>
                <a:spLocks/>
              </p:cNvSpPr>
              <p:nvPr/>
            </p:nvSpPr>
            <p:spPr bwMode="auto">
              <a:xfrm>
                <a:off x="3872" y="1298"/>
                <a:ext cx="153" cy="17"/>
              </a:xfrm>
              <a:custGeom>
                <a:avLst/>
                <a:gdLst>
                  <a:gd name="T0" fmla="*/ 152 w 153"/>
                  <a:gd name="T1" fmla="*/ 4 h 17"/>
                  <a:gd name="T2" fmla="*/ 151 w 153"/>
                  <a:gd name="T3" fmla="*/ 3 h 17"/>
                  <a:gd name="T4" fmla="*/ 151 w 153"/>
                  <a:gd name="T5" fmla="*/ 2 h 17"/>
                  <a:gd name="T6" fmla="*/ 150 w 153"/>
                  <a:gd name="T7" fmla="*/ 2 h 17"/>
                  <a:gd name="T8" fmla="*/ 150 w 153"/>
                  <a:gd name="T9" fmla="*/ 2 h 17"/>
                  <a:gd name="T10" fmla="*/ 150 w 153"/>
                  <a:gd name="T11" fmla="*/ 1 h 17"/>
                  <a:gd name="T12" fmla="*/ 149 w 153"/>
                  <a:gd name="T13" fmla="*/ 1 h 17"/>
                  <a:gd name="T14" fmla="*/ 149 w 153"/>
                  <a:gd name="T15" fmla="*/ 1 h 17"/>
                  <a:gd name="T16" fmla="*/ 148 w 153"/>
                  <a:gd name="T17" fmla="*/ 0 h 17"/>
                  <a:gd name="T18" fmla="*/ 148 w 153"/>
                  <a:gd name="T19" fmla="*/ 0 h 17"/>
                  <a:gd name="T20" fmla="*/ 147 w 153"/>
                  <a:gd name="T21" fmla="*/ 0 h 17"/>
                  <a:gd name="T22" fmla="*/ 146 w 153"/>
                  <a:gd name="T23" fmla="*/ 0 h 17"/>
                  <a:gd name="T24" fmla="*/ 3 w 153"/>
                  <a:gd name="T25" fmla="*/ 0 h 17"/>
                  <a:gd name="T26" fmla="*/ 3 w 153"/>
                  <a:gd name="T27" fmla="*/ 0 h 17"/>
                  <a:gd name="T28" fmla="*/ 2 w 153"/>
                  <a:gd name="T29" fmla="*/ 0 h 17"/>
                  <a:gd name="T30" fmla="*/ 1 w 153"/>
                  <a:gd name="T31" fmla="*/ 1 h 17"/>
                  <a:gd name="T32" fmla="*/ 1 w 153"/>
                  <a:gd name="T33" fmla="*/ 1 h 17"/>
                  <a:gd name="T34" fmla="*/ 0 w 153"/>
                  <a:gd name="T35" fmla="*/ 2 h 17"/>
                  <a:gd name="T36" fmla="*/ 0 w 153"/>
                  <a:gd name="T37" fmla="*/ 2 h 17"/>
                  <a:gd name="T38" fmla="*/ 0 w 153"/>
                  <a:gd name="T39" fmla="*/ 3 h 17"/>
                  <a:gd name="T40" fmla="*/ 6 w 153"/>
                  <a:gd name="T41" fmla="*/ 16 h 17"/>
                  <a:gd name="T42" fmla="*/ 7 w 153"/>
                  <a:gd name="T43" fmla="*/ 14 h 17"/>
                  <a:gd name="T44" fmla="*/ 7 w 153"/>
                  <a:gd name="T45" fmla="*/ 14 h 17"/>
                  <a:gd name="T46" fmla="*/ 8 w 153"/>
                  <a:gd name="T47" fmla="*/ 13 h 17"/>
                  <a:gd name="T48" fmla="*/ 8 w 153"/>
                  <a:gd name="T49" fmla="*/ 13 h 17"/>
                  <a:gd name="T50" fmla="*/ 8 w 153"/>
                  <a:gd name="T51" fmla="*/ 12 h 17"/>
                  <a:gd name="T52" fmla="*/ 9 w 153"/>
                  <a:gd name="T53" fmla="*/ 12 h 17"/>
                  <a:gd name="T54" fmla="*/ 10 w 153"/>
                  <a:gd name="T55" fmla="*/ 12 h 17"/>
                  <a:gd name="T56" fmla="*/ 140 w 153"/>
                  <a:gd name="T57" fmla="*/ 12 h 17"/>
                  <a:gd name="T58" fmla="*/ 141 w 153"/>
                  <a:gd name="T59" fmla="*/ 12 h 17"/>
                  <a:gd name="T60" fmla="*/ 142 w 153"/>
                  <a:gd name="T61" fmla="*/ 12 h 17"/>
                  <a:gd name="T62" fmla="*/ 142 w 153"/>
                  <a:gd name="T63" fmla="*/ 13 h 17"/>
                  <a:gd name="T64" fmla="*/ 143 w 153"/>
                  <a:gd name="T65" fmla="*/ 13 h 17"/>
                  <a:gd name="T66" fmla="*/ 143 w 153"/>
                  <a:gd name="T67" fmla="*/ 14 h 17"/>
                  <a:gd name="T68" fmla="*/ 143 w 153"/>
                  <a:gd name="T69" fmla="*/ 14 h 17"/>
                  <a:gd name="T70" fmla="*/ 144 w 153"/>
                  <a:gd name="T71" fmla="*/ 14 h 17"/>
                  <a:gd name="T72" fmla="*/ 152 w 153"/>
                  <a:gd name="T73" fmla="*/ 4 h 1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53"/>
                  <a:gd name="T112" fmla="*/ 0 h 17"/>
                  <a:gd name="T113" fmla="*/ 153 w 153"/>
                  <a:gd name="T114" fmla="*/ 17 h 1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53" h="17">
                    <a:moveTo>
                      <a:pt x="152" y="4"/>
                    </a:moveTo>
                    <a:lnTo>
                      <a:pt x="151" y="3"/>
                    </a:lnTo>
                    <a:lnTo>
                      <a:pt x="151" y="2"/>
                    </a:lnTo>
                    <a:lnTo>
                      <a:pt x="150" y="2"/>
                    </a:lnTo>
                    <a:lnTo>
                      <a:pt x="150" y="1"/>
                    </a:lnTo>
                    <a:lnTo>
                      <a:pt x="149" y="1"/>
                    </a:lnTo>
                    <a:lnTo>
                      <a:pt x="148" y="0"/>
                    </a:lnTo>
                    <a:lnTo>
                      <a:pt x="147" y="0"/>
                    </a:lnTo>
                    <a:lnTo>
                      <a:pt x="146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6" y="16"/>
                    </a:lnTo>
                    <a:lnTo>
                      <a:pt x="7" y="14"/>
                    </a:lnTo>
                    <a:lnTo>
                      <a:pt x="8" y="13"/>
                    </a:lnTo>
                    <a:lnTo>
                      <a:pt x="8" y="12"/>
                    </a:lnTo>
                    <a:lnTo>
                      <a:pt x="9" y="12"/>
                    </a:lnTo>
                    <a:lnTo>
                      <a:pt x="10" y="12"/>
                    </a:lnTo>
                    <a:lnTo>
                      <a:pt x="140" y="12"/>
                    </a:lnTo>
                    <a:lnTo>
                      <a:pt x="141" y="12"/>
                    </a:lnTo>
                    <a:lnTo>
                      <a:pt x="142" y="12"/>
                    </a:lnTo>
                    <a:lnTo>
                      <a:pt x="142" y="13"/>
                    </a:lnTo>
                    <a:lnTo>
                      <a:pt x="143" y="13"/>
                    </a:lnTo>
                    <a:lnTo>
                      <a:pt x="143" y="14"/>
                    </a:lnTo>
                    <a:lnTo>
                      <a:pt x="144" y="14"/>
                    </a:lnTo>
                    <a:lnTo>
                      <a:pt x="152" y="4"/>
                    </a:lnTo>
                  </a:path>
                </a:pathLst>
              </a:custGeom>
              <a:solidFill>
                <a:srgbClr val="9F9FA2"/>
              </a:solidFill>
              <a:ln w="12700" cap="rnd">
                <a:solidFill>
                  <a:srgbClr val="9F9FA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2" name="Freeform 65"/>
              <p:cNvSpPr>
                <a:spLocks/>
              </p:cNvSpPr>
              <p:nvPr/>
            </p:nvSpPr>
            <p:spPr bwMode="auto">
              <a:xfrm>
                <a:off x="3870" y="1299"/>
                <a:ext cx="17" cy="135"/>
              </a:xfrm>
              <a:custGeom>
                <a:avLst/>
                <a:gdLst>
                  <a:gd name="T0" fmla="*/ 2 w 17"/>
                  <a:gd name="T1" fmla="*/ 0 h 135"/>
                  <a:gd name="T2" fmla="*/ 1 w 17"/>
                  <a:gd name="T3" fmla="*/ 0 h 135"/>
                  <a:gd name="T4" fmla="*/ 0 w 17"/>
                  <a:gd name="T5" fmla="*/ 1 h 135"/>
                  <a:gd name="T6" fmla="*/ 0 w 17"/>
                  <a:gd name="T7" fmla="*/ 2 h 135"/>
                  <a:gd name="T8" fmla="*/ 0 w 17"/>
                  <a:gd name="T9" fmla="*/ 2 h 135"/>
                  <a:gd name="T10" fmla="*/ 0 w 17"/>
                  <a:gd name="T11" fmla="*/ 3 h 135"/>
                  <a:gd name="T12" fmla="*/ 0 w 17"/>
                  <a:gd name="T13" fmla="*/ 4 h 135"/>
                  <a:gd name="T14" fmla="*/ 0 w 17"/>
                  <a:gd name="T15" fmla="*/ 130 h 135"/>
                  <a:gd name="T16" fmla="*/ 0 w 17"/>
                  <a:gd name="T17" fmla="*/ 130 h 135"/>
                  <a:gd name="T18" fmla="*/ 0 w 17"/>
                  <a:gd name="T19" fmla="*/ 131 h 135"/>
                  <a:gd name="T20" fmla="*/ 0 w 17"/>
                  <a:gd name="T21" fmla="*/ 132 h 135"/>
                  <a:gd name="T22" fmla="*/ 0 w 17"/>
                  <a:gd name="T23" fmla="*/ 132 h 135"/>
                  <a:gd name="T24" fmla="*/ 1 w 17"/>
                  <a:gd name="T25" fmla="*/ 133 h 135"/>
                  <a:gd name="T26" fmla="*/ 2 w 17"/>
                  <a:gd name="T27" fmla="*/ 133 h 135"/>
                  <a:gd name="T28" fmla="*/ 2 w 17"/>
                  <a:gd name="T29" fmla="*/ 134 h 135"/>
                  <a:gd name="T30" fmla="*/ 3 w 17"/>
                  <a:gd name="T31" fmla="*/ 134 h 135"/>
                  <a:gd name="T32" fmla="*/ 16 w 17"/>
                  <a:gd name="T33" fmla="*/ 127 h 135"/>
                  <a:gd name="T34" fmla="*/ 15 w 17"/>
                  <a:gd name="T35" fmla="*/ 126 h 135"/>
                  <a:gd name="T36" fmla="*/ 15 w 17"/>
                  <a:gd name="T37" fmla="*/ 126 h 135"/>
                  <a:gd name="T38" fmla="*/ 14 w 17"/>
                  <a:gd name="T39" fmla="*/ 126 h 135"/>
                  <a:gd name="T40" fmla="*/ 14 w 17"/>
                  <a:gd name="T41" fmla="*/ 125 h 135"/>
                  <a:gd name="T42" fmla="*/ 13 w 17"/>
                  <a:gd name="T43" fmla="*/ 124 h 135"/>
                  <a:gd name="T44" fmla="*/ 13 w 17"/>
                  <a:gd name="T45" fmla="*/ 124 h 135"/>
                  <a:gd name="T46" fmla="*/ 13 w 17"/>
                  <a:gd name="T47" fmla="*/ 10 h 135"/>
                  <a:gd name="T48" fmla="*/ 13 w 17"/>
                  <a:gd name="T49" fmla="*/ 9 h 135"/>
                  <a:gd name="T50" fmla="*/ 13 w 17"/>
                  <a:gd name="T51" fmla="*/ 8 h 135"/>
                  <a:gd name="T52" fmla="*/ 14 w 17"/>
                  <a:gd name="T53" fmla="*/ 8 h 135"/>
                  <a:gd name="T54" fmla="*/ 15 w 17"/>
                  <a:gd name="T55" fmla="*/ 7 h 135"/>
                  <a:gd name="T56" fmla="*/ 15 w 17"/>
                  <a:gd name="T57" fmla="*/ 6 h 135"/>
                  <a:gd name="T58" fmla="*/ 2 w 17"/>
                  <a:gd name="T59" fmla="*/ 0 h 135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7"/>
                  <a:gd name="T91" fmla="*/ 0 h 135"/>
                  <a:gd name="T92" fmla="*/ 17 w 17"/>
                  <a:gd name="T93" fmla="*/ 135 h 135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7" h="135">
                    <a:moveTo>
                      <a:pt x="2" y="0"/>
                    </a:moveTo>
                    <a:lnTo>
                      <a:pt x="1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0" y="130"/>
                    </a:lnTo>
                    <a:lnTo>
                      <a:pt x="0" y="131"/>
                    </a:lnTo>
                    <a:lnTo>
                      <a:pt x="0" y="132"/>
                    </a:lnTo>
                    <a:lnTo>
                      <a:pt x="1" y="133"/>
                    </a:lnTo>
                    <a:lnTo>
                      <a:pt x="2" y="133"/>
                    </a:lnTo>
                    <a:lnTo>
                      <a:pt x="2" y="134"/>
                    </a:lnTo>
                    <a:lnTo>
                      <a:pt x="3" y="134"/>
                    </a:lnTo>
                    <a:lnTo>
                      <a:pt x="16" y="127"/>
                    </a:lnTo>
                    <a:lnTo>
                      <a:pt x="15" y="126"/>
                    </a:lnTo>
                    <a:lnTo>
                      <a:pt x="14" y="126"/>
                    </a:lnTo>
                    <a:lnTo>
                      <a:pt x="14" y="125"/>
                    </a:lnTo>
                    <a:lnTo>
                      <a:pt x="13" y="124"/>
                    </a:lnTo>
                    <a:lnTo>
                      <a:pt x="13" y="10"/>
                    </a:lnTo>
                    <a:lnTo>
                      <a:pt x="13" y="9"/>
                    </a:lnTo>
                    <a:lnTo>
                      <a:pt x="13" y="8"/>
                    </a:lnTo>
                    <a:lnTo>
                      <a:pt x="14" y="8"/>
                    </a:lnTo>
                    <a:lnTo>
                      <a:pt x="15" y="7"/>
                    </a:lnTo>
                    <a:lnTo>
                      <a:pt x="15" y="6"/>
                    </a:lnTo>
                    <a:lnTo>
                      <a:pt x="2" y="0"/>
                    </a:lnTo>
                  </a:path>
                </a:pathLst>
              </a:custGeom>
              <a:solidFill>
                <a:srgbClr val="666666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3" name="Freeform 66"/>
              <p:cNvSpPr>
                <a:spLocks/>
              </p:cNvSpPr>
              <p:nvPr/>
            </p:nvSpPr>
            <p:spPr bwMode="auto">
              <a:xfrm>
                <a:off x="3872" y="1300"/>
                <a:ext cx="155" cy="136"/>
              </a:xfrm>
              <a:custGeom>
                <a:avLst/>
                <a:gdLst>
                  <a:gd name="T0" fmla="*/ 0 w 155"/>
                  <a:gd name="T1" fmla="*/ 133 h 136"/>
                  <a:gd name="T2" fmla="*/ 0 w 155"/>
                  <a:gd name="T3" fmla="*/ 134 h 136"/>
                  <a:gd name="T4" fmla="*/ 0 w 155"/>
                  <a:gd name="T5" fmla="*/ 134 h 136"/>
                  <a:gd name="T6" fmla="*/ 1 w 155"/>
                  <a:gd name="T7" fmla="*/ 134 h 136"/>
                  <a:gd name="T8" fmla="*/ 1 w 155"/>
                  <a:gd name="T9" fmla="*/ 134 h 136"/>
                  <a:gd name="T10" fmla="*/ 2 w 155"/>
                  <a:gd name="T11" fmla="*/ 135 h 136"/>
                  <a:gd name="T12" fmla="*/ 2 w 155"/>
                  <a:gd name="T13" fmla="*/ 135 h 136"/>
                  <a:gd name="T14" fmla="*/ 3 w 155"/>
                  <a:gd name="T15" fmla="*/ 135 h 136"/>
                  <a:gd name="T16" fmla="*/ 148 w 155"/>
                  <a:gd name="T17" fmla="*/ 135 h 136"/>
                  <a:gd name="T18" fmla="*/ 150 w 155"/>
                  <a:gd name="T19" fmla="*/ 134 h 136"/>
                  <a:gd name="T20" fmla="*/ 151 w 155"/>
                  <a:gd name="T21" fmla="*/ 134 h 136"/>
                  <a:gd name="T22" fmla="*/ 151 w 155"/>
                  <a:gd name="T23" fmla="*/ 133 h 136"/>
                  <a:gd name="T24" fmla="*/ 152 w 155"/>
                  <a:gd name="T25" fmla="*/ 133 h 136"/>
                  <a:gd name="T26" fmla="*/ 152 w 155"/>
                  <a:gd name="T27" fmla="*/ 133 h 136"/>
                  <a:gd name="T28" fmla="*/ 153 w 155"/>
                  <a:gd name="T29" fmla="*/ 132 h 136"/>
                  <a:gd name="T30" fmla="*/ 153 w 155"/>
                  <a:gd name="T31" fmla="*/ 131 h 136"/>
                  <a:gd name="T32" fmla="*/ 154 w 155"/>
                  <a:gd name="T33" fmla="*/ 131 h 136"/>
                  <a:gd name="T34" fmla="*/ 154 w 155"/>
                  <a:gd name="T35" fmla="*/ 129 h 136"/>
                  <a:gd name="T36" fmla="*/ 154 w 155"/>
                  <a:gd name="T37" fmla="*/ 129 h 136"/>
                  <a:gd name="T38" fmla="*/ 154 w 155"/>
                  <a:gd name="T39" fmla="*/ 3 h 136"/>
                  <a:gd name="T40" fmla="*/ 154 w 155"/>
                  <a:gd name="T41" fmla="*/ 2 h 136"/>
                  <a:gd name="T42" fmla="*/ 154 w 155"/>
                  <a:gd name="T43" fmla="*/ 1 h 136"/>
                  <a:gd name="T44" fmla="*/ 154 w 155"/>
                  <a:gd name="T45" fmla="*/ 1 h 136"/>
                  <a:gd name="T46" fmla="*/ 153 w 155"/>
                  <a:gd name="T47" fmla="*/ 1 h 136"/>
                  <a:gd name="T48" fmla="*/ 153 w 155"/>
                  <a:gd name="T49" fmla="*/ 0 h 136"/>
                  <a:gd name="T50" fmla="*/ 153 w 155"/>
                  <a:gd name="T51" fmla="*/ 0 h 136"/>
                  <a:gd name="T52" fmla="*/ 145 w 155"/>
                  <a:gd name="T53" fmla="*/ 5 h 136"/>
                  <a:gd name="T54" fmla="*/ 145 w 155"/>
                  <a:gd name="T55" fmla="*/ 5 h 136"/>
                  <a:gd name="T56" fmla="*/ 146 w 155"/>
                  <a:gd name="T57" fmla="*/ 6 h 136"/>
                  <a:gd name="T58" fmla="*/ 146 w 155"/>
                  <a:gd name="T59" fmla="*/ 7 h 136"/>
                  <a:gd name="T60" fmla="*/ 146 w 155"/>
                  <a:gd name="T61" fmla="*/ 7 h 136"/>
                  <a:gd name="T62" fmla="*/ 146 w 155"/>
                  <a:gd name="T63" fmla="*/ 7 h 136"/>
                  <a:gd name="T64" fmla="*/ 146 w 155"/>
                  <a:gd name="T65" fmla="*/ 8 h 136"/>
                  <a:gd name="T66" fmla="*/ 146 w 155"/>
                  <a:gd name="T67" fmla="*/ 9 h 136"/>
                  <a:gd name="T68" fmla="*/ 146 w 155"/>
                  <a:gd name="T69" fmla="*/ 9 h 136"/>
                  <a:gd name="T70" fmla="*/ 146 w 155"/>
                  <a:gd name="T71" fmla="*/ 123 h 136"/>
                  <a:gd name="T72" fmla="*/ 146 w 155"/>
                  <a:gd name="T73" fmla="*/ 123 h 136"/>
                  <a:gd name="T74" fmla="*/ 146 w 155"/>
                  <a:gd name="T75" fmla="*/ 124 h 136"/>
                  <a:gd name="T76" fmla="*/ 146 w 155"/>
                  <a:gd name="T77" fmla="*/ 125 h 136"/>
                  <a:gd name="T78" fmla="*/ 146 w 155"/>
                  <a:gd name="T79" fmla="*/ 125 h 136"/>
                  <a:gd name="T80" fmla="*/ 145 w 155"/>
                  <a:gd name="T81" fmla="*/ 126 h 136"/>
                  <a:gd name="T82" fmla="*/ 145 w 155"/>
                  <a:gd name="T83" fmla="*/ 127 h 136"/>
                  <a:gd name="T84" fmla="*/ 144 w 155"/>
                  <a:gd name="T85" fmla="*/ 127 h 136"/>
                  <a:gd name="T86" fmla="*/ 143 w 155"/>
                  <a:gd name="T87" fmla="*/ 127 h 136"/>
                  <a:gd name="T88" fmla="*/ 143 w 155"/>
                  <a:gd name="T89" fmla="*/ 128 h 136"/>
                  <a:gd name="T90" fmla="*/ 142 w 155"/>
                  <a:gd name="T91" fmla="*/ 128 h 136"/>
                  <a:gd name="T92" fmla="*/ 142 w 155"/>
                  <a:gd name="T93" fmla="*/ 128 h 136"/>
                  <a:gd name="T94" fmla="*/ 9 w 155"/>
                  <a:gd name="T95" fmla="*/ 128 h 136"/>
                  <a:gd name="T96" fmla="*/ 8 w 155"/>
                  <a:gd name="T97" fmla="*/ 128 h 136"/>
                  <a:gd name="T98" fmla="*/ 8 w 155"/>
                  <a:gd name="T99" fmla="*/ 128 h 136"/>
                  <a:gd name="T100" fmla="*/ 8 w 155"/>
                  <a:gd name="T101" fmla="*/ 127 h 136"/>
                  <a:gd name="T102" fmla="*/ 7 w 155"/>
                  <a:gd name="T103" fmla="*/ 127 h 136"/>
                  <a:gd name="T104" fmla="*/ 7 w 155"/>
                  <a:gd name="T105" fmla="*/ 127 h 136"/>
                  <a:gd name="T106" fmla="*/ 6 w 155"/>
                  <a:gd name="T107" fmla="*/ 127 h 136"/>
                  <a:gd name="T108" fmla="*/ 6 w 155"/>
                  <a:gd name="T109" fmla="*/ 127 h 136"/>
                  <a:gd name="T110" fmla="*/ 0 w 155"/>
                  <a:gd name="T111" fmla="*/ 133 h 1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155"/>
                  <a:gd name="T169" fmla="*/ 0 h 136"/>
                  <a:gd name="T170" fmla="*/ 155 w 155"/>
                  <a:gd name="T171" fmla="*/ 136 h 1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155" h="136">
                    <a:moveTo>
                      <a:pt x="0" y="133"/>
                    </a:moveTo>
                    <a:lnTo>
                      <a:pt x="0" y="134"/>
                    </a:lnTo>
                    <a:lnTo>
                      <a:pt x="1" y="134"/>
                    </a:lnTo>
                    <a:lnTo>
                      <a:pt x="2" y="135"/>
                    </a:lnTo>
                    <a:lnTo>
                      <a:pt x="3" y="135"/>
                    </a:lnTo>
                    <a:lnTo>
                      <a:pt x="148" y="135"/>
                    </a:lnTo>
                    <a:lnTo>
                      <a:pt x="150" y="134"/>
                    </a:lnTo>
                    <a:lnTo>
                      <a:pt x="151" y="134"/>
                    </a:lnTo>
                    <a:lnTo>
                      <a:pt x="151" y="133"/>
                    </a:lnTo>
                    <a:lnTo>
                      <a:pt x="152" y="133"/>
                    </a:lnTo>
                    <a:lnTo>
                      <a:pt x="153" y="132"/>
                    </a:lnTo>
                    <a:lnTo>
                      <a:pt x="153" y="131"/>
                    </a:lnTo>
                    <a:lnTo>
                      <a:pt x="154" y="131"/>
                    </a:lnTo>
                    <a:lnTo>
                      <a:pt x="154" y="129"/>
                    </a:lnTo>
                    <a:lnTo>
                      <a:pt x="154" y="3"/>
                    </a:lnTo>
                    <a:lnTo>
                      <a:pt x="154" y="2"/>
                    </a:lnTo>
                    <a:lnTo>
                      <a:pt x="154" y="1"/>
                    </a:lnTo>
                    <a:lnTo>
                      <a:pt x="153" y="1"/>
                    </a:lnTo>
                    <a:lnTo>
                      <a:pt x="153" y="0"/>
                    </a:lnTo>
                    <a:lnTo>
                      <a:pt x="145" y="5"/>
                    </a:lnTo>
                    <a:lnTo>
                      <a:pt x="146" y="6"/>
                    </a:lnTo>
                    <a:lnTo>
                      <a:pt x="146" y="7"/>
                    </a:lnTo>
                    <a:lnTo>
                      <a:pt x="146" y="8"/>
                    </a:lnTo>
                    <a:lnTo>
                      <a:pt x="146" y="9"/>
                    </a:lnTo>
                    <a:lnTo>
                      <a:pt x="146" y="123"/>
                    </a:lnTo>
                    <a:lnTo>
                      <a:pt x="146" y="124"/>
                    </a:lnTo>
                    <a:lnTo>
                      <a:pt x="146" y="125"/>
                    </a:lnTo>
                    <a:lnTo>
                      <a:pt x="145" y="126"/>
                    </a:lnTo>
                    <a:lnTo>
                      <a:pt x="145" y="127"/>
                    </a:lnTo>
                    <a:lnTo>
                      <a:pt x="144" y="127"/>
                    </a:lnTo>
                    <a:lnTo>
                      <a:pt x="143" y="127"/>
                    </a:lnTo>
                    <a:lnTo>
                      <a:pt x="143" y="128"/>
                    </a:lnTo>
                    <a:lnTo>
                      <a:pt x="142" y="128"/>
                    </a:lnTo>
                    <a:lnTo>
                      <a:pt x="9" y="128"/>
                    </a:lnTo>
                    <a:lnTo>
                      <a:pt x="8" y="128"/>
                    </a:lnTo>
                    <a:lnTo>
                      <a:pt x="8" y="127"/>
                    </a:lnTo>
                    <a:lnTo>
                      <a:pt x="7" y="127"/>
                    </a:lnTo>
                    <a:lnTo>
                      <a:pt x="6" y="127"/>
                    </a:lnTo>
                    <a:lnTo>
                      <a:pt x="0" y="133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9999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4" name="Freeform 67"/>
              <p:cNvSpPr>
                <a:spLocks/>
              </p:cNvSpPr>
              <p:nvPr/>
            </p:nvSpPr>
            <p:spPr bwMode="auto">
              <a:xfrm>
                <a:off x="3872" y="1298"/>
                <a:ext cx="153" cy="17"/>
              </a:xfrm>
              <a:custGeom>
                <a:avLst/>
                <a:gdLst>
                  <a:gd name="T0" fmla="*/ 152 w 153"/>
                  <a:gd name="T1" fmla="*/ 16 h 17"/>
                  <a:gd name="T2" fmla="*/ 151 w 153"/>
                  <a:gd name="T3" fmla="*/ 16 h 17"/>
                  <a:gd name="T4" fmla="*/ 151 w 153"/>
                  <a:gd name="T5" fmla="*/ 10 h 17"/>
                  <a:gd name="T6" fmla="*/ 150 w 153"/>
                  <a:gd name="T7" fmla="*/ 10 h 17"/>
                  <a:gd name="T8" fmla="*/ 150 w 153"/>
                  <a:gd name="T9" fmla="*/ 10 h 17"/>
                  <a:gd name="T10" fmla="*/ 150 w 153"/>
                  <a:gd name="T11" fmla="*/ 5 h 17"/>
                  <a:gd name="T12" fmla="*/ 149 w 153"/>
                  <a:gd name="T13" fmla="*/ 5 h 17"/>
                  <a:gd name="T14" fmla="*/ 149 w 153"/>
                  <a:gd name="T15" fmla="*/ 5 h 17"/>
                  <a:gd name="T16" fmla="*/ 148 w 153"/>
                  <a:gd name="T17" fmla="*/ 0 h 17"/>
                  <a:gd name="T18" fmla="*/ 148 w 153"/>
                  <a:gd name="T19" fmla="*/ 0 h 17"/>
                  <a:gd name="T20" fmla="*/ 147 w 153"/>
                  <a:gd name="T21" fmla="*/ 0 h 17"/>
                  <a:gd name="T22" fmla="*/ 146 w 153"/>
                  <a:gd name="T23" fmla="*/ 0 h 17"/>
                  <a:gd name="T24" fmla="*/ 3 w 153"/>
                  <a:gd name="T25" fmla="*/ 0 h 17"/>
                  <a:gd name="T26" fmla="*/ 3 w 153"/>
                  <a:gd name="T27" fmla="*/ 0 h 17"/>
                  <a:gd name="T28" fmla="*/ 2 w 153"/>
                  <a:gd name="T29" fmla="*/ 0 h 17"/>
                  <a:gd name="T30" fmla="*/ 1 w 153"/>
                  <a:gd name="T31" fmla="*/ 5 h 17"/>
                  <a:gd name="T32" fmla="*/ 1 w 153"/>
                  <a:gd name="T33" fmla="*/ 5 h 17"/>
                  <a:gd name="T34" fmla="*/ 0 w 153"/>
                  <a:gd name="T35" fmla="*/ 10 h 17"/>
                  <a:gd name="T36" fmla="*/ 0 w 153"/>
                  <a:gd name="T37" fmla="*/ 10 h 17"/>
                  <a:gd name="T38" fmla="*/ 0 w 153"/>
                  <a:gd name="T39" fmla="*/ 16 h 1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53"/>
                  <a:gd name="T61" fmla="*/ 0 h 17"/>
                  <a:gd name="T62" fmla="*/ 153 w 153"/>
                  <a:gd name="T63" fmla="*/ 17 h 1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53" h="17">
                    <a:moveTo>
                      <a:pt x="152" y="16"/>
                    </a:moveTo>
                    <a:lnTo>
                      <a:pt x="151" y="16"/>
                    </a:lnTo>
                    <a:lnTo>
                      <a:pt x="151" y="10"/>
                    </a:lnTo>
                    <a:lnTo>
                      <a:pt x="150" y="10"/>
                    </a:lnTo>
                    <a:lnTo>
                      <a:pt x="150" y="5"/>
                    </a:lnTo>
                    <a:lnTo>
                      <a:pt x="149" y="5"/>
                    </a:lnTo>
                    <a:lnTo>
                      <a:pt x="148" y="0"/>
                    </a:lnTo>
                    <a:lnTo>
                      <a:pt x="147" y="0"/>
                    </a:lnTo>
                    <a:lnTo>
                      <a:pt x="146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5"/>
                    </a:lnTo>
                    <a:lnTo>
                      <a:pt x="0" y="10"/>
                    </a:lnTo>
                    <a:lnTo>
                      <a:pt x="0" y="16"/>
                    </a:lnTo>
                  </a:path>
                </a:pathLst>
              </a:custGeom>
              <a:noFill/>
              <a:ln w="12700" cap="rnd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5" name="Freeform 68"/>
              <p:cNvSpPr>
                <a:spLocks/>
              </p:cNvSpPr>
              <p:nvPr/>
            </p:nvSpPr>
            <p:spPr bwMode="auto">
              <a:xfrm>
                <a:off x="3843" y="1489"/>
                <a:ext cx="215" cy="72"/>
              </a:xfrm>
              <a:custGeom>
                <a:avLst/>
                <a:gdLst>
                  <a:gd name="T0" fmla="*/ 0 w 215"/>
                  <a:gd name="T1" fmla="*/ 71 h 72"/>
                  <a:gd name="T2" fmla="*/ 0 w 215"/>
                  <a:gd name="T3" fmla="*/ 0 h 72"/>
                  <a:gd name="T4" fmla="*/ 214 w 215"/>
                  <a:gd name="T5" fmla="*/ 0 h 72"/>
                  <a:gd name="T6" fmla="*/ 214 w 215"/>
                  <a:gd name="T7" fmla="*/ 71 h 72"/>
                  <a:gd name="T8" fmla="*/ 0 w 215"/>
                  <a:gd name="T9" fmla="*/ 71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5"/>
                  <a:gd name="T16" fmla="*/ 0 h 72"/>
                  <a:gd name="T17" fmla="*/ 215 w 215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5" h="72">
                    <a:moveTo>
                      <a:pt x="0" y="71"/>
                    </a:moveTo>
                    <a:lnTo>
                      <a:pt x="0" y="0"/>
                    </a:lnTo>
                    <a:lnTo>
                      <a:pt x="214" y="0"/>
                    </a:lnTo>
                    <a:lnTo>
                      <a:pt x="214" y="71"/>
                    </a:lnTo>
                    <a:lnTo>
                      <a:pt x="0" y="71"/>
                    </a:lnTo>
                  </a:path>
                </a:pathLst>
              </a:cu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6" name="Freeform 69"/>
              <p:cNvSpPr>
                <a:spLocks/>
              </p:cNvSpPr>
              <p:nvPr/>
            </p:nvSpPr>
            <p:spPr bwMode="auto">
              <a:xfrm>
                <a:off x="3841" y="1489"/>
                <a:ext cx="219" cy="23"/>
              </a:xfrm>
              <a:custGeom>
                <a:avLst/>
                <a:gdLst>
                  <a:gd name="T0" fmla="*/ 79 w 219"/>
                  <a:gd name="T1" fmla="*/ 0 h 23"/>
                  <a:gd name="T2" fmla="*/ 0 w 219"/>
                  <a:gd name="T3" fmla="*/ 0 h 23"/>
                  <a:gd name="T4" fmla="*/ 0 w 219"/>
                  <a:gd name="T5" fmla="*/ 22 h 23"/>
                  <a:gd name="T6" fmla="*/ 218 w 219"/>
                  <a:gd name="T7" fmla="*/ 22 h 23"/>
                  <a:gd name="T8" fmla="*/ 215 w 219"/>
                  <a:gd name="T9" fmla="*/ 0 h 23"/>
                  <a:gd name="T10" fmla="*/ 137 w 219"/>
                  <a:gd name="T11" fmla="*/ 0 h 23"/>
                  <a:gd name="T12" fmla="*/ 79 w 219"/>
                  <a:gd name="T13" fmla="*/ 0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19"/>
                  <a:gd name="T22" fmla="*/ 0 h 23"/>
                  <a:gd name="T23" fmla="*/ 219 w 219"/>
                  <a:gd name="T24" fmla="*/ 23 h 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19" h="23">
                    <a:moveTo>
                      <a:pt x="79" y="0"/>
                    </a:moveTo>
                    <a:lnTo>
                      <a:pt x="0" y="0"/>
                    </a:lnTo>
                    <a:lnTo>
                      <a:pt x="0" y="22"/>
                    </a:lnTo>
                    <a:lnTo>
                      <a:pt x="218" y="22"/>
                    </a:lnTo>
                    <a:lnTo>
                      <a:pt x="215" y="0"/>
                    </a:lnTo>
                    <a:lnTo>
                      <a:pt x="137" y="0"/>
                    </a:lnTo>
                    <a:lnTo>
                      <a:pt x="79" y="0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7" name="Freeform 70"/>
              <p:cNvSpPr>
                <a:spLocks/>
              </p:cNvSpPr>
              <p:nvPr/>
            </p:nvSpPr>
            <p:spPr bwMode="auto">
              <a:xfrm>
                <a:off x="3991" y="1495"/>
                <a:ext cx="56" cy="17"/>
              </a:xfrm>
              <a:custGeom>
                <a:avLst/>
                <a:gdLst>
                  <a:gd name="T0" fmla="*/ 0 w 56"/>
                  <a:gd name="T1" fmla="*/ 6 h 17"/>
                  <a:gd name="T2" fmla="*/ 18 w 56"/>
                  <a:gd name="T3" fmla="*/ 6 h 17"/>
                  <a:gd name="T4" fmla="*/ 18 w 56"/>
                  <a:gd name="T5" fmla="*/ 0 h 17"/>
                  <a:gd name="T6" fmla="*/ 35 w 56"/>
                  <a:gd name="T7" fmla="*/ 0 h 17"/>
                  <a:gd name="T8" fmla="*/ 35 w 56"/>
                  <a:gd name="T9" fmla="*/ 6 h 17"/>
                  <a:gd name="T10" fmla="*/ 55 w 56"/>
                  <a:gd name="T11" fmla="*/ 6 h 17"/>
                  <a:gd name="T12" fmla="*/ 55 w 56"/>
                  <a:gd name="T13" fmla="*/ 10 h 17"/>
                  <a:gd name="T14" fmla="*/ 35 w 56"/>
                  <a:gd name="T15" fmla="*/ 10 h 17"/>
                  <a:gd name="T16" fmla="*/ 35 w 56"/>
                  <a:gd name="T17" fmla="*/ 16 h 17"/>
                  <a:gd name="T18" fmla="*/ 18 w 56"/>
                  <a:gd name="T19" fmla="*/ 16 h 17"/>
                  <a:gd name="T20" fmla="*/ 18 w 56"/>
                  <a:gd name="T21" fmla="*/ 10 h 17"/>
                  <a:gd name="T22" fmla="*/ 0 w 56"/>
                  <a:gd name="T23" fmla="*/ 10 h 17"/>
                  <a:gd name="T24" fmla="*/ 0 w 56"/>
                  <a:gd name="T25" fmla="*/ 6 h 1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6"/>
                  <a:gd name="T40" fmla="*/ 0 h 17"/>
                  <a:gd name="T41" fmla="*/ 56 w 56"/>
                  <a:gd name="T42" fmla="*/ 17 h 1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6" h="17">
                    <a:moveTo>
                      <a:pt x="0" y="6"/>
                    </a:moveTo>
                    <a:lnTo>
                      <a:pt x="18" y="6"/>
                    </a:lnTo>
                    <a:lnTo>
                      <a:pt x="18" y="0"/>
                    </a:lnTo>
                    <a:lnTo>
                      <a:pt x="35" y="0"/>
                    </a:lnTo>
                    <a:lnTo>
                      <a:pt x="35" y="6"/>
                    </a:lnTo>
                    <a:lnTo>
                      <a:pt x="55" y="6"/>
                    </a:lnTo>
                    <a:lnTo>
                      <a:pt x="55" y="10"/>
                    </a:lnTo>
                    <a:lnTo>
                      <a:pt x="35" y="10"/>
                    </a:lnTo>
                    <a:lnTo>
                      <a:pt x="35" y="16"/>
                    </a:lnTo>
                    <a:lnTo>
                      <a:pt x="18" y="16"/>
                    </a:lnTo>
                    <a:lnTo>
                      <a:pt x="18" y="10"/>
                    </a:lnTo>
                    <a:lnTo>
                      <a:pt x="0" y="10"/>
                    </a:lnTo>
                    <a:lnTo>
                      <a:pt x="0" y="6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8" name="Freeform 71"/>
              <p:cNvSpPr>
                <a:spLocks/>
              </p:cNvSpPr>
              <p:nvPr/>
            </p:nvSpPr>
            <p:spPr bwMode="auto">
              <a:xfrm>
                <a:off x="3991" y="1501"/>
                <a:ext cx="17" cy="17"/>
              </a:xfrm>
              <a:custGeom>
                <a:avLst/>
                <a:gdLst>
                  <a:gd name="T0" fmla="*/ 0 w 17"/>
                  <a:gd name="T1" fmla="*/ 16 h 17"/>
                  <a:gd name="T2" fmla="*/ 16 w 17"/>
                  <a:gd name="T3" fmla="*/ 10 h 17"/>
                  <a:gd name="T4" fmla="*/ 16 w 17"/>
                  <a:gd name="T5" fmla="*/ 5 h 17"/>
                  <a:gd name="T6" fmla="*/ 0 w 17"/>
                  <a:gd name="T7" fmla="*/ 0 h 1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17"/>
                  <a:gd name="T14" fmla="*/ 17 w 17"/>
                  <a:gd name="T15" fmla="*/ 17 h 1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17">
                    <a:moveTo>
                      <a:pt x="0" y="16"/>
                    </a:moveTo>
                    <a:lnTo>
                      <a:pt x="16" y="10"/>
                    </a:lnTo>
                    <a:lnTo>
                      <a:pt x="16" y="5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rnd">
                <a:solidFill>
                  <a:srgbClr val="EFEFD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9" name="Freeform 72"/>
              <p:cNvSpPr>
                <a:spLocks/>
              </p:cNvSpPr>
              <p:nvPr/>
            </p:nvSpPr>
            <p:spPr bwMode="auto">
              <a:xfrm>
                <a:off x="4010" y="1495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16 w 17"/>
                  <a:gd name="T3" fmla="*/ 16 h 17"/>
                  <a:gd name="T4" fmla="*/ 0 w 17"/>
                  <a:gd name="T5" fmla="*/ 0 h 17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17"/>
                  <a:gd name="T11" fmla="*/ 17 w 17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17">
                    <a:moveTo>
                      <a:pt x="0" y="0"/>
                    </a:moveTo>
                    <a:lnTo>
                      <a:pt x="16" y="16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rnd">
                <a:solidFill>
                  <a:srgbClr val="EFE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0" name="Freeform 73"/>
              <p:cNvSpPr>
                <a:spLocks/>
              </p:cNvSpPr>
              <p:nvPr/>
            </p:nvSpPr>
            <p:spPr bwMode="auto">
              <a:xfrm>
                <a:off x="4046" y="1504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16 w 17"/>
                  <a:gd name="T3" fmla="*/ 16 h 17"/>
                  <a:gd name="T4" fmla="*/ 0 w 17"/>
                  <a:gd name="T5" fmla="*/ 0 h 17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17"/>
                  <a:gd name="T11" fmla="*/ 17 w 17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17">
                    <a:moveTo>
                      <a:pt x="0" y="0"/>
                    </a:moveTo>
                    <a:lnTo>
                      <a:pt x="16" y="16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rnd">
                <a:solidFill>
                  <a:srgbClr val="EFE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1" name="Freeform 74"/>
              <p:cNvSpPr>
                <a:spLocks/>
              </p:cNvSpPr>
              <p:nvPr/>
            </p:nvSpPr>
            <p:spPr bwMode="auto">
              <a:xfrm>
                <a:off x="4027" y="1495"/>
                <a:ext cx="17" cy="17"/>
              </a:xfrm>
              <a:custGeom>
                <a:avLst/>
                <a:gdLst>
                  <a:gd name="T0" fmla="*/ 0 w 17"/>
                  <a:gd name="T1" fmla="*/ 16 h 17"/>
                  <a:gd name="T2" fmla="*/ 16 w 17"/>
                  <a:gd name="T3" fmla="*/ 0 h 17"/>
                  <a:gd name="T4" fmla="*/ 0 w 17"/>
                  <a:gd name="T5" fmla="*/ 16 h 17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17"/>
                  <a:gd name="T11" fmla="*/ 17 w 17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17">
                    <a:moveTo>
                      <a:pt x="0" y="16"/>
                    </a:moveTo>
                    <a:lnTo>
                      <a:pt x="16" y="0"/>
                    </a:lnTo>
                    <a:lnTo>
                      <a:pt x="0" y="16"/>
                    </a:lnTo>
                  </a:path>
                </a:pathLst>
              </a:custGeom>
              <a:noFill/>
              <a:ln w="12700" cap="rnd">
                <a:solidFill>
                  <a:srgbClr val="EFE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2" name="Freeform 75"/>
              <p:cNvSpPr>
                <a:spLocks/>
              </p:cNvSpPr>
              <p:nvPr/>
            </p:nvSpPr>
            <p:spPr bwMode="auto">
              <a:xfrm>
                <a:off x="4011" y="1499"/>
                <a:ext cx="17" cy="17"/>
              </a:xfrm>
              <a:custGeom>
                <a:avLst/>
                <a:gdLst>
                  <a:gd name="T0" fmla="*/ 0 w 17"/>
                  <a:gd name="T1" fmla="*/ 16 h 17"/>
                  <a:gd name="T2" fmla="*/ 16 w 17"/>
                  <a:gd name="T3" fmla="*/ 16 h 17"/>
                  <a:gd name="T4" fmla="*/ 16 w 17"/>
                  <a:gd name="T5" fmla="*/ 0 h 17"/>
                  <a:gd name="T6" fmla="*/ 0 w 17"/>
                  <a:gd name="T7" fmla="*/ 0 h 17"/>
                  <a:gd name="T8" fmla="*/ 0 w 17"/>
                  <a:gd name="T9" fmla="*/ 16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0" y="16"/>
                    </a:moveTo>
                    <a:lnTo>
                      <a:pt x="16" y="16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9F9FA2"/>
              </a:solidFill>
              <a:ln w="12700" cap="rnd">
                <a:solidFill>
                  <a:srgbClr val="9F9FA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3" name="Freeform 76"/>
              <p:cNvSpPr>
                <a:spLocks/>
              </p:cNvSpPr>
              <p:nvPr/>
            </p:nvSpPr>
            <p:spPr bwMode="auto">
              <a:xfrm>
                <a:off x="3993" y="1502"/>
                <a:ext cx="54" cy="17"/>
              </a:xfrm>
              <a:custGeom>
                <a:avLst/>
                <a:gdLst>
                  <a:gd name="T0" fmla="*/ 0 w 54"/>
                  <a:gd name="T1" fmla="*/ 0 h 17"/>
                  <a:gd name="T2" fmla="*/ 53 w 54"/>
                  <a:gd name="T3" fmla="*/ 0 h 17"/>
                  <a:gd name="T4" fmla="*/ 53 w 54"/>
                  <a:gd name="T5" fmla="*/ 16 h 17"/>
                  <a:gd name="T6" fmla="*/ 0 w 54"/>
                  <a:gd name="T7" fmla="*/ 16 h 17"/>
                  <a:gd name="T8" fmla="*/ 0 w 54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"/>
                  <a:gd name="T16" fmla="*/ 0 h 17"/>
                  <a:gd name="T17" fmla="*/ 54 w 5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" h="17">
                    <a:moveTo>
                      <a:pt x="0" y="0"/>
                    </a:moveTo>
                    <a:lnTo>
                      <a:pt x="53" y="0"/>
                    </a:lnTo>
                    <a:lnTo>
                      <a:pt x="53" y="16"/>
                    </a:lnTo>
                    <a:lnTo>
                      <a:pt x="0" y="1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4" name="Freeform 77"/>
              <p:cNvSpPr>
                <a:spLocks/>
              </p:cNvSpPr>
              <p:nvPr/>
            </p:nvSpPr>
            <p:spPr bwMode="auto">
              <a:xfrm>
                <a:off x="4010" y="1496"/>
                <a:ext cx="19" cy="17"/>
              </a:xfrm>
              <a:custGeom>
                <a:avLst/>
                <a:gdLst>
                  <a:gd name="T0" fmla="*/ 18 w 19"/>
                  <a:gd name="T1" fmla="*/ 12 h 17"/>
                  <a:gd name="T2" fmla="*/ 17 w 19"/>
                  <a:gd name="T3" fmla="*/ 16 h 17"/>
                  <a:gd name="T4" fmla="*/ 17 w 19"/>
                  <a:gd name="T5" fmla="*/ 0 h 17"/>
                  <a:gd name="T6" fmla="*/ 0 w 19"/>
                  <a:gd name="T7" fmla="*/ 0 h 17"/>
                  <a:gd name="T8" fmla="*/ 0 w 19"/>
                  <a:gd name="T9" fmla="*/ 16 h 17"/>
                  <a:gd name="T10" fmla="*/ 0 w 19"/>
                  <a:gd name="T11" fmla="*/ 12 h 1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"/>
                  <a:gd name="T19" fmla="*/ 0 h 17"/>
                  <a:gd name="T20" fmla="*/ 19 w 19"/>
                  <a:gd name="T21" fmla="*/ 17 h 1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" h="17">
                    <a:moveTo>
                      <a:pt x="18" y="12"/>
                    </a:moveTo>
                    <a:lnTo>
                      <a:pt x="17" y="16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0" y="12"/>
                    </a:lnTo>
                  </a:path>
                </a:pathLst>
              </a:custGeom>
              <a:noFill/>
              <a:ln w="12700" cap="rnd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5" name="Freeform 78"/>
              <p:cNvSpPr>
                <a:spLocks/>
              </p:cNvSpPr>
              <p:nvPr/>
            </p:nvSpPr>
            <p:spPr bwMode="auto">
              <a:xfrm>
                <a:off x="3945" y="1505"/>
                <a:ext cx="17" cy="17"/>
              </a:xfrm>
              <a:custGeom>
                <a:avLst/>
                <a:gdLst>
                  <a:gd name="T0" fmla="*/ 16 w 17"/>
                  <a:gd name="T1" fmla="*/ 0 h 17"/>
                  <a:gd name="T2" fmla="*/ 16 w 17"/>
                  <a:gd name="T3" fmla="*/ 16 h 17"/>
                  <a:gd name="T4" fmla="*/ 0 w 17"/>
                  <a:gd name="T5" fmla="*/ 16 h 17"/>
                  <a:gd name="T6" fmla="*/ 0 w 17"/>
                  <a:gd name="T7" fmla="*/ 0 h 17"/>
                  <a:gd name="T8" fmla="*/ 16 w 17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16" y="0"/>
                    </a:moveTo>
                    <a:lnTo>
                      <a:pt x="16" y="16"/>
                    </a:lnTo>
                    <a:lnTo>
                      <a:pt x="0" y="16"/>
                    </a:lnTo>
                    <a:lnTo>
                      <a:pt x="0" y="0"/>
                    </a:lnTo>
                    <a:lnTo>
                      <a:pt x="16" y="0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6" name="Freeform 79"/>
              <p:cNvSpPr>
                <a:spLocks/>
              </p:cNvSpPr>
              <p:nvPr/>
            </p:nvSpPr>
            <p:spPr bwMode="auto">
              <a:xfrm>
                <a:off x="3945" y="1505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16 w 17"/>
                  <a:gd name="T3" fmla="*/ 0 h 17"/>
                  <a:gd name="T4" fmla="*/ 16 w 17"/>
                  <a:gd name="T5" fmla="*/ 16 h 17"/>
                  <a:gd name="T6" fmla="*/ 0 w 17"/>
                  <a:gd name="T7" fmla="*/ 16 h 17"/>
                  <a:gd name="T8" fmla="*/ 0 w 17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0" y="0"/>
                    </a:moveTo>
                    <a:lnTo>
                      <a:pt x="16" y="0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7" name="Freeform 80"/>
              <p:cNvSpPr>
                <a:spLocks/>
              </p:cNvSpPr>
              <p:nvPr/>
            </p:nvSpPr>
            <p:spPr bwMode="auto">
              <a:xfrm>
                <a:off x="3930" y="1497"/>
                <a:ext cx="44" cy="17"/>
              </a:xfrm>
              <a:custGeom>
                <a:avLst/>
                <a:gdLst>
                  <a:gd name="T0" fmla="*/ 14 w 44"/>
                  <a:gd name="T1" fmla="*/ 16 h 17"/>
                  <a:gd name="T2" fmla="*/ 0 w 44"/>
                  <a:gd name="T3" fmla="*/ 16 h 17"/>
                  <a:gd name="T4" fmla="*/ 0 w 44"/>
                  <a:gd name="T5" fmla="*/ 8 h 17"/>
                  <a:gd name="T6" fmla="*/ 14 w 44"/>
                  <a:gd name="T7" fmla="*/ 8 h 17"/>
                  <a:gd name="T8" fmla="*/ 14 w 44"/>
                  <a:gd name="T9" fmla="*/ 0 h 17"/>
                  <a:gd name="T10" fmla="*/ 28 w 44"/>
                  <a:gd name="T11" fmla="*/ 0 h 17"/>
                  <a:gd name="T12" fmla="*/ 28 w 44"/>
                  <a:gd name="T13" fmla="*/ 8 h 17"/>
                  <a:gd name="T14" fmla="*/ 43 w 44"/>
                  <a:gd name="T15" fmla="*/ 8 h 17"/>
                  <a:gd name="T16" fmla="*/ 43 w 44"/>
                  <a:gd name="T17" fmla="*/ 16 h 17"/>
                  <a:gd name="T18" fmla="*/ 28 w 44"/>
                  <a:gd name="T19" fmla="*/ 16 h 17"/>
                  <a:gd name="T20" fmla="*/ 14 w 44"/>
                  <a:gd name="T21" fmla="*/ 16 h 1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4"/>
                  <a:gd name="T34" fmla="*/ 0 h 17"/>
                  <a:gd name="T35" fmla="*/ 44 w 44"/>
                  <a:gd name="T36" fmla="*/ 17 h 1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4" h="17">
                    <a:moveTo>
                      <a:pt x="14" y="16"/>
                    </a:moveTo>
                    <a:lnTo>
                      <a:pt x="0" y="16"/>
                    </a:lnTo>
                    <a:lnTo>
                      <a:pt x="0" y="8"/>
                    </a:lnTo>
                    <a:lnTo>
                      <a:pt x="14" y="8"/>
                    </a:lnTo>
                    <a:lnTo>
                      <a:pt x="14" y="0"/>
                    </a:lnTo>
                    <a:lnTo>
                      <a:pt x="28" y="0"/>
                    </a:lnTo>
                    <a:lnTo>
                      <a:pt x="28" y="8"/>
                    </a:lnTo>
                    <a:lnTo>
                      <a:pt x="43" y="8"/>
                    </a:lnTo>
                    <a:lnTo>
                      <a:pt x="43" y="16"/>
                    </a:lnTo>
                    <a:lnTo>
                      <a:pt x="28" y="16"/>
                    </a:lnTo>
                    <a:lnTo>
                      <a:pt x="14" y="16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8" name="Freeform 81"/>
              <p:cNvSpPr>
                <a:spLocks/>
              </p:cNvSpPr>
              <p:nvPr/>
            </p:nvSpPr>
            <p:spPr bwMode="auto">
              <a:xfrm>
                <a:off x="3945" y="1497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16 w 17"/>
                  <a:gd name="T3" fmla="*/ 0 h 17"/>
                  <a:gd name="T4" fmla="*/ 16 w 17"/>
                  <a:gd name="T5" fmla="*/ 16 h 17"/>
                  <a:gd name="T6" fmla="*/ 0 w 17"/>
                  <a:gd name="T7" fmla="*/ 16 h 17"/>
                  <a:gd name="T8" fmla="*/ 0 w 17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0" y="0"/>
                    </a:moveTo>
                    <a:lnTo>
                      <a:pt x="16" y="0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9" name="Freeform 82"/>
              <p:cNvSpPr>
                <a:spLocks/>
              </p:cNvSpPr>
              <p:nvPr/>
            </p:nvSpPr>
            <p:spPr bwMode="auto">
              <a:xfrm>
                <a:off x="3897" y="1494"/>
                <a:ext cx="20" cy="17"/>
              </a:xfrm>
              <a:custGeom>
                <a:avLst/>
                <a:gdLst>
                  <a:gd name="T0" fmla="*/ 5 w 20"/>
                  <a:gd name="T1" fmla="*/ 16 h 17"/>
                  <a:gd name="T2" fmla="*/ 3 w 20"/>
                  <a:gd name="T3" fmla="*/ 15 h 17"/>
                  <a:gd name="T4" fmla="*/ 2 w 20"/>
                  <a:gd name="T5" fmla="*/ 15 h 17"/>
                  <a:gd name="T6" fmla="*/ 1 w 20"/>
                  <a:gd name="T7" fmla="*/ 14 h 17"/>
                  <a:gd name="T8" fmla="*/ 1 w 20"/>
                  <a:gd name="T9" fmla="*/ 12 h 17"/>
                  <a:gd name="T10" fmla="*/ 0 w 20"/>
                  <a:gd name="T11" fmla="*/ 12 h 17"/>
                  <a:gd name="T12" fmla="*/ 0 w 20"/>
                  <a:gd name="T13" fmla="*/ 10 h 17"/>
                  <a:gd name="T14" fmla="*/ 0 w 20"/>
                  <a:gd name="T15" fmla="*/ 8 h 17"/>
                  <a:gd name="T16" fmla="*/ 0 w 20"/>
                  <a:gd name="T17" fmla="*/ 6 h 17"/>
                  <a:gd name="T18" fmla="*/ 0 w 20"/>
                  <a:gd name="T19" fmla="*/ 4 h 17"/>
                  <a:gd name="T20" fmla="*/ 0 w 20"/>
                  <a:gd name="T21" fmla="*/ 3 h 17"/>
                  <a:gd name="T22" fmla="*/ 1 w 20"/>
                  <a:gd name="T23" fmla="*/ 2 h 17"/>
                  <a:gd name="T24" fmla="*/ 2 w 20"/>
                  <a:gd name="T25" fmla="*/ 1 h 17"/>
                  <a:gd name="T26" fmla="*/ 3 w 20"/>
                  <a:gd name="T27" fmla="*/ 0 h 17"/>
                  <a:gd name="T28" fmla="*/ 4 w 20"/>
                  <a:gd name="T29" fmla="*/ 0 h 17"/>
                  <a:gd name="T30" fmla="*/ 5 w 20"/>
                  <a:gd name="T31" fmla="*/ 0 h 17"/>
                  <a:gd name="T32" fmla="*/ 12 w 20"/>
                  <a:gd name="T33" fmla="*/ 0 h 17"/>
                  <a:gd name="T34" fmla="*/ 13 w 20"/>
                  <a:gd name="T35" fmla="*/ 0 h 17"/>
                  <a:gd name="T36" fmla="*/ 15 w 20"/>
                  <a:gd name="T37" fmla="*/ 0 h 17"/>
                  <a:gd name="T38" fmla="*/ 16 w 20"/>
                  <a:gd name="T39" fmla="*/ 1 h 17"/>
                  <a:gd name="T40" fmla="*/ 17 w 20"/>
                  <a:gd name="T41" fmla="*/ 3 h 17"/>
                  <a:gd name="T42" fmla="*/ 17 w 20"/>
                  <a:gd name="T43" fmla="*/ 3 h 17"/>
                  <a:gd name="T44" fmla="*/ 18 w 20"/>
                  <a:gd name="T45" fmla="*/ 5 h 17"/>
                  <a:gd name="T46" fmla="*/ 18 w 20"/>
                  <a:gd name="T47" fmla="*/ 7 h 17"/>
                  <a:gd name="T48" fmla="*/ 18 w 20"/>
                  <a:gd name="T49" fmla="*/ 8 h 17"/>
                  <a:gd name="T50" fmla="*/ 18 w 20"/>
                  <a:gd name="T51" fmla="*/ 10 h 17"/>
                  <a:gd name="T52" fmla="*/ 17 w 20"/>
                  <a:gd name="T53" fmla="*/ 12 h 17"/>
                  <a:gd name="T54" fmla="*/ 16 w 20"/>
                  <a:gd name="T55" fmla="*/ 13 h 17"/>
                  <a:gd name="T56" fmla="*/ 15 w 20"/>
                  <a:gd name="T57" fmla="*/ 15 h 17"/>
                  <a:gd name="T58" fmla="*/ 13 w 20"/>
                  <a:gd name="T59" fmla="*/ 15 h 17"/>
                  <a:gd name="T60" fmla="*/ 13 w 20"/>
                  <a:gd name="T61" fmla="*/ 16 h 17"/>
                  <a:gd name="T62" fmla="*/ 12 w 20"/>
                  <a:gd name="T63" fmla="*/ 16 h 17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0"/>
                  <a:gd name="T97" fmla="*/ 0 h 17"/>
                  <a:gd name="T98" fmla="*/ 20 w 20"/>
                  <a:gd name="T99" fmla="*/ 17 h 17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0" h="17">
                    <a:moveTo>
                      <a:pt x="5" y="16"/>
                    </a:moveTo>
                    <a:lnTo>
                      <a:pt x="5" y="16"/>
                    </a:lnTo>
                    <a:lnTo>
                      <a:pt x="4" y="16"/>
                    </a:lnTo>
                    <a:lnTo>
                      <a:pt x="3" y="15"/>
                    </a:lnTo>
                    <a:lnTo>
                      <a:pt x="2" y="15"/>
                    </a:lnTo>
                    <a:lnTo>
                      <a:pt x="2" y="14"/>
                    </a:lnTo>
                    <a:lnTo>
                      <a:pt x="1" y="14"/>
                    </a:lnTo>
                    <a:lnTo>
                      <a:pt x="1" y="13"/>
                    </a:lnTo>
                    <a:lnTo>
                      <a:pt x="1" y="12"/>
                    </a:lnTo>
                    <a:lnTo>
                      <a:pt x="0" y="12"/>
                    </a:lnTo>
                    <a:lnTo>
                      <a:pt x="0" y="11"/>
                    </a:lnTo>
                    <a:lnTo>
                      <a:pt x="0" y="10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3"/>
                    </a:lnTo>
                    <a:lnTo>
                      <a:pt x="1" y="2"/>
                    </a:lnTo>
                    <a:lnTo>
                      <a:pt x="1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5" y="0"/>
                    </a:lnTo>
                    <a:lnTo>
                      <a:pt x="16" y="1"/>
                    </a:lnTo>
                    <a:lnTo>
                      <a:pt x="16" y="2"/>
                    </a:lnTo>
                    <a:lnTo>
                      <a:pt x="17" y="3"/>
                    </a:lnTo>
                    <a:lnTo>
                      <a:pt x="18" y="4"/>
                    </a:lnTo>
                    <a:lnTo>
                      <a:pt x="18" y="5"/>
                    </a:lnTo>
                    <a:lnTo>
                      <a:pt x="18" y="6"/>
                    </a:lnTo>
                    <a:lnTo>
                      <a:pt x="18" y="7"/>
                    </a:lnTo>
                    <a:lnTo>
                      <a:pt x="19" y="8"/>
                    </a:lnTo>
                    <a:lnTo>
                      <a:pt x="18" y="8"/>
                    </a:lnTo>
                    <a:lnTo>
                      <a:pt x="18" y="9"/>
                    </a:lnTo>
                    <a:lnTo>
                      <a:pt x="18" y="10"/>
                    </a:lnTo>
                    <a:lnTo>
                      <a:pt x="18" y="11"/>
                    </a:lnTo>
                    <a:lnTo>
                      <a:pt x="17" y="12"/>
                    </a:lnTo>
                    <a:lnTo>
                      <a:pt x="16" y="13"/>
                    </a:lnTo>
                    <a:lnTo>
                      <a:pt x="16" y="14"/>
                    </a:lnTo>
                    <a:lnTo>
                      <a:pt x="15" y="15"/>
                    </a:lnTo>
                    <a:lnTo>
                      <a:pt x="13" y="15"/>
                    </a:lnTo>
                    <a:lnTo>
                      <a:pt x="13" y="16"/>
                    </a:lnTo>
                    <a:lnTo>
                      <a:pt x="12" y="16"/>
                    </a:lnTo>
                    <a:lnTo>
                      <a:pt x="5" y="16"/>
                    </a:lnTo>
                  </a:path>
                </a:pathLst>
              </a:custGeom>
              <a:solidFill>
                <a:srgbClr val="666666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0" name="Freeform 83"/>
              <p:cNvSpPr>
                <a:spLocks/>
              </p:cNvSpPr>
              <p:nvPr/>
            </p:nvSpPr>
            <p:spPr bwMode="auto">
              <a:xfrm>
                <a:off x="3921" y="1489"/>
                <a:ext cx="17" cy="38"/>
              </a:xfrm>
              <a:custGeom>
                <a:avLst/>
                <a:gdLst>
                  <a:gd name="T0" fmla="*/ 8 w 17"/>
                  <a:gd name="T1" fmla="*/ 0 h 38"/>
                  <a:gd name="T2" fmla="*/ 0 w 17"/>
                  <a:gd name="T3" fmla="*/ 22 h 38"/>
                  <a:gd name="T4" fmla="*/ 16 w 17"/>
                  <a:gd name="T5" fmla="*/ 22 h 38"/>
                  <a:gd name="T6" fmla="*/ 16 w 17"/>
                  <a:gd name="T7" fmla="*/ 37 h 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38"/>
                  <a:gd name="T14" fmla="*/ 17 w 17"/>
                  <a:gd name="T15" fmla="*/ 38 h 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38">
                    <a:moveTo>
                      <a:pt x="8" y="0"/>
                    </a:moveTo>
                    <a:lnTo>
                      <a:pt x="0" y="22"/>
                    </a:lnTo>
                    <a:lnTo>
                      <a:pt x="16" y="22"/>
                    </a:lnTo>
                    <a:lnTo>
                      <a:pt x="16" y="37"/>
                    </a:lnTo>
                  </a:path>
                </a:pathLst>
              </a:custGeom>
              <a:noFill/>
              <a:ln w="12700" cap="rnd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1" name="Freeform 84"/>
              <p:cNvSpPr>
                <a:spLocks/>
              </p:cNvSpPr>
              <p:nvPr/>
            </p:nvSpPr>
            <p:spPr bwMode="auto">
              <a:xfrm>
                <a:off x="3979" y="1489"/>
                <a:ext cx="17" cy="72"/>
              </a:xfrm>
              <a:custGeom>
                <a:avLst/>
                <a:gdLst>
                  <a:gd name="T0" fmla="*/ 0 w 17"/>
                  <a:gd name="T1" fmla="*/ 0 h 72"/>
                  <a:gd name="T2" fmla="*/ 16 w 17"/>
                  <a:gd name="T3" fmla="*/ 22 h 72"/>
                  <a:gd name="T4" fmla="*/ 0 w 17"/>
                  <a:gd name="T5" fmla="*/ 22 h 72"/>
                  <a:gd name="T6" fmla="*/ 0 w 17"/>
                  <a:gd name="T7" fmla="*/ 71 h 7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72"/>
                  <a:gd name="T14" fmla="*/ 17 w 17"/>
                  <a:gd name="T15" fmla="*/ 72 h 7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72">
                    <a:moveTo>
                      <a:pt x="0" y="0"/>
                    </a:moveTo>
                    <a:lnTo>
                      <a:pt x="16" y="22"/>
                    </a:lnTo>
                    <a:lnTo>
                      <a:pt x="0" y="22"/>
                    </a:lnTo>
                    <a:lnTo>
                      <a:pt x="0" y="71"/>
                    </a:lnTo>
                  </a:path>
                </a:pathLst>
              </a:custGeom>
              <a:noFill/>
              <a:ln w="12700" cap="rnd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2" name="Freeform 85"/>
              <p:cNvSpPr>
                <a:spLocks/>
              </p:cNvSpPr>
              <p:nvPr/>
            </p:nvSpPr>
            <p:spPr bwMode="auto">
              <a:xfrm>
                <a:off x="3855" y="1532"/>
                <a:ext cx="250" cy="41"/>
              </a:xfrm>
              <a:custGeom>
                <a:avLst/>
                <a:gdLst>
                  <a:gd name="T0" fmla="*/ 0 w 250"/>
                  <a:gd name="T1" fmla="*/ 40 h 41"/>
                  <a:gd name="T2" fmla="*/ 249 w 250"/>
                  <a:gd name="T3" fmla="*/ 40 h 41"/>
                  <a:gd name="T4" fmla="*/ 240 w 250"/>
                  <a:gd name="T5" fmla="*/ 0 h 41"/>
                  <a:gd name="T6" fmla="*/ 10 w 250"/>
                  <a:gd name="T7" fmla="*/ 0 h 41"/>
                  <a:gd name="T8" fmla="*/ 0 w 250"/>
                  <a:gd name="T9" fmla="*/ 40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0"/>
                  <a:gd name="T16" fmla="*/ 0 h 41"/>
                  <a:gd name="T17" fmla="*/ 250 w 250"/>
                  <a:gd name="T18" fmla="*/ 41 h 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0" h="41">
                    <a:moveTo>
                      <a:pt x="0" y="40"/>
                    </a:moveTo>
                    <a:lnTo>
                      <a:pt x="249" y="40"/>
                    </a:lnTo>
                    <a:lnTo>
                      <a:pt x="240" y="0"/>
                    </a:lnTo>
                    <a:lnTo>
                      <a:pt x="10" y="0"/>
                    </a:lnTo>
                    <a:lnTo>
                      <a:pt x="0" y="40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3" name="Freeform 86"/>
              <p:cNvSpPr>
                <a:spLocks/>
              </p:cNvSpPr>
              <p:nvPr/>
            </p:nvSpPr>
            <p:spPr bwMode="auto">
              <a:xfrm>
                <a:off x="3855" y="1572"/>
                <a:ext cx="251" cy="17"/>
              </a:xfrm>
              <a:custGeom>
                <a:avLst/>
                <a:gdLst>
                  <a:gd name="T0" fmla="*/ 0 w 251"/>
                  <a:gd name="T1" fmla="*/ 16 h 17"/>
                  <a:gd name="T2" fmla="*/ 0 w 251"/>
                  <a:gd name="T3" fmla="*/ 0 h 17"/>
                  <a:gd name="T4" fmla="*/ 249 w 251"/>
                  <a:gd name="T5" fmla="*/ 0 h 17"/>
                  <a:gd name="T6" fmla="*/ 250 w 251"/>
                  <a:gd name="T7" fmla="*/ 16 h 17"/>
                  <a:gd name="T8" fmla="*/ 0 w 251"/>
                  <a:gd name="T9" fmla="*/ 16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1"/>
                  <a:gd name="T16" fmla="*/ 0 h 17"/>
                  <a:gd name="T17" fmla="*/ 251 w 251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1" h="17">
                    <a:moveTo>
                      <a:pt x="0" y="16"/>
                    </a:moveTo>
                    <a:lnTo>
                      <a:pt x="0" y="0"/>
                    </a:lnTo>
                    <a:lnTo>
                      <a:pt x="249" y="0"/>
                    </a:lnTo>
                    <a:lnTo>
                      <a:pt x="250" y="16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CCCC6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4" name="Freeform 87"/>
              <p:cNvSpPr>
                <a:spLocks/>
              </p:cNvSpPr>
              <p:nvPr/>
            </p:nvSpPr>
            <p:spPr bwMode="auto">
              <a:xfrm>
                <a:off x="3872" y="1538"/>
                <a:ext cx="223" cy="28"/>
              </a:xfrm>
              <a:custGeom>
                <a:avLst/>
                <a:gdLst>
                  <a:gd name="T0" fmla="*/ 0 w 223"/>
                  <a:gd name="T1" fmla="*/ 27 h 28"/>
                  <a:gd name="T2" fmla="*/ 222 w 223"/>
                  <a:gd name="T3" fmla="*/ 27 h 28"/>
                  <a:gd name="T4" fmla="*/ 214 w 223"/>
                  <a:gd name="T5" fmla="*/ 0 h 28"/>
                  <a:gd name="T6" fmla="*/ 8 w 223"/>
                  <a:gd name="T7" fmla="*/ 0 h 28"/>
                  <a:gd name="T8" fmla="*/ 0 w 223"/>
                  <a:gd name="T9" fmla="*/ 27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3"/>
                  <a:gd name="T16" fmla="*/ 0 h 28"/>
                  <a:gd name="T17" fmla="*/ 223 w 223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3" h="28">
                    <a:moveTo>
                      <a:pt x="0" y="27"/>
                    </a:moveTo>
                    <a:lnTo>
                      <a:pt x="222" y="27"/>
                    </a:lnTo>
                    <a:lnTo>
                      <a:pt x="214" y="0"/>
                    </a:lnTo>
                    <a:lnTo>
                      <a:pt x="8" y="0"/>
                    </a:lnTo>
                    <a:lnTo>
                      <a:pt x="0" y="27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9F9FA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444" name="Group 88"/>
            <p:cNvGrpSpPr>
              <a:grpSpLocks/>
            </p:cNvGrpSpPr>
            <p:nvPr/>
          </p:nvGrpSpPr>
          <p:grpSpPr bwMode="auto">
            <a:xfrm>
              <a:off x="4925" y="1956"/>
              <a:ext cx="463" cy="381"/>
              <a:chOff x="3840" y="1279"/>
              <a:chExt cx="266" cy="310"/>
            </a:xfrm>
          </p:grpSpPr>
          <p:sp>
            <p:nvSpPr>
              <p:cNvPr id="18463" name="Freeform 89"/>
              <p:cNvSpPr>
                <a:spLocks/>
              </p:cNvSpPr>
              <p:nvPr/>
            </p:nvSpPr>
            <p:spPr bwMode="auto">
              <a:xfrm>
                <a:off x="3848" y="1548"/>
                <a:ext cx="206" cy="20"/>
              </a:xfrm>
              <a:custGeom>
                <a:avLst/>
                <a:gdLst>
                  <a:gd name="T0" fmla="*/ 0 w 206"/>
                  <a:gd name="T1" fmla="*/ 19 h 20"/>
                  <a:gd name="T2" fmla="*/ 0 w 206"/>
                  <a:gd name="T3" fmla="*/ 0 h 20"/>
                  <a:gd name="T4" fmla="*/ 205 w 206"/>
                  <a:gd name="T5" fmla="*/ 0 h 20"/>
                  <a:gd name="T6" fmla="*/ 205 w 206"/>
                  <a:gd name="T7" fmla="*/ 19 h 20"/>
                  <a:gd name="T8" fmla="*/ 0 w 206"/>
                  <a:gd name="T9" fmla="*/ 19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6"/>
                  <a:gd name="T16" fmla="*/ 0 h 20"/>
                  <a:gd name="T17" fmla="*/ 206 w 206"/>
                  <a:gd name="T18" fmla="*/ 20 h 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6" h="20">
                    <a:moveTo>
                      <a:pt x="0" y="19"/>
                    </a:moveTo>
                    <a:lnTo>
                      <a:pt x="0" y="0"/>
                    </a:lnTo>
                    <a:lnTo>
                      <a:pt x="205" y="0"/>
                    </a:lnTo>
                    <a:lnTo>
                      <a:pt x="205" y="19"/>
                    </a:lnTo>
                    <a:lnTo>
                      <a:pt x="0" y="19"/>
                    </a:lnTo>
                  </a:path>
                </a:pathLst>
              </a:custGeom>
              <a:solidFill>
                <a:srgbClr val="666666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64" name="Freeform 90"/>
              <p:cNvSpPr>
                <a:spLocks/>
              </p:cNvSpPr>
              <p:nvPr/>
            </p:nvSpPr>
            <p:spPr bwMode="auto">
              <a:xfrm>
                <a:off x="3840" y="1453"/>
                <a:ext cx="220" cy="34"/>
              </a:xfrm>
              <a:custGeom>
                <a:avLst/>
                <a:gdLst>
                  <a:gd name="T0" fmla="*/ 189 w 220"/>
                  <a:gd name="T1" fmla="*/ 0 h 34"/>
                  <a:gd name="T2" fmla="*/ 219 w 220"/>
                  <a:gd name="T3" fmla="*/ 33 h 34"/>
                  <a:gd name="T4" fmla="*/ 0 w 220"/>
                  <a:gd name="T5" fmla="*/ 33 h 34"/>
                  <a:gd name="T6" fmla="*/ 29 w 220"/>
                  <a:gd name="T7" fmla="*/ 0 h 34"/>
                  <a:gd name="T8" fmla="*/ 189 w 220"/>
                  <a:gd name="T9" fmla="*/ 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0"/>
                  <a:gd name="T16" fmla="*/ 0 h 34"/>
                  <a:gd name="T17" fmla="*/ 220 w 220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0" h="34">
                    <a:moveTo>
                      <a:pt x="189" y="0"/>
                    </a:moveTo>
                    <a:lnTo>
                      <a:pt x="219" y="33"/>
                    </a:lnTo>
                    <a:lnTo>
                      <a:pt x="0" y="33"/>
                    </a:lnTo>
                    <a:lnTo>
                      <a:pt x="29" y="0"/>
                    </a:lnTo>
                    <a:lnTo>
                      <a:pt x="189" y="0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65" name="Freeform 91"/>
              <p:cNvSpPr>
                <a:spLocks/>
              </p:cNvSpPr>
              <p:nvPr/>
            </p:nvSpPr>
            <p:spPr bwMode="auto">
              <a:xfrm>
                <a:off x="3897" y="1449"/>
                <a:ext cx="104" cy="24"/>
              </a:xfrm>
              <a:custGeom>
                <a:avLst/>
                <a:gdLst>
                  <a:gd name="T0" fmla="*/ 102 w 104"/>
                  <a:gd name="T1" fmla="*/ 10 h 24"/>
                  <a:gd name="T2" fmla="*/ 101 w 104"/>
                  <a:gd name="T3" fmla="*/ 8 h 24"/>
                  <a:gd name="T4" fmla="*/ 97 w 104"/>
                  <a:gd name="T5" fmla="*/ 6 h 24"/>
                  <a:gd name="T6" fmla="*/ 93 w 104"/>
                  <a:gd name="T7" fmla="*/ 4 h 24"/>
                  <a:gd name="T8" fmla="*/ 87 w 104"/>
                  <a:gd name="T9" fmla="*/ 3 h 24"/>
                  <a:gd name="T10" fmla="*/ 80 w 104"/>
                  <a:gd name="T11" fmla="*/ 2 h 24"/>
                  <a:gd name="T12" fmla="*/ 72 w 104"/>
                  <a:gd name="T13" fmla="*/ 1 h 24"/>
                  <a:gd name="T14" fmla="*/ 64 w 104"/>
                  <a:gd name="T15" fmla="*/ 0 h 24"/>
                  <a:gd name="T16" fmla="*/ 55 w 104"/>
                  <a:gd name="T17" fmla="*/ 0 h 24"/>
                  <a:gd name="T18" fmla="*/ 46 w 104"/>
                  <a:gd name="T19" fmla="*/ 0 h 24"/>
                  <a:gd name="T20" fmla="*/ 37 w 104"/>
                  <a:gd name="T21" fmla="*/ 0 h 24"/>
                  <a:gd name="T22" fmla="*/ 29 w 104"/>
                  <a:gd name="T23" fmla="*/ 1 h 24"/>
                  <a:gd name="T24" fmla="*/ 21 w 104"/>
                  <a:gd name="T25" fmla="*/ 2 h 24"/>
                  <a:gd name="T26" fmla="*/ 14 w 104"/>
                  <a:gd name="T27" fmla="*/ 3 h 24"/>
                  <a:gd name="T28" fmla="*/ 8 w 104"/>
                  <a:gd name="T29" fmla="*/ 4 h 24"/>
                  <a:gd name="T30" fmla="*/ 4 w 104"/>
                  <a:gd name="T31" fmla="*/ 6 h 24"/>
                  <a:gd name="T32" fmla="*/ 1 w 104"/>
                  <a:gd name="T33" fmla="*/ 8 h 24"/>
                  <a:gd name="T34" fmla="*/ 0 w 104"/>
                  <a:gd name="T35" fmla="*/ 10 h 24"/>
                  <a:gd name="T36" fmla="*/ 0 w 104"/>
                  <a:gd name="T37" fmla="*/ 12 h 24"/>
                  <a:gd name="T38" fmla="*/ 1 w 104"/>
                  <a:gd name="T39" fmla="*/ 14 h 24"/>
                  <a:gd name="T40" fmla="*/ 4 w 104"/>
                  <a:gd name="T41" fmla="*/ 16 h 24"/>
                  <a:gd name="T42" fmla="*/ 8 w 104"/>
                  <a:gd name="T43" fmla="*/ 17 h 24"/>
                  <a:gd name="T44" fmla="*/ 14 w 104"/>
                  <a:gd name="T45" fmla="*/ 19 h 24"/>
                  <a:gd name="T46" fmla="*/ 21 w 104"/>
                  <a:gd name="T47" fmla="*/ 20 h 24"/>
                  <a:gd name="T48" fmla="*/ 29 w 104"/>
                  <a:gd name="T49" fmla="*/ 21 h 24"/>
                  <a:gd name="T50" fmla="*/ 37 w 104"/>
                  <a:gd name="T51" fmla="*/ 22 h 24"/>
                  <a:gd name="T52" fmla="*/ 46 w 104"/>
                  <a:gd name="T53" fmla="*/ 23 h 24"/>
                  <a:gd name="T54" fmla="*/ 55 w 104"/>
                  <a:gd name="T55" fmla="*/ 23 h 24"/>
                  <a:gd name="T56" fmla="*/ 64 w 104"/>
                  <a:gd name="T57" fmla="*/ 22 h 24"/>
                  <a:gd name="T58" fmla="*/ 72 w 104"/>
                  <a:gd name="T59" fmla="*/ 21 h 24"/>
                  <a:gd name="T60" fmla="*/ 80 w 104"/>
                  <a:gd name="T61" fmla="*/ 20 h 24"/>
                  <a:gd name="T62" fmla="*/ 87 w 104"/>
                  <a:gd name="T63" fmla="*/ 19 h 24"/>
                  <a:gd name="T64" fmla="*/ 93 w 104"/>
                  <a:gd name="T65" fmla="*/ 17 h 24"/>
                  <a:gd name="T66" fmla="*/ 97 w 104"/>
                  <a:gd name="T67" fmla="*/ 16 h 24"/>
                  <a:gd name="T68" fmla="*/ 101 w 104"/>
                  <a:gd name="T69" fmla="*/ 14 h 24"/>
                  <a:gd name="T70" fmla="*/ 102 w 104"/>
                  <a:gd name="T71" fmla="*/ 12 h 2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04"/>
                  <a:gd name="T109" fmla="*/ 0 h 24"/>
                  <a:gd name="T110" fmla="*/ 104 w 104"/>
                  <a:gd name="T111" fmla="*/ 24 h 2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04" h="24">
                    <a:moveTo>
                      <a:pt x="103" y="11"/>
                    </a:moveTo>
                    <a:lnTo>
                      <a:pt x="102" y="10"/>
                    </a:lnTo>
                    <a:lnTo>
                      <a:pt x="102" y="9"/>
                    </a:lnTo>
                    <a:lnTo>
                      <a:pt x="101" y="8"/>
                    </a:lnTo>
                    <a:lnTo>
                      <a:pt x="99" y="7"/>
                    </a:lnTo>
                    <a:lnTo>
                      <a:pt x="97" y="6"/>
                    </a:lnTo>
                    <a:lnTo>
                      <a:pt x="95" y="6"/>
                    </a:lnTo>
                    <a:lnTo>
                      <a:pt x="93" y="4"/>
                    </a:lnTo>
                    <a:lnTo>
                      <a:pt x="90" y="4"/>
                    </a:lnTo>
                    <a:lnTo>
                      <a:pt x="87" y="3"/>
                    </a:lnTo>
                    <a:lnTo>
                      <a:pt x="84" y="2"/>
                    </a:lnTo>
                    <a:lnTo>
                      <a:pt x="80" y="2"/>
                    </a:lnTo>
                    <a:lnTo>
                      <a:pt x="76" y="1"/>
                    </a:lnTo>
                    <a:lnTo>
                      <a:pt x="72" y="1"/>
                    </a:lnTo>
                    <a:lnTo>
                      <a:pt x="69" y="0"/>
                    </a:lnTo>
                    <a:lnTo>
                      <a:pt x="64" y="0"/>
                    </a:lnTo>
                    <a:lnTo>
                      <a:pt x="60" y="0"/>
                    </a:lnTo>
                    <a:lnTo>
                      <a:pt x="55" y="0"/>
                    </a:lnTo>
                    <a:lnTo>
                      <a:pt x="51" y="0"/>
                    </a:lnTo>
                    <a:lnTo>
                      <a:pt x="46" y="0"/>
                    </a:lnTo>
                    <a:lnTo>
                      <a:pt x="42" y="0"/>
                    </a:lnTo>
                    <a:lnTo>
                      <a:pt x="37" y="0"/>
                    </a:lnTo>
                    <a:lnTo>
                      <a:pt x="33" y="0"/>
                    </a:lnTo>
                    <a:lnTo>
                      <a:pt x="29" y="1"/>
                    </a:lnTo>
                    <a:lnTo>
                      <a:pt x="25" y="1"/>
                    </a:lnTo>
                    <a:lnTo>
                      <a:pt x="21" y="2"/>
                    </a:lnTo>
                    <a:lnTo>
                      <a:pt x="17" y="2"/>
                    </a:lnTo>
                    <a:lnTo>
                      <a:pt x="14" y="3"/>
                    </a:lnTo>
                    <a:lnTo>
                      <a:pt x="12" y="4"/>
                    </a:lnTo>
                    <a:lnTo>
                      <a:pt x="8" y="4"/>
                    </a:lnTo>
                    <a:lnTo>
                      <a:pt x="6" y="6"/>
                    </a:lnTo>
                    <a:lnTo>
                      <a:pt x="4" y="6"/>
                    </a:lnTo>
                    <a:lnTo>
                      <a:pt x="3" y="7"/>
                    </a:lnTo>
                    <a:lnTo>
                      <a:pt x="1" y="8"/>
                    </a:lnTo>
                    <a:lnTo>
                      <a:pt x="0" y="9"/>
                    </a:lnTo>
                    <a:lnTo>
                      <a:pt x="0" y="10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3"/>
                    </a:lnTo>
                    <a:lnTo>
                      <a:pt x="1" y="14"/>
                    </a:lnTo>
                    <a:lnTo>
                      <a:pt x="3" y="15"/>
                    </a:lnTo>
                    <a:lnTo>
                      <a:pt x="4" y="16"/>
                    </a:lnTo>
                    <a:lnTo>
                      <a:pt x="6" y="17"/>
                    </a:lnTo>
                    <a:lnTo>
                      <a:pt x="8" y="17"/>
                    </a:lnTo>
                    <a:lnTo>
                      <a:pt x="12" y="18"/>
                    </a:lnTo>
                    <a:lnTo>
                      <a:pt x="14" y="19"/>
                    </a:lnTo>
                    <a:lnTo>
                      <a:pt x="17" y="20"/>
                    </a:lnTo>
                    <a:lnTo>
                      <a:pt x="21" y="20"/>
                    </a:lnTo>
                    <a:lnTo>
                      <a:pt x="25" y="21"/>
                    </a:lnTo>
                    <a:lnTo>
                      <a:pt x="29" y="21"/>
                    </a:lnTo>
                    <a:lnTo>
                      <a:pt x="33" y="22"/>
                    </a:lnTo>
                    <a:lnTo>
                      <a:pt x="37" y="22"/>
                    </a:lnTo>
                    <a:lnTo>
                      <a:pt x="42" y="22"/>
                    </a:lnTo>
                    <a:lnTo>
                      <a:pt x="46" y="23"/>
                    </a:lnTo>
                    <a:lnTo>
                      <a:pt x="51" y="23"/>
                    </a:lnTo>
                    <a:lnTo>
                      <a:pt x="55" y="23"/>
                    </a:lnTo>
                    <a:lnTo>
                      <a:pt x="60" y="22"/>
                    </a:lnTo>
                    <a:lnTo>
                      <a:pt x="64" y="22"/>
                    </a:lnTo>
                    <a:lnTo>
                      <a:pt x="69" y="22"/>
                    </a:lnTo>
                    <a:lnTo>
                      <a:pt x="72" y="21"/>
                    </a:lnTo>
                    <a:lnTo>
                      <a:pt x="76" y="21"/>
                    </a:lnTo>
                    <a:lnTo>
                      <a:pt x="80" y="20"/>
                    </a:lnTo>
                    <a:lnTo>
                      <a:pt x="84" y="20"/>
                    </a:lnTo>
                    <a:lnTo>
                      <a:pt x="87" y="19"/>
                    </a:lnTo>
                    <a:lnTo>
                      <a:pt x="90" y="18"/>
                    </a:lnTo>
                    <a:lnTo>
                      <a:pt x="93" y="17"/>
                    </a:lnTo>
                    <a:lnTo>
                      <a:pt x="95" y="17"/>
                    </a:lnTo>
                    <a:lnTo>
                      <a:pt x="97" y="16"/>
                    </a:lnTo>
                    <a:lnTo>
                      <a:pt x="99" y="15"/>
                    </a:lnTo>
                    <a:lnTo>
                      <a:pt x="101" y="14"/>
                    </a:lnTo>
                    <a:lnTo>
                      <a:pt x="102" y="13"/>
                    </a:lnTo>
                    <a:lnTo>
                      <a:pt x="102" y="12"/>
                    </a:lnTo>
                    <a:lnTo>
                      <a:pt x="103" y="11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66" name="Freeform 92"/>
              <p:cNvSpPr>
                <a:spLocks/>
              </p:cNvSpPr>
              <p:nvPr/>
            </p:nvSpPr>
            <p:spPr bwMode="auto">
              <a:xfrm>
                <a:off x="3897" y="1461"/>
                <a:ext cx="104" cy="17"/>
              </a:xfrm>
              <a:custGeom>
                <a:avLst/>
                <a:gdLst>
                  <a:gd name="T0" fmla="*/ 102 w 104"/>
                  <a:gd name="T1" fmla="*/ 6 h 17"/>
                  <a:gd name="T2" fmla="*/ 101 w 104"/>
                  <a:gd name="T3" fmla="*/ 8 h 17"/>
                  <a:gd name="T4" fmla="*/ 97 w 104"/>
                  <a:gd name="T5" fmla="*/ 10 h 17"/>
                  <a:gd name="T6" fmla="*/ 93 w 104"/>
                  <a:gd name="T7" fmla="*/ 11 h 17"/>
                  <a:gd name="T8" fmla="*/ 87 w 104"/>
                  <a:gd name="T9" fmla="*/ 12 h 17"/>
                  <a:gd name="T10" fmla="*/ 80 w 104"/>
                  <a:gd name="T11" fmla="*/ 14 h 17"/>
                  <a:gd name="T12" fmla="*/ 72 w 104"/>
                  <a:gd name="T13" fmla="*/ 14 h 17"/>
                  <a:gd name="T14" fmla="*/ 64 w 104"/>
                  <a:gd name="T15" fmla="*/ 15 h 17"/>
                  <a:gd name="T16" fmla="*/ 55 w 104"/>
                  <a:gd name="T17" fmla="*/ 16 h 17"/>
                  <a:gd name="T18" fmla="*/ 46 w 104"/>
                  <a:gd name="T19" fmla="*/ 16 h 17"/>
                  <a:gd name="T20" fmla="*/ 37 w 104"/>
                  <a:gd name="T21" fmla="*/ 15 h 17"/>
                  <a:gd name="T22" fmla="*/ 29 w 104"/>
                  <a:gd name="T23" fmla="*/ 14 h 17"/>
                  <a:gd name="T24" fmla="*/ 21 w 104"/>
                  <a:gd name="T25" fmla="*/ 14 h 17"/>
                  <a:gd name="T26" fmla="*/ 14 w 104"/>
                  <a:gd name="T27" fmla="*/ 12 h 17"/>
                  <a:gd name="T28" fmla="*/ 8 w 104"/>
                  <a:gd name="T29" fmla="*/ 11 h 17"/>
                  <a:gd name="T30" fmla="*/ 4 w 104"/>
                  <a:gd name="T31" fmla="*/ 10 h 17"/>
                  <a:gd name="T32" fmla="*/ 1 w 104"/>
                  <a:gd name="T33" fmla="*/ 8 h 17"/>
                  <a:gd name="T34" fmla="*/ 0 w 104"/>
                  <a:gd name="T35" fmla="*/ 6 h 17"/>
                  <a:gd name="T36" fmla="*/ 0 w 104"/>
                  <a:gd name="T37" fmla="*/ 0 h 17"/>
                  <a:gd name="T38" fmla="*/ 0 w 104"/>
                  <a:gd name="T39" fmla="*/ 2 h 17"/>
                  <a:gd name="T40" fmla="*/ 3 w 104"/>
                  <a:gd name="T41" fmla="*/ 4 h 17"/>
                  <a:gd name="T42" fmla="*/ 6 w 104"/>
                  <a:gd name="T43" fmla="*/ 5 h 17"/>
                  <a:gd name="T44" fmla="*/ 12 w 104"/>
                  <a:gd name="T45" fmla="*/ 6 h 17"/>
                  <a:gd name="T46" fmla="*/ 17 w 104"/>
                  <a:gd name="T47" fmla="*/ 8 h 17"/>
                  <a:gd name="T48" fmla="*/ 25 w 104"/>
                  <a:gd name="T49" fmla="*/ 9 h 17"/>
                  <a:gd name="T50" fmla="*/ 33 w 104"/>
                  <a:gd name="T51" fmla="*/ 10 h 17"/>
                  <a:gd name="T52" fmla="*/ 42 w 104"/>
                  <a:gd name="T53" fmla="*/ 10 h 17"/>
                  <a:gd name="T54" fmla="*/ 51 w 104"/>
                  <a:gd name="T55" fmla="*/ 10 h 17"/>
                  <a:gd name="T56" fmla="*/ 60 w 104"/>
                  <a:gd name="T57" fmla="*/ 10 h 17"/>
                  <a:gd name="T58" fmla="*/ 69 w 104"/>
                  <a:gd name="T59" fmla="*/ 10 h 17"/>
                  <a:gd name="T60" fmla="*/ 76 w 104"/>
                  <a:gd name="T61" fmla="*/ 9 h 17"/>
                  <a:gd name="T62" fmla="*/ 84 w 104"/>
                  <a:gd name="T63" fmla="*/ 8 h 17"/>
                  <a:gd name="T64" fmla="*/ 90 w 104"/>
                  <a:gd name="T65" fmla="*/ 6 h 17"/>
                  <a:gd name="T66" fmla="*/ 95 w 104"/>
                  <a:gd name="T67" fmla="*/ 5 h 17"/>
                  <a:gd name="T68" fmla="*/ 99 w 104"/>
                  <a:gd name="T69" fmla="*/ 4 h 17"/>
                  <a:gd name="T70" fmla="*/ 102 w 104"/>
                  <a:gd name="T71" fmla="*/ 2 h 17"/>
                  <a:gd name="T72" fmla="*/ 103 w 104"/>
                  <a:gd name="T73" fmla="*/ 0 h 1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04"/>
                  <a:gd name="T112" fmla="*/ 0 h 17"/>
                  <a:gd name="T113" fmla="*/ 104 w 104"/>
                  <a:gd name="T114" fmla="*/ 17 h 1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04" h="17">
                    <a:moveTo>
                      <a:pt x="103" y="5"/>
                    </a:moveTo>
                    <a:lnTo>
                      <a:pt x="102" y="6"/>
                    </a:lnTo>
                    <a:lnTo>
                      <a:pt x="102" y="7"/>
                    </a:lnTo>
                    <a:lnTo>
                      <a:pt x="101" y="8"/>
                    </a:lnTo>
                    <a:lnTo>
                      <a:pt x="99" y="8"/>
                    </a:lnTo>
                    <a:lnTo>
                      <a:pt x="97" y="10"/>
                    </a:lnTo>
                    <a:lnTo>
                      <a:pt x="95" y="10"/>
                    </a:lnTo>
                    <a:lnTo>
                      <a:pt x="93" y="11"/>
                    </a:lnTo>
                    <a:lnTo>
                      <a:pt x="90" y="12"/>
                    </a:lnTo>
                    <a:lnTo>
                      <a:pt x="87" y="12"/>
                    </a:lnTo>
                    <a:lnTo>
                      <a:pt x="84" y="13"/>
                    </a:lnTo>
                    <a:lnTo>
                      <a:pt x="80" y="14"/>
                    </a:lnTo>
                    <a:lnTo>
                      <a:pt x="76" y="14"/>
                    </a:lnTo>
                    <a:lnTo>
                      <a:pt x="72" y="14"/>
                    </a:lnTo>
                    <a:lnTo>
                      <a:pt x="69" y="15"/>
                    </a:lnTo>
                    <a:lnTo>
                      <a:pt x="64" y="15"/>
                    </a:lnTo>
                    <a:lnTo>
                      <a:pt x="60" y="16"/>
                    </a:lnTo>
                    <a:lnTo>
                      <a:pt x="55" y="16"/>
                    </a:lnTo>
                    <a:lnTo>
                      <a:pt x="51" y="16"/>
                    </a:lnTo>
                    <a:lnTo>
                      <a:pt x="46" y="16"/>
                    </a:lnTo>
                    <a:lnTo>
                      <a:pt x="42" y="16"/>
                    </a:lnTo>
                    <a:lnTo>
                      <a:pt x="37" y="15"/>
                    </a:lnTo>
                    <a:lnTo>
                      <a:pt x="33" y="15"/>
                    </a:lnTo>
                    <a:lnTo>
                      <a:pt x="29" y="14"/>
                    </a:lnTo>
                    <a:lnTo>
                      <a:pt x="25" y="14"/>
                    </a:lnTo>
                    <a:lnTo>
                      <a:pt x="21" y="14"/>
                    </a:lnTo>
                    <a:lnTo>
                      <a:pt x="17" y="13"/>
                    </a:lnTo>
                    <a:lnTo>
                      <a:pt x="14" y="12"/>
                    </a:lnTo>
                    <a:lnTo>
                      <a:pt x="12" y="12"/>
                    </a:lnTo>
                    <a:lnTo>
                      <a:pt x="8" y="11"/>
                    </a:lnTo>
                    <a:lnTo>
                      <a:pt x="6" y="10"/>
                    </a:lnTo>
                    <a:lnTo>
                      <a:pt x="4" y="10"/>
                    </a:lnTo>
                    <a:lnTo>
                      <a:pt x="3" y="8"/>
                    </a:lnTo>
                    <a:lnTo>
                      <a:pt x="1" y="8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1" y="2"/>
                    </a:lnTo>
                    <a:lnTo>
                      <a:pt x="3" y="4"/>
                    </a:lnTo>
                    <a:lnTo>
                      <a:pt x="4" y="4"/>
                    </a:lnTo>
                    <a:lnTo>
                      <a:pt x="6" y="5"/>
                    </a:lnTo>
                    <a:lnTo>
                      <a:pt x="8" y="6"/>
                    </a:lnTo>
                    <a:lnTo>
                      <a:pt x="12" y="6"/>
                    </a:lnTo>
                    <a:lnTo>
                      <a:pt x="14" y="7"/>
                    </a:lnTo>
                    <a:lnTo>
                      <a:pt x="17" y="8"/>
                    </a:lnTo>
                    <a:lnTo>
                      <a:pt x="21" y="8"/>
                    </a:lnTo>
                    <a:lnTo>
                      <a:pt x="25" y="9"/>
                    </a:lnTo>
                    <a:lnTo>
                      <a:pt x="29" y="10"/>
                    </a:lnTo>
                    <a:lnTo>
                      <a:pt x="33" y="10"/>
                    </a:lnTo>
                    <a:lnTo>
                      <a:pt x="37" y="10"/>
                    </a:lnTo>
                    <a:lnTo>
                      <a:pt x="42" y="10"/>
                    </a:lnTo>
                    <a:lnTo>
                      <a:pt x="46" y="10"/>
                    </a:lnTo>
                    <a:lnTo>
                      <a:pt x="51" y="10"/>
                    </a:lnTo>
                    <a:lnTo>
                      <a:pt x="55" y="10"/>
                    </a:lnTo>
                    <a:lnTo>
                      <a:pt x="60" y="10"/>
                    </a:lnTo>
                    <a:lnTo>
                      <a:pt x="64" y="10"/>
                    </a:lnTo>
                    <a:lnTo>
                      <a:pt x="69" y="10"/>
                    </a:lnTo>
                    <a:lnTo>
                      <a:pt x="72" y="10"/>
                    </a:lnTo>
                    <a:lnTo>
                      <a:pt x="76" y="9"/>
                    </a:lnTo>
                    <a:lnTo>
                      <a:pt x="80" y="8"/>
                    </a:lnTo>
                    <a:lnTo>
                      <a:pt x="84" y="8"/>
                    </a:lnTo>
                    <a:lnTo>
                      <a:pt x="87" y="7"/>
                    </a:lnTo>
                    <a:lnTo>
                      <a:pt x="90" y="6"/>
                    </a:lnTo>
                    <a:lnTo>
                      <a:pt x="93" y="6"/>
                    </a:lnTo>
                    <a:lnTo>
                      <a:pt x="95" y="5"/>
                    </a:lnTo>
                    <a:lnTo>
                      <a:pt x="97" y="4"/>
                    </a:lnTo>
                    <a:lnTo>
                      <a:pt x="99" y="4"/>
                    </a:lnTo>
                    <a:lnTo>
                      <a:pt x="101" y="2"/>
                    </a:lnTo>
                    <a:lnTo>
                      <a:pt x="102" y="2"/>
                    </a:lnTo>
                    <a:lnTo>
                      <a:pt x="102" y="1"/>
                    </a:lnTo>
                    <a:lnTo>
                      <a:pt x="103" y="0"/>
                    </a:lnTo>
                    <a:lnTo>
                      <a:pt x="103" y="5"/>
                    </a:lnTo>
                  </a:path>
                </a:pathLst>
              </a:custGeom>
              <a:solidFill>
                <a:srgbClr val="666666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67" name="Freeform 93"/>
              <p:cNvSpPr>
                <a:spLocks/>
              </p:cNvSpPr>
              <p:nvPr/>
            </p:nvSpPr>
            <p:spPr bwMode="auto">
              <a:xfrm>
                <a:off x="3840" y="1486"/>
                <a:ext cx="220" cy="77"/>
              </a:xfrm>
              <a:custGeom>
                <a:avLst/>
                <a:gdLst>
                  <a:gd name="T0" fmla="*/ 0 w 220"/>
                  <a:gd name="T1" fmla="*/ 76 h 77"/>
                  <a:gd name="T2" fmla="*/ 219 w 220"/>
                  <a:gd name="T3" fmla="*/ 76 h 77"/>
                  <a:gd name="T4" fmla="*/ 219 w 220"/>
                  <a:gd name="T5" fmla="*/ 0 h 77"/>
                  <a:gd name="T6" fmla="*/ 0 w 220"/>
                  <a:gd name="T7" fmla="*/ 0 h 77"/>
                  <a:gd name="T8" fmla="*/ 0 w 220"/>
                  <a:gd name="T9" fmla="*/ 76 h 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0"/>
                  <a:gd name="T16" fmla="*/ 0 h 77"/>
                  <a:gd name="T17" fmla="*/ 220 w 220"/>
                  <a:gd name="T18" fmla="*/ 77 h 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0" h="77">
                    <a:moveTo>
                      <a:pt x="0" y="76"/>
                    </a:moveTo>
                    <a:lnTo>
                      <a:pt x="219" y="76"/>
                    </a:lnTo>
                    <a:lnTo>
                      <a:pt x="219" y="0"/>
                    </a:lnTo>
                    <a:lnTo>
                      <a:pt x="0" y="0"/>
                    </a:lnTo>
                    <a:lnTo>
                      <a:pt x="0" y="76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68" name="Freeform 94"/>
              <p:cNvSpPr>
                <a:spLocks/>
              </p:cNvSpPr>
              <p:nvPr/>
            </p:nvSpPr>
            <p:spPr bwMode="auto">
              <a:xfrm>
                <a:off x="3875" y="1449"/>
                <a:ext cx="69" cy="17"/>
              </a:xfrm>
              <a:custGeom>
                <a:avLst/>
                <a:gdLst>
                  <a:gd name="T0" fmla="*/ 0 w 69"/>
                  <a:gd name="T1" fmla="*/ 16 h 17"/>
                  <a:gd name="T2" fmla="*/ 0 w 69"/>
                  <a:gd name="T3" fmla="*/ 0 h 17"/>
                  <a:gd name="T4" fmla="*/ 68 w 69"/>
                  <a:gd name="T5" fmla="*/ 0 h 17"/>
                  <a:gd name="T6" fmla="*/ 68 w 69"/>
                  <a:gd name="T7" fmla="*/ 16 h 17"/>
                  <a:gd name="T8" fmla="*/ 0 w 69"/>
                  <a:gd name="T9" fmla="*/ 16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9"/>
                  <a:gd name="T16" fmla="*/ 0 h 17"/>
                  <a:gd name="T17" fmla="*/ 69 w 69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9" h="17">
                    <a:moveTo>
                      <a:pt x="0" y="16"/>
                    </a:moveTo>
                    <a:lnTo>
                      <a:pt x="0" y="0"/>
                    </a:lnTo>
                    <a:lnTo>
                      <a:pt x="68" y="0"/>
                    </a:lnTo>
                    <a:lnTo>
                      <a:pt x="68" y="16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69" name="Freeform 95"/>
              <p:cNvSpPr>
                <a:spLocks/>
              </p:cNvSpPr>
              <p:nvPr/>
            </p:nvSpPr>
            <p:spPr bwMode="auto">
              <a:xfrm>
                <a:off x="3931" y="1450"/>
                <a:ext cx="94" cy="17"/>
              </a:xfrm>
              <a:custGeom>
                <a:avLst/>
                <a:gdLst>
                  <a:gd name="T0" fmla="*/ 0 w 94"/>
                  <a:gd name="T1" fmla="*/ 16 h 17"/>
                  <a:gd name="T2" fmla="*/ 0 w 94"/>
                  <a:gd name="T3" fmla="*/ 0 h 17"/>
                  <a:gd name="T4" fmla="*/ 93 w 94"/>
                  <a:gd name="T5" fmla="*/ 0 h 17"/>
                  <a:gd name="T6" fmla="*/ 93 w 94"/>
                  <a:gd name="T7" fmla="*/ 16 h 17"/>
                  <a:gd name="T8" fmla="*/ 0 w 94"/>
                  <a:gd name="T9" fmla="*/ 16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4"/>
                  <a:gd name="T16" fmla="*/ 0 h 17"/>
                  <a:gd name="T17" fmla="*/ 94 w 9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4" h="17">
                    <a:moveTo>
                      <a:pt x="0" y="16"/>
                    </a:moveTo>
                    <a:lnTo>
                      <a:pt x="0" y="0"/>
                    </a:lnTo>
                    <a:lnTo>
                      <a:pt x="93" y="0"/>
                    </a:lnTo>
                    <a:lnTo>
                      <a:pt x="93" y="16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70" name="Freeform 96"/>
              <p:cNvSpPr>
                <a:spLocks/>
              </p:cNvSpPr>
              <p:nvPr/>
            </p:nvSpPr>
            <p:spPr bwMode="auto">
              <a:xfrm>
                <a:off x="3877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6 h 17"/>
                  <a:gd name="T6" fmla="*/ 16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71" name="Freeform 97"/>
              <p:cNvSpPr>
                <a:spLocks/>
              </p:cNvSpPr>
              <p:nvPr/>
            </p:nvSpPr>
            <p:spPr bwMode="auto">
              <a:xfrm>
                <a:off x="3880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4 w 17"/>
                  <a:gd name="T5" fmla="*/ 14 h 17"/>
                  <a:gd name="T6" fmla="*/ 4 w 17"/>
                  <a:gd name="T7" fmla="*/ 16 h 17"/>
                  <a:gd name="T8" fmla="*/ 8 w 17"/>
                  <a:gd name="T9" fmla="*/ 16 h 17"/>
                  <a:gd name="T10" fmla="*/ 12 w 17"/>
                  <a:gd name="T11" fmla="*/ 14 h 17"/>
                  <a:gd name="T12" fmla="*/ 16 w 17"/>
                  <a:gd name="T13" fmla="*/ 14 h 17"/>
                  <a:gd name="T14" fmla="*/ 16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4"/>
                    </a:lnTo>
                    <a:lnTo>
                      <a:pt x="4" y="16"/>
                    </a:lnTo>
                    <a:lnTo>
                      <a:pt x="8" y="16"/>
                    </a:lnTo>
                    <a:lnTo>
                      <a:pt x="12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72" name="Freeform 98"/>
              <p:cNvSpPr>
                <a:spLocks/>
              </p:cNvSpPr>
              <p:nvPr/>
            </p:nvSpPr>
            <p:spPr bwMode="auto">
              <a:xfrm>
                <a:off x="3883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6 h 17"/>
                  <a:gd name="T6" fmla="*/ 16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73" name="Freeform 99"/>
              <p:cNvSpPr>
                <a:spLocks/>
              </p:cNvSpPr>
              <p:nvPr/>
            </p:nvSpPr>
            <p:spPr bwMode="auto">
              <a:xfrm>
                <a:off x="3885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0 w 17"/>
                  <a:gd name="T9" fmla="*/ 14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74" name="Freeform 100"/>
              <p:cNvSpPr>
                <a:spLocks/>
              </p:cNvSpPr>
              <p:nvPr/>
            </p:nvSpPr>
            <p:spPr bwMode="auto">
              <a:xfrm>
                <a:off x="3888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4 h 17"/>
                  <a:gd name="T6" fmla="*/ 5 w 17"/>
                  <a:gd name="T7" fmla="*/ 16 h 17"/>
                  <a:gd name="T8" fmla="*/ 10 w 17"/>
                  <a:gd name="T9" fmla="*/ 16 h 17"/>
                  <a:gd name="T10" fmla="*/ 10 w 17"/>
                  <a:gd name="T11" fmla="*/ 14 h 17"/>
                  <a:gd name="T12" fmla="*/ 16 w 17"/>
                  <a:gd name="T13" fmla="*/ 14 h 17"/>
                  <a:gd name="T14" fmla="*/ 16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75" name="Freeform 101"/>
              <p:cNvSpPr>
                <a:spLocks/>
              </p:cNvSpPr>
              <p:nvPr/>
            </p:nvSpPr>
            <p:spPr bwMode="auto">
              <a:xfrm>
                <a:off x="3890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76" name="Freeform 102"/>
              <p:cNvSpPr>
                <a:spLocks/>
              </p:cNvSpPr>
              <p:nvPr/>
            </p:nvSpPr>
            <p:spPr bwMode="auto">
              <a:xfrm>
                <a:off x="3893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0 w 17"/>
                  <a:gd name="T9" fmla="*/ 14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77" name="Freeform 103"/>
              <p:cNvSpPr>
                <a:spLocks/>
              </p:cNvSpPr>
              <p:nvPr/>
            </p:nvSpPr>
            <p:spPr bwMode="auto">
              <a:xfrm>
                <a:off x="3894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4 w 17"/>
                  <a:gd name="T5" fmla="*/ 14 h 17"/>
                  <a:gd name="T6" fmla="*/ 8 w 17"/>
                  <a:gd name="T7" fmla="*/ 16 h 17"/>
                  <a:gd name="T8" fmla="*/ 12 w 17"/>
                  <a:gd name="T9" fmla="*/ 16 h 17"/>
                  <a:gd name="T10" fmla="*/ 12 w 17"/>
                  <a:gd name="T11" fmla="*/ 14 h 17"/>
                  <a:gd name="T12" fmla="*/ 16 w 17"/>
                  <a:gd name="T13" fmla="*/ 14 h 17"/>
                  <a:gd name="T14" fmla="*/ 16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4"/>
                    </a:lnTo>
                    <a:lnTo>
                      <a:pt x="8" y="16"/>
                    </a:lnTo>
                    <a:lnTo>
                      <a:pt x="12" y="16"/>
                    </a:lnTo>
                    <a:lnTo>
                      <a:pt x="12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78" name="Freeform 104"/>
              <p:cNvSpPr>
                <a:spLocks/>
              </p:cNvSpPr>
              <p:nvPr/>
            </p:nvSpPr>
            <p:spPr bwMode="auto">
              <a:xfrm>
                <a:off x="3898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4 h 17"/>
                  <a:gd name="T6" fmla="*/ 8 w 17"/>
                  <a:gd name="T7" fmla="*/ 16 h 17"/>
                  <a:gd name="T8" fmla="*/ 16 w 17"/>
                  <a:gd name="T9" fmla="*/ 16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79" name="Freeform 105"/>
              <p:cNvSpPr>
                <a:spLocks/>
              </p:cNvSpPr>
              <p:nvPr/>
            </p:nvSpPr>
            <p:spPr bwMode="auto">
              <a:xfrm>
                <a:off x="3900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6 h 17"/>
                  <a:gd name="T6" fmla="*/ 16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80" name="Freeform 106"/>
              <p:cNvSpPr>
                <a:spLocks/>
              </p:cNvSpPr>
              <p:nvPr/>
            </p:nvSpPr>
            <p:spPr bwMode="auto">
              <a:xfrm>
                <a:off x="3902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0 w 17"/>
                  <a:gd name="T5" fmla="*/ 16 h 17"/>
                  <a:gd name="T6" fmla="*/ 8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0" y="16"/>
                    </a:lnTo>
                    <a:lnTo>
                      <a:pt x="8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81" name="Freeform 107"/>
              <p:cNvSpPr>
                <a:spLocks/>
              </p:cNvSpPr>
              <p:nvPr/>
            </p:nvSpPr>
            <p:spPr bwMode="auto">
              <a:xfrm>
                <a:off x="3905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4 w 17"/>
                  <a:gd name="T5" fmla="*/ 16 h 17"/>
                  <a:gd name="T6" fmla="*/ 8 w 17"/>
                  <a:gd name="T7" fmla="*/ 16 h 17"/>
                  <a:gd name="T8" fmla="*/ 12 w 17"/>
                  <a:gd name="T9" fmla="*/ 16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6"/>
                    </a:lnTo>
                    <a:lnTo>
                      <a:pt x="8" y="16"/>
                    </a:lnTo>
                    <a:lnTo>
                      <a:pt x="12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82" name="Freeform 108"/>
              <p:cNvSpPr>
                <a:spLocks/>
              </p:cNvSpPr>
              <p:nvPr/>
            </p:nvSpPr>
            <p:spPr bwMode="auto">
              <a:xfrm>
                <a:off x="3908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0 w 17"/>
                  <a:gd name="T9" fmla="*/ 14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83" name="Freeform 109"/>
              <p:cNvSpPr>
                <a:spLocks/>
              </p:cNvSpPr>
              <p:nvPr/>
            </p:nvSpPr>
            <p:spPr bwMode="auto">
              <a:xfrm>
                <a:off x="3910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4 h 17"/>
                  <a:gd name="T6" fmla="*/ 8 w 17"/>
                  <a:gd name="T7" fmla="*/ 16 h 17"/>
                  <a:gd name="T8" fmla="*/ 16 w 17"/>
                  <a:gd name="T9" fmla="*/ 16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84" name="Freeform 110"/>
              <p:cNvSpPr>
                <a:spLocks/>
              </p:cNvSpPr>
              <p:nvPr/>
            </p:nvSpPr>
            <p:spPr bwMode="auto">
              <a:xfrm>
                <a:off x="3912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85" name="Freeform 111"/>
              <p:cNvSpPr>
                <a:spLocks/>
              </p:cNvSpPr>
              <p:nvPr/>
            </p:nvSpPr>
            <p:spPr bwMode="auto">
              <a:xfrm>
                <a:off x="3916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86" name="Freeform 112"/>
              <p:cNvSpPr>
                <a:spLocks/>
              </p:cNvSpPr>
              <p:nvPr/>
            </p:nvSpPr>
            <p:spPr bwMode="auto">
              <a:xfrm>
                <a:off x="3918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4 h 17"/>
                  <a:gd name="T6" fmla="*/ 5 w 17"/>
                  <a:gd name="T7" fmla="*/ 16 h 17"/>
                  <a:gd name="T8" fmla="*/ 10 w 17"/>
                  <a:gd name="T9" fmla="*/ 16 h 17"/>
                  <a:gd name="T10" fmla="*/ 10 w 17"/>
                  <a:gd name="T11" fmla="*/ 14 h 17"/>
                  <a:gd name="T12" fmla="*/ 16 w 17"/>
                  <a:gd name="T13" fmla="*/ 14 h 17"/>
                  <a:gd name="T14" fmla="*/ 16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87" name="Freeform 113"/>
              <p:cNvSpPr>
                <a:spLocks/>
              </p:cNvSpPr>
              <p:nvPr/>
            </p:nvSpPr>
            <p:spPr bwMode="auto">
              <a:xfrm>
                <a:off x="3921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6 h 17"/>
                  <a:gd name="T6" fmla="*/ 16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88" name="Freeform 114"/>
              <p:cNvSpPr>
                <a:spLocks/>
              </p:cNvSpPr>
              <p:nvPr/>
            </p:nvSpPr>
            <p:spPr bwMode="auto">
              <a:xfrm>
                <a:off x="3923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89" name="Freeform 115"/>
              <p:cNvSpPr>
                <a:spLocks/>
              </p:cNvSpPr>
              <p:nvPr/>
            </p:nvSpPr>
            <p:spPr bwMode="auto">
              <a:xfrm>
                <a:off x="3925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4 w 17"/>
                  <a:gd name="T5" fmla="*/ 14 h 17"/>
                  <a:gd name="T6" fmla="*/ 8 w 17"/>
                  <a:gd name="T7" fmla="*/ 16 h 17"/>
                  <a:gd name="T8" fmla="*/ 12 w 17"/>
                  <a:gd name="T9" fmla="*/ 16 h 17"/>
                  <a:gd name="T10" fmla="*/ 12 w 17"/>
                  <a:gd name="T11" fmla="*/ 14 h 17"/>
                  <a:gd name="T12" fmla="*/ 16 w 17"/>
                  <a:gd name="T13" fmla="*/ 14 h 17"/>
                  <a:gd name="T14" fmla="*/ 16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4"/>
                    </a:lnTo>
                    <a:lnTo>
                      <a:pt x="8" y="16"/>
                    </a:lnTo>
                    <a:lnTo>
                      <a:pt x="12" y="16"/>
                    </a:lnTo>
                    <a:lnTo>
                      <a:pt x="12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0" name="Freeform 116"/>
              <p:cNvSpPr>
                <a:spLocks/>
              </p:cNvSpPr>
              <p:nvPr/>
            </p:nvSpPr>
            <p:spPr bwMode="auto">
              <a:xfrm>
                <a:off x="3855" y="1279"/>
                <a:ext cx="187" cy="174"/>
              </a:xfrm>
              <a:custGeom>
                <a:avLst/>
                <a:gdLst>
                  <a:gd name="T0" fmla="*/ 180 w 187"/>
                  <a:gd name="T1" fmla="*/ 173 h 174"/>
                  <a:gd name="T2" fmla="*/ 180 w 187"/>
                  <a:gd name="T3" fmla="*/ 173 h 174"/>
                  <a:gd name="T4" fmla="*/ 180 w 187"/>
                  <a:gd name="T5" fmla="*/ 172 h 174"/>
                  <a:gd name="T6" fmla="*/ 182 w 187"/>
                  <a:gd name="T7" fmla="*/ 172 h 174"/>
                  <a:gd name="T8" fmla="*/ 182 w 187"/>
                  <a:gd name="T9" fmla="*/ 172 h 174"/>
                  <a:gd name="T10" fmla="*/ 183 w 187"/>
                  <a:gd name="T11" fmla="*/ 171 h 174"/>
                  <a:gd name="T12" fmla="*/ 183 w 187"/>
                  <a:gd name="T13" fmla="*/ 171 h 174"/>
                  <a:gd name="T14" fmla="*/ 184 w 187"/>
                  <a:gd name="T15" fmla="*/ 171 h 174"/>
                  <a:gd name="T16" fmla="*/ 184 w 187"/>
                  <a:gd name="T17" fmla="*/ 170 h 174"/>
                  <a:gd name="T18" fmla="*/ 184 w 187"/>
                  <a:gd name="T19" fmla="*/ 170 h 174"/>
                  <a:gd name="T20" fmla="*/ 184 w 187"/>
                  <a:gd name="T21" fmla="*/ 169 h 174"/>
                  <a:gd name="T22" fmla="*/ 185 w 187"/>
                  <a:gd name="T23" fmla="*/ 169 h 174"/>
                  <a:gd name="T24" fmla="*/ 185 w 187"/>
                  <a:gd name="T25" fmla="*/ 168 h 174"/>
                  <a:gd name="T26" fmla="*/ 186 w 187"/>
                  <a:gd name="T27" fmla="*/ 167 h 174"/>
                  <a:gd name="T28" fmla="*/ 186 w 187"/>
                  <a:gd name="T29" fmla="*/ 167 h 174"/>
                  <a:gd name="T30" fmla="*/ 186 w 187"/>
                  <a:gd name="T31" fmla="*/ 6 h 174"/>
                  <a:gd name="T32" fmla="*/ 186 w 187"/>
                  <a:gd name="T33" fmla="*/ 5 h 174"/>
                  <a:gd name="T34" fmla="*/ 186 w 187"/>
                  <a:gd name="T35" fmla="*/ 5 h 174"/>
                  <a:gd name="T36" fmla="*/ 185 w 187"/>
                  <a:gd name="T37" fmla="*/ 5 h 174"/>
                  <a:gd name="T38" fmla="*/ 185 w 187"/>
                  <a:gd name="T39" fmla="*/ 3 h 174"/>
                  <a:gd name="T40" fmla="*/ 184 w 187"/>
                  <a:gd name="T41" fmla="*/ 3 h 174"/>
                  <a:gd name="T42" fmla="*/ 184 w 187"/>
                  <a:gd name="T43" fmla="*/ 2 h 174"/>
                  <a:gd name="T44" fmla="*/ 184 w 187"/>
                  <a:gd name="T45" fmla="*/ 1 h 174"/>
                  <a:gd name="T46" fmla="*/ 183 w 187"/>
                  <a:gd name="T47" fmla="*/ 1 h 174"/>
                  <a:gd name="T48" fmla="*/ 183 w 187"/>
                  <a:gd name="T49" fmla="*/ 1 h 174"/>
                  <a:gd name="T50" fmla="*/ 182 w 187"/>
                  <a:gd name="T51" fmla="*/ 1 h 174"/>
                  <a:gd name="T52" fmla="*/ 182 w 187"/>
                  <a:gd name="T53" fmla="*/ 0 h 174"/>
                  <a:gd name="T54" fmla="*/ 180 w 187"/>
                  <a:gd name="T55" fmla="*/ 0 h 174"/>
                  <a:gd name="T56" fmla="*/ 180 w 187"/>
                  <a:gd name="T57" fmla="*/ 0 h 174"/>
                  <a:gd name="T58" fmla="*/ 180 w 187"/>
                  <a:gd name="T59" fmla="*/ 0 h 174"/>
                  <a:gd name="T60" fmla="*/ 5 w 187"/>
                  <a:gd name="T61" fmla="*/ 0 h 174"/>
                  <a:gd name="T62" fmla="*/ 4 w 187"/>
                  <a:gd name="T63" fmla="*/ 0 h 174"/>
                  <a:gd name="T64" fmla="*/ 3 w 187"/>
                  <a:gd name="T65" fmla="*/ 0 h 174"/>
                  <a:gd name="T66" fmla="*/ 3 w 187"/>
                  <a:gd name="T67" fmla="*/ 0 h 174"/>
                  <a:gd name="T68" fmla="*/ 2 w 187"/>
                  <a:gd name="T69" fmla="*/ 0 h 174"/>
                  <a:gd name="T70" fmla="*/ 2 w 187"/>
                  <a:gd name="T71" fmla="*/ 1 h 174"/>
                  <a:gd name="T72" fmla="*/ 1 w 187"/>
                  <a:gd name="T73" fmla="*/ 1 h 174"/>
                  <a:gd name="T74" fmla="*/ 1 w 187"/>
                  <a:gd name="T75" fmla="*/ 1 h 174"/>
                  <a:gd name="T76" fmla="*/ 1 w 187"/>
                  <a:gd name="T77" fmla="*/ 2 h 174"/>
                  <a:gd name="T78" fmla="*/ 0 w 187"/>
                  <a:gd name="T79" fmla="*/ 3 h 174"/>
                  <a:gd name="T80" fmla="*/ 0 w 187"/>
                  <a:gd name="T81" fmla="*/ 3 h 174"/>
                  <a:gd name="T82" fmla="*/ 0 w 187"/>
                  <a:gd name="T83" fmla="*/ 3 h 174"/>
                  <a:gd name="T84" fmla="*/ 0 w 187"/>
                  <a:gd name="T85" fmla="*/ 5 h 174"/>
                  <a:gd name="T86" fmla="*/ 0 w 187"/>
                  <a:gd name="T87" fmla="*/ 5 h 174"/>
                  <a:gd name="T88" fmla="*/ 0 w 187"/>
                  <a:gd name="T89" fmla="*/ 6 h 174"/>
                  <a:gd name="T90" fmla="*/ 0 w 187"/>
                  <a:gd name="T91" fmla="*/ 167 h 174"/>
                  <a:gd name="T92" fmla="*/ 0 w 187"/>
                  <a:gd name="T93" fmla="*/ 167 h 174"/>
                  <a:gd name="T94" fmla="*/ 0 w 187"/>
                  <a:gd name="T95" fmla="*/ 168 h 174"/>
                  <a:gd name="T96" fmla="*/ 0 w 187"/>
                  <a:gd name="T97" fmla="*/ 169 h 174"/>
                  <a:gd name="T98" fmla="*/ 0 w 187"/>
                  <a:gd name="T99" fmla="*/ 169 h 174"/>
                  <a:gd name="T100" fmla="*/ 0 w 187"/>
                  <a:gd name="T101" fmla="*/ 170 h 174"/>
                  <a:gd name="T102" fmla="*/ 1 w 187"/>
                  <a:gd name="T103" fmla="*/ 170 h 174"/>
                  <a:gd name="T104" fmla="*/ 1 w 187"/>
                  <a:gd name="T105" fmla="*/ 171 h 174"/>
                  <a:gd name="T106" fmla="*/ 1 w 187"/>
                  <a:gd name="T107" fmla="*/ 171 h 174"/>
                  <a:gd name="T108" fmla="*/ 2 w 187"/>
                  <a:gd name="T109" fmla="*/ 171 h 174"/>
                  <a:gd name="T110" fmla="*/ 2 w 187"/>
                  <a:gd name="T111" fmla="*/ 172 h 174"/>
                  <a:gd name="T112" fmla="*/ 2 w 187"/>
                  <a:gd name="T113" fmla="*/ 172 h 174"/>
                  <a:gd name="T114" fmla="*/ 3 w 187"/>
                  <a:gd name="T115" fmla="*/ 172 h 174"/>
                  <a:gd name="T116" fmla="*/ 3 w 187"/>
                  <a:gd name="T117" fmla="*/ 172 h 174"/>
                  <a:gd name="T118" fmla="*/ 4 w 187"/>
                  <a:gd name="T119" fmla="*/ 173 h 174"/>
                  <a:gd name="T120" fmla="*/ 5 w 187"/>
                  <a:gd name="T121" fmla="*/ 173 h 174"/>
                  <a:gd name="T122" fmla="*/ 180 w 187"/>
                  <a:gd name="T123" fmla="*/ 173 h 174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187"/>
                  <a:gd name="T187" fmla="*/ 0 h 174"/>
                  <a:gd name="T188" fmla="*/ 187 w 187"/>
                  <a:gd name="T189" fmla="*/ 174 h 174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187" h="174">
                    <a:moveTo>
                      <a:pt x="180" y="173"/>
                    </a:moveTo>
                    <a:lnTo>
                      <a:pt x="180" y="173"/>
                    </a:lnTo>
                    <a:lnTo>
                      <a:pt x="180" y="172"/>
                    </a:lnTo>
                    <a:lnTo>
                      <a:pt x="182" y="172"/>
                    </a:lnTo>
                    <a:lnTo>
                      <a:pt x="183" y="171"/>
                    </a:lnTo>
                    <a:lnTo>
                      <a:pt x="184" y="171"/>
                    </a:lnTo>
                    <a:lnTo>
                      <a:pt x="184" y="170"/>
                    </a:lnTo>
                    <a:lnTo>
                      <a:pt x="184" y="169"/>
                    </a:lnTo>
                    <a:lnTo>
                      <a:pt x="185" y="169"/>
                    </a:lnTo>
                    <a:lnTo>
                      <a:pt x="185" y="168"/>
                    </a:lnTo>
                    <a:lnTo>
                      <a:pt x="186" y="167"/>
                    </a:lnTo>
                    <a:lnTo>
                      <a:pt x="186" y="6"/>
                    </a:lnTo>
                    <a:lnTo>
                      <a:pt x="186" y="5"/>
                    </a:lnTo>
                    <a:lnTo>
                      <a:pt x="185" y="5"/>
                    </a:lnTo>
                    <a:lnTo>
                      <a:pt x="185" y="3"/>
                    </a:lnTo>
                    <a:lnTo>
                      <a:pt x="184" y="3"/>
                    </a:lnTo>
                    <a:lnTo>
                      <a:pt x="184" y="2"/>
                    </a:lnTo>
                    <a:lnTo>
                      <a:pt x="184" y="1"/>
                    </a:lnTo>
                    <a:lnTo>
                      <a:pt x="183" y="1"/>
                    </a:lnTo>
                    <a:lnTo>
                      <a:pt x="182" y="1"/>
                    </a:lnTo>
                    <a:lnTo>
                      <a:pt x="182" y="0"/>
                    </a:lnTo>
                    <a:lnTo>
                      <a:pt x="180" y="0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167"/>
                    </a:lnTo>
                    <a:lnTo>
                      <a:pt x="0" y="168"/>
                    </a:lnTo>
                    <a:lnTo>
                      <a:pt x="0" y="169"/>
                    </a:lnTo>
                    <a:lnTo>
                      <a:pt x="0" y="170"/>
                    </a:lnTo>
                    <a:lnTo>
                      <a:pt x="1" y="170"/>
                    </a:lnTo>
                    <a:lnTo>
                      <a:pt x="1" y="171"/>
                    </a:lnTo>
                    <a:lnTo>
                      <a:pt x="2" y="171"/>
                    </a:lnTo>
                    <a:lnTo>
                      <a:pt x="2" y="172"/>
                    </a:lnTo>
                    <a:lnTo>
                      <a:pt x="3" y="172"/>
                    </a:lnTo>
                    <a:lnTo>
                      <a:pt x="4" y="173"/>
                    </a:lnTo>
                    <a:lnTo>
                      <a:pt x="5" y="173"/>
                    </a:lnTo>
                    <a:lnTo>
                      <a:pt x="180" y="173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1" name="Freeform 117"/>
              <p:cNvSpPr>
                <a:spLocks/>
              </p:cNvSpPr>
              <p:nvPr/>
            </p:nvSpPr>
            <p:spPr bwMode="auto">
              <a:xfrm>
                <a:off x="3855" y="1281"/>
                <a:ext cx="186" cy="172"/>
              </a:xfrm>
              <a:custGeom>
                <a:avLst/>
                <a:gdLst>
                  <a:gd name="T0" fmla="*/ 185 w 186"/>
                  <a:gd name="T1" fmla="*/ 165 h 172"/>
                  <a:gd name="T2" fmla="*/ 185 w 186"/>
                  <a:gd name="T3" fmla="*/ 166 h 172"/>
                  <a:gd name="T4" fmla="*/ 185 w 186"/>
                  <a:gd name="T5" fmla="*/ 167 h 172"/>
                  <a:gd name="T6" fmla="*/ 184 w 186"/>
                  <a:gd name="T7" fmla="*/ 167 h 172"/>
                  <a:gd name="T8" fmla="*/ 184 w 186"/>
                  <a:gd name="T9" fmla="*/ 168 h 172"/>
                  <a:gd name="T10" fmla="*/ 183 w 186"/>
                  <a:gd name="T11" fmla="*/ 169 h 172"/>
                  <a:gd name="T12" fmla="*/ 183 w 186"/>
                  <a:gd name="T13" fmla="*/ 169 h 172"/>
                  <a:gd name="T14" fmla="*/ 182 w 186"/>
                  <a:gd name="T15" fmla="*/ 170 h 172"/>
                  <a:gd name="T16" fmla="*/ 182 w 186"/>
                  <a:gd name="T17" fmla="*/ 170 h 172"/>
                  <a:gd name="T18" fmla="*/ 181 w 186"/>
                  <a:gd name="T19" fmla="*/ 170 h 172"/>
                  <a:gd name="T20" fmla="*/ 181 w 186"/>
                  <a:gd name="T21" fmla="*/ 171 h 172"/>
                  <a:gd name="T22" fmla="*/ 180 w 186"/>
                  <a:gd name="T23" fmla="*/ 171 h 172"/>
                  <a:gd name="T24" fmla="*/ 179 w 186"/>
                  <a:gd name="T25" fmla="*/ 171 h 172"/>
                  <a:gd name="T26" fmla="*/ 4 w 186"/>
                  <a:gd name="T27" fmla="*/ 171 h 172"/>
                  <a:gd name="T28" fmla="*/ 3 w 186"/>
                  <a:gd name="T29" fmla="*/ 171 h 172"/>
                  <a:gd name="T30" fmla="*/ 3 w 186"/>
                  <a:gd name="T31" fmla="*/ 171 h 172"/>
                  <a:gd name="T32" fmla="*/ 3 w 186"/>
                  <a:gd name="T33" fmla="*/ 170 h 172"/>
                  <a:gd name="T34" fmla="*/ 2 w 186"/>
                  <a:gd name="T35" fmla="*/ 170 h 172"/>
                  <a:gd name="T36" fmla="*/ 2 w 186"/>
                  <a:gd name="T37" fmla="*/ 170 h 172"/>
                  <a:gd name="T38" fmla="*/ 1 w 186"/>
                  <a:gd name="T39" fmla="*/ 169 h 172"/>
                  <a:gd name="T40" fmla="*/ 1 w 186"/>
                  <a:gd name="T41" fmla="*/ 169 h 172"/>
                  <a:gd name="T42" fmla="*/ 0 w 186"/>
                  <a:gd name="T43" fmla="*/ 169 h 172"/>
                  <a:gd name="T44" fmla="*/ 0 w 186"/>
                  <a:gd name="T45" fmla="*/ 168 h 172"/>
                  <a:gd name="T46" fmla="*/ 0 w 186"/>
                  <a:gd name="T47" fmla="*/ 167 h 172"/>
                  <a:gd name="T48" fmla="*/ 0 w 186"/>
                  <a:gd name="T49" fmla="*/ 167 h 172"/>
                  <a:gd name="T50" fmla="*/ 0 w 186"/>
                  <a:gd name="T51" fmla="*/ 166 h 172"/>
                  <a:gd name="T52" fmla="*/ 0 w 186"/>
                  <a:gd name="T53" fmla="*/ 165 h 172"/>
                  <a:gd name="T54" fmla="*/ 0 w 186"/>
                  <a:gd name="T55" fmla="*/ 5 h 172"/>
                  <a:gd name="T56" fmla="*/ 0 w 186"/>
                  <a:gd name="T57" fmla="*/ 4 h 172"/>
                  <a:gd name="T58" fmla="*/ 0 w 186"/>
                  <a:gd name="T59" fmla="*/ 3 h 172"/>
                  <a:gd name="T60" fmla="*/ 0 w 186"/>
                  <a:gd name="T61" fmla="*/ 3 h 172"/>
                  <a:gd name="T62" fmla="*/ 0 w 186"/>
                  <a:gd name="T63" fmla="*/ 2 h 172"/>
                  <a:gd name="T64" fmla="*/ 0 w 186"/>
                  <a:gd name="T65" fmla="*/ 2 h 172"/>
                  <a:gd name="T66" fmla="*/ 1 w 186"/>
                  <a:gd name="T67" fmla="*/ 1 h 172"/>
                  <a:gd name="T68" fmla="*/ 1 w 186"/>
                  <a:gd name="T69" fmla="*/ 1 h 172"/>
                  <a:gd name="T70" fmla="*/ 2 w 186"/>
                  <a:gd name="T71" fmla="*/ 1 h 172"/>
                  <a:gd name="T72" fmla="*/ 2 w 186"/>
                  <a:gd name="T73" fmla="*/ 0 h 172"/>
                  <a:gd name="T74" fmla="*/ 2 w 186"/>
                  <a:gd name="T75" fmla="*/ 0 h 172"/>
                  <a:gd name="T76" fmla="*/ 3 w 186"/>
                  <a:gd name="T77" fmla="*/ 0 h 172"/>
                  <a:gd name="T78" fmla="*/ 3 w 186"/>
                  <a:gd name="T79" fmla="*/ 0 h 172"/>
                  <a:gd name="T80" fmla="*/ 4 w 186"/>
                  <a:gd name="T81" fmla="*/ 0 h 172"/>
                  <a:gd name="T82" fmla="*/ 179 w 186"/>
                  <a:gd name="T83" fmla="*/ 0 h 172"/>
                  <a:gd name="T84" fmla="*/ 180 w 186"/>
                  <a:gd name="T85" fmla="*/ 0 h 172"/>
                  <a:gd name="T86" fmla="*/ 181 w 186"/>
                  <a:gd name="T87" fmla="*/ 0 h 172"/>
                  <a:gd name="T88" fmla="*/ 181 w 186"/>
                  <a:gd name="T89" fmla="*/ 0 h 172"/>
                  <a:gd name="T90" fmla="*/ 182 w 186"/>
                  <a:gd name="T91" fmla="*/ 0 h 172"/>
                  <a:gd name="T92" fmla="*/ 182 w 186"/>
                  <a:gd name="T93" fmla="*/ 1 h 172"/>
                  <a:gd name="T94" fmla="*/ 183 w 186"/>
                  <a:gd name="T95" fmla="*/ 1 h 172"/>
                  <a:gd name="T96" fmla="*/ 183 w 186"/>
                  <a:gd name="T97" fmla="*/ 1 h 172"/>
                  <a:gd name="T98" fmla="*/ 183 w 186"/>
                  <a:gd name="T99" fmla="*/ 2 h 172"/>
                  <a:gd name="T100" fmla="*/ 184 w 186"/>
                  <a:gd name="T101" fmla="*/ 2 h 172"/>
                  <a:gd name="T102" fmla="*/ 184 w 186"/>
                  <a:gd name="T103" fmla="*/ 3 h 172"/>
                  <a:gd name="T104" fmla="*/ 185 w 186"/>
                  <a:gd name="T105" fmla="*/ 3 h 172"/>
                  <a:gd name="T106" fmla="*/ 185 w 186"/>
                  <a:gd name="T107" fmla="*/ 4 h 172"/>
                  <a:gd name="T108" fmla="*/ 185 w 186"/>
                  <a:gd name="T109" fmla="*/ 5 h 172"/>
                  <a:gd name="T110" fmla="*/ 185 w 186"/>
                  <a:gd name="T111" fmla="*/ 165 h 172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186"/>
                  <a:gd name="T169" fmla="*/ 0 h 172"/>
                  <a:gd name="T170" fmla="*/ 186 w 186"/>
                  <a:gd name="T171" fmla="*/ 172 h 172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186" h="172">
                    <a:moveTo>
                      <a:pt x="185" y="165"/>
                    </a:moveTo>
                    <a:lnTo>
                      <a:pt x="185" y="166"/>
                    </a:lnTo>
                    <a:lnTo>
                      <a:pt x="185" y="167"/>
                    </a:lnTo>
                    <a:lnTo>
                      <a:pt x="184" y="167"/>
                    </a:lnTo>
                    <a:lnTo>
                      <a:pt x="184" y="168"/>
                    </a:lnTo>
                    <a:lnTo>
                      <a:pt x="183" y="169"/>
                    </a:lnTo>
                    <a:lnTo>
                      <a:pt x="182" y="170"/>
                    </a:lnTo>
                    <a:lnTo>
                      <a:pt x="181" y="170"/>
                    </a:lnTo>
                    <a:lnTo>
                      <a:pt x="181" y="171"/>
                    </a:lnTo>
                    <a:lnTo>
                      <a:pt x="180" y="171"/>
                    </a:lnTo>
                    <a:lnTo>
                      <a:pt x="179" y="171"/>
                    </a:lnTo>
                    <a:lnTo>
                      <a:pt x="4" y="171"/>
                    </a:lnTo>
                    <a:lnTo>
                      <a:pt x="3" y="171"/>
                    </a:lnTo>
                    <a:lnTo>
                      <a:pt x="3" y="170"/>
                    </a:lnTo>
                    <a:lnTo>
                      <a:pt x="2" y="170"/>
                    </a:lnTo>
                    <a:lnTo>
                      <a:pt x="1" y="169"/>
                    </a:lnTo>
                    <a:lnTo>
                      <a:pt x="0" y="169"/>
                    </a:lnTo>
                    <a:lnTo>
                      <a:pt x="0" y="168"/>
                    </a:lnTo>
                    <a:lnTo>
                      <a:pt x="0" y="167"/>
                    </a:lnTo>
                    <a:lnTo>
                      <a:pt x="0" y="166"/>
                    </a:lnTo>
                    <a:lnTo>
                      <a:pt x="0" y="165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179" y="0"/>
                    </a:lnTo>
                    <a:lnTo>
                      <a:pt x="180" y="0"/>
                    </a:lnTo>
                    <a:lnTo>
                      <a:pt x="181" y="0"/>
                    </a:lnTo>
                    <a:lnTo>
                      <a:pt x="182" y="0"/>
                    </a:lnTo>
                    <a:lnTo>
                      <a:pt x="182" y="1"/>
                    </a:lnTo>
                    <a:lnTo>
                      <a:pt x="183" y="1"/>
                    </a:lnTo>
                    <a:lnTo>
                      <a:pt x="183" y="2"/>
                    </a:lnTo>
                    <a:lnTo>
                      <a:pt x="184" y="2"/>
                    </a:lnTo>
                    <a:lnTo>
                      <a:pt x="184" y="3"/>
                    </a:lnTo>
                    <a:lnTo>
                      <a:pt x="185" y="3"/>
                    </a:lnTo>
                    <a:lnTo>
                      <a:pt x="185" y="4"/>
                    </a:lnTo>
                    <a:lnTo>
                      <a:pt x="185" y="5"/>
                    </a:lnTo>
                    <a:lnTo>
                      <a:pt x="185" y="165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2" name="Freeform 118"/>
              <p:cNvSpPr>
                <a:spLocks/>
              </p:cNvSpPr>
              <p:nvPr/>
            </p:nvSpPr>
            <p:spPr bwMode="auto">
              <a:xfrm>
                <a:off x="3857" y="1281"/>
                <a:ext cx="181" cy="171"/>
              </a:xfrm>
              <a:custGeom>
                <a:avLst/>
                <a:gdLst>
                  <a:gd name="T0" fmla="*/ 180 w 181"/>
                  <a:gd name="T1" fmla="*/ 3 h 171"/>
                  <a:gd name="T2" fmla="*/ 180 w 181"/>
                  <a:gd name="T3" fmla="*/ 3 h 171"/>
                  <a:gd name="T4" fmla="*/ 180 w 181"/>
                  <a:gd name="T5" fmla="*/ 2 h 171"/>
                  <a:gd name="T6" fmla="*/ 179 w 181"/>
                  <a:gd name="T7" fmla="*/ 2 h 171"/>
                  <a:gd name="T8" fmla="*/ 179 w 181"/>
                  <a:gd name="T9" fmla="*/ 1 h 171"/>
                  <a:gd name="T10" fmla="*/ 178 w 181"/>
                  <a:gd name="T11" fmla="*/ 1 h 171"/>
                  <a:gd name="T12" fmla="*/ 178 w 181"/>
                  <a:gd name="T13" fmla="*/ 0 h 171"/>
                  <a:gd name="T14" fmla="*/ 177 w 181"/>
                  <a:gd name="T15" fmla="*/ 0 h 171"/>
                  <a:gd name="T16" fmla="*/ 177 w 181"/>
                  <a:gd name="T17" fmla="*/ 0 h 171"/>
                  <a:gd name="T18" fmla="*/ 177 w 181"/>
                  <a:gd name="T19" fmla="*/ 0 h 171"/>
                  <a:gd name="T20" fmla="*/ 176 w 181"/>
                  <a:gd name="T21" fmla="*/ 0 h 171"/>
                  <a:gd name="T22" fmla="*/ 176 w 181"/>
                  <a:gd name="T23" fmla="*/ 0 h 171"/>
                  <a:gd name="T24" fmla="*/ 3 w 181"/>
                  <a:gd name="T25" fmla="*/ 0 h 171"/>
                  <a:gd name="T26" fmla="*/ 3 w 181"/>
                  <a:gd name="T27" fmla="*/ 0 h 171"/>
                  <a:gd name="T28" fmla="*/ 2 w 181"/>
                  <a:gd name="T29" fmla="*/ 0 h 171"/>
                  <a:gd name="T30" fmla="*/ 2 w 181"/>
                  <a:gd name="T31" fmla="*/ 0 h 171"/>
                  <a:gd name="T32" fmla="*/ 1 w 181"/>
                  <a:gd name="T33" fmla="*/ 0 h 171"/>
                  <a:gd name="T34" fmla="*/ 1 w 181"/>
                  <a:gd name="T35" fmla="*/ 0 h 171"/>
                  <a:gd name="T36" fmla="*/ 1 w 181"/>
                  <a:gd name="T37" fmla="*/ 1 h 171"/>
                  <a:gd name="T38" fmla="*/ 0 w 181"/>
                  <a:gd name="T39" fmla="*/ 1 h 171"/>
                  <a:gd name="T40" fmla="*/ 0 w 181"/>
                  <a:gd name="T41" fmla="*/ 1 h 171"/>
                  <a:gd name="T42" fmla="*/ 0 w 181"/>
                  <a:gd name="T43" fmla="*/ 2 h 171"/>
                  <a:gd name="T44" fmla="*/ 0 w 181"/>
                  <a:gd name="T45" fmla="*/ 3 h 171"/>
                  <a:gd name="T46" fmla="*/ 0 w 181"/>
                  <a:gd name="T47" fmla="*/ 3 h 171"/>
                  <a:gd name="T48" fmla="*/ 0 w 181"/>
                  <a:gd name="T49" fmla="*/ 166 h 171"/>
                  <a:gd name="T50" fmla="*/ 0 w 181"/>
                  <a:gd name="T51" fmla="*/ 166 h 171"/>
                  <a:gd name="T52" fmla="*/ 0 w 181"/>
                  <a:gd name="T53" fmla="*/ 167 h 171"/>
                  <a:gd name="T54" fmla="*/ 0 w 181"/>
                  <a:gd name="T55" fmla="*/ 168 h 171"/>
                  <a:gd name="T56" fmla="*/ 0 w 181"/>
                  <a:gd name="T57" fmla="*/ 168 h 171"/>
                  <a:gd name="T58" fmla="*/ 1 w 181"/>
                  <a:gd name="T59" fmla="*/ 168 h 171"/>
                  <a:gd name="T60" fmla="*/ 1 w 181"/>
                  <a:gd name="T61" fmla="*/ 169 h 171"/>
                  <a:gd name="T62" fmla="*/ 2 w 181"/>
                  <a:gd name="T63" fmla="*/ 169 h 171"/>
                  <a:gd name="T64" fmla="*/ 2 w 181"/>
                  <a:gd name="T65" fmla="*/ 169 h 171"/>
                  <a:gd name="T66" fmla="*/ 3 w 181"/>
                  <a:gd name="T67" fmla="*/ 170 h 171"/>
                  <a:gd name="T68" fmla="*/ 3 w 181"/>
                  <a:gd name="T69" fmla="*/ 170 h 171"/>
                  <a:gd name="T70" fmla="*/ 176 w 181"/>
                  <a:gd name="T71" fmla="*/ 170 h 171"/>
                  <a:gd name="T72" fmla="*/ 176 w 181"/>
                  <a:gd name="T73" fmla="*/ 169 h 171"/>
                  <a:gd name="T74" fmla="*/ 177 w 181"/>
                  <a:gd name="T75" fmla="*/ 169 h 171"/>
                  <a:gd name="T76" fmla="*/ 177 w 181"/>
                  <a:gd name="T77" fmla="*/ 169 h 171"/>
                  <a:gd name="T78" fmla="*/ 178 w 181"/>
                  <a:gd name="T79" fmla="*/ 169 h 171"/>
                  <a:gd name="T80" fmla="*/ 178 w 181"/>
                  <a:gd name="T81" fmla="*/ 168 h 171"/>
                  <a:gd name="T82" fmla="*/ 178 w 181"/>
                  <a:gd name="T83" fmla="*/ 168 h 171"/>
                  <a:gd name="T84" fmla="*/ 179 w 181"/>
                  <a:gd name="T85" fmla="*/ 168 h 171"/>
                  <a:gd name="T86" fmla="*/ 179 w 181"/>
                  <a:gd name="T87" fmla="*/ 167 h 171"/>
                  <a:gd name="T88" fmla="*/ 180 w 181"/>
                  <a:gd name="T89" fmla="*/ 166 h 171"/>
                  <a:gd name="T90" fmla="*/ 180 w 181"/>
                  <a:gd name="T91" fmla="*/ 166 h 171"/>
                  <a:gd name="T92" fmla="*/ 180 w 181"/>
                  <a:gd name="T93" fmla="*/ 3 h 171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181"/>
                  <a:gd name="T142" fmla="*/ 0 h 171"/>
                  <a:gd name="T143" fmla="*/ 181 w 181"/>
                  <a:gd name="T144" fmla="*/ 171 h 171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181" h="171">
                    <a:moveTo>
                      <a:pt x="180" y="3"/>
                    </a:moveTo>
                    <a:lnTo>
                      <a:pt x="180" y="3"/>
                    </a:lnTo>
                    <a:lnTo>
                      <a:pt x="180" y="2"/>
                    </a:lnTo>
                    <a:lnTo>
                      <a:pt x="179" y="2"/>
                    </a:lnTo>
                    <a:lnTo>
                      <a:pt x="179" y="1"/>
                    </a:lnTo>
                    <a:lnTo>
                      <a:pt x="178" y="1"/>
                    </a:lnTo>
                    <a:lnTo>
                      <a:pt x="178" y="0"/>
                    </a:lnTo>
                    <a:lnTo>
                      <a:pt x="177" y="0"/>
                    </a:lnTo>
                    <a:lnTo>
                      <a:pt x="176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166"/>
                    </a:lnTo>
                    <a:lnTo>
                      <a:pt x="0" y="167"/>
                    </a:lnTo>
                    <a:lnTo>
                      <a:pt x="0" y="168"/>
                    </a:lnTo>
                    <a:lnTo>
                      <a:pt x="1" y="168"/>
                    </a:lnTo>
                    <a:lnTo>
                      <a:pt x="1" y="169"/>
                    </a:lnTo>
                    <a:lnTo>
                      <a:pt x="2" y="169"/>
                    </a:lnTo>
                    <a:lnTo>
                      <a:pt x="3" y="170"/>
                    </a:lnTo>
                    <a:lnTo>
                      <a:pt x="176" y="170"/>
                    </a:lnTo>
                    <a:lnTo>
                      <a:pt x="176" y="169"/>
                    </a:lnTo>
                    <a:lnTo>
                      <a:pt x="177" y="169"/>
                    </a:lnTo>
                    <a:lnTo>
                      <a:pt x="178" y="169"/>
                    </a:lnTo>
                    <a:lnTo>
                      <a:pt x="178" y="168"/>
                    </a:lnTo>
                    <a:lnTo>
                      <a:pt x="179" y="168"/>
                    </a:lnTo>
                    <a:lnTo>
                      <a:pt x="179" y="167"/>
                    </a:lnTo>
                    <a:lnTo>
                      <a:pt x="180" y="166"/>
                    </a:lnTo>
                    <a:lnTo>
                      <a:pt x="180" y="3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9999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3" name="Freeform 119"/>
              <p:cNvSpPr>
                <a:spLocks/>
              </p:cNvSpPr>
              <p:nvPr/>
            </p:nvSpPr>
            <p:spPr bwMode="auto">
              <a:xfrm>
                <a:off x="3858" y="1282"/>
                <a:ext cx="180" cy="168"/>
              </a:xfrm>
              <a:custGeom>
                <a:avLst/>
                <a:gdLst>
                  <a:gd name="T0" fmla="*/ 179 w 180"/>
                  <a:gd name="T1" fmla="*/ 163 h 168"/>
                  <a:gd name="T2" fmla="*/ 179 w 180"/>
                  <a:gd name="T3" fmla="*/ 164 h 168"/>
                  <a:gd name="T4" fmla="*/ 178 w 180"/>
                  <a:gd name="T5" fmla="*/ 165 h 168"/>
                  <a:gd name="T6" fmla="*/ 178 w 180"/>
                  <a:gd name="T7" fmla="*/ 165 h 168"/>
                  <a:gd name="T8" fmla="*/ 177 w 180"/>
                  <a:gd name="T9" fmla="*/ 166 h 168"/>
                  <a:gd name="T10" fmla="*/ 177 w 180"/>
                  <a:gd name="T11" fmla="*/ 166 h 168"/>
                  <a:gd name="T12" fmla="*/ 176 w 180"/>
                  <a:gd name="T13" fmla="*/ 167 h 168"/>
                  <a:gd name="T14" fmla="*/ 176 w 180"/>
                  <a:gd name="T15" fmla="*/ 167 h 168"/>
                  <a:gd name="T16" fmla="*/ 2 w 180"/>
                  <a:gd name="T17" fmla="*/ 167 h 168"/>
                  <a:gd name="T18" fmla="*/ 2 w 180"/>
                  <a:gd name="T19" fmla="*/ 167 h 168"/>
                  <a:gd name="T20" fmla="*/ 1 w 180"/>
                  <a:gd name="T21" fmla="*/ 167 h 168"/>
                  <a:gd name="T22" fmla="*/ 1 w 180"/>
                  <a:gd name="T23" fmla="*/ 166 h 168"/>
                  <a:gd name="T24" fmla="*/ 1 w 180"/>
                  <a:gd name="T25" fmla="*/ 166 h 168"/>
                  <a:gd name="T26" fmla="*/ 0 w 180"/>
                  <a:gd name="T27" fmla="*/ 166 h 168"/>
                  <a:gd name="T28" fmla="*/ 0 w 180"/>
                  <a:gd name="T29" fmla="*/ 165 h 168"/>
                  <a:gd name="T30" fmla="*/ 0 w 180"/>
                  <a:gd name="T31" fmla="*/ 165 h 168"/>
                  <a:gd name="T32" fmla="*/ 0 w 180"/>
                  <a:gd name="T33" fmla="*/ 165 h 168"/>
                  <a:gd name="T34" fmla="*/ 0 w 180"/>
                  <a:gd name="T35" fmla="*/ 164 h 168"/>
                  <a:gd name="T36" fmla="*/ 0 w 180"/>
                  <a:gd name="T37" fmla="*/ 163 h 168"/>
                  <a:gd name="T38" fmla="*/ 0 w 180"/>
                  <a:gd name="T39" fmla="*/ 3 h 168"/>
                  <a:gd name="T40" fmla="*/ 0 w 180"/>
                  <a:gd name="T41" fmla="*/ 2 h 168"/>
                  <a:gd name="T42" fmla="*/ 0 w 180"/>
                  <a:gd name="T43" fmla="*/ 1 h 168"/>
                  <a:gd name="T44" fmla="*/ 0 w 180"/>
                  <a:gd name="T45" fmla="*/ 1 h 168"/>
                  <a:gd name="T46" fmla="*/ 0 w 180"/>
                  <a:gd name="T47" fmla="*/ 1 h 168"/>
                  <a:gd name="T48" fmla="*/ 1 w 180"/>
                  <a:gd name="T49" fmla="*/ 0 h 168"/>
                  <a:gd name="T50" fmla="*/ 1 w 180"/>
                  <a:gd name="T51" fmla="*/ 0 h 168"/>
                  <a:gd name="T52" fmla="*/ 2 w 180"/>
                  <a:gd name="T53" fmla="*/ 0 h 168"/>
                  <a:gd name="T54" fmla="*/ 2 w 180"/>
                  <a:gd name="T55" fmla="*/ 0 h 168"/>
                  <a:gd name="T56" fmla="*/ 176 w 180"/>
                  <a:gd name="T57" fmla="*/ 0 h 168"/>
                  <a:gd name="T58" fmla="*/ 176 w 180"/>
                  <a:gd name="T59" fmla="*/ 0 h 168"/>
                  <a:gd name="T60" fmla="*/ 176 w 180"/>
                  <a:gd name="T61" fmla="*/ 0 h 168"/>
                  <a:gd name="T62" fmla="*/ 177 w 180"/>
                  <a:gd name="T63" fmla="*/ 0 h 168"/>
                  <a:gd name="T64" fmla="*/ 177 w 180"/>
                  <a:gd name="T65" fmla="*/ 0 h 168"/>
                  <a:gd name="T66" fmla="*/ 177 w 180"/>
                  <a:gd name="T67" fmla="*/ 1 h 168"/>
                  <a:gd name="T68" fmla="*/ 178 w 180"/>
                  <a:gd name="T69" fmla="*/ 1 h 168"/>
                  <a:gd name="T70" fmla="*/ 178 w 180"/>
                  <a:gd name="T71" fmla="*/ 1 h 168"/>
                  <a:gd name="T72" fmla="*/ 179 w 180"/>
                  <a:gd name="T73" fmla="*/ 2 h 168"/>
                  <a:gd name="T74" fmla="*/ 179 w 180"/>
                  <a:gd name="T75" fmla="*/ 3 h 168"/>
                  <a:gd name="T76" fmla="*/ 179 w 180"/>
                  <a:gd name="T77" fmla="*/ 163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80"/>
                  <a:gd name="T118" fmla="*/ 0 h 168"/>
                  <a:gd name="T119" fmla="*/ 180 w 180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80" h="168">
                    <a:moveTo>
                      <a:pt x="179" y="163"/>
                    </a:moveTo>
                    <a:lnTo>
                      <a:pt x="179" y="164"/>
                    </a:lnTo>
                    <a:lnTo>
                      <a:pt x="178" y="165"/>
                    </a:lnTo>
                    <a:lnTo>
                      <a:pt x="177" y="166"/>
                    </a:lnTo>
                    <a:lnTo>
                      <a:pt x="176" y="167"/>
                    </a:lnTo>
                    <a:lnTo>
                      <a:pt x="2" y="167"/>
                    </a:lnTo>
                    <a:lnTo>
                      <a:pt x="1" y="167"/>
                    </a:lnTo>
                    <a:lnTo>
                      <a:pt x="1" y="166"/>
                    </a:lnTo>
                    <a:lnTo>
                      <a:pt x="0" y="166"/>
                    </a:lnTo>
                    <a:lnTo>
                      <a:pt x="0" y="165"/>
                    </a:lnTo>
                    <a:lnTo>
                      <a:pt x="0" y="164"/>
                    </a:lnTo>
                    <a:lnTo>
                      <a:pt x="0" y="163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176" y="0"/>
                    </a:lnTo>
                    <a:lnTo>
                      <a:pt x="177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2"/>
                    </a:lnTo>
                    <a:lnTo>
                      <a:pt x="179" y="3"/>
                    </a:lnTo>
                    <a:lnTo>
                      <a:pt x="179" y="163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4" name="Freeform 120"/>
              <p:cNvSpPr>
                <a:spLocks/>
              </p:cNvSpPr>
              <p:nvPr/>
            </p:nvSpPr>
            <p:spPr bwMode="auto">
              <a:xfrm>
                <a:off x="3877" y="1304"/>
                <a:ext cx="142" cy="124"/>
              </a:xfrm>
              <a:custGeom>
                <a:avLst/>
                <a:gdLst>
                  <a:gd name="T0" fmla="*/ 0 w 142"/>
                  <a:gd name="T1" fmla="*/ 1 h 124"/>
                  <a:gd name="T2" fmla="*/ 1 w 142"/>
                  <a:gd name="T3" fmla="*/ 1 h 124"/>
                  <a:gd name="T4" fmla="*/ 1 w 142"/>
                  <a:gd name="T5" fmla="*/ 1 h 124"/>
                  <a:gd name="T6" fmla="*/ 2 w 142"/>
                  <a:gd name="T7" fmla="*/ 0 h 124"/>
                  <a:gd name="T8" fmla="*/ 2 w 142"/>
                  <a:gd name="T9" fmla="*/ 0 h 124"/>
                  <a:gd name="T10" fmla="*/ 3 w 142"/>
                  <a:gd name="T11" fmla="*/ 0 h 124"/>
                  <a:gd name="T12" fmla="*/ 3 w 142"/>
                  <a:gd name="T13" fmla="*/ 0 h 124"/>
                  <a:gd name="T14" fmla="*/ 4 w 142"/>
                  <a:gd name="T15" fmla="*/ 0 h 124"/>
                  <a:gd name="T16" fmla="*/ 135 w 142"/>
                  <a:gd name="T17" fmla="*/ 0 h 124"/>
                  <a:gd name="T18" fmla="*/ 136 w 142"/>
                  <a:gd name="T19" fmla="*/ 0 h 124"/>
                  <a:gd name="T20" fmla="*/ 137 w 142"/>
                  <a:gd name="T21" fmla="*/ 0 h 124"/>
                  <a:gd name="T22" fmla="*/ 137 w 142"/>
                  <a:gd name="T23" fmla="*/ 0 h 124"/>
                  <a:gd name="T24" fmla="*/ 138 w 142"/>
                  <a:gd name="T25" fmla="*/ 0 h 124"/>
                  <a:gd name="T26" fmla="*/ 138 w 142"/>
                  <a:gd name="T27" fmla="*/ 1 h 124"/>
                  <a:gd name="T28" fmla="*/ 139 w 142"/>
                  <a:gd name="T29" fmla="*/ 1 h 124"/>
                  <a:gd name="T30" fmla="*/ 139 w 142"/>
                  <a:gd name="T31" fmla="*/ 1 h 124"/>
                  <a:gd name="T32" fmla="*/ 140 w 142"/>
                  <a:gd name="T33" fmla="*/ 2 h 124"/>
                  <a:gd name="T34" fmla="*/ 140 w 142"/>
                  <a:gd name="T35" fmla="*/ 3 h 124"/>
                  <a:gd name="T36" fmla="*/ 141 w 142"/>
                  <a:gd name="T37" fmla="*/ 3 h 124"/>
                  <a:gd name="T38" fmla="*/ 141 w 142"/>
                  <a:gd name="T39" fmla="*/ 4 h 124"/>
                  <a:gd name="T40" fmla="*/ 141 w 142"/>
                  <a:gd name="T41" fmla="*/ 5 h 124"/>
                  <a:gd name="T42" fmla="*/ 141 w 142"/>
                  <a:gd name="T43" fmla="*/ 117 h 124"/>
                  <a:gd name="T44" fmla="*/ 141 w 142"/>
                  <a:gd name="T45" fmla="*/ 119 h 124"/>
                  <a:gd name="T46" fmla="*/ 140 w 142"/>
                  <a:gd name="T47" fmla="*/ 119 h 124"/>
                  <a:gd name="T48" fmla="*/ 140 w 142"/>
                  <a:gd name="T49" fmla="*/ 120 h 124"/>
                  <a:gd name="T50" fmla="*/ 139 w 142"/>
                  <a:gd name="T51" fmla="*/ 121 h 124"/>
                  <a:gd name="T52" fmla="*/ 139 w 142"/>
                  <a:gd name="T53" fmla="*/ 121 h 124"/>
                  <a:gd name="T54" fmla="*/ 138 w 142"/>
                  <a:gd name="T55" fmla="*/ 122 h 124"/>
                  <a:gd name="T56" fmla="*/ 138 w 142"/>
                  <a:gd name="T57" fmla="*/ 122 h 124"/>
                  <a:gd name="T58" fmla="*/ 137 w 142"/>
                  <a:gd name="T59" fmla="*/ 122 h 124"/>
                  <a:gd name="T60" fmla="*/ 137 w 142"/>
                  <a:gd name="T61" fmla="*/ 123 h 124"/>
                  <a:gd name="T62" fmla="*/ 136 w 142"/>
                  <a:gd name="T63" fmla="*/ 123 h 124"/>
                  <a:gd name="T64" fmla="*/ 135 w 142"/>
                  <a:gd name="T65" fmla="*/ 123 h 124"/>
                  <a:gd name="T66" fmla="*/ 4 w 142"/>
                  <a:gd name="T67" fmla="*/ 123 h 124"/>
                  <a:gd name="T68" fmla="*/ 3 w 142"/>
                  <a:gd name="T69" fmla="*/ 123 h 124"/>
                  <a:gd name="T70" fmla="*/ 3 w 142"/>
                  <a:gd name="T71" fmla="*/ 123 h 124"/>
                  <a:gd name="T72" fmla="*/ 2 w 142"/>
                  <a:gd name="T73" fmla="*/ 122 h 124"/>
                  <a:gd name="T74" fmla="*/ 2 w 142"/>
                  <a:gd name="T75" fmla="*/ 122 h 124"/>
                  <a:gd name="T76" fmla="*/ 1 w 142"/>
                  <a:gd name="T77" fmla="*/ 122 h 124"/>
                  <a:gd name="T78" fmla="*/ 1 w 142"/>
                  <a:gd name="T79" fmla="*/ 121 h 124"/>
                  <a:gd name="T80" fmla="*/ 0 w 142"/>
                  <a:gd name="T81" fmla="*/ 121 h 124"/>
                  <a:gd name="T82" fmla="*/ 0 w 142"/>
                  <a:gd name="T83" fmla="*/ 120 h 124"/>
                  <a:gd name="T84" fmla="*/ 0 w 142"/>
                  <a:gd name="T85" fmla="*/ 119 h 124"/>
                  <a:gd name="T86" fmla="*/ 0 w 142"/>
                  <a:gd name="T87" fmla="*/ 119 h 124"/>
                  <a:gd name="T88" fmla="*/ 0 w 142"/>
                  <a:gd name="T89" fmla="*/ 117 h 124"/>
                  <a:gd name="T90" fmla="*/ 0 w 142"/>
                  <a:gd name="T91" fmla="*/ 5 h 124"/>
                  <a:gd name="T92" fmla="*/ 0 w 142"/>
                  <a:gd name="T93" fmla="*/ 4 h 124"/>
                  <a:gd name="T94" fmla="*/ 0 w 142"/>
                  <a:gd name="T95" fmla="*/ 3 h 124"/>
                  <a:gd name="T96" fmla="*/ 0 w 142"/>
                  <a:gd name="T97" fmla="*/ 3 h 124"/>
                  <a:gd name="T98" fmla="*/ 0 w 142"/>
                  <a:gd name="T99" fmla="*/ 2 h 124"/>
                  <a:gd name="T100" fmla="*/ 0 w 142"/>
                  <a:gd name="T101" fmla="*/ 1 h 124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42"/>
                  <a:gd name="T154" fmla="*/ 0 h 124"/>
                  <a:gd name="T155" fmla="*/ 142 w 142"/>
                  <a:gd name="T156" fmla="*/ 124 h 124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42" h="124">
                    <a:moveTo>
                      <a:pt x="0" y="1"/>
                    </a:moveTo>
                    <a:lnTo>
                      <a:pt x="1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8" y="1"/>
                    </a:lnTo>
                    <a:lnTo>
                      <a:pt x="139" y="1"/>
                    </a:lnTo>
                    <a:lnTo>
                      <a:pt x="140" y="2"/>
                    </a:lnTo>
                    <a:lnTo>
                      <a:pt x="140" y="3"/>
                    </a:lnTo>
                    <a:lnTo>
                      <a:pt x="141" y="3"/>
                    </a:lnTo>
                    <a:lnTo>
                      <a:pt x="141" y="4"/>
                    </a:lnTo>
                    <a:lnTo>
                      <a:pt x="141" y="5"/>
                    </a:lnTo>
                    <a:lnTo>
                      <a:pt x="141" y="117"/>
                    </a:lnTo>
                    <a:lnTo>
                      <a:pt x="141" y="119"/>
                    </a:lnTo>
                    <a:lnTo>
                      <a:pt x="140" y="119"/>
                    </a:lnTo>
                    <a:lnTo>
                      <a:pt x="140" y="120"/>
                    </a:lnTo>
                    <a:lnTo>
                      <a:pt x="139" y="121"/>
                    </a:lnTo>
                    <a:lnTo>
                      <a:pt x="138" y="122"/>
                    </a:lnTo>
                    <a:lnTo>
                      <a:pt x="137" y="122"/>
                    </a:lnTo>
                    <a:lnTo>
                      <a:pt x="137" y="123"/>
                    </a:lnTo>
                    <a:lnTo>
                      <a:pt x="136" y="123"/>
                    </a:lnTo>
                    <a:lnTo>
                      <a:pt x="135" y="123"/>
                    </a:lnTo>
                    <a:lnTo>
                      <a:pt x="4" y="123"/>
                    </a:lnTo>
                    <a:lnTo>
                      <a:pt x="3" y="123"/>
                    </a:lnTo>
                    <a:lnTo>
                      <a:pt x="2" y="122"/>
                    </a:lnTo>
                    <a:lnTo>
                      <a:pt x="1" y="122"/>
                    </a:lnTo>
                    <a:lnTo>
                      <a:pt x="1" y="121"/>
                    </a:lnTo>
                    <a:lnTo>
                      <a:pt x="0" y="121"/>
                    </a:lnTo>
                    <a:lnTo>
                      <a:pt x="0" y="120"/>
                    </a:lnTo>
                    <a:lnTo>
                      <a:pt x="0" y="119"/>
                    </a:lnTo>
                    <a:lnTo>
                      <a:pt x="0" y="117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</a:path>
                </a:pathLst>
              </a:custGeom>
              <a:gradFill rotWithShape="0">
                <a:gsLst>
                  <a:gs pos="0">
                    <a:srgbClr val="1D2B4B"/>
                  </a:gs>
                  <a:gs pos="50000">
                    <a:srgbClr val="618FFD"/>
                  </a:gs>
                  <a:gs pos="100000">
                    <a:srgbClr val="1D2B4B"/>
                  </a:gs>
                </a:gsLst>
                <a:lin ang="2700000" scaled="1"/>
              </a:gra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5" name="Freeform 121"/>
              <p:cNvSpPr>
                <a:spLocks/>
              </p:cNvSpPr>
              <p:nvPr/>
            </p:nvSpPr>
            <p:spPr bwMode="auto">
              <a:xfrm>
                <a:off x="3872" y="1298"/>
                <a:ext cx="153" cy="17"/>
              </a:xfrm>
              <a:custGeom>
                <a:avLst/>
                <a:gdLst>
                  <a:gd name="T0" fmla="*/ 152 w 153"/>
                  <a:gd name="T1" fmla="*/ 4 h 17"/>
                  <a:gd name="T2" fmla="*/ 151 w 153"/>
                  <a:gd name="T3" fmla="*/ 3 h 17"/>
                  <a:gd name="T4" fmla="*/ 151 w 153"/>
                  <a:gd name="T5" fmla="*/ 2 h 17"/>
                  <a:gd name="T6" fmla="*/ 150 w 153"/>
                  <a:gd name="T7" fmla="*/ 2 h 17"/>
                  <a:gd name="T8" fmla="*/ 150 w 153"/>
                  <a:gd name="T9" fmla="*/ 2 h 17"/>
                  <a:gd name="T10" fmla="*/ 150 w 153"/>
                  <a:gd name="T11" fmla="*/ 1 h 17"/>
                  <a:gd name="T12" fmla="*/ 149 w 153"/>
                  <a:gd name="T13" fmla="*/ 1 h 17"/>
                  <a:gd name="T14" fmla="*/ 149 w 153"/>
                  <a:gd name="T15" fmla="*/ 1 h 17"/>
                  <a:gd name="T16" fmla="*/ 148 w 153"/>
                  <a:gd name="T17" fmla="*/ 0 h 17"/>
                  <a:gd name="T18" fmla="*/ 148 w 153"/>
                  <a:gd name="T19" fmla="*/ 0 h 17"/>
                  <a:gd name="T20" fmla="*/ 147 w 153"/>
                  <a:gd name="T21" fmla="*/ 0 h 17"/>
                  <a:gd name="T22" fmla="*/ 146 w 153"/>
                  <a:gd name="T23" fmla="*/ 0 h 17"/>
                  <a:gd name="T24" fmla="*/ 3 w 153"/>
                  <a:gd name="T25" fmla="*/ 0 h 17"/>
                  <a:gd name="T26" fmla="*/ 3 w 153"/>
                  <a:gd name="T27" fmla="*/ 0 h 17"/>
                  <a:gd name="T28" fmla="*/ 2 w 153"/>
                  <a:gd name="T29" fmla="*/ 0 h 17"/>
                  <a:gd name="T30" fmla="*/ 1 w 153"/>
                  <a:gd name="T31" fmla="*/ 1 h 17"/>
                  <a:gd name="T32" fmla="*/ 1 w 153"/>
                  <a:gd name="T33" fmla="*/ 1 h 17"/>
                  <a:gd name="T34" fmla="*/ 0 w 153"/>
                  <a:gd name="T35" fmla="*/ 2 h 17"/>
                  <a:gd name="T36" fmla="*/ 0 w 153"/>
                  <a:gd name="T37" fmla="*/ 2 h 17"/>
                  <a:gd name="T38" fmla="*/ 0 w 153"/>
                  <a:gd name="T39" fmla="*/ 3 h 17"/>
                  <a:gd name="T40" fmla="*/ 6 w 153"/>
                  <a:gd name="T41" fmla="*/ 16 h 17"/>
                  <a:gd name="T42" fmla="*/ 7 w 153"/>
                  <a:gd name="T43" fmla="*/ 14 h 17"/>
                  <a:gd name="T44" fmla="*/ 7 w 153"/>
                  <a:gd name="T45" fmla="*/ 14 h 17"/>
                  <a:gd name="T46" fmla="*/ 8 w 153"/>
                  <a:gd name="T47" fmla="*/ 13 h 17"/>
                  <a:gd name="T48" fmla="*/ 8 w 153"/>
                  <a:gd name="T49" fmla="*/ 13 h 17"/>
                  <a:gd name="T50" fmla="*/ 8 w 153"/>
                  <a:gd name="T51" fmla="*/ 12 h 17"/>
                  <a:gd name="T52" fmla="*/ 9 w 153"/>
                  <a:gd name="T53" fmla="*/ 12 h 17"/>
                  <a:gd name="T54" fmla="*/ 10 w 153"/>
                  <a:gd name="T55" fmla="*/ 12 h 17"/>
                  <a:gd name="T56" fmla="*/ 140 w 153"/>
                  <a:gd name="T57" fmla="*/ 12 h 17"/>
                  <a:gd name="T58" fmla="*/ 141 w 153"/>
                  <a:gd name="T59" fmla="*/ 12 h 17"/>
                  <a:gd name="T60" fmla="*/ 142 w 153"/>
                  <a:gd name="T61" fmla="*/ 12 h 17"/>
                  <a:gd name="T62" fmla="*/ 142 w 153"/>
                  <a:gd name="T63" fmla="*/ 13 h 17"/>
                  <a:gd name="T64" fmla="*/ 143 w 153"/>
                  <a:gd name="T65" fmla="*/ 13 h 17"/>
                  <a:gd name="T66" fmla="*/ 143 w 153"/>
                  <a:gd name="T67" fmla="*/ 14 h 17"/>
                  <a:gd name="T68" fmla="*/ 143 w 153"/>
                  <a:gd name="T69" fmla="*/ 14 h 17"/>
                  <a:gd name="T70" fmla="*/ 144 w 153"/>
                  <a:gd name="T71" fmla="*/ 14 h 17"/>
                  <a:gd name="T72" fmla="*/ 152 w 153"/>
                  <a:gd name="T73" fmla="*/ 4 h 1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53"/>
                  <a:gd name="T112" fmla="*/ 0 h 17"/>
                  <a:gd name="T113" fmla="*/ 153 w 153"/>
                  <a:gd name="T114" fmla="*/ 17 h 1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53" h="17">
                    <a:moveTo>
                      <a:pt x="152" y="4"/>
                    </a:moveTo>
                    <a:lnTo>
                      <a:pt x="151" y="3"/>
                    </a:lnTo>
                    <a:lnTo>
                      <a:pt x="151" y="2"/>
                    </a:lnTo>
                    <a:lnTo>
                      <a:pt x="150" y="2"/>
                    </a:lnTo>
                    <a:lnTo>
                      <a:pt x="150" y="1"/>
                    </a:lnTo>
                    <a:lnTo>
                      <a:pt x="149" y="1"/>
                    </a:lnTo>
                    <a:lnTo>
                      <a:pt x="148" y="0"/>
                    </a:lnTo>
                    <a:lnTo>
                      <a:pt x="147" y="0"/>
                    </a:lnTo>
                    <a:lnTo>
                      <a:pt x="146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6" y="16"/>
                    </a:lnTo>
                    <a:lnTo>
                      <a:pt x="7" y="14"/>
                    </a:lnTo>
                    <a:lnTo>
                      <a:pt x="8" y="13"/>
                    </a:lnTo>
                    <a:lnTo>
                      <a:pt x="8" y="12"/>
                    </a:lnTo>
                    <a:lnTo>
                      <a:pt x="9" y="12"/>
                    </a:lnTo>
                    <a:lnTo>
                      <a:pt x="10" y="12"/>
                    </a:lnTo>
                    <a:lnTo>
                      <a:pt x="140" y="12"/>
                    </a:lnTo>
                    <a:lnTo>
                      <a:pt x="141" y="12"/>
                    </a:lnTo>
                    <a:lnTo>
                      <a:pt x="142" y="12"/>
                    </a:lnTo>
                    <a:lnTo>
                      <a:pt x="142" y="13"/>
                    </a:lnTo>
                    <a:lnTo>
                      <a:pt x="143" y="13"/>
                    </a:lnTo>
                    <a:lnTo>
                      <a:pt x="143" y="14"/>
                    </a:lnTo>
                    <a:lnTo>
                      <a:pt x="144" y="14"/>
                    </a:lnTo>
                    <a:lnTo>
                      <a:pt x="152" y="4"/>
                    </a:lnTo>
                  </a:path>
                </a:pathLst>
              </a:custGeom>
              <a:solidFill>
                <a:srgbClr val="9F9FA2"/>
              </a:solidFill>
              <a:ln w="12700" cap="rnd">
                <a:solidFill>
                  <a:srgbClr val="9F9FA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6" name="Freeform 122"/>
              <p:cNvSpPr>
                <a:spLocks/>
              </p:cNvSpPr>
              <p:nvPr/>
            </p:nvSpPr>
            <p:spPr bwMode="auto">
              <a:xfrm>
                <a:off x="3870" y="1299"/>
                <a:ext cx="17" cy="135"/>
              </a:xfrm>
              <a:custGeom>
                <a:avLst/>
                <a:gdLst>
                  <a:gd name="T0" fmla="*/ 2 w 17"/>
                  <a:gd name="T1" fmla="*/ 0 h 135"/>
                  <a:gd name="T2" fmla="*/ 1 w 17"/>
                  <a:gd name="T3" fmla="*/ 0 h 135"/>
                  <a:gd name="T4" fmla="*/ 0 w 17"/>
                  <a:gd name="T5" fmla="*/ 1 h 135"/>
                  <a:gd name="T6" fmla="*/ 0 w 17"/>
                  <a:gd name="T7" fmla="*/ 2 h 135"/>
                  <a:gd name="T8" fmla="*/ 0 w 17"/>
                  <a:gd name="T9" fmla="*/ 2 h 135"/>
                  <a:gd name="T10" fmla="*/ 0 w 17"/>
                  <a:gd name="T11" fmla="*/ 3 h 135"/>
                  <a:gd name="T12" fmla="*/ 0 w 17"/>
                  <a:gd name="T13" fmla="*/ 4 h 135"/>
                  <a:gd name="T14" fmla="*/ 0 w 17"/>
                  <a:gd name="T15" fmla="*/ 130 h 135"/>
                  <a:gd name="T16" fmla="*/ 0 w 17"/>
                  <a:gd name="T17" fmla="*/ 130 h 135"/>
                  <a:gd name="T18" fmla="*/ 0 w 17"/>
                  <a:gd name="T19" fmla="*/ 131 h 135"/>
                  <a:gd name="T20" fmla="*/ 0 w 17"/>
                  <a:gd name="T21" fmla="*/ 132 h 135"/>
                  <a:gd name="T22" fmla="*/ 0 w 17"/>
                  <a:gd name="T23" fmla="*/ 132 h 135"/>
                  <a:gd name="T24" fmla="*/ 1 w 17"/>
                  <a:gd name="T25" fmla="*/ 133 h 135"/>
                  <a:gd name="T26" fmla="*/ 2 w 17"/>
                  <a:gd name="T27" fmla="*/ 133 h 135"/>
                  <a:gd name="T28" fmla="*/ 2 w 17"/>
                  <a:gd name="T29" fmla="*/ 134 h 135"/>
                  <a:gd name="T30" fmla="*/ 3 w 17"/>
                  <a:gd name="T31" fmla="*/ 134 h 135"/>
                  <a:gd name="T32" fmla="*/ 16 w 17"/>
                  <a:gd name="T33" fmla="*/ 127 h 135"/>
                  <a:gd name="T34" fmla="*/ 15 w 17"/>
                  <a:gd name="T35" fmla="*/ 126 h 135"/>
                  <a:gd name="T36" fmla="*/ 15 w 17"/>
                  <a:gd name="T37" fmla="*/ 126 h 135"/>
                  <a:gd name="T38" fmla="*/ 14 w 17"/>
                  <a:gd name="T39" fmla="*/ 126 h 135"/>
                  <a:gd name="T40" fmla="*/ 14 w 17"/>
                  <a:gd name="T41" fmla="*/ 125 h 135"/>
                  <a:gd name="T42" fmla="*/ 13 w 17"/>
                  <a:gd name="T43" fmla="*/ 124 h 135"/>
                  <a:gd name="T44" fmla="*/ 13 w 17"/>
                  <a:gd name="T45" fmla="*/ 124 h 135"/>
                  <a:gd name="T46" fmla="*/ 13 w 17"/>
                  <a:gd name="T47" fmla="*/ 10 h 135"/>
                  <a:gd name="T48" fmla="*/ 13 w 17"/>
                  <a:gd name="T49" fmla="*/ 9 h 135"/>
                  <a:gd name="T50" fmla="*/ 13 w 17"/>
                  <a:gd name="T51" fmla="*/ 8 h 135"/>
                  <a:gd name="T52" fmla="*/ 14 w 17"/>
                  <a:gd name="T53" fmla="*/ 8 h 135"/>
                  <a:gd name="T54" fmla="*/ 15 w 17"/>
                  <a:gd name="T55" fmla="*/ 7 h 135"/>
                  <a:gd name="T56" fmla="*/ 15 w 17"/>
                  <a:gd name="T57" fmla="*/ 6 h 135"/>
                  <a:gd name="T58" fmla="*/ 2 w 17"/>
                  <a:gd name="T59" fmla="*/ 0 h 135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7"/>
                  <a:gd name="T91" fmla="*/ 0 h 135"/>
                  <a:gd name="T92" fmla="*/ 17 w 17"/>
                  <a:gd name="T93" fmla="*/ 135 h 135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7" h="135">
                    <a:moveTo>
                      <a:pt x="2" y="0"/>
                    </a:moveTo>
                    <a:lnTo>
                      <a:pt x="1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0" y="130"/>
                    </a:lnTo>
                    <a:lnTo>
                      <a:pt x="0" y="131"/>
                    </a:lnTo>
                    <a:lnTo>
                      <a:pt x="0" y="132"/>
                    </a:lnTo>
                    <a:lnTo>
                      <a:pt x="1" y="133"/>
                    </a:lnTo>
                    <a:lnTo>
                      <a:pt x="2" y="133"/>
                    </a:lnTo>
                    <a:lnTo>
                      <a:pt x="2" y="134"/>
                    </a:lnTo>
                    <a:lnTo>
                      <a:pt x="3" y="134"/>
                    </a:lnTo>
                    <a:lnTo>
                      <a:pt x="16" y="127"/>
                    </a:lnTo>
                    <a:lnTo>
                      <a:pt x="15" y="126"/>
                    </a:lnTo>
                    <a:lnTo>
                      <a:pt x="14" y="126"/>
                    </a:lnTo>
                    <a:lnTo>
                      <a:pt x="14" y="125"/>
                    </a:lnTo>
                    <a:lnTo>
                      <a:pt x="13" y="124"/>
                    </a:lnTo>
                    <a:lnTo>
                      <a:pt x="13" y="10"/>
                    </a:lnTo>
                    <a:lnTo>
                      <a:pt x="13" y="9"/>
                    </a:lnTo>
                    <a:lnTo>
                      <a:pt x="13" y="8"/>
                    </a:lnTo>
                    <a:lnTo>
                      <a:pt x="14" y="8"/>
                    </a:lnTo>
                    <a:lnTo>
                      <a:pt x="15" y="7"/>
                    </a:lnTo>
                    <a:lnTo>
                      <a:pt x="15" y="6"/>
                    </a:lnTo>
                    <a:lnTo>
                      <a:pt x="2" y="0"/>
                    </a:lnTo>
                  </a:path>
                </a:pathLst>
              </a:custGeom>
              <a:solidFill>
                <a:srgbClr val="666666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7" name="Freeform 123"/>
              <p:cNvSpPr>
                <a:spLocks/>
              </p:cNvSpPr>
              <p:nvPr/>
            </p:nvSpPr>
            <p:spPr bwMode="auto">
              <a:xfrm>
                <a:off x="3872" y="1300"/>
                <a:ext cx="155" cy="136"/>
              </a:xfrm>
              <a:custGeom>
                <a:avLst/>
                <a:gdLst>
                  <a:gd name="T0" fmla="*/ 0 w 155"/>
                  <a:gd name="T1" fmla="*/ 133 h 136"/>
                  <a:gd name="T2" fmla="*/ 0 w 155"/>
                  <a:gd name="T3" fmla="*/ 134 h 136"/>
                  <a:gd name="T4" fmla="*/ 0 w 155"/>
                  <a:gd name="T5" fmla="*/ 134 h 136"/>
                  <a:gd name="T6" fmla="*/ 1 w 155"/>
                  <a:gd name="T7" fmla="*/ 134 h 136"/>
                  <a:gd name="T8" fmla="*/ 1 w 155"/>
                  <a:gd name="T9" fmla="*/ 134 h 136"/>
                  <a:gd name="T10" fmla="*/ 2 w 155"/>
                  <a:gd name="T11" fmla="*/ 135 h 136"/>
                  <a:gd name="T12" fmla="*/ 2 w 155"/>
                  <a:gd name="T13" fmla="*/ 135 h 136"/>
                  <a:gd name="T14" fmla="*/ 3 w 155"/>
                  <a:gd name="T15" fmla="*/ 135 h 136"/>
                  <a:gd name="T16" fmla="*/ 148 w 155"/>
                  <a:gd name="T17" fmla="*/ 135 h 136"/>
                  <a:gd name="T18" fmla="*/ 150 w 155"/>
                  <a:gd name="T19" fmla="*/ 134 h 136"/>
                  <a:gd name="T20" fmla="*/ 151 w 155"/>
                  <a:gd name="T21" fmla="*/ 134 h 136"/>
                  <a:gd name="T22" fmla="*/ 151 w 155"/>
                  <a:gd name="T23" fmla="*/ 133 h 136"/>
                  <a:gd name="T24" fmla="*/ 152 w 155"/>
                  <a:gd name="T25" fmla="*/ 133 h 136"/>
                  <a:gd name="T26" fmla="*/ 152 w 155"/>
                  <a:gd name="T27" fmla="*/ 133 h 136"/>
                  <a:gd name="T28" fmla="*/ 153 w 155"/>
                  <a:gd name="T29" fmla="*/ 132 h 136"/>
                  <a:gd name="T30" fmla="*/ 153 w 155"/>
                  <a:gd name="T31" fmla="*/ 131 h 136"/>
                  <a:gd name="T32" fmla="*/ 154 w 155"/>
                  <a:gd name="T33" fmla="*/ 131 h 136"/>
                  <a:gd name="T34" fmla="*/ 154 w 155"/>
                  <a:gd name="T35" fmla="*/ 129 h 136"/>
                  <a:gd name="T36" fmla="*/ 154 w 155"/>
                  <a:gd name="T37" fmla="*/ 129 h 136"/>
                  <a:gd name="T38" fmla="*/ 154 w 155"/>
                  <a:gd name="T39" fmla="*/ 3 h 136"/>
                  <a:gd name="T40" fmla="*/ 154 w 155"/>
                  <a:gd name="T41" fmla="*/ 2 h 136"/>
                  <a:gd name="T42" fmla="*/ 154 w 155"/>
                  <a:gd name="T43" fmla="*/ 1 h 136"/>
                  <a:gd name="T44" fmla="*/ 154 w 155"/>
                  <a:gd name="T45" fmla="*/ 1 h 136"/>
                  <a:gd name="T46" fmla="*/ 153 w 155"/>
                  <a:gd name="T47" fmla="*/ 1 h 136"/>
                  <a:gd name="T48" fmla="*/ 153 w 155"/>
                  <a:gd name="T49" fmla="*/ 0 h 136"/>
                  <a:gd name="T50" fmla="*/ 153 w 155"/>
                  <a:gd name="T51" fmla="*/ 0 h 136"/>
                  <a:gd name="T52" fmla="*/ 145 w 155"/>
                  <a:gd name="T53" fmla="*/ 5 h 136"/>
                  <a:gd name="T54" fmla="*/ 145 w 155"/>
                  <a:gd name="T55" fmla="*/ 5 h 136"/>
                  <a:gd name="T56" fmla="*/ 146 w 155"/>
                  <a:gd name="T57" fmla="*/ 6 h 136"/>
                  <a:gd name="T58" fmla="*/ 146 w 155"/>
                  <a:gd name="T59" fmla="*/ 7 h 136"/>
                  <a:gd name="T60" fmla="*/ 146 w 155"/>
                  <a:gd name="T61" fmla="*/ 7 h 136"/>
                  <a:gd name="T62" fmla="*/ 146 w 155"/>
                  <a:gd name="T63" fmla="*/ 7 h 136"/>
                  <a:gd name="T64" fmla="*/ 146 w 155"/>
                  <a:gd name="T65" fmla="*/ 8 h 136"/>
                  <a:gd name="T66" fmla="*/ 146 w 155"/>
                  <a:gd name="T67" fmla="*/ 9 h 136"/>
                  <a:gd name="T68" fmla="*/ 146 w 155"/>
                  <a:gd name="T69" fmla="*/ 9 h 136"/>
                  <a:gd name="T70" fmla="*/ 146 w 155"/>
                  <a:gd name="T71" fmla="*/ 123 h 136"/>
                  <a:gd name="T72" fmla="*/ 146 w 155"/>
                  <a:gd name="T73" fmla="*/ 123 h 136"/>
                  <a:gd name="T74" fmla="*/ 146 w 155"/>
                  <a:gd name="T75" fmla="*/ 124 h 136"/>
                  <a:gd name="T76" fmla="*/ 146 w 155"/>
                  <a:gd name="T77" fmla="*/ 125 h 136"/>
                  <a:gd name="T78" fmla="*/ 146 w 155"/>
                  <a:gd name="T79" fmla="*/ 125 h 136"/>
                  <a:gd name="T80" fmla="*/ 145 w 155"/>
                  <a:gd name="T81" fmla="*/ 126 h 136"/>
                  <a:gd name="T82" fmla="*/ 145 w 155"/>
                  <a:gd name="T83" fmla="*/ 127 h 136"/>
                  <a:gd name="T84" fmla="*/ 144 w 155"/>
                  <a:gd name="T85" fmla="*/ 127 h 136"/>
                  <a:gd name="T86" fmla="*/ 143 w 155"/>
                  <a:gd name="T87" fmla="*/ 127 h 136"/>
                  <a:gd name="T88" fmla="*/ 143 w 155"/>
                  <a:gd name="T89" fmla="*/ 128 h 136"/>
                  <a:gd name="T90" fmla="*/ 142 w 155"/>
                  <a:gd name="T91" fmla="*/ 128 h 136"/>
                  <a:gd name="T92" fmla="*/ 142 w 155"/>
                  <a:gd name="T93" fmla="*/ 128 h 136"/>
                  <a:gd name="T94" fmla="*/ 9 w 155"/>
                  <a:gd name="T95" fmla="*/ 128 h 136"/>
                  <a:gd name="T96" fmla="*/ 8 w 155"/>
                  <a:gd name="T97" fmla="*/ 128 h 136"/>
                  <a:gd name="T98" fmla="*/ 8 w 155"/>
                  <a:gd name="T99" fmla="*/ 128 h 136"/>
                  <a:gd name="T100" fmla="*/ 8 w 155"/>
                  <a:gd name="T101" fmla="*/ 127 h 136"/>
                  <a:gd name="T102" fmla="*/ 7 w 155"/>
                  <a:gd name="T103" fmla="*/ 127 h 136"/>
                  <a:gd name="T104" fmla="*/ 7 w 155"/>
                  <a:gd name="T105" fmla="*/ 127 h 136"/>
                  <a:gd name="T106" fmla="*/ 6 w 155"/>
                  <a:gd name="T107" fmla="*/ 127 h 136"/>
                  <a:gd name="T108" fmla="*/ 6 w 155"/>
                  <a:gd name="T109" fmla="*/ 127 h 136"/>
                  <a:gd name="T110" fmla="*/ 0 w 155"/>
                  <a:gd name="T111" fmla="*/ 133 h 1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155"/>
                  <a:gd name="T169" fmla="*/ 0 h 136"/>
                  <a:gd name="T170" fmla="*/ 155 w 155"/>
                  <a:gd name="T171" fmla="*/ 136 h 1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155" h="136">
                    <a:moveTo>
                      <a:pt x="0" y="133"/>
                    </a:moveTo>
                    <a:lnTo>
                      <a:pt x="0" y="134"/>
                    </a:lnTo>
                    <a:lnTo>
                      <a:pt x="1" y="134"/>
                    </a:lnTo>
                    <a:lnTo>
                      <a:pt x="2" y="135"/>
                    </a:lnTo>
                    <a:lnTo>
                      <a:pt x="3" y="135"/>
                    </a:lnTo>
                    <a:lnTo>
                      <a:pt x="148" y="135"/>
                    </a:lnTo>
                    <a:lnTo>
                      <a:pt x="150" y="134"/>
                    </a:lnTo>
                    <a:lnTo>
                      <a:pt x="151" y="134"/>
                    </a:lnTo>
                    <a:lnTo>
                      <a:pt x="151" y="133"/>
                    </a:lnTo>
                    <a:lnTo>
                      <a:pt x="152" y="133"/>
                    </a:lnTo>
                    <a:lnTo>
                      <a:pt x="153" y="132"/>
                    </a:lnTo>
                    <a:lnTo>
                      <a:pt x="153" y="131"/>
                    </a:lnTo>
                    <a:lnTo>
                      <a:pt x="154" y="131"/>
                    </a:lnTo>
                    <a:lnTo>
                      <a:pt x="154" y="129"/>
                    </a:lnTo>
                    <a:lnTo>
                      <a:pt x="154" y="3"/>
                    </a:lnTo>
                    <a:lnTo>
                      <a:pt x="154" y="2"/>
                    </a:lnTo>
                    <a:lnTo>
                      <a:pt x="154" y="1"/>
                    </a:lnTo>
                    <a:lnTo>
                      <a:pt x="153" y="1"/>
                    </a:lnTo>
                    <a:lnTo>
                      <a:pt x="153" y="0"/>
                    </a:lnTo>
                    <a:lnTo>
                      <a:pt x="145" y="5"/>
                    </a:lnTo>
                    <a:lnTo>
                      <a:pt x="146" y="6"/>
                    </a:lnTo>
                    <a:lnTo>
                      <a:pt x="146" y="7"/>
                    </a:lnTo>
                    <a:lnTo>
                      <a:pt x="146" y="8"/>
                    </a:lnTo>
                    <a:lnTo>
                      <a:pt x="146" y="9"/>
                    </a:lnTo>
                    <a:lnTo>
                      <a:pt x="146" y="123"/>
                    </a:lnTo>
                    <a:lnTo>
                      <a:pt x="146" y="124"/>
                    </a:lnTo>
                    <a:lnTo>
                      <a:pt x="146" y="125"/>
                    </a:lnTo>
                    <a:lnTo>
                      <a:pt x="145" y="126"/>
                    </a:lnTo>
                    <a:lnTo>
                      <a:pt x="145" y="127"/>
                    </a:lnTo>
                    <a:lnTo>
                      <a:pt x="144" y="127"/>
                    </a:lnTo>
                    <a:lnTo>
                      <a:pt x="143" y="127"/>
                    </a:lnTo>
                    <a:lnTo>
                      <a:pt x="143" y="128"/>
                    </a:lnTo>
                    <a:lnTo>
                      <a:pt x="142" y="128"/>
                    </a:lnTo>
                    <a:lnTo>
                      <a:pt x="9" y="128"/>
                    </a:lnTo>
                    <a:lnTo>
                      <a:pt x="8" y="128"/>
                    </a:lnTo>
                    <a:lnTo>
                      <a:pt x="8" y="127"/>
                    </a:lnTo>
                    <a:lnTo>
                      <a:pt x="7" y="127"/>
                    </a:lnTo>
                    <a:lnTo>
                      <a:pt x="6" y="127"/>
                    </a:lnTo>
                    <a:lnTo>
                      <a:pt x="0" y="133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9999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8" name="Freeform 124"/>
              <p:cNvSpPr>
                <a:spLocks/>
              </p:cNvSpPr>
              <p:nvPr/>
            </p:nvSpPr>
            <p:spPr bwMode="auto">
              <a:xfrm>
                <a:off x="3872" y="1298"/>
                <a:ext cx="153" cy="17"/>
              </a:xfrm>
              <a:custGeom>
                <a:avLst/>
                <a:gdLst>
                  <a:gd name="T0" fmla="*/ 152 w 153"/>
                  <a:gd name="T1" fmla="*/ 16 h 17"/>
                  <a:gd name="T2" fmla="*/ 151 w 153"/>
                  <a:gd name="T3" fmla="*/ 16 h 17"/>
                  <a:gd name="T4" fmla="*/ 151 w 153"/>
                  <a:gd name="T5" fmla="*/ 10 h 17"/>
                  <a:gd name="T6" fmla="*/ 150 w 153"/>
                  <a:gd name="T7" fmla="*/ 10 h 17"/>
                  <a:gd name="T8" fmla="*/ 150 w 153"/>
                  <a:gd name="T9" fmla="*/ 10 h 17"/>
                  <a:gd name="T10" fmla="*/ 150 w 153"/>
                  <a:gd name="T11" fmla="*/ 5 h 17"/>
                  <a:gd name="T12" fmla="*/ 149 w 153"/>
                  <a:gd name="T13" fmla="*/ 5 h 17"/>
                  <a:gd name="T14" fmla="*/ 149 w 153"/>
                  <a:gd name="T15" fmla="*/ 5 h 17"/>
                  <a:gd name="T16" fmla="*/ 148 w 153"/>
                  <a:gd name="T17" fmla="*/ 0 h 17"/>
                  <a:gd name="T18" fmla="*/ 148 w 153"/>
                  <a:gd name="T19" fmla="*/ 0 h 17"/>
                  <a:gd name="T20" fmla="*/ 147 w 153"/>
                  <a:gd name="T21" fmla="*/ 0 h 17"/>
                  <a:gd name="T22" fmla="*/ 146 w 153"/>
                  <a:gd name="T23" fmla="*/ 0 h 17"/>
                  <a:gd name="T24" fmla="*/ 3 w 153"/>
                  <a:gd name="T25" fmla="*/ 0 h 17"/>
                  <a:gd name="T26" fmla="*/ 3 w 153"/>
                  <a:gd name="T27" fmla="*/ 0 h 17"/>
                  <a:gd name="T28" fmla="*/ 2 w 153"/>
                  <a:gd name="T29" fmla="*/ 0 h 17"/>
                  <a:gd name="T30" fmla="*/ 1 w 153"/>
                  <a:gd name="T31" fmla="*/ 5 h 17"/>
                  <a:gd name="T32" fmla="*/ 1 w 153"/>
                  <a:gd name="T33" fmla="*/ 5 h 17"/>
                  <a:gd name="T34" fmla="*/ 0 w 153"/>
                  <a:gd name="T35" fmla="*/ 10 h 17"/>
                  <a:gd name="T36" fmla="*/ 0 w 153"/>
                  <a:gd name="T37" fmla="*/ 10 h 17"/>
                  <a:gd name="T38" fmla="*/ 0 w 153"/>
                  <a:gd name="T39" fmla="*/ 16 h 1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53"/>
                  <a:gd name="T61" fmla="*/ 0 h 17"/>
                  <a:gd name="T62" fmla="*/ 153 w 153"/>
                  <a:gd name="T63" fmla="*/ 17 h 1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53" h="17">
                    <a:moveTo>
                      <a:pt x="152" y="16"/>
                    </a:moveTo>
                    <a:lnTo>
                      <a:pt x="151" y="16"/>
                    </a:lnTo>
                    <a:lnTo>
                      <a:pt x="151" y="10"/>
                    </a:lnTo>
                    <a:lnTo>
                      <a:pt x="150" y="10"/>
                    </a:lnTo>
                    <a:lnTo>
                      <a:pt x="150" y="5"/>
                    </a:lnTo>
                    <a:lnTo>
                      <a:pt x="149" y="5"/>
                    </a:lnTo>
                    <a:lnTo>
                      <a:pt x="148" y="0"/>
                    </a:lnTo>
                    <a:lnTo>
                      <a:pt x="147" y="0"/>
                    </a:lnTo>
                    <a:lnTo>
                      <a:pt x="146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5"/>
                    </a:lnTo>
                    <a:lnTo>
                      <a:pt x="0" y="10"/>
                    </a:lnTo>
                    <a:lnTo>
                      <a:pt x="0" y="16"/>
                    </a:lnTo>
                  </a:path>
                </a:pathLst>
              </a:custGeom>
              <a:noFill/>
              <a:ln w="12700" cap="rnd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9" name="Freeform 125"/>
              <p:cNvSpPr>
                <a:spLocks/>
              </p:cNvSpPr>
              <p:nvPr/>
            </p:nvSpPr>
            <p:spPr bwMode="auto">
              <a:xfrm>
                <a:off x="3843" y="1489"/>
                <a:ext cx="215" cy="72"/>
              </a:xfrm>
              <a:custGeom>
                <a:avLst/>
                <a:gdLst>
                  <a:gd name="T0" fmla="*/ 0 w 215"/>
                  <a:gd name="T1" fmla="*/ 71 h 72"/>
                  <a:gd name="T2" fmla="*/ 0 w 215"/>
                  <a:gd name="T3" fmla="*/ 0 h 72"/>
                  <a:gd name="T4" fmla="*/ 214 w 215"/>
                  <a:gd name="T5" fmla="*/ 0 h 72"/>
                  <a:gd name="T6" fmla="*/ 214 w 215"/>
                  <a:gd name="T7" fmla="*/ 71 h 72"/>
                  <a:gd name="T8" fmla="*/ 0 w 215"/>
                  <a:gd name="T9" fmla="*/ 71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5"/>
                  <a:gd name="T16" fmla="*/ 0 h 72"/>
                  <a:gd name="T17" fmla="*/ 215 w 215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5" h="72">
                    <a:moveTo>
                      <a:pt x="0" y="71"/>
                    </a:moveTo>
                    <a:lnTo>
                      <a:pt x="0" y="0"/>
                    </a:lnTo>
                    <a:lnTo>
                      <a:pt x="214" y="0"/>
                    </a:lnTo>
                    <a:lnTo>
                      <a:pt x="214" y="71"/>
                    </a:lnTo>
                    <a:lnTo>
                      <a:pt x="0" y="71"/>
                    </a:lnTo>
                  </a:path>
                </a:pathLst>
              </a:cu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0" name="Freeform 126"/>
              <p:cNvSpPr>
                <a:spLocks/>
              </p:cNvSpPr>
              <p:nvPr/>
            </p:nvSpPr>
            <p:spPr bwMode="auto">
              <a:xfrm>
                <a:off x="3841" y="1489"/>
                <a:ext cx="219" cy="23"/>
              </a:xfrm>
              <a:custGeom>
                <a:avLst/>
                <a:gdLst>
                  <a:gd name="T0" fmla="*/ 79 w 219"/>
                  <a:gd name="T1" fmla="*/ 0 h 23"/>
                  <a:gd name="T2" fmla="*/ 0 w 219"/>
                  <a:gd name="T3" fmla="*/ 0 h 23"/>
                  <a:gd name="T4" fmla="*/ 0 w 219"/>
                  <a:gd name="T5" fmla="*/ 22 h 23"/>
                  <a:gd name="T6" fmla="*/ 218 w 219"/>
                  <a:gd name="T7" fmla="*/ 22 h 23"/>
                  <a:gd name="T8" fmla="*/ 215 w 219"/>
                  <a:gd name="T9" fmla="*/ 0 h 23"/>
                  <a:gd name="T10" fmla="*/ 137 w 219"/>
                  <a:gd name="T11" fmla="*/ 0 h 23"/>
                  <a:gd name="T12" fmla="*/ 79 w 219"/>
                  <a:gd name="T13" fmla="*/ 0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19"/>
                  <a:gd name="T22" fmla="*/ 0 h 23"/>
                  <a:gd name="T23" fmla="*/ 219 w 219"/>
                  <a:gd name="T24" fmla="*/ 23 h 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19" h="23">
                    <a:moveTo>
                      <a:pt x="79" y="0"/>
                    </a:moveTo>
                    <a:lnTo>
                      <a:pt x="0" y="0"/>
                    </a:lnTo>
                    <a:lnTo>
                      <a:pt x="0" y="22"/>
                    </a:lnTo>
                    <a:lnTo>
                      <a:pt x="218" y="22"/>
                    </a:lnTo>
                    <a:lnTo>
                      <a:pt x="215" y="0"/>
                    </a:lnTo>
                    <a:lnTo>
                      <a:pt x="137" y="0"/>
                    </a:lnTo>
                    <a:lnTo>
                      <a:pt x="79" y="0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1" name="Freeform 127"/>
              <p:cNvSpPr>
                <a:spLocks/>
              </p:cNvSpPr>
              <p:nvPr/>
            </p:nvSpPr>
            <p:spPr bwMode="auto">
              <a:xfrm>
                <a:off x="3991" y="1495"/>
                <a:ext cx="56" cy="17"/>
              </a:xfrm>
              <a:custGeom>
                <a:avLst/>
                <a:gdLst>
                  <a:gd name="T0" fmla="*/ 0 w 56"/>
                  <a:gd name="T1" fmla="*/ 6 h 17"/>
                  <a:gd name="T2" fmla="*/ 18 w 56"/>
                  <a:gd name="T3" fmla="*/ 6 h 17"/>
                  <a:gd name="T4" fmla="*/ 18 w 56"/>
                  <a:gd name="T5" fmla="*/ 0 h 17"/>
                  <a:gd name="T6" fmla="*/ 35 w 56"/>
                  <a:gd name="T7" fmla="*/ 0 h 17"/>
                  <a:gd name="T8" fmla="*/ 35 w 56"/>
                  <a:gd name="T9" fmla="*/ 6 h 17"/>
                  <a:gd name="T10" fmla="*/ 55 w 56"/>
                  <a:gd name="T11" fmla="*/ 6 h 17"/>
                  <a:gd name="T12" fmla="*/ 55 w 56"/>
                  <a:gd name="T13" fmla="*/ 10 h 17"/>
                  <a:gd name="T14" fmla="*/ 35 w 56"/>
                  <a:gd name="T15" fmla="*/ 10 h 17"/>
                  <a:gd name="T16" fmla="*/ 35 w 56"/>
                  <a:gd name="T17" fmla="*/ 16 h 17"/>
                  <a:gd name="T18" fmla="*/ 18 w 56"/>
                  <a:gd name="T19" fmla="*/ 16 h 17"/>
                  <a:gd name="T20" fmla="*/ 18 w 56"/>
                  <a:gd name="T21" fmla="*/ 10 h 17"/>
                  <a:gd name="T22" fmla="*/ 0 w 56"/>
                  <a:gd name="T23" fmla="*/ 10 h 17"/>
                  <a:gd name="T24" fmla="*/ 0 w 56"/>
                  <a:gd name="T25" fmla="*/ 6 h 1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6"/>
                  <a:gd name="T40" fmla="*/ 0 h 17"/>
                  <a:gd name="T41" fmla="*/ 56 w 56"/>
                  <a:gd name="T42" fmla="*/ 17 h 1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6" h="17">
                    <a:moveTo>
                      <a:pt x="0" y="6"/>
                    </a:moveTo>
                    <a:lnTo>
                      <a:pt x="18" y="6"/>
                    </a:lnTo>
                    <a:lnTo>
                      <a:pt x="18" y="0"/>
                    </a:lnTo>
                    <a:lnTo>
                      <a:pt x="35" y="0"/>
                    </a:lnTo>
                    <a:lnTo>
                      <a:pt x="35" y="6"/>
                    </a:lnTo>
                    <a:lnTo>
                      <a:pt x="55" y="6"/>
                    </a:lnTo>
                    <a:lnTo>
                      <a:pt x="55" y="10"/>
                    </a:lnTo>
                    <a:lnTo>
                      <a:pt x="35" y="10"/>
                    </a:lnTo>
                    <a:lnTo>
                      <a:pt x="35" y="16"/>
                    </a:lnTo>
                    <a:lnTo>
                      <a:pt x="18" y="16"/>
                    </a:lnTo>
                    <a:lnTo>
                      <a:pt x="18" y="10"/>
                    </a:lnTo>
                    <a:lnTo>
                      <a:pt x="0" y="10"/>
                    </a:lnTo>
                    <a:lnTo>
                      <a:pt x="0" y="6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2" name="Freeform 128"/>
              <p:cNvSpPr>
                <a:spLocks/>
              </p:cNvSpPr>
              <p:nvPr/>
            </p:nvSpPr>
            <p:spPr bwMode="auto">
              <a:xfrm>
                <a:off x="3991" y="1501"/>
                <a:ext cx="17" cy="17"/>
              </a:xfrm>
              <a:custGeom>
                <a:avLst/>
                <a:gdLst>
                  <a:gd name="T0" fmla="*/ 0 w 17"/>
                  <a:gd name="T1" fmla="*/ 16 h 17"/>
                  <a:gd name="T2" fmla="*/ 16 w 17"/>
                  <a:gd name="T3" fmla="*/ 10 h 17"/>
                  <a:gd name="T4" fmla="*/ 16 w 17"/>
                  <a:gd name="T5" fmla="*/ 5 h 17"/>
                  <a:gd name="T6" fmla="*/ 0 w 17"/>
                  <a:gd name="T7" fmla="*/ 0 h 1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17"/>
                  <a:gd name="T14" fmla="*/ 17 w 17"/>
                  <a:gd name="T15" fmla="*/ 17 h 1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17">
                    <a:moveTo>
                      <a:pt x="0" y="16"/>
                    </a:moveTo>
                    <a:lnTo>
                      <a:pt x="16" y="10"/>
                    </a:lnTo>
                    <a:lnTo>
                      <a:pt x="16" y="5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rnd">
                <a:solidFill>
                  <a:srgbClr val="EFEFD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3" name="Freeform 129"/>
              <p:cNvSpPr>
                <a:spLocks/>
              </p:cNvSpPr>
              <p:nvPr/>
            </p:nvSpPr>
            <p:spPr bwMode="auto">
              <a:xfrm>
                <a:off x="4010" y="1495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16 w 17"/>
                  <a:gd name="T3" fmla="*/ 16 h 17"/>
                  <a:gd name="T4" fmla="*/ 0 w 17"/>
                  <a:gd name="T5" fmla="*/ 0 h 17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17"/>
                  <a:gd name="T11" fmla="*/ 17 w 17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17">
                    <a:moveTo>
                      <a:pt x="0" y="0"/>
                    </a:moveTo>
                    <a:lnTo>
                      <a:pt x="16" y="16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rnd">
                <a:solidFill>
                  <a:srgbClr val="EFE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4" name="Freeform 130"/>
              <p:cNvSpPr>
                <a:spLocks/>
              </p:cNvSpPr>
              <p:nvPr/>
            </p:nvSpPr>
            <p:spPr bwMode="auto">
              <a:xfrm>
                <a:off x="4046" y="1504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16 w 17"/>
                  <a:gd name="T3" fmla="*/ 16 h 17"/>
                  <a:gd name="T4" fmla="*/ 0 w 17"/>
                  <a:gd name="T5" fmla="*/ 0 h 17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17"/>
                  <a:gd name="T11" fmla="*/ 17 w 17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17">
                    <a:moveTo>
                      <a:pt x="0" y="0"/>
                    </a:moveTo>
                    <a:lnTo>
                      <a:pt x="16" y="16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rnd">
                <a:solidFill>
                  <a:srgbClr val="EFE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5" name="Freeform 131"/>
              <p:cNvSpPr>
                <a:spLocks/>
              </p:cNvSpPr>
              <p:nvPr/>
            </p:nvSpPr>
            <p:spPr bwMode="auto">
              <a:xfrm>
                <a:off x="4027" y="1495"/>
                <a:ext cx="17" cy="17"/>
              </a:xfrm>
              <a:custGeom>
                <a:avLst/>
                <a:gdLst>
                  <a:gd name="T0" fmla="*/ 0 w 17"/>
                  <a:gd name="T1" fmla="*/ 16 h 17"/>
                  <a:gd name="T2" fmla="*/ 16 w 17"/>
                  <a:gd name="T3" fmla="*/ 0 h 17"/>
                  <a:gd name="T4" fmla="*/ 0 w 17"/>
                  <a:gd name="T5" fmla="*/ 16 h 17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17"/>
                  <a:gd name="T11" fmla="*/ 17 w 17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17">
                    <a:moveTo>
                      <a:pt x="0" y="16"/>
                    </a:moveTo>
                    <a:lnTo>
                      <a:pt x="16" y="0"/>
                    </a:lnTo>
                    <a:lnTo>
                      <a:pt x="0" y="16"/>
                    </a:lnTo>
                  </a:path>
                </a:pathLst>
              </a:custGeom>
              <a:noFill/>
              <a:ln w="12700" cap="rnd">
                <a:solidFill>
                  <a:srgbClr val="EFE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6" name="Freeform 132"/>
              <p:cNvSpPr>
                <a:spLocks/>
              </p:cNvSpPr>
              <p:nvPr/>
            </p:nvSpPr>
            <p:spPr bwMode="auto">
              <a:xfrm>
                <a:off x="4011" y="1499"/>
                <a:ext cx="17" cy="17"/>
              </a:xfrm>
              <a:custGeom>
                <a:avLst/>
                <a:gdLst>
                  <a:gd name="T0" fmla="*/ 0 w 17"/>
                  <a:gd name="T1" fmla="*/ 16 h 17"/>
                  <a:gd name="T2" fmla="*/ 16 w 17"/>
                  <a:gd name="T3" fmla="*/ 16 h 17"/>
                  <a:gd name="T4" fmla="*/ 16 w 17"/>
                  <a:gd name="T5" fmla="*/ 0 h 17"/>
                  <a:gd name="T6" fmla="*/ 0 w 17"/>
                  <a:gd name="T7" fmla="*/ 0 h 17"/>
                  <a:gd name="T8" fmla="*/ 0 w 17"/>
                  <a:gd name="T9" fmla="*/ 16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0" y="16"/>
                    </a:moveTo>
                    <a:lnTo>
                      <a:pt x="16" y="16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9F9FA2"/>
              </a:solidFill>
              <a:ln w="12700" cap="rnd">
                <a:solidFill>
                  <a:srgbClr val="9F9FA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7" name="Freeform 133"/>
              <p:cNvSpPr>
                <a:spLocks/>
              </p:cNvSpPr>
              <p:nvPr/>
            </p:nvSpPr>
            <p:spPr bwMode="auto">
              <a:xfrm>
                <a:off x="3993" y="1502"/>
                <a:ext cx="54" cy="17"/>
              </a:xfrm>
              <a:custGeom>
                <a:avLst/>
                <a:gdLst>
                  <a:gd name="T0" fmla="*/ 0 w 54"/>
                  <a:gd name="T1" fmla="*/ 0 h 17"/>
                  <a:gd name="T2" fmla="*/ 53 w 54"/>
                  <a:gd name="T3" fmla="*/ 0 h 17"/>
                  <a:gd name="T4" fmla="*/ 53 w 54"/>
                  <a:gd name="T5" fmla="*/ 16 h 17"/>
                  <a:gd name="T6" fmla="*/ 0 w 54"/>
                  <a:gd name="T7" fmla="*/ 16 h 17"/>
                  <a:gd name="T8" fmla="*/ 0 w 54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"/>
                  <a:gd name="T16" fmla="*/ 0 h 17"/>
                  <a:gd name="T17" fmla="*/ 54 w 5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" h="17">
                    <a:moveTo>
                      <a:pt x="0" y="0"/>
                    </a:moveTo>
                    <a:lnTo>
                      <a:pt x="53" y="0"/>
                    </a:lnTo>
                    <a:lnTo>
                      <a:pt x="53" y="16"/>
                    </a:lnTo>
                    <a:lnTo>
                      <a:pt x="0" y="1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8" name="Freeform 134"/>
              <p:cNvSpPr>
                <a:spLocks/>
              </p:cNvSpPr>
              <p:nvPr/>
            </p:nvSpPr>
            <p:spPr bwMode="auto">
              <a:xfrm>
                <a:off x="4010" y="1496"/>
                <a:ext cx="19" cy="17"/>
              </a:xfrm>
              <a:custGeom>
                <a:avLst/>
                <a:gdLst>
                  <a:gd name="T0" fmla="*/ 18 w 19"/>
                  <a:gd name="T1" fmla="*/ 12 h 17"/>
                  <a:gd name="T2" fmla="*/ 17 w 19"/>
                  <a:gd name="T3" fmla="*/ 16 h 17"/>
                  <a:gd name="T4" fmla="*/ 17 w 19"/>
                  <a:gd name="T5" fmla="*/ 0 h 17"/>
                  <a:gd name="T6" fmla="*/ 0 w 19"/>
                  <a:gd name="T7" fmla="*/ 0 h 17"/>
                  <a:gd name="T8" fmla="*/ 0 w 19"/>
                  <a:gd name="T9" fmla="*/ 16 h 17"/>
                  <a:gd name="T10" fmla="*/ 0 w 19"/>
                  <a:gd name="T11" fmla="*/ 12 h 1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"/>
                  <a:gd name="T19" fmla="*/ 0 h 17"/>
                  <a:gd name="T20" fmla="*/ 19 w 19"/>
                  <a:gd name="T21" fmla="*/ 17 h 1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" h="17">
                    <a:moveTo>
                      <a:pt x="18" y="12"/>
                    </a:moveTo>
                    <a:lnTo>
                      <a:pt x="17" y="16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0" y="12"/>
                    </a:lnTo>
                  </a:path>
                </a:pathLst>
              </a:custGeom>
              <a:noFill/>
              <a:ln w="12700" cap="rnd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9" name="Freeform 135"/>
              <p:cNvSpPr>
                <a:spLocks/>
              </p:cNvSpPr>
              <p:nvPr/>
            </p:nvSpPr>
            <p:spPr bwMode="auto">
              <a:xfrm>
                <a:off x="3945" y="1505"/>
                <a:ext cx="17" cy="17"/>
              </a:xfrm>
              <a:custGeom>
                <a:avLst/>
                <a:gdLst>
                  <a:gd name="T0" fmla="*/ 16 w 17"/>
                  <a:gd name="T1" fmla="*/ 0 h 17"/>
                  <a:gd name="T2" fmla="*/ 16 w 17"/>
                  <a:gd name="T3" fmla="*/ 16 h 17"/>
                  <a:gd name="T4" fmla="*/ 0 w 17"/>
                  <a:gd name="T5" fmla="*/ 16 h 17"/>
                  <a:gd name="T6" fmla="*/ 0 w 17"/>
                  <a:gd name="T7" fmla="*/ 0 h 17"/>
                  <a:gd name="T8" fmla="*/ 16 w 17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16" y="0"/>
                    </a:moveTo>
                    <a:lnTo>
                      <a:pt x="16" y="16"/>
                    </a:lnTo>
                    <a:lnTo>
                      <a:pt x="0" y="16"/>
                    </a:lnTo>
                    <a:lnTo>
                      <a:pt x="0" y="0"/>
                    </a:lnTo>
                    <a:lnTo>
                      <a:pt x="16" y="0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0" name="Freeform 136"/>
              <p:cNvSpPr>
                <a:spLocks/>
              </p:cNvSpPr>
              <p:nvPr/>
            </p:nvSpPr>
            <p:spPr bwMode="auto">
              <a:xfrm>
                <a:off x="3945" y="1505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16 w 17"/>
                  <a:gd name="T3" fmla="*/ 0 h 17"/>
                  <a:gd name="T4" fmla="*/ 16 w 17"/>
                  <a:gd name="T5" fmla="*/ 16 h 17"/>
                  <a:gd name="T6" fmla="*/ 0 w 17"/>
                  <a:gd name="T7" fmla="*/ 16 h 17"/>
                  <a:gd name="T8" fmla="*/ 0 w 17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0" y="0"/>
                    </a:moveTo>
                    <a:lnTo>
                      <a:pt x="16" y="0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1" name="Freeform 137"/>
              <p:cNvSpPr>
                <a:spLocks/>
              </p:cNvSpPr>
              <p:nvPr/>
            </p:nvSpPr>
            <p:spPr bwMode="auto">
              <a:xfrm>
                <a:off x="3930" y="1497"/>
                <a:ext cx="44" cy="17"/>
              </a:xfrm>
              <a:custGeom>
                <a:avLst/>
                <a:gdLst>
                  <a:gd name="T0" fmla="*/ 14 w 44"/>
                  <a:gd name="T1" fmla="*/ 16 h 17"/>
                  <a:gd name="T2" fmla="*/ 0 w 44"/>
                  <a:gd name="T3" fmla="*/ 16 h 17"/>
                  <a:gd name="T4" fmla="*/ 0 w 44"/>
                  <a:gd name="T5" fmla="*/ 8 h 17"/>
                  <a:gd name="T6" fmla="*/ 14 w 44"/>
                  <a:gd name="T7" fmla="*/ 8 h 17"/>
                  <a:gd name="T8" fmla="*/ 14 w 44"/>
                  <a:gd name="T9" fmla="*/ 0 h 17"/>
                  <a:gd name="T10" fmla="*/ 28 w 44"/>
                  <a:gd name="T11" fmla="*/ 0 h 17"/>
                  <a:gd name="T12" fmla="*/ 28 w 44"/>
                  <a:gd name="T13" fmla="*/ 8 h 17"/>
                  <a:gd name="T14" fmla="*/ 43 w 44"/>
                  <a:gd name="T15" fmla="*/ 8 h 17"/>
                  <a:gd name="T16" fmla="*/ 43 w 44"/>
                  <a:gd name="T17" fmla="*/ 16 h 17"/>
                  <a:gd name="T18" fmla="*/ 28 w 44"/>
                  <a:gd name="T19" fmla="*/ 16 h 17"/>
                  <a:gd name="T20" fmla="*/ 14 w 44"/>
                  <a:gd name="T21" fmla="*/ 16 h 1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4"/>
                  <a:gd name="T34" fmla="*/ 0 h 17"/>
                  <a:gd name="T35" fmla="*/ 44 w 44"/>
                  <a:gd name="T36" fmla="*/ 17 h 1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4" h="17">
                    <a:moveTo>
                      <a:pt x="14" y="16"/>
                    </a:moveTo>
                    <a:lnTo>
                      <a:pt x="0" y="16"/>
                    </a:lnTo>
                    <a:lnTo>
                      <a:pt x="0" y="8"/>
                    </a:lnTo>
                    <a:lnTo>
                      <a:pt x="14" y="8"/>
                    </a:lnTo>
                    <a:lnTo>
                      <a:pt x="14" y="0"/>
                    </a:lnTo>
                    <a:lnTo>
                      <a:pt x="28" y="0"/>
                    </a:lnTo>
                    <a:lnTo>
                      <a:pt x="28" y="8"/>
                    </a:lnTo>
                    <a:lnTo>
                      <a:pt x="43" y="8"/>
                    </a:lnTo>
                    <a:lnTo>
                      <a:pt x="43" y="16"/>
                    </a:lnTo>
                    <a:lnTo>
                      <a:pt x="28" y="16"/>
                    </a:lnTo>
                    <a:lnTo>
                      <a:pt x="14" y="16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2" name="Freeform 138"/>
              <p:cNvSpPr>
                <a:spLocks/>
              </p:cNvSpPr>
              <p:nvPr/>
            </p:nvSpPr>
            <p:spPr bwMode="auto">
              <a:xfrm>
                <a:off x="3945" y="1497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16 w 17"/>
                  <a:gd name="T3" fmla="*/ 0 h 17"/>
                  <a:gd name="T4" fmla="*/ 16 w 17"/>
                  <a:gd name="T5" fmla="*/ 16 h 17"/>
                  <a:gd name="T6" fmla="*/ 0 w 17"/>
                  <a:gd name="T7" fmla="*/ 16 h 17"/>
                  <a:gd name="T8" fmla="*/ 0 w 17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0" y="0"/>
                    </a:moveTo>
                    <a:lnTo>
                      <a:pt x="16" y="0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3" name="Freeform 139"/>
              <p:cNvSpPr>
                <a:spLocks/>
              </p:cNvSpPr>
              <p:nvPr/>
            </p:nvSpPr>
            <p:spPr bwMode="auto">
              <a:xfrm>
                <a:off x="3897" y="1494"/>
                <a:ext cx="20" cy="17"/>
              </a:xfrm>
              <a:custGeom>
                <a:avLst/>
                <a:gdLst>
                  <a:gd name="T0" fmla="*/ 5 w 20"/>
                  <a:gd name="T1" fmla="*/ 16 h 17"/>
                  <a:gd name="T2" fmla="*/ 3 w 20"/>
                  <a:gd name="T3" fmla="*/ 15 h 17"/>
                  <a:gd name="T4" fmla="*/ 2 w 20"/>
                  <a:gd name="T5" fmla="*/ 15 h 17"/>
                  <a:gd name="T6" fmla="*/ 1 w 20"/>
                  <a:gd name="T7" fmla="*/ 14 h 17"/>
                  <a:gd name="T8" fmla="*/ 1 w 20"/>
                  <a:gd name="T9" fmla="*/ 12 h 17"/>
                  <a:gd name="T10" fmla="*/ 0 w 20"/>
                  <a:gd name="T11" fmla="*/ 12 h 17"/>
                  <a:gd name="T12" fmla="*/ 0 w 20"/>
                  <a:gd name="T13" fmla="*/ 10 h 17"/>
                  <a:gd name="T14" fmla="*/ 0 w 20"/>
                  <a:gd name="T15" fmla="*/ 8 h 17"/>
                  <a:gd name="T16" fmla="*/ 0 w 20"/>
                  <a:gd name="T17" fmla="*/ 6 h 17"/>
                  <a:gd name="T18" fmla="*/ 0 w 20"/>
                  <a:gd name="T19" fmla="*/ 4 h 17"/>
                  <a:gd name="T20" fmla="*/ 0 w 20"/>
                  <a:gd name="T21" fmla="*/ 3 h 17"/>
                  <a:gd name="T22" fmla="*/ 1 w 20"/>
                  <a:gd name="T23" fmla="*/ 2 h 17"/>
                  <a:gd name="T24" fmla="*/ 2 w 20"/>
                  <a:gd name="T25" fmla="*/ 1 h 17"/>
                  <a:gd name="T26" fmla="*/ 3 w 20"/>
                  <a:gd name="T27" fmla="*/ 0 h 17"/>
                  <a:gd name="T28" fmla="*/ 4 w 20"/>
                  <a:gd name="T29" fmla="*/ 0 h 17"/>
                  <a:gd name="T30" fmla="*/ 5 w 20"/>
                  <a:gd name="T31" fmla="*/ 0 h 17"/>
                  <a:gd name="T32" fmla="*/ 12 w 20"/>
                  <a:gd name="T33" fmla="*/ 0 h 17"/>
                  <a:gd name="T34" fmla="*/ 13 w 20"/>
                  <a:gd name="T35" fmla="*/ 0 h 17"/>
                  <a:gd name="T36" fmla="*/ 15 w 20"/>
                  <a:gd name="T37" fmla="*/ 0 h 17"/>
                  <a:gd name="T38" fmla="*/ 16 w 20"/>
                  <a:gd name="T39" fmla="*/ 1 h 17"/>
                  <a:gd name="T40" fmla="*/ 17 w 20"/>
                  <a:gd name="T41" fmla="*/ 3 h 17"/>
                  <a:gd name="T42" fmla="*/ 17 w 20"/>
                  <a:gd name="T43" fmla="*/ 3 h 17"/>
                  <a:gd name="T44" fmla="*/ 18 w 20"/>
                  <a:gd name="T45" fmla="*/ 5 h 17"/>
                  <a:gd name="T46" fmla="*/ 18 w 20"/>
                  <a:gd name="T47" fmla="*/ 7 h 17"/>
                  <a:gd name="T48" fmla="*/ 18 w 20"/>
                  <a:gd name="T49" fmla="*/ 8 h 17"/>
                  <a:gd name="T50" fmla="*/ 18 w 20"/>
                  <a:gd name="T51" fmla="*/ 10 h 17"/>
                  <a:gd name="T52" fmla="*/ 17 w 20"/>
                  <a:gd name="T53" fmla="*/ 12 h 17"/>
                  <a:gd name="T54" fmla="*/ 16 w 20"/>
                  <a:gd name="T55" fmla="*/ 13 h 17"/>
                  <a:gd name="T56" fmla="*/ 15 w 20"/>
                  <a:gd name="T57" fmla="*/ 15 h 17"/>
                  <a:gd name="T58" fmla="*/ 13 w 20"/>
                  <a:gd name="T59" fmla="*/ 15 h 17"/>
                  <a:gd name="T60" fmla="*/ 13 w 20"/>
                  <a:gd name="T61" fmla="*/ 16 h 17"/>
                  <a:gd name="T62" fmla="*/ 12 w 20"/>
                  <a:gd name="T63" fmla="*/ 16 h 17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0"/>
                  <a:gd name="T97" fmla="*/ 0 h 17"/>
                  <a:gd name="T98" fmla="*/ 20 w 20"/>
                  <a:gd name="T99" fmla="*/ 17 h 17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0" h="17">
                    <a:moveTo>
                      <a:pt x="5" y="16"/>
                    </a:moveTo>
                    <a:lnTo>
                      <a:pt x="5" y="16"/>
                    </a:lnTo>
                    <a:lnTo>
                      <a:pt x="4" y="16"/>
                    </a:lnTo>
                    <a:lnTo>
                      <a:pt x="3" y="15"/>
                    </a:lnTo>
                    <a:lnTo>
                      <a:pt x="2" y="15"/>
                    </a:lnTo>
                    <a:lnTo>
                      <a:pt x="2" y="14"/>
                    </a:lnTo>
                    <a:lnTo>
                      <a:pt x="1" y="14"/>
                    </a:lnTo>
                    <a:lnTo>
                      <a:pt x="1" y="13"/>
                    </a:lnTo>
                    <a:lnTo>
                      <a:pt x="1" y="12"/>
                    </a:lnTo>
                    <a:lnTo>
                      <a:pt x="0" y="12"/>
                    </a:lnTo>
                    <a:lnTo>
                      <a:pt x="0" y="11"/>
                    </a:lnTo>
                    <a:lnTo>
                      <a:pt x="0" y="10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3"/>
                    </a:lnTo>
                    <a:lnTo>
                      <a:pt x="1" y="2"/>
                    </a:lnTo>
                    <a:lnTo>
                      <a:pt x="1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5" y="0"/>
                    </a:lnTo>
                    <a:lnTo>
                      <a:pt x="16" y="1"/>
                    </a:lnTo>
                    <a:lnTo>
                      <a:pt x="16" y="2"/>
                    </a:lnTo>
                    <a:lnTo>
                      <a:pt x="17" y="3"/>
                    </a:lnTo>
                    <a:lnTo>
                      <a:pt x="18" y="4"/>
                    </a:lnTo>
                    <a:lnTo>
                      <a:pt x="18" y="5"/>
                    </a:lnTo>
                    <a:lnTo>
                      <a:pt x="18" y="6"/>
                    </a:lnTo>
                    <a:lnTo>
                      <a:pt x="18" y="7"/>
                    </a:lnTo>
                    <a:lnTo>
                      <a:pt x="19" y="8"/>
                    </a:lnTo>
                    <a:lnTo>
                      <a:pt x="18" y="8"/>
                    </a:lnTo>
                    <a:lnTo>
                      <a:pt x="18" y="9"/>
                    </a:lnTo>
                    <a:lnTo>
                      <a:pt x="18" y="10"/>
                    </a:lnTo>
                    <a:lnTo>
                      <a:pt x="18" y="11"/>
                    </a:lnTo>
                    <a:lnTo>
                      <a:pt x="17" y="12"/>
                    </a:lnTo>
                    <a:lnTo>
                      <a:pt x="16" y="13"/>
                    </a:lnTo>
                    <a:lnTo>
                      <a:pt x="16" y="14"/>
                    </a:lnTo>
                    <a:lnTo>
                      <a:pt x="15" y="15"/>
                    </a:lnTo>
                    <a:lnTo>
                      <a:pt x="13" y="15"/>
                    </a:lnTo>
                    <a:lnTo>
                      <a:pt x="13" y="16"/>
                    </a:lnTo>
                    <a:lnTo>
                      <a:pt x="12" y="16"/>
                    </a:lnTo>
                    <a:lnTo>
                      <a:pt x="5" y="16"/>
                    </a:lnTo>
                  </a:path>
                </a:pathLst>
              </a:custGeom>
              <a:solidFill>
                <a:srgbClr val="666666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4" name="Freeform 140"/>
              <p:cNvSpPr>
                <a:spLocks/>
              </p:cNvSpPr>
              <p:nvPr/>
            </p:nvSpPr>
            <p:spPr bwMode="auto">
              <a:xfrm>
                <a:off x="3921" y="1489"/>
                <a:ext cx="17" cy="38"/>
              </a:xfrm>
              <a:custGeom>
                <a:avLst/>
                <a:gdLst>
                  <a:gd name="T0" fmla="*/ 8 w 17"/>
                  <a:gd name="T1" fmla="*/ 0 h 38"/>
                  <a:gd name="T2" fmla="*/ 0 w 17"/>
                  <a:gd name="T3" fmla="*/ 22 h 38"/>
                  <a:gd name="T4" fmla="*/ 16 w 17"/>
                  <a:gd name="T5" fmla="*/ 22 h 38"/>
                  <a:gd name="T6" fmla="*/ 16 w 17"/>
                  <a:gd name="T7" fmla="*/ 37 h 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38"/>
                  <a:gd name="T14" fmla="*/ 17 w 17"/>
                  <a:gd name="T15" fmla="*/ 38 h 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38">
                    <a:moveTo>
                      <a:pt x="8" y="0"/>
                    </a:moveTo>
                    <a:lnTo>
                      <a:pt x="0" y="22"/>
                    </a:lnTo>
                    <a:lnTo>
                      <a:pt x="16" y="22"/>
                    </a:lnTo>
                    <a:lnTo>
                      <a:pt x="16" y="37"/>
                    </a:lnTo>
                  </a:path>
                </a:pathLst>
              </a:custGeom>
              <a:noFill/>
              <a:ln w="12700" cap="rnd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5" name="Freeform 141"/>
              <p:cNvSpPr>
                <a:spLocks/>
              </p:cNvSpPr>
              <p:nvPr/>
            </p:nvSpPr>
            <p:spPr bwMode="auto">
              <a:xfrm>
                <a:off x="3979" y="1489"/>
                <a:ext cx="17" cy="72"/>
              </a:xfrm>
              <a:custGeom>
                <a:avLst/>
                <a:gdLst>
                  <a:gd name="T0" fmla="*/ 0 w 17"/>
                  <a:gd name="T1" fmla="*/ 0 h 72"/>
                  <a:gd name="T2" fmla="*/ 16 w 17"/>
                  <a:gd name="T3" fmla="*/ 22 h 72"/>
                  <a:gd name="T4" fmla="*/ 0 w 17"/>
                  <a:gd name="T5" fmla="*/ 22 h 72"/>
                  <a:gd name="T6" fmla="*/ 0 w 17"/>
                  <a:gd name="T7" fmla="*/ 71 h 7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72"/>
                  <a:gd name="T14" fmla="*/ 17 w 17"/>
                  <a:gd name="T15" fmla="*/ 72 h 7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72">
                    <a:moveTo>
                      <a:pt x="0" y="0"/>
                    </a:moveTo>
                    <a:lnTo>
                      <a:pt x="16" y="22"/>
                    </a:lnTo>
                    <a:lnTo>
                      <a:pt x="0" y="22"/>
                    </a:lnTo>
                    <a:lnTo>
                      <a:pt x="0" y="71"/>
                    </a:lnTo>
                  </a:path>
                </a:pathLst>
              </a:custGeom>
              <a:noFill/>
              <a:ln w="12700" cap="rnd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6" name="Freeform 142"/>
              <p:cNvSpPr>
                <a:spLocks/>
              </p:cNvSpPr>
              <p:nvPr/>
            </p:nvSpPr>
            <p:spPr bwMode="auto">
              <a:xfrm>
                <a:off x="3855" y="1532"/>
                <a:ext cx="250" cy="41"/>
              </a:xfrm>
              <a:custGeom>
                <a:avLst/>
                <a:gdLst>
                  <a:gd name="T0" fmla="*/ 0 w 250"/>
                  <a:gd name="T1" fmla="*/ 40 h 41"/>
                  <a:gd name="T2" fmla="*/ 249 w 250"/>
                  <a:gd name="T3" fmla="*/ 40 h 41"/>
                  <a:gd name="T4" fmla="*/ 240 w 250"/>
                  <a:gd name="T5" fmla="*/ 0 h 41"/>
                  <a:gd name="T6" fmla="*/ 10 w 250"/>
                  <a:gd name="T7" fmla="*/ 0 h 41"/>
                  <a:gd name="T8" fmla="*/ 0 w 250"/>
                  <a:gd name="T9" fmla="*/ 40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0"/>
                  <a:gd name="T16" fmla="*/ 0 h 41"/>
                  <a:gd name="T17" fmla="*/ 250 w 250"/>
                  <a:gd name="T18" fmla="*/ 41 h 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0" h="41">
                    <a:moveTo>
                      <a:pt x="0" y="40"/>
                    </a:moveTo>
                    <a:lnTo>
                      <a:pt x="249" y="40"/>
                    </a:lnTo>
                    <a:lnTo>
                      <a:pt x="240" y="0"/>
                    </a:lnTo>
                    <a:lnTo>
                      <a:pt x="10" y="0"/>
                    </a:lnTo>
                    <a:lnTo>
                      <a:pt x="0" y="40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7" name="Freeform 143"/>
              <p:cNvSpPr>
                <a:spLocks/>
              </p:cNvSpPr>
              <p:nvPr/>
            </p:nvSpPr>
            <p:spPr bwMode="auto">
              <a:xfrm>
                <a:off x="3855" y="1572"/>
                <a:ext cx="251" cy="17"/>
              </a:xfrm>
              <a:custGeom>
                <a:avLst/>
                <a:gdLst>
                  <a:gd name="T0" fmla="*/ 0 w 251"/>
                  <a:gd name="T1" fmla="*/ 16 h 17"/>
                  <a:gd name="T2" fmla="*/ 0 w 251"/>
                  <a:gd name="T3" fmla="*/ 0 h 17"/>
                  <a:gd name="T4" fmla="*/ 249 w 251"/>
                  <a:gd name="T5" fmla="*/ 0 h 17"/>
                  <a:gd name="T6" fmla="*/ 250 w 251"/>
                  <a:gd name="T7" fmla="*/ 16 h 17"/>
                  <a:gd name="T8" fmla="*/ 0 w 251"/>
                  <a:gd name="T9" fmla="*/ 16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1"/>
                  <a:gd name="T16" fmla="*/ 0 h 17"/>
                  <a:gd name="T17" fmla="*/ 251 w 251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1" h="17">
                    <a:moveTo>
                      <a:pt x="0" y="16"/>
                    </a:moveTo>
                    <a:lnTo>
                      <a:pt x="0" y="0"/>
                    </a:lnTo>
                    <a:lnTo>
                      <a:pt x="249" y="0"/>
                    </a:lnTo>
                    <a:lnTo>
                      <a:pt x="250" y="16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CCCC6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8" name="Freeform 144"/>
              <p:cNvSpPr>
                <a:spLocks/>
              </p:cNvSpPr>
              <p:nvPr/>
            </p:nvSpPr>
            <p:spPr bwMode="auto">
              <a:xfrm>
                <a:off x="3872" y="1538"/>
                <a:ext cx="223" cy="28"/>
              </a:xfrm>
              <a:custGeom>
                <a:avLst/>
                <a:gdLst>
                  <a:gd name="T0" fmla="*/ 0 w 223"/>
                  <a:gd name="T1" fmla="*/ 27 h 28"/>
                  <a:gd name="T2" fmla="*/ 222 w 223"/>
                  <a:gd name="T3" fmla="*/ 27 h 28"/>
                  <a:gd name="T4" fmla="*/ 214 w 223"/>
                  <a:gd name="T5" fmla="*/ 0 h 28"/>
                  <a:gd name="T6" fmla="*/ 8 w 223"/>
                  <a:gd name="T7" fmla="*/ 0 h 28"/>
                  <a:gd name="T8" fmla="*/ 0 w 223"/>
                  <a:gd name="T9" fmla="*/ 27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3"/>
                  <a:gd name="T16" fmla="*/ 0 h 28"/>
                  <a:gd name="T17" fmla="*/ 223 w 223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3" h="28">
                    <a:moveTo>
                      <a:pt x="0" y="27"/>
                    </a:moveTo>
                    <a:lnTo>
                      <a:pt x="222" y="27"/>
                    </a:lnTo>
                    <a:lnTo>
                      <a:pt x="214" y="0"/>
                    </a:lnTo>
                    <a:lnTo>
                      <a:pt x="8" y="0"/>
                    </a:lnTo>
                    <a:lnTo>
                      <a:pt x="0" y="27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9F9FA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445" name="Line 145"/>
            <p:cNvSpPr>
              <a:spLocks noChangeShapeType="1"/>
            </p:cNvSpPr>
            <p:nvPr/>
          </p:nvSpPr>
          <p:spPr bwMode="auto">
            <a:xfrm flipV="1">
              <a:off x="732" y="1306"/>
              <a:ext cx="795" cy="1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8446" name="Line 146"/>
            <p:cNvSpPr>
              <a:spLocks noChangeShapeType="1"/>
            </p:cNvSpPr>
            <p:nvPr/>
          </p:nvSpPr>
          <p:spPr bwMode="auto">
            <a:xfrm>
              <a:off x="4269" y="1956"/>
              <a:ext cx="666" cy="2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8447" name="Line 147"/>
            <p:cNvSpPr>
              <a:spLocks noChangeShapeType="1"/>
            </p:cNvSpPr>
            <p:nvPr/>
          </p:nvSpPr>
          <p:spPr bwMode="auto">
            <a:xfrm flipH="1" flipV="1">
              <a:off x="2381" y="1443"/>
              <a:ext cx="152" cy="6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8448" name="Line 148"/>
            <p:cNvSpPr>
              <a:spLocks noChangeShapeType="1"/>
            </p:cNvSpPr>
            <p:nvPr/>
          </p:nvSpPr>
          <p:spPr bwMode="auto">
            <a:xfrm flipV="1">
              <a:off x="826" y="1250"/>
              <a:ext cx="673" cy="111"/>
            </a:xfrm>
            <a:prstGeom prst="line">
              <a:avLst/>
            </a:prstGeom>
            <a:noFill/>
            <a:ln w="9525">
              <a:solidFill>
                <a:srgbClr val="FF33CC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8449" name="Line 149"/>
            <p:cNvSpPr>
              <a:spLocks noChangeShapeType="1"/>
            </p:cNvSpPr>
            <p:nvPr/>
          </p:nvSpPr>
          <p:spPr bwMode="auto">
            <a:xfrm>
              <a:off x="1766" y="1203"/>
              <a:ext cx="1078" cy="166"/>
            </a:xfrm>
            <a:prstGeom prst="line">
              <a:avLst/>
            </a:prstGeom>
            <a:noFill/>
            <a:ln w="9525">
              <a:solidFill>
                <a:srgbClr val="FF33CC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8450" name="Line 150"/>
            <p:cNvSpPr>
              <a:spLocks noChangeShapeType="1"/>
            </p:cNvSpPr>
            <p:nvPr/>
          </p:nvSpPr>
          <p:spPr bwMode="auto">
            <a:xfrm>
              <a:off x="3155" y="1417"/>
              <a:ext cx="926" cy="373"/>
            </a:xfrm>
            <a:prstGeom prst="line">
              <a:avLst/>
            </a:prstGeom>
            <a:noFill/>
            <a:ln w="9525">
              <a:solidFill>
                <a:srgbClr val="FF33CC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8451" name="Line 151"/>
            <p:cNvSpPr>
              <a:spLocks noChangeShapeType="1"/>
            </p:cNvSpPr>
            <p:nvPr/>
          </p:nvSpPr>
          <p:spPr bwMode="auto">
            <a:xfrm>
              <a:off x="4334" y="1909"/>
              <a:ext cx="536" cy="230"/>
            </a:xfrm>
            <a:prstGeom prst="line">
              <a:avLst/>
            </a:prstGeom>
            <a:noFill/>
            <a:ln w="9525">
              <a:solidFill>
                <a:srgbClr val="FF33CC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8452" name="Rectangle 152"/>
            <p:cNvSpPr>
              <a:spLocks noChangeArrowheads="1"/>
            </p:cNvSpPr>
            <p:nvPr/>
          </p:nvSpPr>
          <p:spPr bwMode="auto">
            <a:xfrm>
              <a:off x="815" y="1004"/>
              <a:ext cx="696" cy="2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Packet</a:t>
              </a:r>
            </a:p>
          </p:txBody>
        </p:sp>
        <p:sp>
          <p:nvSpPr>
            <p:cNvPr id="18453" name="Rectangle 153"/>
            <p:cNvSpPr>
              <a:spLocks noChangeArrowheads="1"/>
            </p:cNvSpPr>
            <p:nvPr/>
          </p:nvSpPr>
          <p:spPr bwMode="auto">
            <a:xfrm>
              <a:off x="2074" y="966"/>
              <a:ext cx="695" cy="2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Packet</a:t>
              </a:r>
            </a:p>
          </p:txBody>
        </p:sp>
        <p:sp>
          <p:nvSpPr>
            <p:cNvPr id="18454" name="Rectangle 154"/>
            <p:cNvSpPr>
              <a:spLocks noChangeArrowheads="1"/>
            </p:cNvSpPr>
            <p:nvPr/>
          </p:nvSpPr>
          <p:spPr bwMode="auto">
            <a:xfrm>
              <a:off x="3340" y="1219"/>
              <a:ext cx="695" cy="2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Packet</a:t>
              </a:r>
            </a:p>
          </p:txBody>
        </p:sp>
        <p:sp>
          <p:nvSpPr>
            <p:cNvPr id="18455" name="Rectangle 155"/>
            <p:cNvSpPr>
              <a:spLocks noChangeArrowheads="1"/>
            </p:cNvSpPr>
            <p:nvPr/>
          </p:nvSpPr>
          <p:spPr bwMode="auto">
            <a:xfrm>
              <a:off x="4445" y="1617"/>
              <a:ext cx="696" cy="28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Packet</a:t>
              </a:r>
            </a:p>
          </p:txBody>
        </p:sp>
        <p:sp>
          <p:nvSpPr>
            <p:cNvPr id="18456" name="Freeform 156"/>
            <p:cNvSpPr>
              <a:spLocks/>
            </p:cNvSpPr>
            <p:nvPr/>
          </p:nvSpPr>
          <p:spPr bwMode="auto">
            <a:xfrm rot="388125">
              <a:off x="1267" y="502"/>
              <a:ext cx="3433" cy="2397"/>
            </a:xfrm>
            <a:custGeom>
              <a:avLst/>
              <a:gdLst>
                <a:gd name="T0" fmla="*/ 42763 w 1082"/>
                <a:gd name="T1" fmla="*/ 507506 h 670"/>
                <a:gd name="T2" fmla="*/ 1913 w 1082"/>
                <a:gd name="T3" fmla="*/ 623030 h 670"/>
                <a:gd name="T4" fmla="*/ 8015 w 1082"/>
                <a:gd name="T5" fmla="*/ 731965 h 670"/>
                <a:gd name="T6" fmla="*/ 42763 w 1082"/>
                <a:gd name="T7" fmla="*/ 811731 h 670"/>
                <a:gd name="T8" fmla="*/ 31528 w 1082"/>
                <a:gd name="T9" fmla="*/ 884958 h 670"/>
                <a:gd name="T10" fmla="*/ 26354 w 1082"/>
                <a:gd name="T11" fmla="*/ 994072 h 670"/>
                <a:gd name="T12" fmla="*/ 57270 w 1082"/>
                <a:gd name="T13" fmla="*/ 1090052 h 670"/>
                <a:gd name="T14" fmla="*/ 135680 w 1082"/>
                <a:gd name="T15" fmla="*/ 1146922 h 670"/>
                <a:gd name="T16" fmla="*/ 162036 w 1082"/>
                <a:gd name="T17" fmla="*/ 1184436 h 670"/>
                <a:gd name="T18" fmla="*/ 243740 w 1082"/>
                <a:gd name="T19" fmla="*/ 1293550 h 670"/>
                <a:gd name="T20" fmla="*/ 345978 w 1082"/>
                <a:gd name="T21" fmla="*/ 1318776 h 670"/>
                <a:gd name="T22" fmla="*/ 420270 w 1082"/>
                <a:gd name="T23" fmla="*/ 1270614 h 670"/>
                <a:gd name="T24" fmla="*/ 482584 w 1082"/>
                <a:gd name="T25" fmla="*/ 1369052 h 670"/>
                <a:gd name="T26" fmla="*/ 564256 w 1082"/>
                <a:gd name="T27" fmla="*/ 1404953 h 670"/>
                <a:gd name="T28" fmla="*/ 667230 w 1082"/>
                <a:gd name="T29" fmla="*/ 1346295 h 670"/>
                <a:gd name="T30" fmla="*/ 724379 w 1082"/>
                <a:gd name="T31" fmla="*/ 1213784 h 670"/>
                <a:gd name="T32" fmla="*/ 767142 w 1082"/>
                <a:gd name="T33" fmla="*/ 1222617 h 670"/>
                <a:gd name="T34" fmla="*/ 837570 w 1082"/>
                <a:gd name="T35" fmla="*/ 1228527 h 670"/>
                <a:gd name="T36" fmla="*/ 889667 w 1082"/>
                <a:gd name="T37" fmla="*/ 1189195 h 670"/>
                <a:gd name="T38" fmla="*/ 937606 w 1082"/>
                <a:gd name="T39" fmla="*/ 1100727 h 670"/>
                <a:gd name="T40" fmla="*/ 954025 w 1082"/>
                <a:gd name="T41" fmla="*/ 1004565 h 670"/>
                <a:gd name="T42" fmla="*/ 985553 w 1082"/>
                <a:gd name="T43" fmla="*/ 964775 h 670"/>
                <a:gd name="T44" fmla="*/ 1062050 w 1082"/>
                <a:gd name="T45" fmla="*/ 876304 h 670"/>
                <a:gd name="T46" fmla="*/ 1092554 w 1082"/>
                <a:gd name="T47" fmla="*/ 788298 h 670"/>
                <a:gd name="T48" fmla="*/ 1103798 w 1082"/>
                <a:gd name="T49" fmla="*/ 681639 h 670"/>
                <a:gd name="T50" fmla="*/ 1094496 w 1082"/>
                <a:gd name="T51" fmla="*/ 584839 h 670"/>
                <a:gd name="T52" fmla="*/ 1067225 w 1082"/>
                <a:gd name="T53" fmla="*/ 498852 h 670"/>
                <a:gd name="T54" fmla="*/ 1078470 w 1082"/>
                <a:gd name="T55" fmla="*/ 404470 h 670"/>
                <a:gd name="T56" fmla="*/ 1050806 w 1082"/>
                <a:gd name="T57" fmla="*/ 261978 h 670"/>
                <a:gd name="T58" fmla="*/ 978456 w 1082"/>
                <a:gd name="T59" fmla="*/ 176437 h 670"/>
                <a:gd name="T60" fmla="*/ 950773 w 1082"/>
                <a:gd name="T61" fmla="*/ 75695 h 670"/>
                <a:gd name="T62" fmla="*/ 878423 w 1082"/>
                <a:gd name="T63" fmla="*/ 4071 h 670"/>
                <a:gd name="T64" fmla="*/ 817003 w 1082"/>
                <a:gd name="T65" fmla="*/ 10482 h 670"/>
                <a:gd name="T66" fmla="*/ 771422 w 1082"/>
                <a:gd name="T67" fmla="*/ 58659 h 670"/>
                <a:gd name="T68" fmla="*/ 743727 w 1082"/>
                <a:gd name="T69" fmla="*/ 43915 h 670"/>
                <a:gd name="T70" fmla="*/ 698758 w 1082"/>
                <a:gd name="T71" fmla="*/ 4071 h 670"/>
                <a:gd name="T72" fmla="*/ 642707 w 1082"/>
                <a:gd name="T73" fmla="*/ 8193 h 670"/>
                <a:gd name="T74" fmla="*/ 590612 w 1082"/>
                <a:gd name="T75" fmla="*/ 62730 h 670"/>
                <a:gd name="T76" fmla="*/ 553011 w 1082"/>
                <a:gd name="T77" fmla="*/ 82056 h 670"/>
                <a:gd name="T78" fmla="*/ 491595 w 1082"/>
                <a:gd name="T79" fmla="*/ 43915 h 670"/>
                <a:gd name="T80" fmla="*/ 424429 w 1082"/>
                <a:gd name="T81" fmla="*/ 60952 h 670"/>
                <a:gd name="T82" fmla="*/ 368175 w 1082"/>
                <a:gd name="T83" fmla="*/ 140715 h 670"/>
                <a:gd name="T84" fmla="*/ 315062 w 1082"/>
                <a:gd name="T85" fmla="*/ 138285 h 670"/>
                <a:gd name="T86" fmla="*/ 235716 w 1082"/>
                <a:gd name="T87" fmla="*/ 134164 h 670"/>
                <a:gd name="T88" fmla="*/ 173309 w 1082"/>
                <a:gd name="T89" fmla="*/ 178219 h 670"/>
                <a:gd name="T90" fmla="*/ 127697 w 1082"/>
                <a:gd name="T91" fmla="*/ 260132 h 670"/>
                <a:gd name="T92" fmla="*/ 100931 w 1082"/>
                <a:gd name="T93" fmla="*/ 366970 h 670"/>
                <a:gd name="T94" fmla="*/ 99018 w 1082"/>
                <a:gd name="T95" fmla="*/ 467712 h 67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082"/>
                <a:gd name="T145" fmla="*/ 0 h 670"/>
                <a:gd name="T146" fmla="*/ 1082 w 1082"/>
                <a:gd name="T147" fmla="*/ 670 h 67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082" h="670">
                  <a:moveTo>
                    <a:pt x="98" y="223"/>
                  </a:moveTo>
                  <a:lnTo>
                    <a:pt x="78" y="226"/>
                  </a:lnTo>
                  <a:lnTo>
                    <a:pt x="59" y="233"/>
                  </a:lnTo>
                  <a:lnTo>
                    <a:pt x="42" y="242"/>
                  </a:lnTo>
                  <a:lnTo>
                    <a:pt x="28" y="253"/>
                  </a:lnTo>
                  <a:lnTo>
                    <a:pt x="16" y="266"/>
                  </a:lnTo>
                  <a:lnTo>
                    <a:pt x="7" y="281"/>
                  </a:lnTo>
                  <a:lnTo>
                    <a:pt x="2" y="297"/>
                  </a:lnTo>
                  <a:lnTo>
                    <a:pt x="0" y="314"/>
                  </a:lnTo>
                  <a:lnTo>
                    <a:pt x="1" y="326"/>
                  </a:lnTo>
                  <a:lnTo>
                    <a:pt x="4" y="338"/>
                  </a:lnTo>
                  <a:lnTo>
                    <a:pt x="8" y="349"/>
                  </a:lnTo>
                  <a:lnTo>
                    <a:pt x="14" y="360"/>
                  </a:lnTo>
                  <a:lnTo>
                    <a:pt x="22" y="370"/>
                  </a:lnTo>
                  <a:lnTo>
                    <a:pt x="31" y="379"/>
                  </a:lnTo>
                  <a:lnTo>
                    <a:pt x="42" y="387"/>
                  </a:lnTo>
                  <a:lnTo>
                    <a:pt x="54" y="394"/>
                  </a:lnTo>
                  <a:lnTo>
                    <a:pt x="53" y="393"/>
                  </a:lnTo>
                  <a:lnTo>
                    <a:pt x="40" y="407"/>
                  </a:lnTo>
                  <a:lnTo>
                    <a:pt x="31" y="422"/>
                  </a:lnTo>
                  <a:lnTo>
                    <a:pt x="26" y="438"/>
                  </a:lnTo>
                  <a:lnTo>
                    <a:pt x="24" y="456"/>
                  </a:lnTo>
                  <a:lnTo>
                    <a:pt x="25" y="465"/>
                  </a:lnTo>
                  <a:lnTo>
                    <a:pt x="26" y="474"/>
                  </a:lnTo>
                  <a:lnTo>
                    <a:pt x="29" y="483"/>
                  </a:lnTo>
                  <a:lnTo>
                    <a:pt x="33" y="491"/>
                  </a:lnTo>
                  <a:lnTo>
                    <a:pt x="43" y="507"/>
                  </a:lnTo>
                  <a:lnTo>
                    <a:pt x="56" y="520"/>
                  </a:lnTo>
                  <a:lnTo>
                    <a:pt x="72" y="531"/>
                  </a:lnTo>
                  <a:lnTo>
                    <a:pt x="91" y="540"/>
                  </a:lnTo>
                  <a:lnTo>
                    <a:pt x="111" y="545"/>
                  </a:lnTo>
                  <a:lnTo>
                    <a:pt x="133" y="547"/>
                  </a:lnTo>
                  <a:lnTo>
                    <a:pt x="139" y="547"/>
                  </a:lnTo>
                  <a:lnTo>
                    <a:pt x="146" y="547"/>
                  </a:lnTo>
                  <a:lnTo>
                    <a:pt x="145" y="547"/>
                  </a:lnTo>
                  <a:lnTo>
                    <a:pt x="159" y="565"/>
                  </a:lnTo>
                  <a:lnTo>
                    <a:pt x="176" y="582"/>
                  </a:lnTo>
                  <a:lnTo>
                    <a:pt x="195" y="596"/>
                  </a:lnTo>
                  <a:lnTo>
                    <a:pt x="216" y="608"/>
                  </a:lnTo>
                  <a:lnTo>
                    <a:pt x="239" y="617"/>
                  </a:lnTo>
                  <a:lnTo>
                    <a:pt x="263" y="624"/>
                  </a:lnTo>
                  <a:lnTo>
                    <a:pt x="287" y="629"/>
                  </a:lnTo>
                  <a:lnTo>
                    <a:pt x="313" y="630"/>
                  </a:lnTo>
                  <a:lnTo>
                    <a:pt x="339" y="629"/>
                  </a:lnTo>
                  <a:lnTo>
                    <a:pt x="365" y="624"/>
                  </a:lnTo>
                  <a:lnTo>
                    <a:pt x="389" y="617"/>
                  </a:lnTo>
                  <a:lnTo>
                    <a:pt x="413" y="606"/>
                  </a:lnTo>
                  <a:lnTo>
                    <a:pt x="412" y="606"/>
                  </a:lnTo>
                  <a:lnTo>
                    <a:pt x="425" y="620"/>
                  </a:lnTo>
                  <a:lnTo>
                    <a:pt x="440" y="633"/>
                  </a:lnTo>
                  <a:lnTo>
                    <a:pt x="456" y="644"/>
                  </a:lnTo>
                  <a:lnTo>
                    <a:pt x="473" y="653"/>
                  </a:lnTo>
                  <a:lnTo>
                    <a:pt x="492" y="660"/>
                  </a:lnTo>
                  <a:lnTo>
                    <a:pt x="511" y="666"/>
                  </a:lnTo>
                  <a:lnTo>
                    <a:pt x="532" y="669"/>
                  </a:lnTo>
                  <a:lnTo>
                    <a:pt x="553" y="670"/>
                  </a:lnTo>
                  <a:lnTo>
                    <a:pt x="580" y="668"/>
                  </a:lnTo>
                  <a:lnTo>
                    <a:pt x="606" y="663"/>
                  </a:lnTo>
                  <a:lnTo>
                    <a:pt x="631" y="654"/>
                  </a:lnTo>
                  <a:lnTo>
                    <a:pt x="654" y="642"/>
                  </a:lnTo>
                  <a:lnTo>
                    <a:pt x="674" y="627"/>
                  </a:lnTo>
                  <a:lnTo>
                    <a:pt x="691" y="610"/>
                  </a:lnTo>
                  <a:lnTo>
                    <a:pt x="705" y="590"/>
                  </a:lnTo>
                  <a:lnTo>
                    <a:pt x="710" y="579"/>
                  </a:lnTo>
                  <a:lnTo>
                    <a:pt x="715" y="568"/>
                  </a:lnTo>
                  <a:lnTo>
                    <a:pt x="715" y="569"/>
                  </a:lnTo>
                  <a:lnTo>
                    <a:pt x="733" y="577"/>
                  </a:lnTo>
                  <a:lnTo>
                    <a:pt x="752" y="583"/>
                  </a:lnTo>
                  <a:lnTo>
                    <a:pt x="771" y="587"/>
                  </a:lnTo>
                  <a:lnTo>
                    <a:pt x="792" y="588"/>
                  </a:lnTo>
                  <a:lnTo>
                    <a:pt x="807" y="587"/>
                  </a:lnTo>
                  <a:lnTo>
                    <a:pt x="821" y="586"/>
                  </a:lnTo>
                  <a:lnTo>
                    <a:pt x="835" y="583"/>
                  </a:lnTo>
                  <a:lnTo>
                    <a:pt x="848" y="579"/>
                  </a:lnTo>
                  <a:lnTo>
                    <a:pt x="860" y="573"/>
                  </a:lnTo>
                  <a:lnTo>
                    <a:pt x="872" y="567"/>
                  </a:lnTo>
                  <a:lnTo>
                    <a:pt x="894" y="553"/>
                  </a:lnTo>
                  <a:lnTo>
                    <a:pt x="903" y="544"/>
                  </a:lnTo>
                  <a:lnTo>
                    <a:pt x="911" y="535"/>
                  </a:lnTo>
                  <a:lnTo>
                    <a:pt x="919" y="525"/>
                  </a:lnTo>
                  <a:lnTo>
                    <a:pt x="925" y="514"/>
                  </a:lnTo>
                  <a:lnTo>
                    <a:pt x="930" y="503"/>
                  </a:lnTo>
                  <a:lnTo>
                    <a:pt x="933" y="491"/>
                  </a:lnTo>
                  <a:lnTo>
                    <a:pt x="935" y="479"/>
                  </a:lnTo>
                  <a:lnTo>
                    <a:pt x="936" y="467"/>
                  </a:lnTo>
                  <a:lnTo>
                    <a:pt x="936" y="466"/>
                  </a:lnTo>
                  <a:lnTo>
                    <a:pt x="952" y="464"/>
                  </a:lnTo>
                  <a:lnTo>
                    <a:pt x="966" y="460"/>
                  </a:lnTo>
                  <a:lnTo>
                    <a:pt x="981" y="455"/>
                  </a:lnTo>
                  <a:lnTo>
                    <a:pt x="994" y="450"/>
                  </a:lnTo>
                  <a:lnTo>
                    <a:pt x="1019" y="436"/>
                  </a:lnTo>
                  <a:lnTo>
                    <a:pt x="1041" y="418"/>
                  </a:lnTo>
                  <a:lnTo>
                    <a:pt x="1050" y="409"/>
                  </a:lnTo>
                  <a:lnTo>
                    <a:pt x="1058" y="398"/>
                  </a:lnTo>
                  <a:lnTo>
                    <a:pt x="1065" y="387"/>
                  </a:lnTo>
                  <a:lnTo>
                    <a:pt x="1071" y="376"/>
                  </a:lnTo>
                  <a:lnTo>
                    <a:pt x="1076" y="364"/>
                  </a:lnTo>
                  <a:lnTo>
                    <a:pt x="1079" y="351"/>
                  </a:lnTo>
                  <a:lnTo>
                    <a:pt x="1081" y="338"/>
                  </a:lnTo>
                  <a:lnTo>
                    <a:pt x="1082" y="325"/>
                  </a:lnTo>
                  <a:lnTo>
                    <a:pt x="1081" y="313"/>
                  </a:lnTo>
                  <a:lnTo>
                    <a:pt x="1080" y="301"/>
                  </a:lnTo>
                  <a:lnTo>
                    <a:pt x="1077" y="290"/>
                  </a:lnTo>
                  <a:lnTo>
                    <a:pt x="1073" y="279"/>
                  </a:lnTo>
                  <a:lnTo>
                    <a:pt x="1068" y="268"/>
                  </a:lnTo>
                  <a:lnTo>
                    <a:pt x="1062" y="258"/>
                  </a:lnTo>
                  <a:lnTo>
                    <a:pt x="1047" y="238"/>
                  </a:lnTo>
                  <a:lnTo>
                    <a:pt x="1046" y="238"/>
                  </a:lnTo>
                  <a:lnTo>
                    <a:pt x="1051" y="227"/>
                  </a:lnTo>
                  <a:lnTo>
                    <a:pt x="1054" y="216"/>
                  </a:lnTo>
                  <a:lnTo>
                    <a:pt x="1056" y="204"/>
                  </a:lnTo>
                  <a:lnTo>
                    <a:pt x="1057" y="193"/>
                  </a:lnTo>
                  <a:lnTo>
                    <a:pt x="1055" y="174"/>
                  </a:lnTo>
                  <a:lnTo>
                    <a:pt x="1050" y="156"/>
                  </a:lnTo>
                  <a:lnTo>
                    <a:pt x="1041" y="140"/>
                  </a:lnTo>
                  <a:lnTo>
                    <a:pt x="1030" y="125"/>
                  </a:lnTo>
                  <a:lnTo>
                    <a:pt x="1016" y="111"/>
                  </a:lnTo>
                  <a:lnTo>
                    <a:pt x="999" y="100"/>
                  </a:lnTo>
                  <a:lnTo>
                    <a:pt x="980" y="91"/>
                  </a:lnTo>
                  <a:lnTo>
                    <a:pt x="959" y="84"/>
                  </a:lnTo>
                  <a:lnTo>
                    <a:pt x="953" y="66"/>
                  </a:lnTo>
                  <a:lnTo>
                    <a:pt x="944" y="50"/>
                  </a:lnTo>
                  <a:lnTo>
                    <a:pt x="932" y="36"/>
                  </a:lnTo>
                  <a:lnTo>
                    <a:pt x="917" y="24"/>
                  </a:lnTo>
                  <a:lnTo>
                    <a:pt x="900" y="14"/>
                  </a:lnTo>
                  <a:lnTo>
                    <a:pt x="881" y="6"/>
                  </a:lnTo>
                  <a:lnTo>
                    <a:pt x="861" y="2"/>
                  </a:lnTo>
                  <a:lnTo>
                    <a:pt x="839" y="0"/>
                  </a:lnTo>
                  <a:lnTo>
                    <a:pt x="826" y="1"/>
                  </a:lnTo>
                  <a:lnTo>
                    <a:pt x="813" y="2"/>
                  </a:lnTo>
                  <a:lnTo>
                    <a:pt x="801" y="5"/>
                  </a:lnTo>
                  <a:lnTo>
                    <a:pt x="789" y="9"/>
                  </a:lnTo>
                  <a:lnTo>
                    <a:pt x="777" y="15"/>
                  </a:lnTo>
                  <a:lnTo>
                    <a:pt x="766" y="21"/>
                  </a:lnTo>
                  <a:lnTo>
                    <a:pt x="756" y="28"/>
                  </a:lnTo>
                  <a:lnTo>
                    <a:pt x="747" y="36"/>
                  </a:lnTo>
                  <a:lnTo>
                    <a:pt x="739" y="28"/>
                  </a:lnTo>
                  <a:lnTo>
                    <a:pt x="729" y="21"/>
                  </a:lnTo>
                  <a:lnTo>
                    <a:pt x="719" y="15"/>
                  </a:lnTo>
                  <a:lnTo>
                    <a:pt x="708" y="9"/>
                  </a:lnTo>
                  <a:lnTo>
                    <a:pt x="697" y="5"/>
                  </a:lnTo>
                  <a:lnTo>
                    <a:pt x="685" y="2"/>
                  </a:lnTo>
                  <a:lnTo>
                    <a:pt x="673" y="1"/>
                  </a:lnTo>
                  <a:lnTo>
                    <a:pt x="660" y="0"/>
                  </a:lnTo>
                  <a:lnTo>
                    <a:pt x="645" y="1"/>
                  </a:lnTo>
                  <a:lnTo>
                    <a:pt x="630" y="4"/>
                  </a:lnTo>
                  <a:lnTo>
                    <a:pt x="616" y="8"/>
                  </a:lnTo>
                  <a:lnTo>
                    <a:pt x="602" y="14"/>
                  </a:lnTo>
                  <a:lnTo>
                    <a:pt x="590" y="21"/>
                  </a:lnTo>
                  <a:lnTo>
                    <a:pt x="579" y="30"/>
                  </a:lnTo>
                  <a:lnTo>
                    <a:pt x="570" y="40"/>
                  </a:lnTo>
                  <a:lnTo>
                    <a:pt x="562" y="51"/>
                  </a:lnTo>
                  <a:lnTo>
                    <a:pt x="562" y="53"/>
                  </a:lnTo>
                  <a:lnTo>
                    <a:pt x="542" y="39"/>
                  </a:lnTo>
                  <a:lnTo>
                    <a:pt x="519" y="29"/>
                  </a:lnTo>
                  <a:lnTo>
                    <a:pt x="507" y="25"/>
                  </a:lnTo>
                  <a:lnTo>
                    <a:pt x="495" y="22"/>
                  </a:lnTo>
                  <a:lnTo>
                    <a:pt x="482" y="21"/>
                  </a:lnTo>
                  <a:lnTo>
                    <a:pt x="469" y="20"/>
                  </a:lnTo>
                  <a:lnTo>
                    <a:pt x="451" y="21"/>
                  </a:lnTo>
                  <a:lnTo>
                    <a:pt x="433" y="24"/>
                  </a:lnTo>
                  <a:lnTo>
                    <a:pt x="416" y="29"/>
                  </a:lnTo>
                  <a:lnTo>
                    <a:pt x="400" y="36"/>
                  </a:lnTo>
                  <a:lnTo>
                    <a:pt x="385" y="45"/>
                  </a:lnTo>
                  <a:lnTo>
                    <a:pt x="372" y="55"/>
                  </a:lnTo>
                  <a:lnTo>
                    <a:pt x="361" y="67"/>
                  </a:lnTo>
                  <a:lnTo>
                    <a:pt x="351" y="80"/>
                  </a:lnTo>
                  <a:lnTo>
                    <a:pt x="350" y="81"/>
                  </a:lnTo>
                  <a:lnTo>
                    <a:pt x="330" y="72"/>
                  </a:lnTo>
                  <a:lnTo>
                    <a:pt x="309" y="66"/>
                  </a:lnTo>
                  <a:lnTo>
                    <a:pt x="287" y="62"/>
                  </a:lnTo>
                  <a:lnTo>
                    <a:pt x="265" y="61"/>
                  </a:lnTo>
                  <a:lnTo>
                    <a:pt x="248" y="62"/>
                  </a:lnTo>
                  <a:lnTo>
                    <a:pt x="231" y="64"/>
                  </a:lnTo>
                  <a:lnTo>
                    <a:pt x="215" y="67"/>
                  </a:lnTo>
                  <a:lnTo>
                    <a:pt x="199" y="72"/>
                  </a:lnTo>
                  <a:lnTo>
                    <a:pt x="184" y="78"/>
                  </a:lnTo>
                  <a:lnTo>
                    <a:pt x="170" y="85"/>
                  </a:lnTo>
                  <a:lnTo>
                    <a:pt x="157" y="94"/>
                  </a:lnTo>
                  <a:lnTo>
                    <a:pt x="145" y="103"/>
                  </a:lnTo>
                  <a:lnTo>
                    <a:pt x="134" y="113"/>
                  </a:lnTo>
                  <a:lnTo>
                    <a:pt x="125" y="124"/>
                  </a:lnTo>
                  <a:lnTo>
                    <a:pt x="116" y="136"/>
                  </a:lnTo>
                  <a:lnTo>
                    <a:pt x="109" y="148"/>
                  </a:lnTo>
                  <a:lnTo>
                    <a:pt x="104" y="161"/>
                  </a:lnTo>
                  <a:lnTo>
                    <a:pt x="99" y="175"/>
                  </a:lnTo>
                  <a:lnTo>
                    <a:pt x="97" y="189"/>
                  </a:lnTo>
                  <a:lnTo>
                    <a:pt x="96" y="204"/>
                  </a:lnTo>
                  <a:lnTo>
                    <a:pt x="96" y="214"/>
                  </a:lnTo>
                  <a:lnTo>
                    <a:pt x="97" y="223"/>
                  </a:lnTo>
                  <a:lnTo>
                    <a:pt x="98" y="223"/>
                  </a:lnTo>
                  <a:close/>
                </a:path>
              </a:pathLst>
            </a:custGeom>
            <a:noFill/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7" name="Rectangle 157"/>
            <p:cNvSpPr>
              <a:spLocks noChangeArrowheads="1"/>
            </p:cNvSpPr>
            <p:nvPr/>
          </p:nvSpPr>
          <p:spPr bwMode="auto">
            <a:xfrm>
              <a:off x="1535" y="1192"/>
              <a:ext cx="212" cy="222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US"/>
            </a:p>
          </p:txBody>
        </p:sp>
        <p:sp>
          <p:nvSpPr>
            <p:cNvPr id="18458" name="Rectangle 158"/>
            <p:cNvSpPr>
              <a:spLocks noChangeArrowheads="1"/>
            </p:cNvSpPr>
            <p:nvPr/>
          </p:nvSpPr>
          <p:spPr bwMode="auto">
            <a:xfrm>
              <a:off x="4052" y="1848"/>
              <a:ext cx="212" cy="222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US"/>
            </a:p>
          </p:txBody>
        </p:sp>
        <p:sp>
          <p:nvSpPr>
            <p:cNvPr id="18459" name="Rectangle 159"/>
            <p:cNvSpPr>
              <a:spLocks noChangeArrowheads="1"/>
            </p:cNvSpPr>
            <p:nvPr/>
          </p:nvSpPr>
          <p:spPr bwMode="auto">
            <a:xfrm>
              <a:off x="2866" y="1351"/>
              <a:ext cx="212" cy="222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US"/>
            </a:p>
          </p:txBody>
        </p:sp>
        <p:sp>
          <p:nvSpPr>
            <p:cNvPr id="18460" name="Rectangle 160"/>
            <p:cNvSpPr>
              <a:spLocks noChangeArrowheads="1"/>
            </p:cNvSpPr>
            <p:nvPr/>
          </p:nvSpPr>
          <p:spPr bwMode="auto">
            <a:xfrm>
              <a:off x="2750" y="2483"/>
              <a:ext cx="212" cy="222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US"/>
            </a:p>
          </p:txBody>
        </p:sp>
        <p:sp>
          <p:nvSpPr>
            <p:cNvPr id="18461" name="Rectangle 161"/>
            <p:cNvSpPr>
              <a:spLocks noChangeArrowheads="1"/>
            </p:cNvSpPr>
            <p:nvPr/>
          </p:nvSpPr>
          <p:spPr bwMode="auto">
            <a:xfrm>
              <a:off x="1882" y="2239"/>
              <a:ext cx="212" cy="222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US"/>
            </a:p>
          </p:txBody>
        </p:sp>
        <p:sp>
          <p:nvSpPr>
            <p:cNvPr id="18462" name="Freeform 162"/>
            <p:cNvSpPr>
              <a:spLocks/>
            </p:cNvSpPr>
            <p:nvPr/>
          </p:nvSpPr>
          <p:spPr bwMode="auto">
            <a:xfrm>
              <a:off x="746" y="1335"/>
              <a:ext cx="4181" cy="968"/>
            </a:xfrm>
            <a:custGeom>
              <a:avLst/>
              <a:gdLst>
                <a:gd name="T0" fmla="*/ 0 w 3468"/>
                <a:gd name="T1" fmla="*/ 705 h 732"/>
                <a:gd name="T2" fmla="*/ 2006 w 3468"/>
                <a:gd name="T3" fmla="*/ 98 h 732"/>
                <a:gd name="T4" fmla="*/ 2488 w 3468"/>
                <a:gd name="T5" fmla="*/ 0 h 732"/>
                <a:gd name="T6" fmla="*/ 5396 w 3468"/>
                <a:gd name="T7" fmla="*/ 674 h 732"/>
                <a:gd name="T8" fmla="*/ 5912 w 3468"/>
                <a:gd name="T9" fmla="*/ 866 h 732"/>
                <a:gd name="T10" fmla="*/ 8511 w 3468"/>
                <a:gd name="T11" fmla="*/ 2505 h 732"/>
                <a:gd name="T12" fmla="*/ 8956 w 3468"/>
                <a:gd name="T13" fmla="*/ 2789 h 732"/>
                <a:gd name="T14" fmla="*/ 10648 w 3468"/>
                <a:gd name="T15" fmla="*/ 3916 h 73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468"/>
                <a:gd name="T25" fmla="*/ 0 h 732"/>
                <a:gd name="T26" fmla="*/ 3468 w 3468"/>
                <a:gd name="T27" fmla="*/ 732 h 73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468" h="732">
                  <a:moveTo>
                    <a:pt x="0" y="132"/>
                  </a:moveTo>
                  <a:lnTo>
                    <a:pt x="654" y="18"/>
                  </a:lnTo>
                  <a:lnTo>
                    <a:pt x="810" y="0"/>
                  </a:lnTo>
                  <a:lnTo>
                    <a:pt x="1758" y="126"/>
                  </a:lnTo>
                  <a:lnTo>
                    <a:pt x="1926" y="162"/>
                  </a:lnTo>
                  <a:lnTo>
                    <a:pt x="2772" y="468"/>
                  </a:lnTo>
                  <a:lnTo>
                    <a:pt x="2916" y="522"/>
                  </a:lnTo>
                  <a:lnTo>
                    <a:pt x="3468" y="732"/>
                  </a:lnTo>
                </a:path>
              </a:pathLst>
            </a:custGeom>
            <a:noFill/>
            <a:ln w="28575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139"/>
          <p:cNvGrpSpPr>
            <a:grpSpLocks/>
          </p:cNvGrpSpPr>
          <p:nvPr/>
        </p:nvGrpSpPr>
        <p:grpSpPr bwMode="auto">
          <a:xfrm>
            <a:off x="703263" y="1430338"/>
            <a:ext cx="7937500" cy="1495425"/>
            <a:chOff x="443" y="901"/>
            <a:chExt cx="5000" cy="942"/>
          </a:xfrm>
        </p:grpSpPr>
        <p:grpSp>
          <p:nvGrpSpPr>
            <p:cNvPr id="19462" name="Group 3"/>
            <p:cNvGrpSpPr>
              <a:grpSpLocks/>
            </p:cNvGrpSpPr>
            <p:nvPr/>
          </p:nvGrpSpPr>
          <p:grpSpPr bwMode="auto">
            <a:xfrm>
              <a:off x="777" y="1293"/>
              <a:ext cx="664" cy="128"/>
              <a:chOff x="568" y="1568"/>
              <a:chExt cx="664" cy="128"/>
            </a:xfrm>
          </p:grpSpPr>
          <p:sp>
            <p:nvSpPr>
              <p:cNvPr id="19593" name="Line 4"/>
              <p:cNvSpPr>
                <a:spLocks noChangeShapeType="1"/>
              </p:cNvSpPr>
              <p:nvPr/>
            </p:nvSpPr>
            <p:spPr bwMode="auto">
              <a:xfrm>
                <a:off x="584" y="1568"/>
                <a:ext cx="648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9594" name="Line 5"/>
              <p:cNvSpPr>
                <a:spLocks noChangeShapeType="1"/>
              </p:cNvSpPr>
              <p:nvPr/>
            </p:nvSpPr>
            <p:spPr bwMode="auto">
              <a:xfrm>
                <a:off x="568" y="1696"/>
                <a:ext cx="648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19463" name="Text Box 6"/>
            <p:cNvSpPr txBox="1">
              <a:spLocks noChangeArrowheads="1"/>
            </p:cNvSpPr>
            <p:nvPr/>
          </p:nvSpPr>
          <p:spPr bwMode="auto">
            <a:xfrm>
              <a:off x="1505" y="1149"/>
              <a:ext cx="416" cy="412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800"/>
                <a:t>SW 1</a:t>
              </a:r>
            </a:p>
          </p:txBody>
        </p:sp>
        <p:sp>
          <p:nvSpPr>
            <p:cNvPr id="19464" name="Text Box 7"/>
            <p:cNvSpPr txBox="1">
              <a:spLocks noChangeArrowheads="1"/>
            </p:cNvSpPr>
            <p:nvPr/>
          </p:nvSpPr>
          <p:spPr bwMode="auto">
            <a:xfrm>
              <a:off x="2841" y="1165"/>
              <a:ext cx="416" cy="412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800"/>
                <a:t>SW 2</a:t>
              </a:r>
            </a:p>
          </p:txBody>
        </p:sp>
        <p:sp>
          <p:nvSpPr>
            <p:cNvPr id="19465" name="Text Box 8"/>
            <p:cNvSpPr txBox="1">
              <a:spLocks noChangeArrowheads="1"/>
            </p:cNvSpPr>
            <p:nvPr/>
          </p:nvSpPr>
          <p:spPr bwMode="auto">
            <a:xfrm>
              <a:off x="3881" y="1149"/>
              <a:ext cx="416" cy="412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800"/>
                <a:t>SW     </a:t>
              </a:r>
              <a:r>
                <a:rPr lang="en-US" sz="1800" i="1"/>
                <a:t>n</a:t>
              </a:r>
              <a:endParaRPr lang="en-US" sz="1800"/>
            </a:p>
          </p:txBody>
        </p:sp>
        <p:grpSp>
          <p:nvGrpSpPr>
            <p:cNvPr id="19466" name="Group 9"/>
            <p:cNvGrpSpPr>
              <a:grpSpLocks/>
            </p:cNvGrpSpPr>
            <p:nvPr/>
          </p:nvGrpSpPr>
          <p:grpSpPr bwMode="auto">
            <a:xfrm>
              <a:off x="2097" y="1293"/>
              <a:ext cx="664" cy="128"/>
              <a:chOff x="568" y="1568"/>
              <a:chExt cx="664" cy="128"/>
            </a:xfrm>
          </p:grpSpPr>
          <p:sp>
            <p:nvSpPr>
              <p:cNvPr id="19591" name="Line 10"/>
              <p:cNvSpPr>
                <a:spLocks noChangeShapeType="1"/>
              </p:cNvSpPr>
              <p:nvPr/>
            </p:nvSpPr>
            <p:spPr bwMode="auto">
              <a:xfrm>
                <a:off x="584" y="1568"/>
                <a:ext cx="648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9592" name="Line 11"/>
              <p:cNvSpPr>
                <a:spLocks noChangeShapeType="1"/>
              </p:cNvSpPr>
              <p:nvPr/>
            </p:nvSpPr>
            <p:spPr bwMode="auto">
              <a:xfrm>
                <a:off x="568" y="1696"/>
                <a:ext cx="648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19467" name="Group 12"/>
            <p:cNvGrpSpPr>
              <a:grpSpLocks/>
            </p:cNvGrpSpPr>
            <p:nvPr/>
          </p:nvGrpSpPr>
          <p:grpSpPr bwMode="auto">
            <a:xfrm>
              <a:off x="4385" y="1269"/>
              <a:ext cx="664" cy="128"/>
              <a:chOff x="568" y="1568"/>
              <a:chExt cx="664" cy="128"/>
            </a:xfrm>
          </p:grpSpPr>
          <p:sp>
            <p:nvSpPr>
              <p:cNvPr id="19589" name="Line 13"/>
              <p:cNvSpPr>
                <a:spLocks noChangeShapeType="1"/>
              </p:cNvSpPr>
              <p:nvPr/>
            </p:nvSpPr>
            <p:spPr bwMode="auto">
              <a:xfrm>
                <a:off x="584" y="1568"/>
                <a:ext cx="648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9590" name="Line 14"/>
              <p:cNvSpPr>
                <a:spLocks noChangeShapeType="1"/>
              </p:cNvSpPr>
              <p:nvPr/>
            </p:nvSpPr>
            <p:spPr bwMode="auto">
              <a:xfrm>
                <a:off x="568" y="1696"/>
                <a:ext cx="648" cy="0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19468" name="Text Box 15"/>
            <p:cNvSpPr txBox="1">
              <a:spLocks noChangeArrowheads="1"/>
            </p:cNvSpPr>
            <p:nvPr/>
          </p:nvSpPr>
          <p:spPr bwMode="auto">
            <a:xfrm>
              <a:off x="865" y="901"/>
              <a:ext cx="592" cy="36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/>
                <a:t>Connect request</a:t>
              </a:r>
            </a:p>
          </p:txBody>
        </p:sp>
        <p:sp>
          <p:nvSpPr>
            <p:cNvPr id="19469" name="Text Box 16"/>
            <p:cNvSpPr txBox="1">
              <a:spLocks noChangeArrowheads="1"/>
            </p:cNvSpPr>
            <p:nvPr/>
          </p:nvSpPr>
          <p:spPr bwMode="auto">
            <a:xfrm>
              <a:off x="2145" y="933"/>
              <a:ext cx="592" cy="36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/>
                <a:t>Connect request</a:t>
              </a:r>
            </a:p>
          </p:txBody>
        </p:sp>
        <p:sp>
          <p:nvSpPr>
            <p:cNvPr id="19470" name="Text Box 17"/>
            <p:cNvSpPr txBox="1">
              <a:spLocks noChangeArrowheads="1"/>
            </p:cNvSpPr>
            <p:nvPr/>
          </p:nvSpPr>
          <p:spPr bwMode="auto">
            <a:xfrm>
              <a:off x="4409" y="901"/>
              <a:ext cx="592" cy="36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/>
                <a:t>Connect request</a:t>
              </a:r>
            </a:p>
          </p:txBody>
        </p:sp>
        <p:sp>
          <p:nvSpPr>
            <p:cNvPr id="19471" name="Text Box 18"/>
            <p:cNvSpPr txBox="1">
              <a:spLocks noChangeArrowheads="1"/>
            </p:cNvSpPr>
            <p:nvPr/>
          </p:nvSpPr>
          <p:spPr bwMode="auto">
            <a:xfrm>
              <a:off x="2153" y="1477"/>
              <a:ext cx="592" cy="36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/>
                <a:t>Connect confirm</a:t>
              </a:r>
            </a:p>
          </p:txBody>
        </p:sp>
        <p:sp>
          <p:nvSpPr>
            <p:cNvPr id="19472" name="Text Box 19"/>
            <p:cNvSpPr txBox="1">
              <a:spLocks noChangeArrowheads="1"/>
            </p:cNvSpPr>
            <p:nvPr/>
          </p:nvSpPr>
          <p:spPr bwMode="auto">
            <a:xfrm>
              <a:off x="4425" y="1453"/>
              <a:ext cx="592" cy="36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/>
                <a:t>Connect confirm</a:t>
              </a:r>
            </a:p>
          </p:txBody>
        </p:sp>
        <p:sp>
          <p:nvSpPr>
            <p:cNvPr id="19473" name="Text Box 20"/>
            <p:cNvSpPr txBox="1">
              <a:spLocks noChangeArrowheads="1"/>
            </p:cNvSpPr>
            <p:nvPr/>
          </p:nvSpPr>
          <p:spPr bwMode="auto">
            <a:xfrm>
              <a:off x="887" y="1471"/>
              <a:ext cx="592" cy="36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/>
                <a:t>Connect confirm</a:t>
              </a:r>
            </a:p>
          </p:txBody>
        </p:sp>
        <p:grpSp>
          <p:nvGrpSpPr>
            <p:cNvPr id="19474" name="Group 21"/>
            <p:cNvGrpSpPr>
              <a:grpSpLocks/>
            </p:cNvGrpSpPr>
            <p:nvPr/>
          </p:nvGrpSpPr>
          <p:grpSpPr bwMode="auto">
            <a:xfrm>
              <a:off x="443" y="1223"/>
              <a:ext cx="384" cy="288"/>
              <a:chOff x="3840" y="1279"/>
              <a:chExt cx="266" cy="310"/>
            </a:xfrm>
          </p:grpSpPr>
          <p:sp>
            <p:nvSpPr>
              <p:cNvPr id="19533" name="Freeform 22"/>
              <p:cNvSpPr>
                <a:spLocks/>
              </p:cNvSpPr>
              <p:nvPr/>
            </p:nvSpPr>
            <p:spPr bwMode="auto">
              <a:xfrm>
                <a:off x="3848" y="1548"/>
                <a:ext cx="206" cy="20"/>
              </a:xfrm>
              <a:custGeom>
                <a:avLst/>
                <a:gdLst>
                  <a:gd name="T0" fmla="*/ 0 w 206"/>
                  <a:gd name="T1" fmla="*/ 19 h 20"/>
                  <a:gd name="T2" fmla="*/ 0 w 206"/>
                  <a:gd name="T3" fmla="*/ 0 h 20"/>
                  <a:gd name="T4" fmla="*/ 205 w 206"/>
                  <a:gd name="T5" fmla="*/ 0 h 20"/>
                  <a:gd name="T6" fmla="*/ 205 w 206"/>
                  <a:gd name="T7" fmla="*/ 19 h 20"/>
                  <a:gd name="T8" fmla="*/ 0 w 206"/>
                  <a:gd name="T9" fmla="*/ 19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6"/>
                  <a:gd name="T16" fmla="*/ 0 h 20"/>
                  <a:gd name="T17" fmla="*/ 206 w 206"/>
                  <a:gd name="T18" fmla="*/ 20 h 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6" h="20">
                    <a:moveTo>
                      <a:pt x="0" y="19"/>
                    </a:moveTo>
                    <a:lnTo>
                      <a:pt x="0" y="0"/>
                    </a:lnTo>
                    <a:lnTo>
                      <a:pt x="205" y="0"/>
                    </a:lnTo>
                    <a:lnTo>
                      <a:pt x="205" y="19"/>
                    </a:lnTo>
                    <a:lnTo>
                      <a:pt x="0" y="19"/>
                    </a:lnTo>
                  </a:path>
                </a:pathLst>
              </a:custGeom>
              <a:solidFill>
                <a:srgbClr val="666666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34" name="Freeform 23"/>
              <p:cNvSpPr>
                <a:spLocks/>
              </p:cNvSpPr>
              <p:nvPr/>
            </p:nvSpPr>
            <p:spPr bwMode="auto">
              <a:xfrm>
                <a:off x="3840" y="1453"/>
                <a:ext cx="220" cy="34"/>
              </a:xfrm>
              <a:custGeom>
                <a:avLst/>
                <a:gdLst>
                  <a:gd name="T0" fmla="*/ 189 w 220"/>
                  <a:gd name="T1" fmla="*/ 0 h 34"/>
                  <a:gd name="T2" fmla="*/ 219 w 220"/>
                  <a:gd name="T3" fmla="*/ 33 h 34"/>
                  <a:gd name="T4" fmla="*/ 0 w 220"/>
                  <a:gd name="T5" fmla="*/ 33 h 34"/>
                  <a:gd name="T6" fmla="*/ 29 w 220"/>
                  <a:gd name="T7" fmla="*/ 0 h 34"/>
                  <a:gd name="T8" fmla="*/ 189 w 220"/>
                  <a:gd name="T9" fmla="*/ 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0"/>
                  <a:gd name="T16" fmla="*/ 0 h 34"/>
                  <a:gd name="T17" fmla="*/ 220 w 220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0" h="34">
                    <a:moveTo>
                      <a:pt x="189" y="0"/>
                    </a:moveTo>
                    <a:lnTo>
                      <a:pt x="219" y="33"/>
                    </a:lnTo>
                    <a:lnTo>
                      <a:pt x="0" y="33"/>
                    </a:lnTo>
                    <a:lnTo>
                      <a:pt x="29" y="0"/>
                    </a:lnTo>
                    <a:lnTo>
                      <a:pt x="189" y="0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35" name="Freeform 24"/>
              <p:cNvSpPr>
                <a:spLocks/>
              </p:cNvSpPr>
              <p:nvPr/>
            </p:nvSpPr>
            <p:spPr bwMode="auto">
              <a:xfrm>
                <a:off x="3897" y="1449"/>
                <a:ext cx="104" cy="24"/>
              </a:xfrm>
              <a:custGeom>
                <a:avLst/>
                <a:gdLst>
                  <a:gd name="T0" fmla="*/ 102 w 104"/>
                  <a:gd name="T1" fmla="*/ 10 h 24"/>
                  <a:gd name="T2" fmla="*/ 101 w 104"/>
                  <a:gd name="T3" fmla="*/ 8 h 24"/>
                  <a:gd name="T4" fmla="*/ 97 w 104"/>
                  <a:gd name="T5" fmla="*/ 6 h 24"/>
                  <a:gd name="T6" fmla="*/ 93 w 104"/>
                  <a:gd name="T7" fmla="*/ 4 h 24"/>
                  <a:gd name="T8" fmla="*/ 87 w 104"/>
                  <a:gd name="T9" fmla="*/ 3 h 24"/>
                  <a:gd name="T10" fmla="*/ 80 w 104"/>
                  <a:gd name="T11" fmla="*/ 2 h 24"/>
                  <a:gd name="T12" fmla="*/ 72 w 104"/>
                  <a:gd name="T13" fmla="*/ 1 h 24"/>
                  <a:gd name="T14" fmla="*/ 64 w 104"/>
                  <a:gd name="T15" fmla="*/ 0 h 24"/>
                  <a:gd name="T16" fmla="*/ 55 w 104"/>
                  <a:gd name="T17" fmla="*/ 0 h 24"/>
                  <a:gd name="T18" fmla="*/ 46 w 104"/>
                  <a:gd name="T19" fmla="*/ 0 h 24"/>
                  <a:gd name="T20" fmla="*/ 37 w 104"/>
                  <a:gd name="T21" fmla="*/ 0 h 24"/>
                  <a:gd name="T22" fmla="*/ 29 w 104"/>
                  <a:gd name="T23" fmla="*/ 1 h 24"/>
                  <a:gd name="T24" fmla="*/ 21 w 104"/>
                  <a:gd name="T25" fmla="*/ 2 h 24"/>
                  <a:gd name="T26" fmla="*/ 14 w 104"/>
                  <a:gd name="T27" fmla="*/ 3 h 24"/>
                  <a:gd name="T28" fmla="*/ 8 w 104"/>
                  <a:gd name="T29" fmla="*/ 4 h 24"/>
                  <a:gd name="T30" fmla="*/ 4 w 104"/>
                  <a:gd name="T31" fmla="*/ 6 h 24"/>
                  <a:gd name="T32" fmla="*/ 1 w 104"/>
                  <a:gd name="T33" fmla="*/ 8 h 24"/>
                  <a:gd name="T34" fmla="*/ 0 w 104"/>
                  <a:gd name="T35" fmla="*/ 10 h 24"/>
                  <a:gd name="T36" fmla="*/ 0 w 104"/>
                  <a:gd name="T37" fmla="*/ 12 h 24"/>
                  <a:gd name="T38" fmla="*/ 1 w 104"/>
                  <a:gd name="T39" fmla="*/ 14 h 24"/>
                  <a:gd name="T40" fmla="*/ 4 w 104"/>
                  <a:gd name="T41" fmla="*/ 16 h 24"/>
                  <a:gd name="T42" fmla="*/ 8 w 104"/>
                  <a:gd name="T43" fmla="*/ 17 h 24"/>
                  <a:gd name="T44" fmla="*/ 14 w 104"/>
                  <a:gd name="T45" fmla="*/ 19 h 24"/>
                  <a:gd name="T46" fmla="*/ 21 w 104"/>
                  <a:gd name="T47" fmla="*/ 20 h 24"/>
                  <a:gd name="T48" fmla="*/ 29 w 104"/>
                  <a:gd name="T49" fmla="*/ 21 h 24"/>
                  <a:gd name="T50" fmla="*/ 37 w 104"/>
                  <a:gd name="T51" fmla="*/ 22 h 24"/>
                  <a:gd name="T52" fmla="*/ 46 w 104"/>
                  <a:gd name="T53" fmla="*/ 23 h 24"/>
                  <a:gd name="T54" fmla="*/ 55 w 104"/>
                  <a:gd name="T55" fmla="*/ 23 h 24"/>
                  <a:gd name="T56" fmla="*/ 64 w 104"/>
                  <a:gd name="T57" fmla="*/ 22 h 24"/>
                  <a:gd name="T58" fmla="*/ 72 w 104"/>
                  <a:gd name="T59" fmla="*/ 21 h 24"/>
                  <a:gd name="T60" fmla="*/ 80 w 104"/>
                  <a:gd name="T61" fmla="*/ 20 h 24"/>
                  <a:gd name="T62" fmla="*/ 87 w 104"/>
                  <a:gd name="T63" fmla="*/ 19 h 24"/>
                  <a:gd name="T64" fmla="*/ 93 w 104"/>
                  <a:gd name="T65" fmla="*/ 17 h 24"/>
                  <a:gd name="T66" fmla="*/ 97 w 104"/>
                  <a:gd name="T67" fmla="*/ 16 h 24"/>
                  <a:gd name="T68" fmla="*/ 101 w 104"/>
                  <a:gd name="T69" fmla="*/ 14 h 24"/>
                  <a:gd name="T70" fmla="*/ 102 w 104"/>
                  <a:gd name="T71" fmla="*/ 12 h 2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04"/>
                  <a:gd name="T109" fmla="*/ 0 h 24"/>
                  <a:gd name="T110" fmla="*/ 104 w 104"/>
                  <a:gd name="T111" fmla="*/ 24 h 2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04" h="24">
                    <a:moveTo>
                      <a:pt x="103" y="11"/>
                    </a:moveTo>
                    <a:lnTo>
                      <a:pt x="102" y="10"/>
                    </a:lnTo>
                    <a:lnTo>
                      <a:pt x="102" y="9"/>
                    </a:lnTo>
                    <a:lnTo>
                      <a:pt x="101" y="8"/>
                    </a:lnTo>
                    <a:lnTo>
                      <a:pt x="99" y="7"/>
                    </a:lnTo>
                    <a:lnTo>
                      <a:pt x="97" y="6"/>
                    </a:lnTo>
                    <a:lnTo>
                      <a:pt x="95" y="6"/>
                    </a:lnTo>
                    <a:lnTo>
                      <a:pt x="93" y="4"/>
                    </a:lnTo>
                    <a:lnTo>
                      <a:pt x="90" y="4"/>
                    </a:lnTo>
                    <a:lnTo>
                      <a:pt x="87" y="3"/>
                    </a:lnTo>
                    <a:lnTo>
                      <a:pt x="84" y="2"/>
                    </a:lnTo>
                    <a:lnTo>
                      <a:pt x="80" y="2"/>
                    </a:lnTo>
                    <a:lnTo>
                      <a:pt x="76" y="1"/>
                    </a:lnTo>
                    <a:lnTo>
                      <a:pt x="72" y="1"/>
                    </a:lnTo>
                    <a:lnTo>
                      <a:pt x="69" y="0"/>
                    </a:lnTo>
                    <a:lnTo>
                      <a:pt x="64" y="0"/>
                    </a:lnTo>
                    <a:lnTo>
                      <a:pt x="60" y="0"/>
                    </a:lnTo>
                    <a:lnTo>
                      <a:pt x="55" y="0"/>
                    </a:lnTo>
                    <a:lnTo>
                      <a:pt x="51" y="0"/>
                    </a:lnTo>
                    <a:lnTo>
                      <a:pt x="46" y="0"/>
                    </a:lnTo>
                    <a:lnTo>
                      <a:pt x="42" y="0"/>
                    </a:lnTo>
                    <a:lnTo>
                      <a:pt x="37" y="0"/>
                    </a:lnTo>
                    <a:lnTo>
                      <a:pt x="33" y="0"/>
                    </a:lnTo>
                    <a:lnTo>
                      <a:pt x="29" y="1"/>
                    </a:lnTo>
                    <a:lnTo>
                      <a:pt x="25" y="1"/>
                    </a:lnTo>
                    <a:lnTo>
                      <a:pt x="21" y="2"/>
                    </a:lnTo>
                    <a:lnTo>
                      <a:pt x="17" y="2"/>
                    </a:lnTo>
                    <a:lnTo>
                      <a:pt x="14" y="3"/>
                    </a:lnTo>
                    <a:lnTo>
                      <a:pt x="12" y="4"/>
                    </a:lnTo>
                    <a:lnTo>
                      <a:pt x="8" y="4"/>
                    </a:lnTo>
                    <a:lnTo>
                      <a:pt x="6" y="6"/>
                    </a:lnTo>
                    <a:lnTo>
                      <a:pt x="4" y="6"/>
                    </a:lnTo>
                    <a:lnTo>
                      <a:pt x="3" y="7"/>
                    </a:lnTo>
                    <a:lnTo>
                      <a:pt x="1" y="8"/>
                    </a:lnTo>
                    <a:lnTo>
                      <a:pt x="0" y="9"/>
                    </a:lnTo>
                    <a:lnTo>
                      <a:pt x="0" y="10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3"/>
                    </a:lnTo>
                    <a:lnTo>
                      <a:pt x="1" y="14"/>
                    </a:lnTo>
                    <a:lnTo>
                      <a:pt x="3" y="15"/>
                    </a:lnTo>
                    <a:lnTo>
                      <a:pt x="4" y="16"/>
                    </a:lnTo>
                    <a:lnTo>
                      <a:pt x="6" y="17"/>
                    </a:lnTo>
                    <a:lnTo>
                      <a:pt x="8" y="17"/>
                    </a:lnTo>
                    <a:lnTo>
                      <a:pt x="12" y="18"/>
                    </a:lnTo>
                    <a:lnTo>
                      <a:pt x="14" y="19"/>
                    </a:lnTo>
                    <a:lnTo>
                      <a:pt x="17" y="20"/>
                    </a:lnTo>
                    <a:lnTo>
                      <a:pt x="21" y="20"/>
                    </a:lnTo>
                    <a:lnTo>
                      <a:pt x="25" y="21"/>
                    </a:lnTo>
                    <a:lnTo>
                      <a:pt x="29" y="21"/>
                    </a:lnTo>
                    <a:lnTo>
                      <a:pt x="33" y="22"/>
                    </a:lnTo>
                    <a:lnTo>
                      <a:pt x="37" y="22"/>
                    </a:lnTo>
                    <a:lnTo>
                      <a:pt x="42" y="22"/>
                    </a:lnTo>
                    <a:lnTo>
                      <a:pt x="46" y="23"/>
                    </a:lnTo>
                    <a:lnTo>
                      <a:pt x="51" y="23"/>
                    </a:lnTo>
                    <a:lnTo>
                      <a:pt x="55" y="23"/>
                    </a:lnTo>
                    <a:lnTo>
                      <a:pt x="60" y="22"/>
                    </a:lnTo>
                    <a:lnTo>
                      <a:pt x="64" y="22"/>
                    </a:lnTo>
                    <a:lnTo>
                      <a:pt x="69" y="22"/>
                    </a:lnTo>
                    <a:lnTo>
                      <a:pt x="72" y="21"/>
                    </a:lnTo>
                    <a:lnTo>
                      <a:pt x="76" y="21"/>
                    </a:lnTo>
                    <a:lnTo>
                      <a:pt x="80" y="20"/>
                    </a:lnTo>
                    <a:lnTo>
                      <a:pt x="84" y="20"/>
                    </a:lnTo>
                    <a:lnTo>
                      <a:pt x="87" y="19"/>
                    </a:lnTo>
                    <a:lnTo>
                      <a:pt x="90" y="18"/>
                    </a:lnTo>
                    <a:lnTo>
                      <a:pt x="93" y="17"/>
                    </a:lnTo>
                    <a:lnTo>
                      <a:pt x="95" y="17"/>
                    </a:lnTo>
                    <a:lnTo>
                      <a:pt x="97" y="16"/>
                    </a:lnTo>
                    <a:lnTo>
                      <a:pt x="99" y="15"/>
                    </a:lnTo>
                    <a:lnTo>
                      <a:pt x="101" y="14"/>
                    </a:lnTo>
                    <a:lnTo>
                      <a:pt x="102" y="13"/>
                    </a:lnTo>
                    <a:lnTo>
                      <a:pt x="102" y="12"/>
                    </a:lnTo>
                    <a:lnTo>
                      <a:pt x="103" y="11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36" name="Freeform 25"/>
              <p:cNvSpPr>
                <a:spLocks/>
              </p:cNvSpPr>
              <p:nvPr/>
            </p:nvSpPr>
            <p:spPr bwMode="auto">
              <a:xfrm>
                <a:off x="3897" y="1461"/>
                <a:ext cx="104" cy="17"/>
              </a:xfrm>
              <a:custGeom>
                <a:avLst/>
                <a:gdLst>
                  <a:gd name="T0" fmla="*/ 102 w 104"/>
                  <a:gd name="T1" fmla="*/ 6 h 17"/>
                  <a:gd name="T2" fmla="*/ 101 w 104"/>
                  <a:gd name="T3" fmla="*/ 8 h 17"/>
                  <a:gd name="T4" fmla="*/ 97 w 104"/>
                  <a:gd name="T5" fmla="*/ 10 h 17"/>
                  <a:gd name="T6" fmla="*/ 93 w 104"/>
                  <a:gd name="T7" fmla="*/ 11 h 17"/>
                  <a:gd name="T8" fmla="*/ 87 w 104"/>
                  <a:gd name="T9" fmla="*/ 12 h 17"/>
                  <a:gd name="T10" fmla="*/ 80 w 104"/>
                  <a:gd name="T11" fmla="*/ 14 h 17"/>
                  <a:gd name="T12" fmla="*/ 72 w 104"/>
                  <a:gd name="T13" fmla="*/ 14 h 17"/>
                  <a:gd name="T14" fmla="*/ 64 w 104"/>
                  <a:gd name="T15" fmla="*/ 15 h 17"/>
                  <a:gd name="T16" fmla="*/ 55 w 104"/>
                  <a:gd name="T17" fmla="*/ 16 h 17"/>
                  <a:gd name="T18" fmla="*/ 46 w 104"/>
                  <a:gd name="T19" fmla="*/ 16 h 17"/>
                  <a:gd name="T20" fmla="*/ 37 w 104"/>
                  <a:gd name="T21" fmla="*/ 15 h 17"/>
                  <a:gd name="T22" fmla="*/ 29 w 104"/>
                  <a:gd name="T23" fmla="*/ 14 h 17"/>
                  <a:gd name="T24" fmla="*/ 21 w 104"/>
                  <a:gd name="T25" fmla="*/ 14 h 17"/>
                  <a:gd name="T26" fmla="*/ 14 w 104"/>
                  <a:gd name="T27" fmla="*/ 12 h 17"/>
                  <a:gd name="T28" fmla="*/ 8 w 104"/>
                  <a:gd name="T29" fmla="*/ 11 h 17"/>
                  <a:gd name="T30" fmla="*/ 4 w 104"/>
                  <a:gd name="T31" fmla="*/ 10 h 17"/>
                  <a:gd name="T32" fmla="*/ 1 w 104"/>
                  <a:gd name="T33" fmla="*/ 8 h 17"/>
                  <a:gd name="T34" fmla="*/ 0 w 104"/>
                  <a:gd name="T35" fmla="*/ 6 h 17"/>
                  <a:gd name="T36" fmla="*/ 0 w 104"/>
                  <a:gd name="T37" fmla="*/ 0 h 17"/>
                  <a:gd name="T38" fmla="*/ 0 w 104"/>
                  <a:gd name="T39" fmla="*/ 2 h 17"/>
                  <a:gd name="T40" fmla="*/ 3 w 104"/>
                  <a:gd name="T41" fmla="*/ 4 h 17"/>
                  <a:gd name="T42" fmla="*/ 6 w 104"/>
                  <a:gd name="T43" fmla="*/ 5 h 17"/>
                  <a:gd name="T44" fmla="*/ 12 w 104"/>
                  <a:gd name="T45" fmla="*/ 6 h 17"/>
                  <a:gd name="T46" fmla="*/ 17 w 104"/>
                  <a:gd name="T47" fmla="*/ 8 h 17"/>
                  <a:gd name="T48" fmla="*/ 25 w 104"/>
                  <a:gd name="T49" fmla="*/ 9 h 17"/>
                  <a:gd name="T50" fmla="*/ 33 w 104"/>
                  <a:gd name="T51" fmla="*/ 10 h 17"/>
                  <a:gd name="T52" fmla="*/ 42 w 104"/>
                  <a:gd name="T53" fmla="*/ 10 h 17"/>
                  <a:gd name="T54" fmla="*/ 51 w 104"/>
                  <a:gd name="T55" fmla="*/ 10 h 17"/>
                  <a:gd name="T56" fmla="*/ 60 w 104"/>
                  <a:gd name="T57" fmla="*/ 10 h 17"/>
                  <a:gd name="T58" fmla="*/ 69 w 104"/>
                  <a:gd name="T59" fmla="*/ 10 h 17"/>
                  <a:gd name="T60" fmla="*/ 76 w 104"/>
                  <a:gd name="T61" fmla="*/ 9 h 17"/>
                  <a:gd name="T62" fmla="*/ 84 w 104"/>
                  <a:gd name="T63" fmla="*/ 8 h 17"/>
                  <a:gd name="T64" fmla="*/ 90 w 104"/>
                  <a:gd name="T65" fmla="*/ 6 h 17"/>
                  <a:gd name="T66" fmla="*/ 95 w 104"/>
                  <a:gd name="T67" fmla="*/ 5 h 17"/>
                  <a:gd name="T68" fmla="*/ 99 w 104"/>
                  <a:gd name="T69" fmla="*/ 4 h 17"/>
                  <a:gd name="T70" fmla="*/ 102 w 104"/>
                  <a:gd name="T71" fmla="*/ 2 h 17"/>
                  <a:gd name="T72" fmla="*/ 103 w 104"/>
                  <a:gd name="T73" fmla="*/ 0 h 1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04"/>
                  <a:gd name="T112" fmla="*/ 0 h 17"/>
                  <a:gd name="T113" fmla="*/ 104 w 104"/>
                  <a:gd name="T114" fmla="*/ 17 h 1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04" h="17">
                    <a:moveTo>
                      <a:pt x="103" y="5"/>
                    </a:moveTo>
                    <a:lnTo>
                      <a:pt x="102" y="6"/>
                    </a:lnTo>
                    <a:lnTo>
                      <a:pt x="102" y="7"/>
                    </a:lnTo>
                    <a:lnTo>
                      <a:pt x="101" y="8"/>
                    </a:lnTo>
                    <a:lnTo>
                      <a:pt x="99" y="8"/>
                    </a:lnTo>
                    <a:lnTo>
                      <a:pt x="97" y="10"/>
                    </a:lnTo>
                    <a:lnTo>
                      <a:pt x="95" y="10"/>
                    </a:lnTo>
                    <a:lnTo>
                      <a:pt x="93" y="11"/>
                    </a:lnTo>
                    <a:lnTo>
                      <a:pt x="90" y="12"/>
                    </a:lnTo>
                    <a:lnTo>
                      <a:pt x="87" y="12"/>
                    </a:lnTo>
                    <a:lnTo>
                      <a:pt x="84" y="13"/>
                    </a:lnTo>
                    <a:lnTo>
                      <a:pt x="80" y="14"/>
                    </a:lnTo>
                    <a:lnTo>
                      <a:pt x="76" y="14"/>
                    </a:lnTo>
                    <a:lnTo>
                      <a:pt x="72" y="14"/>
                    </a:lnTo>
                    <a:lnTo>
                      <a:pt x="69" y="15"/>
                    </a:lnTo>
                    <a:lnTo>
                      <a:pt x="64" y="15"/>
                    </a:lnTo>
                    <a:lnTo>
                      <a:pt x="60" y="16"/>
                    </a:lnTo>
                    <a:lnTo>
                      <a:pt x="55" y="16"/>
                    </a:lnTo>
                    <a:lnTo>
                      <a:pt x="51" y="16"/>
                    </a:lnTo>
                    <a:lnTo>
                      <a:pt x="46" y="16"/>
                    </a:lnTo>
                    <a:lnTo>
                      <a:pt x="42" y="16"/>
                    </a:lnTo>
                    <a:lnTo>
                      <a:pt x="37" y="15"/>
                    </a:lnTo>
                    <a:lnTo>
                      <a:pt x="33" y="15"/>
                    </a:lnTo>
                    <a:lnTo>
                      <a:pt x="29" y="14"/>
                    </a:lnTo>
                    <a:lnTo>
                      <a:pt x="25" y="14"/>
                    </a:lnTo>
                    <a:lnTo>
                      <a:pt x="21" y="14"/>
                    </a:lnTo>
                    <a:lnTo>
                      <a:pt x="17" y="13"/>
                    </a:lnTo>
                    <a:lnTo>
                      <a:pt x="14" y="12"/>
                    </a:lnTo>
                    <a:lnTo>
                      <a:pt x="12" y="12"/>
                    </a:lnTo>
                    <a:lnTo>
                      <a:pt x="8" y="11"/>
                    </a:lnTo>
                    <a:lnTo>
                      <a:pt x="6" y="10"/>
                    </a:lnTo>
                    <a:lnTo>
                      <a:pt x="4" y="10"/>
                    </a:lnTo>
                    <a:lnTo>
                      <a:pt x="3" y="8"/>
                    </a:lnTo>
                    <a:lnTo>
                      <a:pt x="1" y="8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1" y="2"/>
                    </a:lnTo>
                    <a:lnTo>
                      <a:pt x="3" y="4"/>
                    </a:lnTo>
                    <a:lnTo>
                      <a:pt x="4" y="4"/>
                    </a:lnTo>
                    <a:lnTo>
                      <a:pt x="6" y="5"/>
                    </a:lnTo>
                    <a:lnTo>
                      <a:pt x="8" y="6"/>
                    </a:lnTo>
                    <a:lnTo>
                      <a:pt x="12" y="6"/>
                    </a:lnTo>
                    <a:lnTo>
                      <a:pt x="14" y="7"/>
                    </a:lnTo>
                    <a:lnTo>
                      <a:pt x="17" y="8"/>
                    </a:lnTo>
                    <a:lnTo>
                      <a:pt x="21" y="8"/>
                    </a:lnTo>
                    <a:lnTo>
                      <a:pt x="25" y="9"/>
                    </a:lnTo>
                    <a:lnTo>
                      <a:pt x="29" y="10"/>
                    </a:lnTo>
                    <a:lnTo>
                      <a:pt x="33" y="10"/>
                    </a:lnTo>
                    <a:lnTo>
                      <a:pt x="37" y="10"/>
                    </a:lnTo>
                    <a:lnTo>
                      <a:pt x="42" y="10"/>
                    </a:lnTo>
                    <a:lnTo>
                      <a:pt x="46" y="10"/>
                    </a:lnTo>
                    <a:lnTo>
                      <a:pt x="51" y="10"/>
                    </a:lnTo>
                    <a:lnTo>
                      <a:pt x="55" y="10"/>
                    </a:lnTo>
                    <a:lnTo>
                      <a:pt x="60" y="10"/>
                    </a:lnTo>
                    <a:lnTo>
                      <a:pt x="64" y="10"/>
                    </a:lnTo>
                    <a:lnTo>
                      <a:pt x="69" y="10"/>
                    </a:lnTo>
                    <a:lnTo>
                      <a:pt x="72" y="10"/>
                    </a:lnTo>
                    <a:lnTo>
                      <a:pt x="76" y="9"/>
                    </a:lnTo>
                    <a:lnTo>
                      <a:pt x="80" y="8"/>
                    </a:lnTo>
                    <a:lnTo>
                      <a:pt x="84" y="8"/>
                    </a:lnTo>
                    <a:lnTo>
                      <a:pt x="87" y="7"/>
                    </a:lnTo>
                    <a:lnTo>
                      <a:pt x="90" y="6"/>
                    </a:lnTo>
                    <a:lnTo>
                      <a:pt x="93" y="6"/>
                    </a:lnTo>
                    <a:lnTo>
                      <a:pt x="95" y="5"/>
                    </a:lnTo>
                    <a:lnTo>
                      <a:pt x="97" y="4"/>
                    </a:lnTo>
                    <a:lnTo>
                      <a:pt x="99" y="4"/>
                    </a:lnTo>
                    <a:lnTo>
                      <a:pt x="101" y="2"/>
                    </a:lnTo>
                    <a:lnTo>
                      <a:pt x="102" y="2"/>
                    </a:lnTo>
                    <a:lnTo>
                      <a:pt x="102" y="1"/>
                    </a:lnTo>
                    <a:lnTo>
                      <a:pt x="103" y="0"/>
                    </a:lnTo>
                    <a:lnTo>
                      <a:pt x="103" y="5"/>
                    </a:lnTo>
                  </a:path>
                </a:pathLst>
              </a:custGeom>
              <a:solidFill>
                <a:srgbClr val="666666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37" name="Freeform 26"/>
              <p:cNvSpPr>
                <a:spLocks/>
              </p:cNvSpPr>
              <p:nvPr/>
            </p:nvSpPr>
            <p:spPr bwMode="auto">
              <a:xfrm>
                <a:off x="3840" y="1486"/>
                <a:ext cx="220" cy="77"/>
              </a:xfrm>
              <a:custGeom>
                <a:avLst/>
                <a:gdLst>
                  <a:gd name="T0" fmla="*/ 0 w 220"/>
                  <a:gd name="T1" fmla="*/ 76 h 77"/>
                  <a:gd name="T2" fmla="*/ 219 w 220"/>
                  <a:gd name="T3" fmla="*/ 76 h 77"/>
                  <a:gd name="T4" fmla="*/ 219 w 220"/>
                  <a:gd name="T5" fmla="*/ 0 h 77"/>
                  <a:gd name="T6" fmla="*/ 0 w 220"/>
                  <a:gd name="T7" fmla="*/ 0 h 77"/>
                  <a:gd name="T8" fmla="*/ 0 w 220"/>
                  <a:gd name="T9" fmla="*/ 76 h 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0"/>
                  <a:gd name="T16" fmla="*/ 0 h 77"/>
                  <a:gd name="T17" fmla="*/ 220 w 220"/>
                  <a:gd name="T18" fmla="*/ 77 h 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0" h="77">
                    <a:moveTo>
                      <a:pt x="0" y="76"/>
                    </a:moveTo>
                    <a:lnTo>
                      <a:pt x="219" y="76"/>
                    </a:lnTo>
                    <a:lnTo>
                      <a:pt x="219" y="0"/>
                    </a:lnTo>
                    <a:lnTo>
                      <a:pt x="0" y="0"/>
                    </a:lnTo>
                    <a:lnTo>
                      <a:pt x="0" y="76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38" name="Freeform 27"/>
              <p:cNvSpPr>
                <a:spLocks/>
              </p:cNvSpPr>
              <p:nvPr/>
            </p:nvSpPr>
            <p:spPr bwMode="auto">
              <a:xfrm>
                <a:off x="3875" y="1449"/>
                <a:ext cx="69" cy="17"/>
              </a:xfrm>
              <a:custGeom>
                <a:avLst/>
                <a:gdLst>
                  <a:gd name="T0" fmla="*/ 0 w 69"/>
                  <a:gd name="T1" fmla="*/ 16 h 17"/>
                  <a:gd name="T2" fmla="*/ 0 w 69"/>
                  <a:gd name="T3" fmla="*/ 0 h 17"/>
                  <a:gd name="T4" fmla="*/ 68 w 69"/>
                  <a:gd name="T5" fmla="*/ 0 h 17"/>
                  <a:gd name="T6" fmla="*/ 68 w 69"/>
                  <a:gd name="T7" fmla="*/ 16 h 17"/>
                  <a:gd name="T8" fmla="*/ 0 w 69"/>
                  <a:gd name="T9" fmla="*/ 16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9"/>
                  <a:gd name="T16" fmla="*/ 0 h 17"/>
                  <a:gd name="T17" fmla="*/ 69 w 69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9" h="17">
                    <a:moveTo>
                      <a:pt x="0" y="16"/>
                    </a:moveTo>
                    <a:lnTo>
                      <a:pt x="0" y="0"/>
                    </a:lnTo>
                    <a:lnTo>
                      <a:pt x="68" y="0"/>
                    </a:lnTo>
                    <a:lnTo>
                      <a:pt x="68" y="16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39" name="Freeform 28"/>
              <p:cNvSpPr>
                <a:spLocks/>
              </p:cNvSpPr>
              <p:nvPr/>
            </p:nvSpPr>
            <p:spPr bwMode="auto">
              <a:xfrm>
                <a:off x="3931" y="1450"/>
                <a:ext cx="94" cy="17"/>
              </a:xfrm>
              <a:custGeom>
                <a:avLst/>
                <a:gdLst>
                  <a:gd name="T0" fmla="*/ 0 w 94"/>
                  <a:gd name="T1" fmla="*/ 16 h 17"/>
                  <a:gd name="T2" fmla="*/ 0 w 94"/>
                  <a:gd name="T3" fmla="*/ 0 h 17"/>
                  <a:gd name="T4" fmla="*/ 93 w 94"/>
                  <a:gd name="T5" fmla="*/ 0 h 17"/>
                  <a:gd name="T6" fmla="*/ 93 w 94"/>
                  <a:gd name="T7" fmla="*/ 16 h 17"/>
                  <a:gd name="T8" fmla="*/ 0 w 94"/>
                  <a:gd name="T9" fmla="*/ 16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4"/>
                  <a:gd name="T16" fmla="*/ 0 h 17"/>
                  <a:gd name="T17" fmla="*/ 94 w 9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4" h="17">
                    <a:moveTo>
                      <a:pt x="0" y="16"/>
                    </a:moveTo>
                    <a:lnTo>
                      <a:pt x="0" y="0"/>
                    </a:lnTo>
                    <a:lnTo>
                      <a:pt x="93" y="0"/>
                    </a:lnTo>
                    <a:lnTo>
                      <a:pt x="93" y="16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40" name="Freeform 29"/>
              <p:cNvSpPr>
                <a:spLocks/>
              </p:cNvSpPr>
              <p:nvPr/>
            </p:nvSpPr>
            <p:spPr bwMode="auto">
              <a:xfrm>
                <a:off x="3877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6 h 17"/>
                  <a:gd name="T6" fmla="*/ 16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41" name="Freeform 30"/>
              <p:cNvSpPr>
                <a:spLocks/>
              </p:cNvSpPr>
              <p:nvPr/>
            </p:nvSpPr>
            <p:spPr bwMode="auto">
              <a:xfrm>
                <a:off x="3880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4 w 17"/>
                  <a:gd name="T5" fmla="*/ 14 h 17"/>
                  <a:gd name="T6" fmla="*/ 4 w 17"/>
                  <a:gd name="T7" fmla="*/ 16 h 17"/>
                  <a:gd name="T8" fmla="*/ 8 w 17"/>
                  <a:gd name="T9" fmla="*/ 16 h 17"/>
                  <a:gd name="T10" fmla="*/ 12 w 17"/>
                  <a:gd name="T11" fmla="*/ 14 h 17"/>
                  <a:gd name="T12" fmla="*/ 16 w 17"/>
                  <a:gd name="T13" fmla="*/ 14 h 17"/>
                  <a:gd name="T14" fmla="*/ 16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4"/>
                    </a:lnTo>
                    <a:lnTo>
                      <a:pt x="4" y="16"/>
                    </a:lnTo>
                    <a:lnTo>
                      <a:pt x="8" y="16"/>
                    </a:lnTo>
                    <a:lnTo>
                      <a:pt x="12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42" name="Freeform 31"/>
              <p:cNvSpPr>
                <a:spLocks/>
              </p:cNvSpPr>
              <p:nvPr/>
            </p:nvSpPr>
            <p:spPr bwMode="auto">
              <a:xfrm>
                <a:off x="3883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6 h 17"/>
                  <a:gd name="T6" fmla="*/ 16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43" name="Freeform 32"/>
              <p:cNvSpPr>
                <a:spLocks/>
              </p:cNvSpPr>
              <p:nvPr/>
            </p:nvSpPr>
            <p:spPr bwMode="auto">
              <a:xfrm>
                <a:off x="3885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0 w 17"/>
                  <a:gd name="T9" fmla="*/ 14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44" name="Freeform 33"/>
              <p:cNvSpPr>
                <a:spLocks/>
              </p:cNvSpPr>
              <p:nvPr/>
            </p:nvSpPr>
            <p:spPr bwMode="auto">
              <a:xfrm>
                <a:off x="3888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4 h 17"/>
                  <a:gd name="T6" fmla="*/ 5 w 17"/>
                  <a:gd name="T7" fmla="*/ 16 h 17"/>
                  <a:gd name="T8" fmla="*/ 10 w 17"/>
                  <a:gd name="T9" fmla="*/ 16 h 17"/>
                  <a:gd name="T10" fmla="*/ 10 w 17"/>
                  <a:gd name="T11" fmla="*/ 14 h 17"/>
                  <a:gd name="T12" fmla="*/ 16 w 17"/>
                  <a:gd name="T13" fmla="*/ 14 h 17"/>
                  <a:gd name="T14" fmla="*/ 16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45" name="Freeform 34"/>
              <p:cNvSpPr>
                <a:spLocks/>
              </p:cNvSpPr>
              <p:nvPr/>
            </p:nvSpPr>
            <p:spPr bwMode="auto">
              <a:xfrm>
                <a:off x="3890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46" name="Freeform 35"/>
              <p:cNvSpPr>
                <a:spLocks/>
              </p:cNvSpPr>
              <p:nvPr/>
            </p:nvSpPr>
            <p:spPr bwMode="auto">
              <a:xfrm>
                <a:off x="3893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0 w 17"/>
                  <a:gd name="T9" fmla="*/ 14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47" name="Freeform 36"/>
              <p:cNvSpPr>
                <a:spLocks/>
              </p:cNvSpPr>
              <p:nvPr/>
            </p:nvSpPr>
            <p:spPr bwMode="auto">
              <a:xfrm>
                <a:off x="3894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4 w 17"/>
                  <a:gd name="T5" fmla="*/ 14 h 17"/>
                  <a:gd name="T6" fmla="*/ 8 w 17"/>
                  <a:gd name="T7" fmla="*/ 16 h 17"/>
                  <a:gd name="T8" fmla="*/ 12 w 17"/>
                  <a:gd name="T9" fmla="*/ 16 h 17"/>
                  <a:gd name="T10" fmla="*/ 12 w 17"/>
                  <a:gd name="T11" fmla="*/ 14 h 17"/>
                  <a:gd name="T12" fmla="*/ 16 w 17"/>
                  <a:gd name="T13" fmla="*/ 14 h 17"/>
                  <a:gd name="T14" fmla="*/ 16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4"/>
                    </a:lnTo>
                    <a:lnTo>
                      <a:pt x="8" y="16"/>
                    </a:lnTo>
                    <a:lnTo>
                      <a:pt x="12" y="16"/>
                    </a:lnTo>
                    <a:lnTo>
                      <a:pt x="12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48" name="Freeform 37"/>
              <p:cNvSpPr>
                <a:spLocks/>
              </p:cNvSpPr>
              <p:nvPr/>
            </p:nvSpPr>
            <p:spPr bwMode="auto">
              <a:xfrm>
                <a:off x="3898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4 h 17"/>
                  <a:gd name="T6" fmla="*/ 8 w 17"/>
                  <a:gd name="T7" fmla="*/ 16 h 17"/>
                  <a:gd name="T8" fmla="*/ 16 w 17"/>
                  <a:gd name="T9" fmla="*/ 16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49" name="Freeform 38"/>
              <p:cNvSpPr>
                <a:spLocks/>
              </p:cNvSpPr>
              <p:nvPr/>
            </p:nvSpPr>
            <p:spPr bwMode="auto">
              <a:xfrm>
                <a:off x="3900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6 h 17"/>
                  <a:gd name="T6" fmla="*/ 16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50" name="Freeform 39"/>
              <p:cNvSpPr>
                <a:spLocks/>
              </p:cNvSpPr>
              <p:nvPr/>
            </p:nvSpPr>
            <p:spPr bwMode="auto">
              <a:xfrm>
                <a:off x="3902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0 w 17"/>
                  <a:gd name="T5" fmla="*/ 16 h 17"/>
                  <a:gd name="T6" fmla="*/ 8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0" y="16"/>
                    </a:lnTo>
                    <a:lnTo>
                      <a:pt x="8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51" name="Freeform 40"/>
              <p:cNvSpPr>
                <a:spLocks/>
              </p:cNvSpPr>
              <p:nvPr/>
            </p:nvSpPr>
            <p:spPr bwMode="auto">
              <a:xfrm>
                <a:off x="3905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4 w 17"/>
                  <a:gd name="T5" fmla="*/ 16 h 17"/>
                  <a:gd name="T6" fmla="*/ 8 w 17"/>
                  <a:gd name="T7" fmla="*/ 16 h 17"/>
                  <a:gd name="T8" fmla="*/ 12 w 17"/>
                  <a:gd name="T9" fmla="*/ 16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6"/>
                    </a:lnTo>
                    <a:lnTo>
                      <a:pt x="8" y="16"/>
                    </a:lnTo>
                    <a:lnTo>
                      <a:pt x="12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52" name="Freeform 41"/>
              <p:cNvSpPr>
                <a:spLocks/>
              </p:cNvSpPr>
              <p:nvPr/>
            </p:nvSpPr>
            <p:spPr bwMode="auto">
              <a:xfrm>
                <a:off x="3908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0 w 17"/>
                  <a:gd name="T9" fmla="*/ 14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53" name="Freeform 42"/>
              <p:cNvSpPr>
                <a:spLocks/>
              </p:cNvSpPr>
              <p:nvPr/>
            </p:nvSpPr>
            <p:spPr bwMode="auto">
              <a:xfrm>
                <a:off x="3910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4 h 17"/>
                  <a:gd name="T6" fmla="*/ 8 w 17"/>
                  <a:gd name="T7" fmla="*/ 16 h 17"/>
                  <a:gd name="T8" fmla="*/ 16 w 17"/>
                  <a:gd name="T9" fmla="*/ 16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54" name="Freeform 43"/>
              <p:cNvSpPr>
                <a:spLocks/>
              </p:cNvSpPr>
              <p:nvPr/>
            </p:nvSpPr>
            <p:spPr bwMode="auto">
              <a:xfrm>
                <a:off x="3912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55" name="Freeform 44"/>
              <p:cNvSpPr>
                <a:spLocks/>
              </p:cNvSpPr>
              <p:nvPr/>
            </p:nvSpPr>
            <p:spPr bwMode="auto">
              <a:xfrm>
                <a:off x="3916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56" name="Freeform 45"/>
              <p:cNvSpPr>
                <a:spLocks/>
              </p:cNvSpPr>
              <p:nvPr/>
            </p:nvSpPr>
            <p:spPr bwMode="auto">
              <a:xfrm>
                <a:off x="3918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4 h 17"/>
                  <a:gd name="T6" fmla="*/ 5 w 17"/>
                  <a:gd name="T7" fmla="*/ 16 h 17"/>
                  <a:gd name="T8" fmla="*/ 10 w 17"/>
                  <a:gd name="T9" fmla="*/ 16 h 17"/>
                  <a:gd name="T10" fmla="*/ 10 w 17"/>
                  <a:gd name="T11" fmla="*/ 14 h 17"/>
                  <a:gd name="T12" fmla="*/ 16 w 17"/>
                  <a:gd name="T13" fmla="*/ 14 h 17"/>
                  <a:gd name="T14" fmla="*/ 16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57" name="Freeform 46"/>
              <p:cNvSpPr>
                <a:spLocks/>
              </p:cNvSpPr>
              <p:nvPr/>
            </p:nvSpPr>
            <p:spPr bwMode="auto">
              <a:xfrm>
                <a:off x="3921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6 h 17"/>
                  <a:gd name="T6" fmla="*/ 16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58" name="Freeform 47"/>
              <p:cNvSpPr>
                <a:spLocks/>
              </p:cNvSpPr>
              <p:nvPr/>
            </p:nvSpPr>
            <p:spPr bwMode="auto">
              <a:xfrm>
                <a:off x="3923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59" name="Freeform 48"/>
              <p:cNvSpPr>
                <a:spLocks/>
              </p:cNvSpPr>
              <p:nvPr/>
            </p:nvSpPr>
            <p:spPr bwMode="auto">
              <a:xfrm>
                <a:off x="3925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4 w 17"/>
                  <a:gd name="T5" fmla="*/ 14 h 17"/>
                  <a:gd name="T6" fmla="*/ 8 w 17"/>
                  <a:gd name="T7" fmla="*/ 16 h 17"/>
                  <a:gd name="T8" fmla="*/ 12 w 17"/>
                  <a:gd name="T9" fmla="*/ 16 h 17"/>
                  <a:gd name="T10" fmla="*/ 12 w 17"/>
                  <a:gd name="T11" fmla="*/ 14 h 17"/>
                  <a:gd name="T12" fmla="*/ 16 w 17"/>
                  <a:gd name="T13" fmla="*/ 14 h 17"/>
                  <a:gd name="T14" fmla="*/ 16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4"/>
                    </a:lnTo>
                    <a:lnTo>
                      <a:pt x="8" y="16"/>
                    </a:lnTo>
                    <a:lnTo>
                      <a:pt x="12" y="16"/>
                    </a:lnTo>
                    <a:lnTo>
                      <a:pt x="12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60" name="Freeform 49"/>
              <p:cNvSpPr>
                <a:spLocks/>
              </p:cNvSpPr>
              <p:nvPr/>
            </p:nvSpPr>
            <p:spPr bwMode="auto">
              <a:xfrm>
                <a:off x="3855" y="1279"/>
                <a:ext cx="187" cy="174"/>
              </a:xfrm>
              <a:custGeom>
                <a:avLst/>
                <a:gdLst>
                  <a:gd name="T0" fmla="*/ 180 w 187"/>
                  <a:gd name="T1" fmla="*/ 173 h 174"/>
                  <a:gd name="T2" fmla="*/ 180 w 187"/>
                  <a:gd name="T3" fmla="*/ 173 h 174"/>
                  <a:gd name="T4" fmla="*/ 180 w 187"/>
                  <a:gd name="T5" fmla="*/ 172 h 174"/>
                  <a:gd name="T6" fmla="*/ 182 w 187"/>
                  <a:gd name="T7" fmla="*/ 172 h 174"/>
                  <a:gd name="T8" fmla="*/ 182 w 187"/>
                  <a:gd name="T9" fmla="*/ 172 h 174"/>
                  <a:gd name="T10" fmla="*/ 183 w 187"/>
                  <a:gd name="T11" fmla="*/ 171 h 174"/>
                  <a:gd name="T12" fmla="*/ 183 w 187"/>
                  <a:gd name="T13" fmla="*/ 171 h 174"/>
                  <a:gd name="T14" fmla="*/ 184 w 187"/>
                  <a:gd name="T15" fmla="*/ 171 h 174"/>
                  <a:gd name="T16" fmla="*/ 184 w 187"/>
                  <a:gd name="T17" fmla="*/ 170 h 174"/>
                  <a:gd name="T18" fmla="*/ 184 w 187"/>
                  <a:gd name="T19" fmla="*/ 170 h 174"/>
                  <a:gd name="T20" fmla="*/ 184 w 187"/>
                  <a:gd name="T21" fmla="*/ 169 h 174"/>
                  <a:gd name="T22" fmla="*/ 185 w 187"/>
                  <a:gd name="T23" fmla="*/ 169 h 174"/>
                  <a:gd name="T24" fmla="*/ 185 w 187"/>
                  <a:gd name="T25" fmla="*/ 168 h 174"/>
                  <a:gd name="T26" fmla="*/ 186 w 187"/>
                  <a:gd name="T27" fmla="*/ 167 h 174"/>
                  <a:gd name="T28" fmla="*/ 186 w 187"/>
                  <a:gd name="T29" fmla="*/ 167 h 174"/>
                  <a:gd name="T30" fmla="*/ 186 w 187"/>
                  <a:gd name="T31" fmla="*/ 6 h 174"/>
                  <a:gd name="T32" fmla="*/ 186 w 187"/>
                  <a:gd name="T33" fmla="*/ 5 h 174"/>
                  <a:gd name="T34" fmla="*/ 186 w 187"/>
                  <a:gd name="T35" fmla="*/ 5 h 174"/>
                  <a:gd name="T36" fmla="*/ 185 w 187"/>
                  <a:gd name="T37" fmla="*/ 5 h 174"/>
                  <a:gd name="T38" fmla="*/ 185 w 187"/>
                  <a:gd name="T39" fmla="*/ 3 h 174"/>
                  <a:gd name="T40" fmla="*/ 184 w 187"/>
                  <a:gd name="T41" fmla="*/ 3 h 174"/>
                  <a:gd name="T42" fmla="*/ 184 w 187"/>
                  <a:gd name="T43" fmla="*/ 2 h 174"/>
                  <a:gd name="T44" fmla="*/ 184 w 187"/>
                  <a:gd name="T45" fmla="*/ 1 h 174"/>
                  <a:gd name="T46" fmla="*/ 183 w 187"/>
                  <a:gd name="T47" fmla="*/ 1 h 174"/>
                  <a:gd name="T48" fmla="*/ 183 w 187"/>
                  <a:gd name="T49" fmla="*/ 1 h 174"/>
                  <a:gd name="T50" fmla="*/ 182 w 187"/>
                  <a:gd name="T51" fmla="*/ 1 h 174"/>
                  <a:gd name="T52" fmla="*/ 182 w 187"/>
                  <a:gd name="T53" fmla="*/ 0 h 174"/>
                  <a:gd name="T54" fmla="*/ 180 w 187"/>
                  <a:gd name="T55" fmla="*/ 0 h 174"/>
                  <a:gd name="T56" fmla="*/ 180 w 187"/>
                  <a:gd name="T57" fmla="*/ 0 h 174"/>
                  <a:gd name="T58" fmla="*/ 180 w 187"/>
                  <a:gd name="T59" fmla="*/ 0 h 174"/>
                  <a:gd name="T60" fmla="*/ 5 w 187"/>
                  <a:gd name="T61" fmla="*/ 0 h 174"/>
                  <a:gd name="T62" fmla="*/ 4 w 187"/>
                  <a:gd name="T63" fmla="*/ 0 h 174"/>
                  <a:gd name="T64" fmla="*/ 3 w 187"/>
                  <a:gd name="T65" fmla="*/ 0 h 174"/>
                  <a:gd name="T66" fmla="*/ 3 w 187"/>
                  <a:gd name="T67" fmla="*/ 0 h 174"/>
                  <a:gd name="T68" fmla="*/ 2 w 187"/>
                  <a:gd name="T69" fmla="*/ 0 h 174"/>
                  <a:gd name="T70" fmla="*/ 2 w 187"/>
                  <a:gd name="T71" fmla="*/ 1 h 174"/>
                  <a:gd name="T72" fmla="*/ 1 w 187"/>
                  <a:gd name="T73" fmla="*/ 1 h 174"/>
                  <a:gd name="T74" fmla="*/ 1 w 187"/>
                  <a:gd name="T75" fmla="*/ 1 h 174"/>
                  <a:gd name="T76" fmla="*/ 1 w 187"/>
                  <a:gd name="T77" fmla="*/ 2 h 174"/>
                  <a:gd name="T78" fmla="*/ 0 w 187"/>
                  <a:gd name="T79" fmla="*/ 3 h 174"/>
                  <a:gd name="T80" fmla="*/ 0 w 187"/>
                  <a:gd name="T81" fmla="*/ 3 h 174"/>
                  <a:gd name="T82" fmla="*/ 0 w 187"/>
                  <a:gd name="T83" fmla="*/ 3 h 174"/>
                  <a:gd name="T84" fmla="*/ 0 w 187"/>
                  <a:gd name="T85" fmla="*/ 5 h 174"/>
                  <a:gd name="T86" fmla="*/ 0 w 187"/>
                  <a:gd name="T87" fmla="*/ 5 h 174"/>
                  <a:gd name="T88" fmla="*/ 0 w 187"/>
                  <a:gd name="T89" fmla="*/ 6 h 174"/>
                  <a:gd name="T90" fmla="*/ 0 w 187"/>
                  <a:gd name="T91" fmla="*/ 167 h 174"/>
                  <a:gd name="T92" fmla="*/ 0 w 187"/>
                  <a:gd name="T93" fmla="*/ 167 h 174"/>
                  <a:gd name="T94" fmla="*/ 0 w 187"/>
                  <a:gd name="T95" fmla="*/ 168 h 174"/>
                  <a:gd name="T96" fmla="*/ 0 w 187"/>
                  <a:gd name="T97" fmla="*/ 169 h 174"/>
                  <a:gd name="T98" fmla="*/ 0 w 187"/>
                  <a:gd name="T99" fmla="*/ 169 h 174"/>
                  <a:gd name="T100" fmla="*/ 0 w 187"/>
                  <a:gd name="T101" fmla="*/ 170 h 174"/>
                  <a:gd name="T102" fmla="*/ 1 w 187"/>
                  <a:gd name="T103" fmla="*/ 170 h 174"/>
                  <a:gd name="T104" fmla="*/ 1 w 187"/>
                  <a:gd name="T105" fmla="*/ 171 h 174"/>
                  <a:gd name="T106" fmla="*/ 1 w 187"/>
                  <a:gd name="T107" fmla="*/ 171 h 174"/>
                  <a:gd name="T108" fmla="*/ 2 w 187"/>
                  <a:gd name="T109" fmla="*/ 171 h 174"/>
                  <a:gd name="T110" fmla="*/ 2 w 187"/>
                  <a:gd name="T111" fmla="*/ 172 h 174"/>
                  <a:gd name="T112" fmla="*/ 2 w 187"/>
                  <a:gd name="T113" fmla="*/ 172 h 174"/>
                  <a:gd name="T114" fmla="*/ 3 w 187"/>
                  <a:gd name="T115" fmla="*/ 172 h 174"/>
                  <a:gd name="T116" fmla="*/ 3 w 187"/>
                  <a:gd name="T117" fmla="*/ 172 h 174"/>
                  <a:gd name="T118" fmla="*/ 4 w 187"/>
                  <a:gd name="T119" fmla="*/ 173 h 174"/>
                  <a:gd name="T120" fmla="*/ 5 w 187"/>
                  <a:gd name="T121" fmla="*/ 173 h 174"/>
                  <a:gd name="T122" fmla="*/ 180 w 187"/>
                  <a:gd name="T123" fmla="*/ 173 h 174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187"/>
                  <a:gd name="T187" fmla="*/ 0 h 174"/>
                  <a:gd name="T188" fmla="*/ 187 w 187"/>
                  <a:gd name="T189" fmla="*/ 174 h 174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187" h="174">
                    <a:moveTo>
                      <a:pt x="180" y="173"/>
                    </a:moveTo>
                    <a:lnTo>
                      <a:pt x="180" y="173"/>
                    </a:lnTo>
                    <a:lnTo>
                      <a:pt x="180" y="172"/>
                    </a:lnTo>
                    <a:lnTo>
                      <a:pt x="182" y="172"/>
                    </a:lnTo>
                    <a:lnTo>
                      <a:pt x="183" y="171"/>
                    </a:lnTo>
                    <a:lnTo>
                      <a:pt x="184" y="171"/>
                    </a:lnTo>
                    <a:lnTo>
                      <a:pt x="184" y="170"/>
                    </a:lnTo>
                    <a:lnTo>
                      <a:pt x="184" y="169"/>
                    </a:lnTo>
                    <a:lnTo>
                      <a:pt x="185" y="169"/>
                    </a:lnTo>
                    <a:lnTo>
                      <a:pt x="185" y="168"/>
                    </a:lnTo>
                    <a:lnTo>
                      <a:pt x="186" y="167"/>
                    </a:lnTo>
                    <a:lnTo>
                      <a:pt x="186" y="6"/>
                    </a:lnTo>
                    <a:lnTo>
                      <a:pt x="186" y="5"/>
                    </a:lnTo>
                    <a:lnTo>
                      <a:pt x="185" y="5"/>
                    </a:lnTo>
                    <a:lnTo>
                      <a:pt x="185" y="3"/>
                    </a:lnTo>
                    <a:lnTo>
                      <a:pt x="184" y="3"/>
                    </a:lnTo>
                    <a:lnTo>
                      <a:pt x="184" y="2"/>
                    </a:lnTo>
                    <a:lnTo>
                      <a:pt x="184" y="1"/>
                    </a:lnTo>
                    <a:lnTo>
                      <a:pt x="183" y="1"/>
                    </a:lnTo>
                    <a:lnTo>
                      <a:pt x="182" y="1"/>
                    </a:lnTo>
                    <a:lnTo>
                      <a:pt x="182" y="0"/>
                    </a:lnTo>
                    <a:lnTo>
                      <a:pt x="180" y="0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167"/>
                    </a:lnTo>
                    <a:lnTo>
                      <a:pt x="0" y="168"/>
                    </a:lnTo>
                    <a:lnTo>
                      <a:pt x="0" y="169"/>
                    </a:lnTo>
                    <a:lnTo>
                      <a:pt x="0" y="170"/>
                    </a:lnTo>
                    <a:lnTo>
                      <a:pt x="1" y="170"/>
                    </a:lnTo>
                    <a:lnTo>
                      <a:pt x="1" y="171"/>
                    </a:lnTo>
                    <a:lnTo>
                      <a:pt x="2" y="171"/>
                    </a:lnTo>
                    <a:lnTo>
                      <a:pt x="2" y="172"/>
                    </a:lnTo>
                    <a:lnTo>
                      <a:pt x="3" y="172"/>
                    </a:lnTo>
                    <a:lnTo>
                      <a:pt x="4" y="173"/>
                    </a:lnTo>
                    <a:lnTo>
                      <a:pt x="5" y="173"/>
                    </a:lnTo>
                    <a:lnTo>
                      <a:pt x="180" y="173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61" name="Freeform 50"/>
              <p:cNvSpPr>
                <a:spLocks/>
              </p:cNvSpPr>
              <p:nvPr/>
            </p:nvSpPr>
            <p:spPr bwMode="auto">
              <a:xfrm>
                <a:off x="3855" y="1281"/>
                <a:ext cx="186" cy="172"/>
              </a:xfrm>
              <a:custGeom>
                <a:avLst/>
                <a:gdLst>
                  <a:gd name="T0" fmla="*/ 185 w 186"/>
                  <a:gd name="T1" fmla="*/ 165 h 172"/>
                  <a:gd name="T2" fmla="*/ 185 w 186"/>
                  <a:gd name="T3" fmla="*/ 166 h 172"/>
                  <a:gd name="T4" fmla="*/ 185 w 186"/>
                  <a:gd name="T5" fmla="*/ 167 h 172"/>
                  <a:gd name="T6" fmla="*/ 184 w 186"/>
                  <a:gd name="T7" fmla="*/ 167 h 172"/>
                  <a:gd name="T8" fmla="*/ 184 w 186"/>
                  <a:gd name="T9" fmla="*/ 168 h 172"/>
                  <a:gd name="T10" fmla="*/ 183 w 186"/>
                  <a:gd name="T11" fmla="*/ 169 h 172"/>
                  <a:gd name="T12" fmla="*/ 183 w 186"/>
                  <a:gd name="T13" fmla="*/ 169 h 172"/>
                  <a:gd name="T14" fmla="*/ 182 w 186"/>
                  <a:gd name="T15" fmla="*/ 170 h 172"/>
                  <a:gd name="T16" fmla="*/ 182 w 186"/>
                  <a:gd name="T17" fmla="*/ 170 h 172"/>
                  <a:gd name="T18" fmla="*/ 181 w 186"/>
                  <a:gd name="T19" fmla="*/ 170 h 172"/>
                  <a:gd name="T20" fmla="*/ 181 w 186"/>
                  <a:gd name="T21" fmla="*/ 171 h 172"/>
                  <a:gd name="T22" fmla="*/ 180 w 186"/>
                  <a:gd name="T23" fmla="*/ 171 h 172"/>
                  <a:gd name="T24" fmla="*/ 179 w 186"/>
                  <a:gd name="T25" fmla="*/ 171 h 172"/>
                  <a:gd name="T26" fmla="*/ 4 w 186"/>
                  <a:gd name="T27" fmla="*/ 171 h 172"/>
                  <a:gd name="T28" fmla="*/ 3 w 186"/>
                  <a:gd name="T29" fmla="*/ 171 h 172"/>
                  <a:gd name="T30" fmla="*/ 3 w 186"/>
                  <a:gd name="T31" fmla="*/ 171 h 172"/>
                  <a:gd name="T32" fmla="*/ 3 w 186"/>
                  <a:gd name="T33" fmla="*/ 170 h 172"/>
                  <a:gd name="T34" fmla="*/ 2 w 186"/>
                  <a:gd name="T35" fmla="*/ 170 h 172"/>
                  <a:gd name="T36" fmla="*/ 2 w 186"/>
                  <a:gd name="T37" fmla="*/ 170 h 172"/>
                  <a:gd name="T38" fmla="*/ 1 w 186"/>
                  <a:gd name="T39" fmla="*/ 169 h 172"/>
                  <a:gd name="T40" fmla="*/ 1 w 186"/>
                  <a:gd name="T41" fmla="*/ 169 h 172"/>
                  <a:gd name="T42" fmla="*/ 0 w 186"/>
                  <a:gd name="T43" fmla="*/ 169 h 172"/>
                  <a:gd name="T44" fmla="*/ 0 w 186"/>
                  <a:gd name="T45" fmla="*/ 168 h 172"/>
                  <a:gd name="T46" fmla="*/ 0 w 186"/>
                  <a:gd name="T47" fmla="*/ 167 h 172"/>
                  <a:gd name="T48" fmla="*/ 0 w 186"/>
                  <a:gd name="T49" fmla="*/ 167 h 172"/>
                  <a:gd name="T50" fmla="*/ 0 w 186"/>
                  <a:gd name="T51" fmla="*/ 166 h 172"/>
                  <a:gd name="T52" fmla="*/ 0 w 186"/>
                  <a:gd name="T53" fmla="*/ 165 h 172"/>
                  <a:gd name="T54" fmla="*/ 0 w 186"/>
                  <a:gd name="T55" fmla="*/ 5 h 172"/>
                  <a:gd name="T56" fmla="*/ 0 w 186"/>
                  <a:gd name="T57" fmla="*/ 4 h 172"/>
                  <a:gd name="T58" fmla="*/ 0 w 186"/>
                  <a:gd name="T59" fmla="*/ 3 h 172"/>
                  <a:gd name="T60" fmla="*/ 0 w 186"/>
                  <a:gd name="T61" fmla="*/ 3 h 172"/>
                  <a:gd name="T62" fmla="*/ 0 w 186"/>
                  <a:gd name="T63" fmla="*/ 2 h 172"/>
                  <a:gd name="T64" fmla="*/ 0 w 186"/>
                  <a:gd name="T65" fmla="*/ 2 h 172"/>
                  <a:gd name="T66" fmla="*/ 1 w 186"/>
                  <a:gd name="T67" fmla="*/ 1 h 172"/>
                  <a:gd name="T68" fmla="*/ 1 w 186"/>
                  <a:gd name="T69" fmla="*/ 1 h 172"/>
                  <a:gd name="T70" fmla="*/ 2 w 186"/>
                  <a:gd name="T71" fmla="*/ 1 h 172"/>
                  <a:gd name="T72" fmla="*/ 2 w 186"/>
                  <a:gd name="T73" fmla="*/ 0 h 172"/>
                  <a:gd name="T74" fmla="*/ 2 w 186"/>
                  <a:gd name="T75" fmla="*/ 0 h 172"/>
                  <a:gd name="T76" fmla="*/ 3 w 186"/>
                  <a:gd name="T77" fmla="*/ 0 h 172"/>
                  <a:gd name="T78" fmla="*/ 3 w 186"/>
                  <a:gd name="T79" fmla="*/ 0 h 172"/>
                  <a:gd name="T80" fmla="*/ 4 w 186"/>
                  <a:gd name="T81" fmla="*/ 0 h 172"/>
                  <a:gd name="T82" fmla="*/ 179 w 186"/>
                  <a:gd name="T83" fmla="*/ 0 h 172"/>
                  <a:gd name="T84" fmla="*/ 180 w 186"/>
                  <a:gd name="T85" fmla="*/ 0 h 172"/>
                  <a:gd name="T86" fmla="*/ 181 w 186"/>
                  <a:gd name="T87" fmla="*/ 0 h 172"/>
                  <a:gd name="T88" fmla="*/ 181 w 186"/>
                  <a:gd name="T89" fmla="*/ 0 h 172"/>
                  <a:gd name="T90" fmla="*/ 182 w 186"/>
                  <a:gd name="T91" fmla="*/ 0 h 172"/>
                  <a:gd name="T92" fmla="*/ 182 w 186"/>
                  <a:gd name="T93" fmla="*/ 1 h 172"/>
                  <a:gd name="T94" fmla="*/ 183 w 186"/>
                  <a:gd name="T95" fmla="*/ 1 h 172"/>
                  <a:gd name="T96" fmla="*/ 183 w 186"/>
                  <a:gd name="T97" fmla="*/ 1 h 172"/>
                  <a:gd name="T98" fmla="*/ 183 w 186"/>
                  <a:gd name="T99" fmla="*/ 2 h 172"/>
                  <a:gd name="T100" fmla="*/ 184 w 186"/>
                  <a:gd name="T101" fmla="*/ 2 h 172"/>
                  <a:gd name="T102" fmla="*/ 184 w 186"/>
                  <a:gd name="T103" fmla="*/ 3 h 172"/>
                  <a:gd name="T104" fmla="*/ 185 w 186"/>
                  <a:gd name="T105" fmla="*/ 3 h 172"/>
                  <a:gd name="T106" fmla="*/ 185 w 186"/>
                  <a:gd name="T107" fmla="*/ 4 h 172"/>
                  <a:gd name="T108" fmla="*/ 185 w 186"/>
                  <a:gd name="T109" fmla="*/ 5 h 172"/>
                  <a:gd name="T110" fmla="*/ 185 w 186"/>
                  <a:gd name="T111" fmla="*/ 165 h 172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186"/>
                  <a:gd name="T169" fmla="*/ 0 h 172"/>
                  <a:gd name="T170" fmla="*/ 186 w 186"/>
                  <a:gd name="T171" fmla="*/ 172 h 172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186" h="172">
                    <a:moveTo>
                      <a:pt x="185" y="165"/>
                    </a:moveTo>
                    <a:lnTo>
                      <a:pt x="185" y="166"/>
                    </a:lnTo>
                    <a:lnTo>
                      <a:pt x="185" y="167"/>
                    </a:lnTo>
                    <a:lnTo>
                      <a:pt x="184" y="167"/>
                    </a:lnTo>
                    <a:lnTo>
                      <a:pt x="184" y="168"/>
                    </a:lnTo>
                    <a:lnTo>
                      <a:pt x="183" y="169"/>
                    </a:lnTo>
                    <a:lnTo>
                      <a:pt x="182" y="170"/>
                    </a:lnTo>
                    <a:lnTo>
                      <a:pt x="181" y="170"/>
                    </a:lnTo>
                    <a:lnTo>
                      <a:pt x="181" y="171"/>
                    </a:lnTo>
                    <a:lnTo>
                      <a:pt x="180" y="171"/>
                    </a:lnTo>
                    <a:lnTo>
                      <a:pt x="179" y="171"/>
                    </a:lnTo>
                    <a:lnTo>
                      <a:pt x="4" y="171"/>
                    </a:lnTo>
                    <a:lnTo>
                      <a:pt x="3" y="171"/>
                    </a:lnTo>
                    <a:lnTo>
                      <a:pt x="3" y="170"/>
                    </a:lnTo>
                    <a:lnTo>
                      <a:pt x="2" y="170"/>
                    </a:lnTo>
                    <a:lnTo>
                      <a:pt x="1" y="169"/>
                    </a:lnTo>
                    <a:lnTo>
                      <a:pt x="0" y="169"/>
                    </a:lnTo>
                    <a:lnTo>
                      <a:pt x="0" y="168"/>
                    </a:lnTo>
                    <a:lnTo>
                      <a:pt x="0" y="167"/>
                    </a:lnTo>
                    <a:lnTo>
                      <a:pt x="0" y="166"/>
                    </a:lnTo>
                    <a:lnTo>
                      <a:pt x="0" y="165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179" y="0"/>
                    </a:lnTo>
                    <a:lnTo>
                      <a:pt x="180" y="0"/>
                    </a:lnTo>
                    <a:lnTo>
                      <a:pt x="181" y="0"/>
                    </a:lnTo>
                    <a:lnTo>
                      <a:pt x="182" y="0"/>
                    </a:lnTo>
                    <a:lnTo>
                      <a:pt x="182" y="1"/>
                    </a:lnTo>
                    <a:lnTo>
                      <a:pt x="183" y="1"/>
                    </a:lnTo>
                    <a:lnTo>
                      <a:pt x="183" y="2"/>
                    </a:lnTo>
                    <a:lnTo>
                      <a:pt x="184" y="2"/>
                    </a:lnTo>
                    <a:lnTo>
                      <a:pt x="184" y="3"/>
                    </a:lnTo>
                    <a:lnTo>
                      <a:pt x="185" y="3"/>
                    </a:lnTo>
                    <a:lnTo>
                      <a:pt x="185" y="4"/>
                    </a:lnTo>
                    <a:lnTo>
                      <a:pt x="185" y="5"/>
                    </a:lnTo>
                    <a:lnTo>
                      <a:pt x="185" y="165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62" name="Freeform 51"/>
              <p:cNvSpPr>
                <a:spLocks/>
              </p:cNvSpPr>
              <p:nvPr/>
            </p:nvSpPr>
            <p:spPr bwMode="auto">
              <a:xfrm>
                <a:off x="3857" y="1281"/>
                <a:ext cx="181" cy="171"/>
              </a:xfrm>
              <a:custGeom>
                <a:avLst/>
                <a:gdLst>
                  <a:gd name="T0" fmla="*/ 180 w 181"/>
                  <a:gd name="T1" fmla="*/ 3 h 171"/>
                  <a:gd name="T2" fmla="*/ 180 w 181"/>
                  <a:gd name="T3" fmla="*/ 3 h 171"/>
                  <a:gd name="T4" fmla="*/ 180 w 181"/>
                  <a:gd name="T5" fmla="*/ 2 h 171"/>
                  <a:gd name="T6" fmla="*/ 179 w 181"/>
                  <a:gd name="T7" fmla="*/ 2 h 171"/>
                  <a:gd name="T8" fmla="*/ 179 w 181"/>
                  <a:gd name="T9" fmla="*/ 1 h 171"/>
                  <a:gd name="T10" fmla="*/ 178 w 181"/>
                  <a:gd name="T11" fmla="*/ 1 h 171"/>
                  <a:gd name="T12" fmla="*/ 178 w 181"/>
                  <a:gd name="T13" fmla="*/ 0 h 171"/>
                  <a:gd name="T14" fmla="*/ 177 w 181"/>
                  <a:gd name="T15" fmla="*/ 0 h 171"/>
                  <a:gd name="T16" fmla="*/ 177 w 181"/>
                  <a:gd name="T17" fmla="*/ 0 h 171"/>
                  <a:gd name="T18" fmla="*/ 177 w 181"/>
                  <a:gd name="T19" fmla="*/ 0 h 171"/>
                  <a:gd name="T20" fmla="*/ 176 w 181"/>
                  <a:gd name="T21" fmla="*/ 0 h 171"/>
                  <a:gd name="T22" fmla="*/ 176 w 181"/>
                  <a:gd name="T23" fmla="*/ 0 h 171"/>
                  <a:gd name="T24" fmla="*/ 3 w 181"/>
                  <a:gd name="T25" fmla="*/ 0 h 171"/>
                  <a:gd name="T26" fmla="*/ 3 w 181"/>
                  <a:gd name="T27" fmla="*/ 0 h 171"/>
                  <a:gd name="T28" fmla="*/ 2 w 181"/>
                  <a:gd name="T29" fmla="*/ 0 h 171"/>
                  <a:gd name="T30" fmla="*/ 2 w 181"/>
                  <a:gd name="T31" fmla="*/ 0 h 171"/>
                  <a:gd name="T32" fmla="*/ 1 w 181"/>
                  <a:gd name="T33" fmla="*/ 0 h 171"/>
                  <a:gd name="T34" fmla="*/ 1 w 181"/>
                  <a:gd name="T35" fmla="*/ 0 h 171"/>
                  <a:gd name="T36" fmla="*/ 1 w 181"/>
                  <a:gd name="T37" fmla="*/ 1 h 171"/>
                  <a:gd name="T38" fmla="*/ 0 w 181"/>
                  <a:gd name="T39" fmla="*/ 1 h 171"/>
                  <a:gd name="T40" fmla="*/ 0 w 181"/>
                  <a:gd name="T41" fmla="*/ 1 h 171"/>
                  <a:gd name="T42" fmla="*/ 0 w 181"/>
                  <a:gd name="T43" fmla="*/ 2 h 171"/>
                  <a:gd name="T44" fmla="*/ 0 w 181"/>
                  <a:gd name="T45" fmla="*/ 3 h 171"/>
                  <a:gd name="T46" fmla="*/ 0 w 181"/>
                  <a:gd name="T47" fmla="*/ 3 h 171"/>
                  <a:gd name="T48" fmla="*/ 0 w 181"/>
                  <a:gd name="T49" fmla="*/ 166 h 171"/>
                  <a:gd name="T50" fmla="*/ 0 w 181"/>
                  <a:gd name="T51" fmla="*/ 166 h 171"/>
                  <a:gd name="T52" fmla="*/ 0 w 181"/>
                  <a:gd name="T53" fmla="*/ 167 h 171"/>
                  <a:gd name="T54" fmla="*/ 0 w 181"/>
                  <a:gd name="T55" fmla="*/ 168 h 171"/>
                  <a:gd name="T56" fmla="*/ 0 w 181"/>
                  <a:gd name="T57" fmla="*/ 168 h 171"/>
                  <a:gd name="T58" fmla="*/ 1 w 181"/>
                  <a:gd name="T59" fmla="*/ 168 h 171"/>
                  <a:gd name="T60" fmla="*/ 1 w 181"/>
                  <a:gd name="T61" fmla="*/ 169 h 171"/>
                  <a:gd name="T62" fmla="*/ 2 w 181"/>
                  <a:gd name="T63" fmla="*/ 169 h 171"/>
                  <a:gd name="T64" fmla="*/ 2 w 181"/>
                  <a:gd name="T65" fmla="*/ 169 h 171"/>
                  <a:gd name="T66" fmla="*/ 3 w 181"/>
                  <a:gd name="T67" fmla="*/ 170 h 171"/>
                  <a:gd name="T68" fmla="*/ 3 w 181"/>
                  <a:gd name="T69" fmla="*/ 170 h 171"/>
                  <a:gd name="T70" fmla="*/ 176 w 181"/>
                  <a:gd name="T71" fmla="*/ 170 h 171"/>
                  <a:gd name="T72" fmla="*/ 176 w 181"/>
                  <a:gd name="T73" fmla="*/ 169 h 171"/>
                  <a:gd name="T74" fmla="*/ 177 w 181"/>
                  <a:gd name="T75" fmla="*/ 169 h 171"/>
                  <a:gd name="T76" fmla="*/ 177 w 181"/>
                  <a:gd name="T77" fmla="*/ 169 h 171"/>
                  <a:gd name="T78" fmla="*/ 178 w 181"/>
                  <a:gd name="T79" fmla="*/ 169 h 171"/>
                  <a:gd name="T80" fmla="*/ 178 w 181"/>
                  <a:gd name="T81" fmla="*/ 168 h 171"/>
                  <a:gd name="T82" fmla="*/ 178 w 181"/>
                  <a:gd name="T83" fmla="*/ 168 h 171"/>
                  <a:gd name="T84" fmla="*/ 179 w 181"/>
                  <a:gd name="T85" fmla="*/ 168 h 171"/>
                  <a:gd name="T86" fmla="*/ 179 w 181"/>
                  <a:gd name="T87" fmla="*/ 167 h 171"/>
                  <a:gd name="T88" fmla="*/ 180 w 181"/>
                  <a:gd name="T89" fmla="*/ 166 h 171"/>
                  <a:gd name="T90" fmla="*/ 180 w 181"/>
                  <a:gd name="T91" fmla="*/ 166 h 171"/>
                  <a:gd name="T92" fmla="*/ 180 w 181"/>
                  <a:gd name="T93" fmla="*/ 3 h 171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181"/>
                  <a:gd name="T142" fmla="*/ 0 h 171"/>
                  <a:gd name="T143" fmla="*/ 181 w 181"/>
                  <a:gd name="T144" fmla="*/ 171 h 171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181" h="171">
                    <a:moveTo>
                      <a:pt x="180" y="3"/>
                    </a:moveTo>
                    <a:lnTo>
                      <a:pt x="180" y="3"/>
                    </a:lnTo>
                    <a:lnTo>
                      <a:pt x="180" y="2"/>
                    </a:lnTo>
                    <a:lnTo>
                      <a:pt x="179" y="2"/>
                    </a:lnTo>
                    <a:lnTo>
                      <a:pt x="179" y="1"/>
                    </a:lnTo>
                    <a:lnTo>
                      <a:pt x="178" y="1"/>
                    </a:lnTo>
                    <a:lnTo>
                      <a:pt x="178" y="0"/>
                    </a:lnTo>
                    <a:lnTo>
                      <a:pt x="177" y="0"/>
                    </a:lnTo>
                    <a:lnTo>
                      <a:pt x="176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166"/>
                    </a:lnTo>
                    <a:lnTo>
                      <a:pt x="0" y="167"/>
                    </a:lnTo>
                    <a:lnTo>
                      <a:pt x="0" y="168"/>
                    </a:lnTo>
                    <a:lnTo>
                      <a:pt x="1" y="168"/>
                    </a:lnTo>
                    <a:lnTo>
                      <a:pt x="1" y="169"/>
                    </a:lnTo>
                    <a:lnTo>
                      <a:pt x="2" y="169"/>
                    </a:lnTo>
                    <a:lnTo>
                      <a:pt x="3" y="170"/>
                    </a:lnTo>
                    <a:lnTo>
                      <a:pt x="176" y="170"/>
                    </a:lnTo>
                    <a:lnTo>
                      <a:pt x="176" y="169"/>
                    </a:lnTo>
                    <a:lnTo>
                      <a:pt x="177" y="169"/>
                    </a:lnTo>
                    <a:lnTo>
                      <a:pt x="178" y="169"/>
                    </a:lnTo>
                    <a:lnTo>
                      <a:pt x="178" y="168"/>
                    </a:lnTo>
                    <a:lnTo>
                      <a:pt x="179" y="168"/>
                    </a:lnTo>
                    <a:lnTo>
                      <a:pt x="179" y="167"/>
                    </a:lnTo>
                    <a:lnTo>
                      <a:pt x="180" y="166"/>
                    </a:lnTo>
                    <a:lnTo>
                      <a:pt x="180" y="3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9999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63" name="Freeform 52"/>
              <p:cNvSpPr>
                <a:spLocks/>
              </p:cNvSpPr>
              <p:nvPr/>
            </p:nvSpPr>
            <p:spPr bwMode="auto">
              <a:xfrm>
                <a:off x="3858" y="1282"/>
                <a:ext cx="180" cy="168"/>
              </a:xfrm>
              <a:custGeom>
                <a:avLst/>
                <a:gdLst>
                  <a:gd name="T0" fmla="*/ 179 w 180"/>
                  <a:gd name="T1" fmla="*/ 163 h 168"/>
                  <a:gd name="T2" fmla="*/ 179 w 180"/>
                  <a:gd name="T3" fmla="*/ 164 h 168"/>
                  <a:gd name="T4" fmla="*/ 178 w 180"/>
                  <a:gd name="T5" fmla="*/ 165 h 168"/>
                  <a:gd name="T6" fmla="*/ 178 w 180"/>
                  <a:gd name="T7" fmla="*/ 165 h 168"/>
                  <a:gd name="T8" fmla="*/ 177 w 180"/>
                  <a:gd name="T9" fmla="*/ 166 h 168"/>
                  <a:gd name="T10" fmla="*/ 177 w 180"/>
                  <a:gd name="T11" fmla="*/ 166 h 168"/>
                  <a:gd name="T12" fmla="*/ 176 w 180"/>
                  <a:gd name="T13" fmla="*/ 167 h 168"/>
                  <a:gd name="T14" fmla="*/ 176 w 180"/>
                  <a:gd name="T15" fmla="*/ 167 h 168"/>
                  <a:gd name="T16" fmla="*/ 2 w 180"/>
                  <a:gd name="T17" fmla="*/ 167 h 168"/>
                  <a:gd name="T18" fmla="*/ 2 w 180"/>
                  <a:gd name="T19" fmla="*/ 167 h 168"/>
                  <a:gd name="T20" fmla="*/ 1 w 180"/>
                  <a:gd name="T21" fmla="*/ 167 h 168"/>
                  <a:gd name="T22" fmla="*/ 1 w 180"/>
                  <a:gd name="T23" fmla="*/ 166 h 168"/>
                  <a:gd name="T24" fmla="*/ 1 w 180"/>
                  <a:gd name="T25" fmla="*/ 166 h 168"/>
                  <a:gd name="T26" fmla="*/ 0 w 180"/>
                  <a:gd name="T27" fmla="*/ 166 h 168"/>
                  <a:gd name="T28" fmla="*/ 0 w 180"/>
                  <a:gd name="T29" fmla="*/ 165 h 168"/>
                  <a:gd name="T30" fmla="*/ 0 w 180"/>
                  <a:gd name="T31" fmla="*/ 165 h 168"/>
                  <a:gd name="T32" fmla="*/ 0 w 180"/>
                  <a:gd name="T33" fmla="*/ 165 h 168"/>
                  <a:gd name="T34" fmla="*/ 0 w 180"/>
                  <a:gd name="T35" fmla="*/ 164 h 168"/>
                  <a:gd name="T36" fmla="*/ 0 w 180"/>
                  <a:gd name="T37" fmla="*/ 163 h 168"/>
                  <a:gd name="T38" fmla="*/ 0 w 180"/>
                  <a:gd name="T39" fmla="*/ 3 h 168"/>
                  <a:gd name="T40" fmla="*/ 0 w 180"/>
                  <a:gd name="T41" fmla="*/ 2 h 168"/>
                  <a:gd name="T42" fmla="*/ 0 w 180"/>
                  <a:gd name="T43" fmla="*/ 1 h 168"/>
                  <a:gd name="T44" fmla="*/ 0 w 180"/>
                  <a:gd name="T45" fmla="*/ 1 h 168"/>
                  <a:gd name="T46" fmla="*/ 0 w 180"/>
                  <a:gd name="T47" fmla="*/ 1 h 168"/>
                  <a:gd name="T48" fmla="*/ 1 w 180"/>
                  <a:gd name="T49" fmla="*/ 0 h 168"/>
                  <a:gd name="T50" fmla="*/ 1 w 180"/>
                  <a:gd name="T51" fmla="*/ 0 h 168"/>
                  <a:gd name="T52" fmla="*/ 2 w 180"/>
                  <a:gd name="T53" fmla="*/ 0 h 168"/>
                  <a:gd name="T54" fmla="*/ 2 w 180"/>
                  <a:gd name="T55" fmla="*/ 0 h 168"/>
                  <a:gd name="T56" fmla="*/ 176 w 180"/>
                  <a:gd name="T57" fmla="*/ 0 h 168"/>
                  <a:gd name="T58" fmla="*/ 176 w 180"/>
                  <a:gd name="T59" fmla="*/ 0 h 168"/>
                  <a:gd name="T60" fmla="*/ 176 w 180"/>
                  <a:gd name="T61" fmla="*/ 0 h 168"/>
                  <a:gd name="T62" fmla="*/ 177 w 180"/>
                  <a:gd name="T63" fmla="*/ 0 h 168"/>
                  <a:gd name="T64" fmla="*/ 177 w 180"/>
                  <a:gd name="T65" fmla="*/ 0 h 168"/>
                  <a:gd name="T66" fmla="*/ 177 w 180"/>
                  <a:gd name="T67" fmla="*/ 1 h 168"/>
                  <a:gd name="T68" fmla="*/ 178 w 180"/>
                  <a:gd name="T69" fmla="*/ 1 h 168"/>
                  <a:gd name="T70" fmla="*/ 178 w 180"/>
                  <a:gd name="T71" fmla="*/ 1 h 168"/>
                  <a:gd name="T72" fmla="*/ 179 w 180"/>
                  <a:gd name="T73" fmla="*/ 2 h 168"/>
                  <a:gd name="T74" fmla="*/ 179 w 180"/>
                  <a:gd name="T75" fmla="*/ 3 h 168"/>
                  <a:gd name="T76" fmla="*/ 179 w 180"/>
                  <a:gd name="T77" fmla="*/ 163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80"/>
                  <a:gd name="T118" fmla="*/ 0 h 168"/>
                  <a:gd name="T119" fmla="*/ 180 w 180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80" h="168">
                    <a:moveTo>
                      <a:pt x="179" y="163"/>
                    </a:moveTo>
                    <a:lnTo>
                      <a:pt x="179" y="164"/>
                    </a:lnTo>
                    <a:lnTo>
                      <a:pt x="178" y="165"/>
                    </a:lnTo>
                    <a:lnTo>
                      <a:pt x="177" y="166"/>
                    </a:lnTo>
                    <a:lnTo>
                      <a:pt x="176" y="167"/>
                    </a:lnTo>
                    <a:lnTo>
                      <a:pt x="2" y="167"/>
                    </a:lnTo>
                    <a:lnTo>
                      <a:pt x="1" y="167"/>
                    </a:lnTo>
                    <a:lnTo>
                      <a:pt x="1" y="166"/>
                    </a:lnTo>
                    <a:lnTo>
                      <a:pt x="0" y="166"/>
                    </a:lnTo>
                    <a:lnTo>
                      <a:pt x="0" y="165"/>
                    </a:lnTo>
                    <a:lnTo>
                      <a:pt x="0" y="164"/>
                    </a:lnTo>
                    <a:lnTo>
                      <a:pt x="0" y="163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176" y="0"/>
                    </a:lnTo>
                    <a:lnTo>
                      <a:pt x="177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2"/>
                    </a:lnTo>
                    <a:lnTo>
                      <a:pt x="179" y="3"/>
                    </a:lnTo>
                    <a:lnTo>
                      <a:pt x="179" y="163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64" name="Freeform 53"/>
              <p:cNvSpPr>
                <a:spLocks/>
              </p:cNvSpPr>
              <p:nvPr/>
            </p:nvSpPr>
            <p:spPr bwMode="auto">
              <a:xfrm>
                <a:off x="3877" y="1304"/>
                <a:ext cx="142" cy="124"/>
              </a:xfrm>
              <a:custGeom>
                <a:avLst/>
                <a:gdLst>
                  <a:gd name="T0" fmla="*/ 0 w 142"/>
                  <a:gd name="T1" fmla="*/ 1 h 124"/>
                  <a:gd name="T2" fmla="*/ 1 w 142"/>
                  <a:gd name="T3" fmla="*/ 1 h 124"/>
                  <a:gd name="T4" fmla="*/ 1 w 142"/>
                  <a:gd name="T5" fmla="*/ 1 h 124"/>
                  <a:gd name="T6" fmla="*/ 2 w 142"/>
                  <a:gd name="T7" fmla="*/ 0 h 124"/>
                  <a:gd name="T8" fmla="*/ 2 w 142"/>
                  <a:gd name="T9" fmla="*/ 0 h 124"/>
                  <a:gd name="T10" fmla="*/ 3 w 142"/>
                  <a:gd name="T11" fmla="*/ 0 h 124"/>
                  <a:gd name="T12" fmla="*/ 3 w 142"/>
                  <a:gd name="T13" fmla="*/ 0 h 124"/>
                  <a:gd name="T14" fmla="*/ 4 w 142"/>
                  <a:gd name="T15" fmla="*/ 0 h 124"/>
                  <a:gd name="T16" fmla="*/ 135 w 142"/>
                  <a:gd name="T17" fmla="*/ 0 h 124"/>
                  <a:gd name="T18" fmla="*/ 136 w 142"/>
                  <a:gd name="T19" fmla="*/ 0 h 124"/>
                  <a:gd name="T20" fmla="*/ 137 w 142"/>
                  <a:gd name="T21" fmla="*/ 0 h 124"/>
                  <a:gd name="T22" fmla="*/ 137 w 142"/>
                  <a:gd name="T23" fmla="*/ 0 h 124"/>
                  <a:gd name="T24" fmla="*/ 138 w 142"/>
                  <a:gd name="T25" fmla="*/ 0 h 124"/>
                  <a:gd name="T26" fmla="*/ 138 w 142"/>
                  <a:gd name="T27" fmla="*/ 1 h 124"/>
                  <a:gd name="T28" fmla="*/ 139 w 142"/>
                  <a:gd name="T29" fmla="*/ 1 h 124"/>
                  <a:gd name="T30" fmla="*/ 139 w 142"/>
                  <a:gd name="T31" fmla="*/ 1 h 124"/>
                  <a:gd name="T32" fmla="*/ 140 w 142"/>
                  <a:gd name="T33" fmla="*/ 2 h 124"/>
                  <a:gd name="T34" fmla="*/ 140 w 142"/>
                  <a:gd name="T35" fmla="*/ 3 h 124"/>
                  <a:gd name="T36" fmla="*/ 141 w 142"/>
                  <a:gd name="T37" fmla="*/ 3 h 124"/>
                  <a:gd name="T38" fmla="*/ 141 w 142"/>
                  <a:gd name="T39" fmla="*/ 4 h 124"/>
                  <a:gd name="T40" fmla="*/ 141 w 142"/>
                  <a:gd name="T41" fmla="*/ 5 h 124"/>
                  <a:gd name="T42" fmla="*/ 141 w 142"/>
                  <a:gd name="T43" fmla="*/ 117 h 124"/>
                  <a:gd name="T44" fmla="*/ 141 w 142"/>
                  <a:gd name="T45" fmla="*/ 119 h 124"/>
                  <a:gd name="T46" fmla="*/ 140 w 142"/>
                  <a:gd name="T47" fmla="*/ 119 h 124"/>
                  <a:gd name="T48" fmla="*/ 140 w 142"/>
                  <a:gd name="T49" fmla="*/ 120 h 124"/>
                  <a:gd name="T50" fmla="*/ 139 w 142"/>
                  <a:gd name="T51" fmla="*/ 121 h 124"/>
                  <a:gd name="T52" fmla="*/ 139 w 142"/>
                  <a:gd name="T53" fmla="*/ 121 h 124"/>
                  <a:gd name="T54" fmla="*/ 138 w 142"/>
                  <a:gd name="T55" fmla="*/ 122 h 124"/>
                  <a:gd name="T56" fmla="*/ 138 w 142"/>
                  <a:gd name="T57" fmla="*/ 122 h 124"/>
                  <a:gd name="T58" fmla="*/ 137 w 142"/>
                  <a:gd name="T59" fmla="*/ 122 h 124"/>
                  <a:gd name="T60" fmla="*/ 137 w 142"/>
                  <a:gd name="T61" fmla="*/ 123 h 124"/>
                  <a:gd name="T62" fmla="*/ 136 w 142"/>
                  <a:gd name="T63" fmla="*/ 123 h 124"/>
                  <a:gd name="T64" fmla="*/ 135 w 142"/>
                  <a:gd name="T65" fmla="*/ 123 h 124"/>
                  <a:gd name="T66" fmla="*/ 4 w 142"/>
                  <a:gd name="T67" fmla="*/ 123 h 124"/>
                  <a:gd name="T68" fmla="*/ 3 w 142"/>
                  <a:gd name="T69" fmla="*/ 123 h 124"/>
                  <a:gd name="T70" fmla="*/ 3 w 142"/>
                  <a:gd name="T71" fmla="*/ 123 h 124"/>
                  <a:gd name="T72" fmla="*/ 2 w 142"/>
                  <a:gd name="T73" fmla="*/ 122 h 124"/>
                  <a:gd name="T74" fmla="*/ 2 w 142"/>
                  <a:gd name="T75" fmla="*/ 122 h 124"/>
                  <a:gd name="T76" fmla="*/ 1 w 142"/>
                  <a:gd name="T77" fmla="*/ 122 h 124"/>
                  <a:gd name="T78" fmla="*/ 1 w 142"/>
                  <a:gd name="T79" fmla="*/ 121 h 124"/>
                  <a:gd name="T80" fmla="*/ 0 w 142"/>
                  <a:gd name="T81" fmla="*/ 121 h 124"/>
                  <a:gd name="T82" fmla="*/ 0 w 142"/>
                  <a:gd name="T83" fmla="*/ 120 h 124"/>
                  <a:gd name="T84" fmla="*/ 0 w 142"/>
                  <a:gd name="T85" fmla="*/ 119 h 124"/>
                  <a:gd name="T86" fmla="*/ 0 w 142"/>
                  <a:gd name="T87" fmla="*/ 119 h 124"/>
                  <a:gd name="T88" fmla="*/ 0 w 142"/>
                  <a:gd name="T89" fmla="*/ 117 h 124"/>
                  <a:gd name="T90" fmla="*/ 0 w 142"/>
                  <a:gd name="T91" fmla="*/ 5 h 124"/>
                  <a:gd name="T92" fmla="*/ 0 w 142"/>
                  <a:gd name="T93" fmla="*/ 4 h 124"/>
                  <a:gd name="T94" fmla="*/ 0 w 142"/>
                  <a:gd name="T95" fmla="*/ 3 h 124"/>
                  <a:gd name="T96" fmla="*/ 0 w 142"/>
                  <a:gd name="T97" fmla="*/ 3 h 124"/>
                  <a:gd name="T98" fmla="*/ 0 w 142"/>
                  <a:gd name="T99" fmla="*/ 2 h 124"/>
                  <a:gd name="T100" fmla="*/ 0 w 142"/>
                  <a:gd name="T101" fmla="*/ 1 h 124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42"/>
                  <a:gd name="T154" fmla="*/ 0 h 124"/>
                  <a:gd name="T155" fmla="*/ 142 w 142"/>
                  <a:gd name="T156" fmla="*/ 124 h 124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42" h="124">
                    <a:moveTo>
                      <a:pt x="0" y="1"/>
                    </a:moveTo>
                    <a:lnTo>
                      <a:pt x="1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8" y="1"/>
                    </a:lnTo>
                    <a:lnTo>
                      <a:pt x="139" y="1"/>
                    </a:lnTo>
                    <a:lnTo>
                      <a:pt x="140" y="2"/>
                    </a:lnTo>
                    <a:lnTo>
                      <a:pt x="140" y="3"/>
                    </a:lnTo>
                    <a:lnTo>
                      <a:pt x="141" y="3"/>
                    </a:lnTo>
                    <a:lnTo>
                      <a:pt x="141" y="4"/>
                    </a:lnTo>
                    <a:lnTo>
                      <a:pt x="141" y="5"/>
                    </a:lnTo>
                    <a:lnTo>
                      <a:pt x="141" y="117"/>
                    </a:lnTo>
                    <a:lnTo>
                      <a:pt x="141" y="119"/>
                    </a:lnTo>
                    <a:lnTo>
                      <a:pt x="140" y="119"/>
                    </a:lnTo>
                    <a:lnTo>
                      <a:pt x="140" y="120"/>
                    </a:lnTo>
                    <a:lnTo>
                      <a:pt x="139" y="121"/>
                    </a:lnTo>
                    <a:lnTo>
                      <a:pt x="138" y="122"/>
                    </a:lnTo>
                    <a:lnTo>
                      <a:pt x="137" y="122"/>
                    </a:lnTo>
                    <a:lnTo>
                      <a:pt x="137" y="123"/>
                    </a:lnTo>
                    <a:lnTo>
                      <a:pt x="136" y="123"/>
                    </a:lnTo>
                    <a:lnTo>
                      <a:pt x="135" y="123"/>
                    </a:lnTo>
                    <a:lnTo>
                      <a:pt x="4" y="123"/>
                    </a:lnTo>
                    <a:lnTo>
                      <a:pt x="3" y="123"/>
                    </a:lnTo>
                    <a:lnTo>
                      <a:pt x="2" y="122"/>
                    </a:lnTo>
                    <a:lnTo>
                      <a:pt x="1" y="122"/>
                    </a:lnTo>
                    <a:lnTo>
                      <a:pt x="1" y="121"/>
                    </a:lnTo>
                    <a:lnTo>
                      <a:pt x="0" y="121"/>
                    </a:lnTo>
                    <a:lnTo>
                      <a:pt x="0" y="120"/>
                    </a:lnTo>
                    <a:lnTo>
                      <a:pt x="0" y="119"/>
                    </a:lnTo>
                    <a:lnTo>
                      <a:pt x="0" y="117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</a:path>
                </a:pathLst>
              </a:custGeom>
              <a:gradFill rotWithShape="0">
                <a:gsLst>
                  <a:gs pos="0">
                    <a:srgbClr val="1D2B4B"/>
                  </a:gs>
                  <a:gs pos="50000">
                    <a:srgbClr val="618FFD"/>
                  </a:gs>
                  <a:gs pos="100000">
                    <a:srgbClr val="1D2B4B"/>
                  </a:gs>
                </a:gsLst>
                <a:lin ang="2700000" scaled="1"/>
              </a:gra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65" name="Freeform 54"/>
              <p:cNvSpPr>
                <a:spLocks/>
              </p:cNvSpPr>
              <p:nvPr/>
            </p:nvSpPr>
            <p:spPr bwMode="auto">
              <a:xfrm>
                <a:off x="3872" y="1298"/>
                <a:ext cx="153" cy="17"/>
              </a:xfrm>
              <a:custGeom>
                <a:avLst/>
                <a:gdLst>
                  <a:gd name="T0" fmla="*/ 152 w 153"/>
                  <a:gd name="T1" fmla="*/ 4 h 17"/>
                  <a:gd name="T2" fmla="*/ 151 w 153"/>
                  <a:gd name="T3" fmla="*/ 3 h 17"/>
                  <a:gd name="T4" fmla="*/ 151 w 153"/>
                  <a:gd name="T5" fmla="*/ 2 h 17"/>
                  <a:gd name="T6" fmla="*/ 150 w 153"/>
                  <a:gd name="T7" fmla="*/ 2 h 17"/>
                  <a:gd name="T8" fmla="*/ 150 w 153"/>
                  <a:gd name="T9" fmla="*/ 2 h 17"/>
                  <a:gd name="T10" fmla="*/ 150 w 153"/>
                  <a:gd name="T11" fmla="*/ 1 h 17"/>
                  <a:gd name="T12" fmla="*/ 149 w 153"/>
                  <a:gd name="T13" fmla="*/ 1 h 17"/>
                  <a:gd name="T14" fmla="*/ 149 w 153"/>
                  <a:gd name="T15" fmla="*/ 1 h 17"/>
                  <a:gd name="T16" fmla="*/ 148 w 153"/>
                  <a:gd name="T17" fmla="*/ 0 h 17"/>
                  <a:gd name="T18" fmla="*/ 148 w 153"/>
                  <a:gd name="T19" fmla="*/ 0 h 17"/>
                  <a:gd name="T20" fmla="*/ 147 w 153"/>
                  <a:gd name="T21" fmla="*/ 0 h 17"/>
                  <a:gd name="T22" fmla="*/ 146 w 153"/>
                  <a:gd name="T23" fmla="*/ 0 h 17"/>
                  <a:gd name="T24" fmla="*/ 3 w 153"/>
                  <a:gd name="T25" fmla="*/ 0 h 17"/>
                  <a:gd name="T26" fmla="*/ 3 w 153"/>
                  <a:gd name="T27" fmla="*/ 0 h 17"/>
                  <a:gd name="T28" fmla="*/ 2 w 153"/>
                  <a:gd name="T29" fmla="*/ 0 h 17"/>
                  <a:gd name="T30" fmla="*/ 1 w 153"/>
                  <a:gd name="T31" fmla="*/ 1 h 17"/>
                  <a:gd name="T32" fmla="*/ 1 w 153"/>
                  <a:gd name="T33" fmla="*/ 1 h 17"/>
                  <a:gd name="T34" fmla="*/ 0 w 153"/>
                  <a:gd name="T35" fmla="*/ 2 h 17"/>
                  <a:gd name="T36" fmla="*/ 0 w 153"/>
                  <a:gd name="T37" fmla="*/ 2 h 17"/>
                  <a:gd name="T38" fmla="*/ 0 w 153"/>
                  <a:gd name="T39" fmla="*/ 3 h 17"/>
                  <a:gd name="T40" fmla="*/ 6 w 153"/>
                  <a:gd name="T41" fmla="*/ 16 h 17"/>
                  <a:gd name="T42" fmla="*/ 7 w 153"/>
                  <a:gd name="T43" fmla="*/ 14 h 17"/>
                  <a:gd name="T44" fmla="*/ 7 w 153"/>
                  <a:gd name="T45" fmla="*/ 14 h 17"/>
                  <a:gd name="T46" fmla="*/ 8 w 153"/>
                  <a:gd name="T47" fmla="*/ 13 h 17"/>
                  <a:gd name="T48" fmla="*/ 8 w 153"/>
                  <a:gd name="T49" fmla="*/ 13 h 17"/>
                  <a:gd name="T50" fmla="*/ 8 w 153"/>
                  <a:gd name="T51" fmla="*/ 12 h 17"/>
                  <a:gd name="T52" fmla="*/ 9 w 153"/>
                  <a:gd name="T53" fmla="*/ 12 h 17"/>
                  <a:gd name="T54" fmla="*/ 10 w 153"/>
                  <a:gd name="T55" fmla="*/ 12 h 17"/>
                  <a:gd name="T56" fmla="*/ 140 w 153"/>
                  <a:gd name="T57" fmla="*/ 12 h 17"/>
                  <a:gd name="T58" fmla="*/ 141 w 153"/>
                  <a:gd name="T59" fmla="*/ 12 h 17"/>
                  <a:gd name="T60" fmla="*/ 142 w 153"/>
                  <a:gd name="T61" fmla="*/ 12 h 17"/>
                  <a:gd name="T62" fmla="*/ 142 w 153"/>
                  <a:gd name="T63" fmla="*/ 13 h 17"/>
                  <a:gd name="T64" fmla="*/ 143 w 153"/>
                  <a:gd name="T65" fmla="*/ 13 h 17"/>
                  <a:gd name="T66" fmla="*/ 143 w 153"/>
                  <a:gd name="T67" fmla="*/ 14 h 17"/>
                  <a:gd name="T68" fmla="*/ 143 w 153"/>
                  <a:gd name="T69" fmla="*/ 14 h 17"/>
                  <a:gd name="T70" fmla="*/ 144 w 153"/>
                  <a:gd name="T71" fmla="*/ 14 h 17"/>
                  <a:gd name="T72" fmla="*/ 152 w 153"/>
                  <a:gd name="T73" fmla="*/ 4 h 1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53"/>
                  <a:gd name="T112" fmla="*/ 0 h 17"/>
                  <a:gd name="T113" fmla="*/ 153 w 153"/>
                  <a:gd name="T114" fmla="*/ 17 h 1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53" h="17">
                    <a:moveTo>
                      <a:pt x="152" y="4"/>
                    </a:moveTo>
                    <a:lnTo>
                      <a:pt x="151" y="3"/>
                    </a:lnTo>
                    <a:lnTo>
                      <a:pt x="151" y="2"/>
                    </a:lnTo>
                    <a:lnTo>
                      <a:pt x="150" y="2"/>
                    </a:lnTo>
                    <a:lnTo>
                      <a:pt x="150" y="1"/>
                    </a:lnTo>
                    <a:lnTo>
                      <a:pt x="149" y="1"/>
                    </a:lnTo>
                    <a:lnTo>
                      <a:pt x="148" y="0"/>
                    </a:lnTo>
                    <a:lnTo>
                      <a:pt x="147" y="0"/>
                    </a:lnTo>
                    <a:lnTo>
                      <a:pt x="146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6" y="16"/>
                    </a:lnTo>
                    <a:lnTo>
                      <a:pt x="7" y="14"/>
                    </a:lnTo>
                    <a:lnTo>
                      <a:pt x="8" y="13"/>
                    </a:lnTo>
                    <a:lnTo>
                      <a:pt x="8" y="12"/>
                    </a:lnTo>
                    <a:lnTo>
                      <a:pt x="9" y="12"/>
                    </a:lnTo>
                    <a:lnTo>
                      <a:pt x="10" y="12"/>
                    </a:lnTo>
                    <a:lnTo>
                      <a:pt x="140" y="12"/>
                    </a:lnTo>
                    <a:lnTo>
                      <a:pt x="141" y="12"/>
                    </a:lnTo>
                    <a:lnTo>
                      <a:pt x="142" y="12"/>
                    </a:lnTo>
                    <a:lnTo>
                      <a:pt x="142" y="13"/>
                    </a:lnTo>
                    <a:lnTo>
                      <a:pt x="143" y="13"/>
                    </a:lnTo>
                    <a:lnTo>
                      <a:pt x="143" y="14"/>
                    </a:lnTo>
                    <a:lnTo>
                      <a:pt x="144" y="14"/>
                    </a:lnTo>
                    <a:lnTo>
                      <a:pt x="152" y="4"/>
                    </a:lnTo>
                  </a:path>
                </a:pathLst>
              </a:custGeom>
              <a:solidFill>
                <a:srgbClr val="9F9FA2"/>
              </a:solidFill>
              <a:ln w="12700" cap="rnd">
                <a:solidFill>
                  <a:srgbClr val="9F9FA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66" name="Freeform 55"/>
              <p:cNvSpPr>
                <a:spLocks/>
              </p:cNvSpPr>
              <p:nvPr/>
            </p:nvSpPr>
            <p:spPr bwMode="auto">
              <a:xfrm>
                <a:off x="3870" y="1299"/>
                <a:ext cx="17" cy="135"/>
              </a:xfrm>
              <a:custGeom>
                <a:avLst/>
                <a:gdLst>
                  <a:gd name="T0" fmla="*/ 2 w 17"/>
                  <a:gd name="T1" fmla="*/ 0 h 135"/>
                  <a:gd name="T2" fmla="*/ 1 w 17"/>
                  <a:gd name="T3" fmla="*/ 0 h 135"/>
                  <a:gd name="T4" fmla="*/ 0 w 17"/>
                  <a:gd name="T5" fmla="*/ 1 h 135"/>
                  <a:gd name="T6" fmla="*/ 0 w 17"/>
                  <a:gd name="T7" fmla="*/ 2 h 135"/>
                  <a:gd name="T8" fmla="*/ 0 w 17"/>
                  <a:gd name="T9" fmla="*/ 2 h 135"/>
                  <a:gd name="T10" fmla="*/ 0 w 17"/>
                  <a:gd name="T11" fmla="*/ 3 h 135"/>
                  <a:gd name="T12" fmla="*/ 0 w 17"/>
                  <a:gd name="T13" fmla="*/ 4 h 135"/>
                  <a:gd name="T14" fmla="*/ 0 w 17"/>
                  <a:gd name="T15" fmla="*/ 130 h 135"/>
                  <a:gd name="T16" fmla="*/ 0 w 17"/>
                  <a:gd name="T17" fmla="*/ 130 h 135"/>
                  <a:gd name="T18" fmla="*/ 0 w 17"/>
                  <a:gd name="T19" fmla="*/ 131 h 135"/>
                  <a:gd name="T20" fmla="*/ 0 w 17"/>
                  <a:gd name="T21" fmla="*/ 132 h 135"/>
                  <a:gd name="T22" fmla="*/ 0 w 17"/>
                  <a:gd name="T23" fmla="*/ 132 h 135"/>
                  <a:gd name="T24" fmla="*/ 1 w 17"/>
                  <a:gd name="T25" fmla="*/ 133 h 135"/>
                  <a:gd name="T26" fmla="*/ 2 w 17"/>
                  <a:gd name="T27" fmla="*/ 133 h 135"/>
                  <a:gd name="T28" fmla="*/ 2 w 17"/>
                  <a:gd name="T29" fmla="*/ 134 h 135"/>
                  <a:gd name="T30" fmla="*/ 3 w 17"/>
                  <a:gd name="T31" fmla="*/ 134 h 135"/>
                  <a:gd name="T32" fmla="*/ 16 w 17"/>
                  <a:gd name="T33" fmla="*/ 127 h 135"/>
                  <a:gd name="T34" fmla="*/ 15 w 17"/>
                  <a:gd name="T35" fmla="*/ 126 h 135"/>
                  <a:gd name="T36" fmla="*/ 15 w 17"/>
                  <a:gd name="T37" fmla="*/ 126 h 135"/>
                  <a:gd name="T38" fmla="*/ 14 w 17"/>
                  <a:gd name="T39" fmla="*/ 126 h 135"/>
                  <a:gd name="T40" fmla="*/ 14 w 17"/>
                  <a:gd name="T41" fmla="*/ 125 h 135"/>
                  <a:gd name="T42" fmla="*/ 13 w 17"/>
                  <a:gd name="T43" fmla="*/ 124 h 135"/>
                  <a:gd name="T44" fmla="*/ 13 w 17"/>
                  <a:gd name="T45" fmla="*/ 124 h 135"/>
                  <a:gd name="T46" fmla="*/ 13 w 17"/>
                  <a:gd name="T47" fmla="*/ 10 h 135"/>
                  <a:gd name="T48" fmla="*/ 13 w 17"/>
                  <a:gd name="T49" fmla="*/ 9 h 135"/>
                  <a:gd name="T50" fmla="*/ 13 w 17"/>
                  <a:gd name="T51" fmla="*/ 8 h 135"/>
                  <a:gd name="T52" fmla="*/ 14 w 17"/>
                  <a:gd name="T53" fmla="*/ 8 h 135"/>
                  <a:gd name="T54" fmla="*/ 15 w 17"/>
                  <a:gd name="T55" fmla="*/ 7 h 135"/>
                  <a:gd name="T56" fmla="*/ 15 w 17"/>
                  <a:gd name="T57" fmla="*/ 6 h 135"/>
                  <a:gd name="T58" fmla="*/ 2 w 17"/>
                  <a:gd name="T59" fmla="*/ 0 h 135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7"/>
                  <a:gd name="T91" fmla="*/ 0 h 135"/>
                  <a:gd name="T92" fmla="*/ 17 w 17"/>
                  <a:gd name="T93" fmla="*/ 135 h 135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7" h="135">
                    <a:moveTo>
                      <a:pt x="2" y="0"/>
                    </a:moveTo>
                    <a:lnTo>
                      <a:pt x="1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0" y="130"/>
                    </a:lnTo>
                    <a:lnTo>
                      <a:pt x="0" y="131"/>
                    </a:lnTo>
                    <a:lnTo>
                      <a:pt x="0" y="132"/>
                    </a:lnTo>
                    <a:lnTo>
                      <a:pt x="1" y="133"/>
                    </a:lnTo>
                    <a:lnTo>
                      <a:pt x="2" y="133"/>
                    </a:lnTo>
                    <a:lnTo>
                      <a:pt x="2" y="134"/>
                    </a:lnTo>
                    <a:lnTo>
                      <a:pt x="3" y="134"/>
                    </a:lnTo>
                    <a:lnTo>
                      <a:pt x="16" y="127"/>
                    </a:lnTo>
                    <a:lnTo>
                      <a:pt x="15" y="126"/>
                    </a:lnTo>
                    <a:lnTo>
                      <a:pt x="14" y="126"/>
                    </a:lnTo>
                    <a:lnTo>
                      <a:pt x="14" y="125"/>
                    </a:lnTo>
                    <a:lnTo>
                      <a:pt x="13" y="124"/>
                    </a:lnTo>
                    <a:lnTo>
                      <a:pt x="13" y="10"/>
                    </a:lnTo>
                    <a:lnTo>
                      <a:pt x="13" y="9"/>
                    </a:lnTo>
                    <a:lnTo>
                      <a:pt x="13" y="8"/>
                    </a:lnTo>
                    <a:lnTo>
                      <a:pt x="14" y="8"/>
                    </a:lnTo>
                    <a:lnTo>
                      <a:pt x="15" y="7"/>
                    </a:lnTo>
                    <a:lnTo>
                      <a:pt x="15" y="6"/>
                    </a:lnTo>
                    <a:lnTo>
                      <a:pt x="2" y="0"/>
                    </a:lnTo>
                  </a:path>
                </a:pathLst>
              </a:custGeom>
              <a:solidFill>
                <a:srgbClr val="666666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67" name="Freeform 56"/>
              <p:cNvSpPr>
                <a:spLocks/>
              </p:cNvSpPr>
              <p:nvPr/>
            </p:nvSpPr>
            <p:spPr bwMode="auto">
              <a:xfrm>
                <a:off x="3872" y="1300"/>
                <a:ext cx="155" cy="136"/>
              </a:xfrm>
              <a:custGeom>
                <a:avLst/>
                <a:gdLst>
                  <a:gd name="T0" fmla="*/ 0 w 155"/>
                  <a:gd name="T1" fmla="*/ 133 h 136"/>
                  <a:gd name="T2" fmla="*/ 0 w 155"/>
                  <a:gd name="T3" fmla="*/ 134 h 136"/>
                  <a:gd name="T4" fmla="*/ 0 w 155"/>
                  <a:gd name="T5" fmla="*/ 134 h 136"/>
                  <a:gd name="T6" fmla="*/ 1 w 155"/>
                  <a:gd name="T7" fmla="*/ 134 h 136"/>
                  <a:gd name="T8" fmla="*/ 1 w 155"/>
                  <a:gd name="T9" fmla="*/ 134 h 136"/>
                  <a:gd name="T10" fmla="*/ 2 w 155"/>
                  <a:gd name="T11" fmla="*/ 135 h 136"/>
                  <a:gd name="T12" fmla="*/ 2 w 155"/>
                  <a:gd name="T13" fmla="*/ 135 h 136"/>
                  <a:gd name="T14" fmla="*/ 3 w 155"/>
                  <a:gd name="T15" fmla="*/ 135 h 136"/>
                  <a:gd name="T16" fmla="*/ 148 w 155"/>
                  <a:gd name="T17" fmla="*/ 135 h 136"/>
                  <a:gd name="T18" fmla="*/ 150 w 155"/>
                  <a:gd name="T19" fmla="*/ 134 h 136"/>
                  <a:gd name="T20" fmla="*/ 151 w 155"/>
                  <a:gd name="T21" fmla="*/ 134 h 136"/>
                  <a:gd name="T22" fmla="*/ 151 w 155"/>
                  <a:gd name="T23" fmla="*/ 133 h 136"/>
                  <a:gd name="T24" fmla="*/ 152 w 155"/>
                  <a:gd name="T25" fmla="*/ 133 h 136"/>
                  <a:gd name="T26" fmla="*/ 152 w 155"/>
                  <a:gd name="T27" fmla="*/ 133 h 136"/>
                  <a:gd name="T28" fmla="*/ 153 w 155"/>
                  <a:gd name="T29" fmla="*/ 132 h 136"/>
                  <a:gd name="T30" fmla="*/ 153 w 155"/>
                  <a:gd name="T31" fmla="*/ 131 h 136"/>
                  <a:gd name="T32" fmla="*/ 154 w 155"/>
                  <a:gd name="T33" fmla="*/ 131 h 136"/>
                  <a:gd name="T34" fmla="*/ 154 w 155"/>
                  <a:gd name="T35" fmla="*/ 129 h 136"/>
                  <a:gd name="T36" fmla="*/ 154 w 155"/>
                  <a:gd name="T37" fmla="*/ 129 h 136"/>
                  <a:gd name="T38" fmla="*/ 154 w 155"/>
                  <a:gd name="T39" fmla="*/ 3 h 136"/>
                  <a:gd name="T40" fmla="*/ 154 w 155"/>
                  <a:gd name="T41" fmla="*/ 2 h 136"/>
                  <a:gd name="T42" fmla="*/ 154 w 155"/>
                  <a:gd name="T43" fmla="*/ 1 h 136"/>
                  <a:gd name="T44" fmla="*/ 154 w 155"/>
                  <a:gd name="T45" fmla="*/ 1 h 136"/>
                  <a:gd name="T46" fmla="*/ 153 w 155"/>
                  <a:gd name="T47" fmla="*/ 1 h 136"/>
                  <a:gd name="T48" fmla="*/ 153 w 155"/>
                  <a:gd name="T49" fmla="*/ 0 h 136"/>
                  <a:gd name="T50" fmla="*/ 153 w 155"/>
                  <a:gd name="T51" fmla="*/ 0 h 136"/>
                  <a:gd name="T52" fmla="*/ 145 w 155"/>
                  <a:gd name="T53" fmla="*/ 5 h 136"/>
                  <a:gd name="T54" fmla="*/ 145 w 155"/>
                  <a:gd name="T55" fmla="*/ 5 h 136"/>
                  <a:gd name="T56" fmla="*/ 146 w 155"/>
                  <a:gd name="T57" fmla="*/ 6 h 136"/>
                  <a:gd name="T58" fmla="*/ 146 w 155"/>
                  <a:gd name="T59" fmla="*/ 7 h 136"/>
                  <a:gd name="T60" fmla="*/ 146 w 155"/>
                  <a:gd name="T61" fmla="*/ 7 h 136"/>
                  <a:gd name="T62" fmla="*/ 146 w 155"/>
                  <a:gd name="T63" fmla="*/ 7 h 136"/>
                  <a:gd name="T64" fmla="*/ 146 w 155"/>
                  <a:gd name="T65" fmla="*/ 8 h 136"/>
                  <a:gd name="T66" fmla="*/ 146 w 155"/>
                  <a:gd name="T67" fmla="*/ 9 h 136"/>
                  <a:gd name="T68" fmla="*/ 146 w 155"/>
                  <a:gd name="T69" fmla="*/ 9 h 136"/>
                  <a:gd name="T70" fmla="*/ 146 w 155"/>
                  <a:gd name="T71" fmla="*/ 123 h 136"/>
                  <a:gd name="T72" fmla="*/ 146 w 155"/>
                  <a:gd name="T73" fmla="*/ 123 h 136"/>
                  <a:gd name="T74" fmla="*/ 146 w 155"/>
                  <a:gd name="T75" fmla="*/ 124 h 136"/>
                  <a:gd name="T76" fmla="*/ 146 w 155"/>
                  <a:gd name="T77" fmla="*/ 125 h 136"/>
                  <a:gd name="T78" fmla="*/ 146 w 155"/>
                  <a:gd name="T79" fmla="*/ 125 h 136"/>
                  <a:gd name="T80" fmla="*/ 145 w 155"/>
                  <a:gd name="T81" fmla="*/ 126 h 136"/>
                  <a:gd name="T82" fmla="*/ 145 w 155"/>
                  <a:gd name="T83" fmla="*/ 127 h 136"/>
                  <a:gd name="T84" fmla="*/ 144 w 155"/>
                  <a:gd name="T85" fmla="*/ 127 h 136"/>
                  <a:gd name="T86" fmla="*/ 143 w 155"/>
                  <a:gd name="T87" fmla="*/ 127 h 136"/>
                  <a:gd name="T88" fmla="*/ 143 w 155"/>
                  <a:gd name="T89" fmla="*/ 128 h 136"/>
                  <a:gd name="T90" fmla="*/ 142 w 155"/>
                  <a:gd name="T91" fmla="*/ 128 h 136"/>
                  <a:gd name="T92" fmla="*/ 142 w 155"/>
                  <a:gd name="T93" fmla="*/ 128 h 136"/>
                  <a:gd name="T94" fmla="*/ 9 w 155"/>
                  <a:gd name="T95" fmla="*/ 128 h 136"/>
                  <a:gd name="T96" fmla="*/ 8 w 155"/>
                  <a:gd name="T97" fmla="*/ 128 h 136"/>
                  <a:gd name="T98" fmla="*/ 8 w 155"/>
                  <a:gd name="T99" fmla="*/ 128 h 136"/>
                  <a:gd name="T100" fmla="*/ 8 w 155"/>
                  <a:gd name="T101" fmla="*/ 127 h 136"/>
                  <a:gd name="T102" fmla="*/ 7 w 155"/>
                  <a:gd name="T103" fmla="*/ 127 h 136"/>
                  <a:gd name="T104" fmla="*/ 7 w 155"/>
                  <a:gd name="T105" fmla="*/ 127 h 136"/>
                  <a:gd name="T106" fmla="*/ 6 w 155"/>
                  <a:gd name="T107" fmla="*/ 127 h 136"/>
                  <a:gd name="T108" fmla="*/ 6 w 155"/>
                  <a:gd name="T109" fmla="*/ 127 h 136"/>
                  <a:gd name="T110" fmla="*/ 0 w 155"/>
                  <a:gd name="T111" fmla="*/ 133 h 1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155"/>
                  <a:gd name="T169" fmla="*/ 0 h 136"/>
                  <a:gd name="T170" fmla="*/ 155 w 155"/>
                  <a:gd name="T171" fmla="*/ 136 h 1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155" h="136">
                    <a:moveTo>
                      <a:pt x="0" y="133"/>
                    </a:moveTo>
                    <a:lnTo>
                      <a:pt x="0" y="134"/>
                    </a:lnTo>
                    <a:lnTo>
                      <a:pt x="1" y="134"/>
                    </a:lnTo>
                    <a:lnTo>
                      <a:pt x="2" y="135"/>
                    </a:lnTo>
                    <a:lnTo>
                      <a:pt x="3" y="135"/>
                    </a:lnTo>
                    <a:lnTo>
                      <a:pt x="148" y="135"/>
                    </a:lnTo>
                    <a:lnTo>
                      <a:pt x="150" y="134"/>
                    </a:lnTo>
                    <a:lnTo>
                      <a:pt x="151" y="134"/>
                    </a:lnTo>
                    <a:lnTo>
                      <a:pt x="151" y="133"/>
                    </a:lnTo>
                    <a:lnTo>
                      <a:pt x="152" y="133"/>
                    </a:lnTo>
                    <a:lnTo>
                      <a:pt x="153" y="132"/>
                    </a:lnTo>
                    <a:lnTo>
                      <a:pt x="153" y="131"/>
                    </a:lnTo>
                    <a:lnTo>
                      <a:pt x="154" y="131"/>
                    </a:lnTo>
                    <a:lnTo>
                      <a:pt x="154" y="129"/>
                    </a:lnTo>
                    <a:lnTo>
                      <a:pt x="154" y="3"/>
                    </a:lnTo>
                    <a:lnTo>
                      <a:pt x="154" y="2"/>
                    </a:lnTo>
                    <a:lnTo>
                      <a:pt x="154" y="1"/>
                    </a:lnTo>
                    <a:lnTo>
                      <a:pt x="153" y="1"/>
                    </a:lnTo>
                    <a:lnTo>
                      <a:pt x="153" y="0"/>
                    </a:lnTo>
                    <a:lnTo>
                      <a:pt x="145" y="5"/>
                    </a:lnTo>
                    <a:lnTo>
                      <a:pt x="146" y="6"/>
                    </a:lnTo>
                    <a:lnTo>
                      <a:pt x="146" y="7"/>
                    </a:lnTo>
                    <a:lnTo>
                      <a:pt x="146" y="8"/>
                    </a:lnTo>
                    <a:lnTo>
                      <a:pt x="146" y="9"/>
                    </a:lnTo>
                    <a:lnTo>
                      <a:pt x="146" y="123"/>
                    </a:lnTo>
                    <a:lnTo>
                      <a:pt x="146" y="124"/>
                    </a:lnTo>
                    <a:lnTo>
                      <a:pt x="146" y="125"/>
                    </a:lnTo>
                    <a:lnTo>
                      <a:pt x="145" y="126"/>
                    </a:lnTo>
                    <a:lnTo>
                      <a:pt x="145" y="127"/>
                    </a:lnTo>
                    <a:lnTo>
                      <a:pt x="144" y="127"/>
                    </a:lnTo>
                    <a:lnTo>
                      <a:pt x="143" y="127"/>
                    </a:lnTo>
                    <a:lnTo>
                      <a:pt x="143" y="128"/>
                    </a:lnTo>
                    <a:lnTo>
                      <a:pt x="142" y="128"/>
                    </a:lnTo>
                    <a:lnTo>
                      <a:pt x="9" y="128"/>
                    </a:lnTo>
                    <a:lnTo>
                      <a:pt x="8" y="128"/>
                    </a:lnTo>
                    <a:lnTo>
                      <a:pt x="8" y="127"/>
                    </a:lnTo>
                    <a:lnTo>
                      <a:pt x="7" y="127"/>
                    </a:lnTo>
                    <a:lnTo>
                      <a:pt x="6" y="127"/>
                    </a:lnTo>
                    <a:lnTo>
                      <a:pt x="0" y="133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9999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68" name="Freeform 57"/>
              <p:cNvSpPr>
                <a:spLocks/>
              </p:cNvSpPr>
              <p:nvPr/>
            </p:nvSpPr>
            <p:spPr bwMode="auto">
              <a:xfrm>
                <a:off x="3872" y="1298"/>
                <a:ext cx="153" cy="17"/>
              </a:xfrm>
              <a:custGeom>
                <a:avLst/>
                <a:gdLst>
                  <a:gd name="T0" fmla="*/ 152 w 153"/>
                  <a:gd name="T1" fmla="*/ 16 h 17"/>
                  <a:gd name="T2" fmla="*/ 151 w 153"/>
                  <a:gd name="T3" fmla="*/ 16 h 17"/>
                  <a:gd name="T4" fmla="*/ 151 w 153"/>
                  <a:gd name="T5" fmla="*/ 10 h 17"/>
                  <a:gd name="T6" fmla="*/ 150 w 153"/>
                  <a:gd name="T7" fmla="*/ 10 h 17"/>
                  <a:gd name="T8" fmla="*/ 150 w 153"/>
                  <a:gd name="T9" fmla="*/ 10 h 17"/>
                  <a:gd name="T10" fmla="*/ 150 w 153"/>
                  <a:gd name="T11" fmla="*/ 5 h 17"/>
                  <a:gd name="T12" fmla="*/ 149 w 153"/>
                  <a:gd name="T13" fmla="*/ 5 h 17"/>
                  <a:gd name="T14" fmla="*/ 149 w 153"/>
                  <a:gd name="T15" fmla="*/ 5 h 17"/>
                  <a:gd name="T16" fmla="*/ 148 w 153"/>
                  <a:gd name="T17" fmla="*/ 0 h 17"/>
                  <a:gd name="T18" fmla="*/ 148 w 153"/>
                  <a:gd name="T19" fmla="*/ 0 h 17"/>
                  <a:gd name="T20" fmla="*/ 147 w 153"/>
                  <a:gd name="T21" fmla="*/ 0 h 17"/>
                  <a:gd name="T22" fmla="*/ 146 w 153"/>
                  <a:gd name="T23" fmla="*/ 0 h 17"/>
                  <a:gd name="T24" fmla="*/ 3 w 153"/>
                  <a:gd name="T25" fmla="*/ 0 h 17"/>
                  <a:gd name="T26" fmla="*/ 3 w 153"/>
                  <a:gd name="T27" fmla="*/ 0 h 17"/>
                  <a:gd name="T28" fmla="*/ 2 w 153"/>
                  <a:gd name="T29" fmla="*/ 0 h 17"/>
                  <a:gd name="T30" fmla="*/ 1 w 153"/>
                  <a:gd name="T31" fmla="*/ 5 h 17"/>
                  <a:gd name="T32" fmla="*/ 1 w 153"/>
                  <a:gd name="T33" fmla="*/ 5 h 17"/>
                  <a:gd name="T34" fmla="*/ 0 w 153"/>
                  <a:gd name="T35" fmla="*/ 10 h 17"/>
                  <a:gd name="T36" fmla="*/ 0 w 153"/>
                  <a:gd name="T37" fmla="*/ 10 h 17"/>
                  <a:gd name="T38" fmla="*/ 0 w 153"/>
                  <a:gd name="T39" fmla="*/ 16 h 1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53"/>
                  <a:gd name="T61" fmla="*/ 0 h 17"/>
                  <a:gd name="T62" fmla="*/ 153 w 153"/>
                  <a:gd name="T63" fmla="*/ 17 h 1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53" h="17">
                    <a:moveTo>
                      <a:pt x="152" y="16"/>
                    </a:moveTo>
                    <a:lnTo>
                      <a:pt x="151" y="16"/>
                    </a:lnTo>
                    <a:lnTo>
                      <a:pt x="151" y="10"/>
                    </a:lnTo>
                    <a:lnTo>
                      <a:pt x="150" y="10"/>
                    </a:lnTo>
                    <a:lnTo>
                      <a:pt x="150" y="5"/>
                    </a:lnTo>
                    <a:lnTo>
                      <a:pt x="149" y="5"/>
                    </a:lnTo>
                    <a:lnTo>
                      <a:pt x="148" y="0"/>
                    </a:lnTo>
                    <a:lnTo>
                      <a:pt x="147" y="0"/>
                    </a:lnTo>
                    <a:lnTo>
                      <a:pt x="146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5"/>
                    </a:lnTo>
                    <a:lnTo>
                      <a:pt x="0" y="10"/>
                    </a:lnTo>
                    <a:lnTo>
                      <a:pt x="0" y="16"/>
                    </a:lnTo>
                  </a:path>
                </a:pathLst>
              </a:custGeom>
              <a:noFill/>
              <a:ln w="12700" cap="rnd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69" name="Freeform 58"/>
              <p:cNvSpPr>
                <a:spLocks/>
              </p:cNvSpPr>
              <p:nvPr/>
            </p:nvSpPr>
            <p:spPr bwMode="auto">
              <a:xfrm>
                <a:off x="3843" y="1489"/>
                <a:ext cx="215" cy="72"/>
              </a:xfrm>
              <a:custGeom>
                <a:avLst/>
                <a:gdLst>
                  <a:gd name="T0" fmla="*/ 0 w 215"/>
                  <a:gd name="T1" fmla="*/ 71 h 72"/>
                  <a:gd name="T2" fmla="*/ 0 w 215"/>
                  <a:gd name="T3" fmla="*/ 0 h 72"/>
                  <a:gd name="T4" fmla="*/ 214 w 215"/>
                  <a:gd name="T5" fmla="*/ 0 h 72"/>
                  <a:gd name="T6" fmla="*/ 214 w 215"/>
                  <a:gd name="T7" fmla="*/ 71 h 72"/>
                  <a:gd name="T8" fmla="*/ 0 w 215"/>
                  <a:gd name="T9" fmla="*/ 71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5"/>
                  <a:gd name="T16" fmla="*/ 0 h 72"/>
                  <a:gd name="T17" fmla="*/ 215 w 215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5" h="72">
                    <a:moveTo>
                      <a:pt x="0" y="71"/>
                    </a:moveTo>
                    <a:lnTo>
                      <a:pt x="0" y="0"/>
                    </a:lnTo>
                    <a:lnTo>
                      <a:pt x="214" y="0"/>
                    </a:lnTo>
                    <a:lnTo>
                      <a:pt x="214" y="71"/>
                    </a:lnTo>
                    <a:lnTo>
                      <a:pt x="0" y="71"/>
                    </a:lnTo>
                  </a:path>
                </a:pathLst>
              </a:cu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70" name="Freeform 59"/>
              <p:cNvSpPr>
                <a:spLocks/>
              </p:cNvSpPr>
              <p:nvPr/>
            </p:nvSpPr>
            <p:spPr bwMode="auto">
              <a:xfrm>
                <a:off x="3841" y="1489"/>
                <a:ext cx="219" cy="23"/>
              </a:xfrm>
              <a:custGeom>
                <a:avLst/>
                <a:gdLst>
                  <a:gd name="T0" fmla="*/ 79 w 219"/>
                  <a:gd name="T1" fmla="*/ 0 h 23"/>
                  <a:gd name="T2" fmla="*/ 0 w 219"/>
                  <a:gd name="T3" fmla="*/ 0 h 23"/>
                  <a:gd name="T4" fmla="*/ 0 w 219"/>
                  <a:gd name="T5" fmla="*/ 22 h 23"/>
                  <a:gd name="T6" fmla="*/ 218 w 219"/>
                  <a:gd name="T7" fmla="*/ 22 h 23"/>
                  <a:gd name="T8" fmla="*/ 215 w 219"/>
                  <a:gd name="T9" fmla="*/ 0 h 23"/>
                  <a:gd name="T10" fmla="*/ 137 w 219"/>
                  <a:gd name="T11" fmla="*/ 0 h 23"/>
                  <a:gd name="T12" fmla="*/ 79 w 219"/>
                  <a:gd name="T13" fmla="*/ 0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19"/>
                  <a:gd name="T22" fmla="*/ 0 h 23"/>
                  <a:gd name="T23" fmla="*/ 219 w 219"/>
                  <a:gd name="T24" fmla="*/ 23 h 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19" h="23">
                    <a:moveTo>
                      <a:pt x="79" y="0"/>
                    </a:moveTo>
                    <a:lnTo>
                      <a:pt x="0" y="0"/>
                    </a:lnTo>
                    <a:lnTo>
                      <a:pt x="0" y="22"/>
                    </a:lnTo>
                    <a:lnTo>
                      <a:pt x="218" y="22"/>
                    </a:lnTo>
                    <a:lnTo>
                      <a:pt x="215" y="0"/>
                    </a:lnTo>
                    <a:lnTo>
                      <a:pt x="137" y="0"/>
                    </a:lnTo>
                    <a:lnTo>
                      <a:pt x="79" y="0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71" name="Freeform 60"/>
              <p:cNvSpPr>
                <a:spLocks/>
              </p:cNvSpPr>
              <p:nvPr/>
            </p:nvSpPr>
            <p:spPr bwMode="auto">
              <a:xfrm>
                <a:off x="3991" y="1495"/>
                <a:ext cx="56" cy="17"/>
              </a:xfrm>
              <a:custGeom>
                <a:avLst/>
                <a:gdLst>
                  <a:gd name="T0" fmla="*/ 0 w 56"/>
                  <a:gd name="T1" fmla="*/ 6 h 17"/>
                  <a:gd name="T2" fmla="*/ 18 w 56"/>
                  <a:gd name="T3" fmla="*/ 6 h 17"/>
                  <a:gd name="T4" fmla="*/ 18 w 56"/>
                  <a:gd name="T5" fmla="*/ 0 h 17"/>
                  <a:gd name="T6" fmla="*/ 35 w 56"/>
                  <a:gd name="T7" fmla="*/ 0 h 17"/>
                  <a:gd name="T8" fmla="*/ 35 w 56"/>
                  <a:gd name="T9" fmla="*/ 6 h 17"/>
                  <a:gd name="T10" fmla="*/ 55 w 56"/>
                  <a:gd name="T11" fmla="*/ 6 h 17"/>
                  <a:gd name="T12" fmla="*/ 55 w 56"/>
                  <a:gd name="T13" fmla="*/ 10 h 17"/>
                  <a:gd name="T14" fmla="*/ 35 w 56"/>
                  <a:gd name="T15" fmla="*/ 10 h 17"/>
                  <a:gd name="T16" fmla="*/ 35 w 56"/>
                  <a:gd name="T17" fmla="*/ 16 h 17"/>
                  <a:gd name="T18" fmla="*/ 18 w 56"/>
                  <a:gd name="T19" fmla="*/ 16 h 17"/>
                  <a:gd name="T20" fmla="*/ 18 w 56"/>
                  <a:gd name="T21" fmla="*/ 10 h 17"/>
                  <a:gd name="T22" fmla="*/ 0 w 56"/>
                  <a:gd name="T23" fmla="*/ 10 h 17"/>
                  <a:gd name="T24" fmla="*/ 0 w 56"/>
                  <a:gd name="T25" fmla="*/ 6 h 1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6"/>
                  <a:gd name="T40" fmla="*/ 0 h 17"/>
                  <a:gd name="T41" fmla="*/ 56 w 56"/>
                  <a:gd name="T42" fmla="*/ 17 h 1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6" h="17">
                    <a:moveTo>
                      <a:pt x="0" y="6"/>
                    </a:moveTo>
                    <a:lnTo>
                      <a:pt x="18" y="6"/>
                    </a:lnTo>
                    <a:lnTo>
                      <a:pt x="18" y="0"/>
                    </a:lnTo>
                    <a:lnTo>
                      <a:pt x="35" y="0"/>
                    </a:lnTo>
                    <a:lnTo>
                      <a:pt x="35" y="6"/>
                    </a:lnTo>
                    <a:lnTo>
                      <a:pt x="55" y="6"/>
                    </a:lnTo>
                    <a:lnTo>
                      <a:pt x="55" y="10"/>
                    </a:lnTo>
                    <a:lnTo>
                      <a:pt x="35" y="10"/>
                    </a:lnTo>
                    <a:lnTo>
                      <a:pt x="35" y="16"/>
                    </a:lnTo>
                    <a:lnTo>
                      <a:pt x="18" y="16"/>
                    </a:lnTo>
                    <a:lnTo>
                      <a:pt x="18" y="10"/>
                    </a:lnTo>
                    <a:lnTo>
                      <a:pt x="0" y="10"/>
                    </a:lnTo>
                    <a:lnTo>
                      <a:pt x="0" y="6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72" name="Freeform 61"/>
              <p:cNvSpPr>
                <a:spLocks/>
              </p:cNvSpPr>
              <p:nvPr/>
            </p:nvSpPr>
            <p:spPr bwMode="auto">
              <a:xfrm>
                <a:off x="3991" y="1501"/>
                <a:ext cx="17" cy="17"/>
              </a:xfrm>
              <a:custGeom>
                <a:avLst/>
                <a:gdLst>
                  <a:gd name="T0" fmla="*/ 0 w 17"/>
                  <a:gd name="T1" fmla="*/ 16 h 17"/>
                  <a:gd name="T2" fmla="*/ 16 w 17"/>
                  <a:gd name="T3" fmla="*/ 10 h 17"/>
                  <a:gd name="T4" fmla="*/ 16 w 17"/>
                  <a:gd name="T5" fmla="*/ 5 h 17"/>
                  <a:gd name="T6" fmla="*/ 0 w 17"/>
                  <a:gd name="T7" fmla="*/ 0 h 1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17"/>
                  <a:gd name="T14" fmla="*/ 17 w 17"/>
                  <a:gd name="T15" fmla="*/ 17 h 1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17">
                    <a:moveTo>
                      <a:pt x="0" y="16"/>
                    </a:moveTo>
                    <a:lnTo>
                      <a:pt x="16" y="10"/>
                    </a:lnTo>
                    <a:lnTo>
                      <a:pt x="16" y="5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rnd">
                <a:solidFill>
                  <a:srgbClr val="EFEFD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73" name="Freeform 62"/>
              <p:cNvSpPr>
                <a:spLocks/>
              </p:cNvSpPr>
              <p:nvPr/>
            </p:nvSpPr>
            <p:spPr bwMode="auto">
              <a:xfrm>
                <a:off x="4010" y="1495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16 w 17"/>
                  <a:gd name="T3" fmla="*/ 16 h 17"/>
                  <a:gd name="T4" fmla="*/ 0 w 17"/>
                  <a:gd name="T5" fmla="*/ 0 h 17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17"/>
                  <a:gd name="T11" fmla="*/ 17 w 17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17">
                    <a:moveTo>
                      <a:pt x="0" y="0"/>
                    </a:moveTo>
                    <a:lnTo>
                      <a:pt x="16" y="16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rnd">
                <a:solidFill>
                  <a:srgbClr val="EFE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74" name="Freeform 63"/>
              <p:cNvSpPr>
                <a:spLocks/>
              </p:cNvSpPr>
              <p:nvPr/>
            </p:nvSpPr>
            <p:spPr bwMode="auto">
              <a:xfrm>
                <a:off x="4046" y="1504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16 w 17"/>
                  <a:gd name="T3" fmla="*/ 16 h 17"/>
                  <a:gd name="T4" fmla="*/ 0 w 17"/>
                  <a:gd name="T5" fmla="*/ 0 h 17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17"/>
                  <a:gd name="T11" fmla="*/ 17 w 17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17">
                    <a:moveTo>
                      <a:pt x="0" y="0"/>
                    </a:moveTo>
                    <a:lnTo>
                      <a:pt x="16" y="16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rnd">
                <a:solidFill>
                  <a:srgbClr val="EFE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75" name="Freeform 64"/>
              <p:cNvSpPr>
                <a:spLocks/>
              </p:cNvSpPr>
              <p:nvPr/>
            </p:nvSpPr>
            <p:spPr bwMode="auto">
              <a:xfrm>
                <a:off x="4027" y="1495"/>
                <a:ext cx="17" cy="17"/>
              </a:xfrm>
              <a:custGeom>
                <a:avLst/>
                <a:gdLst>
                  <a:gd name="T0" fmla="*/ 0 w 17"/>
                  <a:gd name="T1" fmla="*/ 16 h 17"/>
                  <a:gd name="T2" fmla="*/ 16 w 17"/>
                  <a:gd name="T3" fmla="*/ 0 h 17"/>
                  <a:gd name="T4" fmla="*/ 0 w 17"/>
                  <a:gd name="T5" fmla="*/ 16 h 17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17"/>
                  <a:gd name="T11" fmla="*/ 17 w 17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17">
                    <a:moveTo>
                      <a:pt x="0" y="16"/>
                    </a:moveTo>
                    <a:lnTo>
                      <a:pt x="16" y="0"/>
                    </a:lnTo>
                    <a:lnTo>
                      <a:pt x="0" y="16"/>
                    </a:lnTo>
                  </a:path>
                </a:pathLst>
              </a:custGeom>
              <a:noFill/>
              <a:ln w="12700" cap="rnd">
                <a:solidFill>
                  <a:srgbClr val="EFE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76" name="Freeform 65"/>
              <p:cNvSpPr>
                <a:spLocks/>
              </p:cNvSpPr>
              <p:nvPr/>
            </p:nvSpPr>
            <p:spPr bwMode="auto">
              <a:xfrm>
                <a:off x="4011" y="1499"/>
                <a:ext cx="17" cy="17"/>
              </a:xfrm>
              <a:custGeom>
                <a:avLst/>
                <a:gdLst>
                  <a:gd name="T0" fmla="*/ 0 w 17"/>
                  <a:gd name="T1" fmla="*/ 16 h 17"/>
                  <a:gd name="T2" fmla="*/ 16 w 17"/>
                  <a:gd name="T3" fmla="*/ 16 h 17"/>
                  <a:gd name="T4" fmla="*/ 16 w 17"/>
                  <a:gd name="T5" fmla="*/ 0 h 17"/>
                  <a:gd name="T6" fmla="*/ 0 w 17"/>
                  <a:gd name="T7" fmla="*/ 0 h 17"/>
                  <a:gd name="T8" fmla="*/ 0 w 17"/>
                  <a:gd name="T9" fmla="*/ 16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0" y="16"/>
                    </a:moveTo>
                    <a:lnTo>
                      <a:pt x="16" y="16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9F9FA2"/>
              </a:solidFill>
              <a:ln w="12700" cap="rnd">
                <a:solidFill>
                  <a:srgbClr val="9F9FA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77" name="Freeform 66"/>
              <p:cNvSpPr>
                <a:spLocks/>
              </p:cNvSpPr>
              <p:nvPr/>
            </p:nvSpPr>
            <p:spPr bwMode="auto">
              <a:xfrm>
                <a:off x="3993" y="1502"/>
                <a:ext cx="54" cy="17"/>
              </a:xfrm>
              <a:custGeom>
                <a:avLst/>
                <a:gdLst>
                  <a:gd name="T0" fmla="*/ 0 w 54"/>
                  <a:gd name="T1" fmla="*/ 0 h 17"/>
                  <a:gd name="T2" fmla="*/ 53 w 54"/>
                  <a:gd name="T3" fmla="*/ 0 h 17"/>
                  <a:gd name="T4" fmla="*/ 53 w 54"/>
                  <a:gd name="T5" fmla="*/ 16 h 17"/>
                  <a:gd name="T6" fmla="*/ 0 w 54"/>
                  <a:gd name="T7" fmla="*/ 16 h 17"/>
                  <a:gd name="T8" fmla="*/ 0 w 54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"/>
                  <a:gd name="T16" fmla="*/ 0 h 17"/>
                  <a:gd name="T17" fmla="*/ 54 w 5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" h="17">
                    <a:moveTo>
                      <a:pt x="0" y="0"/>
                    </a:moveTo>
                    <a:lnTo>
                      <a:pt x="53" y="0"/>
                    </a:lnTo>
                    <a:lnTo>
                      <a:pt x="53" y="16"/>
                    </a:lnTo>
                    <a:lnTo>
                      <a:pt x="0" y="1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78" name="Freeform 67"/>
              <p:cNvSpPr>
                <a:spLocks/>
              </p:cNvSpPr>
              <p:nvPr/>
            </p:nvSpPr>
            <p:spPr bwMode="auto">
              <a:xfrm>
                <a:off x="4010" y="1496"/>
                <a:ext cx="19" cy="17"/>
              </a:xfrm>
              <a:custGeom>
                <a:avLst/>
                <a:gdLst>
                  <a:gd name="T0" fmla="*/ 18 w 19"/>
                  <a:gd name="T1" fmla="*/ 12 h 17"/>
                  <a:gd name="T2" fmla="*/ 17 w 19"/>
                  <a:gd name="T3" fmla="*/ 16 h 17"/>
                  <a:gd name="T4" fmla="*/ 17 w 19"/>
                  <a:gd name="T5" fmla="*/ 0 h 17"/>
                  <a:gd name="T6" fmla="*/ 0 w 19"/>
                  <a:gd name="T7" fmla="*/ 0 h 17"/>
                  <a:gd name="T8" fmla="*/ 0 w 19"/>
                  <a:gd name="T9" fmla="*/ 16 h 17"/>
                  <a:gd name="T10" fmla="*/ 0 w 19"/>
                  <a:gd name="T11" fmla="*/ 12 h 1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"/>
                  <a:gd name="T19" fmla="*/ 0 h 17"/>
                  <a:gd name="T20" fmla="*/ 19 w 19"/>
                  <a:gd name="T21" fmla="*/ 17 h 1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" h="17">
                    <a:moveTo>
                      <a:pt x="18" y="12"/>
                    </a:moveTo>
                    <a:lnTo>
                      <a:pt x="17" y="16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0" y="12"/>
                    </a:lnTo>
                  </a:path>
                </a:pathLst>
              </a:custGeom>
              <a:noFill/>
              <a:ln w="12700" cap="rnd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79" name="Freeform 68"/>
              <p:cNvSpPr>
                <a:spLocks/>
              </p:cNvSpPr>
              <p:nvPr/>
            </p:nvSpPr>
            <p:spPr bwMode="auto">
              <a:xfrm>
                <a:off x="3945" y="1505"/>
                <a:ext cx="17" cy="17"/>
              </a:xfrm>
              <a:custGeom>
                <a:avLst/>
                <a:gdLst>
                  <a:gd name="T0" fmla="*/ 16 w 17"/>
                  <a:gd name="T1" fmla="*/ 0 h 17"/>
                  <a:gd name="T2" fmla="*/ 16 w 17"/>
                  <a:gd name="T3" fmla="*/ 16 h 17"/>
                  <a:gd name="T4" fmla="*/ 0 w 17"/>
                  <a:gd name="T5" fmla="*/ 16 h 17"/>
                  <a:gd name="T6" fmla="*/ 0 w 17"/>
                  <a:gd name="T7" fmla="*/ 0 h 17"/>
                  <a:gd name="T8" fmla="*/ 16 w 17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16" y="0"/>
                    </a:moveTo>
                    <a:lnTo>
                      <a:pt x="16" y="16"/>
                    </a:lnTo>
                    <a:lnTo>
                      <a:pt x="0" y="16"/>
                    </a:lnTo>
                    <a:lnTo>
                      <a:pt x="0" y="0"/>
                    </a:lnTo>
                    <a:lnTo>
                      <a:pt x="16" y="0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80" name="Freeform 69"/>
              <p:cNvSpPr>
                <a:spLocks/>
              </p:cNvSpPr>
              <p:nvPr/>
            </p:nvSpPr>
            <p:spPr bwMode="auto">
              <a:xfrm>
                <a:off x="3945" y="1505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16 w 17"/>
                  <a:gd name="T3" fmla="*/ 0 h 17"/>
                  <a:gd name="T4" fmla="*/ 16 w 17"/>
                  <a:gd name="T5" fmla="*/ 16 h 17"/>
                  <a:gd name="T6" fmla="*/ 0 w 17"/>
                  <a:gd name="T7" fmla="*/ 16 h 17"/>
                  <a:gd name="T8" fmla="*/ 0 w 17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0" y="0"/>
                    </a:moveTo>
                    <a:lnTo>
                      <a:pt x="16" y="0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81" name="Freeform 70"/>
              <p:cNvSpPr>
                <a:spLocks/>
              </p:cNvSpPr>
              <p:nvPr/>
            </p:nvSpPr>
            <p:spPr bwMode="auto">
              <a:xfrm>
                <a:off x="3930" y="1497"/>
                <a:ext cx="44" cy="17"/>
              </a:xfrm>
              <a:custGeom>
                <a:avLst/>
                <a:gdLst>
                  <a:gd name="T0" fmla="*/ 14 w 44"/>
                  <a:gd name="T1" fmla="*/ 16 h 17"/>
                  <a:gd name="T2" fmla="*/ 0 w 44"/>
                  <a:gd name="T3" fmla="*/ 16 h 17"/>
                  <a:gd name="T4" fmla="*/ 0 w 44"/>
                  <a:gd name="T5" fmla="*/ 8 h 17"/>
                  <a:gd name="T6" fmla="*/ 14 w 44"/>
                  <a:gd name="T7" fmla="*/ 8 h 17"/>
                  <a:gd name="T8" fmla="*/ 14 w 44"/>
                  <a:gd name="T9" fmla="*/ 0 h 17"/>
                  <a:gd name="T10" fmla="*/ 28 w 44"/>
                  <a:gd name="T11" fmla="*/ 0 h 17"/>
                  <a:gd name="T12" fmla="*/ 28 w 44"/>
                  <a:gd name="T13" fmla="*/ 8 h 17"/>
                  <a:gd name="T14" fmla="*/ 43 w 44"/>
                  <a:gd name="T15" fmla="*/ 8 h 17"/>
                  <a:gd name="T16" fmla="*/ 43 w 44"/>
                  <a:gd name="T17" fmla="*/ 16 h 17"/>
                  <a:gd name="T18" fmla="*/ 28 w 44"/>
                  <a:gd name="T19" fmla="*/ 16 h 17"/>
                  <a:gd name="T20" fmla="*/ 14 w 44"/>
                  <a:gd name="T21" fmla="*/ 16 h 1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4"/>
                  <a:gd name="T34" fmla="*/ 0 h 17"/>
                  <a:gd name="T35" fmla="*/ 44 w 44"/>
                  <a:gd name="T36" fmla="*/ 17 h 1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4" h="17">
                    <a:moveTo>
                      <a:pt x="14" y="16"/>
                    </a:moveTo>
                    <a:lnTo>
                      <a:pt x="0" y="16"/>
                    </a:lnTo>
                    <a:lnTo>
                      <a:pt x="0" y="8"/>
                    </a:lnTo>
                    <a:lnTo>
                      <a:pt x="14" y="8"/>
                    </a:lnTo>
                    <a:lnTo>
                      <a:pt x="14" y="0"/>
                    </a:lnTo>
                    <a:lnTo>
                      <a:pt x="28" y="0"/>
                    </a:lnTo>
                    <a:lnTo>
                      <a:pt x="28" y="8"/>
                    </a:lnTo>
                    <a:lnTo>
                      <a:pt x="43" y="8"/>
                    </a:lnTo>
                    <a:lnTo>
                      <a:pt x="43" y="16"/>
                    </a:lnTo>
                    <a:lnTo>
                      <a:pt x="28" y="16"/>
                    </a:lnTo>
                    <a:lnTo>
                      <a:pt x="14" y="16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82" name="Freeform 71"/>
              <p:cNvSpPr>
                <a:spLocks/>
              </p:cNvSpPr>
              <p:nvPr/>
            </p:nvSpPr>
            <p:spPr bwMode="auto">
              <a:xfrm>
                <a:off x="3945" y="1497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16 w 17"/>
                  <a:gd name="T3" fmla="*/ 0 h 17"/>
                  <a:gd name="T4" fmla="*/ 16 w 17"/>
                  <a:gd name="T5" fmla="*/ 16 h 17"/>
                  <a:gd name="T6" fmla="*/ 0 w 17"/>
                  <a:gd name="T7" fmla="*/ 16 h 17"/>
                  <a:gd name="T8" fmla="*/ 0 w 17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0" y="0"/>
                    </a:moveTo>
                    <a:lnTo>
                      <a:pt x="16" y="0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83" name="Freeform 72"/>
              <p:cNvSpPr>
                <a:spLocks/>
              </p:cNvSpPr>
              <p:nvPr/>
            </p:nvSpPr>
            <p:spPr bwMode="auto">
              <a:xfrm>
                <a:off x="3897" y="1494"/>
                <a:ext cx="20" cy="17"/>
              </a:xfrm>
              <a:custGeom>
                <a:avLst/>
                <a:gdLst>
                  <a:gd name="T0" fmla="*/ 5 w 20"/>
                  <a:gd name="T1" fmla="*/ 16 h 17"/>
                  <a:gd name="T2" fmla="*/ 3 w 20"/>
                  <a:gd name="T3" fmla="*/ 15 h 17"/>
                  <a:gd name="T4" fmla="*/ 2 w 20"/>
                  <a:gd name="T5" fmla="*/ 15 h 17"/>
                  <a:gd name="T6" fmla="*/ 1 w 20"/>
                  <a:gd name="T7" fmla="*/ 14 h 17"/>
                  <a:gd name="T8" fmla="*/ 1 w 20"/>
                  <a:gd name="T9" fmla="*/ 12 h 17"/>
                  <a:gd name="T10" fmla="*/ 0 w 20"/>
                  <a:gd name="T11" fmla="*/ 12 h 17"/>
                  <a:gd name="T12" fmla="*/ 0 w 20"/>
                  <a:gd name="T13" fmla="*/ 10 h 17"/>
                  <a:gd name="T14" fmla="*/ 0 w 20"/>
                  <a:gd name="T15" fmla="*/ 8 h 17"/>
                  <a:gd name="T16" fmla="*/ 0 w 20"/>
                  <a:gd name="T17" fmla="*/ 6 h 17"/>
                  <a:gd name="T18" fmla="*/ 0 w 20"/>
                  <a:gd name="T19" fmla="*/ 4 h 17"/>
                  <a:gd name="T20" fmla="*/ 0 w 20"/>
                  <a:gd name="T21" fmla="*/ 3 h 17"/>
                  <a:gd name="T22" fmla="*/ 1 w 20"/>
                  <a:gd name="T23" fmla="*/ 2 h 17"/>
                  <a:gd name="T24" fmla="*/ 2 w 20"/>
                  <a:gd name="T25" fmla="*/ 1 h 17"/>
                  <a:gd name="T26" fmla="*/ 3 w 20"/>
                  <a:gd name="T27" fmla="*/ 0 h 17"/>
                  <a:gd name="T28" fmla="*/ 4 w 20"/>
                  <a:gd name="T29" fmla="*/ 0 h 17"/>
                  <a:gd name="T30" fmla="*/ 5 w 20"/>
                  <a:gd name="T31" fmla="*/ 0 h 17"/>
                  <a:gd name="T32" fmla="*/ 12 w 20"/>
                  <a:gd name="T33" fmla="*/ 0 h 17"/>
                  <a:gd name="T34" fmla="*/ 13 w 20"/>
                  <a:gd name="T35" fmla="*/ 0 h 17"/>
                  <a:gd name="T36" fmla="*/ 15 w 20"/>
                  <a:gd name="T37" fmla="*/ 0 h 17"/>
                  <a:gd name="T38" fmla="*/ 16 w 20"/>
                  <a:gd name="T39" fmla="*/ 1 h 17"/>
                  <a:gd name="T40" fmla="*/ 17 w 20"/>
                  <a:gd name="T41" fmla="*/ 3 h 17"/>
                  <a:gd name="T42" fmla="*/ 17 w 20"/>
                  <a:gd name="T43" fmla="*/ 3 h 17"/>
                  <a:gd name="T44" fmla="*/ 18 w 20"/>
                  <a:gd name="T45" fmla="*/ 5 h 17"/>
                  <a:gd name="T46" fmla="*/ 18 w 20"/>
                  <a:gd name="T47" fmla="*/ 7 h 17"/>
                  <a:gd name="T48" fmla="*/ 18 w 20"/>
                  <a:gd name="T49" fmla="*/ 8 h 17"/>
                  <a:gd name="T50" fmla="*/ 18 w 20"/>
                  <a:gd name="T51" fmla="*/ 10 h 17"/>
                  <a:gd name="T52" fmla="*/ 17 w 20"/>
                  <a:gd name="T53" fmla="*/ 12 h 17"/>
                  <a:gd name="T54" fmla="*/ 16 w 20"/>
                  <a:gd name="T55" fmla="*/ 13 h 17"/>
                  <a:gd name="T56" fmla="*/ 15 w 20"/>
                  <a:gd name="T57" fmla="*/ 15 h 17"/>
                  <a:gd name="T58" fmla="*/ 13 w 20"/>
                  <a:gd name="T59" fmla="*/ 15 h 17"/>
                  <a:gd name="T60" fmla="*/ 13 w 20"/>
                  <a:gd name="T61" fmla="*/ 16 h 17"/>
                  <a:gd name="T62" fmla="*/ 12 w 20"/>
                  <a:gd name="T63" fmla="*/ 16 h 17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0"/>
                  <a:gd name="T97" fmla="*/ 0 h 17"/>
                  <a:gd name="T98" fmla="*/ 20 w 20"/>
                  <a:gd name="T99" fmla="*/ 17 h 17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0" h="17">
                    <a:moveTo>
                      <a:pt x="5" y="16"/>
                    </a:moveTo>
                    <a:lnTo>
                      <a:pt x="5" y="16"/>
                    </a:lnTo>
                    <a:lnTo>
                      <a:pt x="4" y="16"/>
                    </a:lnTo>
                    <a:lnTo>
                      <a:pt x="3" y="15"/>
                    </a:lnTo>
                    <a:lnTo>
                      <a:pt x="2" y="15"/>
                    </a:lnTo>
                    <a:lnTo>
                      <a:pt x="2" y="14"/>
                    </a:lnTo>
                    <a:lnTo>
                      <a:pt x="1" y="14"/>
                    </a:lnTo>
                    <a:lnTo>
                      <a:pt x="1" y="13"/>
                    </a:lnTo>
                    <a:lnTo>
                      <a:pt x="1" y="12"/>
                    </a:lnTo>
                    <a:lnTo>
                      <a:pt x="0" y="12"/>
                    </a:lnTo>
                    <a:lnTo>
                      <a:pt x="0" y="11"/>
                    </a:lnTo>
                    <a:lnTo>
                      <a:pt x="0" y="10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3"/>
                    </a:lnTo>
                    <a:lnTo>
                      <a:pt x="1" y="2"/>
                    </a:lnTo>
                    <a:lnTo>
                      <a:pt x="1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5" y="0"/>
                    </a:lnTo>
                    <a:lnTo>
                      <a:pt x="16" y="1"/>
                    </a:lnTo>
                    <a:lnTo>
                      <a:pt x="16" y="2"/>
                    </a:lnTo>
                    <a:lnTo>
                      <a:pt x="17" y="3"/>
                    </a:lnTo>
                    <a:lnTo>
                      <a:pt x="18" y="4"/>
                    </a:lnTo>
                    <a:lnTo>
                      <a:pt x="18" y="5"/>
                    </a:lnTo>
                    <a:lnTo>
                      <a:pt x="18" y="6"/>
                    </a:lnTo>
                    <a:lnTo>
                      <a:pt x="18" y="7"/>
                    </a:lnTo>
                    <a:lnTo>
                      <a:pt x="19" y="8"/>
                    </a:lnTo>
                    <a:lnTo>
                      <a:pt x="18" y="8"/>
                    </a:lnTo>
                    <a:lnTo>
                      <a:pt x="18" y="9"/>
                    </a:lnTo>
                    <a:lnTo>
                      <a:pt x="18" y="10"/>
                    </a:lnTo>
                    <a:lnTo>
                      <a:pt x="18" y="11"/>
                    </a:lnTo>
                    <a:lnTo>
                      <a:pt x="17" y="12"/>
                    </a:lnTo>
                    <a:lnTo>
                      <a:pt x="16" y="13"/>
                    </a:lnTo>
                    <a:lnTo>
                      <a:pt x="16" y="14"/>
                    </a:lnTo>
                    <a:lnTo>
                      <a:pt x="15" y="15"/>
                    </a:lnTo>
                    <a:lnTo>
                      <a:pt x="13" y="15"/>
                    </a:lnTo>
                    <a:lnTo>
                      <a:pt x="13" y="16"/>
                    </a:lnTo>
                    <a:lnTo>
                      <a:pt x="12" y="16"/>
                    </a:lnTo>
                    <a:lnTo>
                      <a:pt x="5" y="16"/>
                    </a:lnTo>
                  </a:path>
                </a:pathLst>
              </a:custGeom>
              <a:solidFill>
                <a:srgbClr val="666666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84" name="Freeform 73"/>
              <p:cNvSpPr>
                <a:spLocks/>
              </p:cNvSpPr>
              <p:nvPr/>
            </p:nvSpPr>
            <p:spPr bwMode="auto">
              <a:xfrm>
                <a:off x="3921" y="1489"/>
                <a:ext cx="17" cy="38"/>
              </a:xfrm>
              <a:custGeom>
                <a:avLst/>
                <a:gdLst>
                  <a:gd name="T0" fmla="*/ 8 w 17"/>
                  <a:gd name="T1" fmla="*/ 0 h 38"/>
                  <a:gd name="T2" fmla="*/ 0 w 17"/>
                  <a:gd name="T3" fmla="*/ 22 h 38"/>
                  <a:gd name="T4" fmla="*/ 16 w 17"/>
                  <a:gd name="T5" fmla="*/ 22 h 38"/>
                  <a:gd name="T6" fmla="*/ 16 w 17"/>
                  <a:gd name="T7" fmla="*/ 37 h 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38"/>
                  <a:gd name="T14" fmla="*/ 17 w 17"/>
                  <a:gd name="T15" fmla="*/ 38 h 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38">
                    <a:moveTo>
                      <a:pt x="8" y="0"/>
                    </a:moveTo>
                    <a:lnTo>
                      <a:pt x="0" y="22"/>
                    </a:lnTo>
                    <a:lnTo>
                      <a:pt x="16" y="22"/>
                    </a:lnTo>
                    <a:lnTo>
                      <a:pt x="16" y="37"/>
                    </a:lnTo>
                  </a:path>
                </a:pathLst>
              </a:custGeom>
              <a:noFill/>
              <a:ln w="12700" cap="rnd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85" name="Freeform 74"/>
              <p:cNvSpPr>
                <a:spLocks/>
              </p:cNvSpPr>
              <p:nvPr/>
            </p:nvSpPr>
            <p:spPr bwMode="auto">
              <a:xfrm>
                <a:off x="3979" y="1489"/>
                <a:ext cx="17" cy="72"/>
              </a:xfrm>
              <a:custGeom>
                <a:avLst/>
                <a:gdLst>
                  <a:gd name="T0" fmla="*/ 0 w 17"/>
                  <a:gd name="T1" fmla="*/ 0 h 72"/>
                  <a:gd name="T2" fmla="*/ 16 w 17"/>
                  <a:gd name="T3" fmla="*/ 22 h 72"/>
                  <a:gd name="T4" fmla="*/ 0 w 17"/>
                  <a:gd name="T5" fmla="*/ 22 h 72"/>
                  <a:gd name="T6" fmla="*/ 0 w 17"/>
                  <a:gd name="T7" fmla="*/ 71 h 7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72"/>
                  <a:gd name="T14" fmla="*/ 17 w 17"/>
                  <a:gd name="T15" fmla="*/ 72 h 7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72">
                    <a:moveTo>
                      <a:pt x="0" y="0"/>
                    </a:moveTo>
                    <a:lnTo>
                      <a:pt x="16" y="22"/>
                    </a:lnTo>
                    <a:lnTo>
                      <a:pt x="0" y="22"/>
                    </a:lnTo>
                    <a:lnTo>
                      <a:pt x="0" y="71"/>
                    </a:lnTo>
                  </a:path>
                </a:pathLst>
              </a:custGeom>
              <a:noFill/>
              <a:ln w="12700" cap="rnd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86" name="Freeform 75"/>
              <p:cNvSpPr>
                <a:spLocks/>
              </p:cNvSpPr>
              <p:nvPr/>
            </p:nvSpPr>
            <p:spPr bwMode="auto">
              <a:xfrm>
                <a:off x="3855" y="1532"/>
                <a:ext cx="250" cy="41"/>
              </a:xfrm>
              <a:custGeom>
                <a:avLst/>
                <a:gdLst>
                  <a:gd name="T0" fmla="*/ 0 w 250"/>
                  <a:gd name="T1" fmla="*/ 40 h 41"/>
                  <a:gd name="T2" fmla="*/ 249 w 250"/>
                  <a:gd name="T3" fmla="*/ 40 h 41"/>
                  <a:gd name="T4" fmla="*/ 240 w 250"/>
                  <a:gd name="T5" fmla="*/ 0 h 41"/>
                  <a:gd name="T6" fmla="*/ 10 w 250"/>
                  <a:gd name="T7" fmla="*/ 0 h 41"/>
                  <a:gd name="T8" fmla="*/ 0 w 250"/>
                  <a:gd name="T9" fmla="*/ 40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0"/>
                  <a:gd name="T16" fmla="*/ 0 h 41"/>
                  <a:gd name="T17" fmla="*/ 250 w 250"/>
                  <a:gd name="T18" fmla="*/ 41 h 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0" h="41">
                    <a:moveTo>
                      <a:pt x="0" y="40"/>
                    </a:moveTo>
                    <a:lnTo>
                      <a:pt x="249" y="40"/>
                    </a:lnTo>
                    <a:lnTo>
                      <a:pt x="240" y="0"/>
                    </a:lnTo>
                    <a:lnTo>
                      <a:pt x="10" y="0"/>
                    </a:lnTo>
                    <a:lnTo>
                      <a:pt x="0" y="40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87" name="Freeform 76"/>
              <p:cNvSpPr>
                <a:spLocks/>
              </p:cNvSpPr>
              <p:nvPr/>
            </p:nvSpPr>
            <p:spPr bwMode="auto">
              <a:xfrm>
                <a:off x="3855" y="1572"/>
                <a:ext cx="251" cy="17"/>
              </a:xfrm>
              <a:custGeom>
                <a:avLst/>
                <a:gdLst>
                  <a:gd name="T0" fmla="*/ 0 w 251"/>
                  <a:gd name="T1" fmla="*/ 16 h 17"/>
                  <a:gd name="T2" fmla="*/ 0 w 251"/>
                  <a:gd name="T3" fmla="*/ 0 h 17"/>
                  <a:gd name="T4" fmla="*/ 249 w 251"/>
                  <a:gd name="T5" fmla="*/ 0 h 17"/>
                  <a:gd name="T6" fmla="*/ 250 w 251"/>
                  <a:gd name="T7" fmla="*/ 16 h 17"/>
                  <a:gd name="T8" fmla="*/ 0 w 251"/>
                  <a:gd name="T9" fmla="*/ 16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1"/>
                  <a:gd name="T16" fmla="*/ 0 h 17"/>
                  <a:gd name="T17" fmla="*/ 251 w 251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1" h="17">
                    <a:moveTo>
                      <a:pt x="0" y="16"/>
                    </a:moveTo>
                    <a:lnTo>
                      <a:pt x="0" y="0"/>
                    </a:lnTo>
                    <a:lnTo>
                      <a:pt x="249" y="0"/>
                    </a:lnTo>
                    <a:lnTo>
                      <a:pt x="250" y="16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CCCC6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88" name="Freeform 77"/>
              <p:cNvSpPr>
                <a:spLocks/>
              </p:cNvSpPr>
              <p:nvPr/>
            </p:nvSpPr>
            <p:spPr bwMode="auto">
              <a:xfrm>
                <a:off x="3872" y="1538"/>
                <a:ext cx="223" cy="28"/>
              </a:xfrm>
              <a:custGeom>
                <a:avLst/>
                <a:gdLst>
                  <a:gd name="T0" fmla="*/ 0 w 223"/>
                  <a:gd name="T1" fmla="*/ 27 h 28"/>
                  <a:gd name="T2" fmla="*/ 222 w 223"/>
                  <a:gd name="T3" fmla="*/ 27 h 28"/>
                  <a:gd name="T4" fmla="*/ 214 w 223"/>
                  <a:gd name="T5" fmla="*/ 0 h 28"/>
                  <a:gd name="T6" fmla="*/ 8 w 223"/>
                  <a:gd name="T7" fmla="*/ 0 h 28"/>
                  <a:gd name="T8" fmla="*/ 0 w 223"/>
                  <a:gd name="T9" fmla="*/ 27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3"/>
                  <a:gd name="T16" fmla="*/ 0 h 28"/>
                  <a:gd name="T17" fmla="*/ 223 w 223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3" h="28">
                    <a:moveTo>
                      <a:pt x="0" y="27"/>
                    </a:moveTo>
                    <a:lnTo>
                      <a:pt x="222" y="27"/>
                    </a:lnTo>
                    <a:lnTo>
                      <a:pt x="214" y="0"/>
                    </a:lnTo>
                    <a:lnTo>
                      <a:pt x="8" y="0"/>
                    </a:lnTo>
                    <a:lnTo>
                      <a:pt x="0" y="27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9F9FA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475" name="Group 78"/>
            <p:cNvGrpSpPr>
              <a:grpSpLocks/>
            </p:cNvGrpSpPr>
            <p:nvPr/>
          </p:nvGrpSpPr>
          <p:grpSpPr bwMode="auto">
            <a:xfrm>
              <a:off x="5059" y="1215"/>
              <a:ext cx="384" cy="288"/>
              <a:chOff x="3840" y="1279"/>
              <a:chExt cx="266" cy="310"/>
            </a:xfrm>
          </p:grpSpPr>
          <p:sp>
            <p:nvSpPr>
              <p:cNvPr id="19477" name="Freeform 79"/>
              <p:cNvSpPr>
                <a:spLocks/>
              </p:cNvSpPr>
              <p:nvPr/>
            </p:nvSpPr>
            <p:spPr bwMode="auto">
              <a:xfrm>
                <a:off x="3848" y="1548"/>
                <a:ext cx="206" cy="20"/>
              </a:xfrm>
              <a:custGeom>
                <a:avLst/>
                <a:gdLst>
                  <a:gd name="T0" fmla="*/ 0 w 206"/>
                  <a:gd name="T1" fmla="*/ 19 h 20"/>
                  <a:gd name="T2" fmla="*/ 0 w 206"/>
                  <a:gd name="T3" fmla="*/ 0 h 20"/>
                  <a:gd name="T4" fmla="*/ 205 w 206"/>
                  <a:gd name="T5" fmla="*/ 0 h 20"/>
                  <a:gd name="T6" fmla="*/ 205 w 206"/>
                  <a:gd name="T7" fmla="*/ 19 h 20"/>
                  <a:gd name="T8" fmla="*/ 0 w 206"/>
                  <a:gd name="T9" fmla="*/ 19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6"/>
                  <a:gd name="T16" fmla="*/ 0 h 20"/>
                  <a:gd name="T17" fmla="*/ 206 w 206"/>
                  <a:gd name="T18" fmla="*/ 20 h 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6" h="20">
                    <a:moveTo>
                      <a:pt x="0" y="19"/>
                    </a:moveTo>
                    <a:lnTo>
                      <a:pt x="0" y="0"/>
                    </a:lnTo>
                    <a:lnTo>
                      <a:pt x="205" y="0"/>
                    </a:lnTo>
                    <a:lnTo>
                      <a:pt x="205" y="19"/>
                    </a:lnTo>
                    <a:lnTo>
                      <a:pt x="0" y="19"/>
                    </a:lnTo>
                  </a:path>
                </a:pathLst>
              </a:custGeom>
              <a:solidFill>
                <a:srgbClr val="666666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78" name="Freeform 80"/>
              <p:cNvSpPr>
                <a:spLocks/>
              </p:cNvSpPr>
              <p:nvPr/>
            </p:nvSpPr>
            <p:spPr bwMode="auto">
              <a:xfrm>
                <a:off x="3840" y="1453"/>
                <a:ext cx="220" cy="34"/>
              </a:xfrm>
              <a:custGeom>
                <a:avLst/>
                <a:gdLst>
                  <a:gd name="T0" fmla="*/ 189 w 220"/>
                  <a:gd name="T1" fmla="*/ 0 h 34"/>
                  <a:gd name="T2" fmla="*/ 219 w 220"/>
                  <a:gd name="T3" fmla="*/ 33 h 34"/>
                  <a:gd name="T4" fmla="*/ 0 w 220"/>
                  <a:gd name="T5" fmla="*/ 33 h 34"/>
                  <a:gd name="T6" fmla="*/ 29 w 220"/>
                  <a:gd name="T7" fmla="*/ 0 h 34"/>
                  <a:gd name="T8" fmla="*/ 189 w 220"/>
                  <a:gd name="T9" fmla="*/ 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0"/>
                  <a:gd name="T16" fmla="*/ 0 h 34"/>
                  <a:gd name="T17" fmla="*/ 220 w 220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0" h="34">
                    <a:moveTo>
                      <a:pt x="189" y="0"/>
                    </a:moveTo>
                    <a:lnTo>
                      <a:pt x="219" y="33"/>
                    </a:lnTo>
                    <a:lnTo>
                      <a:pt x="0" y="33"/>
                    </a:lnTo>
                    <a:lnTo>
                      <a:pt x="29" y="0"/>
                    </a:lnTo>
                    <a:lnTo>
                      <a:pt x="189" y="0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79" name="Freeform 81"/>
              <p:cNvSpPr>
                <a:spLocks/>
              </p:cNvSpPr>
              <p:nvPr/>
            </p:nvSpPr>
            <p:spPr bwMode="auto">
              <a:xfrm>
                <a:off x="3897" y="1449"/>
                <a:ext cx="104" cy="24"/>
              </a:xfrm>
              <a:custGeom>
                <a:avLst/>
                <a:gdLst>
                  <a:gd name="T0" fmla="*/ 102 w 104"/>
                  <a:gd name="T1" fmla="*/ 10 h 24"/>
                  <a:gd name="T2" fmla="*/ 101 w 104"/>
                  <a:gd name="T3" fmla="*/ 8 h 24"/>
                  <a:gd name="T4" fmla="*/ 97 w 104"/>
                  <a:gd name="T5" fmla="*/ 6 h 24"/>
                  <a:gd name="T6" fmla="*/ 93 w 104"/>
                  <a:gd name="T7" fmla="*/ 4 h 24"/>
                  <a:gd name="T8" fmla="*/ 87 w 104"/>
                  <a:gd name="T9" fmla="*/ 3 h 24"/>
                  <a:gd name="T10" fmla="*/ 80 w 104"/>
                  <a:gd name="T11" fmla="*/ 2 h 24"/>
                  <a:gd name="T12" fmla="*/ 72 w 104"/>
                  <a:gd name="T13" fmla="*/ 1 h 24"/>
                  <a:gd name="T14" fmla="*/ 64 w 104"/>
                  <a:gd name="T15" fmla="*/ 0 h 24"/>
                  <a:gd name="T16" fmla="*/ 55 w 104"/>
                  <a:gd name="T17" fmla="*/ 0 h 24"/>
                  <a:gd name="T18" fmla="*/ 46 w 104"/>
                  <a:gd name="T19" fmla="*/ 0 h 24"/>
                  <a:gd name="T20" fmla="*/ 37 w 104"/>
                  <a:gd name="T21" fmla="*/ 0 h 24"/>
                  <a:gd name="T22" fmla="*/ 29 w 104"/>
                  <a:gd name="T23" fmla="*/ 1 h 24"/>
                  <a:gd name="T24" fmla="*/ 21 w 104"/>
                  <a:gd name="T25" fmla="*/ 2 h 24"/>
                  <a:gd name="T26" fmla="*/ 14 w 104"/>
                  <a:gd name="T27" fmla="*/ 3 h 24"/>
                  <a:gd name="T28" fmla="*/ 8 w 104"/>
                  <a:gd name="T29" fmla="*/ 4 h 24"/>
                  <a:gd name="T30" fmla="*/ 4 w 104"/>
                  <a:gd name="T31" fmla="*/ 6 h 24"/>
                  <a:gd name="T32" fmla="*/ 1 w 104"/>
                  <a:gd name="T33" fmla="*/ 8 h 24"/>
                  <a:gd name="T34" fmla="*/ 0 w 104"/>
                  <a:gd name="T35" fmla="*/ 10 h 24"/>
                  <a:gd name="T36" fmla="*/ 0 w 104"/>
                  <a:gd name="T37" fmla="*/ 12 h 24"/>
                  <a:gd name="T38" fmla="*/ 1 w 104"/>
                  <a:gd name="T39" fmla="*/ 14 h 24"/>
                  <a:gd name="T40" fmla="*/ 4 w 104"/>
                  <a:gd name="T41" fmla="*/ 16 h 24"/>
                  <a:gd name="T42" fmla="*/ 8 w 104"/>
                  <a:gd name="T43" fmla="*/ 17 h 24"/>
                  <a:gd name="T44" fmla="*/ 14 w 104"/>
                  <a:gd name="T45" fmla="*/ 19 h 24"/>
                  <a:gd name="T46" fmla="*/ 21 w 104"/>
                  <a:gd name="T47" fmla="*/ 20 h 24"/>
                  <a:gd name="T48" fmla="*/ 29 w 104"/>
                  <a:gd name="T49" fmla="*/ 21 h 24"/>
                  <a:gd name="T50" fmla="*/ 37 w 104"/>
                  <a:gd name="T51" fmla="*/ 22 h 24"/>
                  <a:gd name="T52" fmla="*/ 46 w 104"/>
                  <a:gd name="T53" fmla="*/ 23 h 24"/>
                  <a:gd name="T54" fmla="*/ 55 w 104"/>
                  <a:gd name="T55" fmla="*/ 23 h 24"/>
                  <a:gd name="T56" fmla="*/ 64 w 104"/>
                  <a:gd name="T57" fmla="*/ 22 h 24"/>
                  <a:gd name="T58" fmla="*/ 72 w 104"/>
                  <a:gd name="T59" fmla="*/ 21 h 24"/>
                  <a:gd name="T60" fmla="*/ 80 w 104"/>
                  <a:gd name="T61" fmla="*/ 20 h 24"/>
                  <a:gd name="T62" fmla="*/ 87 w 104"/>
                  <a:gd name="T63" fmla="*/ 19 h 24"/>
                  <a:gd name="T64" fmla="*/ 93 w 104"/>
                  <a:gd name="T65" fmla="*/ 17 h 24"/>
                  <a:gd name="T66" fmla="*/ 97 w 104"/>
                  <a:gd name="T67" fmla="*/ 16 h 24"/>
                  <a:gd name="T68" fmla="*/ 101 w 104"/>
                  <a:gd name="T69" fmla="*/ 14 h 24"/>
                  <a:gd name="T70" fmla="*/ 102 w 104"/>
                  <a:gd name="T71" fmla="*/ 12 h 2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04"/>
                  <a:gd name="T109" fmla="*/ 0 h 24"/>
                  <a:gd name="T110" fmla="*/ 104 w 104"/>
                  <a:gd name="T111" fmla="*/ 24 h 2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04" h="24">
                    <a:moveTo>
                      <a:pt x="103" y="11"/>
                    </a:moveTo>
                    <a:lnTo>
                      <a:pt x="102" y="10"/>
                    </a:lnTo>
                    <a:lnTo>
                      <a:pt x="102" y="9"/>
                    </a:lnTo>
                    <a:lnTo>
                      <a:pt x="101" y="8"/>
                    </a:lnTo>
                    <a:lnTo>
                      <a:pt x="99" y="7"/>
                    </a:lnTo>
                    <a:lnTo>
                      <a:pt x="97" y="6"/>
                    </a:lnTo>
                    <a:lnTo>
                      <a:pt x="95" y="6"/>
                    </a:lnTo>
                    <a:lnTo>
                      <a:pt x="93" y="4"/>
                    </a:lnTo>
                    <a:lnTo>
                      <a:pt x="90" y="4"/>
                    </a:lnTo>
                    <a:lnTo>
                      <a:pt x="87" y="3"/>
                    </a:lnTo>
                    <a:lnTo>
                      <a:pt x="84" y="2"/>
                    </a:lnTo>
                    <a:lnTo>
                      <a:pt x="80" y="2"/>
                    </a:lnTo>
                    <a:lnTo>
                      <a:pt x="76" y="1"/>
                    </a:lnTo>
                    <a:lnTo>
                      <a:pt x="72" y="1"/>
                    </a:lnTo>
                    <a:lnTo>
                      <a:pt x="69" y="0"/>
                    </a:lnTo>
                    <a:lnTo>
                      <a:pt x="64" y="0"/>
                    </a:lnTo>
                    <a:lnTo>
                      <a:pt x="60" y="0"/>
                    </a:lnTo>
                    <a:lnTo>
                      <a:pt x="55" y="0"/>
                    </a:lnTo>
                    <a:lnTo>
                      <a:pt x="51" y="0"/>
                    </a:lnTo>
                    <a:lnTo>
                      <a:pt x="46" y="0"/>
                    </a:lnTo>
                    <a:lnTo>
                      <a:pt x="42" y="0"/>
                    </a:lnTo>
                    <a:lnTo>
                      <a:pt x="37" y="0"/>
                    </a:lnTo>
                    <a:lnTo>
                      <a:pt x="33" y="0"/>
                    </a:lnTo>
                    <a:lnTo>
                      <a:pt x="29" y="1"/>
                    </a:lnTo>
                    <a:lnTo>
                      <a:pt x="25" y="1"/>
                    </a:lnTo>
                    <a:lnTo>
                      <a:pt x="21" y="2"/>
                    </a:lnTo>
                    <a:lnTo>
                      <a:pt x="17" y="2"/>
                    </a:lnTo>
                    <a:lnTo>
                      <a:pt x="14" y="3"/>
                    </a:lnTo>
                    <a:lnTo>
                      <a:pt x="12" y="4"/>
                    </a:lnTo>
                    <a:lnTo>
                      <a:pt x="8" y="4"/>
                    </a:lnTo>
                    <a:lnTo>
                      <a:pt x="6" y="6"/>
                    </a:lnTo>
                    <a:lnTo>
                      <a:pt x="4" y="6"/>
                    </a:lnTo>
                    <a:lnTo>
                      <a:pt x="3" y="7"/>
                    </a:lnTo>
                    <a:lnTo>
                      <a:pt x="1" y="8"/>
                    </a:lnTo>
                    <a:lnTo>
                      <a:pt x="0" y="9"/>
                    </a:lnTo>
                    <a:lnTo>
                      <a:pt x="0" y="10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3"/>
                    </a:lnTo>
                    <a:lnTo>
                      <a:pt x="1" y="14"/>
                    </a:lnTo>
                    <a:lnTo>
                      <a:pt x="3" y="15"/>
                    </a:lnTo>
                    <a:lnTo>
                      <a:pt x="4" y="16"/>
                    </a:lnTo>
                    <a:lnTo>
                      <a:pt x="6" y="17"/>
                    </a:lnTo>
                    <a:lnTo>
                      <a:pt x="8" y="17"/>
                    </a:lnTo>
                    <a:lnTo>
                      <a:pt x="12" y="18"/>
                    </a:lnTo>
                    <a:lnTo>
                      <a:pt x="14" y="19"/>
                    </a:lnTo>
                    <a:lnTo>
                      <a:pt x="17" y="20"/>
                    </a:lnTo>
                    <a:lnTo>
                      <a:pt x="21" y="20"/>
                    </a:lnTo>
                    <a:lnTo>
                      <a:pt x="25" y="21"/>
                    </a:lnTo>
                    <a:lnTo>
                      <a:pt x="29" y="21"/>
                    </a:lnTo>
                    <a:lnTo>
                      <a:pt x="33" y="22"/>
                    </a:lnTo>
                    <a:lnTo>
                      <a:pt x="37" y="22"/>
                    </a:lnTo>
                    <a:lnTo>
                      <a:pt x="42" y="22"/>
                    </a:lnTo>
                    <a:lnTo>
                      <a:pt x="46" y="23"/>
                    </a:lnTo>
                    <a:lnTo>
                      <a:pt x="51" y="23"/>
                    </a:lnTo>
                    <a:lnTo>
                      <a:pt x="55" y="23"/>
                    </a:lnTo>
                    <a:lnTo>
                      <a:pt x="60" y="22"/>
                    </a:lnTo>
                    <a:lnTo>
                      <a:pt x="64" y="22"/>
                    </a:lnTo>
                    <a:lnTo>
                      <a:pt x="69" y="22"/>
                    </a:lnTo>
                    <a:lnTo>
                      <a:pt x="72" y="21"/>
                    </a:lnTo>
                    <a:lnTo>
                      <a:pt x="76" y="21"/>
                    </a:lnTo>
                    <a:lnTo>
                      <a:pt x="80" y="20"/>
                    </a:lnTo>
                    <a:lnTo>
                      <a:pt x="84" y="20"/>
                    </a:lnTo>
                    <a:lnTo>
                      <a:pt x="87" y="19"/>
                    </a:lnTo>
                    <a:lnTo>
                      <a:pt x="90" y="18"/>
                    </a:lnTo>
                    <a:lnTo>
                      <a:pt x="93" y="17"/>
                    </a:lnTo>
                    <a:lnTo>
                      <a:pt x="95" y="17"/>
                    </a:lnTo>
                    <a:lnTo>
                      <a:pt x="97" y="16"/>
                    </a:lnTo>
                    <a:lnTo>
                      <a:pt x="99" y="15"/>
                    </a:lnTo>
                    <a:lnTo>
                      <a:pt x="101" y="14"/>
                    </a:lnTo>
                    <a:lnTo>
                      <a:pt x="102" y="13"/>
                    </a:lnTo>
                    <a:lnTo>
                      <a:pt x="102" y="12"/>
                    </a:lnTo>
                    <a:lnTo>
                      <a:pt x="103" y="11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80" name="Freeform 82"/>
              <p:cNvSpPr>
                <a:spLocks/>
              </p:cNvSpPr>
              <p:nvPr/>
            </p:nvSpPr>
            <p:spPr bwMode="auto">
              <a:xfrm>
                <a:off x="3897" y="1461"/>
                <a:ext cx="104" cy="17"/>
              </a:xfrm>
              <a:custGeom>
                <a:avLst/>
                <a:gdLst>
                  <a:gd name="T0" fmla="*/ 102 w 104"/>
                  <a:gd name="T1" fmla="*/ 6 h 17"/>
                  <a:gd name="T2" fmla="*/ 101 w 104"/>
                  <a:gd name="T3" fmla="*/ 8 h 17"/>
                  <a:gd name="T4" fmla="*/ 97 w 104"/>
                  <a:gd name="T5" fmla="*/ 10 h 17"/>
                  <a:gd name="T6" fmla="*/ 93 w 104"/>
                  <a:gd name="T7" fmla="*/ 11 h 17"/>
                  <a:gd name="T8" fmla="*/ 87 w 104"/>
                  <a:gd name="T9" fmla="*/ 12 h 17"/>
                  <a:gd name="T10" fmla="*/ 80 w 104"/>
                  <a:gd name="T11" fmla="*/ 14 h 17"/>
                  <a:gd name="T12" fmla="*/ 72 w 104"/>
                  <a:gd name="T13" fmla="*/ 14 h 17"/>
                  <a:gd name="T14" fmla="*/ 64 w 104"/>
                  <a:gd name="T15" fmla="*/ 15 h 17"/>
                  <a:gd name="T16" fmla="*/ 55 w 104"/>
                  <a:gd name="T17" fmla="*/ 16 h 17"/>
                  <a:gd name="T18" fmla="*/ 46 w 104"/>
                  <a:gd name="T19" fmla="*/ 16 h 17"/>
                  <a:gd name="T20" fmla="*/ 37 w 104"/>
                  <a:gd name="T21" fmla="*/ 15 h 17"/>
                  <a:gd name="T22" fmla="*/ 29 w 104"/>
                  <a:gd name="T23" fmla="*/ 14 h 17"/>
                  <a:gd name="T24" fmla="*/ 21 w 104"/>
                  <a:gd name="T25" fmla="*/ 14 h 17"/>
                  <a:gd name="T26" fmla="*/ 14 w 104"/>
                  <a:gd name="T27" fmla="*/ 12 h 17"/>
                  <a:gd name="T28" fmla="*/ 8 w 104"/>
                  <a:gd name="T29" fmla="*/ 11 h 17"/>
                  <a:gd name="T30" fmla="*/ 4 w 104"/>
                  <a:gd name="T31" fmla="*/ 10 h 17"/>
                  <a:gd name="T32" fmla="*/ 1 w 104"/>
                  <a:gd name="T33" fmla="*/ 8 h 17"/>
                  <a:gd name="T34" fmla="*/ 0 w 104"/>
                  <a:gd name="T35" fmla="*/ 6 h 17"/>
                  <a:gd name="T36" fmla="*/ 0 w 104"/>
                  <a:gd name="T37" fmla="*/ 0 h 17"/>
                  <a:gd name="T38" fmla="*/ 0 w 104"/>
                  <a:gd name="T39" fmla="*/ 2 h 17"/>
                  <a:gd name="T40" fmla="*/ 3 w 104"/>
                  <a:gd name="T41" fmla="*/ 4 h 17"/>
                  <a:gd name="T42" fmla="*/ 6 w 104"/>
                  <a:gd name="T43" fmla="*/ 5 h 17"/>
                  <a:gd name="T44" fmla="*/ 12 w 104"/>
                  <a:gd name="T45" fmla="*/ 6 h 17"/>
                  <a:gd name="T46" fmla="*/ 17 w 104"/>
                  <a:gd name="T47" fmla="*/ 8 h 17"/>
                  <a:gd name="T48" fmla="*/ 25 w 104"/>
                  <a:gd name="T49" fmla="*/ 9 h 17"/>
                  <a:gd name="T50" fmla="*/ 33 w 104"/>
                  <a:gd name="T51" fmla="*/ 10 h 17"/>
                  <a:gd name="T52" fmla="*/ 42 w 104"/>
                  <a:gd name="T53" fmla="*/ 10 h 17"/>
                  <a:gd name="T54" fmla="*/ 51 w 104"/>
                  <a:gd name="T55" fmla="*/ 10 h 17"/>
                  <a:gd name="T56" fmla="*/ 60 w 104"/>
                  <a:gd name="T57" fmla="*/ 10 h 17"/>
                  <a:gd name="T58" fmla="*/ 69 w 104"/>
                  <a:gd name="T59" fmla="*/ 10 h 17"/>
                  <a:gd name="T60" fmla="*/ 76 w 104"/>
                  <a:gd name="T61" fmla="*/ 9 h 17"/>
                  <a:gd name="T62" fmla="*/ 84 w 104"/>
                  <a:gd name="T63" fmla="*/ 8 h 17"/>
                  <a:gd name="T64" fmla="*/ 90 w 104"/>
                  <a:gd name="T65" fmla="*/ 6 h 17"/>
                  <a:gd name="T66" fmla="*/ 95 w 104"/>
                  <a:gd name="T67" fmla="*/ 5 h 17"/>
                  <a:gd name="T68" fmla="*/ 99 w 104"/>
                  <a:gd name="T69" fmla="*/ 4 h 17"/>
                  <a:gd name="T70" fmla="*/ 102 w 104"/>
                  <a:gd name="T71" fmla="*/ 2 h 17"/>
                  <a:gd name="T72" fmla="*/ 103 w 104"/>
                  <a:gd name="T73" fmla="*/ 0 h 1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04"/>
                  <a:gd name="T112" fmla="*/ 0 h 17"/>
                  <a:gd name="T113" fmla="*/ 104 w 104"/>
                  <a:gd name="T114" fmla="*/ 17 h 1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04" h="17">
                    <a:moveTo>
                      <a:pt x="103" y="5"/>
                    </a:moveTo>
                    <a:lnTo>
                      <a:pt x="102" y="6"/>
                    </a:lnTo>
                    <a:lnTo>
                      <a:pt x="102" y="7"/>
                    </a:lnTo>
                    <a:lnTo>
                      <a:pt x="101" y="8"/>
                    </a:lnTo>
                    <a:lnTo>
                      <a:pt x="99" y="8"/>
                    </a:lnTo>
                    <a:lnTo>
                      <a:pt x="97" y="10"/>
                    </a:lnTo>
                    <a:lnTo>
                      <a:pt x="95" y="10"/>
                    </a:lnTo>
                    <a:lnTo>
                      <a:pt x="93" y="11"/>
                    </a:lnTo>
                    <a:lnTo>
                      <a:pt x="90" y="12"/>
                    </a:lnTo>
                    <a:lnTo>
                      <a:pt x="87" y="12"/>
                    </a:lnTo>
                    <a:lnTo>
                      <a:pt x="84" y="13"/>
                    </a:lnTo>
                    <a:lnTo>
                      <a:pt x="80" y="14"/>
                    </a:lnTo>
                    <a:lnTo>
                      <a:pt x="76" y="14"/>
                    </a:lnTo>
                    <a:lnTo>
                      <a:pt x="72" y="14"/>
                    </a:lnTo>
                    <a:lnTo>
                      <a:pt x="69" y="15"/>
                    </a:lnTo>
                    <a:lnTo>
                      <a:pt x="64" y="15"/>
                    </a:lnTo>
                    <a:lnTo>
                      <a:pt x="60" y="16"/>
                    </a:lnTo>
                    <a:lnTo>
                      <a:pt x="55" y="16"/>
                    </a:lnTo>
                    <a:lnTo>
                      <a:pt x="51" y="16"/>
                    </a:lnTo>
                    <a:lnTo>
                      <a:pt x="46" y="16"/>
                    </a:lnTo>
                    <a:lnTo>
                      <a:pt x="42" y="16"/>
                    </a:lnTo>
                    <a:lnTo>
                      <a:pt x="37" y="15"/>
                    </a:lnTo>
                    <a:lnTo>
                      <a:pt x="33" y="15"/>
                    </a:lnTo>
                    <a:lnTo>
                      <a:pt x="29" y="14"/>
                    </a:lnTo>
                    <a:lnTo>
                      <a:pt x="25" y="14"/>
                    </a:lnTo>
                    <a:lnTo>
                      <a:pt x="21" y="14"/>
                    </a:lnTo>
                    <a:lnTo>
                      <a:pt x="17" y="13"/>
                    </a:lnTo>
                    <a:lnTo>
                      <a:pt x="14" y="12"/>
                    </a:lnTo>
                    <a:lnTo>
                      <a:pt x="12" y="12"/>
                    </a:lnTo>
                    <a:lnTo>
                      <a:pt x="8" y="11"/>
                    </a:lnTo>
                    <a:lnTo>
                      <a:pt x="6" y="10"/>
                    </a:lnTo>
                    <a:lnTo>
                      <a:pt x="4" y="10"/>
                    </a:lnTo>
                    <a:lnTo>
                      <a:pt x="3" y="8"/>
                    </a:lnTo>
                    <a:lnTo>
                      <a:pt x="1" y="8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1" y="2"/>
                    </a:lnTo>
                    <a:lnTo>
                      <a:pt x="3" y="4"/>
                    </a:lnTo>
                    <a:lnTo>
                      <a:pt x="4" y="4"/>
                    </a:lnTo>
                    <a:lnTo>
                      <a:pt x="6" y="5"/>
                    </a:lnTo>
                    <a:lnTo>
                      <a:pt x="8" y="6"/>
                    </a:lnTo>
                    <a:lnTo>
                      <a:pt x="12" y="6"/>
                    </a:lnTo>
                    <a:lnTo>
                      <a:pt x="14" y="7"/>
                    </a:lnTo>
                    <a:lnTo>
                      <a:pt x="17" y="8"/>
                    </a:lnTo>
                    <a:lnTo>
                      <a:pt x="21" y="8"/>
                    </a:lnTo>
                    <a:lnTo>
                      <a:pt x="25" y="9"/>
                    </a:lnTo>
                    <a:lnTo>
                      <a:pt x="29" y="10"/>
                    </a:lnTo>
                    <a:lnTo>
                      <a:pt x="33" y="10"/>
                    </a:lnTo>
                    <a:lnTo>
                      <a:pt x="37" y="10"/>
                    </a:lnTo>
                    <a:lnTo>
                      <a:pt x="42" y="10"/>
                    </a:lnTo>
                    <a:lnTo>
                      <a:pt x="46" y="10"/>
                    </a:lnTo>
                    <a:lnTo>
                      <a:pt x="51" y="10"/>
                    </a:lnTo>
                    <a:lnTo>
                      <a:pt x="55" y="10"/>
                    </a:lnTo>
                    <a:lnTo>
                      <a:pt x="60" y="10"/>
                    </a:lnTo>
                    <a:lnTo>
                      <a:pt x="64" y="10"/>
                    </a:lnTo>
                    <a:lnTo>
                      <a:pt x="69" y="10"/>
                    </a:lnTo>
                    <a:lnTo>
                      <a:pt x="72" y="10"/>
                    </a:lnTo>
                    <a:lnTo>
                      <a:pt x="76" y="9"/>
                    </a:lnTo>
                    <a:lnTo>
                      <a:pt x="80" y="8"/>
                    </a:lnTo>
                    <a:lnTo>
                      <a:pt x="84" y="8"/>
                    </a:lnTo>
                    <a:lnTo>
                      <a:pt x="87" y="7"/>
                    </a:lnTo>
                    <a:lnTo>
                      <a:pt x="90" y="6"/>
                    </a:lnTo>
                    <a:lnTo>
                      <a:pt x="93" y="6"/>
                    </a:lnTo>
                    <a:lnTo>
                      <a:pt x="95" y="5"/>
                    </a:lnTo>
                    <a:lnTo>
                      <a:pt x="97" y="4"/>
                    </a:lnTo>
                    <a:lnTo>
                      <a:pt x="99" y="4"/>
                    </a:lnTo>
                    <a:lnTo>
                      <a:pt x="101" y="2"/>
                    </a:lnTo>
                    <a:lnTo>
                      <a:pt x="102" y="2"/>
                    </a:lnTo>
                    <a:lnTo>
                      <a:pt x="102" y="1"/>
                    </a:lnTo>
                    <a:lnTo>
                      <a:pt x="103" y="0"/>
                    </a:lnTo>
                    <a:lnTo>
                      <a:pt x="103" y="5"/>
                    </a:lnTo>
                  </a:path>
                </a:pathLst>
              </a:custGeom>
              <a:solidFill>
                <a:srgbClr val="666666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81" name="Freeform 83"/>
              <p:cNvSpPr>
                <a:spLocks/>
              </p:cNvSpPr>
              <p:nvPr/>
            </p:nvSpPr>
            <p:spPr bwMode="auto">
              <a:xfrm>
                <a:off x="3840" y="1486"/>
                <a:ext cx="220" cy="77"/>
              </a:xfrm>
              <a:custGeom>
                <a:avLst/>
                <a:gdLst>
                  <a:gd name="T0" fmla="*/ 0 w 220"/>
                  <a:gd name="T1" fmla="*/ 76 h 77"/>
                  <a:gd name="T2" fmla="*/ 219 w 220"/>
                  <a:gd name="T3" fmla="*/ 76 h 77"/>
                  <a:gd name="T4" fmla="*/ 219 w 220"/>
                  <a:gd name="T5" fmla="*/ 0 h 77"/>
                  <a:gd name="T6" fmla="*/ 0 w 220"/>
                  <a:gd name="T7" fmla="*/ 0 h 77"/>
                  <a:gd name="T8" fmla="*/ 0 w 220"/>
                  <a:gd name="T9" fmla="*/ 76 h 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0"/>
                  <a:gd name="T16" fmla="*/ 0 h 77"/>
                  <a:gd name="T17" fmla="*/ 220 w 220"/>
                  <a:gd name="T18" fmla="*/ 77 h 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0" h="77">
                    <a:moveTo>
                      <a:pt x="0" y="76"/>
                    </a:moveTo>
                    <a:lnTo>
                      <a:pt x="219" y="76"/>
                    </a:lnTo>
                    <a:lnTo>
                      <a:pt x="219" y="0"/>
                    </a:lnTo>
                    <a:lnTo>
                      <a:pt x="0" y="0"/>
                    </a:lnTo>
                    <a:lnTo>
                      <a:pt x="0" y="76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82" name="Freeform 84"/>
              <p:cNvSpPr>
                <a:spLocks/>
              </p:cNvSpPr>
              <p:nvPr/>
            </p:nvSpPr>
            <p:spPr bwMode="auto">
              <a:xfrm>
                <a:off x="3875" y="1449"/>
                <a:ext cx="69" cy="17"/>
              </a:xfrm>
              <a:custGeom>
                <a:avLst/>
                <a:gdLst>
                  <a:gd name="T0" fmla="*/ 0 w 69"/>
                  <a:gd name="T1" fmla="*/ 16 h 17"/>
                  <a:gd name="T2" fmla="*/ 0 w 69"/>
                  <a:gd name="T3" fmla="*/ 0 h 17"/>
                  <a:gd name="T4" fmla="*/ 68 w 69"/>
                  <a:gd name="T5" fmla="*/ 0 h 17"/>
                  <a:gd name="T6" fmla="*/ 68 w 69"/>
                  <a:gd name="T7" fmla="*/ 16 h 17"/>
                  <a:gd name="T8" fmla="*/ 0 w 69"/>
                  <a:gd name="T9" fmla="*/ 16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9"/>
                  <a:gd name="T16" fmla="*/ 0 h 17"/>
                  <a:gd name="T17" fmla="*/ 69 w 69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9" h="17">
                    <a:moveTo>
                      <a:pt x="0" y="16"/>
                    </a:moveTo>
                    <a:lnTo>
                      <a:pt x="0" y="0"/>
                    </a:lnTo>
                    <a:lnTo>
                      <a:pt x="68" y="0"/>
                    </a:lnTo>
                    <a:lnTo>
                      <a:pt x="68" y="16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83" name="Freeform 85"/>
              <p:cNvSpPr>
                <a:spLocks/>
              </p:cNvSpPr>
              <p:nvPr/>
            </p:nvSpPr>
            <p:spPr bwMode="auto">
              <a:xfrm>
                <a:off x="3931" y="1450"/>
                <a:ext cx="94" cy="17"/>
              </a:xfrm>
              <a:custGeom>
                <a:avLst/>
                <a:gdLst>
                  <a:gd name="T0" fmla="*/ 0 w 94"/>
                  <a:gd name="T1" fmla="*/ 16 h 17"/>
                  <a:gd name="T2" fmla="*/ 0 w 94"/>
                  <a:gd name="T3" fmla="*/ 0 h 17"/>
                  <a:gd name="T4" fmla="*/ 93 w 94"/>
                  <a:gd name="T5" fmla="*/ 0 h 17"/>
                  <a:gd name="T6" fmla="*/ 93 w 94"/>
                  <a:gd name="T7" fmla="*/ 16 h 17"/>
                  <a:gd name="T8" fmla="*/ 0 w 94"/>
                  <a:gd name="T9" fmla="*/ 16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4"/>
                  <a:gd name="T16" fmla="*/ 0 h 17"/>
                  <a:gd name="T17" fmla="*/ 94 w 9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4" h="17">
                    <a:moveTo>
                      <a:pt x="0" y="16"/>
                    </a:moveTo>
                    <a:lnTo>
                      <a:pt x="0" y="0"/>
                    </a:lnTo>
                    <a:lnTo>
                      <a:pt x="93" y="0"/>
                    </a:lnTo>
                    <a:lnTo>
                      <a:pt x="93" y="16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84" name="Freeform 86"/>
              <p:cNvSpPr>
                <a:spLocks/>
              </p:cNvSpPr>
              <p:nvPr/>
            </p:nvSpPr>
            <p:spPr bwMode="auto">
              <a:xfrm>
                <a:off x="3877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6 h 17"/>
                  <a:gd name="T6" fmla="*/ 16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85" name="Freeform 87"/>
              <p:cNvSpPr>
                <a:spLocks/>
              </p:cNvSpPr>
              <p:nvPr/>
            </p:nvSpPr>
            <p:spPr bwMode="auto">
              <a:xfrm>
                <a:off x="3880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4 w 17"/>
                  <a:gd name="T5" fmla="*/ 14 h 17"/>
                  <a:gd name="T6" fmla="*/ 4 w 17"/>
                  <a:gd name="T7" fmla="*/ 16 h 17"/>
                  <a:gd name="T8" fmla="*/ 8 w 17"/>
                  <a:gd name="T9" fmla="*/ 16 h 17"/>
                  <a:gd name="T10" fmla="*/ 12 w 17"/>
                  <a:gd name="T11" fmla="*/ 14 h 17"/>
                  <a:gd name="T12" fmla="*/ 16 w 17"/>
                  <a:gd name="T13" fmla="*/ 14 h 17"/>
                  <a:gd name="T14" fmla="*/ 16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4"/>
                    </a:lnTo>
                    <a:lnTo>
                      <a:pt x="4" y="16"/>
                    </a:lnTo>
                    <a:lnTo>
                      <a:pt x="8" y="16"/>
                    </a:lnTo>
                    <a:lnTo>
                      <a:pt x="12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86" name="Freeform 88"/>
              <p:cNvSpPr>
                <a:spLocks/>
              </p:cNvSpPr>
              <p:nvPr/>
            </p:nvSpPr>
            <p:spPr bwMode="auto">
              <a:xfrm>
                <a:off x="3883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6 h 17"/>
                  <a:gd name="T6" fmla="*/ 16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87" name="Freeform 89"/>
              <p:cNvSpPr>
                <a:spLocks/>
              </p:cNvSpPr>
              <p:nvPr/>
            </p:nvSpPr>
            <p:spPr bwMode="auto">
              <a:xfrm>
                <a:off x="3885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0 w 17"/>
                  <a:gd name="T9" fmla="*/ 14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88" name="Freeform 90"/>
              <p:cNvSpPr>
                <a:spLocks/>
              </p:cNvSpPr>
              <p:nvPr/>
            </p:nvSpPr>
            <p:spPr bwMode="auto">
              <a:xfrm>
                <a:off x="3888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4 h 17"/>
                  <a:gd name="T6" fmla="*/ 5 w 17"/>
                  <a:gd name="T7" fmla="*/ 16 h 17"/>
                  <a:gd name="T8" fmla="*/ 10 w 17"/>
                  <a:gd name="T9" fmla="*/ 16 h 17"/>
                  <a:gd name="T10" fmla="*/ 10 w 17"/>
                  <a:gd name="T11" fmla="*/ 14 h 17"/>
                  <a:gd name="T12" fmla="*/ 16 w 17"/>
                  <a:gd name="T13" fmla="*/ 14 h 17"/>
                  <a:gd name="T14" fmla="*/ 16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89" name="Freeform 91"/>
              <p:cNvSpPr>
                <a:spLocks/>
              </p:cNvSpPr>
              <p:nvPr/>
            </p:nvSpPr>
            <p:spPr bwMode="auto">
              <a:xfrm>
                <a:off x="3890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90" name="Freeform 92"/>
              <p:cNvSpPr>
                <a:spLocks/>
              </p:cNvSpPr>
              <p:nvPr/>
            </p:nvSpPr>
            <p:spPr bwMode="auto">
              <a:xfrm>
                <a:off x="3893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0 w 17"/>
                  <a:gd name="T9" fmla="*/ 14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91" name="Freeform 93"/>
              <p:cNvSpPr>
                <a:spLocks/>
              </p:cNvSpPr>
              <p:nvPr/>
            </p:nvSpPr>
            <p:spPr bwMode="auto">
              <a:xfrm>
                <a:off x="3894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4 w 17"/>
                  <a:gd name="T5" fmla="*/ 14 h 17"/>
                  <a:gd name="T6" fmla="*/ 8 w 17"/>
                  <a:gd name="T7" fmla="*/ 16 h 17"/>
                  <a:gd name="T8" fmla="*/ 12 w 17"/>
                  <a:gd name="T9" fmla="*/ 16 h 17"/>
                  <a:gd name="T10" fmla="*/ 12 w 17"/>
                  <a:gd name="T11" fmla="*/ 14 h 17"/>
                  <a:gd name="T12" fmla="*/ 16 w 17"/>
                  <a:gd name="T13" fmla="*/ 14 h 17"/>
                  <a:gd name="T14" fmla="*/ 16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4"/>
                    </a:lnTo>
                    <a:lnTo>
                      <a:pt x="8" y="16"/>
                    </a:lnTo>
                    <a:lnTo>
                      <a:pt x="12" y="16"/>
                    </a:lnTo>
                    <a:lnTo>
                      <a:pt x="12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92" name="Freeform 94"/>
              <p:cNvSpPr>
                <a:spLocks/>
              </p:cNvSpPr>
              <p:nvPr/>
            </p:nvSpPr>
            <p:spPr bwMode="auto">
              <a:xfrm>
                <a:off x="3898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4 h 17"/>
                  <a:gd name="T6" fmla="*/ 8 w 17"/>
                  <a:gd name="T7" fmla="*/ 16 h 17"/>
                  <a:gd name="T8" fmla="*/ 16 w 17"/>
                  <a:gd name="T9" fmla="*/ 16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93" name="Freeform 95"/>
              <p:cNvSpPr>
                <a:spLocks/>
              </p:cNvSpPr>
              <p:nvPr/>
            </p:nvSpPr>
            <p:spPr bwMode="auto">
              <a:xfrm>
                <a:off x="3900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6 h 17"/>
                  <a:gd name="T6" fmla="*/ 16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94" name="Freeform 96"/>
              <p:cNvSpPr>
                <a:spLocks/>
              </p:cNvSpPr>
              <p:nvPr/>
            </p:nvSpPr>
            <p:spPr bwMode="auto">
              <a:xfrm>
                <a:off x="3902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0 w 17"/>
                  <a:gd name="T5" fmla="*/ 16 h 17"/>
                  <a:gd name="T6" fmla="*/ 8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0" y="16"/>
                    </a:lnTo>
                    <a:lnTo>
                      <a:pt x="8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95" name="Freeform 97"/>
              <p:cNvSpPr>
                <a:spLocks/>
              </p:cNvSpPr>
              <p:nvPr/>
            </p:nvSpPr>
            <p:spPr bwMode="auto">
              <a:xfrm>
                <a:off x="3905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4 w 17"/>
                  <a:gd name="T5" fmla="*/ 16 h 17"/>
                  <a:gd name="T6" fmla="*/ 8 w 17"/>
                  <a:gd name="T7" fmla="*/ 16 h 17"/>
                  <a:gd name="T8" fmla="*/ 12 w 17"/>
                  <a:gd name="T9" fmla="*/ 16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6"/>
                    </a:lnTo>
                    <a:lnTo>
                      <a:pt x="8" y="16"/>
                    </a:lnTo>
                    <a:lnTo>
                      <a:pt x="12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96" name="Freeform 98"/>
              <p:cNvSpPr>
                <a:spLocks/>
              </p:cNvSpPr>
              <p:nvPr/>
            </p:nvSpPr>
            <p:spPr bwMode="auto">
              <a:xfrm>
                <a:off x="3908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0 w 17"/>
                  <a:gd name="T9" fmla="*/ 14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97" name="Freeform 99"/>
              <p:cNvSpPr>
                <a:spLocks/>
              </p:cNvSpPr>
              <p:nvPr/>
            </p:nvSpPr>
            <p:spPr bwMode="auto">
              <a:xfrm>
                <a:off x="3910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4 h 17"/>
                  <a:gd name="T6" fmla="*/ 8 w 17"/>
                  <a:gd name="T7" fmla="*/ 16 h 17"/>
                  <a:gd name="T8" fmla="*/ 16 w 17"/>
                  <a:gd name="T9" fmla="*/ 16 h 17"/>
                  <a:gd name="T10" fmla="*/ 16 w 17"/>
                  <a:gd name="T11" fmla="*/ 14 h 17"/>
                  <a:gd name="T12" fmla="*/ 16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98" name="Freeform 100"/>
              <p:cNvSpPr>
                <a:spLocks/>
              </p:cNvSpPr>
              <p:nvPr/>
            </p:nvSpPr>
            <p:spPr bwMode="auto">
              <a:xfrm>
                <a:off x="3912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99" name="Freeform 101"/>
              <p:cNvSpPr>
                <a:spLocks/>
              </p:cNvSpPr>
              <p:nvPr/>
            </p:nvSpPr>
            <p:spPr bwMode="auto">
              <a:xfrm>
                <a:off x="3916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00" name="Freeform 102"/>
              <p:cNvSpPr>
                <a:spLocks/>
              </p:cNvSpPr>
              <p:nvPr/>
            </p:nvSpPr>
            <p:spPr bwMode="auto">
              <a:xfrm>
                <a:off x="3918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4 h 17"/>
                  <a:gd name="T6" fmla="*/ 5 w 17"/>
                  <a:gd name="T7" fmla="*/ 16 h 17"/>
                  <a:gd name="T8" fmla="*/ 10 w 17"/>
                  <a:gd name="T9" fmla="*/ 16 h 17"/>
                  <a:gd name="T10" fmla="*/ 10 w 17"/>
                  <a:gd name="T11" fmla="*/ 14 h 17"/>
                  <a:gd name="T12" fmla="*/ 16 w 17"/>
                  <a:gd name="T13" fmla="*/ 14 h 17"/>
                  <a:gd name="T14" fmla="*/ 16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01" name="Freeform 103"/>
              <p:cNvSpPr>
                <a:spLocks/>
              </p:cNvSpPr>
              <p:nvPr/>
            </p:nvSpPr>
            <p:spPr bwMode="auto">
              <a:xfrm>
                <a:off x="3921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8 w 17"/>
                  <a:gd name="T5" fmla="*/ 16 h 17"/>
                  <a:gd name="T6" fmla="*/ 16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02" name="Freeform 104"/>
              <p:cNvSpPr>
                <a:spLocks/>
              </p:cNvSpPr>
              <p:nvPr/>
            </p:nvSpPr>
            <p:spPr bwMode="auto">
              <a:xfrm>
                <a:off x="3923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5 w 17"/>
                  <a:gd name="T5" fmla="*/ 16 h 17"/>
                  <a:gd name="T6" fmla="*/ 10 w 17"/>
                  <a:gd name="T7" fmla="*/ 16 h 17"/>
                  <a:gd name="T8" fmla="*/ 16 w 17"/>
                  <a:gd name="T9" fmla="*/ 14 h 17"/>
                  <a:gd name="T10" fmla="*/ 16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03" name="Freeform 105"/>
              <p:cNvSpPr>
                <a:spLocks/>
              </p:cNvSpPr>
              <p:nvPr/>
            </p:nvSpPr>
            <p:spPr bwMode="auto">
              <a:xfrm>
                <a:off x="3925" y="1452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14 h 17"/>
                  <a:gd name="T4" fmla="*/ 4 w 17"/>
                  <a:gd name="T5" fmla="*/ 14 h 17"/>
                  <a:gd name="T6" fmla="*/ 8 w 17"/>
                  <a:gd name="T7" fmla="*/ 16 h 17"/>
                  <a:gd name="T8" fmla="*/ 12 w 17"/>
                  <a:gd name="T9" fmla="*/ 16 h 17"/>
                  <a:gd name="T10" fmla="*/ 12 w 17"/>
                  <a:gd name="T11" fmla="*/ 14 h 17"/>
                  <a:gd name="T12" fmla="*/ 16 w 17"/>
                  <a:gd name="T13" fmla="*/ 14 h 17"/>
                  <a:gd name="T14" fmla="*/ 16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4"/>
                    </a:lnTo>
                    <a:lnTo>
                      <a:pt x="8" y="16"/>
                    </a:lnTo>
                    <a:lnTo>
                      <a:pt x="12" y="16"/>
                    </a:lnTo>
                    <a:lnTo>
                      <a:pt x="12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04" name="Freeform 106"/>
              <p:cNvSpPr>
                <a:spLocks/>
              </p:cNvSpPr>
              <p:nvPr/>
            </p:nvSpPr>
            <p:spPr bwMode="auto">
              <a:xfrm>
                <a:off x="3855" y="1279"/>
                <a:ext cx="187" cy="174"/>
              </a:xfrm>
              <a:custGeom>
                <a:avLst/>
                <a:gdLst>
                  <a:gd name="T0" fmla="*/ 180 w 187"/>
                  <a:gd name="T1" fmla="*/ 173 h 174"/>
                  <a:gd name="T2" fmla="*/ 180 w 187"/>
                  <a:gd name="T3" fmla="*/ 173 h 174"/>
                  <a:gd name="T4" fmla="*/ 180 w 187"/>
                  <a:gd name="T5" fmla="*/ 172 h 174"/>
                  <a:gd name="T6" fmla="*/ 182 w 187"/>
                  <a:gd name="T7" fmla="*/ 172 h 174"/>
                  <a:gd name="T8" fmla="*/ 182 w 187"/>
                  <a:gd name="T9" fmla="*/ 172 h 174"/>
                  <a:gd name="T10" fmla="*/ 183 w 187"/>
                  <a:gd name="T11" fmla="*/ 171 h 174"/>
                  <a:gd name="T12" fmla="*/ 183 w 187"/>
                  <a:gd name="T13" fmla="*/ 171 h 174"/>
                  <a:gd name="T14" fmla="*/ 184 w 187"/>
                  <a:gd name="T15" fmla="*/ 171 h 174"/>
                  <a:gd name="T16" fmla="*/ 184 w 187"/>
                  <a:gd name="T17" fmla="*/ 170 h 174"/>
                  <a:gd name="T18" fmla="*/ 184 w 187"/>
                  <a:gd name="T19" fmla="*/ 170 h 174"/>
                  <a:gd name="T20" fmla="*/ 184 w 187"/>
                  <a:gd name="T21" fmla="*/ 169 h 174"/>
                  <a:gd name="T22" fmla="*/ 185 w 187"/>
                  <a:gd name="T23" fmla="*/ 169 h 174"/>
                  <a:gd name="T24" fmla="*/ 185 w 187"/>
                  <a:gd name="T25" fmla="*/ 168 h 174"/>
                  <a:gd name="T26" fmla="*/ 186 w 187"/>
                  <a:gd name="T27" fmla="*/ 167 h 174"/>
                  <a:gd name="T28" fmla="*/ 186 w 187"/>
                  <a:gd name="T29" fmla="*/ 167 h 174"/>
                  <a:gd name="T30" fmla="*/ 186 w 187"/>
                  <a:gd name="T31" fmla="*/ 6 h 174"/>
                  <a:gd name="T32" fmla="*/ 186 w 187"/>
                  <a:gd name="T33" fmla="*/ 5 h 174"/>
                  <a:gd name="T34" fmla="*/ 186 w 187"/>
                  <a:gd name="T35" fmla="*/ 5 h 174"/>
                  <a:gd name="T36" fmla="*/ 185 w 187"/>
                  <a:gd name="T37" fmla="*/ 5 h 174"/>
                  <a:gd name="T38" fmla="*/ 185 w 187"/>
                  <a:gd name="T39" fmla="*/ 3 h 174"/>
                  <a:gd name="T40" fmla="*/ 184 w 187"/>
                  <a:gd name="T41" fmla="*/ 3 h 174"/>
                  <a:gd name="T42" fmla="*/ 184 w 187"/>
                  <a:gd name="T43" fmla="*/ 2 h 174"/>
                  <a:gd name="T44" fmla="*/ 184 w 187"/>
                  <a:gd name="T45" fmla="*/ 1 h 174"/>
                  <a:gd name="T46" fmla="*/ 183 w 187"/>
                  <a:gd name="T47" fmla="*/ 1 h 174"/>
                  <a:gd name="T48" fmla="*/ 183 w 187"/>
                  <a:gd name="T49" fmla="*/ 1 h 174"/>
                  <a:gd name="T50" fmla="*/ 182 w 187"/>
                  <a:gd name="T51" fmla="*/ 1 h 174"/>
                  <a:gd name="T52" fmla="*/ 182 w 187"/>
                  <a:gd name="T53" fmla="*/ 0 h 174"/>
                  <a:gd name="T54" fmla="*/ 180 w 187"/>
                  <a:gd name="T55" fmla="*/ 0 h 174"/>
                  <a:gd name="T56" fmla="*/ 180 w 187"/>
                  <a:gd name="T57" fmla="*/ 0 h 174"/>
                  <a:gd name="T58" fmla="*/ 180 w 187"/>
                  <a:gd name="T59" fmla="*/ 0 h 174"/>
                  <a:gd name="T60" fmla="*/ 5 w 187"/>
                  <a:gd name="T61" fmla="*/ 0 h 174"/>
                  <a:gd name="T62" fmla="*/ 4 w 187"/>
                  <a:gd name="T63" fmla="*/ 0 h 174"/>
                  <a:gd name="T64" fmla="*/ 3 w 187"/>
                  <a:gd name="T65" fmla="*/ 0 h 174"/>
                  <a:gd name="T66" fmla="*/ 3 w 187"/>
                  <a:gd name="T67" fmla="*/ 0 h 174"/>
                  <a:gd name="T68" fmla="*/ 2 w 187"/>
                  <a:gd name="T69" fmla="*/ 0 h 174"/>
                  <a:gd name="T70" fmla="*/ 2 w 187"/>
                  <a:gd name="T71" fmla="*/ 1 h 174"/>
                  <a:gd name="T72" fmla="*/ 1 w 187"/>
                  <a:gd name="T73" fmla="*/ 1 h 174"/>
                  <a:gd name="T74" fmla="*/ 1 w 187"/>
                  <a:gd name="T75" fmla="*/ 1 h 174"/>
                  <a:gd name="T76" fmla="*/ 1 w 187"/>
                  <a:gd name="T77" fmla="*/ 2 h 174"/>
                  <a:gd name="T78" fmla="*/ 0 w 187"/>
                  <a:gd name="T79" fmla="*/ 3 h 174"/>
                  <a:gd name="T80" fmla="*/ 0 w 187"/>
                  <a:gd name="T81" fmla="*/ 3 h 174"/>
                  <a:gd name="T82" fmla="*/ 0 w 187"/>
                  <a:gd name="T83" fmla="*/ 3 h 174"/>
                  <a:gd name="T84" fmla="*/ 0 w 187"/>
                  <a:gd name="T85" fmla="*/ 5 h 174"/>
                  <a:gd name="T86" fmla="*/ 0 w 187"/>
                  <a:gd name="T87" fmla="*/ 5 h 174"/>
                  <a:gd name="T88" fmla="*/ 0 w 187"/>
                  <a:gd name="T89" fmla="*/ 6 h 174"/>
                  <a:gd name="T90" fmla="*/ 0 w 187"/>
                  <a:gd name="T91" fmla="*/ 167 h 174"/>
                  <a:gd name="T92" fmla="*/ 0 w 187"/>
                  <a:gd name="T93" fmla="*/ 167 h 174"/>
                  <a:gd name="T94" fmla="*/ 0 w 187"/>
                  <a:gd name="T95" fmla="*/ 168 h 174"/>
                  <a:gd name="T96" fmla="*/ 0 w 187"/>
                  <a:gd name="T97" fmla="*/ 169 h 174"/>
                  <a:gd name="T98" fmla="*/ 0 w 187"/>
                  <a:gd name="T99" fmla="*/ 169 h 174"/>
                  <a:gd name="T100" fmla="*/ 0 w 187"/>
                  <a:gd name="T101" fmla="*/ 170 h 174"/>
                  <a:gd name="T102" fmla="*/ 1 w 187"/>
                  <a:gd name="T103" fmla="*/ 170 h 174"/>
                  <a:gd name="T104" fmla="*/ 1 w 187"/>
                  <a:gd name="T105" fmla="*/ 171 h 174"/>
                  <a:gd name="T106" fmla="*/ 1 w 187"/>
                  <a:gd name="T107" fmla="*/ 171 h 174"/>
                  <a:gd name="T108" fmla="*/ 2 w 187"/>
                  <a:gd name="T109" fmla="*/ 171 h 174"/>
                  <a:gd name="T110" fmla="*/ 2 w 187"/>
                  <a:gd name="T111" fmla="*/ 172 h 174"/>
                  <a:gd name="T112" fmla="*/ 2 w 187"/>
                  <a:gd name="T113" fmla="*/ 172 h 174"/>
                  <a:gd name="T114" fmla="*/ 3 w 187"/>
                  <a:gd name="T115" fmla="*/ 172 h 174"/>
                  <a:gd name="T116" fmla="*/ 3 w 187"/>
                  <a:gd name="T117" fmla="*/ 172 h 174"/>
                  <a:gd name="T118" fmla="*/ 4 w 187"/>
                  <a:gd name="T119" fmla="*/ 173 h 174"/>
                  <a:gd name="T120" fmla="*/ 5 w 187"/>
                  <a:gd name="T121" fmla="*/ 173 h 174"/>
                  <a:gd name="T122" fmla="*/ 180 w 187"/>
                  <a:gd name="T123" fmla="*/ 173 h 174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187"/>
                  <a:gd name="T187" fmla="*/ 0 h 174"/>
                  <a:gd name="T188" fmla="*/ 187 w 187"/>
                  <a:gd name="T189" fmla="*/ 174 h 174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187" h="174">
                    <a:moveTo>
                      <a:pt x="180" y="173"/>
                    </a:moveTo>
                    <a:lnTo>
                      <a:pt x="180" y="173"/>
                    </a:lnTo>
                    <a:lnTo>
                      <a:pt x="180" y="172"/>
                    </a:lnTo>
                    <a:lnTo>
                      <a:pt x="182" y="172"/>
                    </a:lnTo>
                    <a:lnTo>
                      <a:pt x="183" y="171"/>
                    </a:lnTo>
                    <a:lnTo>
                      <a:pt x="184" y="171"/>
                    </a:lnTo>
                    <a:lnTo>
                      <a:pt x="184" y="170"/>
                    </a:lnTo>
                    <a:lnTo>
                      <a:pt x="184" y="169"/>
                    </a:lnTo>
                    <a:lnTo>
                      <a:pt x="185" y="169"/>
                    </a:lnTo>
                    <a:lnTo>
                      <a:pt x="185" y="168"/>
                    </a:lnTo>
                    <a:lnTo>
                      <a:pt x="186" y="167"/>
                    </a:lnTo>
                    <a:lnTo>
                      <a:pt x="186" y="6"/>
                    </a:lnTo>
                    <a:lnTo>
                      <a:pt x="186" y="5"/>
                    </a:lnTo>
                    <a:lnTo>
                      <a:pt x="185" y="5"/>
                    </a:lnTo>
                    <a:lnTo>
                      <a:pt x="185" y="3"/>
                    </a:lnTo>
                    <a:lnTo>
                      <a:pt x="184" y="3"/>
                    </a:lnTo>
                    <a:lnTo>
                      <a:pt x="184" y="2"/>
                    </a:lnTo>
                    <a:lnTo>
                      <a:pt x="184" y="1"/>
                    </a:lnTo>
                    <a:lnTo>
                      <a:pt x="183" y="1"/>
                    </a:lnTo>
                    <a:lnTo>
                      <a:pt x="182" y="1"/>
                    </a:lnTo>
                    <a:lnTo>
                      <a:pt x="182" y="0"/>
                    </a:lnTo>
                    <a:lnTo>
                      <a:pt x="180" y="0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167"/>
                    </a:lnTo>
                    <a:lnTo>
                      <a:pt x="0" y="168"/>
                    </a:lnTo>
                    <a:lnTo>
                      <a:pt x="0" y="169"/>
                    </a:lnTo>
                    <a:lnTo>
                      <a:pt x="0" y="170"/>
                    </a:lnTo>
                    <a:lnTo>
                      <a:pt x="1" y="170"/>
                    </a:lnTo>
                    <a:lnTo>
                      <a:pt x="1" y="171"/>
                    </a:lnTo>
                    <a:lnTo>
                      <a:pt x="2" y="171"/>
                    </a:lnTo>
                    <a:lnTo>
                      <a:pt x="2" y="172"/>
                    </a:lnTo>
                    <a:lnTo>
                      <a:pt x="3" y="172"/>
                    </a:lnTo>
                    <a:lnTo>
                      <a:pt x="4" y="173"/>
                    </a:lnTo>
                    <a:lnTo>
                      <a:pt x="5" y="173"/>
                    </a:lnTo>
                    <a:lnTo>
                      <a:pt x="180" y="173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05" name="Freeform 107"/>
              <p:cNvSpPr>
                <a:spLocks/>
              </p:cNvSpPr>
              <p:nvPr/>
            </p:nvSpPr>
            <p:spPr bwMode="auto">
              <a:xfrm>
                <a:off x="3855" y="1281"/>
                <a:ext cx="186" cy="172"/>
              </a:xfrm>
              <a:custGeom>
                <a:avLst/>
                <a:gdLst>
                  <a:gd name="T0" fmla="*/ 185 w 186"/>
                  <a:gd name="T1" fmla="*/ 165 h 172"/>
                  <a:gd name="T2" fmla="*/ 185 w 186"/>
                  <a:gd name="T3" fmla="*/ 166 h 172"/>
                  <a:gd name="T4" fmla="*/ 185 w 186"/>
                  <a:gd name="T5" fmla="*/ 167 h 172"/>
                  <a:gd name="T6" fmla="*/ 184 w 186"/>
                  <a:gd name="T7" fmla="*/ 167 h 172"/>
                  <a:gd name="T8" fmla="*/ 184 w 186"/>
                  <a:gd name="T9" fmla="*/ 168 h 172"/>
                  <a:gd name="T10" fmla="*/ 183 w 186"/>
                  <a:gd name="T11" fmla="*/ 169 h 172"/>
                  <a:gd name="T12" fmla="*/ 183 w 186"/>
                  <a:gd name="T13" fmla="*/ 169 h 172"/>
                  <a:gd name="T14" fmla="*/ 182 w 186"/>
                  <a:gd name="T15" fmla="*/ 170 h 172"/>
                  <a:gd name="T16" fmla="*/ 182 w 186"/>
                  <a:gd name="T17" fmla="*/ 170 h 172"/>
                  <a:gd name="T18" fmla="*/ 181 w 186"/>
                  <a:gd name="T19" fmla="*/ 170 h 172"/>
                  <a:gd name="T20" fmla="*/ 181 w 186"/>
                  <a:gd name="T21" fmla="*/ 171 h 172"/>
                  <a:gd name="T22" fmla="*/ 180 w 186"/>
                  <a:gd name="T23" fmla="*/ 171 h 172"/>
                  <a:gd name="T24" fmla="*/ 179 w 186"/>
                  <a:gd name="T25" fmla="*/ 171 h 172"/>
                  <a:gd name="T26" fmla="*/ 4 w 186"/>
                  <a:gd name="T27" fmla="*/ 171 h 172"/>
                  <a:gd name="T28" fmla="*/ 3 w 186"/>
                  <a:gd name="T29" fmla="*/ 171 h 172"/>
                  <a:gd name="T30" fmla="*/ 3 w 186"/>
                  <a:gd name="T31" fmla="*/ 171 h 172"/>
                  <a:gd name="T32" fmla="*/ 3 w 186"/>
                  <a:gd name="T33" fmla="*/ 170 h 172"/>
                  <a:gd name="T34" fmla="*/ 2 w 186"/>
                  <a:gd name="T35" fmla="*/ 170 h 172"/>
                  <a:gd name="T36" fmla="*/ 2 w 186"/>
                  <a:gd name="T37" fmla="*/ 170 h 172"/>
                  <a:gd name="T38" fmla="*/ 1 w 186"/>
                  <a:gd name="T39" fmla="*/ 169 h 172"/>
                  <a:gd name="T40" fmla="*/ 1 w 186"/>
                  <a:gd name="T41" fmla="*/ 169 h 172"/>
                  <a:gd name="T42" fmla="*/ 0 w 186"/>
                  <a:gd name="T43" fmla="*/ 169 h 172"/>
                  <a:gd name="T44" fmla="*/ 0 w 186"/>
                  <a:gd name="T45" fmla="*/ 168 h 172"/>
                  <a:gd name="T46" fmla="*/ 0 w 186"/>
                  <a:gd name="T47" fmla="*/ 167 h 172"/>
                  <a:gd name="T48" fmla="*/ 0 w 186"/>
                  <a:gd name="T49" fmla="*/ 167 h 172"/>
                  <a:gd name="T50" fmla="*/ 0 w 186"/>
                  <a:gd name="T51" fmla="*/ 166 h 172"/>
                  <a:gd name="T52" fmla="*/ 0 w 186"/>
                  <a:gd name="T53" fmla="*/ 165 h 172"/>
                  <a:gd name="T54" fmla="*/ 0 w 186"/>
                  <a:gd name="T55" fmla="*/ 5 h 172"/>
                  <a:gd name="T56" fmla="*/ 0 w 186"/>
                  <a:gd name="T57" fmla="*/ 4 h 172"/>
                  <a:gd name="T58" fmla="*/ 0 w 186"/>
                  <a:gd name="T59" fmla="*/ 3 h 172"/>
                  <a:gd name="T60" fmla="*/ 0 w 186"/>
                  <a:gd name="T61" fmla="*/ 3 h 172"/>
                  <a:gd name="T62" fmla="*/ 0 w 186"/>
                  <a:gd name="T63" fmla="*/ 2 h 172"/>
                  <a:gd name="T64" fmla="*/ 0 w 186"/>
                  <a:gd name="T65" fmla="*/ 2 h 172"/>
                  <a:gd name="T66" fmla="*/ 1 w 186"/>
                  <a:gd name="T67" fmla="*/ 1 h 172"/>
                  <a:gd name="T68" fmla="*/ 1 w 186"/>
                  <a:gd name="T69" fmla="*/ 1 h 172"/>
                  <a:gd name="T70" fmla="*/ 2 w 186"/>
                  <a:gd name="T71" fmla="*/ 1 h 172"/>
                  <a:gd name="T72" fmla="*/ 2 w 186"/>
                  <a:gd name="T73" fmla="*/ 0 h 172"/>
                  <a:gd name="T74" fmla="*/ 2 w 186"/>
                  <a:gd name="T75" fmla="*/ 0 h 172"/>
                  <a:gd name="T76" fmla="*/ 3 w 186"/>
                  <a:gd name="T77" fmla="*/ 0 h 172"/>
                  <a:gd name="T78" fmla="*/ 3 w 186"/>
                  <a:gd name="T79" fmla="*/ 0 h 172"/>
                  <a:gd name="T80" fmla="*/ 4 w 186"/>
                  <a:gd name="T81" fmla="*/ 0 h 172"/>
                  <a:gd name="T82" fmla="*/ 179 w 186"/>
                  <a:gd name="T83" fmla="*/ 0 h 172"/>
                  <a:gd name="T84" fmla="*/ 180 w 186"/>
                  <a:gd name="T85" fmla="*/ 0 h 172"/>
                  <a:gd name="T86" fmla="*/ 181 w 186"/>
                  <a:gd name="T87" fmla="*/ 0 h 172"/>
                  <a:gd name="T88" fmla="*/ 181 w 186"/>
                  <a:gd name="T89" fmla="*/ 0 h 172"/>
                  <a:gd name="T90" fmla="*/ 182 w 186"/>
                  <a:gd name="T91" fmla="*/ 0 h 172"/>
                  <a:gd name="T92" fmla="*/ 182 w 186"/>
                  <a:gd name="T93" fmla="*/ 1 h 172"/>
                  <a:gd name="T94" fmla="*/ 183 w 186"/>
                  <a:gd name="T95" fmla="*/ 1 h 172"/>
                  <a:gd name="T96" fmla="*/ 183 w 186"/>
                  <a:gd name="T97" fmla="*/ 1 h 172"/>
                  <a:gd name="T98" fmla="*/ 183 w 186"/>
                  <a:gd name="T99" fmla="*/ 2 h 172"/>
                  <a:gd name="T100" fmla="*/ 184 w 186"/>
                  <a:gd name="T101" fmla="*/ 2 h 172"/>
                  <a:gd name="T102" fmla="*/ 184 w 186"/>
                  <a:gd name="T103" fmla="*/ 3 h 172"/>
                  <a:gd name="T104" fmla="*/ 185 w 186"/>
                  <a:gd name="T105" fmla="*/ 3 h 172"/>
                  <a:gd name="T106" fmla="*/ 185 w 186"/>
                  <a:gd name="T107" fmla="*/ 4 h 172"/>
                  <a:gd name="T108" fmla="*/ 185 w 186"/>
                  <a:gd name="T109" fmla="*/ 5 h 172"/>
                  <a:gd name="T110" fmla="*/ 185 w 186"/>
                  <a:gd name="T111" fmla="*/ 165 h 172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186"/>
                  <a:gd name="T169" fmla="*/ 0 h 172"/>
                  <a:gd name="T170" fmla="*/ 186 w 186"/>
                  <a:gd name="T171" fmla="*/ 172 h 172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186" h="172">
                    <a:moveTo>
                      <a:pt x="185" y="165"/>
                    </a:moveTo>
                    <a:lnTo>
                      <a:pt x="185" y="166"/>
                    </a:lnTo>
                    <a:lnTo>
                      <a:pt x="185" y="167"/>
                    </a:lnTo>
                    <a:lnTo>
                      <a:pt x="184" y="167"/>
                    </a:lnTo>
                    <a:lnTo>
                      <a:pt x="184" y="168"/>
                    </a:lnTo>
                    <a:lnTo>
                      <a:pt x="183" y="169"/>
                    </a:lnTo>
                    <a:lnTo>
                      <a:pt x="182" y="170"/>
                    </a:lnTo>
                    <a:lnTo>
                      <a:pt x="181" y="170"/>
                    </a:lnTo>
                    <a:lnTo>
                      <a:pt x="181" y="171"/>
                    </a:lnTo>
                    <a:lnTo>
                      <a:pt x="180" y="171"/>
                    </a:lnTo>
                    <a:lnTo>
                      <a:pt x="179" y="171"/>
                    </a:lnTo>
                    <a:lnTo>
                      <a:pt x="4" y="171"/>
                    </a:lnTo>
                    <a:lnTo>
                      <a:pt x="3" y="171"/>
                    </a:lnTo>
                    <a:lnTo>
                      <a:pt x="3" y="170"/>
                    </a:lnTo>
                    <a:lnTo>
                      <a:pt x="2" y="170"/>
                    </a:lnTo>
                    <a:lnTo>
                      <a:pt x="1" y="169"/>
                    </a:lnTo>
                    <a:lnTo>
                      <a:pt x="0" y="169"/>
                    </a:lnTo>
                    <a:lnTo>
                      <a:pt x="0" y="168"/>
                    </a:lnTo>
                    <a:lnTo>
                      <a:pt x="0" y="167"/>
                    </a:lnTo>
                    <a:lnTo>
                      <a:pt x="0" y="166"/>
                    </a:lnTo>
                    <a:lnTo>
                      <a:pt x="0" y="165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179" y="0"/>
                    </a:lnTo>
                    <a:lnTo>
                      <a:pt x="180" y="0"/>
                    </a:lnTo>
                    <a:lnTo>
                      <a:pt x="181" y="0"/>
                    </a:lnTo>
                    <a:lnTo>
                      <a:pt x="182" y="0"/>
                    </a:lnTo>
                    <a:lnTo>
                      <a:pt x="182" y="1"/>
                    </a:lnTo>
                    <a:lnTo>
                      <a:pt x="183" y="1"/>
                    </a:lnTo>
                    <a:lnTo>
                      <a:pt x="183" y="2"/>
                    </a:lnTo>
                    <a:lnTo>
                      <a:pt x="184" y="2"/>
                    </a:lnTo>
                    <a:lnTo>
                      <a:pt x="184" y="3"/>
                    </a:lnTo>
                    <a:lnTo>
                      <a:pt x="185" y="3"/>
                    </a:lnTo>
                    <a:lnTo>
                      <a:pt x="185" y="4"/>
                    </a:lnTo>
                    <a:lnTo>
                      <a:pt x="185" y="5"/>
                    </a:lnTo>
                    <a:lnTo>
                      <a:pt x="185" y="165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06" name="Freeform 108"/>
              <p:cNvSpPr>
                <a:spLocks/>
              </p:cNvSpPr>
              <p:nvPr/>
            </p:nvSpPr>
            <p:spPr bwMode="auto">
              <a:xfrm>
                <a:off x="3857" y="1281"/>
                <a:ext cx="181" cy="171"/>
              </a:xfrm>
              <a:custGeom>
                <a:avLst/>
                <a:gdLst>
                  <a:gd name="T0" fmla="*/ 180 w 181"/>
                  <a:gd name="T1" fmla="*/ 3 h 171"/>
                  <a:gd name="T2" fmla="*/ 180 w 181"/>
                  <a:gd name="T3" fmla="*/ 3 h 171"/>
                  <a:gd name="T4" fmla="*/ 180 w 181"/>
                  <a:gd name="T5" fmla="*/ 2 h 171"/>
                  <a:gd name="T6" fmla="*/ 179 w 181"/>
                  <a:gd name="T7" fmla="*/ 2 h 171"/>
                  <a:gd name="T8" fmla="*/ 179 w 181"/>
                  <a:gd name="T9" fmla="*/ 1 h 171"/>
                  <a:gd name="T10" fmla="*/ 178 w 181"/>
                  <a:gd name="T11" fmla="*/ 1 h 171"/>
                  <a:gd name="T12" fmla="*/ 178 w 181"/>
                  <a:gd name="T13" fmla="*/ 0 h 171"/>
                  <a:gd name="T14" fmla="*/ 177 w 181"/>
                  <a:gd name="T15" fmla="*/ 0 h 171"/>
                  <a:gd name="T16" fmla="*/ 177 w 181"/>
                  <a:gd name="T17" fmla="*/ 0 h 171"/>
                  <a:gd name="T18" fmla="*/ 177 w 181"/>
                  <a:gd name="T19" fmla="*/ 0 h 171"/>
                  <a:gd name="T20" fmla="*/ 176 w 181"/>
                  <a:gd name="T21" fmla="*/ 0 h 171"/>
                  <a:gd name="T22" fmla="*/ 176 w 181"/>
                  <a:gd name="T23" fmla="*/ 0 h 171"/>
                  <a:gd name="T24" fmla="*/ 3 w 181"/>
                  <a:gd name="T25" fmla="*/ 0 h 171"/>
                  <a:gd name="T26" fmla="*/ 3 w 181"/>
                  <a:gd name="T27" fmla="*/ 0 h 171"/>
                  <a:gd name="T28" fmla="*/ 2 w 181"/>
                  <a:gd name="T29" fmla="*/ 0 h 171"/>
                  <a:gd name="T30" fmla="*/ 2 w 181"/>
                  <a:gd name="T31" fmla="*/ 0 h 171"/>
                  <a:gd name="T32" fmla="*/ 1 w 181"/>
                  <a:gd name="T33" fmla="*/ 0 h 171"/>
                  <a:gd name="T34" fmla="*/ 1 w 181"/>
                  <a:gd name="T35" fmla="*/ 0 h 171"/>
                  <a:gd name="T36" fmla="*/ 1 w 181"/>
                  <a:gd name="T37" fmla="*/ 1 h 171"/>
                  <a:gd name="T38" fmla="*/ 0 w 181"/>
                  <a:gd name="T39" fmla="*/ 1 h 171"/>
                  <a:gd name="T40" fmla="*/ 0 w 181"/>
                  <a:gd name="T41" fmla="*/ 1 h 171"/>
                  <a:gd name="T42" fmla="*/ 0 w 181"/>
                  <a:gd name="T43" fmla="*/ 2 h 171"/>
                  <a:gd name="T44" fmla="*/ 0 w 181"/>
                  <a:gd name="T45" fmla="*/ 3 h 171"/>
                  <a:gd name="T46" fmla="*/ 0 w 181"/>
                  <a:gd name="T47" fmla="*/ 3 h 171"/>
                  <a:gd name="T48" fmla="*/ 0 w 181"/>
                  <a:gd name="T49" fmla="*/ 166 h 171"/>
                  <a:gd name="T50" fmla="*/ 0 w 181"/>
                  <a:gd name="T51" fmla="*/ 166 h 171"/>
                  <a:gd name="T52" fmla="*/ 0 w 181"/>
                  <a:gd name="T53" fmla="*/ 167 h 171"/>
                  <a:gd name="T54" fmla="*/ 0 w 181"/>
                  <a:gd name="T55" fmla="*/ 168 h 171"/>
                  <a:gd name="T56" fmla="*/ 0 w 181"/>
                  <a:gd name="T57" fmla="*/ 168 h 171"/>
                  <a:gd name="T58" fmla="*/ 1 w 181"/>
                  <a:gd name="T59" fmla="*/ 168 h 171"/>
                  <a:gd name="T60" fmla="*/ 1 w 181"/>
                  <a:gd name="T61" fmla="*/ 169 h 171"/>
                  <a:gd name="T62" fmla="*/ 2 w 181"/>
                  <a:gd name="T63" fmla="*/ 169 h 171"/>
                  <a:gd name="T64" fmla="*/ 2 w 181"/>
                  <a:gd name="T65" fmla="*/ 169 h 171"/>
                  <a:gd name="T66" fmla="*/ 3 w 181"/>
                  <a:gd name="T67" fmla="*/ 170 h 171"/>
                  <a:gd name="T68" fmla="*/ 3 w 181"/>
                  <a:gd name="T69" fmla="*/ 170 h 171"/>
                  <a:gd name="T70" fmla="*/ 176 w 181"/>
                  <a:gd name="T71" fmla="*/ 170 h 171"/>
                  <a:gd name="T72" fmla="*/ 176 w 181"/>
                  <a:gd name="T73" fmla="*/ 169 h 171"/>
                  <a:gd name="T74" fmla="*/ 177 w 181"/>
                  <a:gd name="T75" fmla="*/ 169 h 171"/>
                  <a:gd name="T76" fmla="*/ 177 w 181"/>
                  <a:gd name="T77" fmla="*/ 169 h 171"/>
                  <a:gd name="T78" fmla="*/ 178 w 181"/>
                  <a:gd name="T79" fmla="*/ 169 h 171"/>
                  <a:gd name="T80" fmla="*/ 178 w 181"/>
                  <a:gd name="T81" fmla="*/ 168 h 171"/>
                  <a:gd name="T82" fmla="*/ 178 w 181"/>
                  <a:gd name="T83" fmla="*/ 168 h 171"/>
                  <a:gd name="T84" fmla="*/ 179 w 181"/>
                  <a:gd name="T85" fmla="*/ 168 h 171"/>
                  <a:gd name="T86" fmla="*/ 179 w 181"/>
                  <a:gd name="T87" fmla="*/ 167 h 171"/>
                  <a:gd name="T88" fmla="*/ 180 w 181"/>
                  <a:gd name="T89" fmla="*/ 166 h 171"/>
                  <a:gd name="T90" fmla="*/ 180 w 181"/>
                  <a:gd name="T91" fmla="*/ 166 h 171"/>
                  <a:gd name="T92" fmla="*/ 180 w 181"/>
                  <a:gd name="T93" fmla="*/ 3 h 171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181"/>
                  <a:gd name="T142" fmla="*/ 0 h 171"/>
                  <a:gd name="T143" fmla="*/ 181 w 181"/>
                  <a:gd name="T144" fmla="*/ 171 h 171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181" h="171">
                    <a:moveTo>
                      <a:pt x="180" y="3"/>
                    </a:moveTo>
                    <a:lnTo>
                      <a:pt x="180" y="3"/>
                    </a:lnTo>
                    <a:lnTo>
                      <a:pt x="180" y="2"/>
                    </a:lnTo>
                    <a:lnTo>
                      <a:pt x="179" y="2"/>
                    </a:lnTo>
                    <a:lnTo>
                      <a:pt x="179" y="1"/>
                    </a:lnTo>
                    <a:lnTo>
                      <a:pt x="178" y="1"/>
                    </a:lnTo>
                    <a:lnTo>
                      <a:pt x="178" y="0"/>
                    </a:lnTo>
                    <a:lnTo>
                      <a:pt x="177" y="0"/>
                    </a:lnTo>
                    <a:lnTo>
                      <a:pt x="176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166"/>
                    </a:lnTo>
                    <a:lnTo>
                      <a:pt x="0" y="167"/>
                    </a:lnTo>
                    <a:lnTo>
                      <a:pt x="0" y="168"/>
                    </a:lnTo>
                    <a:lnTo>
                      <a:pt x="1" y="168"/>
                    </a:lnTo>
                    <a:lnTo>
                      <a:pt x="1" y="169"/>
                    </a:lnTo>
                    <a:lnTo>
                      <a:pt x="2" y="169"/>
                    </a:lnTo>
                    <a:lnTo>
                      <a:pt x="3" y="170"/>
                    </a:lnTo>
                    <a:lnTo>
                      <a:pt x="176" y="170"/>
                    </a:lnTo>
                    <a:lnTo>
                      <a:pt x="176" y="169"/>
                    </a:lnTo>
                    <a:lnTo>
                      <a:pt x="177" y="169"/>
                    </a:lnTo>
                    <a:lnTo>
                      <a:pt x="178" y="169"/>
                    </a:lnTo>
                    <a:lnTo>
                      <a:pt x="178" y="168"/>
                    </a:lnTo>
                    <a:lnTo>
                      <a:pt x="179" y="168"/>
                    </a:lnTo>
                    <a:lnTo>
                      <a:pt x="179" y="167"/>
                    </a:lnTo>
                    <a:lnTo>
                      <a:pt x="180" y="166"/>
                    </a:lnTo>
                    <a:lnTo>
                      <a:pt x="180" y="3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9999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07" name="Freeform 109"/>
              <p:cNvSpPr>
                <a:spLocks/>
              </p:cNvSpPr>
              <p:nvPr/>
            </p:nvSpPr>
            <p:spPr bwMode="auto">
              <a:xfrm>
                <a:off x="3858" y="1282"/>
                <a:ext cx="180" cy="168"/>
              </a:xfrm>
              <a:custGeom>
                <a:avLst/>
                <a:gdLst>
                  <a:gd name="T0" fmla="*/ 179 w 180"/>
                  <a:gd name="T1" fmla="*/ 163 h 168"/>
                  <a:gd name="T2" fmla="*/ 179 w 180"/>
                  <a:gd name="T3" fmla="*/ 164 h 168"/>
                  <a:gd name="T4" fmla="*/ 178 w 180"/>
                  <a:gd name="T5" fmla="*/ 165 h 168"/>
                  <a:gd name="T6" fmla="*/ 178 w 180"/>
                  <a:gd name="T7" fmla="*/ 165 h 168"/>
                  <a:gd name="T8" fmla="*/ 177 w 180"/>
                  <a:gd name="T9" fmla="*/ 166 h 168"/>
                  <a:gd name="T10" fmla="*/ 177 w 180"/>
                  <a:gd name="T11" fmla="*/ 166 h 168"/>
                  <a:gd name="T12" fmla="*/ 176 w 180"/>
                  <a:gd name="T13" fmla="*/ 167 h 168"/>
                  <a:gd name="T14" fmla="*/ 176 w 180"/>
                  <a:gd name="T15" fmla="*/ 167 h 168"/>
                  <a:gd name="T16" fmla="*/ 2 w 180"/>
                  <a:gd name="T17" fmla="*/ 167 h 168"/>
                  <a:gd name="T18" fmla="*/ 2 w 180"/>
                  <a:gd name="T19" fmla="*/ 167 h 168"/>
                  <a:gd name="T20" fmla="*/ 1 w 180"/>
                  <a:gd name="T21" fmla="*/ 167 h 168"/>
                  <a:gd name="T22" fmla="*/ 1 w 180"/>
                  <a:gd name="T23" fmla="*/ 166 h 168"/>
                  <a:gd name="T24" fmla="*/ 1 w 180"/>
                  <a:gd name="T25" fmla="*/ 166 h 168"/>
                  <a:gd name="T26" fmla="*/ 0 w 180"/>
                  <a:gd name="T27" fmla="*/ 166 h 168"/>
                  <a:gd name="T28" fmla="*/ 0 w 180"/>
                  <a:gd name="T29" fmla="*/ 165 h 168"/>
                  <a:gd name="T30" fmla="*/ 0 w 180"/>
                  <a:gd name="T31" fmla="*/ 165 h 168"/>
                  <a:gd name="T32" fmla="*/ 0 w 180"/>
                  <a:gd name="T33" fmla="*/ 165 h 168"/>
                  <a:gd name="T34" fmla="*/ 0 w 180"/>
                  <a:gd name="T35" fmla="*/ 164 h 168"/>
                  <a:gd name="T36" fmla="*/ 0 w 180"/>
                  <a:gd name="T37" fmla="*/ 163 h 168"/>
                  <a:gd name="T38" fmla="*/ 0 w 180"/>
                  <a:gd name="T39" fmla="*/ 3 h 168"/>
                  <a:gd name="T40" fmla="*/ 0 w 180"/>
                  <a:gd name="T41" fmla="*/ 2 h 168"/>
                  <a:gd name="T42" fmla="*/ 0 w 180"/>
                  <a:gd name="T43" fmla="*/ 1 h 168"/>
                  <a:gd name="T44" fmla="*/ 0 w 180"/>
                  <a:gd name="T45" fmla="*/ 1 h 168"/>
                  <a:gd name="T46" fmla="*/ 0 w 180"/>
                  <a:gd name="T47" fmla="*/ 1 h 168"/>
                  <a:gd name="T48" fmla="*/ 1 w 180"/>
                  <a:gd name="T49" fmla="*/ 0 h 168"/>
                  <a:gd name="T50" fmla="*/ 1 w 180"/>
                  <a:gd name="T51" fmla="*/ 0 h 168"/>
                  <a:gd name="T52" fmla="*/ 2 w 180"/>
                  <a:gd name="T53" fmla="*/ 0 h 168"/>
                  <a:gd name="T54" fmla="*/ 2 w 180"/>
                  <a:gd name="T55" fmla="*/ 0 h 168"/>
                  <a:gd name="T56" fmla="*/ 176 w 180"/>
                  <a:gd name="T57" fmla="*/ 0 h 168"/>
                  <a:gd name="T58" fmla="*/ 176 w 180"/>
                  <a:gd name="T59" fmla="*/ 0 h 168"/>
                  <a:gd name="T60" fmla="*/ 176 w 180"/>
                  <a:gd name="T61" fmla="*/ 0 h 168"/>
                  <a:gd name="T62" fmla="*/ 177 w 180"/>
                  <a:gd name="T63" fmla="*/ 0 h 168"/>
                  <a:gd name="T64" fmla="*/ 177 w 180"/>
                  <a:gd name="T65" fmla="*/ 0 h 168"/>
                  <a:gd name="T66" fmla="*/ 177 w 180"/>
                  <a:gd name="T67" fmla="*/ 1 h 168"/>
                  <a:gd name="T68" fmla="*/ 178 w 180"/>
                  <a:gd name="T69" fmla="*/ 1 h 168"/>
                  <a:gd name="T70" fmla="*/ 178 w 180"/>
                  <a:gd name="T71" fmla="*/ 1 h 168"/>
                  <a:gd name="T72" fmla="*/ 179 w 180"/>
                  <a:gd name="T73" fmla="*/ 2 h 168"/>
                  <a:gd name="T74" fmla="*/ 179 w 180"/>
                  <a:gd name="T75" fmla="*/ 3 h 168"/>
                  <a:gd name="T76" fmla="*/ 179 w 180"/>
                  <a:gd name="T77" fmla="*/ 163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80"/>
                  <a:gd name="T118" fmla="*/ 0 h 168"/>
                  <a:gd name="T119" fmla="*/ 180 w 180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80" h="168">
                    <a:moveTo>
                      <a:pt x="179" y="163"/>
                    </a:moveTo>
                    <a:lnTo>
                      <a:pt x="179" y="164"/>
                    </a:lnTo>
                    <a:lnTo>
                      <a:pt x="178" y="165"/>
                    </a:lnTo>
                    <a:lnTo>
                      <a:pt x="177" y="166"/>
                    </a:lnTo>
                    <a:lnTo>
                      <a:pt x="176" y="167"/>
                    </a:lnTo>
                    <a:lnTo>
                      <a:pt x="2" y="167"/>
                    </a:lnTo>
                    <a:lnTo>
                      <a:pt x="1" y="167"/>
                    </a:lnTo>
                    <a:lnTo>
                      <a:pt x="1" y="166"/>
                    </a:lnTo>
                    <a:lnTo>
                      <a:pt x="0" y="166"/>
                    </a:lnTo>
                    <a:lnTo>
                      <a:pt x="0" y="165"/>
                    </a:lnTo>
                    <a:lnTo>
                      <a:pt x="0" y="164"/>
                    </a:lnTo>
                    <a:lnTo>
                      <a:pt x="0" y="163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176" y="0"/>
                    </a:lnTo>
                    <a:lnTo>
                      <a:pt x="177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2"/>
                    </a:lnTo>
                    <a:lnTo>
                      <a:pt x="179" y="3"/>
                    </a:lnTo>
                    <a:lnTo>
                      <a:pt x="179" y="163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08" name="Freeform 110"/>
              <p:cNvSpPr>
                <a:spLocks/>
              </p:cNvSpPr>
              <p:nvPr/>
            </p:nvSpPr>
            <p:spPr bwMode="auto">
              <a:xfrm>
                <a:off x="3877" y="1304"/>
                <a:ext cx="142" cy="124"/>
              </a:xfrm>
              <a:custGeom>
                <a:avLst/>
                <a:gdLst>
                  <a:gd name="T0" fmla="*/ 0 w 142"/>
                  <a:gd name="T1" fmla="*/ 1 h 124"/>
                  <a:gd name="T2" fmla="*/ 1 w 142"/>
                  <a:gd name="T3" fmla="*/ 1 h 124"/>
                  <a:gd name="T4" fmla="*/ 1 w 142"/>
                  <a:gd name="T5" fmla="*/ 1 h 124"/>
                  <a:gd name="T6" fmla="*/ 2 w 142"/>
                  <a:gd name="T7" fmla="*/ 0 h 124"/>
                  <a:gd name="T8" fmla="*/ 2 w 142"/>
                  <a:gd name="T9" fmla="*/ 0 h 124"/>
                  <a:gd name="T10" fmla="*/ 3 w 142"/>
                  <a:gd name="T11" fmla="*/ 0 h 124"/>
                  <a:gd name="T12" fmla="*/ 3 w 142"/>
                  <a:gd name="T13" fmla="*/ 0 h 124"/>
                  <a:gd name="T14" fmla="*/ 4 w 142"/>
                  <a:gd name="T15" fmla="*/ 0 h 124"/>
                  <a:gd name="T16" fmla="*/ 135 w 142"/>
                  <a:gd name="T17" fmla="*/ 0 h 124"/>
                  <a:gd name="T18" fmla="*/ 136 w 142"/>
                  <a:gd name="T19" fmla="*/ 0 h 124"/>
                  <a:gd name="T20" fmla="*/ 137 w 142"/>
                  <a:gd name="T21" fmla="*/ 0 h 124"/>
                  <a:gd name="T22" fmla="*/ 137 w 142"/>
                  <a:gd name="T23" fmla="*/ 0 h 124"/>
                  <a:gd name="T24" fmla="*/ 138 w 142"/>
                  <a:gd name="T25" fmla="*/ 0 h 124"/>
                  <a:gd name="T26" fmla="*/ 138 w 142"/>
                  <a:gd name="T27" fmla="*/ 1 h 124"/>
                  <a:gd name="T28" fmla="*/ 139 w 142"/>
                  <a:gd name="T29" fmla="*/ 1 h 124"/>
                  <a:gd name="T30" fmla="*/ 139 w 142"/>
                  <a:gd name="T31" fmla="*/ 1 h 124"/>
                  <a:gd name="T32" fmla="*/ 140 w 142"/>
                  <a:gd name="T33" fmla="*/ 2 h 124"/>
                  <a:gd name="T34" fmla="*/ 140 w 142"/>
                  <a:gd name="T35" fmla="*/ 3 h 124"/>
                  <a:gd name="T36" fmla="*/ 141 w 142"/>
                  <a:gd name="T37" fmla="*/ 3 h 124"/>
                  <a:gd name="T38" fmla="*/ 141 w 142"/>
                  <a:gd name="T39" fmla="*/ 4 h 124"/>
                  <a:gd name="T40" fmla="*/ 141 w 142"/>
                  <a:gd name="T41" fmla="*/ 5 h 124"/>
                  <a:gd name="T42" fmla="*/ 141 w 142"/>
                  <a:gd name="T43" fmla="*/ 117 h 124"/>
                  <a:gd name="T44" fmla="*/ 141 w 142"/>
                  <a:gd name="T45" fmla="*/ 119 h 124"/>
                  <a:gd name="T46" fmla="*/ 140 w 142"/>
                  <a:gd name="T47" fmla="*/ 119 h 124"/>
                  <a:gd name="T48" fmla="*/ 140 w 142"/>
                  <a:gd name="T49" fmla="*/ 120 h 124"/>
                  <a:gd name="T50" fmla="*/ 139 w 142"/>
                  <a:gd name="T51" fmla="*/ 121 h 124"/>
                  <a:gd name="T52" fmla="*/ 139 w 142"/>
                  <a:gd name="T53" fmla="*/ 121 h 124"/>
                  <a:gd name="T54" fmla="*/ 138 w 142"/>
                  <a:gd name="T55" fmla="*/ 122 h 124"/>
                  <a:gd name="T56" fmla="*/ 138 w 142"/>
                  <a:gd name="T57" fmla="*/ 122 h 124"/>
                  <a:gd name="T58" fmla="*/ 137 w 142"/>
                  <a:gd name="T59" fmla="*/ 122 h 124"/>
                  <a:gd name="T60" fmla="*/ 137 w 142"/>
                  <a:gd name="T61" fmla="*/ 123 h 124"/>
                  <a:gd name="T62" fmla="*/ 136 w 142"/>
                  <a:gd name="T63" fmla="*/ 123 h 124"/>
                  <a:gd name="T64" fmla="*/ 135 w 142"/>
                  <a:gd name="T65" fmla="*/ 123 h 124"/>
                  <a:gd name="T66" fmla="*/ 4 w 142"/>
                  <a:gd name="T67" fmla="*/ 123 h 124"/>
                  <a:gd name="T68" fmla="*/ 3 w 142"/>
                  <a:gd name="T69" fmla="*/ 123 h 124"/>
                  <a:gd name="T70" fmla="*/ 3 w 142"/>
                  <a:gd name="T71" fmla="*/ 123 h 124"/>
                  <a:gd name="T72" fmla="*/ 2 w 142"/>
                  <a:gd name="T73" fmla="*/ 122 h 124"/>
                  <a:gd name="T74" fmla="*/ 2 w 142"/>
                  <a:gd name="T75" fmla="*/ 122 h 124"/>
                  <a:gd name="T76" fmla="*/ 1 w 142"/>
                  <a:gd name="T77" fmla="*/ 122 h 124"/>
                  <a:gd name="T78" fmla="*/ 1 w 142"/>
                  <a:gd name="T79" fmla="*/ 121 h 124"/>
                  <a:gd name="T80" fmla="*/ 0 w 142"/>
                  <a:gd name="T81" fmla="*/ 121 h 124"/>
                  <a:gd name="T82" fmla="*/ 0 w 142"/>
                  <a:gd name="T83" fmla="*/ 120 h 124"/>
                  <a:gd name="T84" fmla="*/ 0 w 142"/>
                  <a:gd name="T85" fmla="*/ 119 h 124"/>
                  <a:gd name="T86" fmla="*/ 0 w 142"/>
                  <a:gd name="T87" fmla="*/ 119 h 124"/>
                  <a:gd name="T88" fmla="*/ 0 w 142"/>
                  <a:gd name="T89" fmla="*/ 117 h 124"/>
                  <a:gd name="T90" fmla="*/ 0 w 142"/>
                  <a:gd name="T91" fmla="*/ 5 h 124"/>
                  <a:gd name="T92" fmla="*/ 0 w 142"/>
                  <a:gd name="T93" fmla="*/ 4 h 124"/>
                  <a:gd name="T94" fmla="*/ 0 w 142"/>
                  <a:gd name="T95" fmla="*/ 3 h 124"/>
                  <a:gd name="T96" fmla="*/ 0 w 142"/>
                  <a:gd name="T97" fmla="*/ 3 h 124"/>
                  <a:gd name="T98" fmla="*/ 0 w 142"/>
                  <a:gd name="T99" fmla="*/ 2 h 124"/>
                  <a:gd name="T100" fmla="*/ 0 w 142"/>
                  <a:gd name="T101" fmla="*/ 1 h 124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42"/>
                  <a:gd name="T154" fmla="*/ 0 h 124"/>
                  <a:gd name="T155" fmla="*/ 142 w 142"/>
                  <a:gd name="T156" fmla="*/ 124 h 124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42" h="124">
                    <a:moveTo>
                      <a:pt x="0" y="1"/>
                    </a:moveTo>
                    <a:lnTo>
                      <a:pt x="1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8" y="1"/>
                    </a:lnTo>
                    <a:lnTo>
                      <a:pt x="139" y="1"/>
                    </a:lnTo>
                    <a:lnTo>
                      <a:pt x="140" y="2"/>
                    </a:lnTo>
                    <a:lnTo>
                      <a:pt x="140" y="3"/>
                    </a:lnTo>
                    <a:lnTo>
                      <a:pt x="141" y="3"/>
                    </a:lnTo>
                    <a:lnTo>
                      <a:pt x="141" y="4"/>
                    </a:lnTo>
                    <a:lnTo>
                      <a:pt x="141" y="5"/>
                    </a:lnTo>
                    <a:lnTo>
                      <a:pt x="141" y="117"/>
                    </a:lnTo>
                    <a:lnTo>
                      <a:pt x="141" y="119"/>
                    </a:lnTo>
                    <a:lnTo>
                      <a:pt x="140" y="119"/>
                    </a:lnTo>
                    <a:lnTo>
                      <a:pt x="140" y="120"/>
                    </a:lnTo>
                    <a:lnTo>
                      <a:pt x="139" y="121"/>
                    </a:lnTo>
                    <a:lnTo>
                      <a:pt x="138" y="122"/>
                    </a:lnTo>
                    <a:lnTo>
                      <a:pt x="137" y="122"/>
                    </a:lnTo>
                    <a:lnTo>
                      <a:pt x="137" y="123"/>
                    </a:lnTo>
                    <a:lnTo>
                      <a:pt x="136" y="123"/>
                    </a:lnTo>
                    <a:lnTo>
                      <a:pt x="135" y="123"/>
                    </a:lnTo>
                    <a:lnTo>
                      <a:pt x="4" y="123"/>
                    </a:lnTo>
                    <a:lnTo>
                      <a:pt x="3" y="123"/>
                    </a:lnTo>
                    <a:lnTo>
                      <a:pt x="2" y="122"/>
                    </a:lnTo>
                    <a:lnTo>
                      <a:pt x="1" y="122"/>
                    </a:lnTo>
                    <a:lnTo>
                      <a:pt x="1" y="121"/>
                    </a:lnTo>
                    <a:lnTo>
                      <a:pt x="0" y="121"/>
                    </a:lnTo>
                    <a:lnTo>
                      <a:pt x="0" y="120"/>
                    </a:lnTo>
                    <a:lnTo>
                      <a:pt x="0" y="119"/>
                    </a:lnTo>
                    <a:lnTo>
                      <a:pt x="0" y="117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</a:path>
                </a:pathLst>
              </a:custGeom>
              <a:gradFill rotWithShape="0">
                <a:gsLst>
                  <a:gs pos="0">
                    <a:srgbClr val="1D2B4B"/>
                  </a:gs>
                  <a:gs pos="50000">
                    <a:srgbClr val="618FFD"/>
                  </a:gs>
                  <a:gs pos="100000">
                    <a:srgbClr val="1D2B4B"/>
                  </a:gs>
                </a:gsLst>
                <a:lin ang="2700000" scaled="1"/>
              </a:gra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09" name="Freeform 111"/>
              <p:cNvSpPr>
                <a:spLocks/>
              </p:cNvSpPr>
              <p:nvPr/>
            </p:nvSpPr>
            <p:spPr bwMode="auto">
              <a:xfrm>
                <a:off x="3872" y="1298"/>
                <a:ext cx="153" cy="17"/>
              </a:xfrm>
              <a:custGeom>
                <a:avLst/>
                <a:gdLst>
                  <a:gd name="T0" fmla="*/ 152 w 153"/>
                  <a:gd name="T1" fmla="*/ 4 h 17"/>
                  <a:gd name="T2" fmla="*/ 151 w 153"/>
                  <a:gd name="T3" fmla="*/ 3 h 17"/>
                  <a:gd name="T4" fmla="*/ 151 w 153"/>
                  <a:gd name="T5" fmla="*/ 2 h 17"/>
                  <a:gd name="T6" fmla="*/ 150 w 153"/>
                  <a:gd name="T7" fmla="*/ 2 h 17"/>
                  <a:gd name="T8" fmla="*/ 150 w 153"/>
                  <a:gd name="T9" fmla="*/ 2 h 17"/>
                  <a:gd name="T10" fmla="*/ 150 w 153"/>
                  <a:gd name="T11" fmla="*/ 1 h 17"/>
                  <a:gd name="T12" fmla="*/ 149 w 153"/>
                  <a:gd name="T13" fmla="*/ 1 h 17"/>
                  <a:gd name="T14" fmla="*/ 149 w 153"/>
                  <a:gd name="T15" fmla="*/ 1 h 17"/>
                  <a:gd name="T16" fmla="*/ 148 w 153"/>
                  <a:gd name="T17" fmla="*/ 0 h 17"/>
                  <a:gd name="T18" fmla="*/ 148 w 153"/>
                  <a:gd name="T19" fmla="*/ 0 h 17"/>
                  <a:gd name="T20" fmla="*/ 147 w 153"/>
                  <a:gd name="T21" fmla="*/ 0 h 17"/>
                  <a:gd name="T22" fmla="*/ 146 w 153"/>
                  <a:gd name="T23" fmla="*/ 0 h 17"/>
                  <a:gd name="T24" fmla="*/ 3 w 153"/>
                  <a:gd name="T25" fmla="*/ 0 h 17"/>
                  <a:gd name="T26" fmla="*/ 3 w 153"/>
                  <a:gd name="T27" fmla="*/ 0 h 17"/>
                  <a:gd name="T28" fmla="*/ 2 w 153"/>
                  <a:gd name="T29" fmla="*/ 0 h 17"/>
                  <a:gd name="T30" fmla="*/ 1 w 153"/>
                  <a:gd name="T31" fmla="*/ 1 h 17"/>
                  <a:gd name="T32" fmla="*/ 1 w 153"/>
                  <a:gd name="T33" fmla="*/ 1 h 17"/>
                  <a:gd name="T34" fmla="*/ 0 w 153"/>
                  <a:gd name="T35" fmla="*/ 2 h 17"/>
                  <a:gd name="T36" fmla="*/ 0 w 153"/>
                  <a:gd name="T37" fmla="*/ 2 h 17"/>
                  <a:gd name="T38" fmla="*/ 0 w 153"/>
                  <a:gd name="T39" fmla="*/ 3 h 17"/>
                  <a:gd name="T40" fmla="*/ 6 w 153"/>
                  <a:gd name="T41" fmla="*/ 16 h 17"/>
                  <a:gd name="T42" fmla="*/ 7 w 153"/>
                  <a:gd name="T43" fmla="*/ 14 h 17"/>
                  <a:gd name="T44" fmla="*/ 7 w 153"/>
                  <a:gd name="T45" fmla="*/ 14 h 17"/>
                  <a:gd name="T46" fmla="*/ 8 w 153"/>
                  <a:gd name="T47" fmla="*/ 13 h 17"/>
                  <a:gd name="T48" fmla="*/ 8 w 153"/>
                  <a:gd name="T49" fmla="*/ 13 h 17"/>
                  <a:gd name="T50" fmla="*/ 8 w 153"/>
                  <a:gd name="T51" fmla="*/ 12 h 17"/>
                  <a:gd name="T52" fmla="*/ 9 w 153"/>
                  <a:gd name="T53" fmla="*/ 12 h 17"/>
                  <a:gd name="T54" fmla="*/ 10 w 153"/>
                  <a:gd name="T55" fmla="*/ 12 h 17"/>
                  <a:gd name="T56" fmla="*/ 140 w 153"/>
                  <a:gd name="T57" fmla="*/ 12 h 17"/>
                  <a:gd name="T58" fmla="*/ 141 w 153"/>
                  <a:gd name="T59" fmla="*/ 12 h 17"/>
                  <a:gd name="T60" fmla="*/ 142 w 153"/>
                  <a:gd name="T61" fmla="*/ 12 h 17"/>
                  <a:gd name="T62" fmla="*/ 142 w 153"/>
                  <a:gd name="T63" fmla="*/ 13 h 17"/>
                  <a:gd name="T64" fmla="*/ 143 w 153"/>
                  <a:gd name="T65" fmla="*/ 13 h 17"/>
                  <a:gd name="T66" fmla="*/ 143 w 153"/>
                  <a:gd name="T67" fmla="*/ 14 h 17"/>
                  <a:gd name="T68" fmla="*/ 143 w 153"/>
                  <a:gd name="T69" fmla="*/ 14 h 17"/>
                  <a:gd name="T70" fmla="*/ 144 w 153"/>
                  <a:gd name="T71" fmla="*/ 14 h 17"/>
                  <a:gd name="T72" fmla="*/ 152 w 153"/>
                  <a:gd name="T73" fmla="*/ 4 h 1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53"/>
                  <a:gd name="T112" fmla="*/ 0 h 17"/>
                  <a:gd name="T113" fmla="*/ 153 w 153"/>
                  <a:gd name="T114" fmla="*/ 17 h 1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53" h="17">
                    <a:moveTo>
                      <a:pt x="152" y="4"/>
                    </a:moveTo>
                    <a:lnTo>
                      <a:pt x="151" y="3"/>
                    </a:lnTo>
                    <a:lnTo>
                      <a:pt x="151" y="2"/>
                    </a:lnTo>
                    <a:lnTo>
                      <a:pt x="150" y="2"/>
                    </a:lnTo>
                    <a:lnTo>
                      <a:pt x="150" y="1"/>
                    </a:lnTo>
                    <a:lnTo>
                      <a:pt x="149" y="1"/>
                    </a:lnTo>
                    <a:lnTo>
                      <a:pt x="148" y="0"/>
                    </a:lnTo>
                    <a:lnTo>
                      <a:pt x="147" y="0"/>
                    </a:lnTo>
                    <a:lnTo>
                      <a:pt x="146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6" y="16"/>
                    </a:lnTo>
                    <a:lnTo>
                      <a:pt x="7" y="14"/>
                    </a:lnTo>
                    <a:lnTo>
                      <a:pt x="8" y="13"/>
                    </a:lnTo>
                    <a:lnTo>
                      <a:pt x="8" y="12"/>
                    </a:lnTo>
                    <a:lnTo>
                      <a:pt x="9" y="12"/>
                    </a:lnTo>
                    <a:lnTo>
                      <a:pt x="10" y="12"/>
                    </a:lnTo>
                    <a:lnTo>
                      <a:pt x="140" y="12"/>
                    </a:lnTo>
                    <a:lnTo>
                      <a:pt x="141" y="12"/>
                    </a:lnTo>
                    <a:lnTo>
                      <a:pt x="142" y="12"/>
                    </a:lnTo>
                    <a:lnTo>
                      <a:pt x="142" y="13"/>
                    </a:lnTo>
                    <a:lnTo>
                      <a:pt x="143" y="13"/>
                    </a:lnTo>
                    <a:lnTo>
                      <a:pt x="143" y="14"/>
                    </a:lnTo>
                    <a:lnTo>
                      <a:pt x="144" y="14"/>
                    </a:lnTo>
                    <a:lnTo>
                      <a:pt x="152" y="4"/>
                    </a:lnTo>
                  </a:path>
                </a:pathLst>
              </a:custGeom>
              <a:solidFill>
                <a:srgbClr val="9F9FA2"/>
              </a:solidFill>
              <a:ln w="12700" cap="rnd">
                <a:solidFill>
                  <a:srgbClr val="9F9FA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10" name="Freeform 112"/>
              <p:cNvSpPr>
                <a:spLocks/>
              </p:cNvSpPr>
              <p:nvPr/>
            </p:nvSpPr>
            <p:spPr bwMode="auto">
              <a:xfrm>
                <a:off x="3870" y="1299"/>
                <a:ext cx="17" cy="135"/>
              </a:xfrm>
              <a:custGeom>
                <a:avLst/>
                <a:gdLst>
                  <a:gd name="T0" fmla="*/ 2 w 17"/>
                  <a:gd name="T1" fmla="*/ 0 h 135"/>
                  <a:gd name="T2" fmla="*/ 1 w 17"/>
                  <a:gd name="T3" fmla="*/ 0 h 135"/>
                  <a:gd name="T4" fmla="*/ 0 w 17"/>
                  <a:gd name="T5" fmla="*/ 1 h 135"/>
                  <a:gd name="T6" fmla="*/ 0 w 17"/>
                  <a:gd name="T7" fmla="*/ 2 h 135"/>
                  <a:gd name="T8" fmla="*/ 0 w 17"/>
                  <a:gd name="T9" fmla="*/ 2 h 135"/>
                  <a:gd name="T10" fmla="*/ 0 w 17"/>
                  <a:gd name="T11" fmla="*/ 3 h 135"/>
                  <a:gd name="T12" fmla="*/ 0 w 17"/>
                  <a:gd name="T13" fmla="*/ 4 h 135"/>
                  <a:gd name="T14" fmla="*/ 0 w 17"/>
                  <a:gd name="T15" fmla="*/ 130 h 135"/>
                  <a:gd name="T16" fmla="*/ 0 w 17"/>
                  <a:gd name="T17" fmla="*/ 130 h 135"/>
                  <a:gd name="T18" fmla="*/ 0 w 17"/>
                  <a:gd name="T19" fmla="*/ 131 h 135"/>
                  <a:gd name="T20" fmla="*/ 0 w 17"/>
                  <a:gd name="T21" fmla="*/ 132 h 135"/>
                  <a:gd name="T22" fmla="*/ 0 w 17"/>
                  <a:gd name="T23" fmla="*/ 132 h 135"/>
                  <a:gd name="T24" fmla="*/ 1 w 17"/>
                  <a:gd name="T25" fmla="*/ 133 h 135"/>
                  <a:gd name="T26" fmla="*/ 2 w 17"/>
                  <a:gd name="T27" fmla="*/ 133 h 135"/>
                  <a:gd name="T28" fmla="*/ 2 w 17"/>
                  <a:gd name="T29" fmla="*/ 134 h 135"/>
                  <a:gd name="T30" fmla="*/ 3 w 17"/>
                  <a:gd name="T31" fmla="*/ 134 h 135"/>
                  <a:gd name="T32" fmla="*/ 16 w 17"/>
                  <a:gd name="T33" fmla="*/ 127 h 135"/>
                  <a:gd name="T34" fmla="*/ 15 w 17"/>
                  <a:gd name="T35" fmla="*/ 126 h 135"/>
                  <a:gd name="T36" fmla="*/ 15 w 17"/>
                  <a:gd name="T37" fmla="*/ 126 h 135"/>
                  <a:gd name="T38" fmla="*/ 14 w 17"/>
                  <a:gd name="T39" fmla="*/ 126 h 135"/>
                  <a:gd name="T40" fmla="*/ 14 w 17"/>
                  <a:gd name="T41" fmla="*/ 125 h 135"/>
                  <a:gd name="T42" fmla="*/ 13 w 17"/>
                  <a:gd name="T43" fmla="*/ 124 h 135"/>
                  <a:gd name="T44" fmla="*/ 13 w 17"/>
                  <a:gd name="T45" fmla="*/ 124 h 135"/>
                  <a:gd name="T46" fmla="*/ 13 w 17"/>
                  <a:gd name="T47" fmla="*/ 10 h 135"/>
                  <a:gd name="T48" fmla="*/ 13 w 17"/>
                  <a:gd name="T49" fmla="*/ 9 h 135"/>
                  <a:gd name="T50" fmla="*/ 13 w 17"/>
                  <a:gd name="T51" fmla="*/ 8 h 135"/>
                  <a:gd name="T52" fmla="*/ 14 w 17"/>
                  <a:gd name="T53" fmla="*/ 8 h 135"/>
                  <a:gd name="T54" fmla="*/ 15 w 17"/>
                  <a:gd name="T55" fmla="*/ 7 h 135"/>
                  <a:gd name="T56" fmla="*/ 15 w 17"/>
                  <a:gd name="T57" fmla="*/ 6 h 135"/>
                  <a:gd name="T58" fmla="*/ 2 w 17"/>
                  <a:gd name="T59" fmla="*/ 0 h 135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7"/>
                  <a:gd name="T91" fmla="*/ 0 h 135"/>
                  <a:gd name="T92" fmla="*/ 17 w 17"/>
                  <a:gd name="T93" fmla="*/ 135 h 135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7" h="135">
                    <a:moveTo>
                      <a:pt x="2" y="0"/>
                    </a:moveTo>
                    <a:lnTo>
                      <a:pt x="1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0" y="130"/>
                    </a:lnTo>
                    <a:lnTo>
                      <a:pt x="0" y="131"/>
                    </a:lnTo>
                    <a:lnTo>
                      <a:pt x="0" y="132"/>
                    </a:lnTo>
                    <a:lnTo>
                      <a:pt x="1" y="133"/>
                    </a:lnTo>
                    <a:lnTo>
                      <a:pt x="2" y="133"/>
                    </a:lnTo>
                    <a:lnTo>
                      <a:pt x="2" y="134"/>
                    </a:lnTo>
                    <a:lnTo>
                      <a:pt x="3" y="134"/>
                    </a:lnTo>
                    <a:lnTo>
                      <a:pt x="16" y="127"/>
                    </a:lnTo>
                    <a:lnTo>
                      <a:pt x="15" y="126"/>
                    </a:lnTo>
                    <a:lnTo>
                      <a:pt x="14" y="126"/>
                    </a:lnTo>
                    <a:lnTo>
                      <a:pt x="14" y="125"/>
                    </a:lnTo>
                    <a:lnTo>
                      <a:pt x="13" y="124"/>
                    </a:lnTo>
                    <a:lnTo>
                      <a:pt x="13" y="10"/>
                    </a:lnTo>
                    <a:lnTo>
                      <a:pt x="13" y="9"/>
                    </a:lnTo>
                    <a:lnTo>
                      <a:pt x="13" y="8"/>
                    </a:lnTo>
                    <a:lnTo>
                      <a:pt x="14" y="8"/>
                    </a:lnTo>
                    <a:lnTo>
                      <a:pt x="15" y="7"/>
                    </a:lnTo>
                    <a:lnTo>
                      <a:pt x="15" y="6"/>
                    </a:lnTo>
                    <a:lnTo>
                      <a:pt x="2" y="0"/>
                    </a:lnTo>
                  </a:path>
                </a:pathLst>
              </a:custGeom>
              <a:solidFill>
                <a:srgbClr val="666666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11" name="Freeform 113"/>
              <p:cNvSpPr>
                <a:spLocks/>
              </p:cNvSpPr>
              <p:nvPr/>
            </p:nvSpPr>
            <p:spPr bwMode="auto">
              <a:xfrm>
                <a:off x="3872" y="1300"/>
                <a:ext cx="155" cy="136"/>
              </a:xfrm>
              <a:custGeom>
                <a:avLst/>
                <a:gdLst>
                  <a:gd name="T0" fmla="*/ 0 w 155"/>
                  <a:gd name="T1" fmla="*/ 133 h 136"/>
                  <a:gd name="T2" fmla="*/ 0 w 155"/>
                  <a:gd name="T3" fmla="*/ 134 h 136"/>
                  <a:gd name="T4" fmla="*/ 0 w 155"/>
                  <a:gd name="T5" fmla="*/ 134 h 136"/>
                  <a:gd name="T6" fmla="*/ 1 w 155"/>
                  <a:gd name="T7" fmla="*/ 134 h 136"/>
                  <a:gd name="T8" fmla="*/ 1 w 155"/>
                  <a:gd name="T9" fmla="*/ 134 h 136"/>
                  <a:gd name="T10" fmla="*/ 2 w 155"/>
                  <a:gd name="T11" fmla="*/ 135 h 136"/>
                  <a:gd name="T12" fmla="*/ 2 w 155"/>
                  <a:gd name="T13" fmla="*/ 135 h 136"/>
                  <a:gd name="T14" fmla="*/ 3 w 155"/>
                  <a:gd name="T15" fmla="*/ 135 h 136"/>
                  <a:gd name="T16" fmla="*/ 148 w 155"/>
                  <a:gd name="T17" fmla="*/ 135 h 136"/>
                  <a:gd name="T18" fmla="*/ 150 w 155"/>
                  <a:gd name="T19" fmla="*/ 134 h 136"/>
                  <a:gd name="T20" fmla="*/ 151 w 155"/>
                  <a:gd name="T21" fmla="*/ 134 h 136"/>
                  <a:gd name="T22" fmla="*/ 151 w 155"/>
                  <a:gd name="T23" fmla="*/ 133 h 136"/>
                  <a:gd name="T24" fmla="*/ 152 w 155"/>
                  <a:gd name="T25" fmla="*/ 133 h 136"/>
                  <a:gd name="T26" fmla="*/ 152 w 155"/>
                  <a:gd name="T27" fmla="*/ 133 h 136"/>
                  <a:gd name="T28" fmla="*/ 153 w 155"/>
                  <a:gd name="T29" fmla="*/ 132 h 136"/>
                  <a:gd name="T30" fmla="*/ 153 w 155"/>
                  <a:gd name="T31" fmla="*/ 131 h 136"/>
                  <a:gd name="T32" fmla="*/ 154 w 155"/>
                  <a:gd name="T33" fmla="*/ 131 h 136"/>
                  <a:gd name="T34" fmla="*/ 154 w 155"/>
                  <a:gd name="T35" fmla="*/ 129 h 136"/>
                  <a:gd name="T36" fmla="*/ 154 w 155"/>
                  <a:gd name="T37" fmla="*/ 129 h 136"/>
                  <a:gd name="T38" fmla="*/ 154 w 155"/>
                  <a:gd name="T39" fmla="*/ 3 h 136"/>
                  <a:gd name="T40" fmla="*/ 154 w 155"/>
                  <a:gd name="T41" fmla="*/ 2 h 136"/>
                  <a:gd name="T42" fmla="*/ 154 w 155"/>
                  <a:gd name="T43" fmla="*/ 1 h 136"/>
                  <a:gd name="T44" fmla="*/ 154 w 155"/>
                  <a:gd name="T45" fmla="*/ 1 h 136"/>
                  <a:gd name="T46" fmla="*/ 153 w 155"/>
                  <a:gd name="T47" fmla="*/ 1 h 136"/>
                  <a:gd name="T48" fmla="*/ 153 w 155"/>
                  <a:gd name="T49" fmla="*/ 0 h 136"/>
                  <a:gd name="T50" fmla="*/ 153 w 155"/>
                  <a:gd name="T51" fmla="*/ 0 h 136"/>
                  <a:gd name="T52" fmla="*/ 145 w 155"/>
                  <a:gd name="T53" fmla="*/ 5 h 136"/>
                  <a:gd name="T54" fmla="*/ 145 w 155"/>
                  <a:gd name="T55" fmla="*/ 5 h 136"/>
                  <a:gd name="T56" fmla="*/ 146 w 155"/>
                  <a:gd name="T57" fmla="*/ 6 h 136"/>
                  <a:gd name="T58" fmla="*/ 146 w 155"/>
                  <a:gd name="T59" fmla="*/ 7 h 136"/>
                  <a:gd name="T60" fmla="*/ 146 w 155"/>
                  <a:gd name="T61" fmla="*/ 7 h 136"/>
                  <a:gd name="T62" fmla="*/ 146 w 155"/>
                  <a:gd name="T63" fmla="*/ 7 h 136"/>
                  <a:gd name="T64" fmla="*/ 146 w 155"/>
                  <a:gd name="T65" fmla="*/ 8 h 136"/>
                  <a:gd name="T66" fmla="*/ 146 w 155"/>
                  <a:gd name="T67" fmla="*/ 9 h 136"/>
                  <a:gd name="T68" fmla="*/ 146 w 155"/>
                  <a:gd name="T69" fmla="*/ 9 h 136"/>
                  <a:gd name="T70" fmla="*/ 146 w 155"/>
                  <a:gd name="T71" fmla="*/ 123 h 136"/>
                  <a:gd name="T72" fmla="*/ 146 w 155"/>
                  <a:gd name="T73" fmla="*/ 123 h 136"/>
                  <a:gd name="T74" fmla="*/ 146 w 155"/>
                  <a:gd name="T75" fmla="*/ 124 h 136"/>
                  <a:gd name="T76" fmla="*/ 146 w 155"/>
                  <a:gd name="T77" fmla="*/ 125 h 136"/>
                  <a:gd name="T78" fmla="*/ 146 w 155"/>
                  <a:gd name="T79" fmla="*/ 125 h 136"/>
                  <a:gd name="T80" fmla="*/ 145 w 155"/>
                  <a:gd name="T81" fmla="*/ 126 h 136"/>
                  <a:gd name="T82" fmla="*/ 145 w 155"/>
                  <a:gd name="T83" fmla="*/ 127 h 136"/>
                  <a:gd name="T84" fmla="*/ 144 w 155"/>
                  <a:gd name="T85" fmla="*/ 127 h 136"/>
                  <a:gd name="T86" fmla="*/ 143 w 155"/>
                  <a:gd name="T87" fmla="*/ 127 h 136"/>
                  <a:gd name="T88" fmla="*/ 143 w 155"/>
                  <a:gd name="T89" fmla="*/ 128 h 136"/>
                  <a:gd name="T90" fmla="*/ 142 w 155"/>
                  <a:gd name="T91" fmla="*/ 128 h 136"/>
                  <a:gd name="T92" fmla="*/ 142 w 155"/>
                  <a:gd name="T93" fmla="*/ 128 h 136"/>
                  <a:gd name="T94" fmla="*/ 9 w 155"/>
                  <a:gd name="T95" fmla="*/ 128 h 136"/>
                  <a:gd name="T96" fmla="*/ 8 w 155"/>
                  <a:gd name="T97" fmla="*/ 128 h 136"/>
                  <a:gd name="T98" fmla="*/ 8 w 155"/>
                  <a:gd name="T99" fmla="*/ 128 h 136"/>
                  <a:gd name="T100" fmla="*/ 8 w 155"/>
                  <a:gd name="T101" fmla="*/ 127 h 136"/>
                  <a:gd name="T102" fmla="*/ 7 w 155"/>
                  <a:gd name="T103" fmla="*/ 127 h 136"/>
                  <a:gd name="T104" fmla="*/ 7 w 155"/>
                  <a:gd name="T105" fmla="*/ 127 h 136"/>
                  <a:gd name="T106" fmla="*/ 6 w 155"/>
                  <a:gd name="T107" fmla="*/ 127 h 136"/>
                  <a:gd name="T108" fmla="*/ 6 w 155"/>
                  <a:gd name="T109" fmla="*/ 127 h 136"/>
                  <a:gd name="T110" fmla="*/ 0 w 155"/>
                  <a:gd name="T111" fmla="*/ 133 h 1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155"/>
                  <a:gd name="T169" fmla="*/ 0 h 136"/>
                  <a:gd name="T170" fmla="*/ 155 w 155"/>
                  <a:gd name="T171" fmla="*/ 136 h 1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155" h="136">
                    <a:moveTo>
                      <a:pt x="0" y="133"/>
                    </a:moveTo>
                    <a:lnTo>
                      <a:pt x="0" y="134"/>
                    </a:lnTo>
                    <a:lnTo>
                      <a:pt x="1" y="134"/>
                    </a:lnTo>
                    <a:lnTo>
                      <a:pt x="2" y="135"/>
                    </a:lnTo>
                    <a:lnTo>
                      <a:pt x="3" y="135"/>
                    </a:lnTo>
                    <a:lnTo>
                      <a:pt x="148" y="135"/>
                    </a:lnTo>
                    <a:lnTo>
                      <a:pt x="150" y="134"/>
                    </a:lnTo>
                    <a:lnTo>
                      <a:pt x="151" y="134"/>
                    </a:lnTo>
                    <a:lnTo>
                      <a:pt x="151" y="133"/>
                    </a:lnTo>
                    <a:lnTo>
                      <a:pt x="152" y="133"/>
                    </a:lnTo>
                    <a:lnTo>
                      <a:pt x="153" y="132"/>
                    </a:lnTo>
                    <a:lnTo>
                      <a:pt x="153" y="131"/>
                    </a:lnTo>
                    <a:lnTo>
                      <a:pt x="154" y="131"/>
                    </a:lnTo>
                    <a:lnTo>
                      <a:pt x="154" y="129"/>
                    </a:lnTo>
                    <a:lnTo>
                      <a:pt x="154" y="3"/>
                    </a:lnTo>
                    <a:lnTo>
                      <a:pt x="154" y="2"/>
                    </a:lnTo>
                    <a:lnTo>
                      <a:pt x="154" y="1"/>
                    </a:lnTo>
                    <a:lnTo>
                      <a:pt x="153" y="1"/>
                    </a:lnTo>
                    <a:lnTo>
                      <a:pt x="153" y="0"/>
                    </a:lnTo>
                    <a:lnTo>
                      <a:pt x="145" y="5"/>
                    </a:lnTo>
                    <a:lnTo>
                      <a:pt x="146" y="6"/>
                    </a:lnTo>
                    <a:lnTo>
                      <a:pt x="146" y="7"/>
                    </a:lnTo>
                    <a:lnTo>
                      <a:pt x="146" y="8"/>
                    </a:lnTo>
                    <a:lnTo>
                      <a:pt x="146" y="9"/>
                    </a:lnTo>
                    <a:lnTo>
                      <a:pt x="146" y="123"/>
                    </a:lnTo>
                    <a:lnTo>
                      <a:pt x="146" y="124"/>
                    </a:lnTo>
                    <a:lnTo>
                      <a:pt x="146" y="125"/>
                    </a:lnTo>
                    <a:lnTo>
                      <a:pt x="145" y="126"/>
                    </a:lnTo>
                    <a:lnTo>
                      <a:pt x="145" y="127"/>
                    </a:lnTo>
                    <a:lnTo>
                      <a:pt x="144" y="127"/>
                    </a:lnTo>
                    <a:lnTo>
                      <a:pt x="143" y="127"/>
                    </a:lnTo>
                    <a:lnTo>
                      <a:pt x="143" y="128"/>
                    </a:lnTo>
                    <a:lnTo>
                      <a:pt x="142" y="128"/>
                    </a:lnTo>
                    <a:lnTo>
                      <a:pt x="9" y="128"/>
                    </a:lnTo>
                    <a:lnTo>
                      <a:pt x="8" y="128"/>
                    </a:lnTo>
                    <a:lnTo>
                      <a:pt x="8" y="127"/>
                    </a:lnTo>
                    <a:lnTo>
                      <a:pt x="7" y="127"/>
                    </a:lnTo>
                    <a:lnTo>
                      <a:pt x="6" y="127"/>
                    </a:lnTo>
                    <a:lnTo>
                      <a:pt x="0" y="133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9999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12" name="Freeform 114"/>
              <p:cNvSpPr>
                <a:spLocks/>
              </p:cNvSpPr>
              <p:nvPr/>
            </p:nvSpPr>
            <p:spPr bwMode="auto">
              <a:xfrm>
                <a:off x="3872" y="1298"/>
                <a:ext cx="153" cy="17"/>
              </a:xfrm>
              <a:custGeom>
                <a:avLst/>
                <a:gdLst>
                  <a:gd name="T0" fmla="*/ 152 w 153"/>
                  <a:gd name="T1" fmla="*/ 16 h 17"/>
                  <a:gd name="T2" fmla="*/ 151 w 153"/>
                  <a:gd name="T3" fmla="*/ 16 h 17"/>
                  <a:gd name="T4" fmla="*/ 151 w 153"/>
                  <a:gd name="T5" fmla="*/ 10 h 17"/>
                  <a:gd name="T6" fmla="*/ 150 w 153"/>
                  <a:gd name="T7" fmla="*/ 10 h 17"/>
                  <a:gd name="T8" fmla="*/ 150 w 153"/>
                  <a:gd name="T9" fmla="*/ 10 h 17"/>
                  <a:gd name="T10" fmla="*/ 150 w 153"/>
                  <a:gd name="T11" fmla="*/ 5 h 17"/>
                  <a:gd name="T12" fmla="*/ 149 w 153"/>
                  <a:gd name="T13" fmla="*/ 5 h 17"/>
                  <a:gd name="T14" fmla="*/ 149 w 153"/>
                  <a:gd name="T15" fmla="*/ 5 h 17"/>
                  <a:gd name="T16" fmla="*/ 148 w 153"/>
                  <a:gd name="T17" fmla="*/ 0 h 17"/>
                  <a:gd name="T18" fmla="*/ 148 w 153"/>
                  <a:gd name="T19" fmla="*/ 0 h 17"/>
                  <a:gd name="T20" fmla="*/ 147 w 153"/>
                  <a:gd name="T21" fmla="*/ 0 h 17"/>
                  <a:gd name="T22" fmla="*/ 146 w 153"/>
                  <a:gd name="T23" fmla="*/ 0 h 17"/>
                  <a:gd name="T24" fmla="*/ 3 w 153"/>
                  <a:gd name="T25" fmla="*/ 0 h 17"/>
                  <a:gd name="T26" fmla="*/ 3 w 153"/>
                  <a:gd name="T27" fmla="*/ 0 h 17"/>
                  <a:gd name="T28" fmla="*/ 2 w 153"/>
                  <a:gd name="T29" fmla="*/ 0 h 17"/>
                  <a:gd name="T30" fmla="*/ 1 w 153"/>
                  <a:gd name="T31" fmla="*/ 5 h 17"/>
                  <a:gd name="T32" fmla="*/ 1 w 153"/>
                  <a:gd name="T33" fmla="*/ 5 h 17"/>
                  <a:gd name="T34" fmla="*/ 0 w 153"/>
                  <a:gd name="T35" fmla="*/ 10 h 17"/>
                  <a:gd name="T36" fmla="*/ 0 w 153"/>
                  <a:gd name="T37" fmla="*/ 10 h 17"/>
                  <a:gd name="T38" fmla="*/ 0 w 153"/>
                  <a:gd name="T39" fmla="*/ 16 h 1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53"/>
                  <a:gd name="T61" fmla="*/ 0 h 17"/>
                  <a:gd name="T62" fmla="*/ 153 w 153"/>
                  <a:gd name="T63" fmla="*/ 17 h 1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53" h="17">
                    <a:moveTo>
                      <a:pt x="152" y="16"/>
                    </a:moveTo>
                    <a:lnTo>
                      <a:pt x="151" y="16"/>
                    </a:lnTo>
                    <a:lnTo>
                      <a:pt x="151" y="10"/>
                    </a:lnTo>
                    <a:lnTo>
                      <a:pt x="150" y="10"/>
                    </a:lnTo>
                    <a:lnTo>
                      <a:pt x="150" y="5"/>
                    </a:lnTo>
                    <a:lnTo>
                      <a:pt x="149" y="5"/>
                    </a:lnTo>
                    <a:lnTo>
                      <a:pt x="148" y="0"/>
                    </a:lnTo>
                    <a:lnTo>
                      <a:pt x="147" y="0"/>
                    </a:lnTo>
                    <a:lnTo>
                      <a:pt x="146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5"/>
                    </a:lnTo>
                    <a:lnTo>
                      <a:pt x="0" y="10"/>
                    </a:lnTo>
                    <a:lnTo>
                      <a:pt x="0" y="16"/>
                    </a:lnTo>
                  </a:path>
                </a:pathLst>
              </a:custGeom>
              <a:noFill/>
              <a:ln w="12700" cap="rnd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13" name="Freeform 115"/>
              <p:cNvSpPr>
                <a:spLocks/>
              </p:cNvSpPr>
              <p:nvPr/>
            </p:nvSpPr>
            <p:spPr bwMode="auto">
              <a:xfrm>
                <a:off x="3843" y="1489"/>
                <a:ext cx="215" cy="72"/>
              </a:xfrm>
              <a:custGeom>
                <a:avLst/>
                <a:gdLst>
                  <a:gd name="T0" fmla="*/ 0 w 215"/>
                  <a:gd name="T1" fmla="*/ 71 h 72"/>
                  <a:gd name="T2" fmla="*/ 0 w 215"/>
                  <a:gd name="T3" fmla="*/ 0 h 72"/>
                  <a:gd name="T4" fmla="*/ 214 w 215"/>
                  <a:gd name="T5" fmla="*/ 0 h 72"/>
                  <a:gd name="T6" fmla="*/ 214 w 215"/>
                  <a:gd name="T7" fmla="*/ 71 h 72"/>
                  <a:gd name="T8" fmla="*/ 0 w 215"/>
                  <a:gd name="T9" fmla="*/ 71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5"/>
                  <a:gd name="T16" fmla="*/ 0 h 72"/>
                  <a:gd name="T17" fmla="*/ 215 w 215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5" h="72">
                    <a:moveTo>
                      <a:pt x="0" y="71"/>
                    </a:moveTo>
                    <a:lnTo>
                      <a:pt x="0" y="0"/>
                    </a:lnTo>
                    <a:lnTo>
                      <a:pt x="214" y="0"/>
                    </a:lnTo>
                    <a:lnTo>
                      <a:pt x="214" y="71"/>
                    </a:lnTo>
                    <a:lnTo>
                      <a:pt x="0" y="71"/>
                    </a:lnTo>
                  </a:path>
                </a:pathLst>
              </a:cu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14" name="Freeform 116"/>
              <p:cNvSpPr>
                <a:spLocks/>
              </p:cNvSpPr>
              <p:nvPr/>
            </p:nvSpPr>
            <p:spPr bwMode="auto">
              <a:xfrm>
                <a:off x="3841" y="1489"/>
                <a:ext cx="219" cy="23"/>
              </a:xfrm>
              <a:custGeom>
                <a:avLst/>
                <a:gdLst>
                  <a:gd name="T0" fmla="*/ 79 w 219"/>
                  <a:gd name="T1" fmla="*/ 0 h 23"/>
                  <a:gd name="T2" fmla="*/ 0 w 219"/>
                  <a:gd name="T3" fmla="*/ 0 h 23"/>
                  <a:gd name="T4" fmla="*/ 0 w 219"/>
                  <a:gd name="T5" fmla="*/ 22 h 23"/>
                  <a:gd name="T6" fmla="*/ 218 w 219"/>
                  <a:gd name="T7" fmla="*/ 22 h 23"/>
                  <a:gd name="T8" fmla="*/ 215 w 219"/>
                  <a:gd name="T9" fmla="*/ 0 h 23"/>
                  <a:gd name="T10" fmla="*/ 137 w 219"/>
                  <a:gd name="T11" fmla="*/ 0 h 23"/>
                  <a:gd name="T12" fmla="*/ 79 w 219"/>
                  <a:gd name="T13" fmla="*/ 0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19"/>
                  <a:gd name="T22" fmla="*/ 0 h 23"/>
                  <a:gd name="T23" fmla="*/ 219 w 219"/>
                  <a:gd name="T24" fmla="*/ 23 h 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19" h="23">
                    <a:moveTo>
                      <a:pt x="79" y="0"/>
                    </a:moveTo>
                    <a:lnTo>
                      <a:pt x="0" y="0"/>
                    </a:lnTo>
                    <a:lnTo>
                      <a:pt x="0" y="22"/>
                    </a:lnTo>
                    <a:lnTo>
                      <a:pt x="218" y="22"/>
                    </a:lnTo>
                    <a:lnTo>
                      <a:pt x="215" y="0"/>
                    </a:lnTo>
                    <a:lnTo>
                      <a:pt x="137" y="0"/>
                    </a:lnTo>
                    <a:lnTo>
                      <a:pt x="79" y="0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15" name="Freeform 117"/>
              <p:cNvSpPr>
                <a:spLocks/>
              </p:cNvSpPr>
              <p:nvPr/>
            </p:nvSpPr>
            <p:spPr bwMode="auto">
              <a:xfrm>
                <a:off x="3991" y="1495"/>
                <a:ext cx="56" cy="17"/>
              </a:xfrm>
              <a:custGeom>
                <a:avLst/>
                <a:gdLst>
                  <a:gd name="T0" fmla="*/ 0 w 56"/>
                  <a:gd name="T1" fmla="*/ 6 h 17"/>
                  <a:gd name="T2" fmla="*/ 18 w 56"/>
                  <a:gd name="T3" fmla="*/ 6 h 17"/>
                  <a:gd name="T4" fmla="*/ 18 w 56"/>
                  <a:gd name="T5" fmla="*/ 0 h 17"/>
                  <a:gd name="T6" fmla="*/ 35 w 56"/>
                  <a:gd name="T7" fmla="*/ 0 h 17"/>
                  <a:gd name="T8" fmla="*/ 35 w 56"/>
                  <a:gd name="T9" fmla="*/ 6 h 17"/>
                  <a:gd name="T10" fmla="*/ 55 w 56"/>
                  <a:gd name="T11" fmla="*/ 6 h 17"/>
                  <a:gd name="T12" fmla="*/ 55 w 56"/>
                  <a:gd name="T13" fmla="*/ 10 h 17"/>
                  <a:gd name="T14" fmla="*/ 35 w 56"/>
                  <a:gd name="T15" fmla="*/ 10 h 17"/>
                  <a:gd name="T16" fmla="*/ 35 w 56"/>
                  <a:gd name="T17" fmla="*/ 16 h 17"/>
                  <a:gd name="T18" fmla="*/ 18 w 56"/>
                  <a:gd name="T19" fmla="*/ 16 h 17"/>
                  <a:gd name="T20" fmla="*/ 18 w 56"/>
                  <a:gd name="T21" fmla="*/ 10 h 17"/>
                  <a:gd name="T22" fmla="*/ 0 w 56"/>
                  <a:gd name="T23" fmla="*/ 10 h 17"/>
                  <a:gd name="T24" fmla="*/ 0 w 56"/>
                  <a:gd name="T25" fmla="*/ 6 h 1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6"/>
                  <a:gd name="T40" fmla="*/ 0 h 17"/>
                  <a:gd name="T41" fmla="*/ 56 w 56"/>
                  <a:gd name="T42" fmla="*/ 17 h 1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6" h="17">
                    <a:moveTo>
                      <a:pt x="0" y="6"/>
                    </a:moveTo>
                    <a:lnTo>
                      <a:pt x="18" y="6"/>
                    </a:lnTo>
                    <a:lnTo>
                      <a:pt x="18" y="0"/>
                    </a:lnTo>
                    <a:lnTo>
                      <a:pt x="35" y="0"/>
                    </a:lnTo>
                    <a:lnTo>
                      <a:pt x="35" y="6"/>
                    </a:lnTo>
                    <a:lnTo>
                      <a:pt x="55" y="6"/>
                    </a:lnTo>
                    <a:lnTo>
                      <a:pt x="55" y="10"/>
                    </a:lnTo>
                    <a:lnTo>
                      <a:pt x="35" y="10"/>
                    </a:lnTo>
                    <a:lnTo>
                      <a:pt x="35" y="16"/>
                    </a:lnTo>
                    <a:lnTo>
                      <a:pt x="18" y="16"/>
                    </a:lnTo>
                    <a:lnTo>
                      <a:pt x="18" y="10"/>
                    </a:lnTo>
                    <a:lnTo>
                      <a:pt x="0" y="10"/>
                    </a:lnTo>
                    <a:lnTo>
                      <a:pt x="0" y="6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16" name="Freeform 118"/>
              <p:cNvSpPr>
                <a:spLocks/>
              </p:cNvSpPr>
              <p:nvPr/>
            </p:nvSpPr>
            <p:spPr bwMode="auto">
              <a:xfrm>
                <a:off x="3991" y="1501"/>
                <a:ext cx="17" cy="17"/>
              </a:xfrm>
              <a:custGeom>
                <a:avLst/>
                <a:gdLst>
                  <a:gd name="T0" fmla="*/ 0 w 17"/>
                  <a:gd name="T1" fmla="*/ 16 h 17"/>
                  <a:gd name="T2" fmla="*/ 16 w 17"/>
                  <a:gd name="T3" fmla="*/ 10 h 17"/>
                  <a:gd name="T4" fmla="*/ 16 w 17"/>
                  <a:gd name="T5" fmla="*/ 5 h 17"/>
                  <a:gd name="T6" fmla="*/ 0 w 17"/>
                  <a:gd name="T7" fmla="*/ 0 h 1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17"/>
                  <a:gd name="T14" fmla="*/ 17 w 17"/>
                  <a:gd name="T15" fmla="*/ 17 h 1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17">
                    <a:moveTo>
                      <a:pt x="0" y="16"/>
                    </a:moveTo>
                    <a:lnTo>
                      <a:pt x="16" y="10"/>
                    </a:lnTo>
                    <a:lnTo>
                      <a:pt x="16" y="5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rnd">
                <a:solidFill>
                  <a:srgbClr val="EFEFD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17" name="Freeform 119"/>
              <p:cNvSpPr>
                <a:spLocks/>
              </p:cNvSpPr>
              <p:nvPr/>
            </p:nvSpPr>
            <p:spPr bwMode="auto">
              <a:xfrm>
                <a:off x="4010" y="1495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16 w 17"/>
                  <a:gd name="T3" fmla="*/ 16 h 17"/>
                  <a:gd name="T4" fmla="*/ 0 w 17"/>
                  <a:gd name="T5" fmla="*/ 0 h 17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17"/>
                  <a:gd name="T11" fmla="*/ 17 w 17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17">
                    <a:moveTo>
                      <a:pt x="0" y="0"/>
                    </a:moveTo>
                    <a:lnTo>
                      <a:pt x="16" y="16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rnd">
                <a:solidFill>
                  <a:srgbClr val="EFE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18" name="Freeform 120"/>
              <p:cNvSpPr>
                <a:spLocks/>
              </p:cNvSpPr>
              <p:nvPr/>
            </p:nvSpPr>
            <p:spPr bwMode="auto">
              <a:xfrm>
                <a:off x="4046" y="1504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16 w 17"/>
                  <a:gd name="T3" fmla="*/ 16 h 17"/>
                  <a:gd name="T4" fmla="*/ 0 w 17"/>
                  <a:gd name="T5" fmla="*/ 0 h 17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17"/>
                  <a:gd name="T11" fmla="*/ 17 w 17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17">
                    <a:moveTo>
                      <a:pt x="0" y="0"/>
                    </a:moveTo>
                    <a:lnTo>
                      <a:pt x="16" y="16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rnd">
                <a:solidFill>
                  <a:srgbClr val="EFE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19" name="Freeform 121"/>
              <p:cNvSpPr>
                <a:spLocks/>
              </p:cNvSpPr>
              <p:nvPr/>
            </p:nvSpPr>
            <p:spPr bwMode="auto">
              <a:xfrm>
                <a:off x="4027" y="1495"/>
                <a:ext cx="17" cy="17"/>
              </a:xfrm>
              <a:custGeom>
                <a:avLst/>
                <a:gdLst>
                  <a:gd name="T0" fmla="*/ 0 w 17"/>
                  <a:gd name="T1" fmla="*/ 16 h 17"/>
                  <a:gd name="T2" fmla="*/ 16 w 17"/>
                  <a:gd name="T3" fmla="*/ 0 h 17"/>
                  <a:gd name="T4" fmla="*/ 0 w 17"/>
                  <a:gd name="T5" fmla="*/ 16 h 17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17"/>
                  <a:gd name="T11" fmla="*/ 17 w 17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17">
                    <a:moveTo>
                      <a:pt x="0" y="16"/>
                    </a:moveTo>
                    <a:lnTo>
                      <a:pt x="16" y="0"/>
                    </a:lnTo>
                    <a:lnTo>
                      <a:pt x="0" y="16"/>
                    </a:lnTo>
                  </a:path>
                </a:pathLst>
              </a:custGeom>
              <a:noFill/>
              <a:ln w="12700" cap="rnd">
                <a:solidFill>
                  <a:srgbClr val="EFE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20" name="Freeform 122"/>
              <p:cNvSpPr>
                <a:spLocks/>
              </p:cNvSpPr>
              <p:nvPr/>
            </p:nvSpPr>
            <p:spPr bwMode="auto">
              <a:xfrm>
                <a:off x="4011" y="1499"/>
                <a:ext cx="17" cy="17"/>
              </a:xfrm>
              <a:custGeom>
                <a:avLst/>
                <a:gdLst>
                  <a:gd name="T0" fmla="*/ 0 w 17"/>
                  <a:gd name="T1" fmla="*/ 16 h 17"/>
                  <a:gd name="T2" fmla="*/ 16 w 17"/>
                  <a:gd name="T3" fmla="*/ 16 h 17"/>
                  <a:gd name="T4" fmla="*/ 16 w 17"/>
                  <a:gd name="T5" fmla="*/ 0 h 17"/>
                  <a:gd name="T6" fmla="*/ 0 w 17"/>
                  <a:gd name="T7" fmla="*/ 0 h 17"/>
                  <a:gd name="T8" fmla="*/ 0 w 17"/>
                  <a:gd name="T9" fmla="*/ 16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0" y="16"/>
                    </a:moveTo>
                    <a:lnTo>
                      <a:pt x="16" y="16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9F9FA2"/>
              </a:solidFill>
              <a:ln w="12700" cap="rnd">
                <a:solidFill>
                  <a:srgbClr val="9F9FA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21" name="Freeform 123"/>
              <p:cNvSpPr>
                <a:spLocks/>
              </p:cNvSpPr>
              <p:nvPr/>
            </p:nvSpPr>
            <p:spPr bwMode="auto">
              <a:xfrm>
                <a:off x="3993" y="1502"/>
                <a:ext cx="54" cy="17"/>
              </a:xfrm>
              <a:custGeom>
                <a:avLst/>
                <a:gdLst>
                  <a:gd name="T0" fmla="*/ 0 w 54"/>
                  <a:gd name="T1" fmla="*/ 0 h 17"/>
                  <a:gd name="T2" fmla="*/ 53 w 54"/>
                  <a:gd name="T3" fmla="*/ 0 h 17"/>
                  <a:gd name="T4" fmla="*/ 53 w 54"/>
                  <a:gd name="T5" fmla="*/ 16 h 17"/>
                  <a:gd name="T6" fmla="*/ 0 w 54"/>
                  <a:gd name="T7" fmla="*/ 16 h 17"/>
                  <a:gd name="T8" fmla="*/ 0 w 54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"/>
                  <a:gd name="T16" fmla="*/ 0 h 17"/>
                  <a:gd name="T17" fmla="*/ 54 w 5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" h="17">
                    <a:moveTo>
                      <a:pt x="0" y="0"/>
                    </a:moveTo>
                    <a:lnTo>
                      <a:pt x="53" y="0"/>
                    </a:lnTo>
                    <a:lnTo>
                      <a:pt x="53" y="16"/>
                    </a:lnTo>
                    <a:lnTo>
                      <a:pt x="0" y="1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22" name="Freeform 124"/>
              <p:cNvSpPr>
                <a:spLocks/>
              </p:cNvSpPr>
              <p:nvPr/>
            </p:nvSpPr>
            <p:spPr bwMode="auto">
              <a:xfrm>
                <a:off x="4010" y="1496"/>
                <a:ext cx="19" cy="17"/>
              </a:xfrm>
              <a:custGeom>
                <a:avLst/>
                <a:gdLst>
                  <a:gd name="T0" fmla="*/ 18 w 19"/>
                  <a:gd name="T1" fmla="*/ 12 h 17"/>
                  <a:gd name="T2" fmla="*/ 17 w 19"/>
                  <a:gd name="T3" fmla="*/ 16 h 17"/>
                  <a:gd name="T4" fmla="*/ 17 w 19"/>
                  <a:gd name="T5" fmla="*/ 0 h 17"/>
                  <a:gd name="T6" fmla="*/ 0 w 19"/>
                  <a:gd name="T7" fmla="*/ 0 h 17"/>
                  <a:gd name="T8" fmla="*/ 0 w 19"/>
                  <a:gd name="T9" fmla="*/ 16 h 17"/>
                  <a:gd name="T10" fmla="*/ 0 w 19"/>
                  <a:gd name="T11" fmla="*/ 12 h 1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"/>
                  <a:gd name="T19" fmla="*/ 0 h 17"/>
                  <a:gd name="T20" fmla="*/ 19 w 19"/>
                  <a:gd name="T21" fmla="*/ 17 h 1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" h="17">
                    <a:moveTo>
                      <a:pt x="18" y="12"/>
                    </a:moveTo>
                    <a:lnTo>
                      <a:pt x="17" y="16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0" y="12"/>
                    </a:lnTo>
                  </a:path>
                </a:pathLst>
              </a:custGeom>
              <a:noFill/>
              <a:ln w="12700" cap="rnd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23" name="Freeform 125"/>
              <p:cNvSpPr>
                <a:spLocks/>
              </p:cNvSpPr>
              <p:nvPr/>
            </p:nvSpPr>
            <p:spPr bwMode="auto">
              <a:xfrm>
                <a:off x="3945" y="1505"/>
                <a:ext cx="17" cy="17"/>
              </a:xfrm>
              <a:custGeom>
                <a:avLst/>
                <a:gdLst>
                  <a:gd name="T0" fmla="*/ 16 w 17"/>
                  <a:gd name="T1" fmla="*/ 0 h 17"/>
                  <a:gd name="T2" fmla="*/ 16 w 17"/>
                  <a:gd name="T3" fmla="*/ 16 h 17"/>
                  <a:gd name="T4" fmla="*/ 0 w 17"/>
                  <a:gd name="T5" fmla="*/ 16 h 17"/>
                  <a:gd name="T6" fmla="*/ 0 w 17"/>
                  <a:gd name="T7" fmla="*/ 0 h 17"/>
                  <a:gd name="T8" fmla="*/ 16 w 17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16" y="0"/>
                    </a:moveTo>
                    <a:lnTo>
                      <a:pt x="16" y="16"/>
                    </a:lnTo>
                    <a:lnTo>
                      <a:pt x="0" y="16"/>
                    </a:lnTo>
                    <a:lnTo>
                      <a:pt x="0" y="0"/>
                    </a:lnTo>
                    <a:lnTo>
                      <a:pt x="16" y="0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24" name="Freeform 126"/>
              <p:cNvSpPr>
                <a:spLocks/>
              </p:cNvSpPr>
              <p:nvPr/>
            </p:nvSpPr>
            <p:spPr bwMode="auto">
              <a:xfrm>
                <a:off x="3945" y="1505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16 w 17"/>
                  <a:gd name="T3" fmla="*/ 0 h 17"/>
                  <a:gd name="T4" fmla="*/ 16 w 17"/>
                  <a:gd name="T5" fmla="*/ 16 h 17"/>
                  <a:gd name="T6" fmla="*/ 0 w 17"/>
                  <a:gd name="T7" fmla="*/ 16 h 17"/>
                  <a:gd name="T8" fmla="*/ 0 w 17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0" y="0"/>
                    </a:moveTo>
                    <a:lnTo>
                      <a:pt x="16" y="0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25" name="Freeform 127"/>
              <p:cNvSpPr>
                <a:spLocks/>
              </p:cNvSpPr>
              <p:nvPr/>
            </p:nvSpPr>
            <p:spPr bwMode="auto">
              <a:xfrm>
                <a:off x="3930" y="1497"/>
                <a:ext cx="44" cy="17"/>
              </a:xfrm>
              <a:custGeom>
                <a:avLst/>
                <a:gdLst>
                  <a:gd name="T0" fmla="*/ 14 w 44"/>
                  <a:gd name="T1" fmla="*/ 16 h 17"/>
                  <a:gd name="T2" fmla="*/ 0 w 44"/>
                  <a:gd name="T3" fmla="*/ 16 h 17"/>
                  <a:gd name="T4" fmla="*/ 0 w 44"/>
                  <a:gd name="T5" fmla="*/ 8 h 17"/>
                  <a:gd name="T6" fmla="*/ 14 w 44"/>
                  <a:gd name="T7" fmla="*/ 8 h 17"/>
                  <a:gd name="T8" fmla="*/ 14 w 44"/>
                  <a:gd name="T9" fmla="*/ 0 h 17"/>
                  <a:gd name="T10" fmla="*/ 28 w 44"/>
                  <a:gd name="T11" fmla="*/ 0 h 17"/>
                  <a:gd name="T12" fmla="*/ 28 w 44"/>
                  <a:gd name="T13" fmla="*/ 8 h 17"/>
                  <a:gd name="T14" fmla="*/ 43 w 44"/>
                  <a:gd name="T15" fmla="*/ 8 h 17"/>
                  <a:gd name="T16" fmla="*/ 43 w 44"/>
                  <a:gd name="T17" fmla="*/ 16 h 17"/>
                  <a:gd name="T18" fmla="*/ 28 w 44"/>
                  <a:gd name="T19" fmla="*/ 16 h 17"/>
                  <a:gd name="T20" fmla="*/ 14 w 44"/>
                  <a:gd name="T21" fmla="*/ 16 h 1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4"/>
                  <a:gd name="T34" fmla="*/ 0 h 17"/>
                  <a:gd name="T35" fmla="*/ 44 w 44"/>
                  <a:gd name="T36" fmla="*/ 17 h 1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4" h="17">
                    <a:moveTo>
                      <a:pt x="14" y="16"/>
                    </a:moveTo>
                    <a:lnTo>
                      <a:pt x="0" y="16"/>
                    </a:lnTo>
                    <a:lnTo>
                      <a:pt x="0" y="8"/>
                    </a:lnTo>
                    <a:lnTo>
                      <a:pt x="14" y="8"/>
                    </a:lnTo>
                    <a:lnTo>
                      <a:pt x="14" y="0"/>
                    </a:lnTo>
                    <a:lnTo>
                      <a:pt x="28" y="0"/>
                    </a:lnTo>
                    <a:lnTo>
                      <a:pt x="28" y="8"/>
                    </a:lnTo>
                    <a:lnTo>
                      <a:pt x="43" y="8"/>
                    </a:lnTo>
                    <a:lnTo>
                      <a:pt x="43" y="16"/>
                    </a:lnTo>
                    <a:lnTo>
                      <a:pt x="28" y="16"/>
                    </a:lnTo>
                    <a:lnTo>
                      <a:pt x="14" y="16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26" name="Freeform 128"/>
              <p:cNvSpPr>
                <a:spLocks/>
              </p:cNvSpPr>
              <p:nvPr/>
            </p:nvSpPr>
            <p:spPr bwMode="auto">
              <a:xfrm>
                <a:off x="3945" y="1497"/>
                <a:ext cx="17" cy="17"/>
              </a:xfrm>
              <a:custGeom>
                <a:avLst/>
                <a:gdLst>
                  <a:gd name="T0" fmla="*/ 0 w 17"/>
                  <a:gd name="T1" fmla="*/ 0 h 17"/>
                  <a:gd name="T2" fmla="*/ 16 w 17"/>
                  <a:gd name="T3" fmla="*/ 0 h 17"/>
                  <a:gd name="T4" fmla="*/ 16 w 17"/>
                  <a:gd name="T5" fmla="*/ 16 h 17"/>
                  <a:gd name="T6" fmla="*/ 0 w 17"/>
                  <a:gd name="T7" fmla="*/ 16 h 17"/>
                  <a:gd name="T8" fmla="*/ 0 w 17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0" y="0"/>
                    </a:moveTo>
                    <a:lnTo>
                      <a:pt x="16" y="0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27" name="Freeform 129"/>
              <p:cNvSpPr>
                <a:spLocks/>
              </p:cNvSpPr>
              <p:nvPr/>
            </p:nvSpPr>
            <p:spPr bwMode="auto">
              <a:xfrm>
                <a:off x="3897" y="1494"/>
                <a:ext cx="20" cy="17"/>
              </a:xfrm>
              <a:custGeom>
                <a:avLst/>
                <a:gdLst>
                  <a:gd name="T0" fmla="*/ 5 w 20"/>
                  <a:gd name="T1" fmla="*/ 16 h 17"/>
                  <a:gd name="T2" fmla="*/ 3 w 20"/>
                  <a:gd name="T3" fmla="*/ 15 h 17"/>
                  <a:gd name="T4" fmla="*/ 2 w 20"/>
                  <a:gd name="T5" fmla="*/ 15 h 17"/>
                  <a:gd name="T6" fmla="*/ 1 w 20"/>
                  <a:gd name="T7" fmla="*/ 14 h 17"/>
                  <a:gd name="T8" fmla="*/ 1 w 20"/>
                  <a:gd name="T9" fmla="*/ 12 h 17"/>
                  <a:gd name="T10" fmla="*/ 0 w 20"/>
                  <a:gd name="T11" fmla="*/ 12 h 17"/>
                  <a:gd name="T12" fmla="*/ 0 w 20"/>
                  <a:gd name="T13" fmla="*/ 10 h 17"/>
                  <a:gd name="T14" fmla="*/ 0 w 20"/>
                  <a:gd name="T15" fmla="*/ 8 h 17"/>
                  <a:gd name="T16" fmla="*/ 0 w 20"/>
                  <a:gd name="T17" fmla="*/ 6 h 17"/>
                  <a:gd name="T18" fmla="*/ 0 w 20"/>
                  <a:gd name="T19" fmla="*/ 4 h 17"/>
                  <a:gd name="T20" fmla="*/ 0 w 20"/>
                  <a:gd name="T21" fmla="*/ 3 h 17"/>
                  <a:gd name="T22" fmla="*/ 1 w 20"/>
                  <a:gd name="T23" fmla="*/ 2 h 17"/>
                  <a:gd name="T24" fmla="*/ 2 w 20"/>
                  <a:gd name="T25" fmla="*/ 1 h 17"/>
                  <a:gd name="T26" fmla="*/ 3 w 20"/>
                  <a:gd name="T27" fmla="*/ 0 h 17"/>
                  <a:gd name="T28" fmla="*/ 4 w 20"/>
                  <a:gd name="T29" fmla="*/ 0 h 17"/>
                  <a:gd name="T30" fmla="*/ 5 w 20"/>
                  <a:gd name="T31" fmla="*/ 0 h 17"/>
                  <a:gd name="T32" fmla="*/ 12 w 20"/>
                  <a:gd name="T33" fmla="*/ 0 h 17"/>
                  <a:gd name="T34" fmla="*/ 13 w 20"/>
                  <a:gd name="T35" fmla="*/ 0 h 17"/>
                  <a:gd name="T36" fmla="*/ 15 w 20"/>
                  <a:gd name="T37" fmla="*/ 0 h 17"/>
                  <a:gd name="T38" fmla="*/ 16 w 20"/>
                  <a:gd name="T39" fmla="*/ 1 h 17"/>
                  <a:gd name="T40" fmla="*/ 17 w 20"/>
                  <a:gd name="T41" fmla="*/ 3 h 17"/>
                  <a:gd name="T42" fmla="*/ 17 w 20"/>
                  <a:gd name="T43" fmla="*/ 3 h 17"/>
                  <a:gd name="T44" fmla="*/ 18 w 20"/>
                  <a:gd name="T45" fmla="*/ 5 h 17"/>
                  <a:gd name="T46" fmla="*/ 18 w 20"/>
                  <a:gd name="T47" fmla="*/ 7 h 17"/>
                  <a:gd name="T48" fmla="*/ 18 w 20"/>
                  <a:gd name="T49" fmla="*/ 8 h 17"/>
                  <a:gd name="T50" fmla="*/ 18 w 20"/>
                  <a:gd name="T51" fmla="*/ 10 h 17"/>
                  <a:gd name="T52" fmla="*/ 17 w 20"/>
                  <a:gd name="T53" fmla="*/ 12 h 17"/>
                  <a:gd name="T54" fmla="*/ 16 w 20"/>
                  <a:gd name="T55" fmla="*/ 13 h 17"/>
                  <a:gd name="T56" fmla="*/ 15 w 20"/>
                  <a:gd name="T57" fmla="*/ 15 h 17"/>
                  <a:gd name="T58" fmla="*/ 13 w 20"/>
                  <a:gd name="T59" fmla="*/ 15 h 17"/>
                  <a:gd name="T60" fmla="*/ 13 w 20"/>
                  <a:gd name="T61" fmla="*/ 16 h 17"/>
                  <a:gd name="T62" fmla="*/ 12 w 20"/>
                  <a:gd name="T63" fmla="*/ 16 h 17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0"/>
                  <a:gd name="T97" fmla="*/ 0 h 17"/>
                  <a:gd name="T98" fmla="*/ 20 w 20"/>
                  <a:gd name="T99" fmla="*/ 17 h 17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0" h="17">
                    <a:moveTo>
                      <a:pt x="5" y="16"/>
                    </a:moveTo>
                    <a:lnTo>
                      <a:pt x="5" y="16"/>
                    </a:lnTo>
                    <a:lnTo>
                      <a:pt x="4" y="16"/>
                    </a:lnTo>
                    <a:lnTo>
                      <a:pt x="3" y="15"/>
                    </a:lnTo>
                    <a:lnTo>
                      <a:pt x="2" y="15"/>
                    </a:lnTo>
                    <a:lnTo>
                      <a:pt x="2" y="14"/>
                    </a:lnTo>
                    <a:lnTo>
                      <a:pt x="1" y="14"/>
                    </a:lnTo>
                    <a:lnTo>
                      <a:pt x="1" y="13"/>
                    </a:lnTo>
                    <a:lnTo>
                      <a:pt x="1" y="12"/>
                    </a:lnTo>
                    <a:lnTo>
                      <a:pt x="0" y="12"/>
                    </a:lnTo>
                    <a:lnTo>
                      <a:pt x="0" y="11"/>
                    </a:lnTo>
                    <a:lnTo>
                      <a:pt x="0" y="10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3"/>
                    </a:lnTo>
                    <a:lnTo>
                      <a:pt x="1" y="2"/>
                    </a:lnTo>
                    <a:lnTo>
                      <a:pt x="1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5" y="0"/>
                    </a:lnTo>
                    <a:lnTo>
                      <a:pt x="16" y="1"/>
                    </a:lnTo>
                    <a:lnTo>
                      <a:pt x="16" y="2"/>
                    </a:lnTo>
                    <a:lnTo>
                      <a:pt x="17" y="3"/>
                    </a:lnTo>
                    <a:lnTo>
                      <a:pt x="18" y="4"/>
                    </a:lnTo>
                    <a:lnTo>
                      <a:pt x="18" y="5"/>
                    </a:lnTo>
                    <a:lnTo>
                      <a:pt x="18" y="6"/>
                    </a:lnTo>
                    <a:lnTo>
                      <a:pt x="18" y="7"/>
                    </a:lnTo>
                    <a:lnTo>
                      <a:pt x="19" y="8"/>
                    </a:lnTo>
                    <a:lnTo>
                      <a:pt x="18" y="8"/>
                    </a:lnTo>
                    <a:lnTo>
                      <a:pt x="18" y="9"/>
                    </a:lnTo>
                    <a:lnTo>
                      <a:pt x="18" y="10"/>
                    </a:lnTo>
                    <a:lnTo>
                      <a:pt x="18" y="11"/>
                    </a:lnTo>
                    <a:lnTo>
                      <a:pt x="17" y="12"/>
                    </a:lnTo>
                    <a:lnTo>
                      <a:pt x="16" y="13"/>
                    </a:lnTo>
                    <a:lnTo>
                      <a:pt x="16" y="14"/>
                    </a:lnTo>
                    <a:lnTo>
                      <a:pt x="15" y="15"/>
                    </a:lnTo>
                    <a:lnTo>
                      <a:pt x="13" y="15"/>
                    </a:lnTo>
                    <a:lnTo>
                      <a:pt x="13" y="16"/>
                    </a:lnTo>
                    <a:lnTo>
                      <a:pt x="12" y="16"/>
                    </a:lnTo>
                    <a:lnTo>
                      <a:pt x="5" y="16"/>
                    </a:lnTo>
                  </a:path>
                </a:pathLst>
              </a:custGeom>
              <a:solidFill>
                <a:srgbClr val="666666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28" name="Freeform 130"/>
              <p:cNvSpPr>
                <a:spLocks/>
              </p:cNvSpPr>
              <p:nvPr/>
            </p:nvSpPr>
            <p:spPr bwMode="auto">
              <a:xfrm>
                <a:off x="3921" y="1489"/>
                <a:ext cx="17" cy="38"/>
              </a:xfrm>
              <a:custGeom>
                <a:avLst/>
                <a:gdLst>
                  <a:gd name="T0" fmla="*/ 8 w 17"/>
                  <a:gd name="T1" fmla="*/ 0 h 38"/>
                  <a:gd name="T2" fmla="*/ 0 w 17"/>
                  <a:gd name="T3" fmla="*/ 22 h 38"/>
                  <a:gd name="T4" fmla="*/ 16 w 17"/>
                  <a:gd name="T5" fmla="*/ 22 h 38"/>
                  <a:gd name="T6" fmla="*/ 16 w 17"/>
                  <a:gd name="T7" fmla="*/ 37 h 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38"/>
                  <a:gd name="T14" fmla="*/ 17 w 17"/>
                  <a:gd name="T15" fmla="*/ 38 h 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38">
                    <a:moveTo>
                      <a:pt x="8" y="0"/>
                    </a:moveTo>
                    <a:lnTo>
                      <a:pt x="0" y="22"/>
                    </a:lnTo>
                    <a:lnTo>
                      <a:pt x="16" y="22"/>
                    </a:lnTo>
                    <a:lnTo>
                      <a:pt x="16" y="37"/>
                    </a:lnTo>
                  </a:path>
                </a:pathLst>
              </a:custGeom>
              <a:noFill/>
              <a:ln w="12700" cap="rnd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29" name="Freeform 131"/>
              <p:cNvSpPr>
                <a:spLocks/>
              </p:cNvSpPr>
              <p:nvPr/>
            </p:nvSpPr>
            <p:spPr bwMode="auto">
              <a:xfrm>
                <a:off x="3979" y="1489"/>
                <a:ext cx="17" cy="72"/>
              </a:xfrm>
              <a:custGeom>
                <a:avLst/>
                <a:gdLst>
                  <a:gd name="T0" fmla="*/ 0 w 17"/>
                  <a:gd name="T1" fmla="*/ 0 h 72"/>
                  <a:gd name="T2" fmla="*/ 16 w 17"/>
                  <a:gd name="T3" fmla="*/ 22 h 72"/>
                  <a:gd name="T4" fmla="*/ 0 w 17"/>
                  <a:gd name="T5" fmla="*/ 22 h 72"/>
                  <a:gd name="T6" fmla="*/ 0 w 17"/>
                  <a:gd name="T7" fmla="*/ 71 h 7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72"/>
                  <a:gd name="T14" fmla="*/ 17 w 17"/>
                  <a:gd name="T15" fmla="*/ 72 h 7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72">
                    <a:moveTo>
                      <a:pt x="0" y="0"/>
                    </a:moveTo>
                    <a:lnTo>
                      <a:pt x="16" y="22"/>
                    </a:lnTo>
                    <a:lnTo>
                      <a:pt x="0" y="22"/>
                    </a:lnTo>
                    <a:lnTo>
                      <a:pt x="0" y="71"/>
                    </a:lnTo>
                  </a:path>
                </a:pathLst>
              </a:custGeom>
              <a:noFill/>
              <a:ln w="12700" cap="rnd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30" name="Freeform 132"/>
              <p:cNvSpPr>
                <a:spLocks/>
              </p:cNvSpPr>
              <p:nvPr/>
            </p:nvSpPr>
            <p:spPr bwMode="auto">
              <a:xfrm>
                <a:off x="3855" y="1532"/>
                <a:ext cx="250" cy="41"/>
              </a:xfrm>
              <a:custGeom>
                <a:avLst/>
                <a:gdLst>
                  <a:gd name="T0" fmla="*/ 0 w 250"/>
                  <a:gd name="T1" fmla="*/ 40 h 41"/>
                  <a:gd name="T2" fmla="*/ 249 w 250"/>
                  <a:gd name="T3" fmla="*/ 40 h 41"/>
                  <a:gd name="T4" fmla="*/ 240 w 250"/>
                  <a:gd name="T5" fmla="*/ 0 h 41"/>
                  <a:gd name="T6" fmla="*/ 10 w 250"/>
                  <a:gd name="T7" fmla="*/ 0 h 41"/>
                  <a:gd name="T8" fmla="*/ 0 w 250"/>
                  <a:gd name="T9" fmla="*/ 40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0"/>
                  <a:gd name="T16" fmla="*/ 0 h 41"/>
                  <a:gd name="T17" fmla="*/ 250 w 250"/>
                  <a:gd name="T18" fmla="*/ 41 h 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0" h="41">
                    <a:moveTo>
                      <a:pt x="0" y="40"/>
                    </a:moveTo>
                    <a:lnTo>
                      <a:pt x="249" y="40"/>
                    </a:lnTo>
                    <a:lnTo>
                      <a:pt x="240" y="0"/>
                    </a:lnTo>
                    <a:lnTo>
                      <a:pt x="10" y="0"/>
                    </a:lnTo>
                    <a:lnTo>
                      <a:pt x="0" y="40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31" name="Freeform 133"/>
              <p:cNvSpPr>
                <a:spLocks/>
              </p:cNvSpPr>
              <p:nvPr/>
            </p:nvSpPr>
            <p:spPr bwMode="auto">
              <a:xfrm>
                <a:off x="3855" y="1572"/>
                <a:ext cx="251" cy="17"/>
              </a:xfrm>
              <a:custGeom>
                <a:avLst/>
                <a:gdLst>
                  <a:gd name="T0" fmla="*/ 0 w 251"/>
                  <a:gd name="T1" fmla="*/ 16 h 17"/>
                  <a:gd name="T2" fmla="*/ 0 w 251"/>
                  <a:gd name="T3" fmla="*/ 0 h 17"/>
                  <a:gd name="T4" fmla="*/ 249 w 251"/>
                  <a:gd name="T5" fmla="*/ 0 h 17"/>
                  <a:gd name="T6" fmla="*/ 250 w 251"/>
                  <a:gd name="T7" fmla="*/ 16 h 17"/>
                  <a:gd name="T8" fmla="*/ 0 w 251"/>
                  <a:gd name="T9" fmla="*/ 16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1"/>
                  <a:gd name="T16" fmla="*/ 0 h 17"/>
                  <a:gd name="T17" fmla="*/ 251 w 251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1" h="17">
                    <a:moveTo>
                      <a:pt x="0" y="16"/>
                    </a:moveTo>
                    <a:lnTo>
                      <a:pt x="0" y="0"/>
                    </a:lnTo>
                    <a:lnTo>
                      <a:pt x="249" y="0"/>
                    </a:lnTo>
                    <a:lnTo>
                      <a:pt x="250" y="16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CCCC6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32" name="Freeform 134"/>
              <p:cNvSpPr>
                <a:spLocks/>
              </p:cNvSpPr>
              <p:nvPr/>
            </p:nvSpPr>
            <p:spPr bwMode="auto">
              <a:xfrm>
                <a:off x="3872" y="1538"/>
                <a:ext cx="223" cy="28"/>
              </a:xfrm>
              <a:custGeom>
                <a:avLst/>
                <a:gdLst>
                  <a:gd name="T0" fmla="*/ 0 w 223"/>
                  <a:gd name="T1" fmla="*/ 27 h 28"/>
                  <a:gd name="T2" fmla="*/ 222 w 223"/>
                  <a:gd name="T3" fmla="*/ 27 h 28"/>
                  <a:gd name="T4" fmla="*/ 214 w 223"/>
                  <a:gd name="T5" fmla="*/ 0 h 28"/>
                  <a:gd name="T6" fmla="*/ 8 w 223"/>
                  <a:gd name="T7" fmla="*/ 0 h 28"/>
                  <a:gd name="T8" fmla="*/ 0 w 223"/>
                  <a:gd name="T9" fmla="*/ 27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3"/>
                  <a:gd name="T16" fmla="*/ 0 h 28"/>
                  <a:gd name="T17" fmla="*/ 223 w 223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3" h="28">
                    <a:moveTo>
                      <a:pt x="0" y="27"/>
                    </a:moveTo>
                    <a:lnTo>
                      <a:pt x="222" y="27"/>
                    </a:lnTo>
                    <a:lnTo>
                      <a:pt x="214" y="0"/>
                    </a:lnTo>
                    <a:lnTo>
                      <a:pt x="8" y="0"/>
                    </a:lnTo>
                    <a:lnTo>
                      <a:pt x="0" y="27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9F9FA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476" name="Text Box 135"/>
            <p:cNvSpPr txBox="1">
              <a:spLocks noChangeArrowheads="1"/>
            </p:cNvSpPr>
            <p:nvPr/>
          </p:nvSpPr>
          <p:spPr bwMode="auto">
            <a:xfrm>
              <a:off x="3377" y="1173"/>
              <a:ext cx="304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b="1"/>
                <a:t>… </a:t>
              </a:r>
            </a:p>
          </p:txBody>
        </p:sp>
      </p:grpSp>
      <p:sp>
        <p:nvSpPr>
          <p:cNvPr id="19459" name="Rectangle 13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Connection Setup</a:t>
            </a:r>
          </a:p>
        </p:txBody>
      </p:sp>
      <p:sp>
        <p:nvSpPr>
          <p:cNvPr id="19460" name="Rectangle 138"/>
          <p:cNvSpPr>
            <a:spLocks noGrp="1" noChangeArrowheads="1"/>
          </p:cNvSpPr>
          <p:nvPr>
            <p:ph type="body" idx="1"/>
          </p:nvPr>
        </p:nvSpPr>
        <p:spPr>
          <a:xfrm>
            <a:off x="560388" y="2814638"/>
            <a:ext cx="8229600" cy="28543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smtClean="0"/>
              <a:t>Signaling messages propagate as route is selected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Signaling messages identify connection and setup tables in switches.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Connection Reject if not enough resources. 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In datagram switching each packet carry full address of the source and Dest (Large networks packet ovehead and Bw wastage)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Typically a connection is identified by a local tag, Virtual Circuit Identifier (VCI)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Each switch only needs to know how to relate an incoming tag in one input to an outgoing tag in the corresponding output 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Once tables are setup, packets can flow along path</a:t>
            </a:r>
          </a:p>
        </p:txBody>
      </p:sp>
      <p:sp>
        <p:nvSpPr>
          <p:cNvPr id="19461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2"/>
          <p:cNvGrpSpPr>
            <a:grpSpLocks/>
          </p:cNvGrpSpPr>
          <p:nvPr/>
        </p:nvGrpSpPr>
        <p:grpSpPr bwMode="auto">
          <a:xfrm>
            <a:off x="101600" y="1662113"/>
            <a:ext cx="8910638" cy="2338387"/>
            <a:chOff x="0" y="735"/>
            <a:chExt cx="5613" cy="1473"/>
          </a:xfrm>
        </p:grpSpPr>
        <p:sp>
          <p:nvSpPr>
            <p:cNvPr id="20486" name="Line 3"/>
            <p:cNvSpPr>
              <a:spLocks noChangeShapeType="1"/>
            </p:cNvSpPr>
            <p:nvPr/>
          </p:nvSpPr>
          <p:spPr bwMode="auto">
            <a:xfrm flipV="1">
              <a:off x="1571" y="860"/>
              <a:ext cx="14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487" name="Line 4"/>
            <p:cNvSpPr>
              <a:spLocks noChangeShapeType="1"/>
            </p:cNvSpPr>
            <p:nvPr/>
          </p:nvSpPr>
          <p:spPr bwMode="auto">
            <a:xfrm>
              <a:off x="372" y="2111"/>
              <a:ext cx="504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488" name="Rectangle 5"/>
            <p:cNvSpPr>
              <a:spLocks noChangeArrowheads="1"/>
            </p:cNvSpPr>
            <p:nvPr/>
          </p:nvSpPr>
          <p:spPr bwMode="auto">
            <a:xfrm>
              <a:off x="5455" y="1960"/>
              <a:ext cx="158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i="1"/>
                <a:t>t</a:t>
              </a:r>
            </a:p>
          </p:txBody>
        </p:sp>
        <p:sp>
          <p:nvSpPr>
            <p:cNvPr id="20489" name="Line 6"/>
            <p:cNvSpPr>
              <a:spLocks noChangeShapeType="1"/>
            </p:cNvSpPr>
            <p:nvPr/>
          </p:nvSpPr>
          <p:spPr bwMode="auto">
            <a:xfrm>
              <a:off x="397" y="1695"/>
              <a:ext cx="5023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490" name="Rectangle 7"/>
            <p:cNvSpPr>
              <a:spLocks noChangeArrowheads="1"/>
            </p:cNvSpPr>
            <p:nvPr/>
          </p:nvSpPr>
          <p:spPr bwMode="auto">
            <a:xfrm>
              <a:off x="5455" y="1544"/>
              <a:ext cx="158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i="1"/>
                <a:t>t</a:t>
              </a:r>
            </a:p>
          </p:txBody>
        </p:sp>
        <p:sp>
          <p:nvSpPr>
            <p:cNvPr id="20491" name="Line 8"/>
            <p:cNvSpPr>
              <a:spLocks noChangeShapeType="1"/>
            </p:cNvSpPr>
            <p:nvPr/>
          </p:nvSpPr>
          <p:spPr bwMode="auto">
            <a:xfrm>
              <a:off x="346" y="1269"/>
              <a:ext cx="507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492" name="Rectangle 9"/>
            <p:cNvSpPr>
              <a:spLocks noChangeArrowheads="1"/>
            </p:cNvSpPr>
            <p:nvPr/>
          </p:nvSpPr>
          <p:spPr bwMode="auto">
            <a:xfrm>
              <a:off x="5454" y="1129"/>
              <a:ext cx="158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i="1"/>
                <a:t>t</a:t>
              </a:r>
            </a:p>
          </p:txBody>
        </p:sp>
        <p:sp>
          <p:nvSpPr>
            <p:cNvPr id="20493" name="Line 10"/>
            <p:cNvSpPr>
              <a:spLocks noChangeShapeType="1"/>
            </p:cNvSpPr>
            <p:nvPr/>
          </p:nvSpPr>
          <p:spPr bwMode="auto">
            <a:xfrm>
              <a:off x="329" y="853"/>
              <a:ext cx="506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494" name="Rectangle 11"/>
            <p:cNvSpPr>
              <a:spLocks noChangeArrowheads="1"/>
            </p:cNvSpPr>
            <p:nvPr/>
          </p:nvSpPr>
          <p:spPr bwMode="auto">
            <a:xfrm>
              <a:off x="5442" y="735"/>
              <a:ext cx="158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i="1"/>
                <a:t>t</a:t>
              </a:r>
            </a:p>
          </p:txBody>
        </p:sp>
        <p:sp>
          <p:nvSpPr>
            <p:cNvPr id="20495" name="Line 12"/>
            <p:cNvSpPr>
              <a:spLocks noChangeShapeType="1"/>
            </p:cNvSpPr>
            <p:nvPr/>
          </p:nvSpPr>
          <p:spPr bwMode="auto">
            <a:xfrm>
              <a:off x="3349" y="1279"/>
              <a:ext cx="303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496" name="Line 13"/>
            <p:cNvSpPr>
              <a:spLocks noChangeShapeType="1"/>
            </p:cNvSpPr>
            <p:nvPr/>
          </p:nvSpPr>
          <p:spPr bwMode="auto">
            <a:xfrm>
              <a:off x="2390" y="1292"/>
              <a:ext cx="303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497" name="Line 14"/>
            <p:cNvSpPr>
              <a:spLocks noChangeShapeType="1"/>
            </p:cNvSpPr>
            <p:nvPr/>
          </p:nvSpPr>
          <p:spPr bwMode="auto">
            <a:xfrm>
              <a:off x="2346" y="857"/>
              <a:ext cx="303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498" name="Line 15"/>
            <p:cNvSpPr>
              <a:spLocks noChangeShapeType="1"/>
            </p:cNvSpPr>
            <p:nvPr/>
          </p:nvSpPr>
          <p:spPr bwMode="auto">
            <a:xfrm>
              <a:off x="3062" y="1711"/>
              <a:ext cx="303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499" name="Line 16"/>
            <p:cNvSpPr>
              <a:spLocks noChangeShapeType="1"/>
            </p:cNvSpPr>
            <p:nvPr/>
          </p:nvSpPr>
          <p:spPr bwMode="auto">
            <a:xfrm>
              <a:off x="2703" y="1283"/>
              <a:ext cx="303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500" name="Line 17"/>
            <p:cNvSpPr>
              <a:spLocks noChangeShapeType="1"/>
            </p:cNvSpPr>
            <p:nvPr/>
          </p:nvSpPr>
          <p:spPr bwMode="auto">
            <a:xfrm>
              <a:off x="4017" y="1699"/>
              <a:ext cx="303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501" name="Line 18"/>
            <p:cNvSpPr>
              <a:spLocks noChangeShapeType="1"/>
            </p:cNvSpPr>
            <p:nvPr/>
          </p:nvSpPr>
          <p:spPr bwMode="auto">
            <a:xfrm>
              <a:off x="3412" y="1715"/>
              <a:ext cx="303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502" name="Rectangle 19"/>
            <p:cNvSpPr>
              <a:spLocks noChangeArrowheads="1"/>
            </p:cNvSpPr>
            <p:nvPr/>
          </p:nvSpPr>
          <p:spPr bwMode="auto">
            <a:xfrm>
              <a:off x="3249" y="1358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3</a:t>
              </a:r>
            </a:p>
          </p:txBody>
        </p:sp>
        <p:sp>
          <p:nvSpPr>
            <p:cNvPr id="20503" name="Rectangle 20"/>
            <p:cNvSpPr>
              <a:spLocks noChangeArrowheads="1"/>
            </p:cNvSpPr>
            <p:nvPr/>
          </p:nvSpPr>
          <p:spPr bwMode="auto">
            <a:xfrm>
              <a:off x="2572" y="1369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1</a:t>
              </a:r>
            </a:p>
          </p:txBody>
        </p:sp>
        <p:sp>
          <p:nvSpPr>
            <p:cNvPr id="20504" name="Line 21"/>
            <p:cNvSpPr>
              <a:spLocks noChangeShapeType="1"/>
            </p:cNvSpPr>
            <p:nvPr/>
          </p:nvSpPr>
          <p:spPr bwMode="auto">
            <a:xfrm>
              <a:off x="3038" y="1288"/>
              <a:ext cx="303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505" name="Rectangle 22"/>
            <p:cNvSpPr>
              <a:spLocks noChangeArrowheads="1"/>
            </p:cNvSpPr>
            <p:nvPr/>
          </p:nvSpPr>
          <p:spPr bwMode="auto">
            <a:xfrm>
              <a:off x="2885" y="1374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2</a:t>
              </a:r>
            </a:p>
          </p:txBody>
        </p:sp>
        <p:sp>
          <p:nvSpPr>
            <p:cNvPr id="20506" name="Rectangle 23"/>
            <p:cNvSpPr>
              <a:spLocks noChangeArrowheads="1"/>
            </p:cNvSpPr>
            <p:nvPr/>
          </p:nvSpPr>
          <p:spPr bwMode="auto">
            <a:xfrm>
              <a:off x="3888" y="1803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3</a:t>
              </a:r>
            </a:p>
          </p:txBody>
        </p:sp>
        <p:sp>
          <p:nvSpPr>
            <p:cNvPr id="20507" name="Rectangle 24"/>
            <p:cNvSpPr>
              <a:spLocks noChangeArrowheads="1"/>
            </p:cNvSpPr>
            <p:nvPr/>
          </p:nvSpPr>
          <p:spPr bwMode="auto">
            <a:xfrm>
              <a:off x="3216" y="1785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1</a:t>
              </a:r>
            </a:p>
          </p:txBody>
        </p:sp>
        <p:sp>
          <p:nvSpPr>
            <p:cNvPr id="20508" name="Rectangle 25"/>
            <p:cNvSpPr>
              <a:spLocks noChangeArrowheads="1"/>
            </p:cNvSpPr>
            <p:nvPr/>
          </p:nvSpPr>
          <p:spPr bwMode="auto">
            <a:xfrm>
              <a:off x="3568" y="1790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2</a:t>
              </a:r>
            </a:p>
          </p:txBody>
        </p:sp>
        <p:sp>
          <p:nvSpPr>
            <p:cNvPr id="20509" name="Line 26"/>
            <p:cNvSpPr>
              <a:spLocks noChangeShapeType="1"/>
            </p:cNvSpPr>
            <p:nvPr/>
          </p:nvSpPr>
          <p:spPr bwMode="auto">
            <a:xfrm>
              <a:off x="2697" y="866"/>
              <a:ext cx="303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510" name="Line 27"/>
            <p:cNvSpPr>
              <a:spLocks noChangeShapeType="1"/>
            </p:cNvSpPr>
            <p:nvPr/>
          </p:nvSpPr>
          <p:spPr bwMode="auto">
            <a:xfrm>
              <a:off x="3728" y="1707"/>
              <a:ext cx="303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511" name="Rectangle 28"/>
            <p:cNvSpPr>
              <a:spLocks noChangeArrowheads="1"/>
            </p:cNvSpPr>
            <p:nvPr/>
          </p:nvSpPr>
          <p:spPr bwMode="auto">
            <a:xfrm>
              <a:off x="2585" y="953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3</a:t>
              </a:r>
            </a:p>
          </p:txBody>
        </p:sp>
        <p:sp>
          <p:nvSpPr>
            <p:cNvPr id="20512" name="Rectangle 29"/>
            <p:cNvSpPr>
              <a:spLocks noChangeArrowheads="1"/>
            </p:cNvSpPr>
            <p:nvPr/>
          </p:nvSpPr>
          <p:spPr bwMode="auto">
            <a:xfrm>
              <a:off x="2249" y="956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2</a:t>
              </a:r>
            </a:p>
          </p:txBody>
        </p:sp>
        <p:sp>
          <p:nvSpPr>
            <p:cNvPr id="20513" name="Line 30"/>
            <p:cNvSpPr>
              <a:spLocks noChangeShapeType="1"/>
            </p:cNvSpPr>
            <p:nvPr/>
          </p:nvSpPr>
          <p:spPr bwMode="auto">
            <a:xfrm>
              <a:off x="1681" y="857"/>
              <a:ext cx="303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514" name="Line 31"/>
            <p:cNvSpPr>
              <a:spLocks noChangeShapeType="1"/>
            </p:cNvSpPr>
            <p:nvPr/>
          </p:nvSpPr>
          <p:spPr bwMode="auto">
            <a:xfrm>
              <a:off x="2037" y="866"/>
              <a:ext cx="303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515" name="Rectangle 32"/>
            <p:cNvSpPr>
              <a:spLocks noChangeArrowheads="1"/>
            </p:cNvSpPr>
            <p:nvPr/>
          </p:nvSpPr>
          <p:spPr bwMode="auto">
            <a:xfrm>
              <a:off x="1922" y="943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1</a:t>
              </a:r>
            </a:p>
          </p:txBody>
        </p:sp>
        <p:sp>
          <p:nvSpPr>
            <p:cNvPr id="20516" name="Line 33"/>
            <p:cNvSpPr>
              <a:spLocks noChangeShapeType="1"/>
            </p:cNvSpPr>
            <p:nvPr/>
          </p:nvSpPr>
          <p:spPr bwMode="auto">
            <a:xfrm flipV="1">
              <a:off x="4420" y="892"/>
              <a:ext cx="467" cy="1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517" name="Rectangle 34"/>
            <p:cNvSpPr>
              <a:spLocks noChangeArrowheads="1"/>
            </p:cNvSpPr>
            <p:nvPr/>
          </p:nvSpPr>
          <p:spPr bwMode="auto">
            <a:xfrm>
              <a:off x="4749" y="1301"/>
              <a:ext cx="582" cy="17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lnSpc>
                  <a:spcPct val="75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Release</a:t>
              </a:r>
            </a:p>
          </p:txBody>
        </p:sp>
        <p:sp>
          <p:nvSpPr>
            <p:cNvPr id="20518" name="Line 35"/>
            <p:cNvSpPr>
              <a:spLocks noChangeShapeType="1"/>
            </p:cNvSpPr>
            <p:nvPr/>
          </p:nvSpPr>
          <p:spPr bwMode="auto">
            <a:xfrm>
              <a:off x="554" y="868"/>
              <a:ext cx="275" cy="4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519" name="Line 36"/>
            <p:cNvSpPr>
              <a:spLocks noChangeShapeType="1"/>
            </p:cNvSpPr>
            <p:nvPr/>
          </p:nvSpPr>
          <p:spPr bwMode="auto">
            <a:xfrm>
              <a:off x="846" y="1308"/>
              <a:ext cx="225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520" name="Line 37"/>
            <p:cNvSpPr>
              <a:spLocks noChangeShapeType="1"/>
            </p:cNvSpPr>
            <p:nvPr/>
          </p:nvSpPr>
          <p:spPr bwMode="auto">
            <a:xfrm>
              <a:off x="1104" y="1700"/>
              <a:ext cx="217" cy="3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521" name="Rectangle 38"/>
            <p:cNvSpPr>
              <a:spLocks noChangeArrowheads="1"/>
            </p:cNvSpPr>
            <p:nvPr/>
          </p:nvSpPr>
          <p:spPr bwMode="auto">
            <a:xfrm>
              <a:off x="0" y="872"/>
              <a:ext cx="641" cy="36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Connect request</a:t>
              </a:r>
            </a:p>
          </p:txBody>
        </p:sp>
        <p:sp>
          <p:nvSpPr>
            <p:cNvPr id="20522" name="Rectangle 39"/>
            <p:cNvSpPr>
              <a:spLocks noChangeArrowheads="1"/>
            </p:cNvSpPr>
            <p:nvPr/>
          </p:nvSpPr>
          <p:spPr bwMode="auto">
            <a:xfrm>
              <a:off x="458" y="1360"/>
              <a:ext cx="311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CR</a:t>
              </a:r>
            </a:p>
          </p:txBody>
        </p:sp>
        <p:sp>
          <p:nvSpPr>
            <p:cNvPr id="20523" name="Rectangle 40"/>
            <p:cNvSpPr>
              <a:spLocks noChangeArrowheads="1"/>
            </p:cNvSpPr>
            <p:nvPr/>
          </p:nvSpPr>
          <p:spPr bwMode="auto">
            <a:xfrm>
              <a:off x="650" y="1800"/>
              <a:ext cx="352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CR</a:t>
              </a:r>
            </a:p>
          </p:txBody>
        </p:sp>
        <p:sp>
          <p:nvSpPr>
            <p:cNvPr id="20524" name="Rectangle 41"/>
            <p:cNvSpPr>
              <a:spLocks noChangeArrowheads="1"/>
            </p:cNvSpPr>
            <p:nvPr/>
          </p:nvSpPr>
          <p:spPr bwMode="auto">
            <a:xfrm>
              <a:off x="1433" y="1736"/>
              <a:ext cx="674" cy="36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Connect confirm</a:t>
              </a:r>
            </a:p>
          </p:txBody>
        </p:sp>
        <p:sp>
          <p:nvSpPr>
            <p:cNvPr id="20525" name="Rectangle 42"/>
            <p:cNvSpPr>
              <a:spLocks noChangeArrowheads="1"/>
            </p:cNvSpPr>
            <p:nvPr/>
          </p:nvSpPr>
          <p:spPr bwMode="auto">
            <a:xfrm>
              <a:off x="1483" y="1464"/>
              <a:ext cx="352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CC</a:t>
              </a:r>
            </a:p>
          </p:txBody>
        </p:sp>
        <p:sp>
          <p:nvSpPr>
            <p:cNvPr id="20526" name="Rectangle 43"/>
            <p:cNvSpPr>
              <a:spLocks noChangeArrowheads="1"/>
            </p:cNvSpPr>
            <p:nvPr/>
          </p:nvSpPr>
          <p:spPr bwMode="auto">
            <a:xfrm>
              <a:off x="1575" y="1064"/>
              <a:ext cx="352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CC</a:t>
              </a:r>
            </a:p>
          </p:txBody>
        </p:sp>
        <p:sp>
          <p:nvSpPr>
            <p:cNvPr id="20527" name="Line 44"/>
            <p:cNvSpPr>
              <a:spLocks noChangeShapeType="1"/>
            </p:cNvSpPr>
            <p:nvPr/>
          </p:nvSpPr>
          <p:spPr bwMode="auto">
            <a:xfrm flipV="1">
              <a:off x="1429" y="1300"/>
              <a:ext cx="142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528" name="Line 45"/>
            <p:cNvSpPr>
              <a:spLocks noChangeShapeType="1"/>
            </p:cNvSpPr>
            <p:nvPr/>
          </p:nvSpPr>
          <p:spPr bwMode="auto">
            <a:xfrm flipV="1">
              <a:off x="1296" y="1724"/>
              <a:ext cx="14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20483" name="Rectangle 4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Connection Setup Delay</a:t>
            </a:r>
          </a:p>
        </p:txBody>
      </p:sp>
      <p:sp>
        <p:nvSpPr>
          <p:cNvPr id="20484" name="Rectangle 48"/>
          <p:cNvSpPr>
            <a:spLocks noGrp="1" noChangeArrowheads="1"/>
          </p:cNvSpPr>
          <p:nvPr>
            <p:ph type="body" idx="1"/>
          </p:nvPr>
        </p:nvSpPr>
        <p:spPr>
          <a:xfrm>
            <a:off x="457200" y="4405313"/>
            <a:ext cx="8229600" cy="21653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600" smtClean="0"/>
              <a:t>Connection setup delay is incurred before any packet can be transferred</a:t>
            </a:r>
          </a:p>
          <a:p>
            <a:pPr eaLnBrk="1" hangingPunct="1">
              <a:lnSpc>
                <a:spcPct val="80000"/>
              </a:lnSpc>
            </a:pPr>
            <a:r>
              <a:rPr lang="en-US" sz="2600" smtClean="0"/>
              <a:t>Delay is acceptable for sustained transfer of large number of packets</a:t>
            </a:r>
          </a:p>
          <a:p>
            <a:pPr eaLnBrk="1" hangingPunct="1">
              <a:lnSpc>
                <a:spcPct val="80000"/>
              </a:lnSpc>
            </a:pPr>
            <a:r>
              <a:rPr lang="en-US" sz="2600" smtClean="0"/>
              <a:t>This delay may be unacceptably high if only a few packets are being transferred</a:t>
            </a:r>
          </a:p>
        </p:txBody>
      </p:sp>
      <p:sp>
        <p:nvSpPr>
          <p:cNvPr id="20485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30"/>
          <p:cNvGrpSpPr>
            <a:grpSpLocks/>
          </p:cNvGrpSpPr>
          <p:nvPr/>
        </p:nvGrpSpPr>
        <p:grpSpPr bwMode="auto">
          <a:xfrm>
            <a:off x="230188" y="1722438"/>
            <a:ext cx="4340225" cy="4344987"/>
            <a:chOff x="496" y="1093"/>
            <a:chExt cx="2734" cy="2737"/>
          </a:xfrm>
        </p:grpSpPr>
        <p:sp>
          <p:nvSpPr>
            <p:cNvPr id="21510" name="Rectangle 4"/>
            <p:cNvSpPr>
              <a:spLocks noChangeArrowheads="1"/>
            </p:cNvSpPr>
            <p:nvPr/>
          </p:nvSpPr>
          <p:spPr bwMode="auto">
            <a:xfrm>
              <a:off x="496" y="1515"/>
              <a:ext cx="2734" cy="2310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1" name="Rectangle 5"/>
            <p:cNvSpPr>
              <a:spLocks noChangeArrowheads="1"/>
            </p:cNvSpPr>
            <p:nvPr/>
          </p:nvSpPr>
          <p:spPr bwMode="auto">
            <a:xfrm>
              <a:off x="661" y="1093"/>
              <a:ext cx="466" cy="40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 b="1"/>
                <a:t>Input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 b="1"/>
                <a:t>VCI</a:t>
              </a:r>
            </a:p>
          </p:txBody>
        </p:sp>
        <p:sp>
          <p:nvSpPr>
            <p:cNvPr id="21512" name="Rectangle 6"/>
            <p:cNvSpPr>
              <a:spLocks noChangeArrowheads="1"/>
            </p:cNvSpPr>
            <p:nvPr/>
          </p:nvSpPr>
          <p:spPr bwMode="auto">
            <a:xfrm>
              <a:off x="1508" y="1093"/>
              <a:ext cx="586" cy="40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 b="1"/>
                <a:t>Output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 b="1"/>
                <a:t>port</a:t>
              </a:r>
            </a:p>
          </p:txBody>
        </p:sp>
        <p:sp>
          <p:nvSpPr>
            <p:cNvPr id="21513" name="Rectangle 7"/>
            <p:cNvSpPr>
              <a:spLocks noChangeArrowheads="1"/>
            </p:cNvSpPr>
            <p:nvPr/>
          </p:nvSpPr>
          <p:spPr bwMode="auto">
            <a:xfrm>
              <a:off x="2414" y="1093"/>
              <a:ext cx="586" cy="40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 b="1"/>
                <a:t>Output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 b="1"/>
                <a:t>VCI</a:t>
              </a:r>
            </a:p>
          </p:txBody>
        </p:sp>
        <p:sp>
          <p:nvSpPr>
            <p:cNvPr id="21514" name="Rectangle 9"/>
            <p:cNvSpPr>
              <a:spLocks noChangeArrowheads="1"/>
            </p:cNvSpPr>
            <p:nvPr/>
          </p:nvSpPr>
          <p:spPr bwMode="auto">
            <a:xfrm>
              <a:off x="1360" y="1527"/>
              <a:ext cx="968" cy="2303"/>
            </a:xfrm>
            <a:prstGeom prst="rect">
              <a:avLst/>
            </a:prstGeom>
            <a:solidFill>
              <a:srgbClr val="B1CCCB"/>
            </a:solidFill>
            <a:ln w="12700" algn="ctr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1515" name="Rectangle 11"/>
            <p:cNvSpPr>
              <a:spLocks noChangeArrowheads="1"/>
            </p:cNvSpPr>
            <p:nvPr/>
          </p:nvSpPr>
          <p:spPr bwMode="auto">
            <a:xfrm>
              <a:off x="496" y="2602"/>
              <a:ext cx="2734" cy="161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6" name="Rectangle 12"/>
            <p:cNvSpPr>
              <a:spLocks noChangeArrowheads="1"/>
            </p:cNvSpPr>
            <p:nvPr/>
          </p:nvSpPr>
          <p:spPr bwMode="auto">
            <a:xfrm>
              <a:off x="496" y="3507"/>
              <a:ext cx="2734" cy="161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7" name="Rectangle 13"/>
            <p:cNvSpPr>
              <a:spLocks noChangeArrowheads="1"/>
            </p:cNvSpPr>
            <p:nvPr/>
          </p:nvSpPr>
          <p:spPr bwMode="auto">
            <a:xfrm>
              <a:off x="496" y="2204"/>
              <a:ext cx="2734" cy="16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8" name="Rectangle 14"/>
            <p:cNvSpPr>
              <a:spLocks noChangeArrowheads="1"/>
            </p:cNvSpPr>
            <p:nvPr/>
          </p:nvSpPr>
          <p:spPr bwMode="auto">
            <a:xfrm>
              <a:off x="496" y="1697"/>
              <a:ext cx="2734" cy="16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9" name="Line 15"/>
            <p:cNvSpPr>
              <a:spLocks noChangeShapeType="1"/>
            </p:cNvSpPr>
            <p:nvPr/>
          </p:nvSpPr>
          <p:spPr bwMode="auto">
            <a:xfrm>
              <a:off x="1362" y="1507"/>
              <a:ext cx="0" cy="231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520" name="Rectangle 16"/>
            <p:cNvSpPr>
              <a:spLocks noChangeArrowheads="1"/>
            </p:cNvSpPr>
            <p:nvPr/>
          </p:nvSpPr>
          <p:spPr bwMode="auto">
            <a:xfrm>
              <a:off x="749" y="2167"/>
              <a:ext cx="256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 b="1"/>
                <a:t>15</a:t>
              </a:r>
            </a:p>
          </p:txBody>
        </p:sp>
        <p:sp>
          <p:nvSpPr>
            <p:cNvPr id="21521" name="Rectangle 17"/>
            <p:cNvSpPr>
              <a:spLocks noChangeArrowheads="1"/>
            </p:cNvSpPr>
            <p:nvPr/>
          </p:nvSpPr>
          <p:spPr bwMode="auto">
            <a:xfrm>
              <a:off x="1655" y="2191"/>
              <a:ext cx="256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 b="1"/>
                <a:t>15</a:t>
              </a:r>
            </a:p>
          </p:txBody>
        </p:sp>
        <p:sp>
          <p:nvSpPr>
            <p:cNvPr id="21522" name="Rectangle 18"/>
            <p:cNvSpPr>
              <a:spLocks noChangeArrowheads="1"/>
            </p:cNvSpPr>
            <p:nvPr/>
          </p:nvSpPr>
          <p:spPr bwMode="auto">
            <a:xfrm>
              <a:off x="773" y="3483"/>
              <a:ext cx="256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 b="1"/>
                <a:t>58</a:t>
              </a:r>
            </a:p>
          </p:txBody>
        </p:sp>
        <p:sp>
          <p:nvSpPr>
            <p:cNvPr id="21523" name="Rectangle 19"/>
            <p:cNvSpPr>
              <a:spLocks noChangeArrowheads="1"/>
            </p:cNvSpPr>
            <p:nvPr/>
          </p:nvSpPr>
          <p:spPr bwMode="auto">
            <a:xfrm>
              <a:off x="1691" y="1685"/>
              <a:ext cx="256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 b="1"/>
                <a:t>13</a:t>
              </a:r>
            </a:p>
          </p:txBody>
        </p:sp>
        <p:sp>
          <p:nvSpPr>
            <p:cNvPr id="21524" name="Rectangle 20"/>
            <p:cNvSpPr>
              <a:spLocks noChangeArrowheads="1"/>
            </p:cNvSpPr>
            <p:nvPr/>
          </p:nvSpPr>
          <p:spPr bwMode="auto">
            <a:xfrm>
              <a:off x="1679" y="2602"/>
              <a:ext cx="256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 b="1"/>
                <a:t>13</a:t>
              </a:r>
            </a:p>
          </p:txBody>
        </p:sp>
        <p:sp>
          <p:nvSpPr>
            <p:cNvPr id="21525" name="Rectangle 21"/>
            <p:cNvSpPr>
              <a:spLocks noChangeArrowheads="1"/>
            </p:cNvSpPr>
            <p:nvPr/>
          </p:nvSpPr>
          <p:spPr bwMode="auto">
            <a:xfrm>
              <a:off x="1691" y="3483"/>
              <a:ext cx="185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 b="1"/>
                <a:t>7</a:t>
              </a:r>
            </a:p>
          </p:txBody>
        </p:sp>
        <p:sp>
          <p:nvSpPr>
            <p:cNvPr id="21526" name="Rectangle 22"/>
            <p:cNvSpPr>
              <a:spLocks noChangeArrowheads="1"/>
            </p:cNvSpPr>
            <p:nvPr/>
          </p:nvSpPr>
          <p:spPr bwMode="auto">
            <a:xfrm>
              <a:off x="761" y="2602"/>
              <a:ext cx="256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 b="1"/>
                <a:t>27</a:t>
              </a:r>
            </a:p>
          </p:txBody>
        </p:sp>
        <p:sp>
          <p:nvSpPr>
            <p:cNvPr id="21527" name="Line 23"/>
            <p:cNvSpPr>
              <a:spLocks noChangeShapeType="1"/>
            </p:cNvSpPr>
            <p:nvPr/>
          </p:nvSpPr>
          <p:spPr bwMode="auto">
            <a:xfrm>
              <a:off x="2316" y="1514"/>
              <a:ext cx="0" cy="230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528" name="Rectangle 24"/>
            <p:cNvSpPr>
              <a:spLocks noChangeArrowheads="1"/>
            </p:cNvSpPr>
            <p:nvPr/>
          </p:nvSpPr>
          <p:spPr bwMode="auto">
            <a:xfrm>
              <a:off x="761" y="1672"/>
              <a:ext cx="256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 b="1"/>
                <a:t>12</a:t>
              </a:r>
            </a:p>
          </p:txBody>
        </p:sp>
        <p:sp>
          <p:nvSpPr>
            <p:cNvPr id="21529" name="Rectangle 25"/>
            <p:cNvSpPr>
              <a:spLocks noChangeArrowheads="1"/>
            </p:cNvSpPr>
            <p:nvPr/>
          </p:nvSpPr>
          <p:spPr bwMode="auto">
            <a:xfrm>
              <a:off x="2597" y="1672"/>
              <a:ext cx="256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 b="1"/>
                <a:t>44</a:t>
              </a:r>
            </a:p>
          </p:txBody>
        </p:sp>
        <p:sp>
          <p:nvSpPr>
            <p:cNvPr id="21530" name="Rectangle 26"/>
            <p:cNvSpPr>
              <a:spLocks noChangeArrowheads="1"/>
            </p:cNvSpPr>
            <p:nvPr/>
          </p:nvSpPr>
          <p:spPr bwMode="auto">
            <a:xfrm>
              <a:off x="2609" y="2191"/>
              <a:ext cx="256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 b="1"/>
                <a:t>23</a:t>
              </a:r>
            </a:p>
          </p:txBody>
        </p:sp>
        <p:sp>
          <p:nvSpPr>
            <p:cNvPr id="21531" name="Rectangle 27"/>
            <p:cNvSpPr>
              <a:spLocks noChangeArrowheads="1"/>
            </p:cNvSpPr>
            <p:nvPr/>
          </p:nvSpPr>
          <p:spPr bwMode="auto">
            <a:xfrm>
              <a:off x="2609" y="2578"/>
              <a:ext cx="256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 b="1"/>
                <a:t>16</a:t>
              </a:r>
            </a:p>
          </p:txBody>
        </p:sp>
        <p:sp>
          <p:nvSpPr>
            <p:cNvPr id="21532" name="Rectangle 28"/>
            <p:cNvSpPr>
              <a:spLocks noChangeArrowheads="1"/>
            </p:cNvSpPr>
            <p:nvPr/>
          </p:nvSpPr>
          <p:spPr bwMode="auto">
            <a:xfrm>
              <a:off x="2645" y="3495"/>
              <a:ext cx="256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 b="1"/>
                <a:t>34</a:t>
              </a:r>
            </a:p>
          </p:txBody>
        </p:sp>
      </p:grpSp>
      <p:sp>
        <p:nvSpPr>
          <p:cNvPr id="21507" name="Rectangle 3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500" smtClean="0"/>
              <a:t>Virtual Circuit Forwarding Tables</a:t>
            </a:r>
          </a:p>
        </p:txBody>
      </p:sp>
      <p:sp>
        <p:nvSpPr>
          <p:cNvPr id="21508" name="Rectangle 33"/>
          <p:cNvSpPr>
            <a:spLocks noGrp="1" noChangeArrowheads="1"/>
          </p:cNvSpPr>
          <p:nvPr>
            <p:ph type="body" sz="half" idx="2"/>
          </p:nvPr>
        </p:nvSpPr>
        <p:spPr>
          <a:xfrm>
            <a:off x="4802188" y="1625600"/>
            <a:ext cx="4038600" cy="46831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200" smtClean="0"/>
              <a:t>Each input port of packet switch has a forwarding table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smtClean="0"/>
              <a:t>Lookup entry for VCI of incoming packet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smtClean="0"/>
              <a:t>Determine output port (next hop) and insert VCI for next link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smtClean="0"/>
              <a:t>Very high speeds are possible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smtClean="0"/>
              <a:t>Table can also include priority or other information about how packet should be treated</a:t>
            </a:r>
          </a:p>
        </p:txBody>
      </p:sp>
      <p:sp>
        <p:nvSpPr>
          <p:cNvPr id="21509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IN" sz="2000" kern="1200" dirty="0" smtClean="0">
                <a:solidFill>
                  <a:schemeClr val="tx1"/>
                </a:solidFill>
                <a:ea typeface="+mn-ea"/>
                <a:cs typeface="+mn-cs"/>
              </a:rPr>
              <a:t>Advantages</a:t>
            </a:r>
          </a:p>
        </p:txBody>
      </p:sp>
      <p:sp>
        <p:nvSpPr>
          <p:cNvPr id="22531" name="Footer Placeholder 4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  <p:sp>
        <p:nvSpPr>
          <p:cNvPr id="22532" name="Rectangle 5"/>
          <p:cNvSpPr>
            <a:spLocks noChangeArrowheads="1"/>
          </p:cNvSpPr>
          <p:nvPr/>
        </p:nvSpPr>
        <p:spPr bwMode="auto">
          <a:xfrm>
            <a:off x="120650" y="1392238"/>
            <a:ext cx="9023350" cy="1046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/>
              <a:t>1. Very high speeds are possible due to abbreviated headers.</a:t>
            </a:r>
          </a:p>
          <a:p>
            <a:pPr algn="l">
              <a:lnSpc>
                <a:spcPct val="90000"/>
              </a:lnSpc>
            </a:pPr>
            <a:r>
              <a:rPr lang="en-US"/>
              <a:t> 2. Allocation of resources only when it is requirred (connection set up)</a:t>
            </a:r>
          </a:p>
          <a:p>
            <a:pPr>
              <a:lnSpc>
                <a:spcPct val="90000"/>
              </a:lnSpc>
            </a:pPr>
            <a:endParaRPr lang="en-US"/>
          </a:p>
        </p:txBody>
      </p:sp>
      <p:sp>
        <p:nvSpPr>
          <p:cNvPr id="22533" name="Rectangle 6"/>
          <p:cNvSpPr>
            <a:spLocks noChangeArrowheads="1"/>
          </p:cNvSpPr>
          <p:nvPr/>
        </p:nvSpPr>
        <p:spPr bwMode="auto">
          <a:xfrm>
            <a:off x="1947863" y="2795588"/>
            <a:ext cx="50244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IN" b="1"/>
              <a:t>Disadvantages</a:t>
            </a:r>
          </a:p>
        </p:txBody>
      </p:sp>
      <p:sp>
        <p:nvSpPr>
          <p:cNvPr id="22534" name="TextBox 8"/>
          <p:cNvSpPr txBox="1">
            <a:spLocks noChangeArrowheads="1"/>
          </p:cNvSpPr>
          <p:nvPr/>
        </p:nvSpPr>
        <p:spPr bwMode="auto">
          <a:xfrm>
            <a:off x="0" y="3392488"/>
            <a:ext cx="8388350" cy="1446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IN"/>
              <a:t>1.Switches need to maintain the information about the  flows that pass the switches .</a:t>
            </a:r>
          </a:p>
          <a:p>
            <a:pPr algn="just"/>
            <a:r>
              <a:rPr lang="en-IN"/>
              <a:t>2.State info grows with the no of flows.</a:t>
            </a:r>
          </a:p>
          <a:p>
            <a:pPr algn="just"/>
            <a:r>
              <a:rPr lang="en-IN"/>
              <a:t>3.When there is a failure new connection set up </a:t>
            </a:r>
          </a:p>
        </p:txBody>
      </p:sp>
      <p:sp>
        <p:nvSpPr>
          <p:cNvPr id="22535" name="Rectangle 9"/>
          <p:cNvSpPr>
            <a:spLocks noChangeArrowheads="1"/>
          </p:cNvSpPr>
          <p:nvPr/>
        </p:nvSpPr>
        <p:spPr bwMode="auto">
          <a:xfrm>
            <a:off x="2871788" y="5176838"/>
            <a:ext cx="45704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Modified form is cut-through switching</a:t>
            </a:r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2"/>
          <p:cNvGrpSpPr>
            <a:grpSpLocks/>
          </p:cNvGrpSpPr>
          <p:nvPr/>
        </p:nvGrpSpPr>
        <p:grpSpPr bwMode="auto">
          <a:xfrm>
            <a:off x="515938" y="1717675"/>
            <a:ext cx="8078787" cy="2928938"/>
            <a:chOff x="285" y="1690"/>
            <a:chExt cx="5089" cy="1845"/>
          </a:xfrm>
        </p:grpSpPr>
        <p:sp>
          <p:nvSpPr>
            <p:cNvPr id="23557" name="Line 3"/>
            <p:cNvSpPr>
              <a:spLocks noChangeShapeType="1"/>
            </p:cNvSpPr>
            <p:nvPr/>
          </p:nvSpPr>
          <p:spPr bwMode="auto">
            <a:xfrm>
              <a:off x="581" y="3191"/>
              <a:ext cx="4631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558" name="Line 4"/>
            <p:cNvSpPr>
              <a:spLocks noChangeShapeType="1"/>
            </p:cNvSpPr>
            <p:nvPr/>
          </p:nvSpPr>
          <p:spPr bwMode="auto">
            <a:xfrm>
              <a:off x="581" y="2775"/>
              <a:ext cx="4631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559" name="Line 5"/>
            <p:cNvSpPr>
              <a:spLocks noChangeShapeType="1"/>
            </p:cNvSpPr>
            <p:nvPr/>
          </p:nvSpPr>
          <p:spPr bwMode="auto">
            <a:xfrm>
              <a:off x="580" y="2349"/>
              <a:ext cx="46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560" name="Line 6"/>
            <p:cNvSpPr>
              <a:spLocks noChangeShapeType="1"/>
            </p:cNvSpPr>
            <p:nvPr/>
          </p:nvSpPr>
          <p:spPr bwMode="auto">
            <a:xfrm>
              <a:off x="580" y="1933"/>
              <a:ext cx="46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561" name="Line 7"/>
            <p:cNvSpPr>
              <a:spLocks noChangeShapeType="1"/>
            </p:cNvSpPr>
            <p:nvPr/>
          </p:nvSpPr>
          <p:spPr bwMode="auto">
            <a:xfrm>
              <a:off x="2948" y="2351"/>
              <a:ext cx="29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562" name="Line 8"/>
            <p:cNvSpPr>
              <a:spLocks noChangeShapeType="1"/>
            </p:cNvSpPr>
            <p:nvPr/>
          </p:nvSpPr>
          <p:spPr bwMode="auto">
            <a:xfrm>
              <a:off x="1260" y="2364"/>
              <a:ext cx="29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563" name="Line 9"/>
            <p:cNvSpPr>
              <a:spLocks noChangeShapeType="1"/>
            </p:cNvSpPr>
            <p:nvPr/>
          </p:nvSpPr>
          <p:spPr bwMode="auto">
            <a:xfrm>
              <a:off x="2020" y="1937"/>
              <a:ext cx="29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564" name="Line 10"/>
            <p:cNvSpPr>
              <a:spLocks noChangeShapeType="1"/>
            </p:cNvSpPr>
            <p:nvPr/>
          </p:nvSpPr>
          <p:spPr bwMode="auto">
            <a:xfrm>
              <a:off x="1593" y="2781"/>
              <a:ext cx="29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565" name="Line 11"/>
            <p:cNvSpPr>
              <a:spLocks noChangeShapeType="1"/>
            </p:cNvSpPr>
            <p:nvPr/>
          </p:nvSpPr>
          <p:spPr bwMode="auto">
            <a:xfrm>
              <a:off x="1797" y="2355"/>
              <a:ext cx="29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566" name="Line 12"/>
            <p:cNvSpPr>
              <a:spLocks noChangeShapeType="1"/>
            </p:cNvSpPr>
            <p:nvPr/>
          </p:nvSpPr>
          <p:spPr bwMode="auto">
            <a:xfrm>
              <a:off x="3235" y="2779"/>
              <a:ext cx="29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567" name="Line 13"/>
            <p:cNvSpPr>
              <a:spLocks noChangeShapeType="1"/>
            </p:cNvSpPr>
            <p:nvPr/>
          </p:nvSpPr>
          <p:spPr bwMode="auto">
            <a:xfrm>
              <a:off x="2190" y="2779"/>
              <a:ext cx="29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568" name="Rectangle 14"/>
            <p:cNvSpPr>
              <a:spLocks noChangeArrowheads="1"/>
            </p:cNvSpPr>
            <p:nvPr/>
          </p:nvSpPr>
          <p:spPr bwMode="auto">
            <a:xfrm>
              <a:off x="2737" y="2446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3</a:t>
              </a:r>
            </a:p>
          </p:txBody>
        </p:sp>
        <p:sp>
          <p:nvSpPr>
            <p:cNvPr id="23569" name="Rectangle 15"/>
            <p:cNvSpPr>
              <a:spLocks noChangeArrowheads="1"/>
            </p:cNvSpPr>
            <p:nvPr/>
          </p:nvSpPr>
          <p:spPr bwMode="auto">
            <a:xfrm>
              <a:off x="1522" y="2457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1</a:t>
              </a:r>
            </a:p>
          </p:txBody>
        </p:sp>
        <p:sp>
          <p:nvSpPr>
            <p:cNvPr id="23570" name="Line 16"/>
            <p:cNvSpPr>
              <a:spLocks noChangeShapeType="1"/>
            </p:cNvSpPr>
            <p:nvPr/>
          </p:nvSpPr>
          <p:spPr bwMode="auto">
            <a:xfrm>
              <a:off x="2383" y="2352"/>
              <a:ext cx="29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571" name="Rectangle 17"/>
            <p:cNvSpPr>
              <a:spLocks noChangeArrowheads="1"/>
            </p:cNvSpPr>
            <p:nvPr/>
          </p:nvSpPr>
          <p:spPr bwMode="auto">
            <a:xfrm>
              <a:off x="2129" y="2435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2</a:t>
              </a:r>
            </a:p>
          </p:txBody>
        </p:sp>
        <p:sp>
          <p:nvSpPr>
            <p:cNvPr id="23572" name="Rectangle 18"/>
            <p:cNvSpPr>
              <a:spLocks noChangeArrowheads="1"/>
            </p:cNvSpPr>
            <p:nvPr/>
          </p:nvSpPr>
          <p:spPr bwMode="auto">
            <a:xfrm>
              <a:off x="3079" y="2883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3</a:t>
              </a:r>
            </a:p>
          </p:txBody>
        </p:sp>
        <p:sp>
          <p:nvSpPr>
            <p:cNvPr id="23573" name="Rectangle 19"/>
            <p:cNvSpPr>
              <a:spLocks noChangeArrowheads="1"/>
            </p:cNvSpPr>
            <p:nvPr/>
          </p:nvSpPr>
          <p:spPr bwMode="auto">
            <a:xfrm>
              <a:off x="1970" y="2873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1</a:t>
              </a:r>
            </a:p>
          </p:txBody>
        </p:sp>
        <p:sp>
          <p:nvSpPr>
            <p:cNvPr id="23574" name="Rectangle 20"/>
            <p:cNvSpPr>
              <a:spLocks noChangeArrowheads="1"/>
            </p:cNvSpPr>
            <p:nvPr/>
          </p:nvSpPr>
          <p:spPr bwMode="auto">
            <a:xfrm>
              <a:off x="2524" y="2862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2</a:t>
              </a:r>
            </a:p>
          </p:txBody>
        </p:sp>
        <p:sp>
          <p:nvSpPr>
            <p:cNvPr id="23575" name="Line 21"/>
            <p:cNvSpPr>
              <a:spLocks noChangeShapeType="1"/>
            </p:cNvSpPr>
            <p:nvPr/>
          </p:nvSpPr>
          <p:spPr bwMode="auto">
            <a:xfrm>
              <a:off x="2618" y="1925"/>
              <a:ext cx="29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576" name="Line 22"/>
            <p:cNvSpPr>
              <a:spLocks noChangeShapeType="1"/>
            </p:cNvSpPr>
            <p:nvPr/>
          </p:nvSpPr>
          <p:spPr bwMode="auto">
            <a:xfrm>
              <a:off x="2733" y="2779"/>
              <a:ext cx="29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577" name="Rectangle 23"/>
            <p:cNvSpPr>
              <a:spLocks noChangeArrowheads="1"/>
            </p:cNvSpPr>
            <p:nvPr/>
          </p:nvSpPr>
          <p:spPr bwMode="auto">
            <a:xfrm>
              <a:off x="2386" y="2041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3</a:t>
              </a:r>
            </a:p>
          </p:txBody>
        </p:sp>
        <p:sp>
          <p:nvSpPr>
            <p:cNvPr id="23578" name="Rectangle 24"/>
            <p:cNvSpPr>
              <a:spLocks noChangeArrowheads="1"/>
            </p:cNvSpPr>
            <p:nvPr/>
          </p:nvSpPr>
          <p:spPr bwMode="auto">
            <a:xfrm>
              <a:off x="1831" y="2020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2</a:t>
              </a:r>
            </a:p>
          </p:txBody>
        </p:sp>
        <p:sp>
          <p:nvSpPr>
            <p:cNvPr id="23579" name="Line 25"/>
            <p:cNvSpPr>
              <a:spLocks noChangeShapeType="1"/>
            </p:cNvSpPr>
            <p:nvPr/>
          </p:nvSpPr>
          <p:spPr bwMode="auto">
            <a:xfrm>
              <a:off x="910" y="1937"/>
              <a:ext cx="29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580" name="Line 26"/>
            <p:cNvSpPr>
              <a:spLocks noChangeShapeType="1"/>
            </p:cNvSpPr>
            <p:nvPr/>
          </p:nvSpPr>
          <p:spPr bwMode="auto">
            <a:xfrm>
              <a:off x="1444" y="1938"/>
              <a:ext cx="291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581" name="Rectangle 27"/>
            <p:cNvSpPr>
              <a:spLocks noChangeArrowheads="1"/>
            </p:cNvSpPr>
            <p:nvPr/>
          </p:nvSpPr>
          <p:spPr bwMode="auto">
            <a:xfrm>
              <a:off x="1277" y="2031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1</a:t>
              </a:r>
            </a:p>
          </p:txBody>
        </p:sp>
        <p:sp>
          <p:nvSpPr>
            <p:cNvPr id="23582" name="Line 28"/>
            <p:cNvSpPr>
              <a:spLocks noChangeShapeType="1"/>
            </p:cNvSpPr>
            <p:nvPr/>
          </p:nvSpPr>
          <p:spPr bwMode="auto">
            <a:xfrm>
              <a:off x="912" y="1940"/>
              <a:ext cx="0" cy="1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583" name="Rectangle 29"/>
            <p:cNvSpPr>
              <a:spLocks noChangeArrowheads="1"/>
            </p:cNvSpPr>
            <p:nvPr/>
          </p:nvSpPr>
          <p:spPr bwMode="auto">
            <a:xfrm>
              <a:off x="1407" y="3287"/>
              <a:ext cx="1853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Minimum delay = 3</a:t>
              </a:r>
              <a:r>
                <a:rPr lang="en-US" i="1">
                  <a:sym typeface="Symbol" pitchFamily="18" charset="2"/>
                </a:rPr>
                <a:t> </a:t>
              </a:r>
              <a:r>
                <a:rPr lang="en-US"/>
                <a:t>+ </a:t>
              </a:r>
              <a:r>
                <a:rPr lang="en-US" i="1"/>
                <a:t>T</a:t>
              </a:r>
              <a:r>
                <a:rPr lang="en-US"/>
                <a:t> </a:t>
              </a:r>
            </a:p>
          </p:txBody>
        </p:sp>
        <p:sp>
          <p:nvSpPr>
            <p:cNvPr id="23584" name="Rectangle 30"/>
            <p:cNvSpPr>
              <a:spLocks noChangeArrowheads="1"/>
            </p:cNvSpPr>
            <p:nvPr/>
          </p:nvSpPr>
          <p:spPr bwMode="auto">
            <a:xfrm>
              <a:off x="5216" y="3081"/>
              <a:ext cx="158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i="1"/>
                <a:t>t</a:t>
              </a:r>
            </a:p>
          </p:txBody>
        </p:sp>
        <p:sp>
          <p:nvSpPr>
            <p:cNvPr id="23585" name="Rectangle 31"/>
            <p:cNvSpPr>
              <a:spLocks noChangeArrowheads="1"/>
            </p:cNvSpPr>
            <p:nvPr/>
          </p:nvSpPr>
          <p:spPr bwMode="auto">
            <a:xfrm>
              <a:off x="5216" y="2665"/>
              <a:ext cx="158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i="1"/>
                <a:t>t</a:t>
              </a:r>
            </a:p>
          </p:txBody>
        </p:sp>
        <p:sp>
          <p:nvSpPr>
            <p:cNvPr id="23586" name="Rectangle 32"/>
            <p:cNvSpPr>
              <a:spLocks noChangeArrowheads="1"/>
            </p:cNvSpPr>
            <p:nvPr/>
          </p:nvSpPr>
          <p:spPr bwMode="auto">
            <a:xfrm>
              <a:off x="5215" y="2239"/>
              <a:ext cx="158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i="1"/>
                <a:t>t</a:t>
              </a:r>
            </a:p>
          </p:txBody>
        </p:sp>
        <p:sp>
          <p:nvSpPr>
            <p:cNvPr id="23587" name="Rectangle 33"/>
            <p:cNvSpPr>
              <a:spLocks noChangeArrowheads="1"/>
            </p:cNvSpPr>
            <p:nvPr/>
          </p:nvSpPr>
          <p:spPr bwMode="auto">
            <a:xfrm>
              <a:off x="5215" y="1823"/>
              <a:ext cx="158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i="1"/>
                <a:t>t</a:t>
              </a:r>
            </a:p>
          </p:txBody>
        </p:sp>
        <p:sp>
          <p:nvSpPr>
            <p:cNvPr id="23588" name="Line 34"/>
            <p:cNvSpPr>
              <a:spLocks noChangeShapeType="1"/>
            </p:cNvSpPr>
            <p:nvPr/>
          </p:nvSpPr>
          <p:spPr bwMode="auto">
            <a:xfrm>
              <a:off x="912" y="1932"/>
              <a:ext cx="0" cy="12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589" name="Rectangle 35"/>
            <p:cNvSpPr>
              <a:spLocks noChangeArrowheads="1"/>
            </p:cNvSpPr>
            <p:nvPr/>
          </p:nvSpPr>
          <p:spPr bwMode="auto">
            <a:xfrm>
              <a:off x="285" y="1690"/>
              <a:ext cx="570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Source</a:t>
              </a:r>
            </a:p>
          </p:txBody>
        </p:sp>
        <p:sp>
          <p:nvSpPr>
            <p:cNvPr id="23590" name="Rectangle 36"/>
            <p:cNvSpPr>
              <a:spLocks noChangeArrowheads="1"/>
            </p:cNvSpPr>
            <p:nvPr/>
          </p:nvSpPr>
          <p:spPr bwMode="auto">
            <a:xfrm>
              <a:off x="285" y="3210"/>
              <a:ext cx="83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Destination</a:t>
              </a:r>
            </a:p>
          </p:txBody>
        </p:sp>
        <p:sp>
          <p:nvSpPr>
            <p:cNvPr id="23591" name="Rectangle 37"/>
            <p:cNvSpPr>
              <a:spLocks noChangeArrowheads="1"/>
            </p:cNvSpPr>
            <p:nvPr/>
          </p:nvSpPr>
          <p:spPr bwMode="auto">
            <a:xfrm>
              <a:off x="285" y="2095"/>
              <a:ext cx="658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Switch 1</a:t>
              </a:r>
            </a:p>
          </p:txBody>
        </p:sp>
        <p:sp>
          <p:nvSpPr>
            <p:cNvPr id="23592" name="Rectangle 38"/>
            <p:cNvSpPr>
              <a:spLocks noChangeArrowheads="1"/>
            </p:cNvSpPr>
            <p:nvPr/>
          </p:nvSpPr>
          <p:spPr bwMode="auto">
            <a:xfrm>
              <a:off x="285" y="2530"/>
              <a:ext cx="658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Switch 2</a:t>
              </a:r>
            </a:p>
          </p:txBody>
        </p:sp>
      </p:grpSp>
      <p:sp>
        <p:nvSpPr>
          <p:cNvPr id="23555" name="Rectangle 4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Cut-Through switching</a:t>
            </a:r>
          </a:p>
        </p:txBody>
      </p:sp>
      <p:sp>
        <p:nvSpPr>
          <p:cNvPr id="23556" name="Rectangle 41"/>
          <p:cNvSpPr>
            <a:spLocks noGrp="1" noChangeArrowheads="1"/>
          </p:cNvSpPr>
          <p:nvPr>
            <p:ph type="body" idx="1"/>
          </p:nvPr>
        </p:nvSpPr>
        <p:spPr>
          <a:xfrm>
            <a:off x="457200" y="4784725"/>
            <a:ext cx="8686800" cy="20732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smtClean="0"/>
              <a:t>Some networks perform error checking on header only, so packet can be forwarded as soon as header is received &amp; processed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Delays reduced further with cut-through switching(assumption- no retransmission at data link layers).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Suitable for Speech transmission-which has delay requirement and can tolerate some errors.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500" smtClean="0"/>
              <a:t>Message vs. Packet Minimum Delay</a:t>
            </a:r>
          </a:p>
        </p:txBody>
      </p:sp>
      <p:sp>
        <p:nvSpPr>
          <p:cNvPr id="2457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600" smtClean="0"/>
              <a:t>Message: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400" i="1" smtClean="0"/>
              <a:t>		L </a:t>
            </a:r>
            <a:r>
              <a:rPr lang="en-US" sz="2400" i="1" smtClean="0">
                <a:latin typeface="Symbol" pitchFamily="18" charset="2"/>
              </a:rPr>
              <a:t>t</a:t>
            </a:r>
            <a:r>
              <a:rPr lang="en-US" sz="2400" i="1" smtClean="0"/>
              <a:t>   +  L T  			</a:t>
            </a:r>
            <a:endParaRPr lang="en-US" sz="2400" i="1" smtClean="0">
              <a:solidFill>
                <a:srgbClr val="FF3300"/>
              </a:solidFill>
            </a:endParaRPr>
          </a:p>
          <a:p>
            <a:pPr lvl="1" eaLnBrk="1" hangingPunct="1">
              <a:buFont typeface="Wingdings" pitchFamily="2" charset="2"/>
              <a:buNone/>
            </a:pPr>
            <a:endParaRPr lang="en-US" sz="2400" i="1" smtClean="0"/>
          </a:p>
          <a:p>
            <a:pPr eaLnBrk="1" hangingPunct="1"/>
            <a:r>
              <a:rPr lang="en-US" sz="2600" smtClean="0"/>
              <a:t>Packet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400" i="1" smtClean="0"/>
              <a:t>		L </a:t>
            </a:r>
            <a:r>
              <a:rPr lang="en-US" sz="2400" i="1" smtClean="0">
                <a:latin typeface="Symbol" pitchFamily="18" charset="2"/>
              </a:rPr>
              <a:t>t</a:t>
            </a:r>
            <a:r>
              <a:rPr lang="en-US" sz="2400" i="1" smtClean="0"/>
              <a:t> +  L P + </a:t>
            </a:r>
            <a:r>
              <a:rPr lang="en-US" sz="2400" smtClean="0"/>
              <a:t>(</a:t>
            </a:r>
            <a:r>
              <a:rPr lang="en-US" sz="2400" i="1" smtClean="0"/>
              <a:t>k –</a:t>
            </a:r>
            <a:r>
              <a:rPr lang="en-US" sz="2400" smtClean="0"/>
              <a:t> 1)</a:t>
            </a:r>
            <a:r>
              <a:rPr lang="en-US" sz="2400" i="1" smtClean="0"/>
              <a:t> P  	</a:t>
            </a:r>
            <a:endParaRPr lang="en-US" sz="2400" i="1" smtClean="0">
              <a:solidFill>
                <a:srgbClr val="FF3300"/>
              </a:solidFill>
            </a:endParaRPr>
          </a:p>
          <a:p>
            <a:pPr lvl="1" eaLnBrk="1" hangingPunct="1">
              <a:buFont typeface="Wingdings" pitchFamily="2" charset="2"/>
              <a:buNone/>
            </a:pPr>
            <a:endParaRPr lang="en-US" sz="2400" i="1" smtClean="0">
              <a:solidFill>
                <a:srgbClr val="FF3300"/>
              </a:solidFill>
            </a:endParaRPr>
          </a:p>
          <a:p>
            <a:pPr eaLnBrk="1" hangingPunct="1"/>
            <a:r>
              <a:rPr lang="en-US" sz="2600" smtClean="0"/>
              <a:t>Cut-Through Packet (Immediate forwarding after header)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400" i="1" smtClean="0"/>
              <a:t>						=  L t +  T</a:t>
            </a:r>
          </a:p>
          <a:p>
            <a:pPr lvl="1" eaLnBrk="1" hangingPunct="1">
              <a:buFont typeface="Wingdings" pitchFamily="2" charset="2"/>
              <a:buNone/>
            </a:pPr>
            <a:endParaRPr lang="en-US" sz="2400" i="1" smtClean="0">
              <a:solidFill>
                <a:srgbClr val="FF3300"/>
              </a:solidFill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en-US" sz="2400" smtClean="0"/>
              <a:t>Above neglect header processing delays</a:t>
            </a:r>
          </a:p>
          <a:p>
            <a:pPr eaLnBrk="1" hangingPunct="1"/>
            <a:endParaRPr lang="en-US" sz="26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4400" smtClean="0">
                <a:solidFill>
                  <a:schemeClr val="hlink"/>
                </a:solidFill>
              </a:rPr>
              <a:t>Chapter 7</a:t>
            </a:r>
            <a:r>
              <a:rPr lang="en-US" sz="4400" smtClean="0"/>
              <a:t/>
            </a:r>
            <a:br>
              <a:rPr lang="en-US" sz="4400" smtClean="0"/>
            </a:br>
            <a:r>
              <a:rPr lang="en-US" sz="4400" smtClean="0"/>
              <a:t>Packet-Switching Networks</a:t>
            </a:r>
          </a:p>
        </p:txBody>
      </p:sp>
      <p:sp>
        <p:nvSpPr>
          <p:cNvPr id="25603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3022600"/>
          </a:xfrm>
        </p:spPr>
        <p:txBody>
          <a:bodyPr/>
          <a:lstStyle/>
          <a:p>
            <a:pPr eaLnBrk="1" hangingPunct="1"/>
            <a:r>
              <a:rPr lang="en-US" b="1" i="1" smtClean="0">
                <a:solidFill>
                  <a:schemeClr val="folHlink"/>
                </a:solidFill>
              </a:rPr>
              <a:t>Datagrams and Virtual Circuits</a:t>
            </a:r>
          </a:p>
          <a:p>
            <a:pPr eaLnBrk="1" hangingPunct="1"/>
            <a:r>
              <a:rPr lang="en-US" b="1" i="1" smtClean="0"/>
              <a:t>Structure of a Packet Switch</a:t>
            </a:r>
          </a:p>
          <a:p>
            <a:pPr eaLnBrk="1" hangingPunct="1"/>
            <a:endParaRPr lang="en-US" b="1" i="1" smtClean="0"/>
          </a:p>
        </p:txBody>
      </p:sp>
      <p:sp>
        <p:nvSpPr>
          <p:cNvPr id="25604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500" smtClean="0"/>
              <a:t>Packet Switch:  Intersection where Traffic Flows Meet</a:t>
            </a:r>
          </a:p>
        </p:txBody>
      </p:sp>
      <p:sp>
        <p:nvSpPr>
          <p:cNvPr id="26627" name="Rectangle 37"/>
          <p:cNvSpPr>
            <a:spLocks noChangeArrowheads="1"/>
          </p:cNvSpPr>
          <p:nvPr/>
        </p:nvSpPr>
        <p:spPr bwMode="auto">
          <a:xfrm>
            <a:off x="3660775" y="1717675"/>
            <a:ext cx="2620963" cy="2538413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28" name="AutoShape 39"/>
          <p:cNvSpPr>
            <a:spLocks noChangeArrowheads="1"/>
          </p:cNvSpPr>
          <p:nvPr/>
        </p:nvSpPr>
        <p:spPr bwMode="auto">
          <a:xfrm rot="5400000" flipH="1" flipV="1">
            <a:off x="3687763" y="3676650"/>
            <a:ext cx="400050" cy="2381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29" name="AutoShape 41"/>
          <p:cNvSpPr>
            <a:spLocks noChangeArrowheads="1"/>
          </p:cNvSpPr>
          <p:nvPr/>
        </p:nvSpPr>
        <p:spPr bwMode="auto">
          <a:xfrm rot="5400000" flipH="1" flipV="1">
            <a:off x="3664744" y="2007394"/>
            <a:ext cx="400050" cy="23971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0" name="AutoShape 44"/>
          <p:cNvSpPr>
            <a:spLocks noChangeArrowheads="1"/>
          </p:cNvSpPr>
          <p:nvPr/>
        </p:nvSpPr>
        <p:spPr bwMode="auto">
          <a:xfrm rot="5400000">
            <a:off x="5930901" y="3708400"/>
            <a:ext cx="393700" cy="2381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1" name="AutoShape 47"/>
          <p:cNvSpPr>
            <a:spLocks noChangeArrowheads="1"/>
          </p:cNvSpPr>
          <p:nvPr/>
        </p:nvSpPr>
        <p:spPr bwMode="auto">
          <a:xfrm rot="5400000">
            <a:off x="5918200" y="2014538"/>
            <a:ext cx="395288" cy="23971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2" name="Line 48"/>
          <p:cNvSpPr>
            <a:spLocks noChangeShapeType="1"/>
          </p:cNvSpPr>
          <p:nvPr/>
        </p:nvSpPr>
        <p:spPr bwMode="auto">
          <a:xfrm>
            <a:off x="3986213" y="1995488"/>
            <a:ext cx="1968500" cy="0"/>
          </a:xfrm>
          <a:prstGeom prst="line">
            <a:avLst/>
          </a:prstGeom>
          <a:noFill/>
          <a:ln w="12700" cap="rnd">
            <a:solidFill>
              <a:schemeClr val="tx2"/>
            </a:solidFill>
            <a:prstDash val="sysDot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6633" name="Line 49"/>
          <p:cNvSpPr>
            <a:spLocks noChangeShapeType="1"/>
          </p:cNvSpPr>
          <p:nvPr/>
        </p:nvSpPr>
        <p:spPr bwMode="auto">
          <a:xfrm>
            <a:off x="4019550" y="2273300"/>
            <a:ext cx="1968500" cy="1446213"/>
          </a:xfrm>
          <a:prstGeom prst="line">
            <a:avLst/>
          </a:prstGeom>
          <a:noFill/>
          <a:ln w="12700" cap="rnd">
            <a:solidFill>
              <a:schemeClr val="tx2"/>
            </a:solidFill>
            <a:prstDash val="sysDot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6634" name="Line 50"/>
          <p:cNvSpPr>
            <a:spLocks noChangeShapeType="1"/>
          </p:cNvSpPr>
          <p:nvPr/>
        </p:nvSpPr>
        <p:spPr bwMode="auto">
          <a:xfrm>
            <a:off x="4062413" y="3911600"/>
            <a:ext cx="1968500" cy="0"/>
          </a:xfrm>
          <a:prstGeom prst="line">
            <a:avLst/>
          </a:prstGeom>
          <a:noFill/>
          <a:ln w="12700" cap="rnd">
            <a:solidFill>
              <a:schemeClr val="tx2"/>
            </a:solidFill>
            <a:prstDash val="sysDot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6635" name="Line 51"/>
          <p:cNvSpPr>
            <a:spLocks noChangeShapeType="1"/>
          </p:cNvSpPr>
          <p:nvPr/>
        </p:nvSpPr>
        <p:spPr bwMode="auto">
          <a:xfrm flipV="1">
            <a:off x="4084638" y="2263775"/>
            <a:ext cx="1881187" cy="1427163"/>
          </a:xfrm>
          <a:prstGeom prst="line">
            <a:avLst/>
          </a:prstGeom>
          <a:noFill/>
          <a:ln w="12700" cap="rnd">
            <a:solidFill>
              <a:schemeClr val="tx2"/>
            </a:solidFill>
            <a:prstDash val="sysDot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6636" name="AutoShape 53"/>
          <p:cNvSpPr>
            <a:spLocks noChangeArrowheads="1"/>
          </p:cNvSpPr>
          <p:nvPr/>
        </p:nvSpPr>
        <p:spPr bwMode="auto">
          <a:xfrm rot="5400000" flipH="1" flipV="1">
            <a:off x="3675857" y="2545556"/>
            <a:ext cx="400050" cy="239713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7" name="AutoShape 56"/>
          <p:cNvSpPr>
            <a:spLocks noChangeArrowheads="1"/>
          </p:cNvSpPr>
          <p:nvPr/>
        </p:nvSpPr>
        <p:spPr bwMode="auto">
          <a:xfrm rot="5400000">
            <a:off x="5918994" y="2577307"/>
            <a:ext cx="393700" cy="23971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8" name="Line 57"/>
          <p:cNvSpPr>
            <a:spLocks noChangeShapeType="1"/>
          </p:cNvSpPr>
          <p:nvPr/>
        </p:nvSpPr>
        <p:spPr bwMode="auto">
          <a:xfrm>
            <a:off x="4051300" y="2636838"/>
            <a:ext cx="1970088" cy="0"/>
          </a:xfrm>
          <a:prstGeom prst="line">
            <a:avLst/>
          </a:prstGeom>
          <a:noFill/>
          <a:ln w="12700" cap="rnd">
            <a:solidFill>
              <a:schemeClr val="tx2"/>
            </a:solidFill>
            <a:prstDash val="sysDot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6639" name="Line 58"/>
          <p:cNvSpPr>
            <a:spLocks noChangeShapeType="1"/>
          </p:cNvSpPr>
          <p:nvPr/>
        </p:nvSpPr>
        <p:spPr bwMode="auto">
          <a:xfrm flipV="1">
            <a:off x="4041775" y="2100263"/>
            <a:ext cx="1935163" cy="403225"/>
          </a:xfrm>
          <a:prstGeom prst="line">
            <a:avLst/>
          </a:prstGeom>
          <a:noFill/>
          <a:ln w="12700" cap="rnd">
            <a:solidFill>
              <a:schemeClr val="tx2"/>
            </a:solidFill>
            <a:prstDash val="sysDot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6640" name="Line 59"/>
          <p:cNvSpPr>
            <a:spLocks noChangeShapeType="1"/>
          </p:cNvSpPr>
          <p:nvPr/>
        </p:nvSpPr>
        <p:spPr bwMode="auto">
          <a:xfrm>
            <a:off x="4062413" y="2828925"/>
            <a:ext cx="1903412" cy="938213"/>
          </a:xfrm>
          <a:prstGeom prst="line">
            <a:avLst/>
          </a:prstGeom>
          <a:noFill/>
          <a:ln w="12700" cap="rnd">
            <a:solidFill>
              <a:schemeClr val="tx2"/>
            </a:solidFill>
            <a:prstDash val="sysDot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6641" name="Line 60"/>
          <p:cNvSpPr>
            <a:spLocks noChangeShapeType="1"/>
          </p:cNvSpPr>
          <p:nvPr/>
        </p:nvSpPr>
        <p:spPr bwMode="auto">
          <a:xfrm>
            <a:off x="4029075" y="2081213"/>
            <a:ext cx="1958975" cy="450850"/>
          </a:xfrm>
          <a:prstGeom prst="line">
            <a:avLst/>
          </a:prstGeom>
          <a:noFill/>
          <a:ln w="12700" cap="rnd">
            <a:solidFill>
              <a:schemeClr val="tx2"/>
            </a:solidFill>
            <a:prstDash val="sysDot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6642" name="Line 61"/>
          <p:cNvSpPr>
            <a:spLocks noChangeShapeType="1"/>
          </p:cNvSpPr>
          <p:nvPr/>
        </p:nvSpPr>
        <p:spPr bwMode="auto">
          <a:xfrm flipV="1">
            <a:off x="4062413" y="2838450"/>
            <a:ext cx="1892300" cy="919163"/>
          </a:xfrm>
          <a:prstGeom prst="line">
            <a:avLst/>
          </a:prstGeom>
          <a:noFill/>
          <a:ln w="12700" cap="rnd">
            <a:solidFill>
              <a:schemeClr val="tx2"/>
            </a:solidFill>
            <a:prstDash val="sysDot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6643" name="Text Box 62"/>
          <p:cNvSpPr txBox="1">
            <a:spLocks noChangeArrowheads="1"/>
          </p:cNvSpPr>
          <p:nvPr/>
        </p:nvSpPr>
        <p:spPr bwMode="auto">
          <a:xfrm>
            <a:off x="2830513" y="1879600"/>
            <a:ext cx="3111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1</a:t>
            </a:r>
          </a:p>
        </p:txBody>
      </p:sp>
      <p:sp>
        <p:nvSpPr>
          <p:cNvPr id="26644" name="Text Box 63"/>
          <p:cNvSpPr txBox="1">
            <a:spLocks noChangeArrowheads="1"/>
          </p:cNvSpPr>
          <p:nvPr/>
        </p:nvSpPr>
        <p:spPr bwMode="auto">
          <a:xfrm>
            <a:off x="2809875" y="2368550"/>
            <a:ext cx="3111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2</a:t>
            </a:r>
          </a:p>
        </p:txBody>
      </p:sp>
      <p:sp>
        <p:nvSpPr>
          <p:cNvPr id="26645" name="Text Box 64"/>
          <p:cNvSpPr txBox="1">
            <a:spLocks noChangeArrowheads="1"/>
          </p:cNvSpPr>
          <p:nvPr/>
        </p:nvSpPr>
        <p:spPr bwMode="auto">
          <a:xfrm>
            <a:off x="2754313" y="3508375"/>
            <a:ext cx="3492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 i="1"/>
              <a:t>N</a:t>
            </a:r>
          </a:p>
        </p:txBody>
      </p:sp>
      <p:sp>
        <p:nvSpPr>
          <p:cNvPr id="26646" name="Text Box 65"/>
          <p:cNvSpPr txBox="1">
            <a:spLocks noChangeArrowheads="1"/>
          </p:cNvSpPr>
          <p:nvPr/>
        </p:nvSpPr>
        <p:spPr bwMode="auto">
          <a:xfrm>
            <a:off x="6997700" y="1851025"/>
            <a:ext cx="3111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1</a:t>
            </a:r>
          </a:p>
        </p:txBody>
      </p:sp>
      <p:sp>
        <p:nvSpPr>
          <p:cNvPr id="26647" name="Text Box 66"/>
          <p:cNvSpPr txBox="1">
            <a:spLocks noChangeArrowheads="1"/>
          </p:cNvSpPr>
          <p:nvPr/>
        </p:nvSpPr>
        <p:spPr bwMode="auto">
          <a:xfrm>
            <a:off x="6975475" y="2338388"/>
            <a:ext cx="311150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2</a:t>
            </a:r>
          </a:p>
        </p:txBody>
      </p:sp>
      <p:sp>
        <p:nvSpPr>
          <p:cNvPr id="26648" name="Text Box 67"/>
          <p:cNvSpPr txBox="1">
            <a:spLocks noChangeArrowheads="1"/>
          </p:cNvSpPr>
          <p:nvPr/>
        </p:nvSpPr>
        <p:spPr bwMode="auto">
          <a:xfrm>
            <a:off x="6921500" y="3479800"/>
            <a:ext cx="3492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 i="1"/>
              <a:t>N</a:t>
            </a:r>
          </a:p>
        </p:txBody>
      </p:sp>
      <p:sp>
        <p:nvSpPr>
          <p:cNvPr id="26649" name="Rectangle 68"/>
          <p:cNvSpPr>
            <a:spLocks noChangeArrowheads="1"/>
          </p:cNvSpPr>
          <p:nvPr/>
        </p:nvSpPr>
        <p:spPr bwMode="auto">
          <a:xfrm>
            <a:off x="6965950" y="2838450"/>
            <a:ext cx="276225" cy="546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000">
                <a:latin typeface="Wingdings" pitchFamily="2" charset="2"/>
              </a:rPr>
              <a:t></a:t>
            </a:r>
          </a:p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000">
                <a:latin typeface="Wingdings" pitchFamily="2" charset="2"/>
              </a:rPr>
              <a:t></a:t>
            </a:r>
          </a:p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000">
                <a:latin typeface="Wingdings" pitchFamily="2" charset="2"/>
              </a:rPr>
              <a:t></a:t>
            </a:r>
          </a:p>
        </p:txBody>
      </p:sp>
      <p:sp>
        <p:nvSpPr>
          <p:cNvPr id="26650" name="Rectangle 69"/>
          <p:cNvSpPr>
            <a:spLocks noChangeArrowheads="1"/>
          </p:cNvSpPr>
          <p:nvPr/>
        </p:nvSpPr>
        <p:spPr bwMode="auto">
          <a:xfrm>
            <a:off x="2851150" y="2924175"/>
            <a:ext cx="276225" cy="546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000">
                <a:latin typeface="Wingdings" pitchFamily="2" charset="2"/>
              </a:rPr>
              <a:t></a:t>
            </a:r>
          </a:p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000">
                <a:latin typeface="Wingdings" pitchFamily="2" charset="2"/>
              </a:rPr>
              <a:t></a:t>
            </a:r>
          </a:p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000">
                <a:latin typeface="Wingdings" pitchFamily="2" charset="2"/>
              </a:rPr>
              <a:t></a:t>
            </a:r>
          </a:p>
        </p:txBody>
      </p:sp>
      <p:grpSp>
        <p:nvGrpSpPr>
          <p:cNvPr id="26651" name="Group 3"/>
          <p:cNvGrpSpPr>
            <a:grpSpLocks/>
          </p:cNvGrpSpPr>
          <p:nvPr/>
        </p:nvGrpSpPr>
        <p:grpSpPr bwMode="auto">
          <a:xfrm>
            <a:off x="642938" y="1389063"/>
            <a:ext cx="3125787" cy="1993900"/>
            <a:chOff x="405" y="875"/>
            <a:chExt cx="1969" cy="1256"/>
          </a:xfrm>
        </p:grpSpPr>
        <p:sp>
          <p:nvSpPr>
            <p:cNvPr id="26879" name="Line 40"/>
            <p:cNvSpPr>
              <a:spLocks noChangeShapeType="1"/>
            </p:cNvSpPr>
            <p:nvPr/>
          </p:nvSpPr>
          <p:spPr bwMode="auto">
            <a:xfrm rot="5400000" flipH="1">
              <a:off x="2027" y="1001"/>
              <a:ext cx="0" cy="67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880" name="Line 52"/>
            <p:cNvSpPr>
              <a:spLocks noChangeShapeType="1"/>
            </p:cNvSpPr>
            <p:nvPr/>
          </p:nvSpPr>
          <p:spPr bwMode="auto">
            <a:xfrm rot="5400000" flipH="1">
              <a:off x="2035" y="1339"/>
              <a:ext cx="0" cy="679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grpSp>
          <p:nvGrpSpPr>
            <p:cNvPr id="26881" name="Group 249"/>
            <p:cNvGrpSpPr>
              <a:grpSpLocks/>
            </p:cNvGrpSpPr>
            <p:nvPr/>
          </p:nvGrpSpPr>
          <p:grpSpPr bwMode="auto">
            <a:xfrm>
              <a:off x="405" y="875"/>
              <a:ext cx="555" cy="552"/>
              <a:chOff x="802" y="3331"/>
              <a:chExt cx="881" cy="747"/>
            </a:xfrm>
          </p:grpSpPr>
          <p:sp>
            <p:nvSpPr>
              <p:cNvPr id="27061" name="AutoShape 71"/>
              <p:cNvSpPr>
                <a:spLocks noChangeArrowheads="1"/>
              </p:cNvSpPr>
              <p:nvPr/>
            </p:nvSpPr>
            <p:spPr bwMode="auto">
              <a:xfrm rot="5400000">
                <a:off x="1476" y="3634"/>
                <a:ext cx="248" cy="16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381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7062" name="Group 74"/>
              <p:cNvGrpSpPr>
                <a:grpSpLocks/>
              </p:cNvGrpSpPr>
              <p:nvPr/>
            </p:nvGrpSpPr>
            <p:grpSpPr bwMode="auto">
              <a:xfrm>
                <a:off x="802" y="3331"/>
                <a:ext cx="248" cy="201"/>
                <a:chOff x="3840" y="1279"/>
                <a:chExt cx="266" cy="310"/>
              </a:xfrm>
            </p:grpSpPr>
            <p:sp>
              <p:nvSpPr>
                <p:cNvPr id="27181" name="Freeform 75"/>
                <p:cNvSpPr>
                  <a:spLocks/>
                </p:cNvSpPr>
                <p:nvPr/>
              </p:nvSpPr>
              <p:spPr bwMode="auto">
                <a:xfrm>
                  <a:off x="3848" y="1548"/>
                  <a:ext cx="206" cy="20"/>
                </a:xfrm>
                <a:custGeom>
                  <a:avLst/>
                  <a:gdLst>
                    <a:gd name="T0" fmla="*/ 0 w 206"/>
                    <a:gd name="T1" fmla="*/ 19 h 20"/>
                    <a:gd name="T2" fmla="*/ 0 w 206"/>
                    <a:gd name="T3" fmla="*/ 0 h 20"/>
                    <a:gd name="T4" fmla="*/ 205 w 206"/>
                    <a:gd name="T5" fmla="*/ 0 h 20"/>
                    <a:gd name="T6" fmla="*/ 205 w 206"/>
                    <a:gd name="T7" fmla="*/ 19 h 20"/>
                    <a:gd name="T8" fmla="*/ 0 w 206"/>
                    <a:gd name="T9" fmla="*/ 19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6"/>
                    <a:gd name="T16" fmla="*/ 0 h 20"/>
                    <a:gd name="T17" fmla="*/ 206 w 206"/>
                    <a:gd name="T18" fmla="*/ 20 h 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6" h="20">
                      <a:moveTo>
                        <a:pt x="0" y="19"/>
                      </a:moveTo>
                      <a:lnTo>
                        <a:pt x="0" y="0"/>
                      </a:lnTo>
                      <a:lnTo>
                        <a:pt x="205" y="0"/>
                      </a:lnTo>
                      <a:lnTo>
                        <a:pt x="205" y="19"/>
                      </a:lnTo>
                      <a:lnTo>
                        <a:pt x="0" y="19"/>
                      </a:lnTo>
                    </a:path>
                  </a:pathLst>
                </a:custGeom>
                <a:solidFill>
                  <a:srgbClr val="666666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82" name="Freeform 76"/>
                <p:cNvSpPr>
                  <a:spLocks/>
                </p:cNvSpPr>
                <p:nvPr/>
              </p:nvSpPr>
              <p:spPr bwMode="auto">
                <a:xfrm>
                  <a:off x="3840" y="1453"/>
                  <a:ext cx="220" cy="34"/>
                </a:xfrm>
                <a:custGeom>
                  <a:avLst/>
                  <a:gdLst>
                    <a:gd name="T0" fmla="*/ 189 w 220"/>
                    <a:gd name="T1" fmla="*/ 0 h 34"/>
                    <a:gd name="T2" fmla="*/ 219 w 220"/>
                    <a:gd name="T3" fmla="*/ 33 h 34"/>
                    <a:gd name="T4" fmla="*/ 0 w 220"/>
                    <a:gd name="T5" fmla="*/ 33 h 34"/>
                    <a:gd name="T6" fmla="*/ 29 w 220"/>
                    <a:gd name="T7" fmla="*/ 0 h 34"/>
                    <a:gd name="T8" fmla="*/ 189 w 220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34"/>
                    <a:gd name="T17" fmla="*/ 220 w 220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34">
                      <a:moveTo>
                        <a:pt x="189" y="0"/>
                      </a:moveTo>
                      <a:lnTo>
                        <a:pt x="219" y="33"/>
                      </a:lnTo>
                      <a:lnTo>
                        <a:pt x="0" y="33"/>
                      </a:lnTo>
                      <a:lnTo>
                        <a:pt x="29" y="0"/>
                      </a:lnTo>
                      <a:lnTo>
                        <a:pt x="189" y="0"/>
                      </a:lnTo>
                    </a:path>
                  </a:pathLst>
                </a:custGeom>
                <a:solidFill>
                  <a:srgbClr val="EFEFD1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83" name="Freeform 77"/>
                <p:cNvSpPr>
                  <a:spLocks/>
                </p:cNvSpPr>
                <p:nvPr/>
              </p:nvSpPr>
              <p:spPr bwMode="auto">
                <a:xfrm>
                  <a:off x="3897" y="1449"/>
                  <a:ext cx="104" cy="24"/>
                </a:xfrm>
                <a:custGeom>
                  <a:avLst/>
                  <a:gdLst>
                    <a:gd name="T0" fmla="*/ 102 w 104"/>
                    <a:gd name="T1" fmla="*/ 10 h 24"/>
                    <a:gd name="T2" fmla="*/ 101 w 104"/>
                    <a:gd name="T3" fmla="*/ 8 h 24"/>
                    <a:gd name="T4" fmla="*/ 97 w 104"/>
                    <a:gd name="T5" fmla="*/ 6 h 24"/>
                    <a:gd name="T6" fmla="*/ 93 w 104"/>
                    <a:gd name="T7" fmla="*/ 4 h 24"/>
                    <a:gd name="T8" fmla="*/ 87 w 104"/>
                    <a:gd name="T9" fmla="*/ 3 h 24"/>
                    <a:gd name="T10" fmla="*/ 80 w 104"/>
                    <a:gd name="T11" fmla="*/ 2 h 24"/>
                    <a:gd name="T12" fmla="*/ 72 w 104"/>
                    <a:gd name="T13" fmla="*/ 1 h 24"/>
                    <a:gd name="T14" fmla="*/ 64 w 104"/>
                    <a:gd name="T15" fmla="*/ 0 h 24"/>
                    <a:gd name="T16" fmla="*/ 55 w 104"/>
                    <a:gd name="T17" fmla="*/ 0 h 24"/>
                    <a:gd name="T18" fmla="*/ 46 w 104"/>
                    <a:gd name="T19" fmla="*/ 0 h 24"/>
                    <a:gd name="T20" fmla="*/ 37 w 104"/>
                    <a:gd name="T21" fmla="*/ 0 h 24"/>
                    <a:gd name="T22" fmla="*/ 29 w 104"/>
                    <a:gd name="T23" fmla="*/ 1 h 24"/>
                    <a:gd name="T24" fmla="*/ 21 w 104"/>
                    <a:gd name="T25" fmla="*/ 2 h 24"/>
                    <a:gd name="T26" fmla="*/ 14 w 104"/>
                    <a:gd name="T27" fmla="*/ 3 h 24"/>
                    <a:gd name="T28" fmla="*/ 8 w 104"/>
                    <a:gd name="T29" fmla="*/ 4 h 24"/>
                    <a:gd name="T30" fmla="*/ 4 w 104"/>
                    <a:gd name="T31" fmla="*/ 6 h 24"/>
                    <a:gd name="T32" fmla="*/ 1 w 104"/>
                    <a:gd name="T33" fmla="*/ 8 h 24"/>
                    <a:gd name="T34" fmla="*/ 0 w 104"/>
                    <a:gd name="T35" fmla="*/ 10 h 24"/>
                    <a:gd name="T36" fmla="*/ 0 w 104"/>
                    <a:gd name="T37" fmla="*/ 12 h 24"/>
                    <a:gd name="T38" fmla="*/ 1 w 104"/>
                    <a:gd name="T39" fmla="*/ 14 h 24"/>
                    <a:gd name="T40" fmla="*/ 4 w 104"/>
                    <a:gd name="T41" fmla="*/ 16 h 24"/>
                    <a:gd name="T42" fmla="*/ 8 w 104"/>
                    <a:gd name="T43" fmla="*/ 17 h 24"/>
                    <a:gd name="T44" fmla="*/ 14 w 104"/>
                    <a:gd name="T45" fmla="*/ 19 h 24"/>
                    <a:gd name="T46" fmla="*/ 21 w 104"/>
                    <a:gd name="T47" fmla="*/ 20 h 24"/>
                    <a:gd name="T48" fmla="*/ 29 w 104"/>
                    <a:gd name="T49" fmla="*/ 21 h 24"/>
                    <a:gd name="T50" fmla="*/ 37 w 104"/>
                    <a:gd name="T51" fmla="*/ 22 h 24"/>
                    <a:gd name="T52" fmla="*/ 46 w 104"/>
                    <a:gd name="T53" fmla="*/ 23 h 24"/>
                    <a:gd name="T54" fmla="*/ 55 w 104"/>
                    <a:gd name="T55" fmla="*/ 23 h 24"/>
                    <a:gd name="T56" fmla="*/ 64 w 104"/>
                    <a:gd name="T57" fmla="*/ 22 h 24"/>
                    <a:gd name="T58" fmla="*/ 72 w 104"/>
                    <a:gd name="T59" fmla="*/ 21 h 24"/>
                    <a:gd name="T60" fmla="*/ 80 w 104"/>
                    <a:gd name="T61" fmla="*/ 20 h 24"/>
                    <a:gd name="T62" fmla="*/ 87 w 104"/>
                    <a:gd name="T63" fmla="*/ 19 h 24"/>
                    <a:gd name="T64" fmla="*/ 93 w 104"/>
                    <a:gd name="T65" fmla="*/ 17 h 24"/>
                    <a:gd name="T66" fmla="*/ 97 w 104"/>
                    <a:gd name="T67" fmla="*/ 16 h 24"/>
                    <a:gd name="T68" fmla="*/ 101 w 104"/>
                    <a:gd name="T69" fmla="*/ 14 h 24"/>
                    <a:gd name="T70" fmla="*/ 102 w 104"/>
                    <a:gd name="T71" fmla="*/ 12 h 24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104"/>
                    <a:gd name="T109" fmla="*/ 0 h 24"/>
                    <a:gd name="T110" fmla="*/ 104 w 104"/>
                    <a:gd name="T111" fmla="*/ 24 h 24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104" h="24">
                      <a:moveTo>
                        <a:pt x="103" y="11"/>
                      </a:moveTo>
                      <a:lnTo>
                        <a:pt x="102" y="10"/>
                      </a:lnTo>
                      <a:lnTo>
                        <a:pt x="102" y="9"/>
                      </a:lnTo>
                      <a:lnTo>
                        <a:pt x="101" y="8"/>
                      </a:lnTo>
                      <a:lnTo>
                        <a:pt x="99" y="7"/>
                      </a:lnTo>
                      <a:lnTo>
                        <a:pt x="97" y="6"/>
                      </a:lnTo>
                      <a:lnTo>
                        <a:pt x="95" y="6"/>
                      </a:lnTo>
                      <a:lnTo>
                        <a:pt x="93" y="4"/>
                      </a:lnTo>
                      <a:lnTo>
                        <a:pt x="90" y="4"/>
                      </a:lnTo>
                      <a:lnTo>
                        <a:pt x="87" y="3"/>
                      </a:lnTo>
                      <a:lnTo>
                        <a:pt x="84" y="2"/>
                      </a:lnTo>
                      <a:lnTo>
                        <a:pt x="80" y="2"/>
                      </a:lnTo>
                      <a:lnTo>
                        <a:pt x="76" y="1"/>
                      </a:lnTo>
                      <a:lnTo>
                        <a:pt x="72" y="1"/>
                      </a:lnTo>
                      <a:lnTo>
                        <a:pt x="69" y="0"/>
                      </a:lnTo>
                      <a:lnTo>
                        <a:pt x="64" y="0"/>
                      </a:lnTo>
                      <a:lnTo>
                        <a:pt x="60" y="0"/>
                      </a:lnTo>
                      <a:lnTo>
                        <a:pt x="55" y="0"/>
                      </a:lnTo>
                      <a:lnTo>
                        <a:pt x="51" y="0"/>
                      </a:lnTo>
                      <a:lnTo>
                        <a:pt x="46" y="0"/>
                      </a:lnTo>
                      <a:lnTo>
                        <a:pt x="42" y="0"/>
                      </a:lnTo>
                      <a:lnTo>
                        <a:pt x="37" y="0"/>
                      </a:lnTo>
                      <a:lnTo>
                        <a:pt x="33" y="0"/>
                      </a:lnTo>
                      <a:lnTo>
                        <a:pt x="29" y="1"/>
                      </a:lnTo>
                      <a:lnTo>
                        <a:pt x="25" y="1"/>
                      </a:lnTo>
                      <a:lnTo>
                        <a:pt x="21" y="2"/>
                      </a:lnTo>
                      <a:lnTo>
                        <a:pt x="17" y="2"/>
                      </a:lnTo>
                      <a:lnTo>
                        <a:pt x="14" y="3"/>
                      </a:lnTo>
                      <a:lnTo>
                        <a:pt x="12" y="4"/>
                      </a:lnTo>
                      <a:lnTo>
                        <a:pt x="8" y="4"/>
                      </a:lnTo>
                      <a:lnTo>
                        <a:pt x="6" y="6"/>
                      </a:lnTo>
                      <a:lnTo>
                        <a:pt x="4" y="6"/>
                      </a:lnTo>
                      <a:lnTo>
                        <a:pt x="3" y="7"/>
                      </a:lnTo>
                      <a:lnTo>
                        <a:pt x="1" y="8"/>
                      </a:lnTo>
                      <a:lnTo>
                        <a:pt x="0" y="9"/>
                      </a:lnTo>
                      <a:lnTo>
                        <a:pt x="0" y="10"/>
                      </a:lnTo>
                      <a:lnTo>
                        <a:pt x="0" y="11"/>
                      </a:lnTo>
                      <a:lnTo>
                        <a:pt x="0" y="12"/>
                      </a:lnTo>
                      <a:lnTo>
                        <a:pt x="0" y="13"/>
                      </a:lnTo>
                      <a:lnTo>
                        <a:pt x="1" y="14"/>
                      </a:lnTo>
                      <a:lnTo>
                        <a:pt x="3" y="15"/>
                      </a:lnTo>
                      <a:lnTo>
                        <a:pt x="4" y="16"/>
                      </a:lnTo>
                      <a:lnTo>
                        <a:pt x="6" y="17"/>
                      </a:lnTo>
                      <a:lnTo>
                        <a:pt x="8" y="17"/>
                      </a:lnTo>
                      <a:lnTo>
                        <a:pt x="12" y="18"/>
                      </a:lnTo>
                      <a:lnTo>
                        <a:pt x="14" y="19"/>
                      </a:lnTo>
                      <a:lnTo>
                        <a:pt x="17" y="20"/>
                      </a:lnTo>
                      <a:lnTo>
                        <a:pt x="21" y="20"/>
                      </a:lnTo>
                      <a:lnTo>
                        <a:pt x="25" y="21"/>
                      </a:lnTo>
                      <a:lnTo>
                        <a:pt x="29" y="21"/>
                      </a:lnTo>
                      <a:lnTo>
                        <a:pt x="33" y="22"/>
                      </a:lnTo>
                      <a:lnTo>
                        <a:pt x="37" y="22"/>
                      </a:lnTo>
                      <a:lnTo>
                        <a:pt x="42" y="22"/>
                      </a:lnTo>
                      <a:lnTo>
                        <a:pt x="46" y="23"/>
                      </a:lnTo>
                      <a:lnTo>
                        <a:pt x="51" y="23"/>
                      </a:lnTo>
                      <a:lnTo>
                        <a:pt x="55" y="23"/>
                      </a:lnTo>
                      <a:lnTo>
                        <a:pt x="60" y="22"/>
                      </a:lnTo>
                      <a:lnTo>
                        <a:pt x="64" y="22"/>
                      </a:lnTo>
                      <a:lnTo>
                        <a:pt x="69" y="22"/>
                      </a:lnTo>
                      <a:lnTo>
                        <a:pt x="72" y="21"/>
                      </a:lnTo>
                      <a:lnTo>
                        <a:pt x="76" y="21"/>
                      </a:lnTo>
                      <a:lnTo>
                        <a:pt x="80" y="20"/>
                      </a:lnTo>
                      <a:lnTo>
                        <a:pt x="84" y="20"/>
                      </a:lnTo>
                      <a:lnTo>
                        <a:pt x="87" y="19"/>
                      </a:lnTo>
                      <a:lnTo>
                        <a:pt x="90" y="18"/>
                      </a:lnTo>
                      <a:lnTo>
                        <a:pt x="93" y="17"/>
                      </a:lnTo>
                      <a:lnTo>
                        <a:pt x="95" y="17"/>
                      </a:lnTo>
                      <a:lnTo>
                        <a:pt x="97" y="16"/>
                      </a:lnTo>
                      <a:lnTo>
                        <a:pt x="99" y="15"/>
                      </a:lnTo>
                      <a:lnTo>
                        <a:pt x="101" y="14"/>
                      </a:lnTo>
                      <a:lnTo>
                        <a:pt x="102" y="13"/>
                      </a:lnTo>
                      <a:lnTo>
                        <a:pt x="102" y="12"/>
                      </a:lnTo>
                      <a:lnTo>
                        <a:pt x="103" y="11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84" name="Freeform 78"/>
                <p:cNvSpPr>
                  <a:spLocks/>
                </p:cNvSpPr>
                <p:nvPr/>
              </p:nvSpPr>
              <p:spPr bwMode="auto">
                <a:xfrm>
                  <a:off x="3897" y="1461"/>
                  <a:ext cx="104" cy="17"/>
                </a:xfrm>
                <a:custGeom>
                  <a:avLst/>
                  <a:gdLst>
                    <a:gd name="T0" fmla="*/ 102 w 104"/>
                    <a:gd name="T1" fmla="*/ 6 h 17"/>
                    <a:gd name="T2" fmla="*/ 101 w 104"/>
                    <a:gd name="T3" fmla="*/ 8 h 17"/>
                    <a:gd name="T4" fmla="*/ 97 w 104"/>
                    <a:gd name="T5" fmla="*/ 10 h 17"/>
                    <a:gd name="T6" fmla="*/ 93 w 104"/>
                    <a:gd name="T7" fmla="*/ 11 h 17"/>
                    <a:gd name="T8" fmla="*/ 87 w 104"/>
                    <a:gd name="T9" fmla="*/ 12 h 17"/>
                    <a:gd name="T10" fmla="*/ 80 w 104"/>
                    <a:gd name="T11" fmla="*/ 14 h 17"/>
                    <a:gd name="T12" fmla="*/ 72 w 104"/>
                    <a:gd name="T13" fmla="*/ 14 h 17"/>
                    <a:gd name="T14" fmla="*/ 64 w 104"/>
                    <a:gd name="T15" fmla="*/ 15 h 17"/>
                    <a:gd name="T16" fmla="*/ 55 w 104"/>
                    <a:gd name="T17" fmla="*/ 16 h 17"/>
                    <a:gd name="T18" fmla="*/ 46 w 104"/>
                    <a:gd name="T19" fmla="*/ 16 h 17"/>
                    <a:gd name="T20" fmla="*/ 37 w 104"/>
                    <a:gd name="T21" fmla="*/ 15 h 17"/>
                    <a:gd name="T22" fmla="*/ 29 w 104"/>
                    <a:gd name="T23" fmla="*/ 14 h 17"/>
                    <a:gd name="T24" fmla="*/ 21 w 104"/>
                    <a:gd name="T25" fmla="*/ 14 h 17"/>
                    <a:gd name="T26" fmla="*/ 14 w 104"/>
                    <a:gd name="T27" fmla="*/ 12 h 17"/>
                    <a:gd name="T28" fmla="*/ 8 w 104"/>
                    <a:gd name="T29" fmla="*/ 11 h 17"/>
                    <a:gd name="T30" fmla="*/ 4 w 104"/>
                    <a:gd name="T31" fmla="*/ 10 h 17"/>
                    <a:gd name="T32" fmla="*/ 1 w 104"/>
                    <a:gd name="T33" fmla="*/ 8 h 17"/>
                    <a:gd name="T34" fmla="*/ 0 w 104"/>
                    <a:gd name="T35" fmla="*/ 6 h 17"/>
                    <a:gd name="T36" fmla="*/ 0 w 104"/>
                    <a:gd name="T37" fmla="*/ 0 h 17"/>
                    <a:gd name="T38" fmla="*/ 0 w 104"/>
                    <a:gd name="T39" fmla="*/ 2 h 17"/>
                    <a:gd name="T40" fmla="*/ 3 w 104"/>
                    <a:gd name="T41" fmla="*/ 4 h 17"/>
                    <a:gd name="T42" fmla="*/ 6 w 104"/>
                    <a:gd name="T43" fmla="*/ 5 h 17"/>
                    <a:gd name="T44" fmla="*/ 12 w 104"/>
                    <a:gd name="T45" fmla="*/ 6 h 17"/>
                    <a:gd name="T46" fmla="*/ 17 w 104"/>
                    <a:gd name="T47" fmla="*/ 8 h 17"/>
                    <a:gd name="T48" fmla="*/ 25 w 104"/>
                    <a:gd name="T49" fmla="*/ 9 h 17"/>
                    <a:gd name="T50" fmla="*/ 33 w 104"/>
                    <a:gd name="T51" fmla="*/ 10 h 17"/>
                    <a:gd name="T52" fmla="*/ 42 w 104"/>
                    <a:gd name="T53" fmla="*/ 10 h 17"/>
                    <a:gd name="T54" fmla="*/ 51 w 104"/>
                    <a:gd name="T55" fmla="*/ 10 h 17"/>
                    <a:gd name="T56" fmla="*/ 60 w 104"/>
                    <a:gd name="T57" fmla="*/ 10 h 17"/>
                    <a:gd name="T58" fmla="*/ 69 w 104"/>
                    <a:gd name="T59" fmla="*/ 10 h 17"/>
                    <a:gd name="T60" fmla="*/ 76 w 104"/>
                    <a:gd name="T61" fmla="*/ 9 h 17"/>
                    <a:gd name="T62" fmla="*/ 84 w 104"/>
                    <a:gd name="T63" fmla="*/ 8 h 17"/>
                    <a:gd name="T64" fmla="*/ 90 w 104"/>
                    <a:gd name="T65" fmla="*/ 6 h 17"/>
                    <a:gd name="T66" fmla="*/ 95 w 104"/>
                    <a:gd name="T67" fmla="*/ 5 h 17"/>
                    <a:gd name="T68" fmla="*/ 99 w 104"/>
                    <a:gd name="T69" fmla="*/ 4 h 17"/>
                    <a:gd name="T70" fmla="*/ 102 w 104"/>
                    <a:gd name="T71" fmla="*/ 2 h 17"/>
                    <a:gd name="T72" fmla="*/ 103 w 104"/>
                    <a:gd name="T73" fmla="*/ 0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04"/>
                    <a:gd name="T112" fmla="*/ 0 h 17"/>
                    <a:gd name="T113" fmla="*/ 104 w 104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04" h="17">
                      <a:moveTo>
                        <a:pt x="103" y="5"/>
                      </a:moveTo>
                      <a:lnTo>
                        <a:pt x="102" y="6"/>
                      </a:lnTo>
                      <a:lnTo>
                        <a:pt x="102" y="7"/>
                      </a:lnTo>
                      <a:lnTo>
                        <a:pt x="101" y="8"/>
                      </a:lnTo>
                      <a:lnTo>
                        <a:pt x="99" y="8"/>
                      </a:lnTo>
                      <a:lnTo>
                        <a:pt x="97" y="10"/>
                      </a:lnTo>
                      <a:lnTo>
                        <a:pt x="95" y="10"/>
                      </a:lnTo>
                      <a:lnTo>
                        <a:pt x="93" y="11"/>
                      </a:lnTo>
                      <a:lnTo>
                        <a:pt x="90" y="12"/>
                      </a:lnTo>
                      <a:lnTo>
                        <a:pt x="87" y="12"/>
                      </a:lnTo>
                      <a:lnTo>
                        <a:pt x="84" y="13"/>
                      </a:lnTo>
                      <a:lnTo>
                        <a:pt x="80" y="14"/>
                      </a:lnTo>
                      <a:lnTo>
                        <a:pt x="76" y="14"/>
                      </a:lnTo>
                      <a:lnTo>
                        <a:pt x="72" y="14"/>
                      </a:lnTo>
                      <a:lnTo>
                        <a:pt x="69" y="15"/>
                      </a:lnTo>
                      <a:lnTo>
                        <a:pt x="64" y="15"/>
                      </a:lnTo>
                      <a:lnTo>
                        <a:pt x="60" y="16"/>
                      </a:lnTo>
                      <a:lnTo>
                        <a:pt x="55" y="16"/>
                      </a:lnTo>
                      <a:lnTo>
                        <a:pt x="51" y="16"/>
                      </a:lnTo>
                      <a:lnTo>
                        <a:pt x="46" y="16"/>
                      </a:lnTo>
                      <a:lnTo>
                        <a:pt x="42" y="16"/>
                      </a:lnTo>
                      <a:lnTo>
                        <a:pt x="37" y="15"/>
                      </a:lnTo>
                      <a:lnTo>
                        <a:pt x="33" y="15"/>
                      </a:lnTo>
                      <a:lnTo>
                        <a:pt x="29" y="14"/>
                      </a:lnTo>
                      <a:lnTo>
                        <a:pt x="25" y="14"/>
                      </a:lnTo>
                      <a:lnTo>
                        <a:pt x="21" y="14"/>
                      </a:lnTo>
                      <a:lnTo>
                        <a:pt x="17" y="13"/>
                      </a:lnTo>
                      <a:lnTo>
                        <a:pt x="14" y="12"/>
                      </a:lnTo>
                      <a:lnTo>
                        <a:pt x="12" y="12"/>
                      </a:lnTo>
                      <a:lnTo>
                        <a:pt x="8" y="11"/>
                      </a:lnTo>
                      <a:lnTo>
                        <a:pt x="6" y="10"/>
                      </a:lnTo>
                      <a:lnTo>
                        <a:pt x="4" y="10"/>
                      </a:lnTo>
                      <a:lnTo>
                        <a:pt x="3" y="8"/>
                      </a:lnTo>
                      <a:lnTo>
                        <a:pt x="1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1" y="2"/>
                      </a:lnTo>
                      <a:lnTo>
                        <a:pt x="3" y="4"/>
                      </a:lnTo>
                      <a:lnTo>
                        <a:pt x="4" y="4"/>
                      </a:lnTo>
                      <a:lnTo>
                        <a:pt x="6" y="5"/>
                      </a:lnTo>
                      <a:lnTo>
                        <a:pt x="8" y="6"/>
                      </a:lnTo>
                      <a:lnTo>
                        <a:pt x="12" y="6"/>
                      </a:lnTo>
                      <a:lnTo>
                        <a:pt x="14" y="7"/>
                      </a:lnTo>
                      <a:lnTo>
                        <a:pt x="17" y="8"/>
                      </a:lnTo>
                      <a:lnTo>
                        <a:pt x="21" y="8"/>
                      </a:lnTo>
                      <a:lnTo>
                        <a:pt x="25" y="9"/>
                      </a:lnTo>
                      <a:lnTo>
                        <a:pt x="29" y="10"/>
                      </a:lnTo>
                      <a:lnTo>
                        <a:pt x="33" y="10"/>
                      </a:lnTo>
                      <a:lnTo>
                        <a:pt x="37" y="10"/>
                      </a:lnTo>
                      <a:lnTo>
                        <a:pt x="42" y="10"/>
                      </a:lnTo>
                      <a:lnTo>
                        <a:pt x="46" y="10"/>
                      </a:lnTo>
                      <a:lnTo>
                        <a:pt x="51" y="10"/>
                      </a:lnTo>
                      <a:lnTo>
                        <a:pt x="55" y="10"/>
                      </a:lnTo>
                      <a:lnTo>
                        <a:pt x="60" y="10"/>
                      </a:lnTo>
                      <a:lnTo>
                        <a:pt x="64" y="10"/>
                      </a:lnTo>
                      <a:lnTo>
                        <a:pt x="69" y="10"/>
                      </a:lnTo>
                      <a:lnTo>
                        <a:pt x="72" y="10"/>
                      </a:lnTo>
                      <a:lnTo>
                        <a:pt x="76" y="9"/>
                      </a:lnTo>
                      <a:lnTo>
                        <a:pt x="80" y="8"/>
                      </a:lnTo>
                      <a:lnTo>
                        <a:pt x="84" y="8"/>
                      </a:lnTo>
                      <a:lnTo>
                        <a:pt x="87" y="7"/>
                      </a:lnTo>
                      <a:lnTo>
                        <a:pt x="90" y="6"/>
                      </a:lnTo>
                      <a:lnTo>
                        <a:pt x="93" y="6"/>
                      </a:lnTo>
                      <a:lnTo>
                        <a:pt x="95" y="5"/>
                      </a:lnTo>
                      <a:lnTo>
                        <a:pt x="97" y="4"/>
                      </a:lnTo>
                      <a:lnTo>
                        <a:pt x="99" y="4"/>
                      </a:lnTo>
                      <a:lnTo>
                        <a:pt x="101" y="2"/>
                      </a:lnTo>
                      <a:lnTo>
                        <a:pt x="102" y="2"/>
                      </a:lnTo>
                      <a:lnTo>
                        <a:pt x="102" y="1"/>
                      </a:lnTo>
                      <a:lnTo>
                        <a:pt x="103" y="0"/>
                      </a:lnTo>
                      <a:lnTo>
                        <a:pt x="103" y="5"/>
                      </a:lnTo>
                    </a:path>
                  </a:pathLst>
                </a:custGeom>
                <a:solidFill>
                  <a:srgbClr val="666666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85" name="Freeform 79"/>
                <p:cNvSpPr>
                  <a:spLocks/>
                </p:cNvSpPr>
                <p:nvPr/>
              </p:nvSpPr>
              <p:spPr bwMode="auto">
                <a:xfrm>
                  <a:off x="3840" y="1486"/>
                  <a:ext cx="220" cy="77"/>
                </a:xfrm>
                <a:custGeom>
                  <a:avLst/>
                  <a:gdLst>
                    <a:gd name="T0" fmla="*/ 0 w 220"/>
                    <a:gd name="T1" fmla="*/ 76 h 77"/>
                    <a:gd name="T2" fmla="*/ 219 w 220"/>
                    <a:gd name="T3" fmla="*/ 76 h 77"/>
                    <a:gd name="T4" fmla="*/ 219 w 220"/>
                    <a:gd name="T5" fmla="*/ 0 h 77"/>
                    <a:gd name="T6" fmla="*/ 0 w 220"/>
                    <a:gd name="T7" fmla="*/ 0 h 77"/>
                    <a:gd name="T8" fmla="*/ 0 w 220"/>
                    <a:gd name="T9" fmla="*/ 76 h 7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77"/>
                    <a:gd name="T17" fmla="*/ 220 w 220"/>
                    <a:gd name="T18" fmla="*/ 77 h 7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77">
                      <a:moveTo>
                        <a:pt x="0" y="76"/>
                      </a:moveTo>
                      <a:lnTo>
                        <a:pt x="219" y="76"/>
                      </a:lnTo>
                      <a:lnTo>
                        <a:pt x="219" y="0"/>
                      </a:lnTo>
                      <a:lnTo>
                        <a:pt x="0" y="0"/>
                      </a:lnTo>
                      <a:lnTo>
                        <a:pt x="0" y="76"/>
                      </a:lnTo>
                    </a:path>
                  </a:pathLst>
                </a:custGeom>
                <a:solidFill>
                  <a:srgbClr val="EFEFD1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86" name="Freeform 80"/>
                <p:cNvSpPr>
                  <a:spLocks/>
                </p:cNvSpPr>
                <p:nvPr/>
              </p:nvSpPr>
              <p:spPr bwMode="auto">
                <a:xfrm>
                  <a:off x="3875" y="1449"/>
                  <a:ext cx="69" cy="17"/>
                </a:xfrm>
                <a:custGeom>
                  <a:avLst/>
                  <a:gdLst>
                    <a:gd name="T0" fmla="*/ 0 w 69"/>
                    <a:gd name="T1" fmla="*/ 16 h 17"/>
                    <a:gd name="T2" fmla="*/ 0 w 69"/>
                    <a:gd name="T3" fmla="*/ 0 h 17"/>
                    <a:gd name="T4" fmla="*/ 68 w 69"/>
                    <a:gd name="T5" fmla="*/ 0 h 17"/>
                    <a:gd name="T6" fmla="*/ 68 w 69"/>
                    <a:gd name="T7" fmla="*/ 16 h 17"/>
                    <a:gd name="T8" fmla="*/ 0 w 69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9"/>
                    <a:gd name="T16" fmla="*/ 0 h 17"/>
                    <a:gd name="T17" fmla="*/ 69 w 69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9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68" y="0"/>
                      </a:lnTo>
                      <a:lnTo>
                        <a:pt x="68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87" name="Freeform 81"/>
                <p:cNvSpPr>
                  <a:spLocks/>
                </p:cNvSpPr>
                <p:nvPr/>
              </p:nvSpPr>
              <p:spPr bwMode="auto">
                <a:xfrm>
                  <a:off x="3931" y="1450"/>
                  <a:ext cx="94" cy="17"/>
                </a:xfrm>
                <a:custGeom>
                  <a:avLst/>
                  <a:gdLst>
                    <a:gd name="T0" fmla="*/ 0 w 94"/>
                    <a:gd name="T1" fmla="*/ 16 h 17"/>
                    <a:gd name="T2" fmla="*/ 0 w 94"/>
                    <a:gd name="T3" fmla="*/ 0 h 17"/>
                    <a:gd name="T4" fmla="*/ 93 w 94"/>
                    <a:gd name="T5" fmla="*/ 0 h 17"/>
                    <a:gd name="T6" fmla="*/ 93 w 94"/>
                    <a:gd name="T7" fmla="*/ 16 h 17"/>
                    <a:gd name="T8" fmla="*/ 0 w 94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4"/>
                    <a:gd name="T16" fmla="*/ 0 h 17"/>
                    <a:gd name="T17" fmla="*/ 94 w 9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4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93" y="0"/>
                      </a:lnTo>
                      <a:lnTo>
                        <a:pt x="93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88" name="Freeform 82"/>
                <p:cNvSpPr>
                  <a:spLocks/>
                </p:cNvSpPr>
                <p:nvPr/>
              </p:nvSpPr>
              <p:spPr bwMode="auto">
                <a:xfrm>
                  <a:off x="3877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89" name="Freeform 83"/>
                <p:cNvSpPr>
                  <a:spLocks/>
                </p:cNvSpPr>
                <p:nvPr/>
              </p:nvSpPr>
              <p:spPr bwMode="auto">
                <a:xfrm>
                  <a:off x="388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4 w 17"/>
                    <a:gd name="T7" fmla="*/ 16 h 17"/>
                    <a:gd name="T8" fmla="*/ 8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90" name="Freeform 84"/>
                <p:cNvSpPr>
                  <a:spLocks/>
                </p:cNvSpPr>
                <p:nvPr/>
              </p:nvSpPr>
              <p:spPr bwMode="auto">
                <a:xfrm>
                  <a:off x="388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91" name="Freeform 85"/>
                <p:cNvSpPr>
                  <a:spLocks/>
                </p:cNvSpPr>
                <p:nvPr/>
              </p:nvSpPr>
              <p:spPr bwMode="auto">
                <a:xfrm>
                  <a:off x="388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92" name="Freeform 86"/>
                <p:cNvSpPr>
                  <a:spLocks/>
                </p:cNvSpPr>
                <p:nvPr/>
              </p:nvSpPr>
              <p:spPr bwMode="auto">
                <a:xfrm>
                  <a:off x="388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93" name="Freeform 87"/>
                <p:cNvSpPr>
                  <a:spLocks/>
                </p:cNvSpPr>
                <p:nvPr/>
              </p:nvSpPr>
              <p:spPr bwMode="auto">
                <a:xfrm>
                  <a:off x="389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94" name="Freeform 88"/>
                <p:cNvSpPr>
                  <a:spLocks/>
                </p:cNvSpPr>
                <p:nvPr/>
              </p:nvSpPr>
              <p:spPr bwMode="auto">
                <a:xfrm>
                  <a:off x="389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95" name="Freeform 89"/>
                <p:cNvSpPr>
                  <a:spLocks/>
                </p:cNvSpPr>
                <p:nvPr/>
              </p:nvSpPr>
              <p:spPr bwMode="auto">
                <a:xfrm>
                  <a:off x="3894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96" name="Freeform 90"/>
                <p:cNvSpPr>
                  <a:spLocks/>
                </p:cNvSpPr>
                <p:nvPr/>
              </p:nvSpPr>
              <p:spPr bwMode="auto">
                <a:xfrm>
                  <a:off x="389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97" name="Freeform 91"/>
                <p:cNvSpPr>
                  <a:spLocks/>
                </p:cNvSpPr>
                <p:nvPr/>
              </p:nvSpPr>
              <p:spPr bwMode="auto">
                <a:xfrm>
                  <a:off x="390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98" name="Freeform 92"/>
                <p:cNvSpPr>
                  <a:spLocks/>
                </p:cNvSpPr>
                <p:nvPr/>
              </p:nvSpPr>
              <p:spPr bwMode="auto">
                <a:xfrm>
                  <a:off x="390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0 w 17"/>
                    <a:gd name="T5" fmla="*/ 16 h 17"/>
                    <a:gd name="T6" fmla="*/ 8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0" y="16"/>
                      </a:lnTo>
                      <a:lnTo>
                        <a:pt x="8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99" name="Freeform 93"/>
                <p:cNvSpPr>
                  <a:spLocks/>
                </p:cNvSpPr>
                <p:nvPr/>
              </p:nvSpPr>
              <p:spPr bwMode="auto">
                <a:xfrm>
                  <a:off x="390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6 h 17"/>
                    <a:gd name="T6" fmla="*/ 8 w 17"/>
                    <a:gd name="T7" fmla="*/ 16 h 17"/>
                    <a:gd name="T8" fmla="*/ 12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00" name="Freeform 94"/>
                <p:cNvSpPr>
                  <a:spLocks/>
                </p:cNvSpPr>
                <p:nvPr/>
              </p:nvSpPr>
              <p:spPr bwMode="auto">
                <a:xfrm>
                  <a:off x="390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01" name="Freeform 95"/>
                <p:cNvSpPr>
                  <a:spLocks/>
                </p:cNvSpPr>
                <p:nvPr/>
              </p:nvSpPr>
              <p:spPr bwMode="auto">
                <a:xfrm>
                  <a:off x="391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02" name="Freeform 96"/>
                <p:cNvSpPr>
                  <a:spLocks/>
                </p:cNvSpPr>
                <p:nvPr/>
              </p:nvSpPr>
              <p:spPr bwMode="auto">
                <a:xfrm>
                  <a:off x="391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03" name="Freeform 97"/>
                <p:cNvSpPr>
                  <a:spLocks/>
                </p:cNvSpPr>
                <p:nvPr/>
              </p:nvSpPr>
              <p:spPr bwMode="auto">
                <a:xfrm>
                  <a:off x="3916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04" name="Freeform 98"/>
                <p:cNvSpPr>
                  <a:spLocks/>
                </p:cNvSpPr>
                <p:nvPr/>
              </p:nvSpPr>
              <p:spPr bwMode="auto">
                <a:xfrm>
                  <a:off x="391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05" name="Freeform 99"/>
                <p:cNvSpPr>
                  <a:spLocks/>
                </p:cNvSpPr>
                <p:nvPr/>
              </p:nvSpPr>
              <p:spPr bwMode="auto">
                <a:xfrm>
                  <a:off x="3921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06" name="Freeform 100"/>
                <p:cNvSpPr>
                  <a:spLocks/>
                </p:cNvSpPr>
                <p:nvPr/>
              </p:nvSpPr>
              <p:spPr bwMode="auto">
                <a:xfrm>
                  <a:off x="392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07" name="Freeform 101"/>
                <p:cNvSpPr>
                  <a:spLocks/>
                </p:cNvSpPr>
                <p:nvPr/>
              </p:nvSpPr>
              <p:spPr bwMode="auto">
                <a:xfrm>
                  <a:off x="392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08" name="Freeform 102"/>
                <p:cNvSpPr>
                  <a:spLocks/>
                </p:cNvSpPr>
                <p:nvPr/>
              </p:nvSpPr>
              <p:spPr bwMode="auto">
                <a:xfrm>
                  <a:off x="3855" y="1279"/>
                  <a:ext cx="187" cy="174"/>
                </a:xfrm>
                <a:custGeom>
                  <a:avLst/>
                  <a:gdLst>
                    <a:gd name="T0" fmla="*/ 180 w 187"/>
                    <a:gd name="T1" fmla="*/ 173 h 174"/>
                    <a:gd name="T2" fmla="*/ 180 w 187"/>
                    <a:gd name="T3" fmla="*/ 173 h 174"/>
                    <a:gd name="T4" fmla="*/ 180 w 187"/>
                    <a:gd name="T5" fmla="*/ 172 h 174"/>
                    <a:gd name="T6" fmla="*/ 182 w 187"/>
                    <a:gd name="T7" fmla="*/ 172 h 174"/>
                    <a:gd name="T8" fmla="*/ 182 w 187"/>
                    <a:gd name="T9" fmla="*/ 172 h 174"/>
                    <a:gd name="T10" fmla="*/ 183 w 187"/>
                    <a:gd name="T11" fmla="*/ 171 h 174"/>
                    <a:gd name="T12" fmla="*/ 183 w 187"/>
                    <a:gd name="T13" fmla="*/ 171 h 174"/>
                    <a:gd name="T14" fmla="*/ 184 w 187"/>
                    <a:gd name="T15" fmla="*/ 171 h 174"/>
                    <a:gd name="T16" fmla="*/ 184 w 187"/>
                    <a:gd name="T17" fmla="*/ 170 h 174"/>
                    <a:gd name="T18" fmla="*/ 184 w 187"/>
                    <a:gd name="T19" fmla="*/ 170 h 174"/>
                    <a:gd name="T20" fmla="*/ 184 w 187"/>
                    <a:gd name="T21" fmla="*/ 169 h 174"/>
                    <a:gd name="T22" fmla="*/ 185 w 187"/>
                    <a:gd name="T23" fmla="*/ 169 h 174"/>
                    <a:gd name="T24" fmla="*/ 185 w 187"/>
                    <a:gd name="T25" fmla="*/ 168 h 174"/>
                    <a:gd name="T26" fmla="*/ 186 w 187"/>
                    <a:gd name="T27" fmla="*/ 167 h 174"/>
                    <a:gd name="T28" fmla="*/ 186 w 187"/>
                    <a:gd name="T29" fmla="*/ 167 h 174"/>
                    <a:gd name="T30" fmla="*/ 186 w 187"/>
                    <a:gd name="T31" fmla="*/ 6 h 174"/>
                    <a:gd name="T32" fmla="*/ 186 w 187"/>
                    <a:gd name="T33" fmla="*/ 5 h 174"/>
                    <a:gd name="T34" fmla="*/ 186 w 187"/>
                    <a:gd name="T35" fmla="*/ 5 h 174"/>
                    <a:gd name="T36" fmla="*/ 185 w 187"/>
                    <a:gd name="T37" fmla="*/ 5 h 174"/>
                    <a:gd name="T38" fmla="*/ 185 w 187"/>
                    <a:gd name="T39" fmla="*/ 3 h 174"/>
                    <a:gd name="T40" fmla="*/ 184 w 187"/>
                    <a:gd name="T41" fmla="*/ 3 h 174"/>
                    <a:gd name="T42" fmla="*/ 184 w 187"/>
                    <a:gd name="T43" fmla="*/ 2 h 174"/>
                    <a:gd name="T44" fmla="*/ 184 w 187"/>
                    <a:gd name="T45" fmla="*/ 1 h 174"/>
                    <a:gd name="T46" fmla="*/ 183 w 187"/>
                    <a:gd name="T47" fmla="*/ 1 h 174"/>
                    <a:gd name="T48" fmla="*/ 183 w 187"/>
                    <a:gd name="T49" fmla="*/ 1 h 174"/>
                    <a:gd name="T50" fmla="*/ 182 w 187"/>
                    <a:gd name="T51" fmla="*/ 1 h 174"/>
                    <a:gd name="T52" fmla="*/ 182 w 187"/>
                    <a:gd name="T53" fmla="*/ 0 h 174"/>
                    <a:gd name="T54" fmla="*/ 180 w 187"/>
                    <a:gd name="T55" fmla="*/ 0 h 174"/>
                    <a:gd name="T56" fmla="*/ 180 w 187"/>
                    <a:gd name="T57" fmla="*/ 0 h 174"/>
                    <a:gd name="T58" fmla="*/ 180 w 187"/>
                    <a:gd name="T59" fmla="*/ 0 h 174"/>
                    <a:gd name="T60" fmla="*/ 5 w 187"/>
                    <a:gd name="T61" fmla="*/ 0 h 174"/>
                    <a:gd name="T62" fmla="*/ 4 w 187"/>
                    <a:gd name="T63" fmla="*/ 0 h 174"/>
                    <a:gd name="T64" fmla="*/ 3 w 187"/>
                    <a:gd name="T65" fmla="*/ 0 h 174"/>
                    <a:gd name="T66" fmla="*/ 3 w 187"/>
                    <a:gd name="T67" fmla="*/ 0 h 174"/>
                    <a:gd name="T68" fmla="*/ 2 w 187"/>
                    <a:gd name="T69" fmla="*/ 0 h 174"/>
                    <a:gd name="T70" fmla="*/ 2 w 187"/>
                    <a:gd name="T71" fmla="*/ 1 h 174"/>
                    <a:gd name="T72" fmla="*/ 1 w 187"/>
                    <a:gd name="T73" fmla="*/ 1 h 174"/>
                    <a:gd name="T74" fmla="*/ 1 w 187"/>
                    <a:gd name="T75" fmla="*/ 1 h 174"/>
                    <a:gd name="T76" fmla="*/ 1 w 187"/>
                    <a:gd name="T77" fmla="*/ 2 h 174"/>
                    <a:gd name="T78" fmla="*/ 0 w 187"/>
                    <a:gd name="T79" fmla="*/ 3 h 174"/>
                    <a:gd name="T80" fmla="*/ 0 w 187"/>
                    <a:gd name="T81" fmla="*/ 3 h 174"/>
                    <a:gd name="T82" fmla="*/ 0 w 187"/>
                    <a:gd name="T83" fmla="*/ 3 h 174"/>
                    <a:gd name="T84" fmla="*/ 0 w 187"/>
                    <a:gd name="T85" fmla="*/ 5 h 174"/>
                    <a:gd name="T86" fmla="*/ 0 w 187"/>
                    <a:gd name="T87" fmla="*/ 5 h 174"/>
                    <a:gd name="T88" fmla="*/ 0 w 187"/>
                    <a:gd name="T89" fmla="*/ 6 h 174"/>
                    <a:gd name="T90" fmla="*/ 0 w 187"/>
                    <a:gd name="T91" fmla="*/ 167 h 174"/>
                    <a:gd name="T92" fmla="*/ 0 w 187"/>
                    <a:gd name="T93" fmla="*/ 167 h 174"/>
                    <a:gd name="T94" fmla="*/ 0 w 187"/>
                    <a:gd name="T95" fmla="*/ 168 h 174"/>
                    <a:gd name="T96" fmla="*/ 0 w 187"/>
                    <a:gd name="T97" fmla="*/ 169 h 174"/>
                    <a:gd name="T98" fmla="*/ 0 w 187"/>
                    <a:gd name="T99" fmla="*/ 169 h 174"/>
                    <a:gd name="T100" fmla="*/ 0 w 187"/>
                    <a:gd name="T101" fmla="*/ 170 h 174"/>
                    <a:gd name="T102" fmla="*/ 1 w 187"/>
                    <a:gd name="T103" fmla="*/ 170 h 174"/>
                    <a:gd name="T104" fmla="*/ 1 w 187"/>
                    <a:gd name="T105" fmla="*/ 171 h 174"/>
                    <a:gd name="T106" fmla="*/ 1 w 187"/>
                    <a:gd name="T107" fmla="*/ 171 h 174"/>
                    <a:gd name="T108" fmla="*/ 2 w 187"/>
                    <a:gd name="T109" fmla="*/ 171 h 174"/>
                    <a:gd name="T110" fmla="*/ 2 w 187"/>
                    <a:gd name="T111" fmla="*/ 172 h 174"/>
                    <a:gd name="T112" fmla="*/ 2 w 187"/>
                    <a:gd name="T113" fmla="*/ 172 h 174"/>
                    <a:gd name="T114" fmla="*/ 3 w 187"/>
                    <a:gd name="T115" fmla="*/ 172 h 174"/>
                    <a:gd name="T116" fmla="*/ 3 w 187"/>
                    <a:gd name="T117" fmla="*/ 172 h 174"/>
                    <a:gd name="T118" fmla="*/ 4 w 187"/>
                    <a:gd name="T119" fmla="*/ 173 h 174"/>
                    <a:gd name="T120" fmla="*/ 5 w 187"/>
                    <a:gd name="T121" fmla="*/ 173 h 174"/>
                    <a:gd name="T122" fmla="*/ 180 w 187"/>
                    <a:gd name="T123" fmla="*/ 173 h 174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w 187"/>
                    <a:gd name="T187" fmla="*/ 0 h 174"/>
                    <a:gd name="T188" fmla="*/ 187 w 187"/>
                    <a:gd name="T189" fmla="*/ 174 h 174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T186" t="T187" r="T188" b="T189"/>
                  <a:pathLst>
                    <a:path w="187" h="174">
                      <a:moveTo>
                        <a:pt x="180" y="173"/>
                      </a:moveTo>
                      <a:lnTo>
                        <a:pt x="180" y="173"/>
                      </a:lnTo>
                      <a:lnTo>
                        <a:pt x="180" y="172"/>
                      </a:lnTo>
                      <a:lnTo>
                        <a:pt x="182" y="172"/>
                      </a:lnTo>
                      <a:lnTo>
                        <a:pt x="183" y="171"/>
                      </a:lnTo>
                      <a:lnTo>
                        <a:pt x="184" y="171"/>
                      </a:lnTo>
                      <a:lnTo>
                        <a:pt x="184" y="170"/>
                      </a:lnTo>
                      <a:lnTo>
                        <a:pt x="184" y="169"/>
                      </a:lnTo>
                      <a:lnTo>
                        <a:pt x="185" y="169"/>
                      </a:lnTo>
                      <a:lnTo>
                        <a:pt x="185" y="168"/>
                      </a:lnTo>
                      <a:lnTo>
                        <a:pt x="186" y="167"/>
                      </a:lnTo>
                      <a:lnTo>
                        <a:pt x="186" y="6"/>
                      </a:lnTo>
                      <a:lnTo>
                        <a:pt x="186" y="5"/>
                      </a:lnTo>
                      <a:lnTo>
                        <a:pt x="185" y="5"/>
                      </a:lnTo>
                      <a:lnTo>
                        <a:pt x="185" y="3"/>
                      </a:lnTo>
                      <a:lnTo>
                        <a:pt x="184" y="3"/>
                      </a:lnTo>
                      <a:lnTo>
                        <a:pt x="184" y="2"/>
                      </a:lnTo>
                      <a:lnTo>
                        <a:pt x="184" y="1"/>
                      </a:lnTo>
                      <a:lnTo>
                        <a:pt x="183" y="1"/>
                      </a:lnTo>
                      <a:lnTo>
                        <a:pt x="182" y="1"/>
                      </a:lnTo>
                      <a:lnTo>
                        <a:pt x="182" y="0"/>
                      </a:lnTo>
                      <a:lnTo>
                        <a:pt x="180" y="0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2" y="1"/>
                      </a:lnTo>
                      <a:lnTo>
                        <a:pt x="1" y="1"/>
                      </a:lnTo>
                      <a:lnTo>
                        <a:pt x="1" y="2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0" y="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0" y="169"/>
                      </a:lnTo>
                      <a:lnTo>
                        <a:pt x="0" y="170"/>
                      </a:lnTo>
                      <a:lnTo>
                        <a:pt x="1" y="170"/>
                      </a:lnTo>
                      <a:lnTo>
                        <a:pt x="1" y="171"/>
                      </a:lnTo>
                      <a:lnTo>
                        <a:pt x="2" y="171"/>
                      </a:lnTo>
                      <a:lnTo>
                        <a:pt x="2" y="172"/>
                      </a:lnTo>
                      <a:lnTo>
                        <a:pt x="3" y="172"/>
                      </a:lnTo>
                      <a:lnTo>
                        <a:pt x="4" y="173"/>
                      </a:lnTo>
                      <a:lnTo>
                        <a:pt x="5" y="173"/>
                      </a:lnTo>
                      <a:lnTo>
                        <a:pt x="180" y="173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09" name="Freeform 103"/>
                <p:cNvSpPr>
                  <a:spLocks/>
                </p:cNvSpPr>
                <p:nvPr/>
              </p:nvSpPr>
              <p:spPr bwMode="auto">
                <a:xfrm>
                  <a:off x="3855" y="1281"/>
                  <a:ext cx="186" cy="172"/>
                </a:xfrm>
                <a:custGeom>
                  <a:avLst/>
                  <a:gdLst>
                    <a:gd name="T0" fmla="*/ 185 w 186"/>
                    <a:gd name="T1" fmla="*/ 165 h 172"/>
                    <a:gd name="T2" fmla="*/ 185 w 186"/>
                    <a:gd name="T3" fmla="*/ 166 h 172"/>
                    <a:gd name="T4" fmla="*/ 185 w 186"/>
                    <a:gd name="T5" fmla="*/ 167 h 172"/>
                    <a:gd name="T6" fmla="*/ 184 w 186"/>
                    <a:gd name="T7" fmla="*/ 167 h 172"/>
                    <a:gd name="T8" fmla="*/ 184 w 186"/>
                    <a:gd name="T9" fmla="*/ 168 h 172"/>
                    <a:gd name="T10" fmla="*/ 183 w 186"/>
                    <a:gd name="T11" fmla="*/ 169 h 172"/>
                    <a:gd name="T12" fmla="*/ 183 w 186"/>
                    <a:gd name="T13" fmla="*/ 169 h 172"/>
                    <a:gd name="T14" fmla="*/ 182 w 186"/>
                    <a:gd name="T15" fmla="*/ 170 h 172"/>
                    <a:gd name="T16" fmla="*/ 182 w 186"/>
                    <a:gd name="T17" fmla="*/ 170 h 172"/>
                    <a:gd name="T18" fmla="*/ 181 w 186"/>
                    <a:gd name="T19" fmla="*/ 170 h 172"/>
                    <a:gd name="T20" fmla="*/ 181 w 186"/>
                    <a:gd name="T21" fmla="*/ 171 h 172"/>
                    <a:gd name="T22" fmla="*/ 180 w 186"/>
                    <a:gd name="T23" fmla="*/ 171 h 172"/>
                    <a:gd name="T24" fmla="*/ 179 w 186"/>
                    <a:gd name="T25" fmla="*/ 171 h 172"/>
                    <a:gd name="T26" fmla="*/ 4 w 186"/>
                    <a:gd name="T27" fmla="*/ 171 h 172"/>
                    <a:gd name="T28" fmla="*/ 3 w 186"/>
                    <a:gd name="T29" fmla="*/ 171 h 172"/>
                    <a:gd name="T30" fmla="*/ 3 w 186"/>
                    <a:gd name="T31" fmla="*/ 171 h 172"/>
                    <a:gd name="T32" fmla="*/ 3 w 186"/>
                    <a:gd name="T33" fmla="*/ 170 h 172"/>
                    <a:gd name="T34" fmla="*/ 2 w 186"/>
                    <a:gd name="T35" fmla="*/ 170 h 172"/>
                    <a:gd name="T36" fmla="*/ 2 w 186"/>
                    <a:gd name="T37" fmla="*/ 170 h 172"/>
                    <a:gd name="T38" fmla="*/ 1 w 186"/>
                    <a:gd name="T39" fmla="*/ 169 h 172"/>
                    <a:gd name="T40" fmla="*/ 1 w 186"/>
                    <a:gd name="T41" fmla="*/ 169 h 172"/>
                    <a:gd name="T42" fmla="*/ 0 w 186"/>
                    <a:gd name="T43" fmla="*/ 169 h 172"/>
                    <a:gd name="T44" fmla="*/ 0 w 186"/>
                    <a:gd name="T45" fmla="*/ 168 h 172"/>
                    <a:gd name="T46" fmla="*/ 0 w 186"/>
                    <a:gd name="T47" fmla="*/ 167 h 172"/>
                    <a:gd name="T48" fmla="*/ 0 w 186"/>
                    <a:gd name="T49" fmla="*/ 167 h 172"/>
                    <a:gd name="T50" fmla="*/ 0 w 186"/>
                    <a:gd name="T51" fmla="*/ 166 h 172"/>
                    <a:gd name="T52" fmla="*/ 0 w 186"/>
                    <a:gd name="T53" fmla="*/ 165 h 172"/>
                    <a:gd name="T54" fmla="*/ 0 w 186"/>
                    <a:gd name="T55" fmla="*/ 5 h 172"/>
                    <a:gd name="T56" fmla="*/ 0 w 186"/>
                    <a:gd name="T57" fmla="*/ 4 h 172"/>
                    <a:gd name="T58" fmla="*/ 0 w 186"/>
                    <a:gd name="T59" fmla="*/ 3 h 172"/>
                    <a:gd name="T60" fmla="*/ 0 w 186"/>
                    <a:gd name="T61" fmla="*/ 3 h 172"/>
                    <a:gd name="T62" fmla="*/ 0 w 186"/>
                    <a:gd name="T63" fmla="*/ 2 h 172"/>
                    <a:gd name="T64" fmla="*/ 0 w 186"/>
                    <a:gd name="T65" fmla="*/ 2 h 172"/>
                    <a:gd name="T66" fmla="*/ 1 w 186"/>
                    <a:gd name="T67" fmla="*/ 1 h 172"/>
                    <a:gd name="T68" fmla="*/ 1 w 186"/>
                    <a:gd name="T69" fmla="*/ 1 h 172"/>
                    <a:gd name="T70" fmla="*/ 2 w 186"/>
                    <a:gd name="T71" fmla="*/ 1 h 172"/>
                    <a:gd name="T72" fmla="*/ 2 w 186"/>
                    <a:gd name="T73" fmla="*/ 0 h 172"/>
                    <a:gd name="T74" fmla="*/ 2 w 186"/>
                    <a:gd name="T75" fmla="*/ 0 h 172"/>
                    <a:gd name="T76" fmla="*/ 3 w 186"/>
                    <a:gd name="T77" fmla="*/ 0 h 172"/>
                    <a:gd name="T78" fmla="*/ 3 w 186"/>
                    <a:gd name="T79" fmla="*/ 0 h 172"/>
                    <a:gd name="T80" fmla="*/ 4 w 186"/>
                    <a:gd name="T81" fmla="*/ 0 h 172"/>
                    <a:gd name="T82" fmla="*/ 179 w 186"/>
                    <a:gd name="T83" fmla="*/ 0 h 172"/>
                    <a:gd name="T84" fmla="*/ 180 w 186"/>
                    <a:gd name="T85" fmla="*/ 0 h 172"/>
                    <a:gd name="T86" fmla="*/ 181 w 186"/>
                    <a:gd name="T87" fmla="*/ 0 h 172"/>
                    <a:gd name="T88" fmla="*/ 181 w 186"/>
                    <a:gd name="T89" fmla="*/ 0 h 172"/>
                    <a:gd name="T90" fmla="*/ 182 w 186"/>
                    <a:gd name="T91" fmla="*/ 0 h 172"/>
                    <a:gd name="T92" fmla="*/ 182 w 186"/>
                    <a:gd name="T93" fmla="*/ 1 h 172"/>
                    <a:gd name="T94" fmla="*/ 183 w 186"/>
                    <a:gd name="T95" fmla="*/ 1 h 172"/>
                    <a:gd name="T96" fmla="*/ 183 w 186"/>
                    <a:gd name="T97" fmla="*/ 1 h 172"/>
                    <a:gd name="T98" fmla="*/ 183 w 186"/>
                    <a:gd name="T99" fmla="*/ 2 h 172"/>
                    <a:gd name="T100" fmla="*/ 184 w 186"/>
                    <a:gd name="T101" fmla="*/ 2 h 172"/>
                    <a:gd name="T102" fmla="*/ 184 w 186"/>
                    <a:gd name="T103" fmla="*/ 3 h 172"/>
                    <a:gd name="T104" fmla="*/ 185 w 186"/>
                    <a:gd name="T105" fmla="*/ 3 h 172"/>
                    <a:gd name="T106" fmla="*/ 185 w 186"/>
                    <a:gd name="T107" fmla="*/ 4 h 172"/>
                    <a:gd name="T108" fmla="*/ 185 w 186"/>
                    <a:gd name="T109" fmla="*/ 5 h 172"/>
                    <a:gd name="T110" fmla="*/ 185 w 186"/>
                    <a:gd name="T111" fmla="*/ 165 h 172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86"/>
                    <a:gd name="T169" fmla="*/ 0 h 172"/>
                    <a:gd name="T170" fmla="*/ 186 w 186"/>
                    <a:gd name="T171" fmla="*/ 172 h 172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86" h="172">
                      <a:moveTo>
                        <a:pt x="185" y="165"/>
                      </a:moveTo>
                      <a:lnTo>
                        <a:pt x="185" y="166"/>
                      </a:lnTo>
                      <a:lnTo>
                        <a:pt x="185" y="167"/>
                      </a:lnTo>
                      <a:lnTo>
                        <a:pt x="184" y="167"/>
                      </a:lnTo>
                      <a:lnTo>
                        <a:pt x="184" y="168"/>
                      </a:lnTo>
                      <a:lnTo>
                        <a:pt x="183" y="169"/>
                      </a:lnTo>
                      <a:lnTo>
                        <a:pt x="182" y="170"/>
                      </a:lnTo>
                      <a:lnTo>
                        <a:pt x="181" y="170"/>
                      </a:lnTo>
                      <a:lnTo>
                        <a:pt x="181" y="171"/>
                      </a:lnTo>
                      <a:lnTo>
                        <a:pt x="180" y="171"/>
                      </a:lnTo>
                      <a:lnTo>
                        <a:pt x="179" y="171"/>
                      </a:lnTo>
                      <a:lnTo>
                        <a:pt x="4" y="171"/>
                      </a:lnTo>
                      <a:lnTo>
                        <a:pt x="3" y="171"/>
                      </a:lnTo>
                      <a:lnTo>
                        <a:pt x="3" y="170"/>
                      </a:lnTo>
                      <a:lnTo>
                        <a:pt x="2" y="170"/>
                      </a:lnTo>
                      <a:lnTo>
                        <a:pt x="1" y="169"/>
                      </a:lnTo>
                      <a:lnTo>
                        <a:pt x="0" y="169"/>
                      </a:lnTo>
                      <a:lnTo>
                        <a:pt x="0" y="168"/>
                      </a:lnTo>
                      <a:lnTo>
                        <a:pt x="0" y="167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79" y="0"/>
                      </a:lnTo>
                      <a:lnTo>
                        <a:pt x="180" y="0"/>
                      </a:lnTo>
                      <a:lnTo>
                        <a:pt x="181" y="0"/>
                      </a:lnTo>
                      <a:lnTo>
                        <a:pt x="182" y="0"/>
                      </a:lnTo>
                      <a:lnTo>
                        <a:pt x="182" y="1"/>
                      </a:lnTo>
                      <a:lnTo>
                        <a:pt x="183" y="1"/>
                      </a:lnTo>
                      <a:lnTo>
                        <a:pt x="183" y="2"/>
                      </a:lnTo>
                      <a:lnTo>
                        <a:pt x="184" y="2"/>
                      </a:lnTo>
                      <a:lnTo>
                        <a:pt x="184" y="3"/>
                      </a:lnTo>
                      <a:lnTo>
                        <a:pt x="185" y="3"/>
                      </a:lnTo>
                      <a:lnTo>
                        <a:pt x="185" y="4"/>
                      </a:lnTo>
                      <a:lnTo>
                        <a:pt x="185" y="5"/>
                      </a:lnTo>
                      <a:lnTo>
                        <a:pt x="185" y="165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10" name="Freeform 104"/>
                <p:cNvSpPr>
                  <a:spLocks/>
                </p:cNvSpPr>
                <p:nvPr/>
              </p:nvSpPr>
              <p:spPr bwMode="auto">
                <a:xfrm>
                  <a:off x="3857" y="1281"/>
                  <a:ext cx="181" cy="171"/>
                </a:xfrm>
                <a:custGeom>
                  <a:avLst/>
                  <a:gdLst>
                    <a:gd name="T0" fmla="*/ 180 w 181"/>
                    <a:gd name="T1" fmla="*/ 3 h 171"/>
                    <a:gd name="T2" fmla="*/ 180 w 181"/>
                    <a:gd name="T3" fmla="*/ 3 h 171"/>
                    <a:gd name="T4" fmla="*/ 180 w 181"/>
                    <a:gd name="T5" fmla="*/ 2 h 171"/>
                    <a:gd name="T6" fmla="*/ 179 w 181"/>
                    <a:gd name="T7" fmla="*/ 2 h 171"/>
                    <a:gd name="T8" fmla="*/ 179 w 181"/>
                    <a:gd name="T9" fmla="*/ 1 h 171"/>
                    <a:gd name="T10" fmla="*/ 178 w 181"/>
                    <a:gd name="T11" fmla="*/ 1 h 171"/>
                    <a:gd name="T12" fmla="*/ 178 w 181"/>
                    <a:gd name="T13" fmla="*/ 0 h 171"/>
                    <a:gd name="T14" fmla="*/ 177 w 181"/>
                    <a:gd name="T15" fmla="*/ 0 h 171"/>
                    <a:gd name="T16" fmla="*/ 177 w 181"/>
                    <a:gd name="T17" fmla="*/ 0 h 171"/>
                    <a:gd name="T18" fmla="*/ 177 w 181"/>
                    <a:gd name="T19" fmla="*/ 0 h 171"/>
                    <a:gd name="T20" fmla="*/ 176 w 181"/>
                    <a:gd name="T21" fmla="*/ 0 h 171"/>
                    <a:gd name="T22" fmla="*/ 176 w 181"/>
                    <a:gd name="T23" fmla="*/ 0 h 171"/>
                    <a:gd name="T24" fmla="*/ 3 w 181"/>
                    <a:gd name="T25" fmla="*/ 0 h 171"/>
                    <a:gd name="T26" fmla="*/ 3 w 181"/>
                    <a:gd name="T27" fmla="*/ 0 h 171"/>
                    <a:gd name="T28" fmla="*/ 2 w 181"/>
                    <a:gd name="T29" fmla="*/ 0 h 171"/>
                    <a:gd name="T30" fmla="*/ 2 w 181"/>
                    <a:gd name="T31" fmla="*/ 0 h 171"/>
                    <a:gd name="T32" fmla="*/ 1 w 181"/>
                    <a:gd name="T33" fmla="*/ 0 h 171"/>
                    <a:gd name="T34" fmla="*/ 1 w 181"/>
                    <a:gd name="T35" fmla="*/ 0 h 171"/>
                    <a:gd name="T36" fmla="*/ 1 w 181"/>
                    <a:gd name="T37" fmla="*/ 1 h 171"/>
                    <a:gd name="T38" fmla="*/ 0 w 181"/>
                    <a:gd name="T39" fmla="*/ 1 h 171"/>
                    <a:gd name="T40" fmla="*/ 0 w 181"/>
                    <a:gd name="T41" fmla="*/ 1 h 171"/>
                    <a:gd name="T42" fmla="*/ 0 w 181"/>
                    <a:gd name="T43" fmla="*/ 2 h 171"/>
                    <a:gd name="T44" fmla="*/ 0 w 181"/>
                    <a:gd name="T45" fmla="*/ 3 h 171"/>
                    <a:gd name="T46" fmla="*/ 0 w 181"/>
                    <a:gd name="T47" fmla="*/ 3 h 171"/>
                    <a:gd name="T48" fmla="*/ 0 w 181"/>
                    <a:gd name="T49" fmla="*/ 166 h 171"/>
                    <a:gd name="T50" fmla="*/ 0 w 181"/>
                    <a:gd name="T51" fmla="*/ 166 h 171"/>
                    <a:gd name="T52" fmla="*/ 0 w 181"/>
                    <a:gd name="T53" fmla="*/ 167 h 171"/>
                    <a:gd name="T54" fmla="*/ 0 w 181"/>
                    <a:gd name="T55" fmla="*/ 168 h 171"/>
                    <a:gd name="T56" fmla="*/ 0 w 181"/>
                    <a:gd name="T57" fmla="*/ 168 h 171"/>
                    <a:gd name="T58" fmla="*/ 1 w 181"/>
                    <a:gd name="T59" fmla="*/ 168 h 171"/>
                    <a:gd name="T60" fmla="*/ 1 w 181"/>
                    <a:gd name="T61" fmla="*/ 169 h 171"/>
                    <a:gd name="T62" fmla="*/ 2 w 181"/>
                    <a:gd name="T63" fmla="*/ 169 h 171"/>
                    <a:gd name="T64" fmla="*/ 2 w 181"/>
                    <a:gd name="T65" fmla="*/ 169 h 171"/>
                    <a:gd name="T66" fmla="*/ 3 w 181"/>
                    <a:gd name="T67" fmla="*/ 170 h 171"/>
                    <a:gd name="T68" fmla="*/ 3 w 181"/>
                    <a:gd name="T69" fmla="*/ 170 h 171"/>
                    <a:gd name="T70" fmla="*/ 176 w 181"/>
                    <a:gd name="T71" fmla="*/ 170 h 171"/>
                    <a:gd name="T72" fmla="*/ 176 w 181"/>
                    <a:gd name="T73" fmla="*/ 169 h 171"/>
                    <a:gd name="T74" fmla="*/ 177 w 181"/>
                    <a:gd name="T75" fmla="*/ 169 h 171"/>
                    <a:gd name="T76" fmla="*/ 177 w 181"/>
                    <a:gd name="T77" fmla="*/ 169 h 171"/>
                    <a:gd name="T78" fmla="*/ 178 w 181"/>
                    <a:gd name="T79" fmla="*/ 169 h 171"/>
                    <a:gd name="T80" fmla="*/ 178 w 181"/>
                    <a:gd name="T81" fmla="*/ 168 h 171"/>
                    <a:gd name="T82" fmla="*/ 178 w 181"/>
                    <a:gd name="T83" fmla="*/ 168 h 171"/>
                    <a:gd name="T84" fmla="*/ 179 w 181"/>
                    <a:gd name="T85" fmla="*/ 168 h 171"/>
                    <a:gd name="T86" fmla="*/ 179 w 181"/>
                    <a:gd name="T87" fmla="*/ 167 h 171"/>
                    <a:gd name="T88" fmla="*/ 180 w 181"/>
                    <a:gd name="T89" fmla="*/ 166 h 171"/>
                    <a:gd name="T90" fmla="*/ 180 w 181"/>
                    <a:gd name="T91" fmla="*/ 166 h 171"/>
                    <a:gd name="T92" fmla="*/ 180 w 181"/>
                    <a:gd name="T93" fmla="*/ 3 h 171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w 181"/>
                    <a:gd name="T142" fmla="*/ 0 h 171"/>
                    <a:gd name="T143" fmla="*/ 181 w 181"/>
                    <a:gd name="T144" fmla="*/ 171 h 171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T141" t="T142" r="T143" b="T144"/>
                  <a:pathLst>
                    <a:path w="181" h="171">
                      <a:moveTo>
                        <a:pt x="180" y="3"/>
                      </a:moveTo>
                      <a:lnTo>
                        <a:pt x="180" y="3"/>
                      </a:lnTo>
                      <a:lnTo>
                        <a:pt x="180" y="2"/>
                      </a:lnTo>
                      <a:lnTo>
                        <a:pt x="179" y="2"/>
                      </a:lnTo>
                      <a:lnTo>
                        <a:pt x="179" y="1"/>
                      </a:lnTo>
                      <a:lnTo>
                        <a:pt x="178" y="1"/>
                      </a:lnTo>
                      <a:lnTo>
                        <a:pt x="178" y="0"/>
                      </a:lnTo>
                      <a:lnTo>
                        <a:pt x="177" y="0"/>
                      </a:lnTo>
                      <a:lnTo>
                        <a:pt x="17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16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1" y="169"/>
                      </a:lnTo>
                      <a:lnTo>
                        <a:pt x="2" y="169"/>
                      </a:lnTo>
                      <a:lnTo>
                        <a:pt x="3" y="170"/>
                      </a:lnTo>
                      <a:lnTo>
                        <a:pt x="176" y="170"/>
                      </a:lnTo>
                      <a:lnTo>
                        <a:pt x="176" y="169"/>
                      </a:lnTo>
                      <a:lnTo>
                        <a:pt x="177" y="169"/>
                      </a:lnTo>
                      <a:lnTo>
                        <a:pt x="178" y="169"/>
                      </a:lnTo>
                      <a:lnTo>
                        <a:pt x="178" y="168"/>
                      </a:lnTo>
                      <a:lnTo>
                        <a:pt x="179" y="168"/>
                      </a:lnTo>
                      <a:lnTo>
                        <a:pt x="179" y="167"/>
                      </a:lnTo>
                      <a:lnTo>
                        <a:pt x="180" y="166"/>
                      </a:lnTo>
                      <a:lnTo>
                        <a:pt x="180" y="3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11" name="Freeform 105"/>
                <p:cNvSpPr>
                  <a:spLocks/>
                </p:cNvSpPr>
                <p:nvPr/>
              </p:nvSpPr>
              <p:spPr bwMode="auto">
                <a:xfrm>
                  <a:off x="3858" y="1282"/>
                  <a:ext cx="180" cy="168"/>
                </a:xfrm>
                <a:custGeom>
                  <a:avLst/>
                  <a:gdLst>
                    <a:gd name="T0" fmla="*/ 179 w 180"/>
                    <a:gd name="T1" fmla="*/ 163 h 168"/>
                    <a:gd name="T2" fmla="*/ 179 w 180"/>
                    <a:gd name="T3" fmla="*/ 164 h 168"/>
                    <a:gd name="T4" fmla="*/ 178 w 180"/>
                    <a:gd name="T5" fmla="*/ 165 h 168"/>
                    <a:gd name="T6" fmla="*/ 178 w 180"/>
                    <a:gd name="T7" fmla="*/ 165 h 168"/>
                    <a:gd name="T8" fmla="*/ 177 w 180"/>
                    <a:gd name="T9" fmla="*/ 166 h 168"/>
                    <a:gd name="T10" fmla="*/ 177 w 180"/>
                    <a:gd name="T11" fmla="*/ 166 h 168"/>
                    <a:gd name="T12" fmla="*/ 176 w 180"/>
                    <a:gd name="T13" fmla="*/ 167 h 168"/>
                    <a:gd name="T14" fmla="*/ 176 w 180"/>
                    <a:gd name="T15" fmla="*/ 167 h 168"/>
                    <a:gd name="T16" fmla="*/ 2 w 180"/>
                    <a:gd name="T17" fmla="*/ 167 h 168"/>
                    <a:gd name="T18" fmla="*/ 2 w 180"/>
                    <a:gd name="T19" fmla="*/ 167 h 168"/>
                    <a:gd name="T20" fmla="*/ 1 w 180"/>
                    <a:gd name="T21" fmla="*/ 167 h 168"/>
                    <a:gd name="T22" fmla="*/ 1 w 180"/>
                    <a:gd name="T23" fmla="*/ 166 h 168"/>
                    <a:gd name="T24" fmla="*/ 1 w 180"/>
                    <a:gd name="T25" fmla="*/ 166 h 168"/>
                    <a:gd name="T26" fmla="*/ 0 w 180"/>
                    <a:gd name="T27" fmla="*/ 166 h 168"/>
                    <a:gd name="T28" fmla="*/ 0 w 180"/>
                    <a:gd name="T29" fmla="*/ 165 h 168"/>
                    <a:gd name="T30" fmla="*/ 0 w 180"/>
                    <a:gd name="T31" fmla="*/ 165 h 168"/>
                    <a:gd name="T32" fmla="*/ 0 w 180"/>
                    <a:gd name="T33" fmla="*/ 165 h 168"/>
                    <a:gd name="T34" fmla="*/ 0 w 180"/>
                    <a:gd name="T35" fmla="*/ 164 h 168"/>
                    <a:gd name="T36" fmla="*/ 0 w 180"/>
                    <a:gd name="T37" fmla="*/ 163 h 168"/>
                    <a:gd name="T38" fmla="*/ 0 w 180"/>
                    <a:gd name="T39" fmla="*/ 3 h 168"/>
                    <a:gd name="T40" fmla="*/ 0 w 180"/>
                    <a:gd name="T41" fmla="*/ 2 h 168"/>
                    <a:gd name="T42" fmla="*/ 0 w 180"/>
                    <a:gd name="T43" fmla="*/ 1 h 168"/>
                    <a:gd name="T44" fmla="*/ 0 w 180"/>
                    <a:gd name="T45" fmla="*/ 1 h 168"/>
                    <a:gd name="T46" fmla="*/ 0 w 180"/>
                    <a:gd name="T47" fmla="*/ 1 h 168"/>
                    <a:gd name="T48" fmla="*/ 1 w 180"/>
                    <a:gd name="T49" fmla="*/ 0 h 168"/>
                    <a:gd name="T50" fmla="*/ 1 w 180"/>
                    <a:gd name="T51" fmla="*/ 0 h 168"/>
                    <a:gd name="T52" fmla="*/ 2 w 180"/>
                    <a:gd name="T53" fmla="*/ 0 h 168"/>
                    <a:gd name="T54" fmla="*/ 2 w 180"/>
                    <a:gd name="T55" fmla="*/ 0 h 168"/>
                    <a:gd name="T56" fmla="*/ 176 w 180"/>
                    <a:gd name="T57" fmla="*/ 0 h 168"/>
                    <a:gd name="T58" fmla="*/ 176 w 180"/>
                    <a:gd name="T59" fmla="*/ 0 h 168"/>
                    <a:gd name="T60" fmla="*/ 176 w 180"/>
                    <a:gd name="T61" fmla="*/ 0 h 168"/>
                    <a:gd name="T62" fmla="*/ 177 w 180"/>
                    <a:gd name="T63" fmla="*/ 0 h 168"/>
                    <a:gd name="T64" fmla="*/ 177 w 180"/>
                    <a:gd name="T65" fmla="*/ 0 h 168"/>
                    <a:gd name="T66" fmla="*/ 177 w 180"/>
                    <a:gd name="T67" fmla="*/ 1 h 168"/>
                    <a:gd name="T68" fmla="*/ 178 w 180"/>
                    <a:gd name="T69" fmla="*/ 1 h 168"/>
                    <a:gd name="T70" fmla="*/ 178 w 180"/>
                    <a:gd name="T71" fmla="*/ 1 h 168"/>
                    <a:gd name="T72" fmla="*/ 179 w 180"/>
                    <a:gd name="T73" fmla="*/ 2 h 168"/>
                    <a:gd name="T74" fmla="*/ 179 w 180"/>
                    <a:gd name="T75" fmla="*/ 3 h 168"/>
                    <a:gd name="T76" fmla="*/ 179 w 180"/>
                    <a:gd name="T77" fmla="*/ 16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80"/>
                    <a:gd name="T118" fmla="*/ 0 h 168"/>
                    <a:gd name="T119" fmla="*/ 180 w 180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80" h="168">
                      <a:moveTo>
                        <a:pt x="179" y="163"/>
                      </a:moveTo>
                      <a:lnTo>
                        <a:pt x="179" y="164"/>
                      </a:lnTo>
                      <a:lnTo>
                        <a:pt x="178" y="165"/>
                      </a:lnTo>
                      <a:lnTo>
                        <a:pt x="177" y="166"/>
                      </a:lnTo>
                      <a:lnTo>
                        <a:pt x="176" y="167"/>
                      </a:lnTo>
                      <a:lnTo>
                        <a:pt x="2" y="167"/>
                      </a:lnTo>
                      <a:lnTo>
                        <a:pt x="1" y="167"/>
                      </a:lnTo>
                      <a:lnTo>
                        <a:pt x="1" y="166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164"/>
                      </a:lnTo>
                      <a:lnTo>
                        <a:pt x="0" y="163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2" y="0"/>
                      </a:lnTo>
                      <a:lnTo>
                        <a:pt x="176" y="0"/>
                      </a:lnTo>
                      <a:lnTo>
                        <a:pt x="177" y="0"/>
                      </a:lnTo>
                      <a:lnTo>
                        <a:pt x="177" y="1"/>
                      </a:lnTo>
                      <a:lnTo>
                        <a:pt x="178" y="1"/>
                      </a:lnTo>
                      <a:lnTo>
                        <a:pt x="179" y="2"/>
                      </a:lnTo>
                      <a:lnTo>
                        <a:pt x="179" y="3"/>
                      </a:lnTo>
                      <a:lnTo>
                        <a:pt x="179" y="163"/>
                      </a:lnTo>
                    </a:path>
                  </a:pathLst>
                </a:custGeom>
                <a:solidFill>
                  <a:srgbClr val="EFEFD1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12" name="Freeform 106"/>
                <p:cNvSpPr>
                  <a:spLocks/>
                </p:cNvSpPr>
                <p:nvPr/>
              </p:nvSpPr>
              <p:spPr bwMode="auto">
                <a:xfrm>
                  <a:off x="3877" y="1304"/>
                  <a:ext cx="142" cy="124"/>
                </a:xfrm>
                <a:custGeom>
                  <a:avLst/>
                  <a:gdLst>
                    <a:gd name="T0" fmla="*/ 0 w 142"/>
                    <a:gd name="T1" fmla="*/ 1 h 124"/>
                    <a:gd name="T2" fmla="*/ 1 w 142"/>
                    <a:gd name="T3" fmla="*/ 1 h 124"/>
                    <a:gd name="T4" fmla="*/ 1 w 142"/>
                    <a:gd name="T5" fmla="*/ 1 h 124"/>
                    <a:gd name="T6" fmla="*/ 2 w 142"/>
                    <a:gd name="T7" fmla="*/ 0 h 124"/>
                    <a:gd name="T8" fmla="*/ 2 w 142"/>
                    <a:gd name="T9" fmla="*/ 0 h 124"/>
                    <a:gd name="T10" fmla="*/ 3 w 142"/>
                    <a:gd name="T11" fmla="*/ 0 h 124"/>
                    <a:gd name="T12" fmla="*/ 3 w 142"/>
                    <a:gd name="T13" fmla="*/ 0 h 124"/>
                    <a:gd name="T14" fmla="*/ 4 w 142"/>
                    <a:gd name="T15" fmla="*/ 0 h 124"/>
                    <a:gd name="T16" fmla="*/ 135 w 142"/>
                    <a:gd name="T17" fmla="*/ 0 h 124"/>
                    <a:gd name="T18" fmla="*/ 136 w 142"/>
                    <a:gd name="T19" fmla="*/ 0 h 124"/>
                    <a:gd name="T20" fmla="*/ 137 w 142"/>
                    <a:gd name="T21" fmla="*/ 0 h 124"/>
                    <a:gd name="T22" fmla="*/ 137 w 142"/>
                    <a:gd name="T23" fmla="*/ 0 h 124"/>
                    <a:gd name="T24" fmla="*/ 138 w 142"/>
                    <a:gd name="T25" fmla="*/ 0 h 124"/>
                    <a:gd name="T26" fmla="*/ 138 w 142"/>
                    <a:gd name="T27" fmla="*/ 1 h 124"/>
                    <a:gd name="T28" fmla="*/ 139 w 142"/>
                    <a:gd name="T29" fmla="*/ 1 h 124"/>
                    <a:gd name="T30" fmla="*/ 139 w 142"/>
                    <a:gd name="T31" fmla="*/ 1 h 124"/>
                    <a:gd name="T32" fmla="*/ 140 w 142"/>
                    <a:gd name="T33" fmla="*/ 2 h 124"/>
                    <a:gd name="T34" fmla="*/ 140 w 142"/>
                    <a:gd name="T35" fmla="*/ 3 h 124"/>
                    <a:gd name="T36" fmla="*/ 141 w 142"/>
                    <a:gd name="T37" fmla="*/ 3 h 124"/>
                    <a:gd name="T38" fmla="*/ 141 w 142"/>
                    <a:gd name="T39" fmla="*/ 4 h 124"/>
                    <a:gd name="T40" fmla="*/ 141 w 142"/>
                    <a:gd name="T41" fmla="*/ 5 h 124"/>
                    <a:gd name="T42" fmla="*/ 141 w 142"/>
                    <a:gd name="T43" fmla="*/ 117 h 124"/>
                    <a:gd name="T44" fmla="*/ 141 w 142"/>
                    <a:gd name="T45" fmla="*/ 119 h 124"/>
                    <a:gd name="T46" fmla="*/ 140 w 142"/>
                    <a:gd name="T47" fmla="*/ 119 h 124"/>
                    <a:gd name="T48" fmla="*/ 140 w 142"/>
                    <a:gd name="T49" fmla="*/ 120 h 124"/>
                    <a:gd name="T50" fmla="*/ 139 w 142"/>
                    <a:gd name="T51" fmla="*/ 121 h 124"/>
                    <a:gd name="T52" fmla="*/ 139 w 142"/>
                    <a:gd name="T53" fmla="*/ 121 h 124"/>
                    <a:gd name="T54" fmla="*/ 138 w 142"/>
                    <a:gd name="T55" fmla="*/ 122 h 124"/>
                    <a:gd name="T56" fmla="*/ 138 w 142"/>
                    <a:gd name="T57" fmla="*/ 122 h 124"/>
                    <a:gd name="T58" fmla="*/ 137 w 142"/>
                    <a:gd name="T59" fmla="*/ 122 h 124"/>
                    <a:gd name="T60" fmla="*/ 137 w 142"/>
                    <a:gd name="T61" fmla="*/ 123 h 124"/>
                    <a:gd name="T62" fmla="*/ 136 w 142"/>
                    <a:gd name="T63" fmla="*/ 123 h 124"/>
                    <a:gd name="T64" fmla="*/ 135 w 142"/>
                    <a:gd name="T65" fmla="*/ 123 h 124"/>
                    <a:gd name="T66" fmla="*/ 4 w 142"/>
                    <a:gd name="T67" fmla="*/ 123 h 124"/>
                    <a:gd name="T68" fmla="*/ 3 w 142"/>
                    <a:gd name="T69" fmla="*/ 123 h 124"/>
                    <a:gd name="T70" fmla="*/ 3 w 142"/>
                    <a:gd name="T71" fmla="*/ 123 h 124"/>
                    <a:gd name="T72" fmla="*/ 2 w 142"/>
                    <a:gd name="T73" fmla="*/ 122 h 124"/>
                    <a:gd name="T74" fmla="*/ 2 w 142"/>
                    <a:gd name="T75" fmla="*/ 122 h 124"/>
                    <a:gd name="T76" fmla="*/ 1 w 142"/>
                    <a:gd name="T77" fmla="*/ 122 h 124"/>
                    <a:gd name="T78" fmla="*/ 1 w 142"/>
                    <a:gd name="T79" fmla="*/ 121 h 124"/>
                    <a:gd name="T80" fmla="*/ 0 w 142"/>
                    <a:gd name="T81" fmla="*/ 121 h 124"/>
                    <a:gd name="T82" fmla="*/ 0 w 142"/>
                    <a:gd name="T83" fmla="*/ 120 h 124"/>
                    <a:gd name="T84" fmla="*/ 0 w 142"/>
                    <a:gd name="T85" fmla="*/ 119 h 124"/>
                    <a:gd name="T86" fmla="*/ 0 w 142"/>
                    <a:gd name="T87" fmla="*/ 119 h 124"/>
                    <a:gd name="T88" fmla="*/ 0 w 142"/>
                    <a:gd name="T89" fmla="*/ 117 h 124"/>
                    <a:gd name="T90" fmla="*/ 0 w 142"/>
                    <a:gd name="T91" fmla="*/ 5 h 124"/>
                    <a:gd name="T92" fmla="*/ 0 w 142"/>
                    <a:gd name="T93" fmla="*/ 4 h 124"/>
                    <a:gd name="T94" fmla="*/ 0 w 142"/>
                    <a:gd name="T95" fmla="*/ 3 h 124"/>
                    <a:gd name="T96" fmla="*/ 0 w 142"/>
                    <a:gd name="T97" fmla="*/ 3 h 124"/>
                    <a:gd name="T98" fmla="*/ 0 w 142"/>
                    <a:gd name="T99" fmla="*/ 2 h 124"/>
                    <a:gd name="T100" fmla="*/ 0 w 142"/>
                    <a:gd name="T101" fmla="*/ 1 h 124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42"/>
                    <a:gd name="T154" fmla="*/ 0 h 124"/>
                    <a:gd name="T155" fmla="*/ 142 w 142"/>
                    <a:gd name="T156" fmla="*/ 124 h 124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42" h="124">
                      <a:moveTo>
                        <a:pt x="0" y="1"/>
                      </a:moveTo>
                      <a:lnTo>
                        <a:pt x="1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8" y="1"/>
                      </a:lnTo>
                      <a:lnTo>
                        <a:pt x="139" y="1"/>
                      </a:lnTo>
                      <a:lnTo>
                        <a:pt x="140" y="2"/>
                      </a:lnTo>
                      <a:lnTo>
                        <a:pt x="140" y="3"/>
                      </a:lnTo>
                      <a:lnTo>
                        <a:pt x="141" y="3"/>
                      </a:lnTo>
                      <a:lnTo>
                        <a:pt x="141" y="4"/>
                      </a:lnTo>
                      <a:lnTo>
                        <a:pt x="141" y="5"/>
                      </a:lnTo>
                      <a:lnTo>
                        <a:pt x="141" y="117"/>
                      </a:lnTo>
                      <a:lnTo>
                        <a:pt x="141" y="119"/>
                      </a:lnTo>
                      <a:lnTo>
                        <a:pt x="140" y="119"/>
                      </a:lnTo>
                      <a:lnTo>
                        <a:pt x="140" y="120"/>
                      </a:lnTo>
                      <a:lnTo>
                        <a:pt x="139" y="121"/>
                      </a:lnTo>
                      <a:lnTo>
                        <a:pt x="138" y="122"/>
                      </a:lnTo>
                      <a:lnTo>
                        <a:pt x="137" y="122"/>
                      </a:lnTo>
                      <a:lnTo>
                        <a:pt x="137" y="123"/>
                      </a:lnTo>
                      <a:lnTo>
                        <a:pt x="136" y="123"/>
                      </a:lnTo>
                      <a:lnTo>
                        <a:pt x="135" y="123"/>
                      </a:lnTo>
                      <a:lnTo>
                        <a:pt x="4" y="123"/>
                      </a:lnTo>
                      <a:lnTo>
                        <a:pt x="3" y="123"/>
                      </a:lnTo>
                      <a:lnTo>
                        <a:pt x="2" y="122"/>
                      </a:lnTo>
                      <a:lnTo>
                        <a:pt x="1" y="122"/>
                      </a:lnTo>
                      <a:lnTo>
                        <a:pt x="1" y="121"/>
                      </a:lnTo>
                      <a:lnTo>
                        <a:pt x="0" y="121"/>
                      </a:lnTo>
                      <a:lnTo>
                        <a:pt x="0" y="120"/>
                      </a:lnTo>
                      <a:lnTo>
                        <a:pt x="0" y="119"/>
                      </a:lnTo>
                      <a:lnTo>
                        <a:pt x="0" y="117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</a:path>
                  </a:pathLst>
                </a:custGeom>
                <a:gradFill rotWithShape="0">
                  <a:gsLst>
                    <a:gs pos="0">
                      <a:srgbClr val="1D2B4B"/>
                    </a:gs>
                    <a:gs pos="50000">
                      <a:srgbClr val="618FFD"/>
                    </a:gs>
                    <a:gs pos="100000">
                      <a:srgbClr val="1D2B4B"/>
                    </a:gs>
                  </a:gsLst>
                  <a:lin ang="2700000" scaled="1"/>
                </a:gra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13" name="Freeform 107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4 h 17"/>
                    <a:gd name="T2" fmla="*/ 151 w 153"/>
                    <a:gd name="T3" fmla="*/ 3 h 17"/>
                    <a:gd name="T4" fmla="*/ 151 w 153"/>
                    <a:gd name="T5" fmla="*/ 2 h 17"/>
                    <a:gd name="T6" fmla="*/ 150 w 153"/>
                    <a:gd name="T7" fmla="*/ 2 h 17"/>
                    <a:gd name="T8" fmla="*/ 150 w 153"/>
                    <a:gd name="T9" fmla="*/ 2 h 17"/>
                    <a:gd name="T10" fmla="*/ 150 w 153"/>
                    <a:gd name="T11" fmla="*/ 1 h 17"/>
                    <a:gd name="T12" fmla="*/ 149 w 153"/>
                    <a:gd name="T13" fmla="*/ 1 h 17"/>
                    <a:gd name="T14" fmla="*/ 149 w 153"/>
                    <a:gd name="T15" fmla="*/ 1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1 h 17"/>
                    <a:gd name="T32" fmla="*/ 1 w 153"/>
                    <a:gd name="T33" fmla="*/ 1 h 17"/>
                    <a:gd name="T34" fmla="*/ 0 w 153"/>
                    <a:gd name="T35" fmla="*/ 2 h 17"/>
                    <a:gd name="T36" fmla="*/ 0 w 153"/>
                    <a:gd name="T37" fmla="*/ 2 h 17"/>
                    <a:gd name="T38" fmla="*/ 0 w 153"/>
                    <a:gd name="T39" fmla="*/ 3 h 17"/>
                    <a:gd name="T40" fmla="*/ 6 w 153"/>
                    <a:gd name="T41" fmla="*/ 16 h 17"/>
                    <a:gd name="T42" fmla="*/ 7 w 153"/>
                    <a:gd name="T43" fmla="*/ 14 h 17"/>
                    <a:gd name="T44" fmla="*/ 7 w 153"/>
                    <a:gd name="T45" fmla="*/ 14 h 17"/>
                    <a:gd name="T46" fmla="*/ 8 w 153"/>
                    <a:gd name="T47" fmla="*/ 13 h 17"/>
                    <a:gd name="T48" fmla="*/ 8 w 153"/>
                    <a:gd name="T49" fmla="*/ 13 h 17"/>
                    <a:gd name="T50" fmla="*/ 8 w 153"/>
                    <a:gd name="T51" fmla="*/ 12 h 17"/>
                    <a:gd name="T52" fmla="*/ 9 w 153"/>
                    <a:gd name="T53" fmla="*/ 12 h 17"/>
                    <a:gd name="T54" fmla="*/ 10 w 153"/>
                    <a:gd name="T55" fmla="*/ 12 h 17"/>
                    <a:gd name="T56" fmla="*/ 140 w 153"/>
                    <a:gd name="T57" fmla="*/ 12 h 17"/>
                    <a:gd name="T58" fmla="*/ 141 w 153"/>
                    <a:gd name="T59" fmla="*/ 12 h 17"/>
                    <a:gd name="T60" fmla="*/ 142 w 153"/>
                    <a:gd name="T61" fmla="*/ 12 h 17"/>
                    <a:gd name="T62" fmla="*/ 142 w 153"/>
                    <a:gd name="T63" fmla="*/ 13 h 17"/>
                    <a:gd name="T64" fmla="*/ 143 w 153"/>
                    <a:gd name="T65" fmla="*/ 13 h 17"/>
                    <a:gd name="T66" fmla="*/ 143 w 153"/>
                    <a:gd name="T67" fmla="*/ 14 h 17"/>
                    <a:gd name="T68" fmla="*/ 143 w 153"/>
                    <a:gd name="T69" fmla="*/ 14 h 17"/>
                    <a:gd name="T70" fmla="*/ 144 w 153"/>
                    <a:gd name="T71" fmla="*/ 14 h 17"/>
                    <a:gd name="T72" fmla="*/ 152 w 153"/>
                    <a:gd name="T73" fmla="*/ 4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53"/>
                    <a:gd name="T112" fmla="*/ 0 h 17"/>
                    <a:gd name="T113" fmla="*/ 153 w 153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53" h="17">
                      <a:moveTo>
                        <a:pt x="152" y="4"/>
                      </a:moveTo>
                      <a:lnTo>
                        <a:pt x="151" y="3"/>
                      </a:lnTo>
                      <a:lnTo>
                        <a:pt x="151" y="2"/>
                      </a:lnTo>
                      <a:lnTo>
                        <a:pt x="150" y="2"/>
                      </a:lnTo>
                      <a:lnTo>
                        <a:pt x="150" y="1"/>
                      </a:lnTo>
                      <a:lnTo>
                        <a:pt x="149" y="1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6" y="16"/>
                      </a:lnTo>
                      <a:lnTo>
                        <a:pt x="7" y="14"/>
                      </a:lnTo>
                      <a:lnTo>
                        <a:pt x="8" y="13"/>
                      </a:lnTo>
                      <a:lnTo>
                        <a:pt x="8" y="12"/>
                      </a:lnTo>
                      <a:lnTo>
                        <a:pt x="9" y="12"/>
                      </a:lnTo>
                      <a:lnTo>
                        <a:pt x="10" y="12"/>
                      </a:lnTo>
                      <a:lnTo>
                        <a:pt x="140" y="12"/>
                      </a:lnTo>
                      <a:lnTo>
                        <a:pt x="141" y="12"/>
                      </a:lnTo>
                      <a:lnTo>
                        <a:pt x="142" y="12"/>
                      </a:lnTo>
                      <a:lnTo>
                        <a:pt x="142" y="13"/>
                      </a:lnTo>
                      <a:lnTo>
                        <a:pt x="143" y="13"/>
                      </a:lnTo>
                      <a:lnTo>
                        <a:pt x="143" y="14"/>
                      </a:lnTo>
                      <a:lnTo>
                        <a:pt x="144" y="14"/>
                      </a:lnTo>
                      <a:lnTo>
                        <a:pt x="152" y="4"/>
                      </a:lnTo>
                    </a:path>
                  </a:pathLst>
                </a:custGeom>
                <a:solidFill>
                  <a:srgbClr val="9F9FA2"/>
                </a:solidFill>
                <a:ln w="12700" cap="rnd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14" name="Freeform 108"/>
                <p:cNvSpPr>
                  <a:spLocks/>
                </p:cNvSpPr>
                <p:nvPr/>
              </p:nvSpPr>
              <p:spPr bwMode="auto">
                <a:xfrm>
                  <a:off x="3870" y="1299"/>
                  <a:ext cx="17" cy="135"/>
                </a:xfrm>
                <a:custGeom>
                  <a:avLst/>
                  <a:gdLst>
                    <a:gd name="T0" fmla="*/ 2 w 17"/>
                    <a:gd name="T1" fmla="*/ 0 h 135"/>
                    <a:gd name="T2" fmla="*/ 1 w 17"/>
                    <a:gd name="T3" fmla="*/ 0 h 135"/>
                    <a:gd name="T4" fmla="*/ 0 w 17"/>
                    <a:gd name="T5" fmla="*/ 1 h 135"/>
                    <a:gd name="T6" fmla="*/ 0 w 17"/>
                    <a:gd name="T7" fmla="*/ 2 h 135"/>
                    <a:gd name="T8" fmla="*/ 0 w 17"/>
                    <a:gd name="T9" fmla="*/ 2 h 135"/>
                    <a:gd name="T10" fmla="*/ 0 w 17"/>
                    <a:gd name="T11" fmla="*/ 3 h 135"/>
                    <a:gd name="T12" fmla="*/ 0 w 17"/>
                    <a:gd name="T13" fmla="*/ 4 h 135"/>
                    <a:gd name="T14" fmla="*/ 0 w 17"/>
                    <a:gd name="T15" fmla="*/ 130 h 135"/>
                    <a:gd name="T16" fmla="*/ 0 w 17"/>
                    <a:gd name="T17" fmla="*/ 130 h 135"/>
                    <a:gd name="T18" fmla="*/ 0 w 17"/>
                    <a:gd name="T19" fmla="*/ 131 h 135"/>
                    <a:gd name="T20" fmla="*/ 0 w 17"/>
                    <a:gd name="T21" fmla="*/ 132 h 135"/>
                    <a:gd name="T22" fmla="*/ 0 w 17"/>
                    <a:gd name="T23" fmla="*/ 132 h 135"/>
                    <a:gd name="T24" fmla="*/ 1 w 17"/>
                    <a:gd name="T25" fmla="*/ 133 h 135"/>
                    <a:gd name="T26" fmla="*/ 2 w 17"/>
                    <a:gd name="T27" fmla="*/ 133 h 135"/>
                    <a:gd name="T28" fmla="*/ 2 w 17"/>
                    <a:gd name="T29" fmla="*/ 134 h 135"/>
                    <a:gd name="T30" fmla="*/ 3 w 17"/>
                    <a:gd name="T31" fmla="*/ 134 h 135"/>
                    <a:gd name="T32" fmla="*/ 16 w 17"/>
                    <a:gd name="T33" fmla="*/ 127 h 135"/>
                    <a:gd name="T34" fmla="*/ 15 w 17"/>
                    <a:gd name="T35" fmla="*/ 126 h 135"/>
                    <a:gd name="T36" fmla="*/ 15 w 17"/>
                    <a:gd name="T37" fmla="*/ 126 h 135"/>
                    <a:gd name="T38" fmla="*/ 14 w 17"/>
                    <a:gd name="T39" fmla="*/ 126 h 135"/>
                    <a:gd name="T40" fmla="*/ 14 w 17"/>
                    <a:gd name="T41" fmla="*/ 125 h 135"/>
                    <a:gd name="T42" fmla="*/ 13 w 17"/>
                    <a:gd name="T43" fmla="*/ 124 h 135"/>
                    <a:gd name="T44" fmla="*/ 13 w 17"/>
                    <a:gd name="T45" fmla="*/ 124 h 135"/>
                    <a:gd name="T46" fmla="*/ 13 w 17"/>
                    <a:gd name="T47" fmla="*/ 10 h 135"/>
                    <a:gd name="T48" fmla="*/ 13 w 17"/>
                    <a:gd name="T49" fmla="*/ 9 h 135"/>
                    <a:gd name="T50" fmla="*/ 13 w 17"/>
                    <a:gd name="T51" fmla="*/ 8 h 135"/>
                    <a:gd name="T52" fmla="*/ 14 w 17"/>
                    <a:gd name="T53" fmla="*/ 8 h 135"/>
                    <a:gd name="T54" fmla="*/ 15 w 17"/>
                    <a:gd name="T55" fmla="*/ 7 h 135"/>
                    <a:gd name="T56" fmla="*/ 15 w 17"/>
                    <a:gd name="T57" fmla="*/ 6 h 135"/>
                    <a:gd name="T58" fmla="*/ 2 w 17"/>
                    <a:gd name="T59" fmla="*/ 0 h 135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w 17"/>
                    <a:gd name="T91" fmla="*/ 0 h 135"/>
                    <a:gd name="T92" fmla="*/ 17 w 17"/>
                    <a:gd name="T93" fmla="*/ 135 h 135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T90" t="T91" r="T92" b="T93"/>
                  <a:pathLst>
                    <a:path w="17" h="135">
                      <a:moveTo>
                        <a:pt x="2" y="0"/>
                      </a:moveTo>
                      <a:lnTo>
                        <a:pt x="1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0" y="130"/>
                      </a:lnTo>
                      <a:lnTo>
                        <a:pt x="0" y="131"/>
                      </a:lnTo>
                      <a:lnTo>
                        <a:pt x="0" y="132"/>
                      </a:lnTo>
                      <a:lnTo>
                        <a:pt x="1" y="133"/>
                      </a:lnTo>
                      <a:lnTo>
                        <a:pt x="2" y="133"/>
                      </a:lnTo>
                      <a:lnTo>
                        <a:pt x="2" y="134"/>
                      </a:lnTo>
                      <a:lnTo>
                        <a:pt x="3" y="134"/>
                      </a:lnTo>
                      <a:lnTo>
                        <a:pt x="16" y="127"/>
                      </a:lnTo>
                      <a:lnTo>
                        <a:pt x="15" y="126"/>
                      </a:lnTo>
                      <a:lnTo>
                        <a:pt x="14" y="126"/>
                      </a:lnTo>
                      <a:lnTo>
                        <a:pt x="14" y="125"/>
                      </a:lnTo>
                      <a:lnTo>
                        <a:pt x="13" y="124"/>
                      </a:lnTo>
                      <a:lnTo>
                        <a:pt x="13" y="10"/>
                      </a:lnTo>
                      <a:lnTo>
                        <a:pt x="13" y="9"/>
                      </a:lnTo>
                      <a:lnTo>
                        <a:pt x="13" y="8"/>
                      </a:lnTo>
                      <a:lnTo>
                        <a:pt x="14" y="8"/>
                      </a:lnTo>
                      <a:lnTo>
                        <a:pt x="15" y="7"/>
                      </a:lnTo>
                      <a:lnTo>
                        <a:pt x="15" y="6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666666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15" name="Freeform 109"/>
                <p:cNvSpPr>
                  <a:spLocks/>
                </p:cNvSpPr>
                <p:nvPr/>
              </p:nvSpPr>
              <p:spPr bwMode="auto">
                <a:xfrm>
                  <a:off x="3872" y="1300"/>
                  <a:ext cx="155" cy="136"/>
                </a:xfrm>
                <a:custGeom>
                  <a:avLst/>
                  <a:gdLst>
                    <a:gd name="T0" fmla="*/ 0 w 155"/>
                    <a:gd name="T1" fmla="*/ 133 h 136"/>
                    <a:gd name="T2" fmla="*/ 0 w 155"/>
                    <a:gd name="T3" fmla="*/ 134 h 136"/>
                    <a:gd name="T4" fmla="*/ 0 w 155"/>
                    <a:gd name="T5" fmla="*/ 134 h 136"/>
                    <a:gd name="T6" fmla="*/ 1 w 155"/>
                    <a:gd name="T7" fmla="*/ 134 h 136"/>
                    <a:gd name="T8" fmla="*/ 1 w 155"/>
                    <a:gd name="T9" fmla="*/ 134 h 136"/>
                    <a:gd name="T10" fmla="*/ 2 w 155"/>
                    <a:gd name="T11" fmla="*/ 135 h 136"/>
                    <a:gd name="T12" fmla="*/ 2 w 155"/>
                    <a:gd name="T13" fmla="*/ 135 h 136"/>
                    <a:gd name="T14" fmla="*/ 3 w 155"/>
                    <a:gd name="T15" fmla="*/ 135 h 136"/>
                    <a:gd name="T16" fmla="*/ 148 w 155"/>
                    <a:gd name="T17" fmla="*/ 135 h 136"/>
                    <a:gd name="T18" fmla="*/ 150 w 155"/>
                    <a:gd name="T19" fmla="*/ 134 h 136"/>
                    <a:gd name="T20" fmla="*/ 151 w 155"/>
                    <a:gd name="T21" fmla="*/ 134 h 136"/>
                    <a:gd name="T22" fmla="*/ 151 w 155"/>
                    <a:gd name="T23" fmla="*/ 133 h 136"/>
                    <a:gd name="T24" fmla="*/ 152 w 155"/>
                    <a:gd name="T25" fmla="*/ 133 h 136"/>
                    <a:gd name="T26" fmla="*/ 152 w 155"/>
                    <a:gd name="T27" fmla="*/ 133 h 136"/>
                    <a:gd name="T28" fmla="*/ 153 w 155"/>
                    <a:gd name="T29" fmla="*/ 132 h 136"/>
                    <a:gd name="T30" fmla="*/ 153 w 155"/>
                    <a:gd name="T31" fmla="*/ 131 h 136"/>
                    <a:gd name="T32" fmla="*/ 154 w 155"/>
                    <a:gd name="T33" fmla="*/ 131 h 136"/>
                    <a:gd name="T34" fmla="*/ 154 w 155"/>
                    <a:gd name="T35" fmla="*/ 129 h 136"/>
                    <a:gd name="T36" fmla="*/ 154 w 155"/>
                    <a:gd name="T37" fmla="*/ 129 h 136"/>
                    <a:gd name="T38" fmla="*/ 154 w 155"/>
                    <a:gd name="T39" fmla="*/ 3 h 136"/>
                    <a:gd name="T40" fmla="*/ 154 w 155"/>
                    <a:gd name="T41" fmla="*/ 2 h 136"/>
                    <a:gd name="T42" fmla="*/ 154 w 155"/>
                    <a:gd name="T43" fmla="*/ 1 h 136"/>
                    <a:gd name="T44" fmla="*/ 154 w 155"/>
                    <a:gd name="T45" fmla="*/ 1 h 136"/>
                    <a:gd name="T46" fmla="*/ 153 w 155"/>
                    <a:gd name="T47" fmla="*/ 1 h 136"/>
                    <a:gd name="T48" fmla="*/ 153 w 155"/>
                    <a:gd name="T49" fmla="*/ 0 h 136"/>
                    <a:gd name="T50" fmla="*/ 153 w 155"/>
                    <a:gd name="T51" fmla="*/ 0 h 136"/>
                    <a:gd name="T52" fmla="*/ 145 w 155"/>
                    <a:gd name="T53" fmla="*/ 5 h 136"/>
                    <a:gd name="T54" fmla="*/ 145 w 155"/>
                    <a:gd name="T55" fmla="*/ 5 h 136"/>
                    <a:gd name="T56" fmla="*/ 146 w 155"/>
                    <a:gd name="T57" fmla="*/ 6 h 136"/>
                    <a:gd name="T58" fmla="*/ 146 w 155"/>
                    <a:gd name="T59" fmla="*/ 7 h 136"/>
                    <a:gd name="T60" fmla="*/ 146 w 155"/>
                    <a:gd name="T61" fmla="*/ 7 h 136"/>
                    <a:gd name="T62" fmla="*/ 146 w 155"/>
                    <a:gd name="T63" fmla="*/ 7 h 136"/>
                    <a:gd name="T64" fmla="*/ 146 w 155"/>
                    <a:gd name="T65" fmla="*/ 8 h 136"/>
                    <a:gd name="T66" fmla="*/ 146 w 155"/>
                    <a:gd name="T67" fmla="*/ 9 h 136"/>
                    <a:gd name="T68" fmla="*/ 146 w 155"/>
                    <a:gd name="T69" fmla="*/ 9 h 136"/>
                    <a:gd name="T70" fmla="*/ 146 w 155"/>
                    <a:gd name="T71" fmla="*/ 123 h 136"/>
                    <a:gd name="T72" fmla="*/ 146 w 155"/>
                    <a:gd name="T73" fmla="*/ 123 h 136"/>
                    <a:gd name="T74" fmla="*/ 146 w 155"/>
                    <a:gd name="T75" fmla="*/ 124 h 136"/>
                    <a:gd name="T76" fmla="*/ 146 w 155"/>
                    <a:gd name="T77" fmla="*/ 125 h 136"/>
                    <a:gd name="T78" fmla="*/ 146 w 155"/>
                    <a:gd name="T79" fmla="*/ 125 h 136"/>
                    <a:gd name="T80" fmla="*/ 145 w 155"/>
                    <a:gd name="T81" fmla="*/ 126 h 136"/>
                    <a:gd name="T82" fmla="*/ 145 w 155"/>
                    <a:gd name="T83" fmla="*/ 127 h 136"/>
                    <a:gd name="T84" fmla="*/ 144 w 155"/>
                    <a:gd name="T85" fmla="*/ 127 h 136"/>
                    <a:gd name="T86" fmla="*/ 143 w 155"/>
                    <a:gd name="T87" fmla="*/ 127 h 136"/>
                    <a:gd name="T88" fmla="*/ 143 w 155"/>
                    <a:gd name="T89" fmla="*/ 128 h 136"/>
                    <a:gd name="T90" fmla="*/ 142 w 155"/>
                    <a:gd name="T91" fmla="*/ 128 h 136"/>
                    <a:gd name="T92" fmla="*/ 142 w 155"/>
                    <a:gd name="T93" fmla="*/ 128 h 136"/>
                    <a:gd name="T94" fmla="*/ 9 w 155"/>
                    <a:gd name="T95" fmla="*/ 128 h 136"/>
                    <a:gd name="T96" fmla="*/ 8 w 155"/>
                    <a:gd name="T97" fmla="*/ 128 h 136"/>
                    <a:gd name="T98" fmla="*/ 8 w 155"/>
                    <a:gd name="T99" fmla="*/ 128 h 136"/>
                    <a:gd name="T100" fmla="*/ 8 w 155"/>
                    <a:gd name="T101" fmla="*/ 127 h 136"/>
                    <a:gd name="T102" fmla="*/ 7 w 155"/>
                    <a:gd name="T103" fmla="*/ 127 h 136"/>
                    <a:gd name="T104" fmla="*/ 7 w 155"/>
                    <a:gd name="T105" fmla="*/ 127 h 136"/>
                    <a:gd name="T106" fmla="*/ 6 w 155"/>
                    <a:gd name="T107" fmla="*/ 127 h 136"/>
                    <a:gd name="T108" fmla="*/ 6 w 155"/>
                    <a:gd name="T109" fmla="*/ 127 h 136"/>
                    <a:gd name="T110" fmla="*/ 0 w 155"/>
                    <a:gd name="T111" fmla="*/ 133 h 1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55"/>
                    <a:gd name="T169" fmla="*/ 0 h 136"/>
                    <a:gd name="T170" fmla="*/ 155 w 155"/>
                    <a:gd name="T171" fmla="*/ 136 h 136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55" h="136">
                      <a:moveTo>
                        <a:pt x="0" y="133"/>
                      </a:moveTo>
                      <a:lnTo>
                        <a:pt x="0" y="134"/>
                      </a:lnTo>
                      <a:lnTo>
                        <a:pt x="1" y="134"/>
                      </a:lnTo>
                      <a:lnTo>
                        <a:pt x="2" y="135"/>
                      </a:lnTo>
                      <a:lnTo>
                        <a:pt x="3" y="135"/>
                      </a:lnTo>
                      <a:lnTo>
                        <a:pt x="148" y="135"/>
                      </a:lnTo>
                      <a:lnTo>
                        <a:pt x="150" y="134"/>
                      </a:lnTo>
                      <a:lnTo>
                        <a:pt x="151" y="134"/>
                      </a:lnTo>
                      <a:lnTo>
                        <a:pt x="151" y="133"/>
                      </a:lnTo>
                      <a:lnTo>
                        <a:pt x="152" y="133"/>
                      </a:lnTo>
                      <a:lnTo>
                        <a:pt x="153" y="132"/>
                      </a:lnTo>
                      <a:lnTo>
                        <a:pt x="153" y="131"/>
                      </a:lnTo>
                      <a:lnTo>
                        <a:pt x="154" y="131"/>
                      </a:lnTo>
                      <a:lnTo>
                        <a:pt x="154" y="129"/>
                      </a:lnTo>
                      <a:lnTo>
                        <a:pt x="154" y="3"/>
                      </a:lnTo>
                      <a:lnTo>
                        <a:pt x="154" y="2"/>
                      </a:lnTo>
                      <a:lnTo>
                        <a:pt x="154" y="1"/>
                      </a:lnTo>
                      <a:lnTo>
                        <a:pt x="153" y="1"/>
                      </a:lnTo>
                      <a:lnTo>
                        <a:pt x="153" y="0"/>
                      </a:lnTo>
                      <a:lnTo>
                        <a:pt x="145" y="5"/>
                      </a:lnTo>
                      <a:lnTo>
                        <a:pt x="146" y="6"/>
                      </a:lnTo>
                      <a:lnTo>
                        <a:pt x="146" y="7"/>
                      </a:lnTo>
                      <a:lnTo>
                        <a:pt x="146" y="8"/>
                      </a:lnTo>
                      <a:lnTo>
                        <a:pt x="146" y="9"/>
                      </a:lnTo>
                      <a:lnTo>
                        <a:pt x="146" y="123"/>
                      </a:lnTo>
                      <a:lnTo>
                        <a:pt x="146" y="124"/>
                      </a:lnTo>
                      <a:lnTo>
                        <a:pt x="146" y="125"/>
                      </a:lnTo>
                      <a:lnTo>
                        <a:pt x="145" y="126"/>
                      </a:lnTo>
                      <a:lnTo>
                        <a:pt x="145" y="127"/>
                      </a:lnTo>
                      <a:lnTo>
                        <a:pt x="144" y="127"/>
                      </a:lnTo>
                      <a:lnTo>
                        <a:pt x="143" y="127"/>
                      </a:lnTo>
                      <a:lnTo>
                        <a:pt x="143" y="128"/>
                      </a:lnTo>
                      <a:lnTo>
                        <a:pt x="142" y="128"/>
                      </a:lnTo>
                      <a:lnTo>
                        <a:pt x="9" y="128"/>
                      </a:lnTo>
                      <a:lnTo>
                        <a:pt x="8" y="128"/>
                      </a:lnTo>
                      <a:lnTo>
                        <a:pt x="8" y="127"/>
                      </a:lnTo>
                      <a:lnTo>
                        <a:pt x="7" y="127"/>
                      </a:lnTo>
                      <a:lnTo>
                        <a:pt x="6" y="127"/>
                      </a:lnTo>
                      <a:lnTo>
                        <a:pt x="0" y="133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16" name="Freeform 110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16 h 17"/>
                    <a:gd name="T2" fmla="*/ 151 w 153"/>
                    <a:gd name="T3" fmla="*/ 16 h 17"/>
                    <a:gd name="T4" fmla="*/ 151 w 153"/>
                    <a:gd name="T5" fmla="*/ 10 h 17"/>
                    <a:gd name="T6" fmla="*/ 150 w 153"/>
                    <a:gd name="T7" fmla="*/ 10 h 17"/>
                    <a:gd name="T8" fmla="*/ 150 w 153"/>
                    <a:gd name="T9" fmla="*/ 10 h 17"/>
                    <a:gd name="T10" fmla="*/ 150 w 153"/>
                    <a:gd name="T11" fmla="*/ 5 h 17"/>
                    <a:gd name="T12" fmla="*/ 149 w 153"/>
                    <a:gd name="T13" fmla="*/ 5 h 17"/>
                    <a:gd name="T14" fmla="*/ 149 w 153"/>
                    <a:gd name="T15" fmla="*/ 5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5 h 17"/>
                    <a:gd name="T32" fmla="*/ 1 w 153"/>
                    <a:gd name="T33" fmla="*/ 5 h 17"/>
                    <a:gd name="T34" fmla="*/ 0 w 153"/>
                    <a:gd name="T35" fmla="*/ 10 h 17"/>
                    <a:gd name="T36" fmla="*/ 0 w 153"/>
                    <a:gd name="T37" fmla="*/ 10 h 17"/>
                    <a:gd name="T38" fmla="*/ 0 w 153"/>
                    <a:gd name="T39" fmla="*/ 16 h 17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153"/>
                    <a:gd name="T61" fmla="*/ 0 h 17"/>
                    <a:gd name="T62" fmla="*/ 153 w 153"/>
                    <a:gd name="T63" fmla="*/ 17 h 17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153" h="17">
                      <a:moveTo>
                        <a:pt x="152" y="16"/>
                      </a:moveTo>
                      <a:lnTo>
                        <a:pt x="151" y="16"/>
                      </a:lnTo>
                      <a:lnTo>
                        <a:pt x="151" y="10"/>
                      </a:lnTo>
                      <a:lnTo>
                        <a:pt x="150" y="10"/>
                      </a:lnTo>
                      <a:lnTo>
                        <a:pt x="150" y="5"/>
                      </a:lnTo>
                      <a:lnTo>
                        <a:pt x="149" y="5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5"/>
                      </a:lnTo>
                      <a:lnTo>
                        <a:pt x="0" y="1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 cap="rnd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17" name="Freeform 111"/>
                <p:cNvSpPr>
                  <a:spLocks/>
                </p:cNvSpPr>
                <p:nvPr/>
              </p:nvSpPr>
              <p:spPr bwMode="auto">
                <a:xfrm>
                  <a:off x="3843" y="1489"/>
                  <a:ext cx="215" cy="72"/>
                </a:xfrm>
                <a:custGeom>
                  <a:avLst/>
                  <a:gdLst>
                    <a:gd name="T0" fmla="*/ 0 w 215"/>
                    <a:gd name="T1" fmla="*/ 71 h 72"/>
                    <a:gd name="T2" fmla="*/ 0 w 215"/>
                    <a:gd name="T3" fmla="*/ 0 h 72"/>
                    <a:gd name="T4" fmla="*/ 214 w 215"/>
                    <a:gd name="T5" fmla="*/ 0 h 72"/>
                    <a:gd name="T6" fmla="*/ 214 w 215"/>
                    <a:gd name="T7" fmla="*/ 71 h 72"/>
                    <a:gd name="T8" fmla="*/ 0 w 215"/>
                    <a:gd name="T9" fmla="*/ 71 h 7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15"/>
                    <a:gd name="T16" fmla="*/ 0 h 72"/>
                    <a:gd name="T17" fmla="*/ 215 w 215"/>
                    <a:gd name="T18" fmla="*/ 72 h 7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15" h="72">
                      <a:moveTo>
                        <a:pt x="0" y="71"/>
                      </a:moveTo>
                      <a:lnTo>
                        <a:pt x="0" y="0"/>
                      </a:lnTo>
                      <a:lnTo>
                        <a:pt x="214" y="0"/>
                      </a:lnTo>
                      <a:lnTo>
                        <a:pt x="214" y="71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18" name="Freeform 112"/>
                <p:cNvSpPr>
                  <a:spLocks/>
                </p:cNvSpPr>
                <p:nvPr/>
              </p:nvSpPr>
              <p:spPr bwMode="auto">
                <a:xfrm>
                  <a:off x="3841" y="1489"/>
                  <a:ext cx="219" cy="23"/>
                </a:xfrm>
                <a:custGeom>
                  <a:avLst/>
                  <a:gdLst>
                    <a:gd name="T0" fmla="*/ 79 w 219"/>
                    <a:gd name="T1" fmla="*/ 0 h 23"/>
                    <a:gd name="T2" fmla="*/ 0 w 219"/>
                    <a:gd name="T3" fmla="*/ 0 h 23"/>
                    <a:gd name="T4" fmla="*/ 0 w 219"/>
                    <a:gd name="T5" fmla="*/ 22 h 23"/>
                    <a:gd name="T6" fmla="*/ 218 w 219"/>
                    <a:gd name="T7" fmla="*/ 22 h 23"/>
                    <a:gd name="T8" fmla="*/ 215 w 219"/>
                    <a:gd name="T9" fmla="*/ 0 h 23"/>
                    <a:gd name="T10" fmla="*/ 137 w 219"/>
                    <a:gd name="T11" fmla="*/ 0 h 23"/>
                    <a:gd name="T12" fmla="*/ 79 w 219"/>
                    <a:gd name="T13" fmla="*/ 0 h 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19"/>
                    <a:gd name="T22" fmla="*/ 0 h 23"/>
                    <a:gd name="T23" fmla="*/ 219 w 219"/>
                    <a:gd name="T24" fmla="*/ 23 h 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9" h="23">
                      <a:moveTo>
                        <a:pt x="79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218" y="22"/>
                      </a:lnTo>
                      <a:lnTo>
                        <a:pt x="215" y="0"/>
                      </a:lnTo>
                      <a:lnTo>
                        <a:pt x="137" y="0"/>
                      </a:lnTo>
                      <a:lnTo>
                        <a:pt x="79" y="0"/>
                      </a:lnTo>
                    </a:path>
                  </a:pathLst>
                </a:custGeom>
                <a:solidFill>
                  <a:srgbClr val="EFEFD1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19" name="Freeform 113"/>
                <p:cNvSpPr>
                  <a:spLocks/>
                </p:cNvSpPr>
                <p:nvPr/>
              </p:nvSpPr>
              <p:spPr bwMode="auto">
                <a:xfrm>
                  <a:off x="3991" y="1495"/>
                  <a:ext cx="56" cy="17"/>
                </a:xfrm>
                <a:custGeom>
                  <a:avLst/>
                  <a:gdLst>
                    <a:gd name="T0" fmla="*/ 0 w 56"/>
                    <a:gd name="T1" fmla="*/ 6 h 17"/>
                    <a:gd name="T2" fmla="*/ 18 w 56"/>
                    <a:gd name="T3" fmla="*/ 6 h 17"/>
                    <a:gd name="T4" fmla="*/ 18 w 56"/>
                    <a:gd name="T5" fmla="*/ 0 h 17"/>
                    <a:gd name="T6" fmla="*/ 35 w 56"/>
                    <a:gd name="T7" fmla="*/ 0 h 17"/>
                    <a:gd name="T8" fmla="*/ 35 w 56"/>
                    <a:gd name="T9" fmla="*/ 6 h 17"/>
                    <a:gd name="T10" fmla="*/ 55 w 56"/>
                    <a:gd name="T11" fmla="*/ 6 h 17"/>
                    <a:gd name="T12" fmla="*/ 55 w 56"/>
                    <a:gd name="T13" fmla="*/ 10 h 17"/>
                    <a:gd name="T14" fmla="*/ 35 w 56"/>
                    <a:gd name="T15" fmla="*/ 10 h 17"/>
                    <a:gd name="T16" fmla="*/ 35 w 56"/>
                    <a:gd name="T17" fmla="*/ 16 h 17"/>
                    <a:gd name="T18" fmla="*/ 18 w 56"/>
                    <a:gd name="T19" fmla="*/ 16 h 17"/>
                    <a:gd name="T20" fmla="*/ 18 w 56"/>
                    <a:gd name="T21" fmla="*/ 10 h 17"/>
                    <a:gd name="T22" fmla="*/ 0 w 56"/>
                    <a:gd name="T23" fmla="*/ 10 h 17"/>
                    <a:gd name="T24" fmla="*/ 0 w 56"/>
                    <a:gd name="T25" fmla="*/ 6 h 17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56"/>
                    <a:gd name="T40" fmla="*/ 0 h 17"/>
                    <a:gd name="T41" fmla="*/ 56 w 56"/>
                    <a:gd name="T42" fmla="*/ 17 h 17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56" h="17">
                      <a:moveTo>
                        <a:pt x="0" y="6"/>
                      </a:moveTo>
                      <a:lnTo>
                        <a:pt x="18" y="6"/>
                      </a:lnTo>
                      <a:lnTo>
                        <a:pt x="18" y="0"/>
                      </a:lnTo>
                      <a:lnTo>
                        <a:pt x="35" y="0"/>
                      </a:lnTo>
                      <a:lnTo>
                        <a:pt x="35" y="6"/>
                      </a:lnTo>
                      <a:lnTo>
                        <a:pt x="55" y="6"/>
                      </a:lnTo>
                      <a:lnTo>
                        <a:pt x="55" y="10"/>
                      </a:lnTo>
                      <a:lnTo>
                        <a:pt x="35" y="10"/>
                      </a:lnTo>
                      <a:lnTo>
                        <a:pt x="35" y="16"/>
                      </a:lnTo>
                      <a:lnTo>
                        <a:pt x="18" y="16"/>
                      </a:lnTo>
                      <a:lnTo>
                        <a:pt x="18" y="10"/>
                      </a:lnTo>
                      <a:lnTo>
                        <a:pt x="0" y="10"/>
                      </a:lnTo>
                      <a:lnTo>
                        <a:pt x="0" y="6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20" name="Freeform 114"/>
                <p:cNvSpPr>
                  <a:spLocks/>
                </p:cNvSpPr>
                <p:nvPr/>
              </p:nvSpPr>
              <p:spPr bwMode="auto">
                <a:xfrm>
                  <a:off x="3991" y="1501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0 h 17"/>
                    <a:gd name="T4" fmla="*/ 16 w 17"/>
                    <a:gd name="T5" fmla="*/ 5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17"/>
                    <a:gd name="T14" fmla="*/ 17 w 17"/>
                    <a:gd name="T15" fmla="*/ 17 h 1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17">
                      <a:moveTo>
                        <a:pt x="0" y="16"/>
                      </a:moveTo>
                      <a:lnTo>
                        <a:pt x="16" y="10"/>
                      </a:lnTo>
                      <a:lnTo>
                        <a:pt x="16" y="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rnd">
                  <a:solidFill>
                    <a:srgbClr val="EFEFD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21" name="Freeform 115"/>
                <p:cNvSpPr>
                  <a:spLocks/>
                </p:cNvSpPr>
                <p:nvPr/>
              </p:nvSpPr>
              <p:spPr bwMode="auto">
                <a:xfrm>
                  <a:off x="4010" y="149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rnd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22" name="Freeform 116"/>
                <p:cNvSpPr>
                  <a:spLocks/>
                </p:cNvSpPr>
                <p:nvPr/>
              </p:nvSpPr>
              <p:spPr bwMode="auto">
                <a:xfrm>
                  <a:off x="4046" y="1504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rnd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23" name="Freeform 117"/>
                <p:cNvSpPr>
                  <a:spLocks/>
                </p:cNvSpPr>
                <p:nvPr/>
              </p:nvSpPr>
              <p:spPr bwMode="auto">
                <a:xfrm>
                  <a:off x="4027" y="1495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0 h 17"/>
                    <a:gd name="T4" fmla="*/ 0 w 17"/>
                    <a:gd name="T5" fmla="*/ 16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16"/>
                      </a:moveTo>
                      <a:lnTo>
                        <a:pt x="16" y="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 cap="rnd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24" name="Freeform 118"/>
                <p:cNvSpPr>
                  <a:spLocks/>
                </p:cNvSpPr>
                <p:nvPr/>
              </p:nvSpPr>
              <p:spPr bwMode="auto">
                <a:xfrm>
                  <a:off x="4011" y="1499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6 h 17"/>
                    <a:gd name="T4" fmla="*/ 16 w 17"/>
                    <a:gd name="T5" fmla="*/ 0 h 17"/>
                    <a:gd name="T6" fmla="*/ 0 w 17"/>
                    <a:gd name="T7" fmla="*/ 0 h 17"/>
                    <a:gd name="T8" fmla="*/ 0 w 17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16"/>
                      </a:moveTo>
                      <a:lnTo>
                        <a:pt x="16" y="16"/>
                      </a:lnTo>
                      <a:lnTo>
                        <a:pt x="16" y="0"/>
                      </a:lnTo>
                      <a:lnTo>
                        <a:pt x="0" y="0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F9FA2"/>
                </a:solidFill>
                <a:ln w="12700" cap="rnd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25" name="Freeform 119"/>
                <p:cNvSpPr>
                  <a:spLocks/>
                </p:cNvSpPr>
                <p:nvPr/>
              </p:nvSpPr>
              <p:spPr bwMode="auto">
                <a:xfrm>
                  <a:off x="3993" y="1502"/>
                  <a:ext cx="54" cy="17"/>
                </a:xfrm>
                <a:custGeom>
                  <a:avLst/>
                  <a:gdLst>
                    <a:gd name="T0" fmla="*/ 0 w 54"/>
                    <a:gd name="T1" fmla="*/ 0 h 17"/>
                    <a:gd name="T2" fmla="*/ 53 w 54"/>
                    <a:gd name="T3" fmla="*/ 0 h 17"/>
                    <a:gd name="T4" fmla="*/ 53 w 54"/>
                    <a:gd name="T5" fmla="*/ 16 h 17"/>
                    <a:gd name="T6" fmla="*/ 0 w 54"/>
                    <a:gd name="T7" fmla="*/ 16 h 17"/>
                    <a:gd name="T8" fmla="*/ 0 w 54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4"/>
                    <a:gd name="T16" fmla="*/ 0 h 17"/>
                    <a:gd name="T17" fmla="*/ 54 w 5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4" h="17">
                      <a:moveTo>
                        <a:pt x="0" y="0"/>
                      </a:moveTo>
                      <a:lnTo>
                        <a:pt x="53" y="0"/>
                      </a:lnTo>
                      <a:lnTo>
                        <a:pt x="53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26" name="Freeform 120"/>
                <p:cNvSpPr>
                  <a:spLocks/>
                </p:cNvSpPr>
                <p:nvPr/>
              </p:nvSpPr>
              <p:spPr bwMode="auto">
                <a:xfrm>
                  <a:off x="4010" y="1496"/>
                  <a:ext cx="19" cy="17"/>
                </a:xfrm>
                <a:custGeom>
                  <a:avLst/>
                  <a:gdLst>
                    <a:gd name="T0" fmla="*/ 18 w 19"/>
                    <a:gd name="T1" fmla="*/ 12 h 17"/>
                    <a:gd name="T2" fmla="*/ 17 w 19"/>
                    <a:gd name="T3" fmla="*/ 16 h 17"/>
                    <a:gd name="T4" fmla="*/ 17 w 19"/>
                    <a:gd name="T5" fmla="*/ 0 h 17"/>
                    <a:gd name="T6" fmla="*/ 0 w 19"/>
                    <a:gd name="T7" fmla="*/ 0 h 17"/>
                    <a:gd name="T8" fmla="*/ 0 w 19"/>
                    <a:gd name="T9" fmla="*/ 16 h 17"/>
                    <a:gd name="T10" fmla="*/ 0 w 19"/>
                    <a:gd name="T11" fmla="*/ 12 h 1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"/>
                    <a:gd name="T19" fmla="*/ 0 h 17"/>
                    <a:gd name="T20" fmla="*/ 19 w 19"/>
                    <a:gd name="T21" fmla="*/ 17 h 1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" h="17">
                      <a:moveTo>
                        <a:pt x="18" y="12"/>
                      </a:moveTo>
                      <a:lnTo>
                        <a:pt x="17" y="16"/>
                      </a:ln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6"/>
                      </a:lnTo>
                      <a:lnTo>
                        <a:pt x="0" y="12"/>
                      </a:lnTo>
                    </a:path>
                  </a:pathLst>
                </a:custGeom>
                <a:noFill/>
                <a:ln w="12700" cap="rnd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27" name="Freeform 121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16 w 17"/>
                    <a:gd name="T1" fmla="*/ 0 h 17"/>
                    <a:gd name="T2" fmla="*/ 16 w 17"/>
                    <a:gd name="T3" fmla="*/ 16 h 17"/>
                    <a:gd name="T4" fmla="*/ 0 w 17"/>
                    <a:gd name="T5" fmla="*/ 16 h 17"/>
                    <a:gd name="T6" fmla="*/ 0 w 17"/>
                    <a:gd name="T7" fmla="*/ 0 h 17"/>
                    <a:gd name="T8" fmla="*/ 16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16" y="0"/>
                      </a:move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  <a:lnTo>
                        <a:pt x="16" y="0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28" name="Freeform 122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29" name="Freeform 123"/>
                <p:cNvSpPr>
                  <a:spLocks/>
                </p:cNvSpPr>
                <p:nvPr/>
              </p:nvSpPr>
              <p:spPr bwMode="auto">
                <a:xfrm>
                  <a:off x="3930" y="1497"/>
                  <a:ext cx="44" cy="17"/>
                </a:xfrm>
                <a:custGeom>
                  <a:avLst/>
                  <a:gdLst>
                    <a:gd name="T0" fmla="*/ 14 w 44"/>
                    <a:gd name="T1" fmla="*/ 16 h 17"/>
                    <a:gd name="T2" fmla="*/ 0 w 44"/>
                    <a:gd name="T3" fmla="*/ 16 h 17"/>
                    <a:gd name="T4" fmla="*/ 0 w 44"/>
                    <a:gd name="T5" fmla="*/ 8 h 17"/>
                    <a:gd name="T6" fmla="*/ 14 w 44"/>
                    <a:gd name="T7" fmla="*/ 8 h 17"/>
                    <a:gd name="T8" fmla="*/ 14 w 44"/>
                    <a:gd name="T9" fmla="*/ 0 h 17"/>
                    <a:gd name="T10" fmla="*/ 28 w 44"/>
                    <a:gd name="T11" fmla="*/ 0 h 17"/>
                    <a:gd name="T12" fmla="*/ 28 w 44"/>
                    <a:gd name="T13" fmla="*/ 8 h 17"/>
                    <a:gd name="T14" fmla="*/ 43 w 44"/>
                    <a:gd name="T15" fmla="*/ 8 h 17"/>
                    <a:gd name="T16" fmla="*/ 43 w 44"/>
                    <a:gd name="T17" fmla="*/ 16 h 17"/>
                    <a:gd name="T18" fmla="*/ 28 w 44"/>
                    <a:gd name="T19" fmla="*/ 16 h 17"/>
                    <a:gd name="T20" fmla="*/ 14 w 44"/>
                    <a:gd name="T21" fmla="*/ 16 h 1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44"/>
                    <a:gd name="T34" fmla="*/ 0 h 17"/>
                    <a:gd name="T35" fmla="*/ 44 w 44"/>
                    <a:gd name="T36" fmla="*/ 17 h 17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44" h="17">
                      <a:moveTo>
                        <a:pt x="14" y="16"/>
                      </a:moveTo>
                      <a:lnTo>
                        <a:pt x="0" y="16"/>
                      </a:lnTo>
                      <a:lnTo>
                        <a:pt x="0" y="8"/>
                      </a:lnTo>
                      <a:lnTo>
                        <a:pt x="14" y="8"/>
                      </a:lnTo>
                      <a:lnTo>
                        <a:pt x="14" y="0"/>
                      </a:lnTo>
                      <a:lnTo>
                        <a:pt x="28" y="0"/>
                      </a:lnTo>
                      <a:lnTo>
                        <a:pt x="28" y="8"/>
                      </a:lnTo>
                      <a:lnTo>
                        <a:pt x="43" y="8"/>
                      </a:lnTo>
                      <a:lnTo>
                        <a:pt x="43" y="16"/>
                      </a:lnTo>
                      <a:lnTo>
                        <a:pt x="28" y="16"/>
                      </a:lnTo>
                      <a:lnTo>
                        <a:pt x="14" y="16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30" name="Freeform 124"/>
                <p:cNvSpPr>
                  <a:spLocks/>
                </p:cNvSpPr>
                <p:nvPr/>
              </p:nvSpPr>
              <p:spPr bwMode="auto">
                <a:xfrm>
                  <a:off x="3945" y="1497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31" name="Freeform 125"/>
                <p:cNvSpPr>
                  <a:spLocks/>
                </p:cNvSpPr>
                <p:nvPr/>
              </p:nvSpPr>
              <p:spPr bwMode="auto">
                <a:xfrm>
                  <a:off x="3897" y="1494"/>
                  <a:ext cx="20" cy="17"/>
                </a:xfrm>
                <a:custGeom>
                  <a:avLst/>
                  <a:gdLst>
                    <a:gd name="T0" fmla="*/ 5 w 20"/>
                    <a:gd name="T1" fmla="*/ 16 h 17"/>
                    <a:gd name="T2" fmla="*/ 3 w 20"/>
                    <a:gd name="T3" fmla="*/ 15 h 17"/>
                    <a:gd name="T4" fmla="*/ 2 w 20"/>
                    <a:gd name="T5" fmla="*/ 15 h 17"/>
                    <a:gd name="T6" fmla="*/ 1 w 20"/>
                    <a:gd name="T7" fmla="*/ 14 h 17"/>
                    <a:gd name="T8" fmla="*/ 1 w 20"/>
                    <a:gd name="T9" fmla="*/ 12 h 17"/>
                    <a:gd name="T10" fmla="*/ 0 w 20"/>
                    <a:gd name="T11" fmla="*/ 12 h 17"/>
                    <a:gd name="T12" fmla="*/ 0 w 20"/>
                    <a:gd name="T13" fmla="*/ 10 h 17"/>
                    <a:gd name="T14" fmla="*/ 0 w 20"/>
                    <a:gd name="T15" fmla="*/ 8 h 17"/>
                    <a:gd name="T16" fmla="*/ 0 w 20"/>
                    <a:gd name="T17" fmla="*/ 6 h 17"/>
                    <a:gd name="T18" fmla="*/ 0 w 20"/>
                    <a:gd name="T19" fmla="*/ 4 h 17"/>
                    <a:gd name="T20" fmla="*/ 0 w 20"/>
                    <a:gd name="T21" fmla="*/ 3 h 17"/>
                    <a:gd name="T22" fmla="*/ 1 w 20"/>
                    <a:gd name="T23" fmla="*/ 2 h 17"/>
                    <a:gd name="T24" fmla="*/ 2 w 20"/>
                    <a:gd name="T25" fmla="*/ 1 h 17"/>
                    <a:gd name="T26" fmla="*/ 3 w 20"/>
                    <a:gd name="T27" fmla="*/ 0 h 17"/>
                    <a:gd name="T28" fmla="*/ 4 w 20"/>
                    <a:gd name="T29" fmla="*/ 0 h 17"/>
                    <a:gd name="T30" fmla="*/ 5 w 20"/>
                    <a:gd name="T31" fmla="*/ 0 h 17"/>
                    <a:gd name="T32" fmla="*/ 12 w 20"/>
                    <a:gd name="T33" fmla="*/ 0 h 17"/>
                    <a:gd name="T34" fmla="*/ 13 w 20"/>
                    <a:gd name="T35" fmla="*/ 0 h 17"/>
                    <a:gd name="T36" fmla="*/ 15 w 20"/>
                    <a:gd name="T37" fmla="*/ 0 h 17"/>
                    <a:gd name="T38" fmla="*/ 16 w 20"/>
                    <a:gd name="T39" fmla="*/ 1 h 17"/>
                    <a:gd name="T40" fmla="*/ 17 w 20"/>
                    <a:gd name="T41" fmla="*/ 3 h 17"/>
                    <a:gd name="T42" fmla="*/ 17 w 20"/>
                    <a:gd name="T43" fmla="*/ 3 h 17"/>
                    <a:gd name="T44" fmla="*/ 18 w 20"/>
                    <a:gd name="T45" fmla="*/ 5 h 17"/>
                    <a:gd name="T46" fmla="*/ 18 w 20"/>
                    <a:gd name="T47" fmla="*/ 7 h 17"/>
                    <a:gd name="T48" fmla="*/ 18 w 20"/>
                    <a:gd name="T49" fmla="*/ 8 h 17"/>
                    <a:gd name="T50" fmla="*/ 18 w 20"/>
                    <a:gd name="T51" fmla="*/ 10 h 17"/>
                    <a:gd name="T52" fmla="*/ 17 w 20"/>
                    <a:gd name="T53" fmla="*/ 12 h 17"/>
                    <a:gd name="T54" fmla="*/ 16 w 20"/>
                    <a:gd name="T55" fmla="*/ 13 h 17"/>
                    <a:gd name="T56" fmla="*/ 15 w 20"/>
                    <a:gd name="T57" fmla="*/ 15 h 17"/>
                    <a:gd name="T58" fmla="*/ 13 w 20"/>
                    <a:gd name="T59" fmla="*/ 15 h 17"/>
                    <a:gd name="T60" fmla="*/ 13 w 20"/>
                    <a:gd name="T61" fmla="*/ 16 h 17"/>
                    <a:gd name="T62" fmla="*/ 12 w 20"/>
                    <a:gd name="T63" fmla="*/ 16 h 17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20"/>
                    <a:gd name="T97" fmla="*/ 0 h 17"/>
                    <a:gd name="T98" fmla="*/ 20 w 20"/>
                    <a:gd name="T99" fmla="*/ 17 h 17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20" h="17">
                      <a:moveTo>
                        <a:pt x="5" y="16"/>
                      </a:moveTo>
                      <a:lnTo>
                        <a:pt x="5" y="16"/>
                      </a:lnTo>
                      <a:lnTo>
                        <a:pt x="4" y="16"/>
                      </a:lnTo>
                      <a:lnTo>
                        <a:pt x="3" y="15"/>
                      </a:lnTo>
                      <a:lnTo>
                        <a:pt x="2" y="15"/>
                      </a:lnTo>
                      <a:lnTo>
                        <a:pt x="2" y="14"/>
                      </a:lnTo>
                      <a:lnTo>
                        <a:pt x="1" y="14"/>
                      </a:lnTo>
                      <a:lnTo>
                        <a:pt x="1" y="13"/>
                      </a:lnTo>
                      <a:lnTo>
                        <a:pt x="1" y="12"/>
                      </a:lnTo>
                      <a:lnTo>
                        <a:pt x="0" y="12"/>
                      </a:lnTo>
                      <a:lnTo>
                        <a:pt x="0" y="11"/>
                      </a:lnTo>
                      <a:lnTo>
                        <a:pt x="0" y="10"/>
                      </a:lnTo>
                      <a:lnTo>
                        <a:pt x="0" y="9"/>
                      </a:lnTo>
                      <a:lnTo>
                        <a:pt x="0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1" y="3"/>
                      </a:lnTo>
                      <a:lnTo>
                        <a:pt x="1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5" y="0"/>
                      </a:lnTo>
                      <a:lnTo>
                        <a:pt x="12" y="0"/>
                      </a:lnTo>
                      <a:lnTo>
                        <a:pt x="13" y="0"/>
                      </a:lnTo>
                      <a:lnTo>
                        <a:pt x="15" y="0"/>
                      </a:lnTo>
                      <a:lnTo>
                        <a:pt x="16" y="1"/>
                      </a:lnTo>
                      <a:lnTo>
                        <a:pt x="16" y="2"/>
                      </a:lnTo>
                      <a:lnTo>
                        <a:pt x="17" y="3"/>
                      </a:lnTo>
                      <a:lnTo>
                        <a:pt x="18" y="4"/>
                      </a:lnTo>
                      <a:lnTo>
                        <a:pt x="18" y="5"/>
                      </a:lnTo>
                      <a:lnTo>
                        <a:pt x="18" y="6"/>
                      </a:lnTo>
                      <a:lnTo>
                        <a:pt x="18" y="7"/>
                      </a:lnTo>
                      <a:lnTo>
                        <a:pt x="19" y="8"/>
                      </a:lnTo>
                      <a:lnTo>
                        <a:pt x="18" y="8"/>
                      </a:lnTo>
                      <a:lnTo>
                        <a:pt x="18" y="9"/>
                      </a:lnTo>
                      <a:lnTo>
                        <a:pt x="18" y="10"/>
                      </a:lnTo>
                      <a:lnTo>
                        <a:pt x="18" y="11"/>
                      </a:lnTo>
                      <a:lnTo>
                        <a:pt x="17" y="12"/>
                      </a:lnTo>
                      <a:lnTo>
                        <a:pt x="16" y="13"/>
                      </a:lnTo>
                      <a:lnTo>
                        <a:pt x="16" y="14"/>
                      </a:lnTo>
                      <a:lnTo>
                        <a:pt x="15" y="15"/>
                      </a:lnTo>
                      <a:lnTo>
                        <a:pt x="13" y="15"/>
                      </a:lnTo>
                      <a:lnTo>
                        <a:pt x="13" y="16"/>
                      </a:lnTo>
                      <a:lnTo>
                        <a:pt x="12" y="16"/>
                      </a:lnTo>
                      <a:lnTo>
                        <a:pt x="5" y="16"/>
                      </a:lnTo>
                    </a:path>
                  </a:pathLst>
                </a:custGeom>
                <a:solidFill>
                  <a:srgbClr val="666666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32" name="Freeform 126"/>
                <p:cNvSpPr>
                  <a:spLocks/>
                </p:cNvSpPr>
                <p:nvPr/>
              </p:nvSpPr>
              <p:spPr bwMode="auto">
                <a:xfrm>
                  <a:off x="3921" y="1489"/>
                  <a:ext cx="17" cy="38"/>
                </a:xfrm>
                <a:custGeom>
                  <a:avLst/>
                  <a:gdLst>
                    <a:gd name="T0" fmla="*/ 8 w 17"/>
                    <a:gd name="T1" fmla="*/ 0 h 38"/>
                    <a:gd name="T2" fmla="*/ 0 w 17"/>
                    <a:gd name="T3" fmla="*/ 22 h 38"/>
                    <a:gd name="T4" fmla="*/ 16 w 17"/>
                    <a:gd name="T5" fmla="*/ 22 h 38"/>
                    <a:gd name="T6" fmla="*/ 16 w 17"/>
                    <a:gd name="T7" fmla="*/ 37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38"/>
                    <a:gd name="T14" fmla="*/ 17 w 17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38">
                      <a:moveTo>
                        <a:pt x="8" y="0"/>
                      </a:moveTo>
                      <a:lnTo>
                        <a:pt x="0" y="22"/>
                      </a:lnTo>
                      <a:lnTo>
                        <a:pt x="16" y="22"/>
                      </a:lnTo>
                      <a:lnTo>
                        <a:pt x="16" y="37"/>
                      </a:lnTo>
                    </a:path>
                  </a:pathLst>
                </a:custGeom>
                <a:noFill/>
                <a:ln w="12700" cap="rnd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33" name="Freeform 127"/>
                <p:cNvSpPr>
                  <a:spLocks/>
                </p:cNvSpPr>
                <p:nvPr/>
              </p:nvSpPr>
              <p:spPr bwMode="auto">
                <a:xfrm>
                  <a:off x="3979" y="1489"/>
                  <a:ext cx="17" cy="72"/>
                </a:xfrm>
                <a:custGeom>
                  <a:avLst/>
                  <a:gdLst>
                    <a:gd name="T0" fmla="*/ 0 w 17"/>
                    <a:gd name="T1" fmla="*/ 0 h 72"/>
                    <a:gd name="T2" fmla="*/ 16 w 17"/>
                    <a:gd name="T3" fmla="*/ 22 h 72"/>
                    <a:gd name="T4" fmla="*/ 0 w 17"/>
                    <a:gd name="T5" fmla="*/ 22 h 72"/>
                    <a:gd name="T6" fmla="*/ 0 w 17"/>
                    <a:gd name="T7" fmla="*/ 71 h 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72"/>
                    <a:gd name="T14" fmla="*/ 17 w 17"/>
                    <a:gd name="T15" fmla="*/ 72 h 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72">
                      <a:moveTo>
                        <a:pt x="0" y="0"/>
                      </a:moveTo>
                      <a:lnTo>
                        <a:pt x="16" y="22"/>
                      </a:lnTo>
                      <a:lnTo>
                        <a:pt x="0" y="22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 cap="rnd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34" name="Freeform 128"/>
                <p:cNvSpPr>
                  <a:spLocks/>
                </p:cNvSpPr>
                <p:nvPr/>
              </p:nvSpPr>
              <p:spPr bwMode="auto">
                <a:xfrm>
                  <a:off x="3855" y="1532"/>
                  <a:ext cx="250" cy="41"/>
                </a:xfrm>
                <a:custGeom>
                  <a:avLst/>
                  <a:gdLst>
                    <a:gd name="T0" fmla="*/ 0 w 250"/>
                    <a:gd name="T1" fmla="*/ 40 h 41"/>
                    <a:gd name="T2" fmla="*/ 249 w 250"/>
                    <a:gd name="T3" fmla="*/ 40 h 41"/>
                    <a:gd name="T4" fmla="*/ 240 w 250"/>
                    <a:gd name="T5" fmla="*/ 0 h 41"/>
                    <a:gd name="T6" fmla="*/ 10 w 250"/>
                    <a:gd name="T7" fmla="*/ 0 h 41"/>
                    <a:gd name="T8" fmla="*/ 0 w 250"/>
                    <a:gd name="T9" fmla="*/ 40 h 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0"/>
                    <a:gd name="T16" fmla="*/ 0 h 41"/>
                    <a:gd name="T17" fmla="*/ 250 w 250"/>
                    <a:gd name="T18" fmla="*/ 41 h 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0" h="41">
                      <a:moveTo>
                        <a:pt x="0" y="40"/>
                      </a:moveTo>
                      <a:lnTo>
                        <a:pt x="249" y="40"/>
                      </a:lnTo>
                      <a:lnTo>
                        <a:pt x="240" y="0"/>
                      </a:lnTo>
                      <a:lnTo>
                        <a:pt x="10" y="0"/>
                      </a:lnTo>
                      <a:lnTo>
                        <a:pt x="0" y="40"/>
                      </a:lnTo>
                    </a:path>
                  </a:pathLst>
                </a:custGeom>
                <a:solidFill>
                  <a:srgbClr val="EFEFD1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35" name="Freeform 129"/>
                <p:cNvSpPr>
                  <a:spLocks/>
                </p:cNvSpPr>
                <p:nvPr/>
              </p:nvSpPr>
              <p:spPr bwMode="auto">
                <a:xfrm>
                  <a:off x="3855" y="1572"/>
                  <a:ext cx="251" cy="17"/>
                </a:xfrm>
                <a:custGeom>
                  <a:avLst/>
                  <a:gdLst>
                    <a:gd name="T0" fmla="*/ 0 w 251"/>
                    <a:gd name="T1" fmla="*/ 16 h 17"/>
                    <a:gd name="T2" fmla="*/ 0 w 251"/>
                    <a:gd name="T3" fmla="*/ 0 h 17"/>
                    <a:gd name="T4" fmla="*/ 249 w 251"/>
                    <a:gd name="T5" fmla="*/ 0 h 17"/>
                    <a:gd name="T6" fmla="*/ 250 w 251"/>
                    <a:gd name="T7" fmla="*/ 16 h 17"/>
                    <a:gd name="T8" fmla="*/ 0 w 251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1"/>
                    <a:gd name="T16" fmla="*/ 0 h 17"/>
                    <a:gd name="T17" fmla="*/ 251 w 251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1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249" y="0"/>
                      </a:lnTo>
                      <a:lnTo>
                        <a:pt x="250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CCCC6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36" name="Freeform 130"/>
                <p:cNvSpPr>
                  <a:spLocks/>
                </p:cNvSpPr>
                <p:nvPr/>
              </p:nvSpPr>
              <p:spPr bwMode="auto">
                <a:xfrm>
                  <a:off x="3872" y="1538"/>
                  <a:ext cx="223" cy="28"/>
                </a:xfrm>
                <a:custGeom>
                  <a:avLst/>
                  <a:gdLst>
                    <a:gd name="T0" fmla="*/ 0 w 223"/>
                    <a:gd name="T1" fmla="*/ 27 h 28"/>
                    <a:gd name="T2" fmla="*/ 222 w 223"/>
                    <a:gd name="T3" fmla="*/ 27 h 28"/>
                    <a:gd name="T4" fmla="*/ 214 w 223"/>
                    <a:gd name="T5" fmla="*/ 0 h 28"/>
                    <a:gd name="T6" fmla="*/ 8 w 223"/>
                    <a:gd name="T7" fmla="*/ 0 h 28"/>
                    <a:gd name="T8" fmla="*/ 0 w 223"/>
                    <a:gd name="T9" fmla="*/ 27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3"/>
                    <a:gd name="T16" fmla="*/ 0 h 28"/>
                    <a:gd name="T17" fmla="*/ 223 w 223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3" h="28">
                      <a:moveTo>
                        <a:pt x="0" y="27"/>
                      </a:moveTo>
                      <a:lnTo>
                        <a:pt x="222" y="27"/>
                      </a:lnTo>
                      <a:lnTo>
                        <a:pt x="214" y="0"/>
                      </a:lnTo>
                      <a:lnTo>
                        <a:pt x="8" y="0"/>
                      </a:lnTo>
                      <a:lnTo>
                        <a:pt x="0" y="27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7063" name="Group 131"/>
              <p:cNvGrpSpPr>
                <a:grpSpLocks/>
              </p:cNvGrpSpPr>
              <p:nvPr/>
            </p:nvGrpSpPr>
            <p:grpSpPr bwMode="auto">
              <a:xfrm>
                <a:off x="817" y="3579"/>
                <a:ext cx="248" cy="201"/>
                <a:chOff x="3840" y="1279"/>
                <a:chExt cx="266" cy="310"/>
              </a:xfrm>
            </p:grpSpPr>
            <p:sp>
              <p:nvSpPr>
                <p:cNvPr id="27125" name="Freeform 132"/>
                <p:cNvSpPr>
                  <a:spLocks/>
                </p:cNvSpPr>
                <p:nvPr/>
              </p:nvSpPr>
              <p:spPr bwMode="auto">
                <a:xfrm>
                  <a:off x="3848" y="1548"/>
                  <a:ext cx="206" cy="20"/>
                </a:xfrm>
                <a:custGeom>
                  <a:avLst/>
                  <a:gdLst>
                    <a:gd name="T0" fmla="*/ 0 w 206"/>
                    <a:gd name="T1" fmla="*/ 19 h 20"/>
                    <a:gd name="T2" fmla="*/ 0 w 206"/>
                    <a:gd name="T3" fmla="*/ 0 h 20"/>
                    <a:gd name="T4" fmla="*/ 205 w 206"/>
                    <a:gd name="T5" fmla="*/ 0 h 20"/>
                    <a:gd name="T6" fmla="*/ 205 w 206"/>
                    <a:gd name="T7" fmla="*/ 19 h 20"/>
                    <a:gd name="T8" fmla="*/ 0 w 206"/>
                    <a:gd name="T9" fmla="*/ 19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6"/>
                    <a:gd name="T16" fmla="*/ 0 h 20"/>
                    <a:gd name="T17" fmla="*/ 206 w 206"/>
                    <a:gd name="T18" fmla="*/ 20 h 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6" h="20">
                      <a:moveTo>
                        <a:pt x="0" y="19"/>
                      </a:moveTo>
                      <a:lnTo>
                        <a:pt x="0" y="0"/>
                      </a:lnTo>
                      <a:lnTo>
                        <a:pt x="205" y="0"/>
                      </a:lnTo>
                      <a:lnTo>
                        <a:pt x="205" y="19"/>
                      </a:lnTo>
                      <a:lnTo>
                        <a:pt x="0" y="19"/>
                      </a:lnTo>
                    </a:path>
                  </a:pathLst>
                </a:custGeom>
                <a:solidFill>
                  <a:srgbClr val="666666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26" name="Freeform 133"/>
                <p:cNvSpPr>
                  <a:spLocks/>
                </p:cNvSpPr>
                <p:nvPr/>
              </p:nvSpPr>
              <p:spPr bwMode="auto">
                <a:xfrm>
                  <a:off x="3840" y="1453"/>
                  <a:ext cx="220" cy="34"/>
                </a:xfrm>
                <a:custGeom>
                  <a:avLst/>
                  <a:gdLst>
                    <a:gd name="T0" fmla="*/ 189 w 220"/>
                    <a:gd name="T1" fmla="*/ 0 h 34"/>
                    <a:gd name="T2" fmla="*/ 219 w 220"/>
                    <a:gd name="T3" fmla="*/ 33 h 34"/>
                    <a:gd name="T4" fmla="*/ 0 w 220"/>
                    <a:gd name="T5" fmla="*/ 33 h 34"/>
                    <a:gd name="T6" fmla="*/ 29 w 220"/>
                    <a:gd name="T7" fmla="*/ 0 h 34"/>
                    <a:gd name="T8" fmla="*/ 189 w 220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34"/>
                    <a:gd name="T17" fmla="*/ 220 w 220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34">
                      <a:moveTo>
                        <a:pt x="189" y="0"/>
                      </a:moveTo>
                      <a:lnTo>
                        <a:pt x="219" y="33"/>
                      </a:lnTo>
                      <a:lnTo>
                        <a:pt x="0" y="33"/>
                      </a:lnTo>
                      <a:lnTo>
                        <a:pt x="29" y="0"/>
                      </a:lnTo>
                      <a:lnTo>
                        <a:pt x="189" y="0"/>
                      </a:lnTo>
                    </a:path>
                  </a:pathLst>
                </a:custGeom>
                <a:solidFill>
                  <a:srgbClr val="EFEFD1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27" name="Freeform 134"/>
                <p:cNvSpPr>
                  <a:spLocks/>
                </p:cNvSpPr>
                <p:nvPr/>
              </p:nvSpPr>
              <p:spPr bwMode="auto">
                <a:xfrm>
                  <a:off x="3897" y="1449"/>
                  <a:ext cx="104" cy="24"/>
                </a:xfrm>
                <a:custGeom>
                  <a:avLst/>
                  <a:gdLst>
                    <a:gd name="T0" fmla="*/ 102 w 104"/>
                    <a:gd name="T1" fmla="*/ 10 h 24"/>
                    <a:gd name="T2" fmla="*/ 101 w 104"/>
                    <a:gd name="T3" fmla="*/ 8 h 24"/>
                    <a:gd name="T4" fmla="*/ 97 w 104"/>
                    <a:gd name="T5" fmla="*/ 6 h 24"/>
                    <a:gd name="T6" fmla="*/ 93 w 104"/>
                    <a:gd name="T7" fmla="*/ 4 h 24"/>
                    <a:gd name="T8" fmla="*/ 87 w 104"/>
                    <a:gd name="T9" fmla="*/ 3 h 24"/>
                    <a:gd name="T10" fmla="*/ 80 w 104"/>
                    <a:gd name="T11" fmla="*/ 2 h 24"/>
                    <a:gd name="T12" fmla="*/ 72 w 104"/>
                    <a:gd name="T13" fmla="*/ 1 h 24"/>
                    <a:gd name="T14" fmla="*/ 64 w 104"/>
                    <a:gd name="T15" fmla="*/ 0 h 24"/>
                    <a:gd name="T16" fmla="*/ 55 w 104"/>
                    <a:gd name="T17" fmla="*/ 0 h 24"/>
                    <a:gd name="T18" fmla="*/ 46 w 104"/>
                    <a:gd name="T19" fmla="*/ 0 h 24"/>
                    <a:gd name="T20" fmla="*/ 37 w 104"/>
                    <a:gd name="T21" fmla="*/ 0 h 24"/>
                    <a:gd name="T22" fmla="*/ 29 w 104"/>
                    <a:gd name="T23" fmla="*/ 1 h 24"/>
                    <a:gd name="T24" fmla="*/ 21 w 104"/>
                    <a:gd name="T25" fmla="*/ 2 h 24"/>
                    <a:gd name="T26" fmla="*/ 14 w 104"/>
                    <a:gd name="T27" fmla="*/ 3 h 24"/>
                    <a:gd name="T28" fmla="*/ 8 w 104"/>
                    <a:gd name="T29" fmla="*/ 4 h 24"/>
                    <a:gd name="T30" fmla="*/ 4 w 104"/>
                    <a:gd name="T31" fmla="*/ 6 h 24"/>
                    <a:gd name="T32" fmla="*/ 1 w 104"/>
                    <a:gd name="T33" fmla="*/ 8 h 24"/>
                    <a:gd name="T34" fmla="*/ 0 w 104"/>
                    <a:gd name="T35" fmla="*/ 10 h 24"/>
                    <a:gd name="T36" fmla="*/ 0 w 104"/>
                    <a:gd name="T37" fmla="*/ 12 h 24"/>
                    <a:gd name="T38" fmla="*/ 1 w 104"/>
                    <a:gd name="T39" fmla="*/ 14 h 24"/>
                    <a:gd name="T40" fmla="*/ 4 w 104"/>
                    <a:gd name="T41" fmla="*/ 16 h 24"/>
                    <a:gd name="T42" fmla="*/ 8 w 104"/>
                    <a:gd name="T43" fmla="*/ 17 h 24"/>
                    <a:gd name="T44" fmla="*/ 14 w 104"/>
                    <a:gd name="T45" fmla="*/ 19 h 24"/>
                    <a:gd name="T46" fmla="*/ 21 w 104"/>
                    <a:gd name="T47" fmla="*/ 20 h 24"/>
                    <a:gd name="T48" fmla="*/ 29 w 104"/>
                    <a:gd name="T49" fmla="*/ 21 h 24"/>
                    <a:gd name="T50" fmla="*/ 37 w 104"/>
                    <a:gd name="T51" fmla="*/ 22 h 24"/>
                    <a:gd name="T52" fmla="*/ 46 w 104"/>
                    <a:gd name="T53" fmla="*/ 23 h 24"/>
                    <a:gd name="T54" fmla="*/ 55 w 104"/>
                    <a:gd name="T55" fmla="*/ 23 h 24"/>
                    <a:gd name="T56" fmla="*/ 64 w 104"/>
                    <a:gd name="T57" fmla="*/ 22 h 24"/>
                    <a:gd name="T58" fmla="*/ 72 w 104"/>
                    <a:gd name="T59" fmla="*/ 21 h 24"/>
                    <a:gd name="T60" fmla="*/ 80 w 104"/>
                    <a:gd name="T61" fmla="*/ 20 h 24"/>
                    <a:gd name="T62" fmla="*/ 87 w 104"/>
                    <a:gd name="T63" fmla="*/ 19 h 24"/>
                    <a:gd name="T64" fmla="*/ 93 w 104"/>
                    <a:gd name="T65" fmla="*/ 17 h 24"/>
                    <a:gd name="T66" fmla="*/ 97 w 104"/>
                    <a:gd name="T67" fmla="*/ 16 h 24"/>
                    <a:gd name="T68" fmla="*/ 101 w 104"/>
                    <a:gd name="T69" fmla="*/ 14 h 24"/>
                    <a:gd name="T70" fmla="*/ 102 w 104"/>
                    <a:gd name="T71" fmla="*/ 12 h 24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104"/>
                    <a:gd name="T109" fmla="*/ 0 h 24"/>
                    <a:gd name="T110" fmla="*/ 104 w 104"/>
                    <a:gd name="T111" fmla="*/ 24 h 24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104" h="24">
                      <a:moveTo>
                        <a:pt x="103" y="11"/>
                      </a:moveTo>
                      <a:lnTo>
                        <a:pt x="102" y="10"/>
                      </a:lnTo>
                      <a:lnTo>
                        <a:pt x="102" y="9"/>
                      </a:lnTo>
                      <a:lnTo>
                        <a:pt x="101" y="8"/>
                      </a:lnTo>
                      <a:lnTo>
                        <a:pt x="99" y="7"/>
                      </a:lnTo>
                      <a:lnTo>
                        <a:pt x="97" y="6"/>
                      </a:lnTo>
                      <a:lnTo>
                        <a:pt x="95" y="6"/>
                      </a:lnTo>
                      <a:lnTo>
                        <a:pt x="93" y="4"/>
                      </a:lnTo>
                      <a:lnTo>
                        <a:pt x="90" y="4"/>
                      </a:lnTo>
                      <a:lnTo>
                        <a:pt x="87" y="3"/>
                      </a:lnTo>
                      <a:lnTo>
                        <a:pt x="84" y="2"/>
                      </a:lnTo>
                      <a:lnTo>
                        <a:pt x="80" y="2"/>
                      </a:lnTo>
                      <a:lnTo>
                        <a:pt x="76" y="1"/>
                      </a:lnTo>
                      <a:lnTo>
                        <a:pt x="72" y="1"/>
                      </a:lnTo>
                      <a:lnTo>
                        <a:pt x="69" y="0"/>
                      </a:lnTo>
                      <a:lnTo>
                        <a:pt x="64" y="0"/>
                      </a:lnTo>
                      <a:lnTo>
                        <a:pt x="60" y="0"/>
                      </a:lnTo>
                      <a:lnTo>
                        <a:pt x="55" y="0"/>
                      </a:lnTo>
                      <a:lnTo>
                        <a:pt x="51" y="0"/>
                      </a:lnTo>
                      <a:lnTo>
                        <a:pt x="46" y="0"/>
                      </a:lnTo>
                      <a:lnTo>
                        <a:pt x="42" y="0"/>
                      </a:lnTo>
                      <a:lnTo>
                        <a:pt x="37" y="0"/>
                      </a:lnTo>
                      <a:lnTo>
                        <a:pt x="33" y="0"/>
                      </a:lnTo>
                      <a:lnTo>
                        <a:pt x="29" y="1"/>
                      </a:lnTo>
                      <a:lnTo>
                        <a:pt x="25" y="1"/>
                      </a:lnTo>
                      <a:lnTo>
                        <a:pt x="21" y="2"/>
                      </a:lnTo>
                      <a:lnTo>
                        <a:pt x="17" y="2"/>
                      </a:lnTo>
                      <a:lnTo>
                        <a:pt x="14" y="3"/>
                      </a:lnTo>
                      <a:lnTo>
                        <a:pt x="12" y="4"/>
                      </a:lnTo>
                      <a:lnTo>
                        <a:pt x="8" y="4"/>
                      </a:lnTo>
                      <a:lnTo>
                        <a:pt x="6" y="6"/>
                      </a:lnTo>
                      <a:lnTo>
                        <a:pt x="4" y="6"/>
                      </a:lnTo>
                      <a:lnTo>
                        <a:pt x="3" y="7"/>
                      </a:lnTo>
                      <a:lnTo>
                        <a:pt x="1" y="8"/>
                      </a:lnTo>
                      <a:lnTo>
                        <a:pt x="0" y="9"/>
                      </a:lnTo>
                      <a:lnTo>
                        <a:pt x="0" y="10"/>
                      </a:lnTo>
                      <a:lnTo>
                        <a:pt x="0" y="11"/>
                      </a:lnTo>
                      <a:lnTo>
                        <a:pt x="0" y="12"/>
                      </a:lnTo>
                      <a:lnTo>
                        <a:pt x="0" y="13"/>
                      </a:lnTo>
                      <a:lnTo>
                        <a:pt x="1" y="14"/>
                      </a:lnTo>
                      <a:lnTo>
                        <a:pt x="3" y="15"/>
                      </a:lnTo>
                      <a:lnTo>
                        <a:pt x="4" y="16"/>
                      </a:lnTo>
                      <a:lnTo>
                        <a:pt x="6" y="17"/>
                      </a:lnTo>
                      <a:lnTo>
                        <a:pt x="8" y="17"/>
                      </a:lnTo>
                      <a:lnTo>
                        <a:pt x="12" y="18"/>
                      </a:lnTo>
                      <a:lnTo>
                        <a:pt x="14" y="19"/>
                      </a:lnTo>
                      <a:lnTo>
                        <a:pt x="17" y="20"/>
                      </a:lnTo>
                      <a:lnTo>
                        <a:pt x="21" y="20"/>
                      </a:lnTo>
                      <a:lnTo>
                        <a:pt x="25" y="21"/>
                      </a:lnTo>
                      <a:lnTo>
                        <a:pt x="29" y="21"/>
                      </a:lnTo>
                      <a:lnTo>
                        <a:pt x="33" y="22"/>
                      </a:lnTo>
                      <a:lnTo>
                        <a:pt x="37" y="22"/>
                      </a:lnTo>
                      <a:lnTo>
                        <a:pt x="42" y="22"/>
                      </a:lnTo>
                      <a:lnTo>
                        <a:pt x="46" y="23"/>
                      </a:lnTo>
                      <a:lnTo>
                        <a:pt x="51" y="23"/>
                      </a:lnTo>
                      <a:lnTo>
                        <a:pt x="55" y="23"/>
                      </a:lnTo>
                      <a:lnTo>
                        <a:pt x="60" y="22"/>
                      </a:lnTo>
                      <a:lnTo>
                        <a:pt x="64" y="22"/>
                      </a:lnTo>
                      <a:lnTo>
                        <a:pt x="69" y="22"/>
                      </a:lnTo>
                      <a:lnTo>
                        <a:pt x="72" y="21"/>
                      </a:lnTo>
                      <a:lnTo>
                        <a:pt x="76" y="21"/>
                      </a:lnTo>
                      <a:lnTo>
                        <a:pt x="80" y="20"/>
                      </a:lnTo>
                      <a:lnTo>
                        <a:pt x="84" y="20"/>
                      </a:lnTo>
                      <a:lnTo>
                        <a:pt x="87" y="19"/>
                      </a:lnTo>
                      <a:lnTo>
                        <a:pt x="90" y="18"/>
                      </a:lnTo>
                      <a:lnTo>
                        <a:pt x="93" y="17"/>
                      </a:lnTo>
                      <a:lnTo>
                        <a:pt x="95" y="17"/>
                      </a:lnTo>
                      <a:lnTo>
                        <a:pt x="97" y="16"/>
                      </a:lnTo>
                      <a:lnTo>
                        <a:pt x="99" y="15"/>
                      </a:lnTo>
                      <a:lnTo>
                        <a:pt x="101" y="14"/>
                      </a:lnTo>
                      <a:lnTo>
                        <a:pt x="102" y="13"/>
                      </a:lnTo>
                      <a:lnTo>
                        <a:pt x="102" y="12"/>
                      </a:lnTo>
                      <a:lnTo>
                        <a:pt x="103" y="11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28" name="Freeform 135"/>
                <p:cNvSpPr>
                  <a:spLocks/>
                </p:cNvSpPr>
                <p:nvPr/>
              </p:nvSpPr>
              <p:spPr bwMode="auto">
                <a:xfrm>
                  <a:off x="3897" y="1461"/>
                  <a:ext cx="104" cy="17"/>
                </a:xfrm>
                <a:custGeom>
                  <a:avLst/>
                  <a:gdLst>
                    <a:gd name="T0" fmla="*/ 102 w 104"/>
                    <a:gd name="T1" fmla="*/ 6 h 17"/>
                    <a:gd name="T2" fmla="*/ 101 w 104"/>
                    <a:gd name="T3" fmla="*/ 8 h 17"/>
                    <a:gd name="T4" fmla="*/ 97 w 104"/>
                    <a:gd name="T5" fmla="*/ 10 h 17"/>
                    <a:gd name="T6" fmla="*/ 93 w 104"/>
                    <a:gd name="T7" fmla="*/ 11 h 17"/>
                    <a:gd name="T8" fmla="*/ 87 w 104"/>
                    <a:gd name="T9" fmla="*/ 12 h 17"/>
                    <a:gd name="T10" fmla="*/ 80 w 104"/>
                    <a:gd name="T11" fmla="*/ 14 h 17"/>
                    <a:gd name="T12" fmla="*/ 72 w 104"/>
                    <a:gd name="T13" fmla="*/ 14 h 17"/>
                    <a:gd name="T14" fmla="*/ 64 w 104"/>
                    <a:gd name="T15" fmla="*/ 15 h 17"/>
                    <a:gd name="T16" fmla="*/ 55 w 104"/>
                    <a:gd name="T17" fmla="*/ 16 h 17"/>
                    <a:gd name="T18" fmla="*/ 46 w 104"/>
                    <a:gd name="T19" fmla="*/ 16 h 17"/>
                    <a:gd name="T20" fmla="*/ 37 w 104"/>
                    <a:gd name="T21" fmla="*/ 15 h 17"/>
                    <a:gd name="T22" fmla="*/ 29 w 104"/>
                    <a:gd name="T23" fmla="*/ 14 h 17"/>
                    <a:gd name="T24" fmla="*/ 21 w 104"/>
                    <a:gd name="T25" fmla="*/ 14 h 17"/>
                    <a:gd name="T26" fmla="*/ 14 w 104"/>
                    <a:gd name="T27" fmla="*/ 12 h 17"/>
                    <a:gd name="T28" fmla="*/ 8 w 104"/>
                    <a:gd name="T29" fmla="*/ 11 h 17"/>
                    <a:gd name="T30" fmla="*/ 4 w 104"/>
                    <a:gd name="T31" fmla="*/ 10 h 17"/>
                    <a:gd name="T32" fmla="*/ 1 w 104"/>
                    <a:gd name="T33" fmla="*/ 8 h 17"/>
                    <a:gd name="T34" fmla="*/ 0 w 104"/>
                    <a:gd name="T35" fmla="*/ 6 h 17"/>
                    <a:gd name="T36" fmla="*/ 0 w 104"/>
                    <a:gd name="T37" fmla="*/ 0 h 17"/>
                    <a:gd name="T38" fmla="*/ 0 w 104"/>
                    <a:gd name="T39" fmla="*/ 2 h 17"/>
                    <a:gd name="T40" fmla="*/ 3 w 104"/>
                    <a:gd name="T41" fmla="*/ 4 h 17"/>
                    <a:gd name="T42" fmla="*/ 6 w 104"/>
                    <a:gd name="T43" fmla="*/ 5 h 17"/>
                    <a:gd name="T44" fmla="*/ 12 w 104"/>
                    <a:gd name="T45" fmla="*/ 6 h 17"/>
                    <a:gd name="T46" fmla="*/ 17 w 104"/>
                    <a:gd name="T47" fmla="*/ 8 h 17"/>
                    <a:gd name="T48" fmla="*/ 25 w 104"/>
                    <a:gd name="T49" fmla="*/ 9 h 17"/>
                    <a:gd name="T50" fmla="*/ 33 w 104"/>
                    <a:gd name="T51" fmla="*/ 10 h 17"/>
                    <a:gd name="T52" fmla="*/ 42 w 104"/>
                    <a:gd name="T53" fmla="*/ 10 h 17"/>
                    <a:gd name="T54" fmla="*/ 51 w 104"/>
                    <a:gd name="T55" fmla="*/ 10 h 17"/>
                    <a:gd name="T56" fmla="*/ 60 w 104"/>
                    <a:gd name="T57" fmla="*/ 10 h 17"/>
                    <a:gd name="T58" fmla="*/ 69 w 104"/>
                    <a:gd name="T59" fmla="*/ 10 h 17"/>
                    <a:gd name="T60" fmla="*/ 76 w 104"/>
                    <a:gd name="T61" fmla="*/ 9 h 17"/>
                    <a:gd name="T62" fmla="*/ 84 w 104"/>
                    <a:gd name="T63" fmla="*/ 8 h 17"/>
                    <a:gd name="T64" fmla="*/ 90 w 104"/>
                    <a:gd name="T65" fmla="*/ 6 h 17"/>
                    <a:gd name="T66" fmla="*/ 95 w 104"/>
                    <a:gd name="T67" fmla="*/ 5 h 17"/>
                    <a:gd name="T68" fmla="*/ 99 w 104"/>
                    <a:gd name="T69" fmla="*/ 4 h 17"/>
                    <a:gd name="T70" fmla="*/ 102 w 104"/>
                    <a:gd name="T71" fmla="*/ 2 h 17"/>
                    <a:gd name="T72" fmla="*/ 103 w 104"/>
                    <a:gd name="T73" fmla="*/ 0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04"/>
                    <a:gd name="T112" fmla="*/ 0 h 17"/>
                    <a:gd name="T113" fmla="*/ 104 w 104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04" h="17">
                      <a:moveTo>
                        <a:pt x="103" y="5"/>
                      </a:moveTo>
                      <a:lnTo>
                        <a:pt x="102" y="6"/>
                      </a:lnTo>
                      <a:lnTo>
                        <a:pt x="102" y="7"/>
                      </a:lnTo>
                      <a:lnTo>
                        <a:pt x="101" y="8"/>
                      </a:lnTo>
                      <a:lnTo>
                        <a:pt x="99" y="8"/>
                      </a:lnTo>
                      <a:lnTo>
                        <a:pt x="97" y="10"/>
                      </a:lnTo>
                      <a:lnTo>
                        <a:pt x="95" y="10"/>
                      </a:lnTo>
                      <a:lnTo>
                        <a:pt x="93" y="11"/>
                      </a:lnTo>
                      <a:lnTo>
                        <a:pt x="90" y="12"/>
                      </a:lnTo>
                      <a:lnTo>
                        <a:pt x="87" y="12"/>
                      </a:lnTo>
                      <a:lnTo>
                        <a:pt x="84" y="13"/>
                      </a:lnTo>
                      <a:lnTo>
                        <a:pt x="80" y="14"/>
                      </a:lnTo>
                      <a:lnTo>
                        <a:pt x="76" y="14"/>
                      </a:lnTo>
                      <a:lnTo>
                        <a:pt x="72" y="14"/>
                      </a:lnTo>
                      <a:lnTo>
                        <a:pt x="69" y="15"/>
                      </a:lnTo>
                      <a:lnTo>
                        <a:pt x="64" y="15"/>
                      </a:lnTo>
                      <a:lnTo>
                        <a:pt x="60" y="16"/>
                      </a:lnTo>
                      <a:lnTo>
                        <a:pt x="55" y="16"/>
                      </a:lnTo>
                      <a:lnTo>
                        <a:pt x="51" y="16"/>
                      </a:lnTo>
                      <a:lnTo>
                        <a:pt x="46" y="16"/>
                      </a:lnTo>
                      <a:lnTo>
                        <a:pt x="42" y="16"/>
                      </a:lnTo>
                      <a:lnTo>
                        <a:pt x="37" y="15"/>
                      </a:lnTo>
                      <a:lnTo>
                        <a:pt x="33" y="15"/>
                      </a:lnTo>
                      <a:lnTo>
                        <a:pt x="29" y="14"/>
                      </a:lnTo>
                      <a:lnTo>
                        <a:pt x="25" y="14"/>
                      </a:lnTo>
                      <a:lnTo>
                        <a:pt x="21" y="14"/>
                      </a:lnTo>
                      <a:lnTo>
                        <a:pt x="17" y="13"/>
                      </a:lnTo>
                      <a:lnTo>
                        <a:pt x="14" y="12"/>
                      </a:lnTo>
                      <a:lnTo>
                        <a:pt x="12" y="12"/>
                      </a:lnTo>
                      <a:lnTo>
                        <a:pt x="8" y="11"/>
                      </a:lnTo>
                      <a:lnTo>
                        <a:pt x="6" y="10"/>
                      </a:lnTo>
                      <a:lnTo>
                        <a:pt x="4" y="10"/>
                      </a:lnTo>
                      <a:lnTo>
                        <a:pt x="3" y="8"/>
                      </a:lnTo>
                      <a:lnTo>
                        <a:pt x="1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1" y="2"/>
                      </a:lnTo>
                      <a:lnTo>
                        <a:pt x="3" y="4"/>
                      </a:lnTo>
                      <a:lnTo>
                        <a:pt x="4" y="4"/>
                      </a:lnTo>
                      <a:lnTo>
                        <a:pt x="6" y="5"/>
                      </a:lnTo>
                      <a:lnTo>
                        <a:pt x="8" y="6"/>
                      </a:lnTo>
                      <a:lnTo>
                        <a:pt x="12" y="6"/>
                      </a:lnTo>
                      <a:lnTo>
                        <a:pt x="14" y="7"/>
                      </a:lnTo>
                      <a:lnTo>
                        <a:pt x="17" y="8"/>
                      </a:lnTo>
                      <a:lnTo>
                        <a:pt x="21" y="8"/>
                      </a:lnTo>
                      <a:lnTo>
                        <a:pt x="25" y="9"/>
                      </a:lnTo>
                      <a:lnTo>
                        <a:pt x="29" y="10"/>
                      </a:lnTo>
                      <a:lnTo>
                        <a:pt x="33" y="10"/>
                      </a:lnTo>
                      <a:lnTo>
                        <a:pt x="37" y="10"/>
                      </a:lnTo>
                      <a:lnTo>
                        <a:pt x="42" y="10"/>
                      </a:lnTo>
                      <a:lnTo>
                        <a:pt x="46" y="10"/>
                      </a:lnTo>
                      <a:lnTo>
                        <a:pt x="51" y="10"/>
                      </a:lnTo>
                      <a:lnTo>
                        <a:pt x="55" y="10"/>
                      </a:lnTo>
                      <a:lnTo>
                        <a:pt x="60" y="10"/>
                      </a:lnTo>
                      <a:lnTo>
                        <a:pt x="64" y="10"/>
                      </a:lnTo>
                      <a:lnTo>
                        <a:pt x="69" y="10"/>
                      </a:lnTo>
                      <a:lnTo>
                        <a:pt x="72" y="10"/>
                      </a:lnTo>
                      <a:lnTo>
                        <a:pt x="76" y="9"/>
                      </a:lnTo>
                      <a:lnTo>
                        <a:pt x="80" y="8"/>
                      </a:lnTo>
                      <a:lnTo>
                        <a:pt x="84" y="8"/>
                      </a:lnTo>
                      <a:lnTo>
                        <a:pt x="87" y="7"/>
                      </a:lnTo>
                      <a:lnTo>
                        <a:pt x="90" y="6"/>
                      </a:lnTo>
                      <a:lnTo>
                        <a:pt x="93" y="6"/>
                      </a:lnTo>
                      <a:lnTo>
                        <a:pt x="95" y="5"/>
                      </a:lnTo>
                      <a:lnTo>
                        <a:pt x="97" y="4"/>
                      </a:lnTo>
                      <a:lnTo>
                        <a:pt x="99" y="4"/>
                      </a:lnTo>
                      <a:lnTo>
                        <a:pt x="101" y="2"/>
                      </a:lnTo>
                      <a:lnTo>
                        <a:pt x="102" y="2"/>
                      </a:lnTo>
                      <a:lnTo>
                        <a:pt x="102" y="1"/>
                      </a:lnTo>
                      <a:lnTo>
                        <a:pt x="103" y="0"/>
                      </a:lnTo>
                      <a:lnTo>
                        <a:pt x="103" y="5"/>
                      </a:lnTo>
                    </a:path>
                  </a:pathLst>
                </a:custGeom>
                <a:solidFill>
                  <a:srgbClr val="666666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29" name="Freeform 136"/>
                <p:cNvSpPr>
                  <a:spLocks/>
                </p:cNvSpPr>
                <p:nvPr/>
              </p:nvSpPr>
              <p:spPr bwMode="auto">
                <a:xfrm>
                  <a:off x="3840" y="1486"/>
                  <a:ext cx="220" cy="77"/>
                </a:xfrm>
                <a:custGeom>
                  <a:avLst/>
                  <a:gdLst>
                    <a:gd name="T0" fmla="*/ 0 w 220"/>
                    <a:gd name="T1" fmla="*/ 76 h 77"/>
                    <a:gd name="T2" fmla="*/ 219 w 220"/>
                    <a:gd name="T3" fmla="*/ 76 h 77"/>
                    <a:gd name="T4" fmla="*/ 219 w 220"/>
                    <a:gd name="T5" fmla="*/ 0 h 77"/>
                    <a:gd name="T6" fmla="*/ 0 w 220"/>
                    <a:gd name="T7" fmla="*/ 0 h 77"/>
                    <a:gd name="T8" fmla="*/ 0 w 220"/>
                    <a:gd name="T9" fmla="*/ 76 h 7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77"/>
                    <a:gd name="T17" fmla="*/ 220 w 220"/>
                    <a:gd name="T18" fmla="*/ 77 h 7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77">
                      <a:moveTo>
                        <a:pt x="0" y="76"/>
                      </a:moveTo>
                      <a:lnTo>
                        <a:pt x="219" y="76"/>
                      </a:lnTo>
                      <a:lnTo>
                        <a:pt x="219" y="0"/>
                      </a:lnTo>
                      <a:lnTo>
                        <a:pt x="0" y="0"/>
                      </a:lnTo>
                      <a:lnTo>
                        <a:pt x="0" y="76"/>
                      </a:lnTo>
                    </a:path>
                  </a:pathLst>
                </a:custGeom>
                <a:solidFill>
                  <a:srgbClr val="EFEFD1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30" name="Freeform 137"/>
                <p:cNvSpPr>
                  <a:spLocks/>
                </p:cNvSpPr>
                <p:nvPr/>
              </p:nvSpPr>
              <p:spPr bwMode="auto">
                <a:xfrm>
                  <a:off x="3875" y="1449"/>
                  <a:ext cx="69" cy="17"/>
                </a:xfrm>
                <a:custGeom>
                  <a:avLst/>
                  <a:gdLst>
                    <a:gd name="T0" fmla="*/ 0 w 69"/>
                    <a:gd name="T1" fmla="*/ 16 h 17"/>
                    <a:gd name="T2" fmla="*/ 0 w 69"/>
                    <a:gd name="T3" fmla="*/ 0 h 17"/>
                    <a:gd name="T4" fmla="*/ 68 w 69"/>
                    <a:gd name="T5" fmla="*/ 0 h 17"/>
                    <a:gd name="T6" fmla="*/ 68 w 69"/>
                    <a:gd name="T7" fmla="*/ 16 h 17"/>
                    <a:gd name="T8" fmla="*/ 0 w 69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9"/>
                    <a:gd name="T16" fmla="*/ 0 h 17"/>
                    <a:gd name="T17" fmla="*/ 69 w 69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9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68" y="0"/>
                      </a:lnTo>
                      <a:lnTo>
                        <a:pt x="68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31" name="Freeform 138"/>
                <p:cNvSpPr>
                  <a:spLocks/>
                </p:cNvSpPr>
                <p:nvPr/>
              </p:nvSpPr>
              <p:spPr bwMode="auto">
                <a:xfrm>
                  <a:off x="3931" y="1450"/>
                  <a:ext cx="94" cy="17"/>
                </a:xfrm>
                <a:custGeom>
                  <a:avLst/>
                  <a:gdLst>
                    <a:gd name="T0" fmla="*/ 0 w 94"/>
                    <a:gd name="T1" fmla="*/ 16 h 17"/>
                    <a:gd name="T2" fmla="*/ 0 w 94"/>
                    <a:gd name="T3" fmla="*/ 0 h 17"/>
                    <a:gd name="T4" fmla="*/ 93 w 94"/>
                    <a:gd name="T5" fmla="*/ 0 h 17"/>
                    <a:gd name="T6" fmla="*/ 93 w 94"/>
                    <a:gd name="T7" fmla="*/ 16 h 17"/>
                    <a:gd name="T8" fmla="*/ 0 w 94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4"/>
                    <a:gd name="T16" fmla="*/ 0 h 17"/>
                    <a:gd name="T17" fmla="*/ 94 w 9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4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93" y="0"/>
                      </a:lnTo>
                      <a:lnTo>
                        <a:pt x="93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32" name="Freeform 139"/>
                <p:cNvSpPr>
                  <a:spLocks/>
                </p:cNvSpPr>
                <p:nvPr/>
              </p:nvSpPr>
              <p:spPr bwMode="auto">
                <a:xfrm>
                  <a:off x="3877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33" name="Freeform 140"/>
                <p:cNvSpPr>
                  <a:spLocks/>
                </p:cNvSpPr>
                <p:nvPr/>
              </p:nvSpPr>
              <p:spPr bwMode="auto">
                <a:xfrm>
                  <a:off x="388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4 w 17"/>
                    <a:gd name="T7" fmla="*/ 16 h 17"/>
                    <a:gd name="T8" fmla="*/ 8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34" name="Freeform 141"/>
                <p:cNvSpPr>
                  <a:spLocks/>
                </p:cNvSpPr>
                <p:nvPr/>
              </p:nvSpPr>
              <p:spPr bwMode="auto">
                <a:xfrm>
                  <a:off x="388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35" name="Freeform 142"/>
                <p:cNvSpPr>
                  <a:spLocks/>
                </p:cNvSpPr>
                <p:nvPr/>
              </p:nvSpPr>
              <p:spPr bwMode="auto">
                <a:xfrm>
                  <a:off x="388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36" name="Freeform 143"/>
                <p:cNvSpPr>
                  <a:spLocks/>
                </p:cNvSpPr>
                <p:nvPr/>
              </p:nvSpPr>
              <p:spPr bwMode="auto">
                <a:xfrm>
                  <a:off x="388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37" name="Freeform 144"/>
                <p:cNvSpPr>
                  <a:spLocks/>
                </p:cNvSpPr>
                <p:nvPr/>
              </p:nvSpPr>
              <p:spPr bwMode="auto">
                <a:xfrm>
                  <a:off x="389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38" name="Freeform 145"/>
                <p:cNvSpPr>
                  <a:spLocks/>
                </p:cNvSpPr>
                <p:nvPr/>
              </p:nvSpPr>
              <p:spPr bwMode="auto">
                <a:xfrm>
                  <a:off x="389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39" name="Freeform 146"/>
                <p:cNvSpPr>
                  <a:spLocks/>
                </p:cNvSpPr>
                <p:nvPr/>
              </p:nvSpPr>
              <p:spPr bwMode="auto">
                <a:xfrm>
                  <a:off x="3894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40" name="Freeform 147"/>
                <p:cNvSpPr>
                  <a:spLocks/>
                </p:cNvSpPr>
                <p:nvPr/>
              </p:nvSpPr>
              <p:spPr bwMode="auto">
                <a:xfrm>
                  <a:off x="389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41" name="Freeform 148"/>
                <p:cNvSpPr>
                  <a:spLocks/>
                </p:cNvSpPr>
                <p:nvPr/>
              </p:nvSpPr>
              <p:spPr bwMode="auto">
                <a:xfrm>
                  <a:off x="390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42" name="Freeform 149"/>
                <p:cNvSpPr>
                  <a:spLocks/>
                </p:cNvSpPr>
                <p:nvPr/>
              </p:nvSpPr>
              <p:spPr bwMode="auto">
                <a:xfrm>
                  <a:off x="390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0 w 17"/>
                    <a:gd name="T5" fmla="*/ 16 h 17"/>
                    <a:gd name="T6" fmla="*/ 8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0" y="16"/>
                      </a:lnTo>
                      <a:lnTo>
                        <a:pt x="8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43" name="Freeform 150"/>
                <p:cNvSpPr>
                  <a:spLocks/>
                </p:cNvSpPr>
                <p:nvPr/>
              </p:nvSpPr>
              <p:spPr bwMode="auto">
                <a:xfrm>
                  <a:off x="390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6 h 17"/>
                    <a:gd name="T6" fmla="*/ 8 w 17"/>
                    <a:gd name="T7" fmla="*/ 16 h 17"/>
                    <a:gd name="T8" fmla="*/ 12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44" name="Freeform 151"/>
                <p:cNvSpPr>
                  <a:spLocks/>
                </p:cNvSpPr>
                <p:nvPr/>
              </p:nvSpPr>
              <p:spPr bwMode="auto">
                <a:xfrm>
                  <a:off x="390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45" name="Freeform 152"/>
                <p:cNvSpPr>
                  <a:spLocks/>
                </p:cNvSpPr>
                <p:nvPr/>
              </p:nvSpPr>
              <p:spPr bwMode="auto">
                <a:xfrm>
                  <a:off x="391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46" name="Freeform 153"/>
                <p:cNvSpPr>
                  <a:spLocks/>
                </p:cNvSpPr>
                <p:nvPr/>
              </p:nvSpPr>
              <p:spPr bwMode="auto">
                <a:xfrm>
                  <a:off x="391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47" name="Freeform 154"/>
                <p:cNvSpPr>
                  <a:spLocks/>
                </p:cNvSpPr>
                <p:nvPr/>
              </p:nvSpPr>
              <p:spPr bwMode="auto">
                <a:xfrm>
                  <a:off x="3916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48" name="Freeform 155"/>
                <p:cNvSpPr>
                  <a:spLocks/>
                </p:cNvSpPr>
                <p:nvPr/>
              </p:nvSpPr>
              <p:spPr bwMode="auto">
                <a:xfrm>
                  <a:off x="391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49" name="Freeform 156"/>
                <p:cNvSpPr>
                  <a:spLocks/>
                </p:cNvSpPr>
                <p:nvPr/>
              </p:nvSpPr>
              <p:spPr bwMode="auto">
                <a:xfrm>
                  <a:off x="3921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50" name="Freeform 157"/>
                <p:cNvSpPr>
                  <a:spLocks/>
                </p:cNvSpPr>
                <p:nvPr/>
              </p:nvSpPr>
              <p:spPr bwMode="auto">
                <a:xfrm>
                  <a:off x="392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51" name="Freeform 158"/>
                <p:cNvSpPr>
                  <a:spLocks/>
                </p:cNvSpPr>
                <p:nvPr/>
              </p:nvSpPr>
              <p:spPr bwMode="auto">
                <a:xfrm>
                  <a:off x="392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52" name="Freeform 159"/>
                <p:cNvSpPr>
                  <a:spLocks/>
                </p:cNvSpPr>
                <p:nvPr/>
              </p:nvSpPr>
              <p:spPr bwMode="auto">
                <a:xfrm>
                  <a:off x="3855" y="1279"/>
                  <a:ext cx="187" cy="174"/>
                </a:xfrm>
                <a:custGeom>
                  <a:avLst/>
                  <a:gdLst>
                    <a:gd name="T0" fmla="*/ 180 w 187"/>
                    <a:gd name="T1" fmla="*/ 173 h 174"/>
                    <a:gd name="T2" fmla="*/ 180 w 187"/>
                    <a:gd name="T3" fmla="*/ 173 h 174"/>
                    <a:gd name="T4" fmla="*/ 180 w 187"/>
                    <a:gd name="T5" fmla="*/ 172 h 174"/>
                    <a:gd name="T6" fmla="*/ 182 w 187"/>
                    <a:gd name="T7" fmla="*/ 172 h 174"/>
                    <a:gd name="T8" fmla="*/ 182 w 187"/>
                    <a:gd name="T9" fmla="*/ 172 h 174"/>
                    <a:gd name="T10" fmla="*/ 183 w 187"/>
                    <a:gd name="T11" fmla="*/ 171 h 174"/>
                    <a:gd name="T12" fmla="*/ 183 w 187"/>
                    <a:gd name="T13" fmla="*/ 171 h 174"/>
                    <a:gd name="T14" fmla="*/ 184 w 187"/>
                    <a:gd name="T15" fmla="*/ 171 h 174"/>
                    <a:gd name="T16" fmla="*/ 184 w 187"/>
                    <a:gd name="T17" fmla="*/ 170 h 174"/>
                    <a:gd name="T18" fmla="*/ 184 w 187"/>
                    <a:gd name="T19" fmla="*/ 170 h 174"/>
                    <a:gd name="T20" fmla="*/ 184 w 187"/>
                    <a:gd name="T21" fmla="*/ 169 h 174"/>
                    <a:gd name="T22" fmla="*/ 185 w 187"/>
                    <a:gd name="T23" fmla="*/ 169 h 174"/>
                    <a:gd name="T24" fmla="*/ 185 w 187"/>
                    <a:gd name="T25" fmla="*/ 168 h 174"/>
                    <a:gd name="T26" fmla="*/ 186 w 187"/>
                    <a:gd name="T27" fmla="*/ 167 h 174"/>
                    <a:gd name="T28" fmla="*/ 186 w 187"/>
                    <a:gd name="T29" fmla="*/ 167 h 174"/>
                    <a:gd name="T30" fmla="*/ 186 w 187"/>
                    <a:gd name="T31" fmla="*/ 6 h 174"/>
                    <a:gd name="T32" fmla="*/ 186 w 187"/>
                    <a:gd name="T33" fmla="*/ 5 h 174"/>
                    <a:gd name="T34" fmla="*/ 186 w 187"/>
                    <a:gd name="T35" fmla="*/ 5 h 174"/>
                    <a:gd name="T36" fmla="*/ 185 w 187"/>
                    <a:gd name="T37" fmla="*/ 5 h 174"/>
                    <a:gd name="T38" fmla="*/ 185 w 187"/>
                    <a:gd name="T39" fmla="*/ 3 h 174"/>
                    <a:gd name="T40" fmla="*/ 184 w 187"/>
                    <a:gd name="T41" fmla="*/ 3 h 174"/>
                    <a:gd name="T42" fmla="*/ 184 w 187"/>
                    <a:gd name="T43" fmla="*/ 2 h 174"/>
                    <a:gd name="T44" fmla="*/ 184 w 187"/>
                    <a:gd name="T45" fmla="*/ 1 h 174"/>
                    <a:gd name="T46" fmla="*/ 183 w 187"/>
                    <a:gd name="T47" fmla="*/ 1 h 174"/>
                    <a:gd name="T48" fmla="*/ 183 w 187"/>
                    <a:gd name="T49" fmla="*/ 1 h 174"/>
                    <a:gd name="T50" fmla="*/ 182 w 187"/>
                    <a:gd name="T51" fmla="*/ 1 h 174"/>
                    <a:gd name="T52" fmla="*/ 182 w 187"/>
                    <a:gd name="T53" fmla="*/ 0 h 174"/>
                    <a:gd name="T54" fmla="*/ 180 w 187"/>
                    <a:gd name="T55" fmla="*/ 0 h 174"/>
                    <a:gd name="T56" fmla="*/ 180 w 187"/>
                    <a:gd name="T57" fmla="*/ 0 h 174"/>
                    <a:gd name="T58" fmla="*/ 180 w 187"/>
                    <a:gd name="T59" fmla="*/ 0 h 174"/>
                    <a:gd name="T60" fmla="*/ 5 w 187"/>
                    <a:gd name="T61" fmla="*/ 0 h 174"/>
                    <a:gd name="T62" fmla="*/ 4 w 187"/>
                    <a:gd name="T63" fmla="*/ 0 h 174"/>
                    <a:gd name="T64" fmla="*/ 3 w 187"/>
                    <a:gd name="T65" fmla="*/ 0 h 174"/>
                    <a:gd name="T66" fmla="*/ 3 w 187"/>
                    <a:gd name="T67" fmla="*/ 0 h 174"/>
                    <a:gd name="T68" fmla="*/ 2 w 187"/>
                    <a:gd name="T69" fmla="*/ 0 h 174"/>
                    <a:gd name="T70" fmla="*/ 2 w 187"/>
                    <a:gd name="T71" fmla="*/ 1 h 174"/>
                    <a:gd name="T72" fmla="*/ 1 w 187"/>
                    <a:gd name="T73" fmla="*/ 1 h 174"/>
                    <a:gd name="T74" fmla="*/ 1 w 187"/>
                    <a:gd name="T75" fmla="*/ 1 h 174"/>
                    <a:gd name="T76" fmla="*/ 1 w 187"/>
                    <a:gd name="T77" fmla="*/ 2 h 174"/>
                    <a:gd name="T78" fmla="*/ 0 w 187"/>
                    <a:gd name="T79" fmla="*/ 3 h 174"/>
                    <a:gd name="T80" fmla="*/ 0 w 187"/>
                    <a:gd name="T81" fmla="*/ 3 h 174"/>
                    <a:gd name="T82" fmla="*/ 0 w 187"/>
                    <a:gd name="T83" fmla="*/ 3 h 174"/>
                    <a:gd name="T84" fmla="*/ 0 w 187"/>
                    <a:gd name="T85" fmla="*/ 5 h 174"/>
                    <a:gd name="T86" fmla="*/ 0 w 187"/>
                    <a:gd name="T87" fmla="*/ 5 h 174"/>
                    <a:gd name="T88" fmla="*/ 0 w 187"/>
                    <a:gd name="T89" fmla="*/ 6 h 174"/>
                    <a:gd name="T90" fmla="*/ 0 w 187"/>
                    <a:gd name="T91" fmla="*/ 167 h 174"/>
                    <a:gd name="T92" fmla="*/ 0 w 187"/>
                    <a:gd name="T93" fmla="*/ 167 h 174"/>
                    <a:gd name="T94" fmla="*/ 0 w 187"/>
                    <a:gd name="T95" fmla="*/ 168 h 174"/>
                    <a:gd name="T96" fmla="*/ 0 w 187"/>
                    <a:gd name="T97" fmla="*/ 169 h 174"/>
                    <a:gd name="T98" fmla="*/ 0 w 187"/>
                    <a:gd name="T99" fmla="*/ 169 h 174"/>
                    <a:gd name="T100" fmla="*/ 0 w 187"/>
                    <a:gd name="T101" fmla="*/ 170 h 174"/>
                    <a:gd name="T102" fmla="*/ 1 w 187"/>
                    <a:gd name="T103" fmla="*/ 170 h 174"/>
                    <a:gd name="T104" fmla="*/ 1 w 187"/>
                    <a:gd name="T105" fmla="*/ 171 h 174"/>
                    <a:gd name="T106" fmla="*/ 1 w 187"/>
                    <a:gd name="T107" fmla="*/ 171 h 174"/>
                    <a:gd name="T108" fmla="*/ 2 w 187"/>
                    <a:gd name="T109" fmla="*/ 171 h 174"/>
                    <a:gd name="T110" fmla="*/ 2 w 187"/>
                    <a:gd name="T111" fmla="*/ 172 h 174"/>
                    <a:gd name="T112" fmla="*/ 2 w 187"/>
                    <a:gd name="T113" fmla="*/ 172 h 174"/>
                    <a:gd name="T114" fmla="*/ 3 w 187"/>
                    <a:gd name="T115" fmla="*/ 172 h 174"/>
                    <a:gd name="T116" fmla="*/ 3 w 187"/>
                    <a:gd name="T117" fmla="*/ 172 h 174"/>
                    <a:gd name="T118" fmla="*/ 4 w 187"/>
                    <a:gd name="T119" fmla="*/ 173 h 174"/>
                    <a:gd name="T120" fmla="*/ 5 w 187"/>
                    <a:gd name="T121" fmla="*/ 173 h 174"/>
                    <a:gd name="T122" fmla="*/ 180 w 187"/>
                    <a:gd name="T123" fmla="*/ 173 h 174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w 187"/>
                    <a:gd name="T187" fmla="*/ 0 h 174"/>
                    <a:gd name="T188" fmla="*/ 187 w 187"/>
                    <a:gd name="T189" fmla="*/ 174 h 174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T186" t="T187" r="T188" b="T189"/>
                  <a:pathLst>
                    <a:path w="187" h="174">
                      <a:moveTo>
                        <a:pt x="180" y="173"/>
                      </a:moveTo>
                      <a:lnTo>
                        <a:pt x="180" y="173"/>
                      </a:lnTo>
                      <a:lnTo>
                        <a:pt x="180" y="172"/>
                      </a:lnTo>
                      <a:lnTo>
                        <a:pt x="182" y="172"/>
                      </a:lnTo>
                      <a:lnTo>
                        <a:pt x="183" y="171"/>
                      </a:lnTo>
                      <a:lnTo>
                        <a:pt x="184" y="171"/>
                      </a:lnTo>
                      <a:lnTo>
                        <a:pt x="184" y="170"/>
                      </a:lnTo>
                      <a:lnTo>
                        <a:pt x="184" y="169"/>
                      </a:lnTo>
                      <a:lnTo>
                        <a:pt x="185" y="169"/>
                      </a:lnTo>
                      <a:lnTo>
                        <a:pt x="185" y="168"/>
                      </a:lnTo>
                      <a:lnTo>
                        <a:pt x="186" y="167"/>
                      </a:lnTo>
                      <a:lnTo>
                        <a:pt x="186" y="6"/>
                      </a:lnTo>
                      <a:lnTo>
                        <a:pt x="186" y="5"/>
                      </a:lnTo>
                      <a:lnTo>
                        <a:pt x="185" y="5"/>
                      </a:lnTo>
                      <a:lnTo>
                        <a:pt x="185" y="3"/>
                      </a:lnTo>
                      <a:lnTo>
                        <a:pt x="184" y="3"/>
                      </a:lnTo>
                      <a:lnTo>
                        <a:pt x="184" y="2"/>
                      </a:lnTo>
                      <a:lnTo>
                        <a:pt x="184" y="1"/>
                      </a:lnTo>
                      <a:lnTo>
                        <a:pt x="183" y="1"/>
                      </a:lnTo>
                      <a:lnTo>
                        <a:pt x="182" y="1"/>
                      </a:lnTo>
                      <a:lnTo>
                        <a:pt x="182" y="0"/>
                      </a:lnTo>
                      <a:lnTo>
                        <a:pt x="180" y="0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2" y="1"/>
                      </a:lnTo>
                      <a:lnTo>
                        <a:pt x="1" y="1"/>
                      </a:lnTo>
                      <a:lnTo>
                        <a:pt x="1" y="2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0" y="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0" y="169"/>
                      </a:lnTo>
                      <a:lnTo>
                        <a:pt x="0" y="170"/>
                      </a:lnTo>
                      <a:lnTo>
                        <a:pt x="1" y="170"/>
                      </a:lnTo>
                      <a:lnTo>
                        <a:pt x="1" y="171"/>
                      </a:lnTo>
                      <a:lnTo>
                        <a:pt x="2" y="171"/>
                      </a:lnTo>
                      <a:lnTo>
                        <a:pt x="2" y="172"/>
                      </a:lnTo>
                      <a:lnTo>
                        <a:pt x="3" y="172"/>
                      </a:lnTo>
                      <a:lnTo>
                        <a:pt x="4" y="173"/>
                      </a:lnTo>
                      <a:lnTo>
                        <a:pt x="5" y="173"/>
                      </a:lnTo>
                      <a:lnTo>
                        <a:pt x="180" y="173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53" name="Freeform 160"/>
                <p:cNvSpPr>
                  <a:spLocks/>
                </p:cNvSpPr>
                <p:nvPr/>
              </p:nvSpPr>
              <p:spPr bwMode="auto">
                <a:xfrm>
                  <a:off x="3855" y="1281"/>
                  <a:ext cx="186" cy="172"/>
                </a:xfrm>
                <a:custGeom>
                  <a:avLst/>
                  <a:gdLst>
                    <a:gd name="T0" fmla="*/ 185 w 186"/>
                    <a:gd name="T1" fmla="*/ 165 h 172"/>
                    <a:gd name="T2" fmla="*/ 185 w 186"/>
                    <a:gd name="T3" fmla="*/ 166 h 172"/>
                    <a:gd name="T4" fmla="*/ 185 w 186"/>
                    <a:gd name="T5" fmla="*/ 167 h 172"/>
                    <a:gd name="T6" fmla="*/ 184 w 186"/>
                    <a:gd name="T7" fmla="*/ 167 h 172"/>
                    <a:gd name="T8" fmla="*/ 184 w 186"/>
                    <a:gd name="T9" fmla="*/ 168 h 172"/>
                    <a:gd name="T10" fmla="*/ 183 w 186"/>
                    <a:gd name="T11" fmla="*/ 169 h 172"/>
                    <a:gd name="T12" fmla="*/ 183 w 186"/>
                    <a:gd name="T13" fmla="*/ 169 h 172"/>
                    <a:gd name="T14" fmla="*/ 182 w 186"/>
                    <a:gd name="T15" fmla="*/ 170 h 172"/>
                    <a:gd name="T16" fmla="*/ 182 w 186"/>
                    <a:gd name="T17" fmla="*/ 170 h 172"/>
                    <a:gd name="T18" fmla="*/ 181 w 186"/>
                    <a:gd name="T19" fmla="*/ 170 h 172"/>
                    <a:gd name="T20" fmla="*/ 181 w 186"/>
                    <a:gd name="T21" fmla="*/ 171 h 172"/>
                    <a:gd name="T22" fmla="*/ 180 w 186"/>
                    <a:gd name="T23" fmla="*/ 171 h 172"/>
                    <a:gd name="T24" fmla="*/ 179 w 186"/>
                    <a:gd name="T25" fmla="*/ 171 h 172"/>
                    <a:gd name="T26" fmla="*/ 4 w 186"/>
                    <a:gd name="T27" fmla="*/ 171 h 172"/>
                    <a:gd name="T28" fmla="*/ 3 w 186"/>
                    <a:gd name="T29" fmla="*/ 171 h 172"/>
                    <a:gd name="T30" fmla="*/ 3 w 186"/>
                    <a:gd name="T31" fmla="*/ 171 h 172"/>
                    <a:gd name="T32" fmla="*/ 3 w 186"/>
                    <a:gd name="T33" fmla="*/ 170 h 172"/>
                    <a:gd name="T34" fmla="*/ 2 w 186"/>
                    <a:gd name="T35" fmla="*/ 170 h 172"/>
                    <a:gd name="T36" fmla="*/ 2 w 186"/>
                    <a:gd name="T37" fmla="*/ 170 h 172"/>
                    <a:gd name="T38" fmla="*/ 1 w 186"/>
                    <a:gd name="T39" fmla="*/ 169 h 172"/>
                    <a:gd name="T40" fmla="*/ 1 w 186"/>
                    <a:gd name="T41" fmla="*/ 169 h 172"/>
                    <a:gd name="T42" fmla="*/ 0 w 186"/>
                    <a:gd name="T43" fmla="*/ 169 h 172"/>
                    <a:gd name="T44" fmla="*/ 0 w 186"/>
                    <a:gd name="T45" fmla="*/ 168 h 172"/>
                    <a:gd name="T46" fmla="*/ 0 w 186"/>
                    <a:gd name="T47" fmla="*/ 167 h 172"/>
                    <a:gd name="T48" fmla="*/ 0 w 186"/>
                    <a:gd name="T49" fmla="*/ 167 h 172"/>
                    <a:gd name="T50" fmla="*/ 0 w 186"/>
                    <a:gd name="T51" fmla="*/ 166 h 172"/>
                    <a:gd name="T52" fmla="*/ 0 w 186"/>
                    <a:gd name="T53" fmla="*/ 165 h 172"/>
                    <a:gd name="T54" fmla="*/ 0 w 186"/>
                    <a:gd name="T55" fmla="*/ 5 h 172"/>
                    <a:gd name="T56" fmla="*/ 0 w 186"/>
                    <a:gd name="T57" fmla="*/ 4 h 172"/>
                    <a:gd name="T58" fmla="*/ 0 w 186"/>
                    <a:gd name="T59" fmla="*/ 3 h 172"/>
                    <a:gd name="T60" fmla="*/ 0 w 186"/>
                    <a:gd name="T61" fmla="*/ 3 h 172"/>
                    <a:gd name="T62" fmla="*/ 0 w 186"/>
                    <a:gd name="T63" fmla="*/ 2 h 172"/>
                    <a:gd name="T64" fmla="*/ 0 w 186"/>
                    <a:gd name="T65" fmla="*/ 2 h 172"/>
                    <a:gd name="T66" fmla="*/ 1 w 186"/>
                    <a:gd name="T67" fmla="*/ 1 h 172"/>
                    <a:gd name="T68" fmla="*/ 1 w 186"/>
                    <a:gd name="T69" fmla="*/ 1 h 172"/>
                    <a:gd name="T70" fmla="*/ 2 w 186"/>
                    <a:gd name="T71" fmla="*/ 1 h 172"/>
                    <a:gd name="T72" fmla="*/ 2 w 186"/>
                    <a:gd name="T73" fmla="*/ 0 h 172"/>
                    <a:gd name="T74" fmla="*/ 2 w 186"/>
                    <a:gd name="T75" fmla="*/ 0 h 172"/>
                    <a:gd name="T76" fmla="*/ 3 w 186"/>
                    <a:gd name="T77" fmla="*/ 0 h 172"/>
                    <a:gd name="T78" fmla="*/ 3 w 186"/>
                    <a:gd name="T79" fmla="*/ 0 h 172"/>
                    <a:gd name="T80" fmla="*/ 4 w 186"/>
                    <a:gd name="T81" fmla="*/ 0 h 172"/>
                    <a:gd name="T82" fmla="*/ 179 w 186"/>
                    <a:gd name="T83" fmla="*/ 0 h 172"/>
                    <a:gd name="T84" fmla="*/ 180 w 186"/>
                    <a:gd name="T85" fmla="*/ 0 h 172"/>
                    <a:gd name="T86" fmla="*/ 181 w 186"/>
                    <a:gd name="T87" fmla="*/ 0 h 172"/>
                    <a:gd name="T88" fmla="*/ 181 w 186"/>
                    <a:gd name="T89" fmla="*/ 0 h 172"/>
                    <a:gd name="T90" fmla="*/ 182 w 186"/>
                    <a:gd name="T91" fmla="*/ 0 h 172"/>
                    <a:gd name="T92" fmla="*/ 182 w 186"/>
                    <a:gd name="T93" fmla="*/ 1 h 172"/>
                    <a:gd name="T94" fmla="*/ 183 w 186"/>
                    <a:gd name="T95" fmla="*/ 1 h 172"/>
                    <a:gd name="T96" fmla="*/ 183 w 186"/>
                    <a:gd name="T97" fmla="*/ 1 h 172"/>
                    <a:gd name="T98" fmla="*/ 183 w 186"/>
                    <a:gd name="T99" fmla="*/ 2 h 172"/>
                    <a:gd name="T100" fmla="*/ 184 w 186"/>
                    <a:gd name="T101" fmla="*/ 2 h 172"/>
                    <a:gd name="T102" fmla="*/ 184 w 186"/>
                    <a:gd name="T103" fmla="*/ 3 h 172"/>
                    <a:gd name="T104" fmla="*/ 185 w 186"/>
                    <a:gd name="T105" fmla="*/ 3 h 172"/>
                    <a:gd name="T106" fmla="*/ 185 w 186"/>
                    <a:gd name="T107" fmla="*/ 4 h 172"/>
                    <a:gd name="T108" fmla="*/ 185 w 186"/>
                    <a:gd name="T109" fmla="*/ 5 h 172"/>
                    <a:gd name="T110" fmla="*/ 185 w 186"/>
                    <a:gd name="T111" fmla="*/ 165 h 172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86"/>
                    <a:gd name="T169" fmla="*/ 0 h 172"/>
                    <a:gd name="T170" fmla="*/ 186 w 186"/>
                    <a:gd name="T171" fmla="*/ 172 h 172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86" h="172">
                      <a:moveTo>
                        <a:pt x="185" y="165"/>
                      </a:moveTo>
                      <a:lnTo>
                        <a:pt x="185" y="166"/>
                      </a:lnTo>
                      <a:lnTo>
                        <a:pt x="185" y="167"/>
                      </a:lnTo>
                      <a:lnTo>
                        <a:pt x="184" y="167"/>
                      </a:lnTo>
                      <a:lnTo>
                        <a:pt x="184" y="168"/>
                      </a:lnTo>
                      <a:lnTo>
                        <a:pt x="183" y="169"/>
                      </a:lnTo>
                      <a:lnTo>
                        <a:pt x="182" y="170"/>
                      </a:lnTo>
                      <a:lnTo>
                        <a:pt x="181" y="170"/>
                      </a:lnTo>
                      <a:lnTo>
                        <a:pt x="181" y="171"/>
                      </a:lnTo>
                      <a:lnTo>
                        <a:pt x="180" y="171"/>
                      </a:lnTo>
                      <a:lnTo>
                        <a:pt x="179" y="171"/>
                      </a:lnTo>
                      <a:lnTo>
                        <a:pt x="4" y="171"/>
                      </a:lnTo>
                      <a:lnTo>
                        <a:pt x="3" y="171"/>
                      </a:lnTo>
                      <a:lnTo>
                        <a:pt x="3" y="170"/>
                      </a:lnTo>
                      <a:lnTo>
                        <a:pt x="2" y="170"/>
                      </a:lnTo>
                      <a:lnTo>
                        <a:pt x="1" y="169"/>
                      </a:lnTo>
                      <a:lnTo>
                        <a:pt x="0" y="169"/>
                      </a:lnTo>
                      <a:lnTo>
                        <a:pt x="0" y="168"/>
                      </a:lnTo>
                      <a:lnTo>
                        <a:pt x="0" y="167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79" y="0"/>
                      </a:lnTo>
                      <a:lnTo>
                        <a:pt x="180" y="0"/>
                      </a:lnTo>
                      <a:lnTo>
                        <a:pt x="181" y="0"/>
                      </a:lnTo>
                      <a:lnTo>
                        <a:pt x="182" y="0"/>
                      </a:lnTo>
                      <a:lnTo>
                        <a:pt x="182" y="1"/>
                      </a:lnTo>
                      <a:lnTo>
                        <a:pt x="183" y="1"/>
                      </a:lnTo>
                      <a:lnTo>
                        <a:pt x="183" y="2"/>
                      </a:lnTo>
                      <a:lnTo>
                        <a:pt x="184" y="2"/>
                      </a:lnTo>
                      <a:lnTo>
                        <a:pt x="184" y="3"/>
                      </a:lnTo>
                      <a:lnTo>
                        <a:pt x="185" y="3"/>
                      </a:lnTo>
                      <a:lnTo>
                        <a:pt x="185" y="4"/>
                      </a:lnTo>
                      <a:lnTo>
                        <a:pt x="185" y="5"/>
                      </a:lnTo>
                      <a:lnTo>
                        <a:pt x="185" y="165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54" name="Freeform 161"/>
                <p:cNvSpPr>
                  <a:spLocks/>
                </p:cNvSpPr>
                <p:nvPr/>
              </p:nvSpPr>
              <p:spPr bwMode="auto">
                <a:xfrm>
                  <a:off x="3857" y="1281"/>
                  <a:ext cx="181" cy="171"/>
                </a:xfrm>
                <a:custGeom>
                  <a:avLst/>
                  <a:gdLst>
                    <a:gd name="T0" fmla="*/ 180 w 181"/>
                    <a:gd name="T1" fmla="*/ 3 h 171"/>
                    <a:gd name="T2" fmla="*/ 180 w 181"/>
                    <a:gd name="T3" fmla="*/ 3 h 171"/>
                    <a:gd name="T4" fmla="*/ 180 w 181"/>
                    <a:gd name="T5" fmla="*/ 2 h 171"/>
                    <a:gd name="T6" fmla="*/ 179 w 181"/>
                    <a:gd name="T7" fmla="*/ 2 h 171"/>
                    <a:gd name="T8" fmla="*/ 179 w 181"/>
                    <a:gd name="T9" fmla="*/ 1 h 171"/>
                    <a:gd name="T10" fmla="*/ 178 w 181"/>
                    <a:gd name="T11" fmla="*/ 1 h 171"/>
                    <a:gd name="T12" fmla="*/ 178 w 181"/>
                    <a:gd name="T13" fmla="*/ 0 h 171"/>
                    <a:gd name="T14" fmla="*/ 177 w 181"/>
                    <a:gd name="T15" fmla="*/ 0 h 171"/>
                    <a:gd name="T16" fmla="*/ 177 w 181"/>
                    <a:gd name="T17" fmla="*/ 0 h 171"/>
                    <a:gd name="T18" fmla="*/ 177 w 181"/>
                    <a:gd name="T19" fmla="*/ 0 h 171"/>
                    <a:gd name="T20" fmla="*/ 176 w 181"/>
                    <a:gd name="T21" fmla="*/ 0 h 171"/>
                    <a:gd name="T22" fmla="*/ 176 w 181"/>
                    <a:gd name="T23" fmla="*/ 0 h 171"/>
                    <a:gd name="T24" fmla="*/ 3 w 181"/>
                    <a:gd name="T25" fmla="*/ 0 h 171"/>
                    <a:gd name="T26" fmla="*/ 3 w 181"/>
                    <a:gd name="T27" fmla="*/ 0 h 171"/>
                    <a:gd name="T28" fmla="*/ 2 w 181"/>
                    <a:gd name="T29" fmla="*/ 0 h 171"/>
                    <a:gd name="T30" fmla="*/ 2 w 181"/>
                    <a:gd name="T31" fmla="*/ 0 h 171"/>
                    <a:gd name="T32" fmla="*/ 1 w 181"/>
                    <a:gd name="T33" fmla="*/ 0 h 171"/>
                    <a:gd name="T34" fmla="*/ 1 w 181"/>
                    <a:gd name="T35" fmla="*/ 0 h 171"/>
                    <a:gd name="T36" fmla="*/ 1 w 181"/>
                    <a:gd name="T37" fmla="*/ 1 h 171"/>
                    <a:gd name="T38" fmla="*/ 0 w 181"/>
                    <a:gd name="T39" fmla="*/ 1 h 171"/>
                    <a:gd name="T40" fmla="*/ 0 w 181"/>
                    <a:gd name="T41" fmla="*/ 1 h 171"/>
                    <a:gd name="T42" fmla="*/ 0 w 181"/>
                    <a:gd name="T43" fmla="*/ 2 h 171"/>
                    <a:gd name="T44" fmla="*/ 0 w 181"/>
                    <a:gd name="T45" fmla="*/ 3 h 171"/>
                    <a:gd name="T46" fmla="*/ 0 w 181"/>
                    <a:gd name="T47" fmla="*/ 3 h 171"/>
                    <a:gd name="T48" fmla="*/ 0 w 181"/>
                    <a:gd name="T49" fmla="*/ 166 h 171"/>
                    <a:gd name="T50" fmla="*/ 0 w 181"/>
                    <a:gd name="T51" fmla="*/ 166 h 171"/>
                    <a:gd name="T52" fmla="*/ 0 w 181"/>
                    <a:gd name="T53" fmla="*/ 167 h 171"/>
                    <a:gd name="T54" fmla="*/ 0 w 181"/>
                    <a:gd name="T55" fmla="*/ 168 h 171"/>
                    <a:gd name="T56" fmla="*/ 0 w 181"/>
                    <a:gd name="T57" fmla="*/ 168 h 171"/>
                    <a:gd name="T58" fmla="*/ 1 w 181"/>
                    <a:gd name="T59" fmla="*/ 168 h 171"/>
                    <a:gd name="T60" fmla="*/ 1 w 181"/>
                    <a:gd name="T61" fmla="*/ 169 h 171"/>
                    <a:gd name="T62" fmla="*/ 2 w 181"/>
                    <a:gd name="T63" fmla="*/ 169 h 171"/>
                    <a:gd name="T64" fmla="*/ 2 w 181"/>
                    <a:gd name="T65" fmla="*/ 169 h 171"/>
                    <a:gd name="T66" fmla="*/ 3 w 181"/>
                    <a:gd name="T67" fmla="*/ 170 h 171"/>
                    <a:gd name="T68" fmla="*/ 3 w 181"/>
                    <a:gd name="T69" fmla="*/ 170 h 171"/>
                    <a:gd name="T70" fmla="*/ 176 w 181"/>
                    <a:gd name="T71" fmla="*/ 170 h 171"/>
                    <a:gd name="T72" fmla="*/ 176 w 181"/>
                    <a:gd name="T73" fmla="*/ 169 h 171"/>
                    <a:gd name="T74" fmla="*/ 177 w 181"/>
                    <a:gd name="T75" fmla="*/ 169 h 171"/>
                    <a:gd name="T76" fmla="*/ 177 w 181"/>
                    <a:gd name="T77" fmla="*/ 169 h 171"/>
                    <a:gd name="T78" fmla="*/ 178 w 181"/>
                    <a:gd name="T79" fmla="*/ 169 h 171"/>
                    <a:gd name="T80" fmla="*/ 178 w 181"/>
                    <a:gd name="T81" fmla="*/ 168 h 171"/>
                    <a:gd name="T82" fmla="*/ 178 w 181"/>
                    <a:gd name="T83" fmla="*/ 168 h 171"/>
                    <a:gd name="T84" fmla="*/ 179 w 181"/>
                    <a:gd name="T85" fmla="*/ 168 h 171"/>
                    <a:gd name="T86" fmla="*/ 179 w 181"/>
                    <a:gd name="T87" fmla="*/ 167 h 171"/>
                    <a:gd name="T88" fmla="*/ 180 w 181"/>
                    <a:gd name="T89" fmla="*/ 166 h 171"/>
                    <a:gd name="T90" fmla="*/ 180 w 181"/>
                    <a:gd name="T91" fmla="*/ 166 h 171"/>
                    <a:gd name="T92" fmla="*/ 180 w 181"/>
                    <a:gd name="T93" fmla="*/ 3 h 171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w 181"/>
                    <a:gd name="T142" fmla="*/ 0 h 171"/>
                    <a:gd name="T143" fmla="*/ 181 w 181"/>
                    <a:gd name="T144" fmla="*/ 171 h 171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T141" t="T142" r="T143" b="T144"/>
                  <a:pathLst>
                    <a:path w="181" h="171">
                      <a:moveTo>
                        <a:pt x="180" y="3"/>
                      </a:moveTo>
                      <a:lnTo>
                        <a:pt x="180" y="3"/>
                      </a:lnTo>
                      <a:lnTo>
                        <a:pt x="180" y="2"/>
                      </a:lnTo>
                      <a:lnTo>
                        <a:pt x="179" y="2"/>
                      </a:lnTo>
                      <a:lnTo>
                        <a:pt x="179" y="1"/>
                      </a:lnTo>
                      <a:lnTo>
                        <a:pt x="178" y="1"/>
                      </a:lnTo>
                      <a:lnTo>
                        <a:pt x="178" y="0"/>
                      </a:lnTo>
                      <a:lnTo>
                        <a:pt x="177" y="0"/>
                      </a:lnTo>
                      <a:lnTo>
                        <a:pt x="17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16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1" y="169"/>
                      </a:lnTo>
                      <a:lnTo>
                        <a:pt x="2" y="169"/>
                      </a:lnTo>
                      <a:lnTo>
                        <a:pt x="3" y="170"/>
                      </a:lnTo>
                      <a:lnTo>
                        <a:pt x="176" y="170"/>
                      </a:lnTo>
                      <a:lnTo>
                        <a:pt x="176" y="169"/>
                      </a:lnTo>
                      <a:lnTo>
                        <a:pt x="177" y="169"/>
                      </a:lnTo>
                      <a:lnTo>
                        <a:pt x="178" y="169"/>
                      </a:lnTo>
                      <a:lnTo>
                        <a:pt x="178" y="168"/>
                      </a:lnTo>
                      <a:lnTo>
                        <a:pt x="179" y="168"/>
                      </a:lnTo>
                      <a:lnTo>
                        <a:pt x="179" y="167"/>
                      </a:lnTo>
                      <a:lnTo>
                        <a:pt x="180" y="166"/>
                      </a:lnTo>
                      <a:lnTo>
                        <a:pt x="180" y="3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55" name="Freeform 162"/>
                <p:cNvSpPr>
                  <a:spLocks/>
                </p:cNvSpPr>
                <p:nvPr/>
              </p:nvSpPr>
              <p:spPr bwMode="auto">
                <a:xfrm>
                  <a:off x="3858" y="1282"/>
                  <a:ext cx="180" cy="168"/>
                </a:xfrm>
                <a:custGeom>
                  <a:avLst/>
                  <a:gdLst>
                    <a:gd name="T0" fmla="*/ 179 w 180"/>
                    <a:gd name="T1" fmla="*/ 163 h 168"/>
                    <a:gd name="T2" fmla="*/ 179 w 180"/>
                    <a:gd name="T3" fmla="*/ 164 h 168"/>
                    <a:gd name="T4" fmla="*/ 178 w 180"/>
                    <a:gd name="T5" fmla="*/ 165 h 168"/>
                    <a:gd name="T6" fmla="*/ 178 w 180"/>
                    <a:gd name="T7" fmla="*/ 165 h 168"/>
                    <a:gd name="T8" fmla="*/ 177 w 180"/>
                    <a:gd name="T9" fmla="*/ 166 h 168"/>
                    <a:gd name="T10" fmla="*/ 177 w 180"/>
                    <a:gd name="T11" fmla="*/ 166 h 168"/>
                    <a:gd name="T12" fmla="*/ 176 w 180"/>
                    <a:gd name="T13" fmla="*/ 167 h 168"/>
                    <a:gd name="T14" fmla="*/ 176 w 180"/>
                    <a:gd name="T15" fmla="*/ 167 h 168"/>
                    <a:gd name="T16" fmla="*/ 2 w 180"/>
                    <a:gd name="T17" fmla="*/ 167 h 168"/>
                    <a:gd name="T18" fmla="*/ 2 w 180"/>
                    <a:gd name="T19" fmla="*/ 167 h 168"/>
                    <a:gd name="T20" fmla="*/ 1 w 180"/>
                    <a:gd name="T21" fmla="*/ 167 h 168"/>
                    <a:gd name="T22" fmla="*/ 1 w 180"/>
                    <a:gd name="T23" fmla="*/ 166 h 168"/>
                    <a:gd name="T24" fmla="*/ 1 w 180"/>
                    <a:gd name="T25" fmla="*/ 166 h 168"/>
                    <a:gd name="T26" fmla="*/ 0 w 180"/>
                    <a:gd name="T27" fmla="*/ 166 h 168"/>
                    <a:gd name="T28" fmla="*/ 0 w 180"/>
                    <a:gd name="T29" fmla="*/ 165 h 168"/>
                    <a:gd name="T30" fmla="*/ 0 w 180"/>
                    <a:gd name="T31" fmla="*/ 165 h 168"/>
                    <a:gd name="T32" fmla="*/ 0 w 180"/>
                    <a:gd name="T33" fmla="*/ 165 h 168"/>
                    <a:gd name="T34" fmla="*/ 0 w 180"/>
                    <a:gd name="T35" fmla="*/ 164 h 168"/>
                    <a:gd name="T36" fmla="*/ 0 w 180"/>
                    <a:gd name="T37" fmla="*/ 163 h 168"/>
                    <a:gd name="T38" fmla="*/ 0 w 180"/>
                    <a:gd name="T39" fmla="*/ 3 h 168"/>
                    <a:gd name="T40" fmla="*/ 0 w 180"/>
                    <a:gd name="T41" fmla="*/ 2 h 168"/>
                    <a:gd name="T42" fmla="*/ 0 w 180"/>
                    <a:gd name="T43" fmla="*/ 1 h 168"/>
                    <a:gd name="T44" fmla="*/ 0 w 180"/>
                    <a:gd name="T45" fmla="*/ 1 h 168"/>
                    <a:gd name="T46" fmla="*/ 0 w 180"/>
                    <a:gd name="T47" fmla="*/ 1 h 168"/>
                    <a:gd name="T48" fmla="*/ 1 w 180"/>
                    <a:gd name="T49" fmla="*/ 0 h 168"/>
                    <a:gd name="T50" fmla="*/ 1 w 180"/>
                    <a:gd name="T51" fmla="*/ 0 h 168"/>
                    <a:gd name="T52" fmla="*/ 2 w 180"/>
                    <a:gd name="T53" fmla="*/ 0 h 168"/>
                    <a:gd name="T54" fmla="*/ 2 w 180"/>
                    <a:gd name="T55" fmla="*/ 0 h 168"/>
                    <a:gd name="T56" fmla="*/ 176 w 180"/>
                    <a:gd name="T57" fmla="*/ 0 h 168"/>
                    <a:gd name="T58" fmla="*/ 176 w 180"/>
                    <a:gd name="T59" fmla="*/ 0 h 168"/>
                    <a:gd name="T60" fmla="*/ 176 w 180"/>
                    <a:gd name="T61" fmla="*/ 0 h 168"/>
                    <a:gd name="T62" fmla="*/ 177 w 180"/>
                    <a:gd name="T63" fmla="*/ 0 h 168"/>
                    <a:gd name="T64" fmla="*/ 177 w 180"/>
                    <a:gd name="T65" fmla="*/ 0 h 168"/>
                    <a:gd name="T66" fmla="*/ 177 w 180"/>
                    <a:gd name="T67" fmla="*/ 1 h 168"/>
                    <a:gd name="T68" fmla="*/ 178 w 180"/>
                    <a:gd name="T69" fmla="*/ 1 h 168"/>
                    <a:gd name="T70" fmla="*/ 178 w 180"/>
                    <a:gd name="T71" fmla="*/ 1 h 168"/>
                    <a:gd name="T72" fmla="*/ 179 w 180"/>
                    <a:gd name="T73" fmla="*/ 2 h 168"/>
                    <a:gd name="T74" fmla="*/ 179 w 180"/>
                    <a:gd name="T75" fmla="*/ 3 h 168"/>
                    <a:gd name="T76" fmla="*/ 179 w 180"/>
                    <a:gd name="T77" fmla="*/ 16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80"/>
                    <a:gd name="T118" fmla="*/ 0 h 168"/>
                    <a:gd name="T119" fmla="*/ 180 w 180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80" h="168">
                      <a:moveTo>
                        <a:pt x="179" y="163"/>
                      </a:moveTo>
                      <a:lnTo>
                        <a:pt x="179" y="164"/>
                      </a:lnTo>
                      <a:lnTo>
                        <a:pt x="178" y="165"/>
                      </a:lnTo>
                      <a:lnTo>
                        <a:pt x="177" y="166"/>
                      </a:lnTo>
                      <a:lnTo>
                        <a:pt x="176" y="167"/>
                      </a:lnTo>
                      <a:lnTo>
                        <a:pt x="2" y="167"/>
                      </a:lnTo>
                      <a:lnTo>
                        <a:pt x="1" y="167"/>
                      </a:lnTo>
                      <a:lnTo>
                        <a:pt x="1" y="166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164"/>
                      </a:lnTo>
                      <a:lnTo>
                        <a:pt x="0" y="163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2" y="0"/>
                      </a:lnTo>
                      <a:lnTo>
                        <a:pt x="176" y="0"/>
                      </a:lnTo>
                      <a:lnTo>
                        <a:pt x="177" y="0"/>
                      </a:lnTo>
                      <a:lnTo>
                        <a:pt x="177" y="1"/>
                      </a:lnTo>
                      <a:lnTo>
                        <a:pt x="178" y="1"/>
                      </a:lnTo>
                      <a:lnTo>
                        <a:pt x="179" y="2"/>
                      </a:lnTo>
                      <a:lnTo>
                        <a:pt x="179" y="3"/>
                      </a:lnTo>
                      <a:lnTo>
                        <a:pt x="179" y="163"/>
                      </a:lnTo>
                    </a:path>
                  </a:pathLst>
                </a:custGeom>
                <a:solidFill>
                  <a:srgbClr val="EFEFD1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56" name="Freeform 163"/>
                <p:cNvSpPr>
                  <a:spLocks/>
                </p:cNvSpPr>
                <p:nvPr/>
              </p:nvSpPr>
              <p:spPr bwMode="auto">
                <a:xfrm>
                  <a:off x="3877" y="1304"/>
                  <a:ext cx="142" cy="124"/>
                </a:xfrm>
                <a:custGeom>
                  <a:avLst/>
                  <a:gdLst>
                    <a:gd name="T0" fmla="*/ 0 w 142"/>
                    <a:gd name="T1" fmla="*/ 1 h 124"/>
                    <a:gd name="T2" fmla="*/ 1 w 142"/>
                    <a:gd name="T3" fmla="*/ 1 h 124"/>
                    <a:gd name="T4" fmla="*/ 1 w 142"/>
                    <a:gd name="T5" fmla="*/ 1 h 124"/>
                    <a:gd name="T6" fmla="*/ 2 w 142"/>
                    <a:gd name="T7" fmla="*/ 0 h 124"/>
                    <a:gd name="T8" fmla="*/ 2 w 142"/>
                    <a:gd name="T9" fmla="*/ 0 h 124"/>
                    <a:gd name="T10" fmla="*/ 3 w 142"/>
                    <a:gd name="T11" fmla="*/ 0 h 124"/>
                    <a:gd name="T12" fmla="*/ 3 w 142"/>
                    <a:gd name="T13" fmla="*/ 0 h 124"/>
                    <a:gd name="T14" fmla="*/ 4 w 142"/>
                    <a:gd name="T15" fmla="*/ 0 h 124"/>
                    <a:gd name="T16" fmla="*/ 135 w 142"/>
                    <a:gd name="T17" fmla="*/ 0 h 124"/>
                    <a:gd name="T18" fmla="*/ 136 w 142"/>
                    <a:gd name="T19" fmla="*/ 0 h 124"/>
                    <a:gd name="T20" fmla="*/ 137 w 142"/>
                    <a:gd name="T21" fmla="*/ 0 h 124"/>
                    <a:gd name="T22" fmla="*/ 137 w 142"/>
                    <a:gd name="T23" fmla="*/ 0 h 124"/>
                    <a:gd name="T24" fmla="*/ 138 w 142"/>
                    <a:gd name="T25" fmla="*/ 0 h 124"/>
                    <a:gd name="T26" fmla="*/ 138 w 142"/>
                    <a:gd name="T27" fmla="*/ 1 h 124"/>
                    <a:gd name="T28" fmla="*/ 139 w 142"/>
                    <a:gd name="T29" fmla="*/ 1 h 124"/>
                    <a:gd name="T30" fmla="*/ 139 w 142"/>
                    <a:gd name="T31" fmla="*/ 1 h 124"/>
                    <a:gd name="T32" fmla="*/ 140 w 142"/>
                    <a:gd name="T33" fmla="*/ 2 h 124"/>
                    <a:gd name="T34" fmla="*/ 140 w 142"/>
                    <a:gd name="T35" fmla="*/ 3 h 124"/>
                    <a:gd name="T36" fmla="*/ 141 w 142"/>
                    <a:gd name="T37" fmla="*/ 3 h 124"/>
                    <a:gd name="T38" fmla="*/ 141 w 142"/>
                    <a:gd name="T39" fmla="*/ 4 h 124"/>
                    <a:gd name="T40" fmla="*/ 141 w 142"/>
                    <a:gd name="T41" fmla="*/ 5 h 124"/>
                    <a:gd name="T42" fmla="*/ 141 w 142"/>
                    <a:gd name="T43" fmla="*/ 117 h 124"/>
                    <a:gd name="T44" fmla="*/ 141 w 142"/>
                    <a:gd name="T45" fmla="*/ 119 h 124"/>
                    <a:gd name="T46" fmla="*/ 140 w 142"/>
                    <a:gd name="T47" fmla="*/ 119 h 124"/>
                    <a:gd name="T48" fmla="*/ 140 w 142"/>
                    <a:gd name="T49" fmla="*/ 120 h 124"/>
                    <a:gd name="T50" fmla="*/ 139 w 142"/>
                    <a:gd name="T51" fmla="*/ 121 h 124"/>
                    <a:gd name="T52" fmla="*/ 139 w 142"/>
                    <a:gd name="T53" fmla="*/ 121 h 124"/>
                    <a:gd name="T54" fmla="*/ 138 w 142"/>
                    <a:gd name="T55" fmla="*/ 122 h 124"/>
                    <a:gd name="T56" fmla="*/ 138 w 142"/>
                    <a:gd name="T57" fmla="*/ 122 h 124"/>
                    <a:gd name="T58" fmla="*/ 137 w 142"/>
                    <a:gd name="T59" fmla="*/ 122 h 124"/>
                    <a:gd name="T60" fmla="*/ 137 w 142"/>
                    <a:gd name="T61" fmla="*/ 123 h 124"/>
                    <a:gd name="T62" fmla="*/ 136 w 142"/>
                    <a:gd name="T63" fmla="*/ 123 h 124"/>
                    <a:gd name="T64" fmla="*/ 135 w 142"/>
                    <a:gd name="T65" fmla="*/ 123 h 124"/>
                    <a:gd name="T66" fmla="*/ 4 w 142"/>
                    <a:gd name="T67" fmla="*/ 123 h 124"/>
                    <a:gd name="T68" fmla="*/ 3 w 142"/>
                    <a:gd name="T69" fmla="*/ 123 h 124"/>
                    <a:gd name="T70" fmla="*/ 3 w 142"/>
                    <a:gd name="T71" fmla="*/ 123 h 124"/>
                    <a:gd name="T72" fmla="*/ 2 w 142"/>
                    <a:gd name="T73" fmla="*/ 122 h 124"/>
                    <a:gd name="T74" fmla="*/ 2 w 142"/>
                    <a:gd name="T75" fmla="*/ 122 h 124"/>
                    <a:gd name="T76" fmla="*/ 1 w 142"/>
                    <a:gd name="T77" fmla="*/ 122 h 124"/>
                    <a:gd name="T78" fmla="*/ 1 w 142"/>
                    <a:gd name="T79" fmla="*/ 121 h 124"/>
                    <a:gd name="T80" fmla="*/ 0 w 142"/>
                    <a:gd name="T81" fmla="*/ 121 h 124"/>
                    <a:gd name="T82" fmla="*/ 0 w 142"/>
                    <a:gd name="T83" fmla="*/ 120 h 124"/>
                    <a:gd name="T84" fmla="*/ 0 w 142"/>
                    <a:gd name="T85" fmla="*/ 119 h 124"/>
                    <a:gd name="T86" fmla="*/ 0 w 142"/>
                    <a:gd name="T87" fmla="*/ 119 h 124"/>
                    <a:gd name="T88" fmla="*/ 0 w 142"/>
                    <a:gd name="T89" fmla="*/ 117 h 124"/>
                    <a:gd name="T90" fmla="*/ 0 w 142"/>
                    <a:gd name="T91" fmla="*/ 5 h 124"/>
                    <a:gd name="T92" fmla="*/ 0 w 142"/>
                    <a:gd name="T93" fmla="*/ 4 h 124"/>
                    <a:gd name="T94" fmla="*/ 0 w 142"/>
                    <a:gd name="T95" fmla="*/ 3 h 124"/>
                    <a:gd name="T96" fmla="*/ 0 w 142"/>
                    <a:gd name="T97" fmla="*/ 3 h 124"/>
                    <a:gd name="T98" fmla="*/ 0 w 142"/>
                    <a:gd name="T99" fmla="*/ 2 h 124"/>
                    <a:gd name="T100" fmla="*/ 0 w 142"/>
                    <a:gd name="T101" fmla="*/ 1 h 124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42"/>
                    <a:gd name="T154" fmla="*/ 0 h 124"/>
                    <a:gd name="T155" fmla="*/ 142 w 142"/>
                    <a:gd name="T156" fmla="*/ 124 h 124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42" h="124">
                      <a:moveTo>
                        <a:pt x="0" y="1"/>
                      </a:moveTo>
                      <a:lnTo>
                        <a:pt x="1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8" y="1"/>
                      </a:lnTo>
                      <a:lnTo>
                        <a:pt x="139" y="1"/>
                      </a:lnTo>
                      <a:lnTo>
                        <a:pt x="140" y="2"/>
                      </a:lnTo>
                      <a:lnTo>
                        <a:pt x="140" y="3"/>
                      </a:lnTo>
                      <a:lnTo>
                        <a:pt x="141" y="3"/>
                      </a:lnTo>
                      <a:lnTo>
                        <a:pt x="141" y="4"/>
                      </a:lnTo>
                      <a:lnTo>
                        <a:pt x="141" y="5"/>
                      </a:lnTo>
                      <a:lnTo>
                        <a:pt x="141" y="117"/>
                      </a:lnTo>
                      <a:lnTo>
                        <a:pt x="141" y="119"/>
                      </a:lnTo>
                      <a:lnTo>
                        <a:pt x="140" y="119"/>
                      </a:lnTo>
                      <a:lnTo>
                        <a:pt x="140" y="120"/>
                      </a:lnTo>
                      <a:lnTo>
                        <a:pt x="139" y="121"/>
                      </a:lnTo>
                      <a:lnTo>
                        <a:pt x="138" y="122"/>
                      </a:lnTo>
                      <a:lnTo>
                        <a:pt x="137" y="122"/>
                      </a:lnTo>
                      <a:lnTo>
                        <a:pt x="137" y="123"/>
                      </a:lnTo>
                      <a:lnTo>
                        <a:pt x="136" y="123"/>
                      </a:lnTo>
                      <a:lnTo>
                        <a:pt x="135" y="123"/>
                      </a:lnTo>
                      <a:lnTo>
                        <a:pt x="4" y="123"/>
                      </a:lnTo>
                      <a:lnTo>
                        <a:pt x="3" y="123"/>
                      </a:lnTo>
                      <a:lnTo>
                        <a:pt x="2" y="122"/>
                      </a:lnTo>
                      <a:lnTo>
                        <a:pt x="1" y="122"/>
                      </a:lnTo>
                      <a:lnTo>
                        <a:pt x="1" y="121"/>
                      </a:lnTo>
                      <a:lnTo>
                        <a:pt x="0" y="121"/>
                      </a:lnTo>
                      <a:lnTo>
                        <a:pt x="0" y="120"/>
                      </a:lnTo>
                      <a:lnTo>
                        <a:pt x="0" y="119"/>
                      </a:lnTo>
                      <a:lnTo>
                        <a:pt x="0" y="117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</a:path>
                  </a:pathLst>
                </a:custGeom>
                <a:gradFill rotWithShape="0">
                  <a:gsLst>
                    <a:gs pos="0">
                      <a:srgbClr val="1D2B4B"/>
                    </a:gs>
                    <a:gs pos="50000">
                      <a:srgbClr val="618FFD"/>
                    </a:gs>
                    <a:gs pos="100000">
                      <a:srgbClr val="1D2B4B"/>
                    </a:gs>
                  </a:gsLst>
                  <a:lin ang="2700000" scaled="1"/>
                </a:gra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57" name="Freeform 164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4 h 17"/>
                    <a:gd name="T2" fmla="*/ 151 w 153"/>
                    <a:gd name="T3" fmla="*/ 3 h 17"/>
                    <a:gd name="T4" fmla="*/ 151 w 153"/>
                    <a:gd name="T5" fmla="*/ 2 h 17"/>
                    <a:gd name="T6" fmla="*/ 150 w 153"/>
                    <a:gd name="T7" fmla="*/ 2 h 17"/>
                    <a:gd name="T8" fmla="*/ 150 w 153"/>
                    <a:gd name="T9" fmla="*/ 2 h 17"/>
                    <a:gd name="T10" fmla="*/ 150 w 153"/>
                    <a:gd name="T11" fmla="*/ 1 h 17"/>
                    <a:gd name="T12" fmla="*/ 149 w 153"/>
                    <a:gd name="T13" fmla="*/ 1 h 17"/>
                    <a:gd name="T14" fmla="*/ 149 w 153"/>
                    <a:gd name="T15" fmla="*/ 1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1 h 17"/>
                    <a:gd name="T32" fmla="*/ 1 w 153"/>
                    <a:gd name="T33" fmla="*/ 1 h 17"/>
                    <a:gd name="T34" fmla="*/ 0 w 153"/>
                    <a:gd name="T35" fmla="*/ 2 h 17"/>
                    <a:gd name="T36" fmla="*/ 0 w 153"/>
                    <a:gd name="T37" fmla="*/ 2 h 17"/>
                    <a:gd name="T38" fmla="*/ 0 w 153"/>
                    <a:gd name="T39" fmla="*/ 3 h 17"/>
                    <a:gd name="T40" fmla="*/ 6 w 153"/>
                    <a:gd name="T41" fmla="*/ 16 h 17"/>
                    <a:gd name="T42" fmla="*/ 7 w 153"/>
                    <a:gd name="T43" fmla="*/ 14 h 17"/>
                    <a:gd name="T44" fmla="*/ 7 w 153"/>
                    <a:gd name="T45" fmla="*/ 14 h 17"/>
                    <a:gd name="T46" fmla="*/ 8 w 153"/>
                    <a:gd name="T47" fmla="*/ 13 h 17"/>
                    <a:gd name="T48" fmla="*/ 8 w 153"/>
                    <a:gd name="T49" fmla="*/ 13 h 17"/>
                    <a:gd name="T50" fmla="*/ 8 w 153"/>
                    <a:gd name="T51" fmla="*/ 12 h 17"/>
                    <a:gd name="T52" fmla="*/ 9 w 153"/>
                    <a:gd name="T53" fmla="*/ 12 h 17"/>
                    <a:gd name="T54" fmla="*/ 10 w 153"/>
                    <a:gd name="T55" fmla="*/ 12 h 17"/>
                    <a:gd name="T56" fmla="*/ 140 w 153"/>
                    <a:gd name="T57" fmla="*/ 12 h 17"/>
                    <a:gd name="T58" fmla="*/ 141 w 153"/>
                    <a:gd name="T59" fmla="*/ 12 h 17"/>
                    <a:gd name="T60" fmla="*/ 142 w 153"/>
                    <a:gd name="T61" fmla="*/ 12 h 17"/>
                    <a:gd name="T62" fmla="*/ 142 w 153"/>
                    <a:gd name="T63" fmla="*/ 13 h 17"/>
                    <a:gd name="T64" fmla="*/ 143 w 153"/>
                    <a:gd name="T65" fmla="*/ 13 h 17"/>
                    <a:gd name="T66" fmla="*/ 143 w 153"/>
                    <a:gd name="T67" fmla="*/ 14 h 17"/>
                    <a:gd name="T68" fmla="*/ 143 w 153"/>
                    <a:gd name="T69" fmla="*/ 14 h 17"/>
                    <a:gd name="T70" fmla="*/ 144 w 153"/>
                    <a:gd name="T71" fmla="*/ 14 h 17"/>
                    <a:gd name="T72" fmla="*/ 152 w 153"/>
                    <a:gd name="T73" fmla="*/ 4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53"/>
                    <a:gd name="T112" fmla="*/ 0 h 17"/>
                    <a:gd name="T113" fmla="*/ 153 w 153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53" h="17">
                      <a:moveTo>
                        <a:pt x="152" y="4"/>
                      </a:moveTo>
                      <a:lnTo>
                        <a:pt x="151" y="3"/>
                      </a:lnTo>
                      <a:lnTo>
                        <a:pt x="151" y="2"/>
                      </a:lnTo>
                      <a:lnTo>
                        <a:pt x="150" y="2"/>
                      </a:lnTo>
                      <a:lnTo>
                        <a:pt x="150" y="1"/>
                      </a:lnTo>
                      <a:lnTo>
                        <a:pt x="149" y="1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6" y="16"/>
                      </a:lnTo>
                      <a:lnTo>
                        <a:pt x="7" y="14"/>
                      </a:lnTo>
                      <a:lnTo>
                        <a:pt x="8" y="13"/>
                      </a:lnTo>
                      <a:lnTo>
                        <a:pt x="8" y="12"/>
                      </a:lnTo>
                      <a:lnTo>
                        <a:pt x="9" y="12"/>
                      </a:lnTo>
                      <a:lnTo>
                        <a:pt x="10" y="12"/>
                      </a:lnTo>
                      <a:lnTo>
                        <a:pt x="140" y="12"/>
                      </a:lnTo>
                      <a:lnTo>
                        <a:pt x="141" y="12"/>
                      </a:lnTo>
                      <a:lnTo>
                        <a:pt x="142" y="12"/>
                      </a:lnTo>
                      <a:lnTo>
                        <a:pt x="142" y="13"/>
                      </a:lnTo>
                      <a:lnTo>
                        <a:pt x="143" y="13"/>
                      </a:lnTo>
                      <a:lnTo>
                        <a:pt x="143" y="14"/>
                      </a:lnTo>
                      <a:lnTo>
                        <a:pt x="144" y="14"/>
                      </a:lnTo>
                      <a:lnTo>
                        <a:pt x="152" y="4"/>
                      </a:lnTo>
                    </a:path>
                  </a:pathLst>
                </a:custGeom>
                <a:solidFill>
                  <a:srgbClr val="9F9FA2"/>
                </a:solidFill>
                <a:ln w="12700" cap="rnd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58" name="Freeform 165"/>
                <p:cNvSpPr>
                  <a:spLocks/>
                </p:cNvSpPr>
                <p:nvPr/>
              </p:nvSpPr>
              <p:spPr bwMode="auto">
                <a:xfrm>
                  <a:off x="3870" y="1299"/>
                  <a:ext cx="17" cy="135"/>
                </a:xfrm>
                <a:custGeom>
                  <a:avLst/>
                  <a:gdLst>
                    <a:gd name="T0" fmla="*/ 2 w 17"/>
                    <a:gd name="T1" fmla="*/ 0 h 135"/>
                    <a:gd name="T2" fmla="*/ 1 w 17"/>
                    <a:gd name="T3" fmla="*/ 0 h 135"/>
                    <a:gd name="T4" fmla="*/ 0 w 17"/>
                    <a:gd name="T5" fmla="*/ 1 h 135"/>
                    <a:gd name="T6" fmla="*/ 0 w 17"/>
                    <a:gd name="T7" fmla="*/ 2 h 135"/>
                    <a:gd name="T8" fmla="*/ 0 w 17"/>
                    <a:gd name="T9" fmla="*/ 2 h 135"/>
                    <a:gd name="T10" fmla="*/ 0 w 17"/>
                    <a:gd name="T11" fmla="*/ 3 h 135"/>
                    <a:gd name="T12" fmla="*/ 0 w 17"/>
                    <a:gd name="T13" fmla="*/ 4 h 135"/>
                    <a:gd name="T14" fmla="*/ 0 w 17"/>
                    <a:gd name="T15" fmla="*/ 130 h 135"/>
                    <a:gd name="T16" fmla="*/ 0 w 17"/>
                    <a:gd name="T17" fmla="*/ 130 h 135"/>
                    <a:gd name="T18" fmla="*/ 0 w 17"/>
                    <a:gd name="T19" fmla="*/ 131 h 135"/>
                    <a:gd name="T20" fmla="*/ 0 w 17"/>
                    <a:gd name="T21" fmla="*/ 132 h 135"/>
                    <a:gd name="T22" fmla="*/ 0 w 17"/>
                    <a:gd name="T23" fmla="*/ 132 h 135"/>
                    <a:gd name="T24" fmla="*/ 1 w 17"/>
                    <a:gd name="T25" fmla="*/ 133 h 135"/>
                    <a:gd name="T26" fmla="*/ 2 w 17"/>
                    <a:gd name="T27" fmla="*/ 133 h 135"/>
                    <a:gd name="T28" fmla="*/ 2 w 17"/>
                    <a:gd name="T29" fmla="*/ 134 h 135"/>
                    <a:gd name="T30" fmla="*/ 3 w 17"/>
                    <a:gd name="T31" fmla="*/ 134 h 135"/>
                    <a:gd name="T32" fmla="*/ 16 w 17"/>
                    <a:gd name="T33" fmla="*/ 127 h 135"/>
                    <a:gd name="T34" fmla="*/ 15 w 17"/>
                    <a:gd name="T35" fmla="*/ 126 h 135"/>
                    <a:gd name="T36" fmla="*/ 15 w 17"/>
                    <a:gd name="T37" fmla="*/ 126 h 135"/>
                    <a:gd name="T38" fmla="*/ 14 w 17"/>
                    <a:gd name="T39" fmla="*/ 126 h 135"/>
                    <a:gd name="T40" fmla="*/ 14 w 17"/>
                    <a:gd name="T41" fmla="*/ 125 h 135"/>
                    <a:gd name="T42" fmla="*/ 13 w 17"/>
                    <a:gd name="T43" fmla="*/ 124 h 135"/>
                    <a:gd name="T44" fmla="*/ 13 w 17"/>
                    <a:gd name="T45" fmla="*/ 124 h 135"/>
                    <a:gd name="T46" fmla="*/ 13 w 17"/>
                    <a:gd name="T47" fmla="*/ 10 h 135"/>
                    <a:gd name="T48" fmla="*/ 13 w 17"/>
                    <a:gd name="T49" fmla="*/ 9 h 135"/>
                    <a:gd name="T50" fmla="*/ 13 w 17"/>
                    <a:gd name="T51" fmla="*/ 8 h 135"/>
                    <a:gd name="T52" fmla="*/ 14 w 17"/>
                    <a:gd name="T53" fmla="*/ 8 h 135"/>
                    <a:gd name="T54" fmla="*/ 15 w 17"/>
                    <a:gd name="T55" fmla="*/ 7 h 135"/>
                    <a:gd name="T56" fmla="*/ 15 w 17"/>
                    <a:gd name="T57" fmla="*/ 6 h 135"/>
                    <a:gd name="T58" fmla="*/ 2 w 17"/>
                    <a:gd name="T59" fmla="*/ 0 h 135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w 17"/>
                    <a:gd name="T91" fmla="*/ 0 h 135"/>
                    <a:gd name="T92" fmla="*/ 17 w 17"/>
                    <a:gd name="T93" fmla="*/ 135 h 135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T90" t="T91" r="T92" b="T93"/>
                  <a:pathLst>
                    <a:path w="17" h="135">
                      <a:moveTo>
                        <a:pt x="2" y="0"/>
                      </a:moveTo>
                      <a:lnTo>
                        <a:pt x="1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0" y="130"/>
                      </a:lnTo>
                      <a:lnTo>
                        <a:pt x="0" y="131"/>
                      </a:lnTo>
                      <a:lnTo>
                        <a:pt x="0" y="132"/>
                      </a:lnTo>
                      <a:lnTo>
                        <a:pt x="1" y="133"/>
                      </a:lnTo>
                      <a:lnTo>
                        <a:pt x="2" y="133"/>
                      </a:lnTo>
                      <a:lnTo>
                        <a:pt x="2" y="134"/>
                      </a:lnTo>
                      <a:lnTo>
                        <a:pt x="3" y="134"/>
                      </a:lnTo>
                      <a:lnTo>
                        <a:pt x="16" y="127"/>
                      </a:lnTo>
                      <a:lnTo>
                        <a:pt x="15" y="126"/>
                      </a:lnTo>
                      <a:lnTo>
                        <a:pt x="14" y="126"/>
                      </a:lnTo>
                      <a:lnTo>
                        <a:pt x="14" y="125"/>
                      </a:lnTo>
                      <a:lnTo>
                        <a:pt x="13" y="124"/>
                      </a:lnTo>
                      <a:lnTo>
                        <a:pt x="13" y="10"/>
                      </a:lnTo>
                      <a:lnTo>
                        <a:pt x="13" y="9"/>
                      </a:lnTo>
                      <a:lnTo>
                        <a:pt x="13" y="8"/>
                      </a:lnTo>
                      <a:lnTo>
                        <a:pt x="14" y="8"/>
                      </a:lnTo>
                      <a:lnTo>
                        <a:pt x="15" y="7"/>
                      </a:lnTo>
                      <a:lnTo>
                        <a:pt x="15" y="6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666666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59" name="Freeform 166"/>
                <p:cNvSpPr>
                  <a:spLocks/>
                </p:cNvSpPr>
                <p:nvPr/>
              </p:nvSpPr>
              <p:spPr bwMode="auto">
                <a:xfrm>
                  <a:off x="3872" y="1300"/>
                  <a:ext cx="155" cy="136"/>
                </a:xfrm>
                <a:custGeom>
                  <a:avLst/>
                  <a:gdLst>
                    <a:gd name="T0" fmla="*/ 0 w 155"/>
                    <a:gd name="T1" fmla="*/ 133 h 136"/>
                    <a:gd name="T2" fmla="*/ 0 w 155"/>
                    <a:gd name="T3" fmla="*/ 134 h 136"/>
                    <a:gd name="T4" fmla="*/ 0 w 155"/>
                    <a:gd name="T5" fmla="*/ 134 h 136"/>
                    <a:gd name="T6" fmla="*/ 1 w 155"/>
                    <a:gd name="T7" fmla="*/ 134 h 136"/>
                    <a:gd name="T8" fmla="*/ 1 w 155"/>
                    <a:gd name="T9" fmla="*/ 134 h 136"/>
                    <a:gd name="T10" fmla="*/ 2 w 155"/>
                    <a:gd name="T11" fmla="*/ 135 h 136"/>
                    <a:gd name="T12" fmla="*/ 2 w 155"/>
                    <a:gd name="T13" fmla="*/ 135 h 136"/>
                    <a:gd name="T14" fmla="*/ 3 w 155"/>
                    <a:gd name="T15" fmla="*/ 135 h 136"/>
                    <a:gd name="T16" fmla="*/ 148 w 155"/>
                    <a:gd name="T17" fmla="*/ 135 h 136"/>
                    <a:gd name="T18" fmla="*/ 150 w 155"/>
                    <a:gd name="T19" fmla="*/ 134 h 136"/>
                    <a:gd name="T20" fmla="*/ 151 w 155"/>
                    <a:gd name="T21" fmla="*/ 134 h 136"/>
                    <a:gd name="T22" fmla="*/ 151 w 155"/>
                    <a:gd name="T23" fmla="*/ 133 h 136"/>
                    <a:gd name="T24" fmla="*/ 152 w 155"/>
                    <a:gd name="T25" fmla="*/ 133 h 136"/>
                    <a:gd name="T26" fmla="*/ 152 w 155"/>
                    <a:gd name="T27" fmla="*/ 133 h 136"/>
                    <a:gd name="T28" fmla="*/ 153 w 155"/>
                    <a:gd name="T29" fmla="*/ 132 h 136"/>
                    <a:gd name="T30" fmla="*/ 153 w 155"/>
                    <a:gd name="T31" fmla="*/ 131 h 136"/>
                    <a:gd name="T32" fmla="*/ 154 w 155"/>
                    <a:gd name="T33" fmla="*/ 131 h 136"/>
                    <a:gd name="T34" fmla="*/ 154 w 155"/>
                    <a:gd name="T35" fmla="*/ 129 h 136"/>
                    <a:gd name="T36" fmla="*/ 154 w 155"/>
                    <a:gd name="T37" fmla="*/ 129 h 136"/>
                    <a:gd name="T38" fmla="*/ 154 w 155"/>
                    <a:gd name="T39" fmla="*/ 3 h 136"/>
                    <a:gd name="T40" fmla="*/ 154 w 155"/>
                    <a:gd name="T41" fmla="*/ 2 h 136"/>
                    <a:gd name="T42" fmla="*/ 154 w 155"/>
                    <a:gd name="T43" fmla="*/ 1 h 136"/>
                    <a:gd name="T44" fmla="*/ 154 w 155"/>
                    <a:gd name="T45" fmla="*/ 1 h 136"/>
                    <a:gd name="T46" fmla="*/ 153 w 155"/>
                    <a:gd name="T47" fmla="*/ 1 h 136"/>
                    <a:gd name="T48" fmla="*/ 153 w 155"/>
                    <a:gd name="T49" fmla="*/ 0 h 136"/>
                    <a:gd name="T50" fmla="*/ 153 w 155"/>
                    <a:gd name="T51" fmla="*/ 0 h 136"/>
                    <a:gd name="T52" fmla="*/ 145 w 155"/>
                    <a:gd name="T53" fmla="*/ 5 h 136"/>
                    <a:gd name="T54" fmla="*/ 145 w 155"/>
                    <a:gd name="T55" fmla="*/ 5 h 136"/>
                    <a:gd name="T56" fmla="*/ 146 w 155"/>
                    <a:gd name="T57" fmla="*/ 6 h 136"/>
                    <a:gd name="T58" fmla="*/ 146 w 155"/>
                    <a:gd name="T59" fmla="*/ 7 h 136"/>
                    <a:gd name="T60" fmla="*/ 146 w 155"/>
                    <a:gd name="T61" fmla="*/ 7 h 136"/>
                    <a:gd name="T62" fmla="*/ 146 w 155"/>
                    <a:gd name="T63" fmla="*/ 7 h 136"/>
                    <a:gd name="T64" fmla="*/ 146 w 155"/>
                    <a:gd name="T65" fmla="*/ 8 h 136"/>
                    <a:gd name="T66" fmla="*/ 146 w 155"/>
                    <a:gd name="T67" fmla="*/ 9 h 136"/>
                    <a:gd name="T68" fmla="*/ 146 w 155"/>
                    <a:gd name="T69" fmla="*/ 9 h 136"/>
                    <a:gd name="T70" fmla="*/ 146 w 155"/>
                    <a:gd name="T71" fmla="*/ 123 h 136"/>
                    <a:gd name="T72" fmla="*/ 146 w 155"/>
                    <a:gd name="T73" fmla="*/ 123 h 136"/>
                    <a:gd name="T74" fmla="*/ 146 w 155"/>
                    <a:gd name="T75" fmla="*/ 124 h 136"/>
                    <a:gd name="T76" fmla="*/ 146 w 155"/>
                    <a:gd name="T77" fmla="*/ 125 h 136"/>
                    <a:gd name="T78" fmla="*/ 146 w 155"/>
                    <a:gd name="T79" fmla="*/ 125 h 136"/>
                    <a:gd name="T80" fmla="*/ 145 w 155"/>
                    <a:gd name="T81" fmla="*/ 126 h 136"/>
                    <a:gd name="T82" fmla="*/ 145 w 155"/>
                    <a:gd name="T83" fmla="*/ 127 h 136"/>
                    <a:gd name="T84" fmla="*/ 144 w 155"/>
                    <a:gd name="T85" fmla="*/ 127 h 136"/>
                    <a:gd name="T86" fmla="*/ 143 w 155"/>
                    <a:gd name="T87" fmla="*/ 127 h 136"/>
                    <a:gd name="T88" fmla="*/ 143 w 155"/>
                    <a:gd name="T89" fmla="*/ 128 h 136"/>
                    <a:gd name="T90" fmla="*/ 142 w 155"/>
                    <a:gd name="T91" fmla="*/ 128 h 136"/>
                    <a:gd name="T92" fmla="*/ 142 w 155"/>
                    <a:gd name="T93" fmla="*/ 128 h 136"/>
                    <a:gd name="T94" fmla="*/ 9 w 155"/>
                    <a:gd name="T95" fmla="*/ 128 h 136"/>
                    <a:gd name="T96" fmla="*/ 8 w 155"/>
                    <a:gd name="T97" fmla="*/ 128 h 136"/>
                    <a:gd name="T98" fmla="*/ 8 w 155"/>
                    <a:gd name="T99" fmla="*/ 128 h 136"/>
                    <a:gd name="T100" fmla="*/ 8 w 155"/>
                    <a:gd name="T101" fmla="*/ 127 h 136"/>
                    <a:gd name="T102" fmla="*/ 7 w 155"/>
                    <a:gd name="T103" fmla="*/ 127 h 136"/>
                    <a:gd name="T104" fmla="*/ 7 w 155"/>
                    <a:gd name="T105" fmla="*/ 127 h 136"/>
                    <a:gd name="T106" fmla="*/ 6 w 155"/>
                    <a:gd name="T107" fmla="*/ 127 h 136"/>
                    <a:gd name="T108" fmla="*/ 6 w 155"/>
                    <a:gd name="T109" fmla="*/ 127 h 136"/>
                    <a:gd name="T110" fmla="*/ 0 w 155"/>
                    <a:gd name="T111" fmla="*/ 133 h 1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55"/>
                    <a:gd name="T169" fmla="*/ 0 h 136"/>
                    <a:gd name="T170" fmla="*/ 155 w 155"/>
                    <a:gd name="T171" fmla="*/ 136 h 136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55" h="136">
                      <a:moveTo>
                        <a:pt x="0" y="133"/>
                      </a:moveTo>
                      <a:lnTo>
                        <a:pt x="0" y="134"/>
                      </a:lnTo>
                      <a:lnTo>
                        <a:pt x="1" y="134"/>
                      </a:lnTo>
                      <a:lnTo>
                        <a:pt x="2" y="135"/>
                      </a:lnTo>
                      <a:lnTo>
                        <a:pt x="3" y="135"/>
                      </a:lnTo>
                      <a:lnTo>
                        <a:pt x="148" y="135"/>
                      </a:lnTo>
                      <a:lnTo>
                        <a:pt x="150" y="134"/>
                      </a:lnTo>
                      <a:lnTo>
                        <a:pt x="151" y="134"/>
                      </a:lnTo>
                      <a:lnTo>
                        <a:pt x="151" y="133"/>
                      </a:lnTo>
                      <a:lnTo>
                        <a:pt x="152" y="133"/>
                      </a:lnTo>
                      <a:lnTo>
                        <a:pt x="153" y="132"/>
                      </a:lnTo>
                      <a:lnTo>
                        <a:pt x="153" y="131"/>
                      </a:lnTo>
                      <a:lnTo>
                        <a:pt x="154" y="131"/>
                      </a:lnTo>
                      <a:lnTo>
                        <a:pt x="154" y="129"/>
                      </a:lnTo>
                      <a:lnTo>
                        <a:pt x="154" y="3"/>
                      </a:lnTo>
                      <a:lnTo>
                        <a:pt x="154" y="2"/>
                      </a:lnTo>
                      <a:lnTo>
                        <a:pt x="154" y="1"/>
                      </a:lnTo>
                      <a:lnTo>
                        <a:pt x="153" y="1"/>
                      </a:lnTo>
                      <a:lnTo>
                        <a:pt x="153" y="0"/>
                      </a:lnTo>
                      <a:lnTo>
                        <a:pt x="145" y="5"/>
                      </a:lnTo>
                      <a:lnTo>
                        <a:pt x="146" y="6"/>
                      </a:lnTo>
                      <a:lnTo>
                        <a:pt x="146" y="7"/>
                      </a:lnTo>
                      <a:lnTo>
                        <a:pt x="146" y="8"/>
                      </a:lnTo>
                      <a:lnTo>
                        <a:pt x="146" y="9"/>
                      </a:lnTo>
                      <a:lnTo>
                        <a:pt x="146" y="123"/>
                      </a:lnTo>
                      <a:lnTo>
                        <a:pt x="146" y="124"/>
                      </a:lnTo>
                      <a:lnTo>
                        <a:pt x="146" y="125"/>
                      </a:lnTo>
                      <a:lnTo>
                        <a:pt x="145" y="126"/>
                      </a:lnTo>
                      <a:lnTo>
                        <a:pt x="145" y="127"/>
                      </a:lnTo>
                      <a:lnTo>
                        <a:pt x="144" y="127"/>
                      </a:lnTo>
                      <a:lnTo>
                        <a:pt x="143" y="127"/>
                      </a:lnTo>
                      <a:lnTo>
                        <a:pt x="143" y="128"/>
                      </a:lnTo>
                      <a:lnTo>
                        <a:pt x="142" y="128"/>
                      </a:lnTo>
                      <a:lnTo>
                        <a:pt x="9" y="128"/>
                      </a:lnTo>
                      <a:lnTo>
                        <a:pt x="8" y="128"/>
                      </a:lnTo>
                      <a:lnTo>
                        <a:pt x="8" y="127"/>
                      </a:lnTo>
                      <a:lnTo>
                        <a:pt x="7" y="127"/>
                      </a:lnTo>
                      <a:lnTo>
                        <a:pt x="6" y="127"/>
                      </a:lnTo>
                      <a:lnTo>
                        <a:pt x="0" y="133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60" name="Freeform 167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16 h 17"/>
                    <a:gd name="T2" fmla="*/ 151 w 153"/>
                    <a:gd name="T3" fmla="*/ 16 h 17"/>
                    <a:gd name="T4" fmla="*/ 151 w 153"/>
                    <a:gd name="T5" fmla="*/ 10 h 17"/>
                    <a:gd name="T6" fmla="*/ 150 w 153"/>
                    <a:gd name="T7" fmla="*/ 10 h 17"/>
                    <a:gd name="T8" fmla="*/ 150 w 153"/>
                    <a:gd name="T9" fmla="*/ 10 h 17"/>
                    <a:gd name="T10" fmla="*/ 150 w 153"/>
                    <a:gd name="T11" fmla="*/ 5 h 17"/>
                    <a:gd name="T12" fmla="*/ 149 w 153"/>
                    <a:gd name="T13" fmla="*/ 5 h 17"/>
                    <a:gd name="T14" fmla="*/ 149 w 153"/>
                    <a:gd name="T15" fmla="*/ 5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5 h 17"/>
                    <a:gd name="T32" fmla="*/ 1 w 153"/>
                    <a:gd name="T33" fmla="*/ 5 h 17"/>
                    <a:gd name="T34" fmla="*/ 0 w 153"/>
                    <a:gd name="T35" fmla="*/ 10 h 17"/>
                    <a:gd name="T36" fmla="*/ 0 w 153"/>
                    <a:gd name="T37" fmla="*/ 10 h 17"/>
                    <a:gd name="T38" fmla="*/ 0 w 153"/>
                    <a:gd name="T39" fmla="*/ 16 h 17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153"/>
                    <a:gd name="T61" fmla="*/ 0 h 17"/>
                    <a:gd name="T62" fmla="*/ 153 w 153"/>
                    <a:gd name="T63" fmla="*/ 17 h 17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153" h="17">
                      <a:moveTo>
                        <a:pt x="152" y="16"/>
                      </a:moveTo>
                      <a:lnTo>
                        <a:pt x="151" y="16"/>
                      </a:lnTo>
                      <a:lnTo>
                        <a:pt x="151" y="10"/>
                      </a:lnTo>
                      <a:lnTo>
                        <a:pt x="150" y="10"/>
                      </a:lnTo>
                      <a:lnTo>
                        <a:pt x="150" y="5"/>
                      </a:lnTo>
                      <a:lnTo>
                        <a:pt x="149" y="5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5"/>
                      </a:lnTo>
                      <a:lnTo>
                        <a:pt x="0" y="1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 cap="rnd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61" name="Freeform 168"/>
                <p:cNvSpPr>
                  <a:spLocks/>
                </p:cNvSpPr>
                <p:nvPr/>
              </p:nvSpPr>
              <p:spPr bwMode="auto">
                <a:xfrm>
                  <a:off x="3843" y="1489"/>
                  <a:ext cx="215" cy="72"/>
                </a:xfrm>
                <a:custGeom>
                  <a:avLst/>
                  <a:gdLst>
                    <a:gd name="T0" fmla="*/ 0 w 215"/>
                    <a:gd name="T1" fmla="*/ 71 h 72"/>
                    <a:gd name="T2" fmla="*/ 0 w 215"/>
                    <a:gd name="T3" fmla="*/ 0 h 72"/>
                    <a:gd name="T4" fmla="*/ 214 w 215"/>
                    <a:gd name="T5" fmla="*/ 0 h 72"/>
                    <a:gd name="T6" fmla="*/ 214 w 215"/>
                    <a:gd name="T7" fmla="*/ 71 h 72"/>
                    <a:gd name="T8" fmla="*/ 0 w 215"/>
                    <a:gd name="T9" fmla="*/ 71 h 7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15"/>
                    <a:gd name="T16" fmla="*/ 0 h 72"/>
                    <a:gd name="T17" fmla="*/ 215 w 215"/>
                    <a:gd name="T18" fmla="*/ 72 h 7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15" h="72">
                      <a:moveTo>
                        <a:pt x="0" y="71"/>
                      </a:moveTo>
                      <a:lnTo>
                        <a:pt x="0" y="0"/>
                      </a:lnTo>
                      <a:lnTo>
                        <a:pt x="214" y="0"/>
                      </a:lnTo>
                      <a:lnTo>
                        <a:pt x="214" y="71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62" name="Freeform 169"/>
                <p:cNvSpPr>
                  <a:spLocks/>
                </p:cNvSpPr>
                <p:nvPr/>
              </p:nvSpPr>
              <p:spPr bwMode="auto">
                <a:xfrm>
                  <a:off x="3841" y="1489"/>
                  <a:ext cx="219" cy="23"/>
                </a:xfrm>
                <a:custGeom>
                  <a:avLst/>
                  <a:gdLst>
                    <a:gd name="T0" fmla="*/ 79 w 219"/>
                    <a:gd name="T1" fmla="*/ 0 h 23"/>
                    <a:gd name="T2" fmla="*/ 0 w 219"/>
                    <a:gd name="T3" fmla="*/ 0 h 23"/>
                    <a:gd name="T4" fmla="*/ 0 w 219"/>
                    <a:gd name="T5" fmla="*/ 22 h 23"/>
                    <a:gd name="T6" fmla="*/ 218 w 219"/>
                    <a:gd name="T7" fmla="*/ 22 h 23"/>
                    <a:gd name="T8" fmla="*/ 215 w 219"/>
                    <a:gd name="T9" fmla="*/ 0 h 23"/>
                    <a:gd name="T10" fmla="*/ 137 w 219"/>
                    <a:gd name="T11" fmla="*/ 0 h 23"/>
                    <a:gd name="T12" fmla="*/ 79 w 219"/>
                    <a:gd name="T13" fmla="*/ 0 h 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19"/>
                    <a:gd name="T22" fmla="*/ 0 h 23"/>
                    <a:gd name="T23" fmla="*/ 219 w 219"/>
                    <a:gd name="T24" fmla="*/ 23 h 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9" h="23">
                      <a:moveTo>
                        <a:pt x="79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218" y="22"/>
                      </a:lnTo>
                      <a:lnTo>
                        <a:pt x="215" y="0"/>
                      </a:lnTo>
                      <a:lnTo>
                        <a:pt x="137" y="0"/>
                      </a:lnTo>
                      <a:lnTo>
                        <a:pt x="79" y="0"/>
                      </a:lnTo>
                    </a:path>
                  </a:pathLst>
                </a:custGeom>
                <a:solidFill>
                  <a:srgbClr val="EFEFD1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63" name="Freeform 170"/>
                <p:cNvSpPr>
                  <a:spLocks/>
                </p:cNvSpPr>
                <p:nvPr/>
              </p:nvSpPr>
              <p:spPr bwMode="auto">
                <a:xfrm>
                  <a:off x="3991" y="1495"/>
                  <a:ext cx="56" cy="17"/>
                </a:xfrm>
                <a:custGeom>
                  <a:avLst/>
                  <a:gdLst>
                    <a:gd name="T0" fmla="*/ 0 w 56"/>
                    <a:gd name="T1" fmla="*/ 6 h 17"/>
                    <a:gd name="T2" fmla="*/ 18 w 56"/>
                    <a:gd name="T3" fmla="*/ 6 h 17"/>
                    <a:gd name="T4" fmla="*/ 18 w 56"/>
                    <a:gd name="T5" fmla="*/ 0 h 17"/>
                    <a:gd name="T6" fmla="*/ 35 w 56"/>
                    <a:gd name="T7" fmla="*/ 0 h 17"/>
                    <a:gd name="T8" fmla="*/ 35 w 56"/>
                    <a:gd name="T9" fmla="*/ 6 h 17"/>
                    <a:gd name="T10" fmla="*/ 55 w 56"/>
                    <a:gd name="T11" fmla="*/ 6 h 17"/>
                    <a:gd name="T12" fmla="*/ 55 w 56"/>
                    <a:gd name="T13" fmla="*/ 10 h 17"/>
                    <a:gd name="T14" fmla="*/ 35 w 56"/>
                    <a:gd name="T15" fmla="*/ 10 h 17"/>
                    <a:gd name="T16" fmla="*/ 35 w 56"/>
                    <a:gd name="T17" fmla="*/ 16 h 17"/>
                    <a:gd name="T18" fmla="*/ 18 w 56"/>
                    <a:gd name="T19" fmla="*/ 16 h 17"/>
                    <a:gd name="T20" fmla="*/ 18 w 56"/>
                    <a:gd name="T21" fmla="*/ 10 h 17"/>
                    <a:gd name="T22" fmla="*/ 0 w 56"/>
                    <a:gd name="T23" fmla="*/ 10 h 17"/>
                    <a:gd name="T24" fmla="*/ 0 w 56"/>
                    <a:gd name="T25" fmla="*/ 6 h 17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56"/>
                    <a:gd name="T40" fmla="*/ 0 h 17"/>
                    <a:gd name="T41" fmla="*/ 56 w 56"/>
                    <a:gd name="T42" fmla="*/ 17 h 17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56" h="17">
                      <a:moveTo>
                        <a:pt x="0" y="6"/>
                      </a:moveTo>
                      <a:lnTo>
                        <a:pt x="18" y="6"/>
                      </a:lnTo>
                      <a:lnTo>
                        <a:pt x="18" y="0"/>
                      </a:lnTo>
                      <a:lnTo>
                        <a:pt x="35" y="0"/>
                      </a:lnTo>
                      <a:lnTo>
                        <a:pt x="35" y="6"/>
                      </a:lnTo>
                      <a:lnTo>
                        <a:pt x="55" y="6"/>
                      </a:lnTo>
                      <a:lnTo>
                        <a:pt x="55" y="10"/>
                      </a:lnTo>
                      <a:lnTo>
                        <a:pt x="35" y="10"/>
                      </a:lnTo>
                      <a:lnTo>
                        <a:pt x="35" y="16"/>
                      </a:lnTo>
                      <a:lnTo>
                        <a:pt x="18" y="16"/>
                      </a:lnTo>
                      <a:lnTo>
                        <a:pt x="18" y="10"/>
                      </a:lnTo>
                      <a:lnTo>
                        <a:pt x="0" y="10"/>
                      </a:lnTo>
                      <a:lnTo>
                        <a:pt x="0" y="6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64" name="Freeform 171"/>
                <p:cNvSpPr>
                  <a:spLocks/>
                </p:cNvSpPr>
                <p:nvPr/>
              </p:nvSpPr>
              <p:spPr bwMode="auto">
                <a:xfrm>
                  <a:off x="3991" y="1501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0 h 17"/>
                    <a:gd name="T4" fmla="*/ 16 w 17"/>
                    <a:gd name="T5" fmla="*/ 5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17"/>
                    <a:gd name="T14" fmla="*/ 17 w 17"/>
                    <a:gd name="T15" fmla="*/ 17 h 1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17">
                      <a:moveTo>
                        <a:pt x="0" y="16"/>
                      </a:moveTo>
                      <a:lnTo>
                        <a:pt x="16" y="10"/>
                      </a:lnTo>
                      <a:lnTo>
                        <a:pt x="16" y="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rnd">
                  <a:solidFill>
                    <a:srgbClr val="EFEFD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65" name="Freeform 172"/>
                <p:cNvSpPr>
                  <a:spLocks/>
                </p:cNvSpPr>
                <p:nvPr/>
              </p:nvSpPr>
              <p:spPr bwMode="auto">
                <a:xfrm>
                  <a:off x="4010" y="149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rnd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66" name="Freeform 173"/>
                <p:cNvSpPr>
                  <a:spLocks/>
                </p:cNvSpPr>
                <p:nvPr/>
              </p:nvSpPr>
              <p:spPr bwMode="auto">
                <a:xfrm>
                  <a:off x="4046" y="1504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rnd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67" name="Freeform 174"/>
                <p:cNvSpPr>
                  <a:spLocks/>
                </p:cNvSpPr>
                <p:nvPr/>
              </p:nvSpPr>
              <p:spPr bwMode="auto">
                <a:xfrm>
                  <a:off x="4027" y="1495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0 h 17"/>
                    <a:gd name="T4" fmla="*/ 0 w 17"/>
                    <a:gd name="T5" fmla="*/ 16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16"/>
                      </a:moveTo>
                      <a:lnTo>
                        <a:pt x="16" y="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 cap="rnd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68" name="Freeform 175"/>
                <p:cNvSpPr>
                  <a:spLocks/>
                </p:cNvSpPr>
                <p:nvPr/>
              </p:nvSpPr>
              <p:spPr bwMode="auto">
                <a:xfrm>
                  <a:off x="4011" y="1499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6 h 17"/>
                    <a:gd name="T4" fmla="*/ 16 w 17"/>
                    <a:gd name="T5" fmla="*/ 0 h 17"/>
                    <a:gd name="T6" fmla="*/ 0 w 17"/>
                    <a:gd name="T7" fmla="*/ 0 h 17"/>
                    <a:gd name="T8" fmla="*/ 0 w 17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16"/>
                      </a:moveTo>
                      <a:lnTo>
                        <a:pt x="16" y="16"/>
                      </a:lnTo>
                      <a:lnTo>
                        <a:pt x="16" y="0"/>
                      </a:lnTo>
                      <a:lnTo>
                        <a:pt x="0" y="0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F9FA2"/>
                </a:solidFill>
                <a:ln w="12700" cap="rnd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69" name="Freeform 176"/>
                <p:cNvSpPr>
                  <a:spLocks/>
                </p:cNvSpPr>
                <p:nvPr/>
              </p:nvSpPr>
              <p:spPr bwMode="auto">
                <a:xfrm>
                  <a:off x="3993" y="1502"/>
                  <a:ext cx="54" cy="17"/>
                </a:xfrm>
                <a:custGeom>
                  <a:avLst/>
                  <a:gdLst>
                    <a:gd name="T0" fmla="*/ 0 w 54"/>
                    <a:gd name="T1" fmla="*/ 0 h 17"/>
                    <a:gd name="T2" fmla="*/ 53 w 54"/>
                    <a:gd name="T3" fmla="*/ 0 h 17"/>
                    <a:gd name="T4" fmla="*/ 53 w 54"/>
                    <a:gd name="T5" fmla="*/ 16 h 17"/>
                    <a:gd name="T6" fmla="*/ 0 w 54"/>
                    <a:gd name="T7" fmla="*/ 16 h 17"/>
                    <a:gd name="T8" fmla="*/ 0 w 54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4"/>
                    <a:gd name="T16" fmla="*/ 0 h 17"/>
                    <a:gd name="T17" fmla="*/ 54 w 5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4" h="17">
                      <a:moveTo>
                        <a:pt x="0" y="0"/>
                      </a:moveTo>
                      <a:lnTo>
                        <a:pt x="53" y="0"/>
                      </a:lnTo>
                      <a:lnTo>
                        <a:pt x="53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70" name="Freeform 177"/>
                <p:cNvSpPr>
                  <a:spLocks/>
                </p:cNvSpPr>
                <p:nvPr/>
              </p:nvSpPr>
              <p:spPr bwMode="auto">
                <a:xfrm>
                  <a:off x="4010" y="1496"/>
                  <a:ext cx="19" cy="17"/>
                </a:xfrm>
                <a:custGeom>
                  <a:avLst/>
                  <a:gdLst>
                    <a:gd name="T0" fmla="*/ 18 w 19"/>
                    <a:gd name="T1" fmla="*/ 12 h 17"/>
                    <a:gd name="T2" fmla="*/ 17 w 19"/>
                    <a:gd name="T3" fmla="*/ 16 h 17"/>
                    <a:gd name="T4" fmla="*/ 17 w 19"/>
                    <a:gd name="T5" fmla="*/ 0 h 17"/>
                    <a:gd name="T6" fmla="*/ 0 w 19"/>
                    <a:gd name="T7" fmla="*/ 0 h 17"/>
                    <a:gd name="T8" fmla="*/ 0 w 19"/>
                    <a:gd name="T9" fmla="*/ 16 h 17"/>
                    <a:gd name="T10" fmla="*/ 0 w 19"/>
                    <a:gd name="T11" fmla="*/ 12 h 1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"/>
                    <a:gd name="T19" fmla="*/ 0 h 17"/>
                    <a:gd name="T20" fmla="*/ 19 w 19"/>
                    <a:gd name="T21" fmla="*/ 17 h 1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" h="17">
                      <a:moveTo>
                        <a:pt x="18" y="12"/>
                      </a:moveTo>
                      <a:lnTo>
                        <a:pt x="17" y="16"/>
                      </a:ln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6"/>
                      </a:lnTo>
                      <a:lnTo>
                        <a:pt x="0" y="12"/>
                      </a:lnTo>
                    </a:path>
                  </a:pathLst>
                </a:custGeom>
                <a:noFill/>
                <a:ln w="12700" cap="rnd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71" name="Freeform 178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16 w 17"/>
                    <a:gd name="T1" fmla="*/ 0 h 17"/>
                    <a:gd name="T2" fmla="*/ 16 w 17"/>
                    <a:gd name="T3" fmla="*/ 16 h 17"/>
                    <a:gd name="T4" fmla="*/ 0 w 17"/>
                    <a:gd name="T5" fmla="*/ 16 h 17"/>
                    <a:gd name="T6" fmla="*/ 0 w 17"/>
                    <a:gd name="T7" fmla="*/ 0 h 17"/>
                    <a:gd name="T8" fmla="*/ 16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16" y="0"/>
                      </a:move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  <a:lnTo>
                        <a:pt x="16" y="0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72" name="Freeform 179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73" name="Freeform 180"/>
                <p:cNvSpPr>
                  <a:spLocks/>
                </p:cNvSpPr>
                <p:nvPr/>
              </p:nvSpPr>
              <p:spPr bwMode="auto">
                <a:xfrm>
                  <a:off x="3930" y="1497"/>
                  <a:ext cx="44" cy="17"/>
                </a:xfrm>
                <a:custGeom>
                  <a:avLst/>
                  <a:gdLst>
                    <a:gd name="T0" fmla="*/ 14 w 44"/>
                    <a:gd name="T1" fmla="*/ 16 h 17"/>
                    <a:gd name="T2" fmla="*/ 0 w 44"/>
                    <a:gd name="T3" fmla="*/ 16 h 17"/>
                    <a:gd name="T4" fmla="*/ 0 w 44"/>
                    <a:gd name="T5" fmla="*/ 8 h 17"/>
                    <a:gd name="T6" fmla="*/ 14 w 44"/>
                    <a:gd name="T7" fmla="*/ 8 h 17"/>
                    <a:gd name="T8" fmla="*/ 14 w 44"/>
                    <a:gd name="T9" fmla="*/ 0 h 17"/>
                    <a:gd name="T10" fmla="*/ 28 w 44"/>
                    <a:gd name="T11" fmla="*/ 0 h 17"/>
                    <a:gd name="T12" fmla="*/ 28 w 44"/>
                    <a:gd name="T13" fmla="*/ 8 h 17"/>
                    <a:gd name="T14" fmla="*/ 43 w 44"/>
                    <a:gd name="T15" fmla="*/ 8 h 17"/>
                    <a:gd name="T16" fmla="*/ 43 w 44"/>
                    <a:gd name="T17" fmla="*/ 16 h 17"/>
                    <a:gd name="T18" fmla="*/ 28 w 44"/>
                    <a:gd name="T19" fmla="*/ 16 h 17"/>
                    <a:gd name="T20" fmla="*/ 14 w 44"/>
                    <a:gd name="T21" fmla="*/ 16 h 1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44"/>
                    <a:gd name="T34" fmla="*/ 0 h 17"/>
                    <a:gd name="T35" fmla="*/ 44 w 44"/>
                    <a:gd name="T36" fmla="*/ 17 h 17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44" h="17">
                      <a:moveTo>
                        <a:pt x="14" y="16"/>
                      </a:moveTo>
                      <a:lnTo>
                        <a:pt x="0" y="16"/>
                      </a:lnTo>
                      <a:lnTo>
                        <a:pt x="0" y="8"/>
                      </a:lnTo>
                      <a:lnTo>
                        <a:pt x="14" y="8"/>
                      </a:lnTo>
                      <a:lnTo>
                        <a:pt x="14" y="0"/>
                      </a:lnTo>
                      <a:lnTo>
                        <a:pt x="28" y="0"/>
                      </a:lnTo>
                      <a:lnTo>
                        <a:pt x="28" y="8"/>
                      </a:lnTo>
                      <a:lnTo>
                        <a:pt x="43" y="8"/>
                      </a:lnTo>
                      <a:lnTo>
                        <a:pt x="43" y="16"/>
                      </a:lnTo>
                      <a:lnTo>
                        <a:pt x="28" y="16"/>
                      </a:lnTo>
                      <a:lnTo>
                        <a:pt x="14" y="16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74" name="Freeform 181"/>
                <p:cNvSpPr>
                  <a:spLocks/>
                </p:cNvSpPr>
                <p:nvPr/>
              </p:nvSpPr>
              <p:spPr bwMode="auto">
                <a:xfrm>
                  <a:off x="3945" y="1497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75" name="Freeform 182"/>
                <p:cNvSpPr>
                  <a:spLocks/>
                </p:cNvSpPr>
                <p:nvPr/>
              </p:nvSpPr>
              <p:spPr bwMode="auto">
                <a:xfrm>
                  <a:off x="3897" y="1494"/>
                  <a:ext cx="20" cy="17"/>
                </a:xfrm>
                <a:custGeom>
                  <a:avLst/>
                  <a:gdLst>
                    <a:gd name="T0" fmla="*/ 5 w 20"/>
                    <a:gd name="T1" fmla="*/ 16 h 17"/>
                    <a:gd name="T2" fmla="*/ 3 w 20"/>
                    <a:gd name="T3" fmla="*/ 15 h 17"/>
                    <a:gd name="T4" fmla="*/ 2 w 20"/>
                    <a:gd name="T5" fmla="*/ 15 h 17"/>
                    <a:gd name="T6" fmla="*/ 1 w 20"/>
                    <a:gd name="T7" fmla="*/ 14 h 17"/>
                    <a:gd name="T8" fmla="*/ 1 w 20"/>
                    <a:gd name="T9" fmla="*/ 12 h 17"/>
                    <a:gd name="T10" fmla="*/ 0 w 20"/>
                    <a:gd name="T11" fmla="*/ 12 h 17"/>
                    <a:gd name="T12" fmla="*/ 0 w 20"/>
                    <a:gd name="T13" fmla="*/ 10 h 17"/>
                    <a:gd name="T14" fmla="*/ 0 w 20"/>
                    <a:gd name="T15" fmla="*/ 8 h 17"/>
                    <a:gd name="T16" fmla="*/ 0 w 20"/>
                    <a:gd name="T17" fmla="*/ 6 h 17"/>
                    <a:gd name="T18" fmla="*/ 0 w 20"/>
                    <a:gd name="T19" fmla="*/ 4 h 17"/>
                    <a:gd name="T20" fmla="*/ 0 w 20"/>
                    <a:gd name="T21" fmla="*/ 3 h 17"/>
                    <a:gd name="T22" fmla="*/ 1 w 20"/>
                    <a:gd name="T23" fmla="*/ 2 h 17"/>
                    <a:gd name="T24" fmla="*/ 2 w 20"/>
                    <a:gd name="T25" fmla="*/ 1 h 17"/>
                    <a:gd name="T26" fmla="*/ 3 w 20"/>
                    <a:gd name="T27" fmla="*/ 0 h 17"/>
                    <a:gd name="T28" fmla="*/ 4 w 20"/>
                    <a:gd name="T29" fmla="*/ 0 h 17"/>
                    <a:gd name="T30" fmla="*/ 5 w 20"/>
                    <a:gd name="T31" fmla="*/ 0 h 17"/>
                    <a:gd name="T32" fmla="*/ 12 w 20"/>
                    <a:gd name="T33" fmla="*/ 0 h 17"/>
                    <a:gd name="T34" fmla="*/ 13 w 20"/>
                    <a:gd name="T35" fmla="*/ 0 h 17"/>
                    <a:gd name="T36" fmla="*/ 15 w 20"/>
                    <a:gd name="T37" fmla="*/ 0 h 17"/>
                    <a:gd name="T38" fmla="*/ 16 w 20"/>
                    <a:gd name="T39" fmla="*/ 1 h 17"/>
                    <a:gd name="T40" fmla="*/ 17 w 20"/>
                    <a:gd name="T41" fmla="*/ 3 h 17"/>
                    <a:gd name="T42" fmla="*/ 17 w 20"/>
                    <a:gd name="T43" fmla="*/ 3 h 17"/>
                    <a:gd name="T44" fmla="*/ 18 w 20"/>
                    <a:gd name="T45" fmla="*/ 5 h 17"/>
                    <a:gd name="T46" fmla="*/ 18 w 20"/>
                    <a:gd name="T47" fmla="*/ 7 h 17"/>
                    <a:gd name="T48" fmla="*/ 18 w 20"/>
                    <a:gd name="T49" fmla="*/ 8 h 17"/>
                    <a:gd name="T50" fmla="*/ 18 w 20"/>
                    <a:gd name="T51" fmla="*/ 10 h 17"/>
                    <a:gd name="T52" fmla="*/ 17 w 20"/>
                    <a:gd name="T53" fmla="*/ 12 h 17"/>
                    <a:gd name="T54" fmla="*/ 16 w 20"/>
                    <a:gd name="T55" fmla="*/ 13 h 17"/>
                    <a:gd name="T56" fmla="*/ 15 w 20"/>
                    <a:gd name="T57" fmla="*/ 15 h 17"/>
                    <a:gd name="T58" fmla="*/ 13 w 20"/>
                    <a:gd name="T59" fmla="*/ 15 h 17"/>
                    <a:gd name="T60" fmla="*/ 13 w 20"/>
                    <a:gd name="T61" fmla="*/ 16 h 17"/>
                    <a:gd name="T62" fmla="*/ 12 w 20"/>
                    <a:gd name="T63" fmla="*/ 16 h 17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20"/>
                    <a:gd name="T97" fmla="*/ 0 h 17"/>
                    <a:gd name="T98" fmla="*/ 20 w 20"/>
                    <a:gd name="T99" fmla="*/ 17 h 17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20" h="17">
                      <a:moveTo>
                        <a:pt x="5" y="16"/>
                      </a:moveTo>
                      <a:lnTo>
                        <a:pt x="5" y="16"/>
                      </a:lnTo>
                      <a:lnTo>
                        <a:pt x="4" y="16"/>
                      </a:lnTo>
                      <a:lnTo>
                        <a:pt x="3" y="15"/>
                      </a:lnTo>
                      <a:lnTo>
                        <a:pt x="2" y="15"/>
                      </a:lnTo>
                      <a:lnTo>
                        <a:pt x="2" y="14"/>
                      </a:lnTo>
                      <a:lnTo>
                        <a:pt x="1" y="14"/>
                      </a:lnTo>
                      <a:lnTo>
                        <a:pt x="1" y="13"/>
                      </a:lnTo>
                      <a:lnTo>
                        <a:pt x="1" y="12"/>
                      </a:lnTo>
                      <a:lnTo>
                        <a:pt x="0" y="12"/>
                      </a:lnTo>
                      <a:lnTo>
                        <a:pt x="0" y="11"/>
                      </a:lnTo>
                      <a:lnTo>
                        <a:pt x="0" y="10"/>
                      </a:lnTo>
                      <a:lnTo>
                        <a:pt x="0" y="9"/>
                      </a:lnTo>
                      <a:lnTo>
                        <a:pt x="0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1" y="3"/>
                      </a:lnTo>
                      <a:lnTo>
                        <a:pt x="1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5" y="0"/>
                      </a:lnTo>
                      <a:lnTo>
                        <a:pt x="12" y="0"/>
                      </a:lnTo>
                      <a:lnTo>
                        <a:pt x="13" y="0"/>
                      </a:lnTo>
                      <a:lnTo>
                        <a:pt x="15" y="0"/>
                      </a:lnTo>
                      <a:lnTo>
                        <a:pt x="16" y="1"/>
                      </a:lnTo>
                      <a:lnTo>
                        <a:pt x="16" y="2"/>
                      </a:lnTo>
                      <a:lnTo>
                        <a:pt x="17" y="3"/>
                      </a:lnTo>
                      <a:lnTo>
                        <a:pt x="18" y="4"/>
                      </a:lnTo>
                      <a:lnTo>
                        <a:pt x="18" y="5"/>
                      </a:lnTo>
                      <a:lnTo>
                        <a:pt x="18" y="6"/>
                      </a:lnTo>
                      <a:lnTo>
                        <a:pt x="18" y="7"/>
                      </a:lnTo>
                      <a:lnTo>
                        <a:pt x="19" y="8"/>
                      </a:lnTo>
                      <a:lnTo>
                        <a:pt x="18" y="8"/>
                      </a:lnTo>
                      <a:lnTo>
                        <a:pt x="18" y="9"/>
                      </a:lnTo>
                      <a:lnTo>
                        <a:pt x="18" y="10"/>
                      </a:lnTo>
                      <a:lnTo>
                        <a:pt x="18" y="11"/>
                      </a:lnTo>
                      <a:lnTo>
                        <a:pt x="17" y="12"/>
                      </a:lnTo>
                      <a:lnTo>
                        <a:pt x="16" y="13"/>
                      </a:lnTo>
                      <a:lnTo>
                        <a:pt x="16" y="14"/>
                      </a:lnTo>
                      <a:lnTo>
                        <a:pt x="15" y="15"/>
                      </a:lnTo>
                      <a:lnTo>
                        <a:pt x="13" y="15"/>
                      </a:lnTo>
                      <a:lnTo>
                        <a:pt x="13" y="16"/>
                      </a:lnTo>
                      <a:lnTo>
                        <a:pt x="12" y="16"/>
                      </a:lnTo>
                      <a:lnTo>
                        <a:pt x="5" y="16"/>
                      </a:lnTo>
                    </a:path>
                  </a:pathLst>
                </a:custGeom>
                <a:solidFill>
                  <a:srgbClr val="666666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76" name="Freeform 183"/>
                <p:cNvSpPr>
                  <a:spLocks/>
                </p:cNvSpPr>
                <p:nvPr/>
              </p:nvSpPr>
              <p:spPr bwMode="auto">
                <a:xfrm>
                  <a:off x="3921" y="1489"/>
                  <a:ext cx="17" cy="38"/>
                </a:xfrm>
                <a:custGeom>
                  <a:avLst/>
                  <a:gdLst>
                    <a:gd name="T0" fmla="*/ 8 w 17"/>
                    <a:gd name="T1" fmla="*/ 0 h 38"/>
                    <a:gd name="T2" fmla="*/ 0 w 17"/>
                    <a:gd name="T3" fmla="*/ 22 h 38"/>
                    <a:gd name="T4" fmla="*/ 16 w 17"/>
                    <a:gd name="T5" fmla="*/ 22 h 38"/>
                    <a:gd name="T6" fmla="*/ 16 w 17"/>
                    <a:gd name="T7" fmla="*/ 37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38"/>
                    <a:gd name="T14" fmla="*/ 17 w 17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38">
                      <a:moveTo>
                        <a:pt x="8" y="0"/>
                      </a:moveTo>
                      <a:lnTo>
                        <a:pt x="0" y="22"/>
                      </a:lnTo>
                      <a:lnTo>
                        <a:pt x="16" y="22"/>
                      </a:lnTo>
                      <a:lnTo>
                        <a:pt x="16" y="37"/>
                      </a:lnTo>
                    </a:path>
                  </a:pathLst>
                </a:custGeom>
                <a:noFill/>
                <a:ln w="12700" cap="rnd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77" name="Freeform 184"/>
                <p:cNvSpPr>
                  <a:spLocks/>
                </p:cNvSpPr>
                <p:nvPr/>
              </p:nvSpPr>
              <p:spPr bwMode="auto">
                <a:xfrm>
                  <a:off x="3979" y="1489"/>
                  <a:ext cx="17" cy="72"/>
                </a:xfrm>
                <a:custGeom>
                  <a:avLst/>
                  <a:gdLst>
                    <a:gd name="T0" fmla="*/ 0 w 17"/>
                    <a:gd name="T1" fmla="*/ 0 h 72"/>
                    <a:gd name="T2" fmla="*/ 16 w 17"/>
                    <a:gd name="T3" fmla="*/ 22 h 72"/>
                    <a:gd name="T4" fmla="*/ 0 w 17"/>
                    <a:gd name="T5" fmla="*/ 22 h 72"/>
                    <a:gd name="T6" fmla="*/ 0 w 17"/>
                    <a:gd name="T7" fmla="*/ 71 h 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72"/>
                    <a:gd name="T14" fmla="*/ 17 w 17"/>
                    <a:gd name="T15" fmla="*/ 72 h 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72">
                      <a:moveTo>
                        <a:pt x="0" y="0"/>
                      </a:moveTo>
                      <a:lnTo>
                        <a:pt x="16" y="22"/>
                      </a:lnTo>
                      <a:lnTo>
                        <a:pt x="0" y="22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 cap="rnd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78" name="Freeform 185"/>
                <p:cNvSpPr>
                  <a:spLocks/>
                </p:cNvSpPr>
                <p:nvPr/>
              </p:nvSpPr>
              <p:spPr bwMode="auto">
                <a:xfrm>
                  <a:off x="3855" y="1532"/>
                  <a:ext cx="250" cy="41"/>
                </a:xfrm>
                <a:custGeom>
                  <a:avLst/>
                  <a:gdLst>
                    <a:gd name="T0" fmla="*/ 0 w 250"/>
                    <a:gd name="T1" fmla="*/ 40 h 41"/>
                    <a:gd name="T2" fmla="*/ 249 w 250"/>
                    <a:gd name="T3" fmla="*/ 40 h 41"/>
                    <a:gd name="T4" fmla="*/ 240 w 250"/>
                    <a:gd name="T5" fmla="*/ 0 h 41"/>
                    <a:gd name="T6" fmla="*/ 10 w 250"/>
                    <a:gd name="T7" fmla="*/ 0 h 41"/>
                    <a:gd name="T8" fmla="*/ 0 w 250"/>
                    <a:gd name="T9" fmla="*/ 40 h 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0"/>
                    <a:gd name="T16" fmla="*/ 0 h 41"/>
                    <a:gd name="T17" fmla="*/ 250 w 250"/>
                    <a:gd name="T18" fmla="*/ 41 h 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0" h="41">
                      <a:moveTo>
                        <a:pt x="0" y="40"/>
                      </a:moveTo>
                      <a:lnTo>
                        <a:pt x="249" y="40"/>
                      </a:lnTo>
                      <a:lnTo>
                        <a:pt x="240" y="0"/>
                      </a:lnTo>
                      <a:lnTo>
                        <a:pt x="10" y="0"/>
                      </a:lnTo>
                      <a:lnTo>
                        <a:pt x="0" y="40"/>
                      </a:lnTo>
                    </a:path>
                  </a:pathLst>
                </a:custGeom>
                <a:solidFill>
                  <a:srgbClr val="EFEFD1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79" name="Freeform 186"/>
                <p:cNvSpPr>
                  <a:spLocks/>
                </p:cNvSpPr>
                <p:nvPr/>
              </p:nvSpPr>
              <p:spPr bwMode="auto">
                <a:xfrm>
                  <a:off x="3855" y="1572"/>
                  <a:ext cx="251" cy="17"/>
                </a:xfrm>
                <a:custGeom>
                  <a:avLst/>
                  <a:gdLst>
                    <a:gd name="T0" fmla="*/ 0 w 251"/>
                    <a:gd name="T1" fmla="*/ 16 h 17"/>
                    <a:gd name="T2" fmla="*/ 0 w 251"/>
                    <a:gd name="T3" fmla="*/ 0 h 17"/>
                    <a:gd name="T4" fmla="*/ 249 w 251"/>
                    <a:gd name="T5" fmla="*/ 0 h 17"/>
                    <a:gd name="T6" fmla="*/ 250 w 251"/>
                    <a:gd name="T7" fmla="*/ 16 h 17"/>
                    <a:gd name="T8" fmla="*/ 0 w 251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1"/>
                    <a:gd name="T16" fmla="*/ 0 h 17"/>
                    <a:gd name="T17" fmla="*/ 251 w 251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1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249" y="0"/>
                      </a:lnTo>
                      <a:lnTo>
                        <a:pt x="250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CCCC6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80" name="Freeform 187"/>
                <p:cNvSpPr>
                  <a:spLocks/>
                </p:cNvSpPr>
                <p:nvPr/>
              </p:nvSpPr>
              <p:spPr bwMode="auto">
                <a:xfrm>
                  <a:off x="3872" y="1538"/>
                  <a:ext cx="223" cy="28"/>
                </a:xfrm>
                <a:custGeom>
                  <a:avLst/>
                  <a:gdLst>
                    <a:gd name="T0" fmla="*/ 0 w 223"/>
                    <a:gd name="T1" fmla="*/ 27 h 28"/>
                    <a:gd name="T2" fmla="*/ 222 w 223"/>
                    <a:gd name="T3" fmla="*/ 27 h 28"/>
                    <a:gd name="T4" fmla="*/ 214 w 223"/>
                    <a:gd name="T5" fmla="*/ 0 h 28"/>
                    <a:gd name="T6" fmla="*/ 8 w 223"/>
                    <a:gd name="T7" fmla="*/ 0 h 28"/>
                    <a:gd name="T8" fmla="*/ 0 w 223"/>
                    <a:gd name="T9" fmla="*/ 27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3"/>
                    <a:gd name="T16" fmla="*/ 0 h 28"/>
                    <a:gd name="T17" fmla="*/ 223 w 223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3" h="28">
                      <a:moveTo>
                        <a:pt x="0" y="27"/>
                      </a:moveTo>
                      <a:lnTo>
                        <a:pt x="222" y="27"/>
                      </a:lnTo>
                      <a:lnTo>
                        <a:pt x="214" y="0"/>
                      </a:lnTo>
                      <a:lnTo>
                        <a:pt x="8" y="0"/>
                      </a:lnTo>
                      <a:lnTo>
                        <a:pt x="0" y="27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7064" name="Group 188"/>
              <p:cNvGrpSpPr>
                <a:grpSpLocks/>
              </p:cNvGrpSpPr>
              <p:nvPr/>
            </p:nvGrpSpPr>
            <p:grpSpPr bwMode="auto">
              <a:xfrm>
                <a:off x="810" y="3877"/>
                <a:ext cx="248" cy="201"/>
                <a:chOff x="3840" y="1279"/>
                <a:chExt cx="266" cy="310"/>
              </a:xfrm>
            </p:grpSpPr>
            <p:sp>
              <p:nvSpPr>
                <p:cNvPr id="27069" name="Freeform 189"/>
                <p:cNvSpPr>
                  <a:spLocks/>
                </p:cNvSpPr>
                <p:nvPr/>
              </p:nvSpPr>
              <p:spPr bwMode="auto">
                <a:xfrm>
                  <a:off x="3848" y="1548"/>
                  <a:ext cx="206" cy="20"/>
                </a:xfrm>
                <a:custGeom>
                  <a:avLst/>
                  <a:gdLst>
                    <a:gd name="T0" fmla="*/ 0 w 206"/>
                    <a:gd name="T1" fmla="*/ 19 h 20"/>
                    <a:gd name="T2" fmla="*/ 0 w 206"/>
                    <a:gd name="T3" fmla="*/ 0 h 20"/>
                    <a:gd name="T4" fmla="*/ 205 w 206"/>
                    <a:gd name="T5" fmla="*/ 0 h 20"/>
                    <a:gd name="T6" fmla="*/ 205 w 206"/>
                    <a:gd name="T7" fmla="*/ 19 h 20"/>
                    <a:gd name="T8" fmla="*/ 0 w 206"/>
                    <a:gd name="T9" fmla="*/ 19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6"/>
                    <a:gd name="T16" fmla="*/ 0 h 20"/>
                    <a:gd name="T17" fmla="*/ 206 w 206"/>
                    <a:gd name="T18" fmla="*/ 20 h 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6" h="20">
                      <a:moveTo>
                        <a:pt x="0" y="19"/>
                      </a:moveTo>
                      <a:lnTo>
                        <a:pt x="0" y="0"/>
                      </a:lnTo>
                      <a:lnTo>
                        <a:pt x="205" y="0"/>
                      </a:lnTo>
                      <a:lnTo>
                        <a:pt x="205" y="19"/>
                      </a:lnTo>
                      <a:lnTo>
                        <a:pt x="0" y="19"/>
                      </a:lnTo>
                    </a:path>
                  </a:pathLst>
                </a:custGeom>
                <a:solidFill>
                  <a:srgbClr val="666666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70" name="Freeform 190"/>
                <p:cNvSpPr>
                  <a:spLocks/>
                </p:cNvSpPr>
                <p:nvPr/>
              </p:nvSpPr>
              <p:spPr bwMode="auto">
                <a:xfrm>
                  <a:off x="3840" y="1453"/>
                  <a:ext cx="220" cy="34"/>
                </a:xfrm>
                <a:custGeom>
                  <a:avLst/>
                  <a:gdLst>
                    <a:gd name="T0" fmla="*/ 189 w 220"/>
                    <a:gd name="T1" fmla="*/ 0 h 34"/>
                    <a:gd name="T2" fmla="*/ 219 w 220"/>
                    <a:gd name="T3" fmla="*/ 33 h 34"/>
                    <a:gd name="T4" fmla="*/ 0 w 220"/>
                    <a:gd name="T5" fmla="*/ 33 h 34"/>
                    <a:gd name="T6" fmla="*/ 29 w 220"/>
                    <a:gd name="T7" fmla="*/ 0 h 34"/>
                    <a:gd name="T8" fmla="*/ 189 w 220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34"/>
                    <a:gd name="T17" fmla="*/ 220 w 220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34">
                      <a:moveTo>
                        <a:pt x="189" y="0"/>
                      </a:moveTo>
                      <a:lnTo>
                        <a:pt x="219" y="33"/>
                      </a:lnTo>
                      <a:lnTo>
                        <a:pt x="0" y="33"/>
                      </a:lnTo>
                      <a:lnTo>
                        <a:pt x="29" y="0"/>
                      </a:lnTo>
                      <a:lnTo>
                        <a:pt x="189" y="0"/>
                      </a:lnTo>
                    </a:path>
                  </a:pathLst>
                </a:custGeom>
                <a:solidFill>
                  <a:srgbClr val="EFEFD1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71" name="Freeform 191"/>
                <p:cNvSpPr>
                  <a:spLocks/>
                </p:cNvSpPr>
                <p:nvPr/>
              </p:nvSpPr>
              <p:spPr bwMode="auto">
                <a:xfrm>
                  <a:off x="3897" y="1449"/>
                  <a:ext cx="104" cy="24"/>
                </a:xfrm>
                <a:custGeom>
                  <a:avLst/>
                  <a:gdLst>
                    <a:gd name="T0" fmla="*/ 102 w 104"/>
                    <a:gd name="T1" fmla="*/ 10 h 24"/>
                    <a:gd name="T2" fmla="*/ 101 w 104"/>
                    <a:gd name="T3" fmla="*/ 8 h 24"/>
                    <a:gd name="T4" fmla="*/ 97 w 104"/>
                    <a:gd name="T5" fmla="*/ 6 h 24"/>
                    <a:gd name="T6" fmla="*/ 93 w 104"/>
                    <a:gd name="T7" fmla="*/ 4 h 24"/>
                    <a:gd name="T8" fmla="*/ 87 w 104"/>
                    <a:gd name="T9" fmla="*/ 3 h 24"/>
                    <a:gd name="T10" fmla="*/ 80 w 104"/>
                    <a:gd name="T11" fmla="*/ 2 h 24"/>
                    <a:gd name="T12" fmla="*/ 72 w 104"/>
                    <a:gd name="T13" fmla="*/ 1 h 24"/>
                    <a:gd name="T14" fmla="*/ 64 w 104"/>
                    <a:gd name="T15" fmla="*/ 0 h 24"/>
                    <a:gd name="T16" fmla="*/ 55 w 104"/>
                    <a:gd name="T17" fmla="*/ 0 h 24"/>
                    <a:gd name="T18" fmla="*/ 46 w 104"/>
                    <a:gd name="T19" fmla="*/ 0 h 24"/>
                    <a:gd name="T20" fmla="*/ 37 w 104"/>
                    <a:gd name="T21" fmla="*/ 0 h 24"/>
                    <a:gd name="T22" fmla="*/ 29 w 104"/>
                    <a:gd name="T23" fmla="*/ 1 h 24"/>
                    <a:gd name="T24" fmla="*/ 21 w 104"/>
                    <a:gd name="T25" fmla="*/ 2 h 24"/>
                    <a:gd name="T26" fmla="*/ 14 w 104"/>
                    <a:gd name="T27" fmla="*/ 3 h 24"/>
                    <a:gd name="T28" fmla="*/ 8 w 104"/>
                    <a:gd name="T29" fmla="*/ 4 h 24"/>
                    <a:gd name="T30" fmla="*/ 4 w 104"/>
                    <a:gd name="T31" fmla="*/ 6 h 24"/>
                    <a:gd name="T32" fmla="*/ 1 w 104"/>
                    <a:gd name="T33" fmla="*/ 8 h 24"/>
                    <a:gd name="T34" fmla="*/ 0 w 104"/>
                    <a:gd name="T35" fmla="*/ 10 h 24"/>
                    <a:gd name="T36" fmla="*/ 0 w 104"/>
                    <a:gd name="T37" fmla="*/ 12 h 24"/>
                    <a:gd name="T38" fmla="*/ 1 w 104"/>
                    <a:gd name="T39" fmla="*/ 14 h 24"/>
                    <a:gd name="T40" fmla="*/ 4 w 104"/>
                    <a:gd name="T41" fmla="*/ 16 h 24"/>
                    <a:gd name="T42" fmla="*/ 8 w 104"/>
                    <a:gd name="T43" fmla="*/ 17 h 24"/>
                    <a:gd name="T44" fmla="*/ 14 w 104"/>
                    <a:gd name="T45" fmla="*/ 19 h 24"/>
                    <a:gd name="T46" fmla="*/ 21 w 104"/>
                    <a:gd name="T47" fmla="*/ 20 h 24"/>
                    <a:gd name="T48" fmla="*/ 29 w 104"/>
                    <a:gd name="T49" fmla="*/ 21 h 24"/>
                    <a:gd name="T50" fmla="*/ 37 w 104"/>
                    <a:gd name="T51" fmla="*/ 22 h 24"/>
                    <a:gd name="T52" fmla="*/ 46 w 104"/>
                    <a:gd name="T53" fmla="*/ 23 h 24"/>
                    <a:gd name="T54" fmla="*/ 55 w 104"/>
                    <a:gd name="T55" fmla="*/ 23 h 24"/>
                    <a:gd name="T56" fmla="*/ 64 w 104"/>
                    <a:gd name="T57" fmla="*/ 22 h 24"/>
                    <a:gd name="T58" fmla="*/ 72 w 104"/>
                    <a:gd name="T59" fmla="*/ 21 h 24"/>
                    <a:gd name="T60" fmla="*/ 80 w 104"/>
                    <a:gd name="T61" fmla="*/ 20 h 24"/>
                    <a:gd name="T62" fmla="*/ 87 w 104"/>
                    <a:gd name="T63" fmla="*/ 19 h 24"/>
                    <a:gd name="T64" fmla="*/ 93 w 104"/>
                    <a:gd name="T65" fmla="*/ 17 h 24"/>
                    <a:gd name="T66" fmla="*/ 97 w 104"/>
                    <a:gd name="T67" fmla="*/ 16 h 24"/>
                    <a:gd name="T68" fmla="*/ 101 w 104"/>
                    <a:gd name="T69" fmla="*/ 14 h 24"/>
                    <a:gd name="T70" fmla="*/ 102 w 104"/>
                    <a:gd name="T71" fmla="*/ 12 h 24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104"/>
                    <a:gd name="T109" fmla="*/ 0 h 24"/>
                    <a:gd name="T110" fmla="*/ 104 w 104"/>
                    <a:gd name="T111" fmla="*/ 24 h 24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104" h="24">
                      <a:moveTo>
                        <a:pt x="103" y="11"/>
                      </a:moveTo>
                      <a:lnTo>
                        <a:pt x="102" y="10"/>
                      </a:lnTo>
                      <a:lnTo>
                        <a:pt x="102" y="9"/>
                      </a:lnTo>
                      <a:lnTo>
                        <a:pt x="101" y="8"/>
                      </a:lnTo>
                      <a:lnTo>
                        <a:pt x="99" y="7"/>
                      </a:lnTo>
                      <a:lnTo>
                        <a:pt x="97" y="6"/>
                      </a:lnTo>
                      <a:lnTo>
                        <a:pt x="95" y="6"/>
                      </a:lnTo>
                      <a:lnTo>
                        <a:pt x="93" y="4"/>
                      </a:lnTo>
                      <a:lnTo>
                        <a:pt x="90" y="4"/>
                      </a:lnTo>
                      <a:lnTo>
                        <a:pt x="87" y="3"/>
                      </a:lnTo>
                      <a:lnTo>
                        <a:pt x="84" y="2"/>
                      </a:lnTo>
                      <a:lnTo>
                        <a:pt x="80" y="2"/>
                      </a:lnTo>
                      <a:lnTo>
                        <a:pt x="76" y="1"/>
                      </a:lnTo>
                      <a:lnTo>
                        <a:pt x="72" y="1"/>
                      </a:lnTo>
                      <a:lnTo>
                        <a:pt x="69" y="0"/>
                      </a:lnTo>
                      <a:lnTo>
                        <a:pt x="64" y="0"/>
                      </a:lnTo>
                      <a:lnTo>
                        <a:pt x="60" y="0"/>
                      </a:lnTo>
                      <a:lnTo>
                        <a:pt x="55" y="0"/>
                      </a:lnTo>
                      <a:lnTo>
                        <a:pt x="51" y="0"/>
                      </a:lnTo>
                      <a:lnTo>
                        <a:pt x="46" y="0"/>
                      </a:lnTo>
                      <a:lnTo>
                        <a:pt x="42" y="0"/>
                      </a:lnTo>
                      <a:lnTo>
                        <a:pt x="37" y="0"/>
                      </a:lnTo>
                      <a:lnTo>
                        <a:pt x="33" y="0"/>
                      </a:lnTo>
                      <a:lnTo>
                        <a:pt x="29" y="1"/>
                      </a:lnTo>
                      <a:lnTo>
                        <a:pt x="25" y="1"/>
                      </a:lnTo>
                      <a:lnTo>
                        <a:pt x="21" y="2"/>
                      </a:lnTo>
                      <a:lnTo>
                        <a:pt x="17" y="2"/>
                      </a:lnTo>
                      <a:lnTo>
                        <a:pt x="14" y="3"/>
                      </a:lnTo>
                      <a:lnTo>
                        <a:pt x="12" y="4"/>
                      </a:lnTo>
                      <a:lnTo>
                        <a:pt x="8" y="4"/>
                      </a:lnTo>
                      <a:lnTo>
                        <a:pt x="6" y="6"/>
                      </a:lnTo>
                      <a:lnTo>
                        <a:pt x="4" y="6"/>
                      </a:lnTo>
                      <a:lnTo>
                        <a:pt x="3" y="7"/>
                      </a:lnTo>
                      <a:lnTo>
                        <a:pt x="1" y="8"/>
                      </a:lnTo>
                      <a:lnTo>
                        <a:pt x="0" y="9"/>
                      </a:lnTo>
                      <a:lnTo>
                        <a:pt x="0" y="10"/>
                      </a:lnTo>
                      <a:lnTo>
                        <a:pt x="0" y="11"/>
                      </a:lnTo>
                      <a:lnTo>
                        <a:pt x="0" y="12"/>
                      </a:lnTo>
                      <a:lnTo>
                        <a:pt x="0" y="13"/>
                      </a:lnTo>
                      <a:lnTo>
                        <a:pt x="1" y="14"/>
                      </a:lnTo>
                      <a:lnTo>
                        <a:pt x="3" y="15"/>
                      </a:lnTo>
                      <a:lnTo>
                        <a:pt x="4" y="16"/>
                      </a:lnTo>
                      <a:lnTo>
                        <a:pt x="6" y="17"/>
                      </a:lnTo>
                      <a:lnTo>
                        <a:pt x="8" y="17"/>
                      </a:lnTo>
                      <a:lnTo>
                        <a:pt x="12" y="18"/>
                      </a:lnTo>
                      <a:lnTo>
                        <a:pt x="14" y="19"/>
                      </a:lnTo>
                      <a:lnTo>
                        <a:pt x="17" y="20"/>
                      </a:lnTo>
                      <a:lnTo>
                        <a:pt x="21" y="20"/>
                      </a:lnTo>
                      <a:lnTo>
                        <a:pt x="25" y="21"/>
                      </a:lnTo>
                      <a:lnTo>
                        <a:pt x="29" y="21"/>
                      </a:lnTo>
                      <a:lnTo>
                        <a:pt x="33" y="22"/>
                      </a:lnTo>
                      <a:lnTo>
                        <a:pt x="37" y="22"/>
                      </a:lnTo>
                      <a:lnTo>
                        <a:pt x="42" y="22"/>
                      </a:lnTo>
                      <a:lnTo>
                        <a:pt x="46" y="23"/>
                      </a:lnTo>
                      <a:lnTo>
                        <a:pt x="51" y="23"/>
                      </a:lnTo>
                      <a:lnTo>
                        <a:pt x="55" y="23"/>
                      </a:lnTo>
                      <a:lnTo>
                        <a:pt x="60" y="22"/>
                      </a:lnTo>
                      <a:lnTo>
                        <a:pt x="64" y="22"/>
                      </a:lnTo>
                      <a:lnTo>
                        <a:pt x="69" y="22"/>
                      </a:lnTo>
                      <a:lnTo>
                        <a:pt x="72" y="21"/>
                      </a:lnTo>
                      <a:lnTo>
                        <a:pt x="76" y="21"/>
                      </a:lnTo>
                      <a:lnTo>
                        <a:pt x="80" y="20"/>
                      </a:lnTo>
                      <a:lnTo>
                        <a:pt x="84" y="20"/>
                      </a:lnTo>
                      <a:lnTo>
                        <a:pt x="87" y="19"/>
                      </a:lnTo>
                      <a:lnTo>
                        <a:pt x="90" y="18"/>
                      </a:lnTo>
                      <a:lnTo>
                        <a:pt x="93" y="17"/>
                      </a:lnTo>
                      <a:lnTo>
                        <a:pt x="95" y="17"/>
                      </a:lnTo>
                      <a:lnTo>
                        <a:pt x="97" y="16"/>
                      </a:lnTo>
                      <a:lnTo>
                        <a:pt x="99" y="15"/>
                      </a:lnTo>
                      <a:lnTo>
                        <a:pt x="101" y="14"/>
                      </a:lnTo>
                      <a:lnTo>
                        <a:pt x="102" y="13"/>
                      </a:lnTo>
                      <a:lnTo>
                        <a:pt x="102" y="12"/>
                      </a:lnTo>
                      <a:lnTo>
                        <a:pt x="103" y="11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72" name="Freeform 192"/>
                <p:cNvSpPr>
                  <a:spLocks/>
                </p:cNvSpPr>
                <p:nvPr/>
              </p:nvSpPr>
              <p:spPr bwMode="auto">
                <a:xfrm>
                  <a:off x="3897" y="1461"/>
                  <a:ext cx="104" cy="17"/>
                </a:xfrm>
                <a:custGeom>
                  <a:avLst/>
                  <a:gdLst>
                    <a:gd name="T0" fmla="*/ 102 w 104"/>
                    <a:gd name="T1" fmla="*/ 6 h 17"/>
                    <a:gd name="T2" fmla="*/ 101 w 104"/>
                    <a:gd name="T3" fmla="*/ 8 h 17"/>
                    <a:gd name="T4" fmla="*/ 97 w 104"/>
                    <a:gd name="T5" fmla="*/ 10 h 17"/>
                    <a:gd name="T6" fmla="*/ 93 w 104"/>
                    <a:gd name="T7" fmla="*/ 11 h 17"/>
                    <a:gd name="T8" fmla="*/ 87 w 104"/>
                    <a:gd name="T9" fmla="*/ 12 h 17"/>
                    <a:gd name="T10" fmla="*/ 80 w 104"/>
                    <a:gd name="T11" fmla="*/ 14 h 17"/>
                    <a:gd name="T12" fmla="*/ 72 w 104"/>
                    <a:gd name="T13" fmla="*/ 14 h 17"/>
                    <a:gd name="T14" fmla="*/ 64 w 104"/>
                    <a:gd name="T15" fmla="*/ 15 h 17"/>
                    <a:gd name="T16" fmla="*/ 55 w 104"/>
                    <a:gd name="T17" fmla="*/ 16 h 17"/>
                    <a:gd name="T18" fmla="*/ 46 w 104"/>
                    <a:gd name="T19" fmla="*/ 16 h 17"/>
                    <a:gd name="T20" fmla="*/ 37 w 104"/>
                    <a:gd name="T21" fmla="*/ 15 h 17"/>
                    <a:gd name="T22" fmla="*/ 29 w 104"/>
                    <a:gd name="T23" fmla="*/ 14 h 17"/>
                    <a:gd name="T24" fmla="*/ 21 w 104"/>
                    <a:gd name="T25" fmla="*/ 14 h 17"/>
                    <a:gd name="T26" fmla="*/ 14 w 104"/>
                    <a:gd name="T27" fmla="*/ 12 h 17"/>
                    <a:gd name="T28" fmla="*/ 8 w 104"/>
                    <a:gd name="T29" fmla="*/ 11 h 17"/>
                    <a:gd name="T30" fmla="*/ 4 w 104"/>
                    <a:gd name="T31" fmla="*/ 10 h 17"/>
                    <a:gd name="T32" fmla="*/ 1 w 104"/>
                    <a:gd name="T33" fmla="*/ 8 h 17"/>
                    <a:gd name="T34" fmla="*/ 0 w 104"/>
                    <a:gd name="T35" fmla="*/ 6 h 17"/>
                    <a:gd name="T36" fmla="*/ 0 w 104"/>
                    <a:gd name="T37" fmla="*/ 0 h 17"/>
                    <a:gd name="T38" fmla="*/ 0 w 104"/>
                    <a:gd name="T39" fmla="*/ 2 h 17"/>
                    <a:gd name="T40" fmla="*/ 3 w 104"/>
                    <a:gd name="T41" fmla="*/ 4 h 17"/>
                    <a:gd name="T42" fmla="*/ 6 w 104"/>
                    <a:gd name="T43" fmla="*/ 5 h 17"/>
                    <a:gd name="T44" fmla="*/ 12 w 104"/>
                    <a:gd name="T45" fmla="*/ 6 h 17"/>
                    <a:gd name="T46" fmla="*/ 17 w 104"/>
                    <a:gd name="T47" fmla="*/ 8 h 17"/>
                    <a:gd name="T48" fmla="*/ 25 w 104"/>
                    <a:gd name="T49" fmla="*/ 9 h 17"/>
                    <a:gd name="T50" fmla="*/ 33 w 104"/>
                    <a:gd name="T51" fmla="*/ 10 h 17"/>
                    <a:gd name="T52" fmla="*/ 42 w 104"/>
                    <a:gd name="T53" fmla="*/ 10 h 17"/>
                    <a:gd name="T54" fmla="*/ 51 w 104"/>
                    <a:gd name="T55" fmla="*/ 10 h 17"/>
                    <a:gd name="T56" fmla="*/ 60 w 104"/>
                    <a:gd name="T57" fmla="*/ 10 h 17"/>
                    <a:gd name="T58" fmla="*/ 69 w 104"/>
                    <a:gd name="T59" fmla="*/ 10 h 17"/>
                    <a:gd name="T60" fmla="*/ 76 w 104"/>
                    <a:gd name="T61" fmla="*/ 9 h 17"/>
                    <a:gd name="T62" fmla="*/ 84 w 104"/>
                    <a:gd name="T63" fmla="*/ 8 h 17"/>
                    <a:gd name="T64" fmla="*/ 90 w 104"/>
                    <a:gd name="T65" fmla="*/ 6 h 17"/>
                    <a:gd name="T66" fmla="*/ 95 w 104"/>
                    <a:gd name="T67" fmla="*/ 5 h 17"/>
                    <a:gd name="T68" fmla="*/ 99 w 104"/>
                    <a:gd name="T69" fmla="*/ 4 h 17"/>
                    <a:gd name="T70" fmla="*/ 102 w 104"/>
                    <a:gd name="T71" fmla="*/ 2 h 17"/>
                    <a:gd name="T72" fmla="*/ 103 w 104"/>
                    <a:gd name="T73" fmla="*/ 0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04"/>
                    <a:gd name="T112" fmla="*/ 0 h 17"/>
                    <a:gd name="T113" fmla="*/ 104 w 104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04" h="17">
                      <a:moveTo>
                        <a:pt x="103" y="5"/>
                      </a:moveTo>
                      <a:lnTo>
                        <a:pt x="102" y="6"/>
                      </a:lnTo>
                      <a:lnTo>
                        <a:pt x="102" y="7"/>
                      </a:lnTo>
                      <a:lnTo>
                        <a:pt x="101" y="8"/>
                      </a:lnTo>
                      <a:lnTo>
                        <a:pt x="99" y="8"/>
                      </a:lnTo>
                      <a:lnTo>
                        <a:pt x="97" y="10"/>
                      </a:lnTo>
                      <a:lnTo>
                        <a:pt x="95" y="10"/>
                      </a:lnTo>
                      <a:lnTo>
                        <a:pt x="93" y="11"/>
                      </a:lnTo>
                      <a:lnTo>
                        <a:pt x="90" y="12"/>
                      </a:lnTo>
                      <a:lnTo>
                        <a:pt x="87" y="12"/>
                      </a:lnTo>
                      <a:lnTo>
                        <a:pt x="84" y="13"/>
                      </a:lnTo>
                      <a:lnTo>
                        <a:pt x="80" y="14"/>
                      </a:lnTo>
                      <a:lnTo>
                        <a:pt x="76" y="14"/>
                      </a:lnTo>
                      <a:lnTo>
                        <a:pt x="72" y="14"/>
                      </a:lnTo>
                      <a:lnTo>
                        <a:pt x="69" y="15"/>
                      </a:lnTo>
                      <a:lnTo>
                        <a:pt x="64" y="15"/>
                      </a:lnTo>
                      <a:lnTo>
                        <a:pt x="60" y="16"/>
                      </a:lnTo>
                      <a:lnTo>
                        <a:pt x="55" y="16"/>
                      </a:lnTo>
                      <a:lnTo>
                        <a:pt x="51" y="16"/>
                      </a:lnTo>
                      <a:lnTo>
                        <a:pt x="46" y="16"/>
                      </a:lnTo>
                      <a:lnTo>
                        <a:pt x="42" y="16"/>
                      </a:lnTo>
                      <a:lnTo>
                        <a:pt x="37" y="15"/>
                      </a:lnTo>
                      <a:lnTo>
                        <a:pt x="33" y="15"/>
                      </a:lnTo>
                      <a:lnTo>
                        <a:pt x="29" y="14"/>
                      </a:lnTo>
                      <a:lnTo>
                        <a:pt x="25" y="14"/>
                      </a:lnTo>
                      <a:lnTo>
                        <a:pt x="21" y="14"/>
                      </a:lnTo>
                      <a:lnTo>
                        <a:pt x="17" y="13"/>
                      </a:lnTo>
                      <a:lnTo>
                        <a:pt x="14" y="12"/>
                      </a:lnTo>
                      <a:lnTo>
                        <a:pt x="12" y="12"/>
                      </a:lnTo>
                      <a:lnTo>
                        <a:pt x="8" y="11"/>
                      </a:lnTo>
                      <a:lnTo>
                        <a:pt x="6" y="10"/>
                      </a:lnTo>
                      <a:lnTo>
                        <a:pt x="4" y="10"/>
                      </a:lnTo>
                      <a:lnTo>
                        <a:pt x="3" y="8"/>
                      </a:lnTo>
                      <a:lnTo>
                        <a:pt x="1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1" y="2"/>
                      </a:lnTo>
                      <a:lnTo>
                        <a:pt x="3" y="4"/>
                      </a:lnTo>
                      <a:lnTo>
                        <a:pt x="4" y="4"/>
                      </a:lnTo>
                      <a:lnTo>
                        <a:pt x="6" y="5"/>
                      </a:lnTo>
                      <a:lnTo>
                        <a:pt x="8" y="6"/>
                      </a:lnTo>
                      <a:lnTo>
                        <a:pt x="12" y="6"/>
                      </a:lnTo>
                      <a:lnTo>
                        <a:pt x="14" y="7"/>
                      </a:lnTo>
                      <a:lnTo>
                        <a:pt x="17" y="8"/>
                      </a:lnTo>
                      <a:lnTo>
                        <a:pt x="21" y="8"/>
                      </a:lnTo>
                      <a:lnTo>
                        <a:pt x="25" y="9"/>
                      </a:lnTo>
                      <a:lnTo>
                        <a:pt x="29" y="10"/>
                      </a:lnTo>
                      <a:lnTo>
                        <a:pt x="33" y="10"/>
                      </a:lnTo>
                      <a:lnTo>
                        <a:pt x="37" y="10"/>
                      </a:lnTo>
                      <a:lnTo>
                        <a:pt x="42" y="10"/>
                      </a:lnTo>
                      <a:lnTo>
                        <a:pt x="46" y="10"/>
                      </a:lnTo>
                      <a:lnTo>
                        <a:pt x="51" y="10"/>
                      </a:lnTo>
                      <a:lnTo>
                        <a:pt x="55" y="10"/>
                      </a:lnTo>
                      <a:lnTo>
                        <a:pt x="60" y="10"/>
                      </a:lnTo>
                      <a:lnTo>
                        <a:pt x="64" y="10"/>
                      </a:lnTo>
                      <a:lnTo>
                        <a:pt x="69" y="10"/>
                      </a:lnTo>
                      <a:lnTo>
                        <a:pt x="72" y="10"/>
                      </a:lnTo>
                      <a:lnTo>
                        <a:pt x="76" y="9"/>
                      </a:lnTo>
                      <a:lnTo>
                        <a:pt x="80" y="8"/>
                      </a:lnTo>
                      <a:lnTo>
                        <a:pt x="84" y="8"/>
                      </a:lnTo>
                      <a:lnTo>
                        <a:pt x="87" y="7"/>
                      </a:lnTo>
                      <a:lnTo>
                        <a:pt x="90" y="6"/>
                      </a:lnTo>
                      <a:lnTo>
                        <a:pt x="93" y="6"/>
                      </a:lnTo>
                      <a:lnTo>
                        <a:pt x="95" y="5"/>
                      </a:lnTo>
                      <a:lnTo>
                        <a:pt x="97" y="4"/>
                      </a:lnTo>
                      <a:lnTo>
                        <a:pt x="99" y="4"/>
                      </a:lnTo>
                      <a:lnTo>
                        <a:pt x="101" y="2"/>
                      </a:lnTo>
                      <a:lnTo>
                        <a:pt x="102" y="2"/>
                      </a:lnTo>
                      <a:lnTo>
                        <a:pt x="102" y="1"/>
                      </a:lnTo>
                      <a:lnTo>
                        <a:pt x="103" y="0"/>
                      </a:lnTo>
                      <a:lnTo>
                        <a:pt x="103" y="5"/>
                      </a:lnTo>
                    </a:path>
                  </a:pathLst>
                </a:custGeom>
                <a:solidFill>
                  <a:srgbClr val="666666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73" name="Freeform 193"/>
                <p:cNvSpPr>
                  <a:spLocks/>
                </p:cNvSpPr>
                <p:nvPr/>
              </p:nvSpPr>
              <p:spPr bwMode="auto">
                <a:xfrm>
                  <a:off x="3840" y="1486"/>
                  <a:ext cx="220" cy="77"/>
                </a:xfrm>
                <a:custGeom>
                  <a:avLst/>
                  <a:gdLst>
                    <a:gd name="T0" fmla="*/ 0 w 220"/>
                    <a:gd name="T1" fmla="*/ 76 h 77"/>
                    <a:gd name="T2" fmla="*/ 219 w 220"/>
                    <a:gd name="T3" fmla="*/ 76 h 77"/>
                    <a:gd name="T4" fmla="*/ 219 w 220"/>
                    <a:gd name="T5" fmla="*/ 0 h 77"/>
                    <a:gd name="T6" fmla="*/ 0 w 220"/>
                    <a:gd name="T7" fmla="*/ 0 h 77"/>
                    <a:gd name="T8" fmla="*/ 0 w 220"/>
                    <a:gd name="T9" fmla="*/ 76 h 7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77"/>
                    <a:gd name="T17" fmla="*/ 220 w 220"/>
                    <a:gd name="T18" fmla="*/ 77 h 7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77">
                      <a:moveTo>
                        <a:pt x="0" y="76"/>
                      </a:moveTo>
                      <a:lnTo>
                        <a:pt x="219" y="76"/>
                      </a:lnTo>
                      <a:lnTo>
                        <a:pt x="219" y="0"/>
                      </a:lnTo>
                      <a:lnTo>
                        <a:pt x="0" y="0"/>
                      </a:lnTo>
                      <a:lnTo>
                        <a:pt x="0" y="76"/>
                      </a:lnTo>
                    </a:path>
                  </a:pathLst>
                </a:custGeom>
                <a:solidFill>
                  <a:srgbClr val="EFEFD1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74" name="Freeform 194"/>
                <p:cNvSpPr>
                  <a:spLocks/>
                </p:cNvSpPr>
                <p:nvPr/>
              </p:nvSpPr>
              <p:spPr bwMode="auto">
                <a:xfrm>
                  <a:off x="3875" y="1449"/>
                  <a:ext cx="69" cy="17"/>
                </a:xfrm>
                <a:custGeom>
                  <a:avLst/>
                  <a:gdLst>
                    <a:gd name="T0" fmla="*/ 0 w 69"/>
                    <a:gd name="T1" fmla="*/ 16 h 17"/>
                    <a:gd name="T2" fmla="*/ 0 w 69"/>
                    <a:gd name="T3" fmla="*/ 0 h 17"/>
                    <a:gd name="T4" fmla="*/ 68 w 69"/>
                    <a:gd name="T5" fmla="*/ 0 h 17"/>
                    <a:gd name="T6" fmla="*/ 68 w 69"/>
                    <a:gd name="T7" fmla="*/ 16 h 17"/>
                    <a:gd name="T8" fmla="*/ 0 w 69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9"/>
                    <a:gd name="T16" fmla="*/ 0 h 17"/>
                    <a:gd name="T17" fmla="*/ 69 w 69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9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68" y="0"/>
                      </a:lnTo>
                      <a:lnTo>
                        <a:pt x="68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75" name="Freeform 195"/>
                <p:cNvSpPr>
                  <a:spLocks/>
                </p:cNvSpPr>
                <p:nvPr/>
              </p:nvSpPr>
              <p:spPr bwMode="auto">
                <a:xfrm>
                  <a:off x="3931" y="1450"/>
                  <a:ext cx="94" cy="17"/>
                </a:xfrm>
                <a:custGeom>
                  <a:avLst/>
                  <a:gdLst>
                    <a:gd name="T0" fmla="*/ 0 w 94"/>
                    <a:gd name="T1" fmla="*/ 16 h 17"/>
                    <a:gd name="T2" fmla="*/ 0 w 94"/>
                    <a:gd name="T3" fmla="*/ 0 h 17"/>
                    <a:gd name="T4" fmla="*/ 93 w 94"/>
                    <a:gd name="T5" fmla="*/ 0 h 17"/>
                    <a:gd name="T6" fmla="*/ 93 w 94"/>
                    <a:gd name="T7" fmla="*/ 16 h 17"/>
                    <a:gd name="T8" fmla="*/ 0 w 94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4"/>
                    <a:gd name="T16" fmla="*/ 0 h 17"/>
                    <a:gd name="T17" fmla="*/ 94 w 9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4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93" y="0"/>
                      </a:lnTo>
                      <a:lnTo>
                        <a:pt x="93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76" name="Freeform 196"/>
                <p:cNvSpPr>
                  <a:spLocks/>
                </p:cNvSpPr>
                <p:nvPr/>
              </p:nvSpPr>
              <p:spPr bwMode="auto">
                <a:xfrm>
                  <a:off x="3877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77" name="Freeform 197"/>
                <p:cNvSpPr>
                  <a:spLocks/>
                </p:cNvSpPr>
                <p:nvPr/>
              </p:nvSpPr>
              <p:spPr bwMode="auto">
                <a:xfrm>
                  <a:off x="388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4 w 17"/>
                    <a:gd name="T7" fmla="*/ 16 h 17"/>
                    <a:gd name="T8" fmla="*/ 8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78" name="Freeform 198"/>
                <p:cNvSpPr>
                  <a:spLocks/>
                </p:cNvSpPr>
                <p:nvPr/>
              </p:nvSpPr>
              <p:spPr bwMode="auto">
                <a:xfrm>
                  <a:off x="388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79" name="Freeform 199"/>
                <p:cNvSpPr>
                  <a:spLocks/>
                </p:cNvSpPr>
                <p:nvPr/>
              </p:nvSpPr>
              <p:spPr bwMode="auto">
                <a:xfrm>
                  <a:off x="388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80" name="Freeform 200"/>
                <p:cNvSpPr>
                  <a:spLocks/>
                </p:cNvSpPr>
                <p:nvPr/>
              </p:nvSpPr>
              <p:spPr bwMode="auto">
                <a:xfrm>
                  <a:off x="388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81" name="Freeform 201"/>
                <p:cNvSpPr>
                  <a:spLocks/>
                </p:cNvSpPr>
                <p:nvPr/>
              </p:nvSpPr>
              <p:spPr bwMode="auto">
                <a:xfrm>
                  <a:off x="389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82" name="Freeform 202"/>
                <p:cNvSpPr>
                  <a:spLocks/>
                </p:cNvSpPr>
                <p:nvPr/>
              </p:nvSpPr>
              <p:spPr bwMode="auto">
                <a:xfrm>
                  <a:off x="389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83" name="Freeform 203"/>
                <p:cNvSpPr>
                  <a:spLocks/>
                </p:cNvSpPr>
                <p:nvPr/>
              </p:nvSpPr>
              <p:spPr bwMode="auto">
                <a:xfrm>
                  <a:off x="3894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84" name="Freeform 204"/>
                <p:cNvSpPr>
                  <a:spLocks/>
                </p:cNvSpPr>
                <p:nvPr/>
              </p:nvSpPr>
              <p:spPr bwMode="auto">
                <a:xfrm>
                  <a:off x="389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85" name="Freeform 205"/>
                <p:cNvSpPr>
                  <a:spLocks/>
                </p:cNvSpPr>
                <p:nvPr/>
              </p:nvSpPr>
              <p:spPr bwMode="auto">
                <a:xfrm>
                  <a:off x="390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86" name="Freeform 206"/>
                <p:cNvSpPr>
                  <a:spLocks/>
                </p:cNvSpPr>
                <p:nvPr/>
              </p:nvSpPr>
              <p:spPr bwMode="auto">
                <a:xfrm>
                  <a:off x="390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0 w 17"/>
                    <a:gd name="T5" fmla="*/ 16 h 17"/>
                    <a:gd name="T6" fmla="*/ 8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0" y="16"/>
                      </a:lnTo>
                      <a:lnTo>
                        <a:pt x="8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87" name="Freeform 207"/>
                <p:cNvSpPr>
                  <a:spLocks/>
                </p:cNvSpPr>
                <p:nvPr/>
              </p:nvSpPr>
              <p:spPr bwMode="auto">
                <a:xfrm>
                  <a:off x="390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6 h 17"/>
                    <a:gd name="T6" fmla="*/ 8 w 17"/>
                    <a:gd name="T7" fmla="*/ 16 h 17"/>
                    <a:gd name="T8" fmla="*/ 12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88" name="Freeform 208"/>
                <p:cNvSpPr>
                  <a:spLocks/>
                </p:cNvSpPr>
                <p:nvPr/>
              </p:nvSpPr>
              <p:spPr bwMode="auto">
                <a:xfrm>
                  <a:off x="390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89" name="Freeform 209"/>
                <p:cNvSpPr>
                  <a:spLocks/>
                </p:cNvSpPr>
                <p:nvPr/>
              </p:nvSpPr>
              <p:spPr bwMode="auto">
                <a:xfrm>
                  <a:off x="391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90" name="Freeform 210"/>
                <p:cNvSpPr>
                  <a:spLocks/>
                </p:cNvSpPr>
                <p:nvPr/>
              </p:nvSpPr>
              <p:spPr bwMode="auto">
                <a:xfrm>
                  <a:off x="391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91" name="Freeform 211"/>
                <p:cNvSpPr>
                  <a:spLocks/>
                </p:cNvSpPr>
                <p:nvPr/>
              </p:nvSpPr>
              <p:spPr bwMode="auto">
                <a:xfrm>
                  <a:off x="3916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92" name="Freeform 212"/>
                <p:cNvSpPr>
                  <a:spLocks/>
                </p:cNvSpPr>
                <p:nvPr/>
              </p:nvSpPr>
              <p:spPr bwMode="auto">
                <a:xfrm>
                  <a:off x="391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93" name="Freeform 213"/>
                <p:cNvSpPr>
                  <a:spLocks/>
                </p:cNvSpPr>
                <p:nvPr/>
              </p:nvSpPr>
              <p:spPr bwMode="auto">
                <a:xfrm>
                  <a:off x="3921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94" name="Freeform 214"/>
                <p:cNvSpPr>
                  <a:spLocks/>
                </p:cNvSpPr>
                <p:nvPr/>
              </p:nvSpPr>
              <p:spPr bwMode="auto">
                <a:xfrm>
                  <a:off x="392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95" name="Freeform 215"/>
                <p:cNvSpPr>
                  <a:spLocks/>
                </p:cNvSpPr>
                <p:nvPr/>
              </p:nvSpPr>
              <p:spPr bwMode="auto">
                <a:xfrm>
                  <a:off x="392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96" name="Freeform 216"/>
                <p:cNvSpPr>
                  <a:spLocks/>
                </p:cNvSpPr>
                <p:nvPr/>
              </p:nvSpPr>
              <p:spPr bwMode="auto">
                <a:xfrm>
                  <a:off x="3855" y="1279"/>
                  <a:ext cx="187" cy="174"/>
                </a:xfrm>
                <a:custGeom>
                  <a:avLst/>
                  <a:gdLst>
                    <a:gd name="T0" fmla="*/ 180 w 187"/>
                    <a:gd name="T1" fmla="*/ 173 h 174"/>
                    <a:gd name="T2" fmla="*/ 180 w 187"/>
                    <a:gd name="T3" fmla="*/ 173 h 174"/>
                    <a:gd name="T4" fmla="*/ 180 w 187"/>
                    <a:gd name="T5" fmla="*/ 172 h 174"/>
                    <a:gd name="T6" fmla="*/ 182 w 187"/>
                    <a:gd name="T7" fmla="*/ 172 h 174"/>
                    <a:gd name="T8" fmla="*/ 182 w 187"/>
                    <a:gd name="T9" fmla="*/ 172 h 174"/>
                    <a:gd name="T10" fmla="*/ 183 w 187"/>
                    <a:gd name="T11" fmla="*/ 171 h 174"/>
                    <a:gd name="T12" fmla="*/ 183 w 187"/>
                    <a:gd name="T13" fmla="*/ 171 h 174"/>
                    <a:gd name="T14" fmla="*/ 184 w 187"/>
                    <a:gd name="T15" fmla="*/ 171 h 174"/>
                    <a:gd name="T16" fmla="*/ 184 w 187"/>
                    <a:gd name="T17" fmla="*/ 170 h 174"/>
                    <a:gd name="T18" fmla="*/ 184 w 187"/>
                    <a:gd name="T19" fmla="*/ 170 h 174"/>
                    <a:gd name="T20" fmla="*/ 184 w 187"/>
                    <a:gd name="T21" fmla="*/ 169 h 174"/>
                    <a:gd name="T22" fmla="*/ 185 w 187"/>
                    <a:gd name="T23" fmla="*/ 169 h 174"/>
                    <a:gd name="T24" fmla="*/ 185 w 187"/>
                    <a:gd name="T25" fmla="*/ 168 h 174"/>
                    <a:gd name="T26" fmla="*/ 186 w 187"/>
                    <a:gd name="T27" fmla="*/ 167 h 174"/>
                    <a:gd name="T28" fmla="*/ 186 w 187"/>
                    <a:gd name="T29" fmla="*/ 167 h 174"/>
                    <a:gd name="T30" fmla="*/ 186 w 187"/>
                    <a:gd name="T31" fmla="*/ 6 h 174"/>
                    <a:gd name="T32" fmla="*/ 186 w 187"/>
                    <a:gd name="T33" fmla="*/ 5 h 174"/>
                    <a:gd name="T34" fmla="*/ 186 w 187"/>
                    <a:gd name="T35" fmla="*/ 5 h 174"/>
                    <a:gd name="T36" fmla="*/ 185 w 187"/>
                    <a:gd name="T37" fmla="*/ 5 h 174"/>
                    <a:gd name="T38" fmla="*/ 185 w 187"/>
                    <a:gd name="T39" fmla="*/ 3 h 174"/>
                    <a:gd name="T40" fmla="*/ 184 w 187"/>
                    <a:gd name="T41" fmla="*/ 3 h 174"/>
                    <a:gd name="T42" fmla="*/ 184 w 187"/>
                    <a:gd name="T43" fmla="*/ 2 h 174"/>
                    <a:gd name="T44" fmla="*/ 184 w 187"/>
                    <a:gd name="T45" fmla="*/ 1 h 174"/>
                    <a:gd name="T46" fmla="*/ 183 w 187"/>
                    <a:gd name="T47" fmla="*/ 1 h 174"/>
                    <a:gd name="T48" fmla="*/ 183 w 187"/>
                    <a:gd name="T49" fmla="*/ 1 h 174"/>
                    <a:gd name="T50" fmla="*/ 182 w 187"/>
                    <a:gd name="T51" fmla="*/ 1 h 174"/>
                    <a:gd name="T52" fmla="*/ 182 w 187"/>
                    <a:gd name="T53" fmla="*/ 0 h 174"/>
                    <a:gd name="T54" fmla="*/ 180 w 187"/>
                    <a:gd name="T55" fmla="*/ 0 h 174"/>
                    <a:gd name="T56" fmla="*/ 180 w 187"/>
                    <a:gd name="T57" fmla="*/ 0 h 174"/>
                    <a:gd name="T58" fmla="*/ 180 w 187"/>
                    <a:gd name="T59" fmla="*/ 0 h 174"/>
                    <a:gd name="T60" fmla="*/ 5 w 187"/>
                    <a:gd name="T61" fmla="*/ 0 h 174"/>
                    <a:gd name="T62" fmla="*/ 4 w 187"/>
                    <a:gd name="T63" fmla="*/ 0 h 174"/>
                    <a:gd name="T64" fmla="*/ 3 w 187"/>
                    <a:gd name="T65" fmla="*/ 0 h 174"/>
                    <a:gd name="T66" fmla="*/ 3 w 187"/>
                    <a:gd name="T67" fmla="*/ 0 h 174"/>
                    <a:gd name="T68" fmla="*/ 2 w 187"/>
                    <a:gd name="T69" fmla="*/ 0 h 174"/>
                    <a:gd name="T70" fmla="*/ 2 w 187"/>
                    <a:gd name="T71" fmla="*/ 1 h 174"/>
                    <a:gd name="T72" fmla="*/ 1 w 187"/>
                    <a:gd name="T73" fmla="*/ 1 h 174"/>
                    <a:gd name="T74" fmla="*/ 1 w 187"/>
                    <a:gd name="T75" fmla="*/ 1 h 174"/>
                    <a:gd name="T76" fmla="*/ 1 w 187"/>
                    <a:gd name="T77" fmla="*/ 2 h 174"/>
                    <a:gd name="T78" fmla="*/ 0 w 187"/>
                    <a:gd name="T79" fmla="*/ 3 h 174"/>
                    <a:gd name="T80" fmla="*/ 0 w 187"/>
                    <a:gd name="T81" fmla="*/ 3 h 174"/>
                    <a:gd name="T82" fmla="*/ 0 w 187"/>
                    <a:gd name="T83" fmla="*/ 3 h 174"/>
                    <a:gd name="T84" fmla="*/ 0 w 187"/>
                    <a:gd name="T85" fmla="*/ 5 h 174"/>
                    <a:gd name="T86" fmla="*/ 0 w 187"/>
                    <a:gd name="T87" fmla="*/ 5 h 174"/>
                    <a:gd name="T88" fmla="*/ 0 w 187"/>
                    <a:gd name="T89" fmla="*/ 6 h 174"/>
                    <a:gd name="T90" fmla="*/ 0 w 187"/>
                    <a:gd name="T91" fmla="*/ 167 h 174"/>
                    <a:gd name="T92" fmla="*/ 0 w 187"/>
                    <a:gd name="T93" fmla="*/ 167 h 174"/>
                    <a:gd name="T94" fmla="*/ 0 w 187"/>
                    <a:gd name="T95" fmla="*/ 168 h 174"/>
                    <a:gd name="T96" fmla="*/ 0 w 187"/>
                    <a:gd name="T97" fmla="*/ 169 h 174"/>
                    <a:gd name="T98" fmla="*/ 0 w 187"/>
                    <a:gd name="T99" fmla="*/ 169 h 174"/>
                    <a:gd name="T100" fmla="*/ 0 w 187"/>
                    <a:gd name="T101" fmla="*/ 170 h 174"/>
                    <a:gd name="T102" fmla="*/ 1 w 187"/>
                    <a:gd name="T103" fmla="*/ 170 h 174"/>
                    <a:gd name="T104" fmla="*/ 1 w 187"/>
                    <a:gd name="T105" fmla="*/ 171 h 174"/>
                    <a:gd name="T106" fmla="*/ 1 w 187"/>
                    <a:gd name="T107" fmla="*/ 171 h 174"/>
                    <a:gd name="T108" fmla="*/ 2 w 187"/>
                    <a:gd name="T109" fmla="*/ 171 h 174"/>
                    <a:gd name="T110" fmla="*/ 2 w 187"/>
                    <a:gd name="T111" fmla="*/ 172 h 174"/>
                    <a:gd name="T112" fmla="*/ 2 w 187"/>
                    <a:gd name="T113" fmla="*/ 172 h 174"/>
                    <a:gd name="T114" fmla="*/ 3 w 187"/>
                    <a:gd name="T115" fmla="*/ 172 h 174"/>
                    <a:gd name="T116" fmla="*/ 3 w 187"/>
                    <a:gd name="T117" fmla="*/ 172 h 174"/>
                    <a:gd name="T118" fmla="*/ 4 w 187"/>
                    <a:gd name="T119" fmla="*/ 173 h 174"/>
                    <a:gd name="T120" fmla="*/ 5 w 187"/>
                    <a:gd name="T121" fmla="*/ 173 h 174"/>
                    <a:gd name="T122" fmla="*/ 180 w 187"/>
                    <a:gd name="T123" fmla="*/ 173 h 174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w 187"/>
                    <a:gd name="T187" fmla="*/ 0 h 174"/>
                    <a:gd name="T188" fmla="*/ 187 w 187"/>
                    <a:gd name="T189" fmla="*/ 174 h 174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T186" t="T187" r="T188" b="T189"/>
                  <a:pathLst>
                    <a:path w="187" h="174">
                      <a:moveTo>
                        <a:pt x="180" y="173"/>
                      </a:moveTo>
                      <a:lnTo>
                        <a:pt x="180" y="173"/>
                      </a:lnTo>
                      <a:lnTo>
                        <a:pt x="180" y="172"/>
                      </a:lnTo>
                      <a:lnTo>
                        <a:pt x="182" y="172"/>
                      </a:lnTo>
                      <a:lnTo>
                        <a:pt x="183" y="171"/>
                      </a:lnTo>
                      <a:lnTo>
                        <a:pt x="184" y="171"/>
                      </a:lnTo>
                      <a:lnTo>
                        <a:pt x="184" y="170"/>
                      </a:lnTo>
                      <a:lnTo>
                        <a:pt x="184" y="169"/>
                      </a:lnTo>
                      <a:lnTo>
                        <a:pt x="185" y="169"/>
                      </a:lnTo>
                      <a:lnTo>
                        <a:pt x="185" y="168"/>
                      </a:lnTo>
                      <a:lnTo>
                        <a:pt x="186" y="167"/>
                      </a:lnTo>
                      <a:lnTo>
                        <a:pt x="186" y="6"/>
                      </a:lnTo>
                      <a:lnTo>
                        <a:pt x="186" y="5"/>
                      </a:lnTo>
                      <a:lnTo>
                        <a:pt x="185" y="5"/>
                      </a:lnTo>
                      <a:lnTo>
                        <a:pt x="185" y="3"/>
                      </a:lnTo>
                      <a:lnTo>
                        <a:pt x="184" y="3"/>
                      </a:lnTo>
                      <a:lnTo>
                        <a:pt x="184" y="2"/>
                      </a:lnTo>
                      <a:lnTo>
                        <a:pt x="184" y="1"/>
                      </a:lnTo>
                      <a:lnTo>
                        <a:pt x="183" y="1"/>
                      </a:lnTo>
                      <a:lnTo>
                        <a:pt x="182" y="1"/>
                      </a:lnTo>
                      <a:lnTo>
                        <a:pt x="182" y="0"/>
                      </a:lnTo>
                      <a:lnTo>
                        <a:pt x="180" y="0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2" y="1"/>
                      </a:lnTo>
                      <a:lnTo>
                        <a:pt x="1" y="1"/>
                      </a:lnTo>
                      <a:lnTo>
                        <a:pt x="1" y="2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0" y="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0" y="169"/>
                      </a:lnTo>
                      <a:lnTo>
                        <a:pt x="0" y="170"/>
                      </a:lnTo>
                      <a:lnTo>
                        <a:pt x="1" y="170"/>
                      </a:lnTo>
                      <a:lnTo>
                        <a:pt x="1" y="171"/>
                      </a:lnTo>
                      <a:lnTo>
                        <a:pt x="2" y="171"/>
                      </a:lnTo>
                      <a:lnTo>
                        <a:pt x="2" y="172"/>
                      </a:lnTo>
                      <a:lnTo>
                        <a:pt x="3" y="172"/>
                      </a:lnTo>
                      <a:lnTo>
                        <a:pt x="4" y="173"/>
                      </a:lnTo>
                      <a:lnTo>
                        <a:pt x="5" y="173"/>
                      </a:lnTo>
                      <a:lnTo>
                        <a:pt x="180" y="173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97" name="Freeform 217"/>
                <p:cNvSpPr>
                  <a:spLocks/>
                </p:cNvSpPr>
                <p:nvPr/>
              </p:nvSpPr>
              <p:spPr bwMode="auto">
                <a:xfrm>
                  <a:off x="3855" y="1281"/>
                  <a:ext cx="186" cy="172"/>
                </a:xfrm>
                <a:custGeom>
                  <a:avLst/>
                  <a:gdLst>
                    <a:gd name="T0" fmla="*/ 185 w 186"/>
                    <a:gd name="T1" fmla="*/ 165 h 172"/>
                    <a:gd name="T2" fmla="*/ 185 w 186"/>
                    <a:gd name="T3" fmla="*/ 166 h 172"/>
                    <a:gd name="T4" fmla="*/ 185 w 186"/>
                    <a:gd name="T5" fmla="*/ 167 h 172"/>
                    <a:gd name="T6" fmla="*/ 184 w 186"/>
                    <a:gd name="T7" fmla="*/ 167 h 172"/>
                    <a:gd name="T8" fmla="*/ 184 w 186"/>
                    <a:gd name="T9" fmla="*/ 168 h 172"/>
                    <a:gd name="T10" fmla="*/ 183 w 186"/>
                    <a:gd name="T11" fmla="*/ 169 h 172"/>
                    <a:gd name="T12" fmla="*/ 183 w 186"/>
                    <a:gd name="T13" fmla="*/ 169 h 172"/>
                    <a:gd name="T14" fmla="*/ 182 w 186"/>
                    <a:gd name="T15" fmla="*/ 170 h 172"/>
                    <a:gd name="T16" fmla="*/ 182 w 186"/>
                    <a:gd name="T17" fmla="*/ 170 h 172"/>
                    <a:gd name="T18" fmla="*/ 181 w 186"/>
                    <a:gd name="T19" fmla="*/ 170 h 172"/>
                    <a:gd name="T20" fmla="*/ 181 w 186"/>
                    <a:gd name="T21" fmla="*/ 171 h 172"/>
                    <a:gd name="T22" fmla="*/ 180 w 186"/>
                    <a:gd name="T23" fmla="*/ 171 h 172"/>
                    <a:gd name="T24" fmla="*/ 179 w 186"/>
                    <a:gd name="T25" fmla="*/ 171 h 172"/>
                    <a:gd name="T26" fmla="*/ 4 w 186"/>
                    <a:gd name="T27" fmla="*/ 171 h 172"/>
                    <a:gd name="T28" fmla="*/ 3 w 186"/>
                    <a:gd name="T29" fmla="*/ 171 h 172"/>
                    <a:gd name="T30" fmla="*/ 3 w 186"/>
                    <a:gd name="T31" fmla="*/ 171 h 172"/>
                    <a:gd name="T32" fmla="*/ 3 w 186"/>
                    <a:gd name="T33" fmla="*/ 170 h 172"/>
                    <a:gd name="T34" fmla="*/ 2 w 186"/>
                    <a:gd name="T35" fmla="*/ 170 h 172"/>
                    <a:gd name="T36" fmla="*/ 2 w 186"/>
                    <a:gd name="T37" fmla="*/ 170 h 172"/>
                    <a:gd name="T38" fmla="*/ 1 w 186"/>
                    <a:gd name="T39" fmla="*/ 169 h 172"/>
                    <a:gd name="T40" fmla="*/ 1 w 186"/>
                    <a:gd name="T41" fmla="*/ 169 h 172"/>
                    <a:gd name="T42" fmla="*/ 0 w 186"/>
                    <a:gd name="T43" fmla="*/ 169 h 172"/>
                    <a:gd name="T44" fmla="*/ 0 w 186"/>
                    <a:gd name="T45" fmla="*/ 168 h 172"/>
                    <a:gd name="T46" fmla="*/ 0 w 186"/>
                    <a:gd name="T47" fmla="*/ 167 h 172"/>
                    <a:gd name="T48" fmla="*/ 0 w 186"/>
                    <a:gd name="T49" fmla="*/ 167 h 172"/>
                    <a:gd name="T50" fmla="*/ 0 w 186"/>
                    <a:gd name="T51" fmla="*/ 166 h 172"/>
                    <a:gd name="T52" fmla="*/ 0 w 186"/>
                    <a:gd name="T53" fmla="*/ 165 h 172"/>
                    <a:gd name="T54" fmla="*/ 0 w 186"/>
                    <a:gd name="T55" fmla="*/ 5 h 172"/>
                    <a:gd name="T56" fmla="*/ 0 w 186"/>
                    <a:gd name="T57" fmla="*/ 4 h 172"/>
                    <a:gd name="T58" fmla="*/ 0 w 186"/>
                    <a:gd name="T59" fmla="*/ 3 h 172"/>
                    <a:gd name="T60" fmla="*/ 0 w 186"/>
                    <a:gd name="T61" fmla="*/ 3 h 172"/>
                    <a:gd name="T62" fmla="*/ 0 w 186"/>
                    <a:gd name="T63" fmla="*/ 2 h 172"/>
                    <a:gd name="T64" fmla="*/ 0 w 186"/>
                    <a:gd name="T65" fmla="*/ 2 h 172"/>
                    <a:gd name="T66" fmla="*/ 1 w 186"/>
                    <a:gd name="T67" fmla="*/ 1 h 172"/>
                    <a:gd name="T68" fmla="*/ 1 w 186"/>
                    <a:gd name="T69" fmla="*/ 1 h 172"/>
                    <a:gd name="T70" fmla="*/ 2 w 186"/>
                    <a:gd name="T71" fmla="*/ 1 h 172"/>
                    <a:gd name="T72" fmla="*/ 2 w 186"/>
                    <a:gd name="T73" fmla="*/ 0 h 172"/>
                    <a:gd name="T74" fmla="*/ 2 w 186"/>
                    <a:gd name="T75" fmla="*/ 0 h 172"/>
                    <a:gd name="T76" fmla="*/ 3 w 186"/>
                    <a:gd name="T77" fmla="*/ 0 h 172"/>
                    <a:gd name="T78" fmla="*/ 3 w 186"/>
                    <a:gd name="T79" fmla="*/ 0 h 172"/>
                    <a:gd name="T80" fmla="*/ 4 w 186"/>
                    <a:gd name="T81" fmla="*/ 0 h 172"/>
                    <a:gd name="T82" fmla="*/ 179 w 186"/>
                    <a:gd name="T83" fmla="*/ 0 h 172"/>
                    <a:gd name="T84" fmla="*/ 180 w 186"/>
                    <a:gd name="T85" fmla="*/ 0 h 172"/>
                    <a:gd name="T86" fmla="*/ 181 w 186"/>
                    <a:gd name="T87" fmla="*/ 0 h 172"/>
                    <a:gd name="T88" fmla="*/ 181 w 186"/>
                    <a:gd name="T89" fmla="*/ 0 h 172"/>
                    <a:gd name="T90" fmla="*/ 182 w 186"/>
                    <a:gd name="T91" fmla="*/ 0 h 172"/>
                    <a:gd name="T92" fmla="*/ 182 w 186"/>
                    <a:gd name="T93" fmla="*/ 1 h 172"/>
                    <a:gd name="T94" fmla="*/ 183 w 186"/>
                    <a:gd name="T95" fmla="*/ 1 h 172"/>
                    <a:gd name="T96" fmla="*/ 183 w 186"/>
                    <a:gd name="T97" fmla="*/ 1 h 172"/>
                    <a:gd name="T98" fmla="*/ 183 w 186"/>
                    <a:gd name="T99" fmla="*/ 2 h 172"/>
                    <a:gd name="T100" fmla="*/ 184 w 186"/>
                    <a:gd name="T101" fmla="*/ 2 h 172"/>
                    <a:gd name="T102" fmla="*/ 184 w 186"/>
                    <a:gd name="T103" fmla="*/ 3 h 172"/>
                    <a:gd name="T104" fmla="*/ 185 w 186"/>
                    <a:gd name="T105" fmla="*/ 3 h 172"/>
                    <a:gd name="T106" fmla="*/ 185 w 186"/>
                    <a:gd name="T107" fmla="*/ 4 h 172"/>
                    <a:gd name="T108" fmla="*/ 185 w 186"/>
                    <a:gd name="T109" fmla="*/ 5 h 172"/>
                    <a:gd name="T110" fmla="*/ 185 w 186"/>
                    <a:gd name="T111" fmla="*/ 165 h 172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86"/>
                    <a:gd name="T169" fmla="*/ 0 h 172"/>
                    <a:gd name="T170" fmla="*/ 186 w 186"/>
                    <a:gd name="T171" fmla="*/ 172 h 172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86" h="172">
                      <a:moveTo>
                        <a:pt x="185" y="165"/>
                      </a:moveTo>
                      <a:lnTo>
                        <a:pt x="185" y="166"/>
                      </a:lnTo>
                      <a:lnTo>
                        <a:pt x="185" y="167"/>
                      </a:lnTo>
                      <a:lnTo>
                        <a:pt x="184" y="167"/>
                      </a:lnTo>
                      <a:lnTo>
                        <a:pt x="184" y="168"/>
                      </a:lnTo>
                      <a:lnTo>
                        <a:pt x="183" y="169"/>
                      </a:lnTo>
                      <a:lnTo>
                        <a:pt x="182" y="170"/>
                      </a:lnTo>
                      <a:lnTo>
                        <a:pt x="181" y="170"/>
                      </a:lnTo>
                      <a:lnTo>
                        <a:pt x="181" y="171"/>
                      </a:lnTo>
                      <a:lnTo>
                        <a:pt x="180" y="171"/>
                      </a:lnTo>
                      <a:lnTo>
                        <a:pt x="179" y="171"/>
                      </a:lnTo>
                      <a:lnTo>
                        <a:pt x="4" y="171"/>
                      </a:lnTo>
                      <a:lnTo>
                        <a:pt x="3" y="171"/>
                      </a:lnTo>
                      <a:lnTo>
                        <a:pt x="3" y="170"/>
                      </a:lnTo>
                      <a:lnTo>
                        <a:pt x="2" y="170"/>
                      </a:lnTo>
                      <a:lnTo>
                        <a:pt x="1" y="169"/>
                      </a:lnTo>
                      <a:lnTo>
                        <a:pt x="0" y="169"/>
                      </a:lnTo>
                      <a:lnTo>
                        <a:pt x="0" y="168"/>
                      </a:lnTo>
                      <a:lnTo>
                        <a:pt x="0" y="167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79" y="0"/>
                      </a:lnTo>
                      <a:lnTo>
                        <a:pt x="180" y="0"/>
                      </a:lnTo>
                      <a:lnTo>
                        <a:pt x="181" y="0"/>
                      </a:lnTo>
                      <a:lnTo>
                        <a:pt x="182" y="0"/>
                      </a:lnTo>
                      <a:lnTo>
                        <a:pt x="182" y="1"/>
                      </a:lnTo>
                      <a:lnTo>
                        <a:pt x="183" y="1"/>
                      </a:lnTo>
                      <a:lnTo>
                        <a:pt x="183" y="2"/>
                      </a:lnTo>
                      <a:lnTo>
                        <a:pt x="184" y="2"/>
                      </a:lnTo>
                      <a:lnTo>
                        <a:pt x="184" y="3"/>
                      </a:lnTo>
                      <a:lnTo>
                        <a:pt x="185" y="3"/>
                      </a:lnTo>
                      <a:lnTo>
                        <a:pt x="185" y="4"/>
                      </a:lnTo>
                      <a:lnTo>
                        <a:pt x="185" y="5"/>
                      </a:lnTo>
                      <a:lnTo>
                        <a:pt x="185" y="165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98" name="Freeform 218"/>
                <p:cNvSpPr>
                  <a:spLocks/>
                </p:cNvSpPr>
                <p:nvPr/>
              </p:nvSpPr>
              <p:spPr bwMode="auto">
                <a:xfrm>
                  <a:off x="3857" y="1281"/>
                  <a:ext cx="181" cy="171"/>
                </a:xfrm>
                <a:custGeom>
                  <a:avLst/>
                  <a:gdLst>
                    <a:gd name="T0" fmla="*/ 180 w 181"/>
                    <a:gd name="T1" fmla="*/ 3 h 171"/>
                    <a:gd name="T2" fmla="*/ 180 w 181"/>
                    <a:gd name="T3" fmla="*/ 3 h 171"/>
                    <a:gd name="T4" fmla="*/ 180 w 181"/>
                    <a:gd name="T5" fmla="*/ 2 h 171"/>
                    <a:gd name="T6" fmla="*/ 179 w 181"/>
                    <a:gd name="T7" fmla="*/ 2 h 171"/>
                    <a:gd name="T8" fmla="*/ 179 w 181"/>
                    <a:gd name="T9" fmla="*/ 1 h 171"/>
                    <a:gd name="T10" fmla="*/ 178 w 181"/>
                    <a:gd name="T11" fmla="*/ 1 h 171"/>
                    <a:gd name="T12" fmla="*/ 178 w 181"/>
                    <a:gd name="T13" fmla="*/ 0 h 171"/>
                    <a:gd name="T14" fmla="*/ 177 w 181"/>
                    <a:gd name="T15" fmla="*/ 0 h 171"/>
                    <a:gd name="T16" fmla="*/ 177 w 181"/>
                    <a:gd name="T17" fmla="*/ 0 h 171"/>
                    <a:gd name="T18" fmla="*/ 177 w 181"/>
                    <a:gd name="T19" fmla="*/ 0 h 171"/>
                    <a:gd name="T20" fmla="*/ 176 w 181"/>
                    <a:gd name="T21" fmla="*/ 0 h 171"/>
                    <a:gd name="T22" fmla="*/ 176 w 181"/>
                    <a:gd name="T23" fmla="*/ 0 h 171"/>
                    <a:gd name="T24" fmla="*/ 3 w 181"/>
                    <a:gd name="T25" fmla="*/ 0 h 171"/>
                    <a:gd name="T26" fmla="*/ 3 w 181"/>
                    <a:gd name="T27" fmla="*/ 0 h 171"/>
                    <a:gd name="T28" fmla="*/ 2 w 181"/>
                    <a:gd name="T29" fmla="*/ 0 h 171"/>
                    <a:gd name="T30" fmla="*/ 2 w 181"/>
                    <a:gd name="T31" fmla="*/ 0 h 171"/>
                    <a:gd name="T32" fmla="*/ 1 w 181"/>
                    <a:gd name="T33" fmla="*/ 0 h 171"/>
                    <a:gd name="T34" fmla="*/ 1 w 181"/>
                    <a:gd name="T35" fmla="*/ 0 h 171"/>
                    <a:gd name="T36" fmla="*/ 1 w 181"/>
                    <a:gd name="T37" fmla="*/ 1 h 171"/>
                    <a:gd name="T38" fmla="*/ 0 w 181"/>
                    <a:gd name="T39" fmla="*/ 1 h 171"/>
                    <a:gd name="T40" fmla="*/ 0 w 181"/>
                    <a:gd name="T41" fmla="*/ 1 h 171"/>
                    <a:gd name="T42" fmla="*/ 0 w 181"/>
                    <a:gd name="T43" fmla="*/ 2 h 171"/>
                    <a:gd name="T44" fmla="*/ 0 w 181"/>
                    <a:gd name="T45" fmla="*/ 3 h 171"/>
                    <a:gd name="T46" fmla="*/ 0 w 181"/>
                    <a:gd name="T47" fmla="*/ 3 h 171"/>
                    <a:gd name="T48" fmla="*/ 0 w 181"/>
                    <a:gd name="T49" fmla="*/ 166 h 171"/>
                    <a:gd name="T50" fmla="*/ 0 w 181"/>
                    <a:gd name="T51" fmla="*/ 166 h 171"/>
                    <a:gd name="T52" fmla="*/ 0 w 181"/>
                    <a:gd name="T53" fmla="*/ 167 h 171"/>
                    <a:gd name="T54" fmla="*/ 0 w 181"/>
                    <a:gd name="T55" fmla="*/ 168 h 171"/>
                    <a:gd name="T56" fmla="*/ 0 w 181"/>
                    <a:gd name="T57" fmla="*/ 168 h 171"/>
                    <a:gd name="T58" fmla="*/ 1 w 181"/>
                    <a:gd name="T59" fmla="*/ 168 h 171"/>
                    <a:gd name="T60" fmla="*/ 1 w 181"/>
                    <a:gd name="T61" fmla="*/ 169 h 171"/>
                    <a:gd name="T62" fmla="*/ 2 w 181"/>
                    <a:gd name="T63" fmla="*/ 169 h 171"/>
                    <a:gd name="T64" fmla="*/ 2 w 181"/>
                    <a:gd name="T65" fmla="*/ 169 h 171"/>
                    <a:gd name="T66" fmla="*/ 3 w 181"/>
                    <a:gd name="T67" fmla="*/ 170 h 171"/>
                    <a:gd name="T68" fmla="*/ 3 w 181"/>
                    <a:gd name="T69" fmla="*/ 170 h 171"/>
                    <a:gd name="T70" fmla="*/ 176 w 181"/>
                    <a:gd name="T71" fmla="*/ 170 h 171"/>
                    <a:gd name="T72" fmla="*/ 176 w 181"/>
                    <a:gd name="T73" fmla="*/ 169 h 171"/>
                    <a:gd name="T74" fmla="*/ 177 w 181"/>
                    <a:gd name="T75" fmla="*/ 169 h 171"/>
                    <a:gd name="T76" fmla="*/ 177 w 181"/>
                    <a:gd name="T77" fmla="*/ 169 h 171"/>
                    <a:gd name="T78" fmla="*/ 178 w 181"/>
                    <a:gd name="T79" fmla="*/ 169 h 171"/>
                    <a:gd name="T80" fmla="*/ 178 w 181"/>
                    <a:gd name="T81" fmla="*/ 168 h 171"/>
                    <a:gd name="T82" fmla="*/ 178 w 181"/>
                    <a:gd name="T83" fmla="*/ 168 h 171"/>
                    <a:gd name="T84" fmla="*/ 179 w 181"/>
                    <a:gd name="T85" fmla="*/ 168 h 171"/>
                    <a:gd name="T86" fmla="*/ 179 w 181"/>
                    <a:gd name="T87" fmla="*/ 167 h 171"/>
                    <a:gd name="T88" fmla="*/ 180 w 181"/>
                    <a:gd name="T89" fmla="*/ 166 h 171"/>
                    <a:gd name="T90" fmla="*/ 180 w 181"/>
                    <a:gd name="T91" fmla="*/ 166 h 171"/>
                    <a:gd name="T92" fmla="*/ 180 w 181"/>
                    <a:gd name="T93" fmla="*/ 3 h 171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w 181"/>
                    <a:gd name="T142" fmla="*/ 0 h 171"/>
                    <a:gd name="T143" fmla="*/ 181 w 181"/>
                    <a:gd name="T144" fmla="*/ 171 h 171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T141" t="T142" r="T143" b="T144"/>
                  <a:pathLst>
                    <a:path w="181" h="171">
                      <a:moveTo>
                        <a:pt x="180" y="3"/>
                      </a:moveTo>
                      <a:lnTo>
                        <a:pt x="180" y="3"/>
                      </a:lnTo>
                      <a:lnTo>
                        <a:pt x="180" y="2"/>
                      </a:lnTo>
                      <a:lnTo>
                        <a:pt x="179" y="2"/>
                      </a:lnTo>
                      <a:lnTo>
                        <a:pt x="179" y="1"/>
                      </a:lnTo>
                      <a:lnTo>
                        <a:pt x="178" y="1"/>
                      </a:lnTo>
                      <a:lnTo>
                        <a:pt x="178" y="0"/>
                      </a:lnTo>
                      <a:lnTo>
                        <a:pt x="177" y="0"/>
                      </a:lnTo>
                      <a:lnTo>
                        <a:pt x="17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16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1" y="169"/>
                      </a:lnTo>
                      <a:lnTo>
                        <a:pt x="2" y="169"/>
                      </a:lnTo>
                      <a:lnTo>
                        <a:pt x="3" y="170"/>
                      </a:lnTo>
                      <a:lnTo>
                        <a:pt x="176" y="170"/>
                      </a:lnTo>
                      <a:lnTo>
                        <a:pt x="176" y="169"/>
                      </a:lnTo>
                      <a:lnTo>
                        <a:pt x="177" y="169"/>
                      </a:lnTo>
                      <a:lnTo>
                        <a:pt x="178" y="169"/>
                      </a:lnTo>
                      <a:lnTo>
                        <a:pt x="178" y="168"/>
                      </a:lnTo>
                      <a:lnTo>
                        <a:pt x="179" y="168"/>
                      </a:lnTo>
                      <a:lnTo>
                        <a:pt x="179" y="167"/>
                      </a:lnTo>
                      <a:lnTo>
                        <a:pt x="180" y="166"/>
                      </a:lnTo>
                      <a:lnTo>
                        <a:pt x="180" y="3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99" name="Freeform 219"/>
                <p:cNvSpPr>
                  <a:spLocks/>
                </p:cNvSpPr>
                <p:nvPr/>
              </p:nvSpPr>
              <p:spPr bwMode="auto">
                <a:xfrm>
                  <a:off x="3858" y="1282"/>
                  <a:ext cx="180" cy="168"/>
                </a:xfrm>
                <a:custGeom>
                  <a:avLst/>
                  <a:gdLst>
                    <a:gd name="T0" fmla="*/ 179 w 180"/>
                    <a:gd name="T1" fmla="*/ 163 h 168"/>
                    <a:gd name="T2" fmla="*/ 179 w 180"/>
                    <a:gd name="T3" fmla="*/ 164 h 168"/>
                    <a:gd name="T4" fmla="*/ 178 w 180"/>
                    <a:gd name="T5" fmla="*/ 165 h 168"/>
                    <a:gd name="T6" fmla="*/ 178 w 180"/>
                    <a:gd name="T7" fmla="*/ 165 h 168"/>
                    <a:gd name="T8" fmla="*/ 177 w 180"/>
                    <a:gd name="T9" fmla="*/ 166 h 168"/>
                    <a:gd name="T10" fmla="*/ 177 w 180"/>
                    <a:gd name="T11" fmla="*/ 166 h 168"/>
                    <a:gd name="T12" fmla="*/ 176 w 180"/>
                    <a:gd name="T13" fmla="*/ 167 h 168"/>
                    <a:gd name="T14" fmla="*/ 176 w 180"/>
                    <a:gd name="T15" fmla="*/ 167 h 168"/>
                    <a:gd name="T16" fmla="*/ 2 w 180"/>
                    <a:gd name="T17" fmla="*/ 167 h 168"/>
                    <a:gd name="T18" fmla="*/ 2 w 180"/>
                    <a:gd name="T19" fmla="*/ 167 h 168"/>
                    <a:gd name="T20" fmla="*/ 1 w 180"/>
                    <a:gd name="T21" fmla="*/ 167 h 168"/>
                    <a:gd name="T22" fmla="*/ 1 w 180"/>
                    <a:gd name="T23" fmla="*/ 166 h 168"/>
                    <a:gd name="T24" fmla="*/ 1 w 180"/>
                    <a:gd name="T25" fmla="*/ 166 h 168"/>
                    <a:gd name="T26" fmla="*/ 0 w 180"/>
                    <a:gd name="T27" fmla="*/ 166 h 168"/>
                    <a:gd name="T28" fmla="*/ 0 w 180"/>
                    <a:gd name="T29" fmla="*/ 165 h 168"/>
                    <a:gd name="T30" fmla="*/ 0 w 180"/>
                    <a:gd name="T31" fmla="*/ 165 h 168"/>
                    <a:gd name="T32" fmla="*/ 0 w 180"/>
                    <a:gd name="T33" fmla="*/ 165 h 168"/>
                    <a:gd name="T34" fmla="*/ 0 w 180"/>
                    <a:gd name="T35" fmla="*/ 164 h 168"/>
                    <a:gd name="T36" fmla="*/ 0 w 180"/>
                    <a:gd name="T37" fmla="*/ 163 h 168"/>
                    <a:gd name="T38" fmla="*/ 0 w 180"/>
                    <a:gd name="T39" fmla="*/ 3 h 168"/>
                    <a:gd name="T40" fmla="*/ 0 w 180"/>
                    <a:gd name="T41" fmla="*/ 2 h 168"/>
                    <a:gd name="T42" fmla="*/ 0 w 180"/>
                    <a:gd name="T43" fmla="*/ 1 h 168"/>
                    <a:gd name="T44" fmla="*/ 0 w 180"/>
                    <a:gd name="T45" fmla="*/ 1 h 168"/>
                    <a:gd name="T46" fmla="*/ 0 w 180"/>
                    <a:gd name="T47" fmla="*/ 1 h 168"/>
                    <a:gd name="T48" fmla="*/ 1 w 180"/>
                    <a:gd name="T49" fmla="*/ 0 h 168"/>
                    <a:gd name="T50" fmla="*/ 1 w 180"/>
                    <a:gd name="T51" fmla="*/ 0 h 168"/>
                    <a:gd name="T52" fmla="*/ 2 w 180"/>
                    <a:gd name="T53" fmla="*/ 0 h 168"/>
                    <a:gd name="T54" fmla="*/ 2 w 180"/>
                    <a:gd name="T55" fmla="*/ 0 h 168"/>
                    <a:gd name="T56" fmla="*/ 176 w 180"/>
                    <a:gd name="T57" fmla="*/ 0 h 168"/>
                    <a:gd name="T58" fmla="*/ 176 w 180"/>
                    <a:gd name="T59" fmla="*/ 0 h 168"/>
                    <a:gd name="T60" fmla="*/ 176 w 180"/>
                    <a:gd name="T61" fmla="*/ 0 h 168"/>
                    <a:gd name="T62" fmla="*/ 177 w 180"/>
                    <a:gd name="T63" fmla="*/ 0 h 168"/>
                    <a:gd name="T64" fmla="*/ 177 w 180"/>
                    <a:gd name="T65" fmla="*/ 0 h 168"/>
                    <a:gd name="T66" fmla="*/ 177 w 180"/>
                    <a:gd name="T67" fmla="*/ 1 h 168"/>
                    <a:gd name="T68" fmla="*/ 178 w 180"/>
                    <a:gd name="T69" fmla="*/ 1 h 168"/>
                    <a:gd name="T70" fmla="*/ 178 w 180"/>
                    <a:gd name="T71" fmla="*/ 1 h 168"/>
                    <a:gd name="T72" fmla="*/ 179 w 180"/>
                    <a:gd name="T73" fmla="*/ 2 h 168"/>
                    <a:gd name="T74" fmla="*/ 179 w 180"/>
                    <a:gd name="T75" fmla="*/ 3 h 168"/>
                    <a:gd name="T76" fmla="*/ 179 w 180"/>
                    <a:gd name="T77" fmla="*/ 16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80"/>
                    <a:gd name="T118" fmla="*/ 0 h 168"/>
                    <a:gd name="T119" fmla="*/ 180 w 180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80" h="168">
                      <a:moveTo>
                        <a:pt x="179" y="163"/>
                      </a:moveTo>
                      <a:lnTo>
                        <a:pt x="179" y="164"/>
                      </a:lnTo>
                      <a:lnTo>
                        <a:pt x="178" y="165"/>
                      </a:lnTo>
                      <a:lnTo>
                        <a:pt x="177" y="166"/>
                      </a:lnTo>
                      <a:lnTo>
                        <a:pt x="176" y="167"/>
                      </a:lnTo>
                      <a:lnTo>
                        <a:pt x="2" y="167"/>
                      </a:lnTo>
                      <a:lnTo>
                        <a:pt x="1" y="167"/>
                      </a:lnTo>
                      <a:lnTo>
                        <a:pt x="1" y="166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164"/>
                      </a:lnTo>
                      <a:lnTo>
                        <a:pt x="0" y="163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2" y="0"/>
                      </a:lnTo>
                      <a:lnTo>
                        <a:pt x="176" y="0"/>
                      </a:lnTo>
                      <a:lnTo>
                        <a:pt x="177" y="0"/>
                      </a:lnTo>
                      <a:lnTo>
                        <a:pt x="177" y="1"/>
                      </a:lnTo>
                      <a:lnTo>
                        <a:pt x="178" y="1"/>
                      </a:lnTo>
                      <a:lnTo>
                        <a:pt x="179" y="2"/>
                      </a:lnTo>
                      <a:lnTo>
                        <a:pt x="179" y="3"/>
                      </a:lnTo>
                      <a:lnTo>
                        <a:pt x="179" y="163"/>
                      </a:lnTo>
                    </a:path>
                  </a:pathLst>
                </a:custGeom>
                <a:solidFill>
                  <a:srgbClr val="EFEFD1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00" name="Freeform 220"/>
                <p:cNvSpPr>
                  <a:spLocks/>
                </p:cNvSpPr>
                <p:nvPr/>
              </p:nvSpPr>
              <p:spPr bwMode="auto">
                <a:xfrm>
                  <a:off x="3877" y="1304"/>
                  <a:ext cx="142" cy="124"/>
                </a:xfrm>
                <a:custGeom>
                  <a:avLst/>
                  <a:gdLst>
                    <a:gd name="T0" fmla="*/ 0 w 142"/>
                    <a:gd name="T1" fmla="*/ 1 h 124"/>
                    <a:gd name="T2" fmla="*/ 1 w 142"/>
                    <a:gd name="T3" fmla="*/ 1 h 124"/>
                    <a:gd name="T4" fmla="*/ 1 w 142"/>
                    <a:gd name="T5" fmla="*/ 1 h 124"/>
                    <a:gd name="T6" fmla="*/ 2 w 142"/>
                    <a:gd name="T7" fmla="*/ 0 h 124"/>
                    <a:gd name="T8" fmla="*/ 2 w 142"/>
                    <a:gd name="T9" fmla="*/ 0 h 124"/>
                    <a:gd name="T10" fmla="*/ 3 w 142"/>
                    <a:gd name="T11" fmla="*/ 0 h 124"/>
                    <a:gd name="T12" fmla="*/ 3 w 142"/>
                    <a:gd name="T13" fmla="*/ 0 h 124"/>
                    <a:gd name="T14" fmla="*/ 4 w 142"/>
                    <a:gd name="T15" fmla="*/ 0 h 124"/>
                    <a:gd name="T16" fmla="*/ 135 w 142"/>
                    <a:gd name="T17" fmla="*/ 0 h 124"/>
                    <a:gd name="T18" fmla="*/ 136 w 142"/>
                    <a:gd name="T19" fmla="*/ 0 h 124"/>
                    <a:gd name="T20" fmla="*/ 137 w 142"/>
                    <a:gd name="T21" fmla="*/ 0 h 124"/>
                    <a:gd name="T22" fmla="*/ 137 w 142"/>
                    <a:gd name="T23" fmla="*/ 0 h 124"/>
                    <a:gd name="T24" fmla="*/ 138 w 142"/>
                    <a:gd name="T25" fmla="*/ 0 h 124"/>
                    <a:gd name="T26" fmla="*/ 138 w 142"/>
                    <a:gd name="T27" fmla="*/ 1 h 124"/>
                    <a:gd name="T28" fmla="*/ 139 w 142"/>
                    <a:gd name="T29" fmla="*/ 1 h 124"/>
                    <a:gd name="T30" fmla="*/ 139 w 142"/>
                    <a:gd name="T31" fmla="*/ 1 h 124"/>
                    <a:gd name="T32" fmla="*/ 140 w 142"/>
                    <a:gd name="T33" fmla="*/ 2 h 124"/>
                    <a:gd name="T34" fmla="*/ 140 w 142"/>
                    <a:gd name="T35" fmla="*/ 3 h 124"/>
                    <a:gd name="T36" fmla="*/ 141 w 142"/>
                    <a:gd name="T37" fmla="*/ 3 h 124"/>
                    <a:gd name="T38" fmla="*/ 141 w 142"/>
                    <a:gd name="T39" fmla="*/ 4 h 124"/>
                    <a:gd name="T40" fmla="*/ 141 w 142"/>
                    <a:gd name="T41" fmla="*/ 5 h 124"/>
                    <a:gd name="T42" fmla="*/ 141 w 142"/>
                    <a:gd name="T43" fmla="*/ 117 h 124"/>
                    <a:gd name="T44" fmla="*/ 141 w 142"/>
                    <a:gd name="T45" fmla="*/ 119 h 124"/>
                    <a:gd name="T46" fmla="*/ 140 w 142"/>
                    <a:gd name="T47" fmla="*/ 119 h 124"/>
                    <a:gd name="T48" fmla="*/ 140 w 142"/>
                    <a:gd name="T49" fmla="*/ 120 h 124"/>
                    <a:gd name="T50" fmla="*/ 139 w 142"/>
                    <a:gd name="T51" fmla="*/ 121 h 124"/>
                    <a:gd name="T52" fmla="*/ 139 w 142"/>
                    <a:gd name="T53" fmla="*/ 121 h 124"/>
                    <a:gd name="T54" fmla="*/ 138 w 142"/>
                    <a:gd name="T55" fmla="*/ 122 h 124"/>
                    <a:gd name="T56" fmla="*/ 138 w 142"/>
                    <a:gd name="T57" fmla="*/ 122 h 124"/>
                    <a:gd name="T58" fmla="*/ 137 w 142"/>
                    <a:gd name="T59" fmla="*/ 122 h 124"/>
                    <a:gd name="T60" fmla="*/ 137 w 142"/>
                    <a:gd name="T61" fmla="*/ 123 h 124"/>
                    <a:gd name="T62" fmla="*/ 136 w 142"/>
                    <a:gd name="T63" fmla="*/ 123 h 124"/>
                    <a:gd name="T64" fmla="*/ 135 w 142"/>
                    <a:gd name="T65" fmla="*/ 123 h 124"/>
                    <a:gd name="T66" fmla="*/ 4 w 142"/>
                    <a:gd name="T67" fmla="*/ 123 h 124"/>
                    <a:gd name="T68" fmla="*/ 3 w 142"/>
                    <a:gd name="T69" fmla="*/ 123 h 124"/>
                    <a:gd name="T70" fmla="*/ 3 w 142"/>
                    <a:gd name="T71" fmla="*/ 123 h 124"/>
                    <a:gd name="T72" fmla="*/ 2 w 142"/>
                    <a:gd name="T73" fmla="*/ 122 h 124"/>
                    <a:gd name="T74" fmla="*/ 2 w 142"/>
                    <a:gd name="T75" fmla="*/ 122 h 124"/>
                    <a:gd name="T76" fmla="*/ 1 w 142"/>
                    <a:gd name="T77" fmla="*/ 122 h 124"/>
                    <a:gd name="T78" fmla="*/ 1 w 142"/>
                    <a:gd name="T79" fmla="*/ 121 h 124"/>
                    <a:gd name="T80" fmla="*/ 0 w 142"/>
                    <a:gd name="T81" fmla="*/ 121 h 124"/>
                    <a:gd name="T82" fmla="*/ 0 w 142"/>
                    <a:gd name="T83" fmla="*/ 120 h 124"/>
                    <a:gd name="T84" fmla="*/ 0 w 142"/>
                    <a:gd name="T85" fmla="*/ 119 h 124"/>
                    <a:gd name="T86" fmla="*/ 0 w 142"/>
                    <a:gd name="T87" fmla="*/ 119 h 124"/>
                    <a:gd name="T88" fmla="*/ 0 w 142"/>
                    <a:gd name="T89" fmla="*/ 117 h 124"/>
                    <a:gd name="T90" fmla="*/ 0 w 142"/>
                    <a:gd name="T91" fmla="*/ 5 h 124"/>
                    <a:gd name="T92" fmla="*/ 0 w 142"/>
                    <a:gd name="T93" fmla="*/ 4 h 124"/>
                    <a:gd name="T94" fmla="*/ 0 w 142"/>
                    <a:gd name="T95" fmla="*/ 3 h 124"/>
                    <a:gd name="T96" fmla="*/ 0 w 142"/>
                    <a:gd name="T97" fmla="*/ 3 h 124"/>
                    <a:gd name="T98" fmla="*/ 0 w 142"/>
                    <a:gd name="T99" fmla="*/ 2 h 124"/>
                    <a:gd name="T100" fmla="*/ 0 w 142"/>
                    <a:gd name="T101" fmla="*/ 1 h 124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42"/>
                    <a:gd name="T154" fmla="*/ 0 h 124"/>
                    <a:gd name="T155" fmla="*/ 142 w 142"/>
                    <a:gd name="T156" fmla="*/ 124 h 124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42" h="124">
                      <a:moveTo>
                        <a:pt x="0" y="1"/>
                      </a:moveTo>
                      <a:lnTo>
                        <a:pt x="1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8" y="1"/>
                      </a:lnTo>
                      <a:lnTo>
                        <a:pt x="139" y="1"/>
                      </a:lnTo>
                      <a:lnTo>
                        <a:pt x="140" y="2"/>
                      </a:lnTo>
                      <a:lnTo>
                        <a:pt x="140" y="3"/>
                      </a:lnTo>
                      <a:lnTo>
                        <a:pt x="141" y="3"/>
                      </a:lnTo>
                      <a:lnTo>
                        <a:pt x="141" y="4"/>
                      </a:lnTo>
                      <a:lnTo>
                        <a:pt x="141" y="5"/>
                      </a:lnTo>
                      <a:lnTo>
                        <a:pt x="141" y="117"/>
                      </a:lnTo>
                      <a:lnTo>
                        <a:pt x="141" y="119"/>
                      </a:lnTo>
                      <a:lnTo>
                        <a:pt x="140" y="119"/>
                      </a:lnTo>
                      <a:lnTo>
                        <a:pt x="140" y="120"/>
                      </a:lnTo>
                      <a:lnTo>
                        <a:pt x="139" y="121"/>
                      </a:lnTo>
                      <a:lnTo>
                        <a:pt x="138" y="122"/>
                      </a:lnTo>
                      <a:lnTo>
                        <a:pt x="137" y="122"/>
                      </a:lnTo>
                      <a:lnTo>
                        <a:pt x="137" y="123"/>
                      </a:lnTo>
                      <a:lnTo>
                        <a:pt x="136" y="123"/>
                      </a:lnTo>
                      <a:lnTo>
                        <a:pt x="135" y="123"/>
                      </a:lnTo>
                      <a:lnTo>
                        <a:pt x="4" y="123"/>
                      </a:lnTo>
                      <a:lnTo>
                        <a:pt x="3" y="123"/>
                      </a:lnTo>
                      <a:lnTo>
                        <a:pt x="2" y="122"/>
                      </a:lnTo>
                      <a:lnTo>
                        <a:pt x="1" y="122"/>
                      </a:lnTo>
                      <a:lnTo>
                        <a:pt x="1" y="121"/>
                      </a:lnTo>
                      <a:lnTo>
                        <a:pt x="0" y="121"/>
                      </a:lnTo>
                      <a:lnTo>
                        <a:pt x="0" y="120"/>
                      </a:lnTo>
                      <a:lnTo>
                        <a:pt x="0" y="119"/>
                      </a:lnTo>
                      <a:lnTo>
                        <a:pt x="0" y="117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</a:path>
                  </a:pathLst>
                </a:custGeom>
                <a:gradFill rotWithShape="0">
                  <a:gsLst>
                    <a:gs pos="0">
                      <a:srgbClr val="1D2B4B"/>
                    </a:gs>
                    <a:gs pos="50000">
                      <a:srgbClr val="618FFD"/>
                    </a:gs>
                    <a:gs pos="100000">
                      <a:srgbClr val="1D2B4B"/>
                    </a:gs>
                  </a:gsLst>
                  <a:lin ang="2700000" scaled="1"/>
                </a:gra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01" name="Freeform 221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4 h 17"/>
                    <a:gd name="T2" fmla="*/ 151 w 153"/>
                    <a:gd name="T3" fmla="*/ 3 h 17"/>
                    <a:gd name="T4" fmla="*/ 151 w 153"/>
                    <a:gd name="T5" fmla="*/ 2 h 17"/>
                    <a:gd name="T6" fmla="*/ 150 w 153"/>
                    <a:gd name="T7" fmla="*/ 2 h 17"/>
                    <a:gd name="T8" fmla="*/ 150 w 153"/>
                    <a:gd name="T9" fmla="*/ 2 h 17"/>
                    <a:gd name="T10" fmla="*/ 150 w 153"/>
                    <a:gd name="T11" fmla="*/ 1 h 17"/>
                    <a:gd name="T12" fmla="*/ 149 w 153"/>
                    <a:gd name="T13" fmla="*/ 1 h 17"/>
                    <a:gd name="T14" fmla="*/ 149 w 153"/>
                    <a:gd name="T15" fmla="*/ 1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1 h 17"/>
                    <a:gd name="T32" fmla="*/ 1 w 153"/>
                    <a:gd name="T33" fmla="*/ 1 h 17"/>
                    <a:gd name="T34" fmla="*/ 0 w 153"/>
                    <a:gd name="T35" fmla="*/ 2 h 17"/>
                    <a:gd name="T36" fmla="*/ 0 w 153"/>
                    <a:gd name="T37" fmla="*/ 2 h 17"/>
                    <a:gd name="T38" fmla="*/ 0 w 153"/>
                    <a:gd name="T39" fmla="*/ 3 h 17"/>
                    <a:gd name="T40" fmla="*/ 6 w 153"/>
                    <a:gd name="T41" fmla="*/ 16 h 17"/>
                    <a:gd name="T42" fmla="*/ 7 w 153"/>
                    <a:gd name="T43" fmla="*/ 14 h 17"/>
                    <a:gd name="T44" fmla="*/ 7 w 153"/>
                    <a:gd name="T45" fmla="*/ 14 h 17"/>
                    <a:gd name="T46" fmla="*/ 8 w 153"/>
                    <a:gd name="T47" fmla="*/ 13 h 17"/>
                    <a:gd name="T48" fmla="*/ 8 w 153"/>
                    <a:gd name="T49" fmla="*/ 13 h 17"/>
                    <a:gd name="T50" fmla="*/ 8 w 153"/>
                    <a:gd name="T51" fmla="*/ 12 h 17"/>
                    <a:gd name="T52" fmla="*/ 9 w 153"/>
                    <a:gd name="T53" fmla="*/ 12 h 17"/>
                    <a:gd name="T54" fmla="*/ 10 w 153"/>
                    <a:gd name="T55" fmla="*/ 12 h 17"/>
                    <a:gd name="T56" fmla="*/ 140 w 153"/>
                    <a:gd name="T57" fmla="*/ 12 h 17"/>
                    <a:gd name="T58" fmla="*/ 141 w 153"/>
                    <a:gd name="T59" fmla="*/ 12 h 17"/>
                    <a:gd name="T60" fmla="*/ 142 w 153"/>
                    <a:gd name="T61" fmla="*/ 12 h 17"/>
                    <a:gd name="T62" fmla="*/ 142 w 153"/>
                    <a:gd name="T63" fmla="*/ 13 h 17"/>
                    <a:gd name="T64" fmla="*/ 143 w 153"/>
                    <a:gd name="T65" fmla="*/ 13 h 17"/>
                    <a:gd name="T66" fmla="*/ 143 w 153"/>
                    <a:gd name="T67" fmla="*/ 14 h 17"/>
                    <a:gd name="T68" fmla="*/ 143 w 153"/>
                    <a:gd name="T69" fmla="*/ 14 h 17"/>
                    <a:gd name="T70" fmla="*/ 144 w 153"/>
                    <a:gd name="T71" fmla="*/ 14 h 17"/>
                    <a:gd name="T72" fmla="*/ 152 w 153"/>
                    <a:gd name="T73" fmla="*/ 4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53"/>
                    <a:gd name="T112" fmla="*/ 0 h 17"/>
                    <a:gd name="T113" fmla="*/ 153 w 153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53" h="17">
                      <a:moveTo>
                        <a:pt x="152" y="4"/>
                      </a:moveTo>
                      <a:lnTo>
                        <a:pt x="151" y="3"/>
                      </a:lnTo>
                      <a:lnTo>
                        <a:pt x="151" y="2"/>
                      </a:lnTo>
                      <a:lnTo>
                        <a:pt x="150" y="2"/>
                      </a:lnTo>
                      <a:lnTo>
                        <a:pt x="150" y="1"/>
                      </a:lnTo>
                      <a:lnTo>
                        <a:pt x="149" y="1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6" y="16"/>
                      </a:lnTo>
                      <a:lnTo>
                        <a:pt x="7" y="14"/>
                      </a:lnTo>
                      <a:lnTo>
                        <a:pt x="8" y="13"/>
                      </a:lnTo>
                      <a:lnTo>
                        <a:pt x="8" y="12"/>
                      </a:lnTo>
                      <a:lnTo>
                        <a:pt x="9" y="12"/>
                      </a:lnTo>
                      <a:lnTo>
                        <a:pt x="10" y="12"/>
                      </a:lnTo>
                      <a:lnTo>
                        <a:pt x="140" y="12"/>
                      </a:lnTo>
                      <a:lnTo>
                        <a:pt x="141" y="12"/>
                      </a:lnTo>
                      <a:lnTo>
                        <a:pt x="142" y="12"/>
                      </a:lnTo>
                      <a:lnTo>
                        <a:pt x="142" y="13"/>
                      </a:lnTo>
                      <a:lnTo>
                        <a:pt x="143" y="13"/>
                      </a:lnTo>
                      <a:lnTo>
                        <a:pt x="143" y="14"/>
                      </a:lnTo>
                      <a:lnTo>
                        <a:pt x="144" y="14"/>
                      </a:lnTo>
                      <a:lnTo>
                        <a:pt x="152" y="4"/>
                      </a:lnTo>
                    </a:path>
                  </a:pathLst>
                </a:custGeom>
                <a:solidFill>
                  <a:srgbClr val="9F9FA2"/>
                </a:solidFill>
                <a:ln w="12700" cap="rnd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02" name="Freeform 222"/>
                <p:cNvSpPr>
                  <a:spLocks/>
                </p:cNvSpPr>
                <p:nvPr/>
              </p:nvSpPr>
              <p:spPr bwMode="auto">
                <a:xfrm>
                  <a:off x="3870" y="1299"/>
                  <a:ext cx="17" cy="135"/>
                </a:xfrm>
                <a:custGeom>
                  <a:avLst/>
                  <a:gdLst>
                    <a:gd name="T0" fmla="*/ 2 w 17"/>
                    <a:gd name="T1" fmla="*/ 0 h 135"/>
                    <a:gd name="T2" fmla="*/ 1 w 17"/>
                    <a:gd name="T3" fmla="*/ 0 h 135"/>
                    <a:gd name="T4" fmla="*/ 0 w 17"/>
                    <a:gd name="T5" fmla="*/ 1 h 135"/>
                    <a:gd name="T6" fmla="*/ 0 w 17"/>
                    <a:gd name="T7" fmla="*/ 2 h 135"/>
                    <a:gd name="T8" fmla="*/ 0 w 17"/>
                    <a:gd name="T9" fmla="*/ 2 h 135"/>
                    <a:gd name="T10" fmla="*/ 0 w 17"/>
                    <a:gd name="T11" fmla="*/ 3 h 135"/>
                    <a:gd name="T12" fmla="*/ 0 w 17"/>
                    <a:gd name="T13" fmla="*/ 4 h 135"/>
                    <a:gd name="T14" fmla="*/ 0 w 17"/>
                    <a:gd name="T15" fmla="*/ 130 h 135"/>
                    <a:gd name="T16" fmla="*/ 0 w 17"/>
                    <a:gd name="T17" fmla="*/ 130 h 135"/>
                    <a:gd name="T18" fmla="*/ 0 w 17"/>
                    <a:gd name="T19" fmla="*/ 131 h 135"/>
                    <a:gd name="T20" fmla="*/ 0 w 17"/>
                    <a:gd name="T21" fmla="*/ 132 h 135"/>
                    <a:gd name="T22" fmla="*/ 0 w 17"/>
                    <a:gd name="T23" fmla="*/ 132 h 135"/>
                    <a:gd name="T24" fmla="*/ 1 w 17"/>
                    <a:gd name="T25" fmla="*/ 133 h 135"/>
                    <a:gd name="T26" fmla="*/ 2 w 17"/>
                    <a:gd name="T27" fmla="*/ 133 h 135"/>
                    <a:gd name="T28" fmla="*/ 2 w 17"/>
                    <a:gd name="T29" fmla="*/ 134 h 135"/>
                    <a:gd name="T30" fmla="*/ 3 w 17"/>
                    <a:gd name="T31" fmla="*/ 134 h 135"/>
                    <a:gd name="T32" fmla="*/ 16 w 17"/>
                    <a:gd name="T33" fmla="*/ 127 h 135"/>
                    <a:gd name="T34" fmla="*/ 15 w 17"/>
                    <a:gd name="T35" fmla="*/ 126 h 135"/>
                    <a:gd name="T36" fmla="*/ 15 w 17"/>
                    <a:gd name="T37" fmla="*/ 126 h 135"/>
                    <a:gd name="T38" fmla="*/ 14 w 17"/>
                    <a:gd name="T39" fmla="*/ 126 h 135"/>
                    <a:gd name="T40" fmla="*/ 14 w 17"/>
                    <a:gd name="T41" fmla="*/ 125 h 135"/>
                    <a:gd name="T42" fmla="*/ 13 w 17"/>
                    <a:gd name="T43" fmla="*/ 124 h 135"/>
                    <a:gd name="T44" fmla="*/ 13 w 17"/>
                    <a:gd name="T45" fmla="*/ 124 h 135"/>
                    <a:gd name="T46" fmla="*/ 13 w 17"/>
                    <a:gd name="T47" fmla="*/ 10 h 135"/>
                    <a:gd name="T48" fmla="*/ 13 w 17"/>
                    <a:gd name="T49" fmla="*/ 9 h 135"/>
                    <a:gd name="T50" fmla="*/ 13 w 17"/>
                    <a:gd name="T51" fmla="*/ 8 h 135"/>
                    <a:gd name="T52" fmla="*/ 14 w 17"/>
                    <a:gd name="T53" fmla="*/ 8 h 135"/>
                    <a:gd name="T54" fmla="*/ 15 w 17"/>
                    <a:gd name="T55" fmla="*/ 7 h 135"/>
                    <a:gd name="T56" fmla="*/ 15 w 17"/>
                    <a:gd name="T57" fmla="*/ 6 h 135"/>
                    <a:gd name="T58" fmla="*/ 2 w 17"/>
                    <a:gd name="T59" fmla="*/ 0 h 135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w 17"/>
                    <a:gd name="T91" fmla="*/ 0 h 135"/>
                    <a:gd name="T92" fmla="*/ 17 w 17"/>
                    <a:gd name="T93" fmla="*/ 135 h 135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T90" t="T91" r="T92" b="T93"/>
                  <a:pathLst>
                    <a:path w="17" h="135">
                      <a:moveTo>
                        <a:pt x="2" y="0"/>
                      </a:moveTo>
                      <a:lnTo>
                        <a:pt x="1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0" y="130"/>
                      </a:lnTo>
                      <a:lnTo>
                        <a:pt x="0" y="131"/>
                      </a:lnTo>
                      <a:lnTo>
                        <a:pt x="0" y="132"/>
                      </a:lnTo>
                      <a:lnTo>
                        <a:pt x="1" y="133"/>
                      </a:lnTo>
                      <a:lnTo>
                        <a:pt x="2" y="133"/>
                      </a:lnTo>
                      <a:lnTo>
                        <a:pt x="2" y="134"/>
                      </a:lnTo>
                      <a:lnTo>
                        <a:pt x="3" y="134"/>
                      </a:lnTo>
                      <a:lnTo>
                        <a:pt x="16" y="127"/>
                      </a:lnTo>
                      <a:lnTo>
                        <a:pt x="15" y="126"/>
                      </a:lnTo>
                      <a:lnTo>
                        <a:pt x="14" y="126"/>
                      </a:lnTo>
                      <a:lnTo>
                        <a:pt x="14" y="125"/>
                      </a:lnTo>
                      <a:lnTo>
                        <a:pt x="13" y="124"/>
                      </a:lnTo>
                      <a:lnTo>
                        <a:pt x="13" y="10"/>
                      </a:lnTo>
                      <a:lnTo>
                        <a:pt x="13" y="9"/>
                      </a:lnTo>
                      <a:lnTo>
                        <a:pt x="13" y="8"/>
                      </a:lnTo>
                      <a:lnTo>
                        <a:pt x="14" y="8"/>
                      </a:lnTo>
                      <a:lnTo>
                        <a:pt x="15" y="7"/>
                      </a:lnTo>
                      <a:lnTo>
                        <a:pt x="15" y="6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666666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03" name="Freeform 223"/>
                <p:cNvSpPr>
                  <a:spLocks/>
                </p:cNvSpPr>
                <p:nvPr/>
              </p:nvSpPr>
              <p:spPr bwMode="auto">
                <a:xfrm>
                  <a:off x="3872" y="1300"/>
                  <a:ext cx="155" cy="136"/>
                </a:xfrm>
                <a:custGeom>
                  <a:avLst/>
                  <a:gdLst>
                    <a:gd name="T0" fmla="*/ 0 w 155"/>
                    <a:gd name="T1" fmla="*/ 133 h 136"/>
                    <a:gd name="T2" fmla="*/ 0 w 155"/>
                    <a:gd name="T3" fmla="*/ 134 h 136"/>
                    <a:gd name="T4" fmla="*/ 0 w 155"/>
                    <a:gd name="T5" fmla="*/ 134 h 136"/>
                    <a:gd name="T6" fmla="*/ 1 w 155"/>
                    <a:gd name="T7" fmla="*/ 134 h 136"/>
                    <a:gd name="T8" fmla="*/ 1 w 155"/>
                    <a:gd name="T9" fmla="*/ 134 h 136"/>
                    <a:gd name="T10" fmla="*/ 2 w 155"/>
                    <a:gd name="T11" fmla="*/ 135 h 136"/>
                    <a:gd name="T12" fmla="*/ 2 w 155"/>
                    <a:gd name="T13" fmla="*/ 135 h 136"/>
                    <a:gd name="T14" fmla="*/ 3 w 155"/>
                    <a:gd name="T15" fmla="*/ 135 h 136"/>
                    <a:gd name="T16" fmla="*/ 148 w 155"/>
                    <a:gd name="T17" fmla="*/ 135 h 136"/>
                    <a:gd name="T18" fmla="*/ 150 w 155"/>
                    <a:gd name="T19" fmla="*/ 134 h 136"/>
                    <a:gd name="T20" fmla="*/ 151 w 155"/>
                    <a:gd name="T21" fmla="*/ 134 h 136"/>
                    <a:gd name="T22" fmla="*/ 151 w 155"/>
                    <a:gd name="T23" fmla="*/ 133 h 136"/>
                    <a:gd name="T24" fmla="*/ 152 w 155"/>
                    <a:gd name="T25" fmla="*/ 133 h 136"/>
                    <a:gd name="T26" fmla="*/ 152 w 155"/>
                    <a:gd name="T27" fmla="*/ 133 h 136"/>
                    <a:gd name="T28" fmla="*/ 153 w 155"/>
                    <a:gd name="T29" fmla="*/ 132 h 136"/>
                    <a:gd name="T30" fmla="*/ 153 w 155"/>
                    <a:gd name="T31" fmla="*/ 131 h 136"/>
                    <a:gd name="T32" fmla="*/ 154 w 155"/>
                    <a:gd name="T33" fmla="*/ 131 h 136"/>
                    <a:gd name="T34" fmla="*/ 154 w 155"/>
                    <a:gd name="T35" fmla="*/ 129 h 136"/>
                    <a:gd name="T36" fmla="*/ 154 w 155"/>
                    <a:gd name="T37" fmla="*/ 129 h 136"/>
                    <a:gd name="T38" fmla="*/ 154 w 155"/>
                    <a:gd name="T39" fmla="*/ 3 h 136"/>
                    <a:gd name="T40" fmla="*/ 154 w 155"/>
                    <a:gd name="T41" fmla="*/ 2 h 136"/>
                    <a:gd name="T42" fmla="*/ 154 w 155"/>
                    <a:gd name="T43" fmla="*/ 1 h 136"/>
                    <a:gd name="T44" fmla="*/ 154 w 155"/>
                    <a:gd name="T45" fmla="*/ 1 h 136"/>
                    <a:gd name="T46" fmla="*/ 153 w 155"/>
                    <a:gd name="T47" fmla="*/ 1 h 136"/>
                    <a:gd name="T48" fmla="*/ 153 w 155"/>
                    <a:gd name="T49" fmla="*/ 0 h 136"/>
                    <a:gd name="T50" fmla="*/ 153 w 155"/>
                    <a:gd name="T51" fmla="*/ 0 h 136"/>
                    <a:gd name="T52" fmla="*/ 145 w 155"/>
                    <a:gd name="T53" fmla="*/ 5 h 136"/>
                    <a:gd name="T54" fmla="*/ 145 w 155"/>
                    <a:gd name="T55" fmla="*/ 5 h 136"/>
                    <a:gd name="T56" fmla="*/ 146 w 155"/>
                    <a:gd name="T57" fmla="*/ 6 h 136"/>
                    <a:gd name="T58" fmla="*/ 146 w 155"/>
                    <a:gd name="T59" fmla="*/ 7 h 136"/>
                    <a:gd name="T60" fmla="*/ 146 w 155"/>
                    <a:gd name="T61" fmla="*/ 7 h 136"/>
                    <a:gd name="T62" fmla="*/ 146 w 155"/>
                    <a:gd name="T63" fmla="*/ 7 h 136"/>
                    <a:gd name="T64" fmla="*/ 146 w 155"/>
                    <a:gd name="T65" fmla="*/ 8 h 136"/>
                    <a:gd name="T66" fmla="*/ 146 w 155"/>
                    <a:gd name="T67" fmla="*/ 9 h 136"/>
                    <a:gd name="T68" fmla="*/ 146 w 155"/>
                    <a:gd name="T69" fmla="*/ 9 h 136"/>
                    <a:gd name="T70" fmla="*/ 146 w 155"/>
                    <a:gd name="T71" fmla="*/ 123 h 136"/>
                    <a:gd name="T72" fmla="*/ 146 w 155"/>
                    <a:gd name="T73" fmla="*/ 123 h 136"/>
                    <a:gd name="T74" fmla="*/ 146 w 155"/>
                    <a:gd name="T75" fmla="*/ 124 h 136"/>
                    <a:gd name="T76" fmla="*/ 146 w 155"/>
                    <a:gd name="T77" fmla="*/ 125 h 136"/>
                    <a:gd name="T78" fmla="*/ 146 w 155"/>
                    <a:gd name="T79" fmla="*/ 125 h 136"/>
                    <a:gd name="T80" fmla="*/ 145 w 155"/>
                    <a:gd name="T81" fmla="*/ 126 h 136"/>
                    <a:gd name="T82" fmla="*/ 145 w 155"/>
                    <a:gd name="T83" fmla="*/ 127 h 136"/>
                    <a:gd name="T84" fmla="*/ 144 w 155"/>
                    <a:gd name="T85" fmla="*/ 127 h 136"/>
                    <a:gd name="T86" fmla="*/ 143 w 155"/>
                    <a:gd name="T87" fmla="*/ 127 h 136"/>
                    <a:gd name="T88" fmla="*/ 143 w 155"/>
                    <a:gd name="T89" fmla="*/ 128 h 136"/>
                    <a:gd name="T90" fmla="*/ 142 w 155"/>
                    <a:gd name="T91" fmla="*/ 128 h 136"/>
                    <a:gd name="T92" fmla="*/ 142 w 155"/>
                    <a:gd name="T93" fmla="*/ 128 h 136"/>
                    <a:gd name="T94" fmla="*/ 9 w 155"/>
                    <a:gd name="T95" fmla="*/ 128 h 136"/>
                    <a:gd name="T96" fmla="*/ 8 w 155"/>
                    <a:gd name="T97" fmla="*/ 128 h 136"/>
                    <a:gd name="T98" fmla="*/ 8 w 155"/>
                    <a:gd name="T99" fmla="*/ 128 h 136"/>
                    <a:gd name="T100" fmla="*/ 8 w 155"/>
                    <a:gd name="T101" fmla="*/ 127 h 136"/>
                    <a:gd name="T102" fmla="*/ 7 w 155"/>
                    <a:gd name="T103" fmla="*/ 127 h 136"/>
                    <a:gd name="T104" fmla="*/ 7 w 155"/>
                    <a:gd name="T105" fmla="*/ 127 h 136"/>
                    <a:gd name="T106" fmla="*/ 6 w 155"/>
                    <a:gd name="T107" fmla="*/ 127 h 136"/>
                    <a:gd name="T108" fmla="*/ 6 w 155"/>
                    <a:gd name="T109" fmla="*/ 127 h 136"/>
                    <a:gd name="T110" fmla="*/ 0 w 155"/>
                    <a:gd name="T111" fmla="*/ 133 h 1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55"/>
                    <a:gd name="T169" fmla="*/ 0 h 136"/>
                    <a:gd name="T170" fmla="*/ 155 w 155"/>
                    <a:gd name="T171" fmla="*/ 136 h 136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55" h="136">
                      <a:moveTo>
                        <a:pt x="0" y="133"/>
                      </a:moveTo>
                      <a:lnTo>
                        <a:pt x="0" y="134"/>
                      </a:lnTo>
                      <a:lnTo>
                        <a:pt x="1" y="134"/>
                      </a:lnTo>
                      <a:lnTo>
                        <a:pt x="2" y="135"/>
                      </a:lnTo>
                      <a:lnTo>
                        <a:pt x="3" y="135"/>
                      </a:lnTo>
                      <a:lnTo>
                        <a:pt x="148" y="135"/>
                      </a:lnTo>
                      <a:lnTo>
                        <a:pt x="150" y="134"/>
                      </a:lnTo>
                      <a:lnTo>
                        <a:pt x="151" y="134"/>
                      </a:lnTo>
                      <a:lnTo>
                        <a:pt x="151" y="133"/>
                      </a:lnTo>
                      <a:lnTo>
                        <a:pt x="152" y="133"/>
                      </a:lnTo>
                      <a:lnTo>
                        <a:pt x="153" y="132"/>
                      </a:lnTo>
                      <a:lnTo>
                        <a:pt x="153" y="131"/>
                      </a:lnTo>
                      <a:lnTo>
                        <a:pt x="154" y="131"/>
                      </a:lnTo>
                      <a:lnTo>
                        <a:pt x="154" y="129"/>
                      </a:lnTo>
                      <a:lnTo>
                        <a:pt x="154" y="3"/>
                      </a:lnTo>
                      <a:lnTo>
                        <a:pt x="154" y="2"/>
                      </a:lnTo>
                      <a:lnTo>
                        <a:pt x="154" y="1"/>
                      </a:lnTo>
                      <a:lnTo>
                        <a:pt x="153" y="1"/>
                      </a:lnTo>
                      <a:lnTo>
                        <a:pt x="153" y="0"/>
                      </a:lnTo>
                      <a:lnTo>
                        <a:pt x="145" y="5"/>
                      </a:lnTo>
                      <a:lnTo>
                        <a:pt x="146" y="6"/>
                      </a:lnTo>
                      <a:lnTo>
                        <a:pt x="146" y="7"/>
                      </a:lnTo>
                      <a:lnTo>
                        <a:pt x="146" y="8"/>
                      </a:lnTo>
                      <a:lnTo>
                        <a:pt x="146" y="9"/>
                      </a:lnTo>
                      <a:lnTo>
                        <a:pt x="146" y="123"/>
                      </a:lnTo>
                      <a:lnTo>
                        <a:pt x="146" y="124"/>
                      </a:lnTo>
                      <a:lnTo>
                        <a:pt x="146" y="125"/>
                      </a:lnTo>
                      <a:lnTo>
                        <a:pt x="145" y="126"/>
                      </a:lnTo>
                      <a:lnTo>
                        <a:pt x="145" y="127"/>
                      </a:lnTo>
                      <a:lnTo>
                        <a:pt x="144" y="127"/>
                      </a:lnTo>
                      <a:lnTo>
                        <a:pt x="143" y="127"/>
                      </a:lnTo>
                      <a:lnTo>
                        <a:pt x="143" y="128"/>
                      </a:lnTo>
                      <a:lnTo>
                        <a:pt x="142" y="128"/>
                      </a:lnTo>
                      <a:lnTo>
                        <a:pt x="9" y="128"/>
                      </a:lnTo>
                      <a:lnTo>
                        <a:pt x="8" y="128"/>
                      </a:lnTo>
                      <a:lnTo>
                        <a:pt x="8" y="127"/>
                      </a:lnTo>
                      <a:lnTo>
                        <a:pt x="7" y="127"/>
                      </a:lnTo>
                      <a:lnTo>
                        <a:pt x="6" y="127"/>
                      </a:lnTo>
                      <a:lnTo>
                        <a:pt x="0" y="133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04" name="Freeform 224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16 h 17"/>
                    <a:gd name="T2" fmla="*/ 151 w 153"/>
                    <a:gd name="T3" fmla="*/ 16 h 17"/>
                    <a:gd name="T4" fmla="*/ 151 w 153"/>
                    <a:gd name="T5" fmla="*/ 10 h 17"/>
                    <a:gd name="T6" fmla="*/ 150 w 153"/>
                    <a:gd name="T7" fmla="*/ 10 h 17"/>
                    <a:gd name="T8" fmla="*/ 150 w 153"/>
                    <a:gd name="T9" fmla="*/ 10 h 17"/>
                    <a:gd name="T10" fmla="*/ 150 w 153"/>
                    <a:gd name="T11" fmla="*/ 5 h 17"/>
                    <a:gd name="T12" fmla="*/ 149 w 153"/>
                    <a:gd name="T13" fmla="*/ 5 h 17"/>
                    <a:gd name="T14" fmla="*/ 149 w 153"/>
                    <a:gd name="T15" fmla="*/ 5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5 h 17"/>
                    <a:gd name="T32" fmla="*/ 1 w 153"/>
                    <a:gd name="T33" fmla="*/ 5 h 17"/>
                    <a:gd name="T34" fmla="*/ 0 w 153"/>
                    <a:gd name="T35" fmla="*/ 10 h 17"/>
                    <a:gd name="T36" fmla="*/ 0 w 153"/>
                    <a:gd name="T37" fmla="*/ 10 h 17"/>
                    <a:gd name="T38" fmla="*/ 0 w 153"/>
                    <a:gd name="T39" fmla="*/ 16 h 17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153"/>
                    <a:gd name="T61" fmla="*/ 0 h 17"/>
                    <a:gd name="T62" fmla="*/ 153 w 153"/>
                    <a:gd name="T63" fmla="*/ 17 h 17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153" h="17">
                      <a:moveTo>
                        <a:pt x="152" y="16"/>
                      </a:moveTo>
                      <a:lnTo>
                        <a:pt x="151" y="16"/>
                      </a:lnTo>
                      <a:lnTo>
                        <a:pt x="151" y="10"/>
                      </a:lnTo>
                      <a:lnTo>
                        <a:pt x="150" y="10"/>
                      </a:lnTo>
                      <a:lnTo>
                        <a:pt x="150" y="5"/>
                      </a:lnTo>
                      <a:lnTo>
                        <a:pt x="149" y="5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5"/>
                      </a:lnTo>
                      <a:lnTo>
                        <a:pt x="0" y="1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 cap="rnd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05" name="Freeform 225"/>
                <p:cNvSpPr>
                  <a:spLocks/>
                </p:cNvSpPr>
                <p:nvPr/>
              </p:nvSpPr>
              <p:spPr bwMode="auto">
                <a:xfrm>
                  <a:off x="3843" y="1489"/>
                  <a:ext cx="215" cy="72"/>
                </a:xfrm>
                <a:custGeom>
                  <a:avLst/>
                  <a:gdLst>
                    <a:gd name="T0" fmla="*/ 0 w 215"/>
                    <a:gd name="T1" fmla="*/ 71 h 72"/>
                    <a:gd name="T2" fmla="*/ 0 w 215"/>
                    <a:gd name="T3" fmla="*/ 0 h 72"/>
                    <a:gd name="T4" fmla="*/ 214 w 215"/>
                    <a:gd name="T5" fmla="*/ 0 h 72"/>
                    <a:gd name="T6" fmla="*/ 214 w 215"/>
                    <a:gd name="T7" fmla="*/ 71 h 72"/>
                    <a:gd name="T8" fmla="*/ 0 w 215"/>
                    <a:gd name="T9" fmla="*/ 71 h 7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15"/>
                    <a:gd name="T16" fmla="*/ 0 h 72"/>
                    <a:gd name="T17" fmla="*/ 215 w 215"/>
                    <a:gd name="T18" fmla="*/ 72 h 7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15" h="72">
                      <a:moveTo>
                        <a:pt x="0" y="71"/>
                      </a:moveTo>
                      <a:lnTo>
                        <a:pt x="0" y="0"/>
                      </a:lnTo>
                      <a:lnTo>
                        <a:pt x="214" y="0"/>
                      </a:lnTo>
                      <a:lnTo>
                        <a:pt x="214" y="71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06" name="Freeform 226"/>
                <p:cNvSpPr>
                  <a:spLocks/>
                </p:cNvSpPr>
                <p:nvPr/>
              </p:nvSpPr>
              <p:spPr bwMode="auto">
                <a:xfrm>
                  <a:off x="3841" y="1489"/>
                  <a:ext cx="219" cy="23"/>
                </a:xfrm>
                <a:custGeom>
                  <a:avLst/>
                  <a:gdLst>
                    <a:gd name="T0" fmla="*/ 79 w 219"/>
                    <a:gd name="T1" fmla="*/ 0 h 23"/>
                    <a:gd name="T2" fmla="*/ 0 w 219"/>
                    <a:gd name="T3" fmla="*/ 0 h 23"/>
                    <a:gd name="T4" fmla="*/ 0 w 219"/>
                    <a:gd name="T5" fmla="*/ 22 h 23"/>
                    <a:gd name="T6" fmla="*/ 218 w 219"/>
                    <a:gd name="T7" fmla="*/ 22 h 23"/>
                    <a:gd name="T8" fmla="*/ 215 w 219"/>
                    <a:gd name="T9" fmla="*/ 0 h 23"/>
                    <a:gd name="T10" fmla="*/ 137 w 219"/>
                    <a:gd name="T11" fmla="*/ 0 h 23"/>
                    <a:gd name="T12" fmla="*/ 79 w 219"/>
                    <a:gd name="T13" fmla="*/ 0 h 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19"/>
                    <a:gd name="T22" fmla="*/ 0 h 23"/>
                    <a:gd name="T23" fmla="*/ 219 w 219"/>
                    <a:gd name="T24" fmla="*/ 23 h 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9" h="23">
                      <a:moveTo>
                        <a:pt x="79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218" y="22"/>
                      </a:lnTo>
                      <a:lnTo>
                        <a:pt x="215" y="0"/>
                      </a:lnTo>
                      <a:lnTo>
                        <a:pt x="137" y="0"/>
                      </a:lnTo>
                      <a:lnTo>
                        <a:pt x="79" y="0"/>
                      </a:lnTo>
                    </a:path>
                  </a:pathLst>
                </a:custGeom>
                <a:solidFill>
                  <a:srgbClr val="EFEFD1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07" name="Freeform 227"/>
                <p:cNvSpPr>
                  <a:spLocks/>
                </p:cNvSpPr>
                <p:nvPr/>
              </p:nvSpPr>
              <p:spPr bwMode="auto">
                <a:xfrm>
                  <a:off x="3991" y="1495"/>
                  <a:ext cx="56" cy="17"/>
                </a:xfrm>
                <a:custGeom>
                  <a:avLst/>
                  <a:gdLst>
                    <a:gd name="T0" fmla="*/ 0 w 56"/>
                    <a:gd name="T1" fmla="*/ 6 h 17"/>
                    <a:gd name="T2" fmla="*/ 18 w 56"/>
                    <a:gd name="T3" fmla="*/ 6 h 17"/>
                    <a:gd name="T4" fmla="*/ 18 w 56"/>
                    <a:gd name="T5" fmla="*/ 0 h 17"/>
                    <a:gd name="T6" fmla="*/ 35 w 56"/>
                    <a:gd name="T7" fmla="*/ 0 h 17"/>
                    <a:gd name="T8" fmla="*/ 35 w 56"/>
                    <a:gd name="T9" fmla="*/ 6 h 17"/>
                    <a:gd name="T10" fmla="*/ 55 w 56"/>
                    <a:gd name="T11" fmla="*/ 6 h 17"/>
                    <a:gd name="T12" fmla="*/ 55 w 56"/>
                    <a:gd name="T13" fmla="*/ 10 h 17"/>
                    <a:gd name="T14" fmla="*/ 35 w 56"/>
                    <a:gd name="T15" fmla="*/ 10 h 17"/>
                    <a:gd name="T16" fmla="*/ 35 w 56"/>
                    <a:gd name="T17" fmla="*/ 16 h 17"/>
                    <a:gd name="T18" fmla="*/ 18 w 56"/>
                    <a:gd name="T19" fmla="*/ 16 h 17"/>
                    <a:gd name="T20" fmla="*/ 18 w 56"/>
                    <a:gd name="T21" fmla="*/ 10 h 17"/>
                    <a:gd name="T22" fmla="*/ 0 w 56"/>
                    <a:gd name="T23" fmla="*/ 10 h 17"/>
                    <a:gd name="T24" fmla="*/ 0 w 56"/>
                    <a:gd name="T25" fmla="*/ 6 h 17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56"/>
                    <a:gd name="T40" fmla="*/ 0 h 17"/>
                    <a:gd name="T41" fmla="*/ 56 w 56"/>
                    <a:gd name="T42" fmla="*/ 17 h 17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56" h="17">
                      <a:moveTo>
                        <a:pt x="0" y="6"/>
                      </a:moveTo>
                      <a:lnTo>
                        <a:pt x="18" y="6"/>
                      </a:lnTo>
                      <a:lnTo>
                        <a:pt x="18" y="0"/>
                      </a:lnTo>
                      <a:lnTo>
                        <a:pt x="35" y="0"/>
                      </a:lnTo>
                      <a:lnTo>
                        <a:pt x="35" y="6"/>
                      </a:lnTo>
                      <a:lnTo>
                        <a:pt x="55" y="6"/>
                      </a:lnTo>
                      <a:lnTo>
                        <a:pt x="55" y="10"/>
                      </a:lnTo>
                      <a:lnTo>
                        <a:pt x="35" y="10"/>
                      </a:lnTo>
                      <a:lnTo>
                        <a:pt x="35" y="16"/>
                      </a:lnTo>
                      <a:lnTo>
                        <a:pt x="18" y="16"/>
                      </a:lnTo>
                      <a:lnTo>
                        <a:pt x="18" y="10"/>
                      </a:lnTo>
                      <a:lnTo>
                        <a:pt x="0" y="10"/>
                      </a:lnTo>
                      <a:lnTo>
                        <a:pt x="0" y="6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08" name="Freeform 228"/>
                <p:cNvSpPr>
                  <a:spLocks/>
                </p:cNvSpPr>
                <p:nvPr/>
              </p:nvSpPr>
              <p:spPr bwMode="auto">
                <a:xfrm>
                  <a:off x="3991" y="1501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0 h 17"/>
                    <a:gd name="T4" fmla="*/ 16 w 17"/>
                    <a:gd name="T5" fmla="*/ 5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17"/>
                    <a:gd name="T14" fmla="*/ 17 w 17"/>
                    <a:gd name="T15" fmla="*/ 17 h 1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17">
                      <a:moveTo>
                        <a:pt x="0" y="16"/>
                      </a:moveTo>
                      <a:lnTo>
                        <a:pt x="16" y="10"/>
                      </a:lnTo>
                      <a:lnTo>
                        <a:pt x="16" y="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rnd">
                  <a:solidFill>
                    <a:srgbClr val="EFEFD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09" name="Freeform 229"/>
                <p:cNvSpPr>
                  <a:spLocks/>
                </p:cNvSpPr>
                <p:nvPr/>
              </p:nvSpPr>
              <p:spPr bwMode="auto">
                <a:xfrm>
                  <a:off x="4010" y="149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rnd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10" name="Freeform 230"/>
                <p:cNvSpPr>
                  <a:spLocks/>
                </p:cNvSpPr>
                <p:nvPr/>
              </p:nvSpPr>
              <p:spPr bwMode="auto">
                <a:xfrm>
                  <a:off x="4046" y="1504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rnd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11" name="Freeform 231"/>
                <p:cNvSpPr>
                  <a:spLocks/>
                </p:cNvSpPr>
                <p:nvPr/>
              </p:nvSpPr>
              <p:spPr bwMode="auto">
                <a:xfrm>
                  <a:off x="4027" y="1495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0 h 17"/>
                    <a:gd name="T4" fmla="*/ 0 w 17"/>
                    <a:gd name="T5" fmla="*/ 16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16"/>
                      </a:moveTo>
                      <a:lnTo>
                        <a:pt x="16" y="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 cap="rnd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12" name="Freeform 232"/>
                <p:cNvSpPr>
                  <a:spLocks/>
                </p:cNvSpPr>
                <p:nvPr/>
              </p:nvSpPr>
              <p:spPr bwMode="auto">
                <a:xfrm>
                  <a:off x="4011" y="1499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6 h 17"/>
                    <a:gd name="T4" fmla="*/ 16 w 17"/>
                    <a:gd name="T5" fmla="*/ 0 h 17"/>
                    <a:gd name="T6" fmla="*/ 0 w 17"/>
                    <a:gd name="T7" fmla="*/ 0 h 17"/>
                    <a:gd name="T8" fmla="*/ 0 w 17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16"/>
                      </a:moveTo>
                      <a:lnTo>
                        <a:pt x="16" y="16"/>
                      </a:lnTo>
                      <a:lnTo>
                        <a:pt x="16" y="0"/>
                      </a:lnTo>
                      <a:lnTo>
                        <a:pt x="0" y="0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F9FA2"/>
                </a:solidFill>
                <a:ln w="12700" cap="rnd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13" name="Freeform 233"/>
                <p:cNvSpPr>
                  <a:spLocks/>
                </p:cNvSpPr>
                <p:nvPr/>
              </p:nvSpPr>
              <p:spPr bwMode="auto">
                <a:xfrm>
                  <a:off x="3993" y="1502"/>
                  <a:ext cx="54" cy="17"/>
                </a:xfrm>
                <a:custGeom>
                  <a:avLst/>
                  <a:gdLst>
                    <a:gd name="T0" fmla="*/ 0 w 54"/>
                    <a:gd name="T1" fmla="*/ 0 h 17"/>
                    <a:gd name="T2" fmla="*/ 53 w 54"/>
                    <a:gd name="T3" fmla="*/ 0 h 17"/>
                    <a:gd name="T4" fmla="*/ 53 w 54"/>
                    <a:gd name="T5" fmla="*/ 16 h 17"/>
                    <a:gd name="T6" fmla="*/ 0 w 54"/>
                    <a:gd name="T7" fmla="*/ 16 h 17"/>
                    <a:gd name="T8" fmla="*/ 0 w 54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4"/>
                    <a:gd name="T16" fmla="*/ 0 h 17"/>
                    <a:gd name="T17" fmla="*/ 54 w 5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4" h="17">
                      <a:moveTo>
                        <a:pt x="0" y="0"/>
                      </a:moveTo>
                      <a:lnTo>
                        <a:pt x="53" y="0"/>
                      </a:lnTo>
                      <a:lnTo>
                        <a:pt x="53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14" name="Freeform 234"/>
                <p:cNvSpPr>
                  <a:spLocks/>
                </p:cNvSpPr>
                <p:nvPr/>
              </p:nvSpPr>
              <p:spPr bwMode="auto">
                <a:xfrm>
                  <a:off x="4010" y="1496"/>
                  <a:ext cx="19" cy="17"/>
                </a:xfrm>
                <a:custGeom>
                  <a:avLst/>
                  <a:gdLst>
                    <a:gd name="T0" fmla="*/ 18 w 19"/>
                    <a:gd name="T1" fmla="*/ 12 h 17"/>
                    <a:gd name="T2" fmla="*/ 17 w 19"/>
                    <a:gd name="T3" fmla="*/ 16 h 17"/>
                    <a:gd name="T4" fmla="*/ 17 w 19"/>
                    <a:gd name="T5" fmla="*/ 0 h 17"/>
                    <a:gd name="T6" fmla="*/ 0 w 19"/>
                    <a:gd name="T7" fmla="*/ 0 h 17"/>
                    <a:gd name="T8" fmla="*/ 0 w 19"/>
                    <a:gd name="T9" fmla="*/ 16 h 17"/>
                    <a:gd name="T10" fmla="*/ 0 w 19"/>
                    <a:gd name="T11" fmla="*/ 12 h 1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"/>
                    <a:gd name="T19" fmla="*/ 0 h 17"/>
                    <a:gd name="T20" fmla="*/ 19 w 19"/>
                    <a:gd name="T21" fmla="*/ 17 h 1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" h="17">
                      <a:moveTo>
                        <a:pt x="18" y="12"/>
                      </a:moveTo>
                      <a:lnTo>
                        <a:pt x="17" y="16"/>
                      </a:ln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6"/>
                      </a:lnTo>
                      <a:lnTo>
                        <a:pt x="0" y="12"/>
                      </a:lnTo>
                    </a:path>
                  </a:pathLst>
                </a:custGeom>
                <a:noFill/>
                <a:ln w="12700" cap="rnd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15" name="Freeform 235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16 w 17"/>
                    <a:gd name="T1" fmla="*/ 0 h 17"/>
                    <a:gd name="T2" fmla="*/ 16 w 17"/>
                    <a:gd name="T3" fmla="*/ 16 h 17"/>
                    <a:gd name="T4" fmla="*/ 0 w 17"/>
                    <a:gd name="T5" fmla="*/ 16 h 17"/>
                    <a:gd name="T6" fmla="*/ 0 w 17"/>
                    <a:gd name="T7" fmla="*/ 0 h 17"/>
                    <a:gd name="T8" fmla="*/ 16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16" y="0"/>
                      </a:move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  <a:lnTo>
                        <a:pt x="16" y="0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16" name="Freeform 236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17" name="Freeform 237"/>
                <p:cNvSpPr>
                  <a:spLocks/>
                </p:cNvSpPr>
                <p:nvPr/>
              </p:nvSpPr>
              <p:spPr bwMode="auto">
                <a:xfrm>
                  <a:off x="3930" y="1497"/>
                  <a:ext cx="44" cy="17"/>
                </a:xfrm>
                <a:custGeom>
                  <a:avLst/>
                  <a:gdLst>
                    <a:gd name="T0" fmla="*/ 14 w 44"/>
                    <a:gd name="T1" fmla="*/ 16 h 17"/>
                    <a:gd name="T2" fmla="*/ 0 w 44"/>
                    <a:gd name="T3" fmla="*/ 16 h 17"/>
                    <a:gd name="T4" fmla="*/ 0 w 44"/>
                    <a:gd name="T5" fmla="*/ 8 h 17"/>
                    <a:gd name="T6" fmla="*/ 14 w 44"/>
                    <a:gd name="T7" fmla="*/ 8 h 17"/>
                    <a:gd name="T8" fmla="*/ 14 w 44"/>
                    <a:gd name="T9" fmla="*/ 0 h 17"/>
                    <a:gd name="T10" fmla="*/ 28 w 44"/>
                    <a:gd name="T11" fmla="*/ 0 h 17"/>
                    <a:gd name="T12" fmla="*/ 28 w 44"/>
                    <a:gd name="T13" fmla="*/ 8 h 17"/>
                    <a:gd name="T14" fmla="*/ 43 w 44"/>
                    <a:gd name="T15" fmla="*/ 8 h 17"/>
                    <a:gd name="T16" fmla="*/ 43 w 44"/>
                    <a:gd name="T17" fmla="*/ 16 h 17"/>
                    <a:gd name="T18" fmla="*/ 28 w 44"/>
                    <a:gd name="T19" fmla="*/ 16 h 17"/>
                    <a:gd name="T20" fmla="*/ 14 w 44"/>
                    <a:gd name="T21" fmla="*/ 16 h 1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44"/>
                    <a:gd name="T34" fmla="*/ 0 h 17"/>
                    <a:gd name="T35" fmla="*/ 44 w 44"/>
                    <a:gd name="T36" fmla="*/ 17 h 17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44" h="17">
                      <a:moveTo>
                        <a:pt x="14" y="16"/>
                      </a:moveTo>
                      <a:lnTo>
                        <a:pt x="0" y="16"/>
                      </a:lnTo>
                      <a:lnTo>
                        <a:pt x="0" y="8"/>
                      </a:lnTo>
                      <a:lnTo>
                        <a:pt x="14" y="8"/>
                      </a:lnTo>
                      <a:lnTo>
                        <a:pt x="14" y="0"/>
                      </a:lnTo>
                      <a:lnTo>
                        <a:pt x="28" y="0"/>
                      </a:lnTo>
                      <a:lnTo>
                        <a:pt x="28" y="8"/>
                      </a:lnTo>
                      <a:lnTo>
                        <a:pt x="43" y="8"/>
                      </a:lnTo>
                      <a:lnTo>
                        <a:pt x="43" y="16"/>
                      </a:lnTo>
                      <a:lnTo>
                        <a:pt x="28" y="16"/>
                      </a:lnTo>
                      <a:lnTo>
                        <a:pt x="14" y="16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18" name="Freeform 238"/>
                <p:cNvSpPr>
                  <a:spLocks/>
                </p:cNvSpPr>
                <p:nvPr/>
              </p:nvSpPr>
              <p:spPr bwMode="auto">
                <a:xfrm>
                  <a:off x="3945" y="1497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19" name="Freeform 239"/>
                <p:cNvSpPr>
                  <a:spLocks/>
                </p:cNvSpPr>
                <p:nvPr/>
              </p:nvSpPr>
              <p:spPr bwMode="auto">
                <a:xfrm>
                  <a:off x="3897" y="1494"/>
                  <a:ext cx="20" cy="17"/>
                </a:xfrm>
                <a:custGeom>
                  <a:avLst/>
                  <a:gdLst>
                    <a:gd name="T0" fmla="*/ 5 w 20"/>
                    <a:gd name="T1" fmla="*/ 16 h 17"/>
                    <a:gd name="T2" fmla="*/ 3 w 20"/>
                    <a:gd name="T3" fmla="*/ 15 h 17"/>
                    <a:gd name="T4" fmla="*/ 2 w 20"/>
                    <a:gd name="T5" fmla="*/ 15 h 17"/>
                    <a:gd name="T6" fmla="*/ 1 w 20"/>
                    <a:gd name="T7" fmla="*/ 14 h 17"/>
                    <a:gd name="T8" fmla="*/ 1 w 20"/>
                    <a:gd name="T9" fmla="*/ 12 h 17"/>
                    <a:gd name="T10" fmla="*/ 0 w 20"/>
                    <a:gd name="T11" fmla="*/ 12 h 17"/>
                    <a:gd name="T12" fmla="*/ 0 w 20"/>
                    <a:gd name="T13" fmla="*/ 10 h 17"/>
                    <a:gd name="T14" fmla="*/ 0 w 20"/>
                    <a:gd name="T15" fmla="*/ 8 h 17"/>
                    <a:gd name="T16" fmla="*/ 0 w 20"/>
                    <a:gd name="T17" fmla="*/ 6 h 17"/>
                    <a:gd name="T18" fmla="*/ 0 w 20"/>
                    <a:gd name="T19" fmla="*/ 4 h 17"/>
                    <a:gd name="T20" fmla="*/ 0 w 20"/>
                    <a:gd name="T21" fmla="*/ 3 h 17"/>
                    <a:gd name="T22" fmla="*/ 1 w 20"/>
                    <a:gd name="T23" fmla="*/ 2 h 17"/>
                    <a:gd name="T24" fmla="*/ 2 w 20"/>
                    <a:gd name="T25" fmla="*/ 1 h 17"/>
                    <a:gd name="T26" fmla="*/ 3 w 20"/>
                    <a:gd name="T27" fmla="*/ 0 h 17"/>
                    <a:gd name="T28" fmla="*/ 4 w 20"/>
                    <a:gd name="T29" fmla="*/ 0 h 17"/>
                    <a:gd name="T30" fmla="*/ 5 w 20"/>
                    <a:gd name="T31" fmla="*/ 0 h 17"/>
                    <a:gd name="T32" fmla="*/ 12 w 20"/>
                    <a:gd name="T33" fmla="*/ 0 h 17"/>
                    <a:gd name="T34" fmla="*/ 13 w 20"/>
                    <a:gd name="T35" fmla="*/ 0 h 17"/>
                    <a:gd name="T36" fmla="*/ 15 w 20"/>
                    <a:gd name="T37" fmla="*/ 0 h 17"/>
                    <a:gd name="T38" fmla="*/ 16 w 20"/>
                    <a:gd name="T39" fmla="*/ 1 h 17"/>
                    <a:gd name="T40" fmla="*/ 17 w 20"/>
                    <a:gd name="T41" fmla="*/ 3 h 17"/>
                    <a:gd name="T42" fmla="*/ 17 w 20"/>
                    <a:gd name="T43" fmla="*/ 3 h 17"/>
                    <a:gd name="T44" fmla="*/ 18 w 20"/>
                    <a:gd name="T45" fmla="*/ 5 h 17"/>
                    <a:gd name="T46" fmla="*/ 18 w 20"/>
                    <a:gd name="T47" fmla="*/ 7 h 17"/>
                    <a:gd name="T48" fmla="*/ 18 w 20"/>
                    <a:gd name="T49" fmla="*/ 8 h 17"/>
                    <a:gd name="T50" fmla="*/ 18 w 20"/>
                    <a:gd name="T51" fmla="*/ 10 h 17"/>
                    <a:gd name="T52" fmla="*/ 17 w 20"/>
                    <a:gd name="T53" fmla="*/ 12 h 17"/>
                    <a:gd name="T54" fmla="*/ 16 w 20"/>
                    <a:gd name="T55" fmla="*/ 13 h 17"/>
                    <a:gd name="T56" fmla="*/ 15 w 20"/>
                    <a:gd name="T57" fmla="*/ 15 h 17"/>
                    <a:gd name="T58" fmla="*/ 13 w 20"/>
                    <a:gd name="T59" fmla="*/ 15 h 17"/>
                    <a:gd name="T60" fmla="*/ 13 w 20"/>
                    <a:gd name="T61" fmla="*/ 16 h 17"/>
                    <a:gd name="T62" fmla="*/ 12 w 20"/>
                    <a:gd name="T63" fmla="*/ 16 h 17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20"/>
                    <a:gd name="T97" fmla="*/ 0 h 17"/>
                    <a:gd name="T98" fmla="*/ 20 w 20"/>
                    <a:gd name="T99" fmla="*/ 17 h 17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20" h="17">
                      <a:moveTo>
                        <a:pt x="5" y="16"/>
                      </a:moveTo>
                      <a:lnTo>
                        <a:pt x="5" y="16"/>
                      </a:lnTo>
                      <a:lnTo>
                        <a:pt x="4" y="16"/>
                      </a:lnTo>
                      <a:lnTo>
                        <a:pt x="3" y="15"/>
                      </a:lnTo>
                      <a:lnTo>
                        <a:pt x="2" y="15"/>
                      </a:lnTo>
                      <a:lnTo>
                        <a:pt x="2" y="14"/>
                      </a:lnTo>
                      <a:lnTo>
                        <a:pt x="1" y="14"/>
                      </a:lnTo>
                      <a:lnTo>
                        <a:pt x="1" y="13"/>
                      </a:lnTo>
                      <a:lnTo>
                        <a:pt x="1" y="12"/>
                      </a:lnTo>
                      <a:lnTo>
                        <a:pt x="0" y="12"/>
                      </a:lnTo>
                      <a:lnTo>
                        <a:pt x="0" y="11"/>
                      </a:lnTo>
                      <a:lnTo>
                        <a:pt x="0" y="10"/>
                      </a:lnTo>
                      <a:lnTo>
                        <a:pt x="0" y="9"/>
                      </a:lnTo>
                      <a:lnTo>
                        <a:pt x="0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1" y="3"/>
                      </a:lnTo>
                      <a:lnTo>
                        <a:pt x="1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5" y="0"/>
                      </a:lnTo>
                      <a:lnTo>
                        <a:pt x="12" y="0"/>
                      </a:lnTo>
                      <a:lnTo>
                        <a:pt x="13" y="0"/>
                      </a:lnTo>
                      <a:lnTo>
                        <a:pt x="15" y="0"/>
                      </a:lnTo>
                      <a:lnTo>
                        <a:pt x="16" y="1"/>
                      </a:lnTo>
                      <a:lnTo>
                        <a:pt x="16" y="2"/>
                      </a:lnTo>
                      <a:lnTo>
                        <a:pt x="17" y="3"/>
                      </a:lnTo>
                      <a:lnTo>
                        <a:pt x="18" y="4"/>
                      </a:lnTo>
                      <a:lnTo>
                        <a:pt x="18" y="5"/>
                      </a:lnTo>
                      <a:lnTo>
                        <a:pt x="18" y="6"/>
                      </a:lnTo>
                      <a:lnTo>
                        <a:pt x="18" y="7"/>
                      </a:lnTo>
                      <a:lnTo>
                        <a:pt x="19" y="8"/>
                      </a:lnTo>
                      <a:lnTo>
                        <a:pt x="18" y="8"/>
                      </a:lnTo>
                      <a:lnTo>
                        <a:pt x="18" y="9"/>
                      </a:lnTo>
                      <a:lnTo>
                        <a:pt x="18" y="10"/>
                      </a:lnTo>
                      <a:lnTo>
                        <a:pt x="18" y="11"/>
                      </a:lnTo>
                      <a:lnTo>
                        <a:pt x="17" y="12"/>
                      </a:lnTo>
                      <a:lnTo>
                        <a:pt x="16" y="13"/>
                      </a:lnTo>
                      <a:lnTo>
                        <a:pt x="16" y="14"/>
                      </a:lnTo>
                      <a:lnTo>
                        <a:pt x="15" y="15"/>
                      </a:lnTo>
                      <a:lnTo>
                        <a:pt x="13" y="15"/>
                      </a:lnTo>
                      <a:lnTo>
                        <a:pt x="13" y="16"/>
                      </a:lnTo>
                      <a:lnTo>
                        <a:pt x="12" y="16"/>
                      </a:lnTo>
                      <a:lnTo>
                        <a:pt x="5" y="16"/>
                      </a:lnTo>
                    </a:path>
                  </a:pathLst>
                </a:custGeom>
                <a:solidFill>
                  <a:srgbClr val="666666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20" name="Freeform 240"/>
                <p:cNvSpPr>
                  <a:spLocks/>
                </p:cNvSpPr>
                <p:nvPr/>
              </p:nvSpPr>
              <p:spPr bwMode="auto">
                <a:xfrm>
                  <a:off x="3921" y="1489"/>
                  <a:ext cx="17" cy="38"/>
                </a:xfrm>
                <a:custGeom>
                  <a:avLst/>
                  <a:gdLst>
                    <a:gd name="T0" fmla="*/ 8 w 17"/>
                    <a:gd name="T1" fmla="*/ 0 h 38"/>
                    <a:gd name="T2" fmla="*/ 0 w 17"/>
                    <a:gd name="T3" fmla="*/ 22 h 38"/>
                    <a:gd name="T4" fmla="*/ 16 w 17"/>
                    <a:gd name="T5" fmla="*/ 22 h 38"/>
                    <a:gd name="T6" fmla="*/ 16 w 17"/>
                    <a:gd name="T7" fmla="*/ 37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38"/>
                    <a:gd name="T14" fmla="*/ 17 w 17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38">
                      <a:moveTo>
                        <a:pt x="8" y="0"/>
                      </a:moveTo>
                      <a:lnTo>
                        <a:pt x="0" y="22"/>
                      </a:lnTo>
                      <a:lnTo>
                        <a:pt x="16" y="22"/>
                      </a:lnTo>
                      <a:lnTo>
                        <a:pt x="16" y="37"/>
                      </a:lnTo>
                    </a:path>
                  </a:pathLst>
                </a:custGeom>
                <a:noFill/>
                <a:ln w="12700" cap="rnd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21" name="Freeform 241"/>
                <p:cNvSpPr>
                  <a:spLocks/>
                </p:cNvSpPr>
                <p:nvPr/>
              </p:nvSpPr>
              <p:spPr bwMode="auto">
                <a:xfrm>
                  <a:off x="3979" y="1489"/>
                  <a:ext cx="17" cy="72"/>
                </a:xfrm>
                <a:custGeom>
                  <a:avLst/>
                  <a:gdLst>
                    <a:gd name="T0" fmla="*/ 0 w 17"/>
                    <a:gd name="T1" fmla="*/ 0 h 72"/>
                    <a:gd name="T2" fmla="*/ 16 w 17"/>
                    <a:gd name="T3" fmla="*/ 22 h 72"/>
                    <a:gd name="T4" fmla="*/ 0 w 17"/>
                    <a:gd name="T5" fmla="*/ 22 h 72"/>
                    <a:gd name="T6" fmla="*/ 0 w 17"/>
                    <a:gd name="T7" fmla="*/ 71 h 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72"/>
                    <a:gd name="T14" fmla="*/ 17 w 17"/>
                    <a:gd name="T15" fmla="*/ 72 h 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72">
                      <a:moveTo>
                        <a:pt x="0" y="0"/>
                      </a:moveTo>
                      <a:lnTo>
                        <a:pt x="16" y="22"/>
                      </a:lnTo>
                      <a:lnTo>
                        <a:pt x="0" y="22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 cap="rnd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22" name="Freeform 242"/>
                <p:cNvSpPr>
                  <a:spLocks/>
                </p:cNvSpPr>
                <p:nvPr/>
              </p:nvSpPr>
              <p:spPr bwMode="auto">
                <a:xfrm>
                  <a:off x="3855" y="1532"/>
                  <a:ext cx="250" cy="41"/>
                </a:xfrm>
                <a:custGeom>
                  <a:avLst/>
                  <a:gdLst>
                    <a:gd name="T0" fmla="*/ 0 w 250"/>
                    <a:gd name="T1" fmla="*/ 40 h 41"/>
                    <a:gd name="T2" fmla="*/ 249 w 250"/>
                    <a:gd name="T3" fmla="*/ 40 h 41"/>
                    <a:gd name="T4" fmla="*/ 240 w 250"/>
                    <a:gd name="T5" fmla="*/ 0 h 41"/>
                    <a:gd name="T6" fmla="*/ 10 w 250"/>
                    <a:gd name="T7" fmla="*/ 0 h 41"/>
                    <a:gd name="T8" fmla="*/ 0 w 250"/>
                    <a:gd name="T9" fmla="*/ 40 h 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0"/>
                    <a:gd name="T16" fmla="*/ 0 h 41"/>
                    <a:gd name="T17" fmla="*/ 250 w 250"/>
                    <a:gd name="T18" fmla="*/ 41 h 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0" h="41">
                      <a:moveTo>
                        <a:pt x="0" y="40"/>
                      </a:moveTo>
                      <a:lnTo>
                        <a:pt x="249" y="40"/>
                      </a:lnTo>
                      <a:lnTo>
                        <a:pt x="240" y="0"/>
                      </a:lnTo>
                      <a:lnTo>
                        <a:pt x="10" y="0"/>
                      </a:lnTo>
                      <a:lnTo>
                        <a:pt x="0" y="40"/>
                      </a:lnTo>
                    </a:path>
                  </a:pathLst>
                </a:custGeom>
                <a:solidFill>
                  <a:srgbClr val="EFEFD1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23" name="Freeform 243"/>
                <p:cNvSpPr>
                  <a:spLocks/>
                </p:cNvSpPr>
                <p:nvPr/>
              </p:nvSpPr>
              <p:spPr bwMode="auto">
                <a:xfrm>
                  <a:off x="3855" y="1572"/>
                  <a:ext cx="251" cy="17"/>
                </a:xfrm>
                <a:custGeom>
                  <a:avLst/>
                  <a:gdLst>
                    <a:gd name="T0" fmla="*/ 0 w 251"/>
                    <a:gd name="T1" fmla="*/ 16 h 17"/>
                    <a:gd name="T2" fmla="*/ 0 w 251"/>
                    <a:gd name="T3" fmla="*/ 0 h 17"/>
                    <a:gd name="T4" fmla="*/ 249 w 251"/>
                    <a:gd name="T5" fmla="*/ 0 h 17"/>
                    <a:gd name="T6" fmla="*/ 250 w 251"/>
                    <a:gd name="T7" fmla="*/ 16 h 17"/>
                    <a:gd name="T8" fmla="*/ 0 w 251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1"/>
                    <a:gd name="T16" fmla="*/ 0 h 17"/>
                    <a:gd name="T17" fmla="*/ 251 w 251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1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249" y="0"/>
                      </a:lnTo>
                      <a:lnTo>
                        <a:pt x="250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CCCC6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24" name="Freeform 244"/>
                <p:cNvSpPr>
                  <a:spLocks/>
                </p:cNvSpPr>
                <p:nvPr/>
              </p:nvSpPr>
              <p:spPr bwMode="auto">
                <a:xfrm>
                  <a:off x="3872" y="1538"/>
                  <a:ext cx="223" cy="28"/>
                </a:xfrm>
                <a:custGeom>
                  <a:avLst/>
                  <a:gdLst>
                    <a:gd name="T0" fmla="*/ 0 w 223"/>
                    <a:gd name="T1" fmla="*/ 27 h 28"/>
                    <a:gd name="T2" fmla="*/ 222 w 223"/>
                    <a:gd name="T3" fmla="*/ 27 h 28"/>
                    <a:gd name="T4" fmla="*/ 214 w 223"/>
                    <a:gd name="T5" fmla="*/ 0 h 28"/>
                    <a:gd name="T6" fmla="*/ 8 w 223"/>
                    <a:gd name="T7" fmla="*/ 0 h 28"/>
                    <a:gd name="T8" fmla="*/ 0 w 223"/>
                    <a:gd name="T9" fmla="*/ 27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3"/>
                    <a:gd name="T16" fmla="*/ 0 h 28"/>
                    <a:gd name="T17" fmla="*/ 223 w 223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3" h="28">
                      <a:moveTo>
                        <a:pt x="0" y="27"/>
                      </a:moveTo>
                      <a:lnTo>
                        <a:pt x="222" y="27"/>
                      </a:lnTo>
                      <a:lnTo>
                        <a:pt x="214" y="0"/>
                      </a:lnTo>
                      <a:lnTo>
                        <a:pt x="8" y="0"/>
                      </a:lnTo>
                      <a:lnTo>
                        <a:pt x="0" y="27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7065" name="Line 245"/>
              <p:cNvSpPr>
                <a:spLocks noChangeShapeType="1"/>
              </p:cNvSpPr>
              <p:nvPr/>
            </p:nvSpPr>
            <p:spPr bwMode="auto">
              <a:xfrm>
                <a:off x="1060" y="3413"/>
                <a:ext cx="445" cy="2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066" name="Line 246"/>
              <p:cNvSpPr>
                <a:spLocks noChangeShapeType="1"/>
              </p:cNvSpPr>
              <p:nvPr/>
            </p:nvSpPr>
            <p:spPr bwMode="auto">
              <a:xfrm>
                <a:off x="993" y="3612"/>
                <a:ext cx="532" cy="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067" name="Line 247"/>
              <p:cNvSpPr>
                <a:spLocks noChangeShapeType="1"/>
              </p:cNvSpPr>
              <p:nvPr/>
            </p:nvSpPr>
            <p:spPr bwMode="auto">
              <a:xfrm flipV="1">
                <a:off x="1040" y="3811"/>
                <a:ext cx="467" cy="1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068" name="Text Box 248"/>
              <p:cNvSpPr txBox="1">
                <a:spLocks noChangeArrowheads="1"/>
              </p:cNvSpPr>
              <p:nvPr/>
            </p:nvSpPr>
            <p:spPr bwMode="auto">
              <a:xfrm rot="-5400000">
                <a:off x="1060" y="3634"/>
                <a:ext cx="368" cy="2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200">
                    <a:cs typeface="Arial" charset="0"/>
                  </a:rPr>
                  <a:t>• </a:t>
                </a:r>
                <a:r>
                  <a:rPr lang="en-US" sz="1200"/>
                  <a:t>• •</a:t>
                </a:r>
              </a:p>
            </p:txBody>
          </p:sp>
        </p:grpSp>
        <p:grpSp>
          <p:nvGrpSpPr>
            <p:cNvPr id="26882" name="Group 427"/>
            <p:cNvGrpSpPr>
              <a:grpSpLocks/>
            </p:cNvGrpSpPr>
            <p:nvPr/>
          </p:nvGrpSpPr>
          <p:grpSpPr bwMode="auto">
            <a:xfrm>
              <a:off x="425" y="1579"/>
              <a:ext cx="555" cy="552"/>
              <a:chOff x="802" y="3331"/>
              <a:chExt cx="881" cy="747"/>
            </a:xfrm>
          </p:grpSpPr>
          <p:sp>
            <p:nvSpPr>
              <p:cNvPr id="26885" name="AutoShape 428"/>
              <p:cNvSpPr>
                <a:spLocks noChangeArrowheads="1"/>
              </p:cNvSpPr>
              <p:nvPr/>
            </p:nvSpPr>
            <p:spPr bwMode="auto">
              <a:xfrm rot="5400000">
                <a:off x="1476" y="3634"/>
                <a:ext cx="248" cy="16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381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6886" name="Group 429"/>
              <p:cNvGrpSpPr>
                <a:grpSpLocks/>
              </p:cNvGrpSpPr>
              <p:nvPr/>
            </p:nvGrpSpPr>
            <p:grpSpPr bwMode="auto">
              <a:xfrm>
                <a:off x="802" y="3331"/>
                <a:ext cx="248" cy="201"/>
                <a:chOff x="3840" y="1279"/>
                <a:chExt cx="266" cy="310"/>
              </a:xfrm>
            </p:grpSpPr>
            <p:sp>
              <p:nvSpPr>
                <p:cNvPr id="27005" name="Freeform 430"/>
                <p:cNvSpPr>
                  <a:spLocks/>
                </p:cNvSpPr>
                <p:nvPr/>
              </p:nvSpPr>
              <p:spPr bwMode="auto">
                <a:xfrm>
                  <a:off x="3848" y="1548"/>
                  <a:ext cx="206" cy="20"/>
                </a:xfrm>
                <a:custGeom>
                  <a:avLst/>
                  <a:gdLst>
                    <a:gd name="T0" fmla="*/ 0 w 206"/>
                    <a:gd name="T1" fmla="*/ 19 h 20"/>
                    <a:gd name="T2" fmla="*/ 0 w 206"/>
                    <a:gd name="T3" fmla="*/ 0 h 20"/>
                    <a:gd name="T4" fmla="*/ 205 w 206"/>
                    <a:gd name="T5" fmla="*/ 0 h 20"/>
                    <a:gd name="T6" fmla="*/ 205 w 206"/>
                    <a:gd name="T7" fmla="*/ 19 h 20"/>
                    <a:gd name="T8" fmla="*/ 0 w 206"/>
                    <a:gd name="T9" fmla="*/ 19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6"/>
                    <a:gd name="T16" fmla="*/ 0 h 20"/>
                    <a:gd name="T17" fmla="*/ 206 w 206"/>
                    <a:gd name="T18" fmla="*/ 20 h 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6" h="20">
                      <a:moveTo>
                        <a:pt x="0" y="19"/>
                      </a:moveTo>
                      <a:lnTo>
                        <a:pt x="0" y="0"/>
                      </a:lnTo>
                      <a:lnTo>
                        <a:pt x="205" y="0"/>
                      </a:lnTo>
                      <a:lnTo>
                        <a:pt x="205" y="19"/>
                      </a:lnTo>
                      <a:lnTo>
                        <a:pt x="0" y="19"/>
                      </a:lnTo>
                    </a:path>
                  </a:pathLst>
                </a:custGeom>
                <a:solidFill>
                  <a:srgbClr val="666666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06" name="Freeform 431"/>
                <p:cNvSpPr>
                  <a:spLocks/>
                </p:cNvSpPr>
                <p:nvPr/>
              </p:nvSpPr>
              <p:spPr bwMode="auto">
                <a:xfrm>
                  <a:off x="3840" y="1453"/>
                  <a:ext cx="220" cy="34"/>
                </a:xfrm>
                <a:custGeom>
                  <a:avLst/>
                  <a:gdLst>
                    <a:gd name="T0" fmla="*/ 189 w 220"/>
                    <a:gd name="T1" fmla="*/ 0 h 34"/>
                    <a:gd name="T2" fmla="*/ 219 w 220"/>
                    <a:gd name="T3" fmla="*/ 33 h 34"/>
                    <a:gd name="T4" fmla="*/ 0 w 220"/>
                    <a:gd name="T5" fmla="*/ 33 h 34"/>
                    <a:gd name="T6" fmla="*/ 29 w 220"/>
                    <a:gd name="T7" fmla="*/ 0 h 34"/>
                    <a:gd name="T8" fmla="*/ 189 w 220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34"/>
                    <a:gd name="T17" fmla="*/ 220 w 220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34">
                      <a:moveTo>
                        <a:pt x="189" y="0"/>
                      </a:moveTo>
                      <a:lnTo>
                        <a:pt x="219" y="33"/>
                      </a:lnTo>
                      <a:lnTo>
                        <a:pt x="0" y="33"/>
                      </a:lnTo>
                      <a:lnTo>
                        <a:pt x="29" y="0"/>
                      </a:lnTo>
                      <a:lnTo>
                        <a:pt x="189" y="0"/>
                      </a:lnTo>
                    </a:path>
                  </a:pathLst>
                </a:custGeom>
                <a:solidFill>
                  <a:srgbClr val="EFEFD1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07" name="Freeform 432"/>
                <p:cNvSpPr>
                  <a:spLocks/>
                </p:cNvSpPr>
                <p:nvPr/>
              </p:nvSpPr>
              <p:spPr bwMode="auto">
                <a:xfrm>
                  <a:off x="3897" y="1449"/>
                  <a:ext cx="104" cy="24"/>
                </a:xfrm>
                <a:custGeom>
                  <a:avLst/>
                  <a:gdLst>
                    <a:gd name="T0" fmla="*/ 102 w 104"/>
                    <a:gd name="T1" fmla="*/ 10 h 24"/>
                    <a:gd name="T2" fmla="*/ 101 w 104"/>
                    <a:gd name="T3" fmla="*/ 8 h 24"/>
                    <a:gd name="T4" fmla="*/ 97 w 104"/>
                    <a:gd name="T5" fmla="*/ 6 h 24"/>
                    <a:gd name="T6" fmla="*/ 93 w 104"/>
                    <a:gd name="T7" fmla="*/ 4 h 24"/>
                    <a:gd name="T8" fmla="*/ 87 w 104"/>
                    <a:gd name="T9" fmla="*/ 3 h 24"/>
                    <a:gd name="T10" fmla="*/ 80 w 104"/>
                    <a:gd name="T11" fmla="*/ 2 h 24"/>
                    <a:gd name="T12" fmla="*/ 72 w 104"/>
                    <a:gd name="T13" fmla="*/ 1 h 24"/>
                    <a:gd name="T14" fmla="*/ 64 w 104"/>
                    <a:gd name="T15" fmla="*/ 0 h 24"/>
                    <a:gd name="T16" fmla="*/ 55 w 104"/>
                    <a:gd name="T17" fmla="*/ 0 h 24"/>
                    <a:gd name="T18" fmla="*/ 46 w 104"/>
                    <a:gd name="T19" fmla="*/ 0 h 24"/>
                    <a:gd name="T20" fmla="*/ 37 w 104"/>
                    <a:gd name="T21" fmla="*/ 0 h 24"/>
                    <a:gd name="T22" fmla="*/ 29 w 104"/>
                    <a:gd name="T23" fmla="*/ 1 h 24"/>
                    <a:gd name="T24" fmla="*/ 21 w 104"/>
                    <a:gd name="T25" fmla="*/ 2 h 24"/>
                    <a:gd name="T26" fmla="*/ 14 w 104"/>
                    <a:gd name="T27" fmla="*/ 3 h 24"/>
                    <a:gd name="T28" fmla="*/ 8 w 104"/>
                    <a:gd name="T29" fmla="*/ 4 h 24"/>
                    <a:gd name="T30" fmla="*/ 4 w 104"/>
                    <a:gd name="T31" fmla="*/ 6 h 24"/>
                    <a:gd name="T32" fmla="*/ 1 w 104"/>
                    <a:gd name="T33" fmla="*/ 8 h 24"/>
                    <a:gd name="T34" fmla="*/ 0 w 104"/>
                    <a:gd name="T35" fmla="*/ 10 h 24"/>
                    <a:gd name="T36" fmla="*/ 0 w 104"/>
                    <a:gd name="T37" fmla="*/ 12 h 24"/>
                    <a:gd name="T38" fmla="*/ 1 w 104"/>
                    <a:gd name="T39" fmla="*/ 14 h 24"/>
                    <a:gd name="T40" fmla="*/ 4 w 104"/>
                    <a:gd name="T41" fmla="*/ 16 h 24"/>
                    <a:gd name="T42" fmla="*/ 8 w 104"/>
                    <a:gd name="T43" fmla="*/ 17 h 24"/>
                    <a:gd name="T44" fmla="*/ 14 w 104"/>
                    <a:gd name="T45" fmla="*/ 19 h 24"/>
                    <a:gd name="T46" fmla="*/ 21 w 104"/>
                    <a:gd name="T47" fmla="*/ 20 h 24"/>
                    <a:gd name="T48" fmla="*/ 29 w 104"/>
                    <a:gd name="T49" fmla="*/ 21 h 24"/>
                    <a:gd name="T50" fmla="*/ 37 w 104"/>
                    <a:gd name="T51" fmla="*/ 22 h 24"/>
                    <a:gd name="T52" fmla="*/ 46 w 104"/>
                    <a:gd name="T53" fmla="*/ 23 h 24"/>
                    <a:gd name="T54" fmla="*/ 55 w 104"/>
                    <a:gd name="T55" fmla="*/ 23 h 24"/>
                    <a:gd name="T56" fmla="*/ 64 w 104"/>
                    <a:gd name="T57" fmla="*/ 22 h 24"/>
                    <a:gd name="T58" fmla="*/ 72 w 104"/>
                    <a:gd name="T59" fmla="*/ 21 h 24"/>
                    <a:gd name="T60" fmla="*/ 80 w 104"/>
                    <a:gd name="T61" fmla="*/ 20 h 24"/>
                    <a:gd name="T62" fmla="*/ 87 w 104"/>
                    <a:gd name="T63" fmla="*/ 19 h 24"/>
                    <a:gd name="T64" fmla="*/ 93 w 104"/>
                    <a:gd name="T65" fmla="*/ 17 h 24"/>
                    <a:gd name="T66" fmla="*/ 97 w 104"/>
                    <a:gd name="T67" fmla="*/ 16 h 24"/>
                    <a:gd name="T68" fmla="*/ 101 w 104"/>
                    <a:gd name="T69" fmla="*/ 14 h 24"/>
                    <a:gd name="T70" fmla="*/ 102 w 104"/>
                    <a:gd name="T71" fmla="*/ 12 h 24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104"/>
                    <a:gd name="T109" fmla="*/ 0 h 24"/>
                    <a:gd name="T110" fmla="*/ 104 w 104"/>
                    <a:gd name="T111" fmla="*/ 24 h 24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104" h="24">
                      <a:moveTo>
                        <a:pt x="103" y="11"/>
                      </a:moveTo>
                      <a:lnTo>
                        <a:pt x="102" y="10"/>
                      </a:lnTo>
                      <a:lnTo>
                        <a:pt x="102" y="9"/>
                      </a:lnTo>
                      <a:lnTo>
                        <a:pt x="101" y="8"/>
                      </a:lnTo>
                      <a:lnTo>
                        <a:pt x="99" y="7"/>
                      </a:lnTo>
                      <a:lnTo>
                        <a:pt x="97" y="6"/>
                      </a:lnTo>
                      <a:lnTo>
                        <a:pt x="95" y="6"/>
                      </a:lnTo>
                      <a:lnTo>
                        <a:pt x="93" y="4"/>
                      </a:lnTo>
                      <a:lnTo>
                        <a:pt x="90" y="4"/>
                      </a:lnTo>
                      <a:lnTo>
                        <a:pt x="87" y="3"/>
                      </a:lnTo>
                      <a:lnTo>
                        <a:pt x="84" y="2"/>
                      </a:lnTo>
                      <a:lnTo>
                        <a:pt x="80" y="2"/>
                      </a:lnTo>
                      <a:lnTo>
                        <a:pt x="76" y="1"/>
                      </a:lnTo>
                      <a:lnTo>
                        <a:pt x="72" y="1"/>
                      </a:lnTo>
                      <a:lnTo>
                        <a:pt x="69" y="0"/>
                      </a:lnTo>
                      <a:lnTo>
                        <a:pt x="64" y="0"/>
                      </a:lnTo>
                      <a:lnTo>
                        <a:pt x="60" y="0"/>
                      </a:lnTo>
                      <a:lnTo>
                        <a:pt x="55" y="0"/>
                      </a:lnTo>
                      <a:lnTo>
                        <a:pt x="51" y="0"/>
                      </a:lnTo>
                      <a:lnTo>
                        <a:pt x="46" y="0"/>
                      </a:lnTo>
                      <a:lnTo>
                        <a:pt x="42" y="0"/>
                      </a:lnTo>
                      <a:lnTo>
                        <a:pt x="37" y="0"/>
                      </a:lnTo>
                      <a:lnTo>
                        <a:pt x="33" y="0"/>
                      </a:lnTo>
                      <a:lnTo>
                        <a:pt x="29" y="1"/>
                      </a:lnTo>
                      <a:lnTo>
                        <a:pt x="25" y="1"/>
                      </a:lnTo>
                      <a:lnTo>
                        <a:pt x="21" y="2"/>
                      </a:lnTo>
                      <a:lnTo>
                        <a:pt x="17" y="2"/>
                      </a:lnTo>
                      <a:lnTo>
                        <a:pt x="14" y="3"/>
                      </a:lnTo>
                      <a:lnTo>
                        <a:pt x="12" y="4"/>
                      </a:lnTo>
                      <a:lnTo>
                        <a:pt x="8" y="4"/>
                      </a:lnTo>
                      <a:lnTo>
                        <a:pt x="6" y="6"/>
                      </a:lnTo>
                      <a:lnTo>
                        <a:pt x="4" y="6"/>
                      </a:lnTo>
                      <a:lnTo>
                        <a:pt x="3" y="7"/>
                      </a:lnTo>
                      <a:lnTo>
                        <a:pt x="1" y="8"/>
                      </a:lnTo>
                      <a:lnTo>
                        <a:pt x="0" y="9"/>
                      </a:lnTo>
                      <a:lnTo>
                        <a:pt x="0" y="10"/>
                      </a:lnTo>
                      <a:lnTo>
                        <a:pt x="0" y="11"/>
                      </a:lnTo>
                      <a:lnTo>
                        <a:pt x="0" y="12"/>
                      </a:lnTo>
                      <a:lnTo>
                        <a:pt x="0" y="13"/>
                      </a:lnTo>
                      <a:lnTo>
                        <a:pt x="1" y="14"/>
                      </a:lnTo>
                      <a:lnTo>
                        <a:pt x="3" y="15"/>
                      </a:lnTo>
                      <a:lnTo>
                        <a:pt x="4" y="16"/>
                      </a:lnTo>
                      <a:lnTo>
                        <a:pt x="6" y="17"/>
                      </a:lnTo>
                      <a:lnTo>
                        <a:pt x="8" y="17"/>
                      </a:lnTo>
                      <a:lnTo>
                        <a:pt x="12" y="18"/>
                      </a:lnTo>
                      <a:lnTo>
                        <a:pt x="14" y="19"/>
                      </a:lnTo>
                      <a:lnTo>
                        <a:pt x="17" y="20"/>
                      </a:lnTo>
                      <a:lnTo>
                        <a:pt x="21" y="20"/>
                      </a:lnTo>
                      <a:lnTo>
                        <a:pt x="25" y="21"/>
                      </a:lnTo>
                      <a:lnTo>
                        <a:pt x="29" y="21"/>
                      </a:lnTo>
                      <a:lnTo>
                        <a:pt x="33" y="22"/>
                      </a:lnTo>
                      <a:lnTo>
                        <a:pt x="37" y="22"/>
                      </a:lnTo>
                      <a:lnTo>
                        <a:pt x="42" y="22"/>
                      </a:lnTo>
                      <a:lnTo>
                        <a:pt x="46" y="23"/>
                      </a:lnTo>
                      <a:lnTo>
                        <a:pt x="51" y="23"/>
                      </a:lnTo>
                      <a:lnTo>
                        <a:pt x="55" y="23"/>
                      </a:lnTo>
                      <a:lnTo>
                        <a:pt x="60" y="22"/>
                      </a:lnTo>
                      <a:lnTo>
                        <a:pt x="64" y="22"/>
                      </a:lnTo>
                      <a:lnTo>
                        <a:pt x="69" y="22"/>
                      </a:lnTo>
                      <a:lnTo>
                        <a:pt x="72" y="21"/>
                      </a:lnTo>
                      <a:lnTo>
                        <a:pt x="76" y="21"/>
                      </a:lnTo>
                      <a:lnTo>
                        <a:pt x="80" y="20"/>
                      </a:lnTo>
                      <a:lnTo>
                        <a:pt x="84" y="20"/>
                      </a:lnTo>
                      <a:lnTo>
                        <a:pt x="87" y="19"/>
                      </a:lnTo>
                      <a:lnTo>
                        <a:pt x="90" y="18"/>
                      </a:lnTo>
                      <a:lnTo>
                        <a:pt x="93" y="17"/>
                      </a:lnTo>
                      <a:lnTo>
                        <a:pt x="95" y="17"/>
                      </a:lnTo>
                      <a:lnTo>
                        <a:pt x="97" y="16"/>
                      </a:lnTo>
                      <a:lnTo>
                        <a:pt x="99" y="15"/>
                      </a:lnTo>
                      <a:lnTo>
                        <a:pt x="101" y="14"/>
                      </a:lnTo>
                      <a:lnTo>
                        <a:pt x="102" y="13"/>
                      </a:lnTo>
                      <a:lnTo>
                        <a:pt x="102" y="12"/>
                      </a:lnTo>
                      <a:lnTo>
                        <a:pt x="103" y="11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08" name="Freeform 433"/>
                <p:cNvSpPr>
                  <a:spLocks/>
                </p:cNvSpPr>
                <p:nvPr/>
              </p:nvSpPr>
              <p:spPr bwMode="auto">
                <a:xfrm>
                  <a:off x="3897" y="1461"/>
                  <a:ext cx="104" cy="17"/>
                </a:xfrm>
                <a:custGeom>
                  <a:avLst/>
                  <a:gdLst>
                    <a:gd name="T0" fmla="*/ 102 w 104"/>
                    <a:gd name="T1" fmla="*/ 6 h 17"/>
                    <a:gd name="T2" fmla="*/ 101 w 104"/>
                    <a:gd name="T3" fmla="*/ 8 h 17"/>
                    <a:gd name="T4" fmla="*/ 97 w 104"/>
                    <a:gd name="T5" fmla="*/ 10 h 17"/>
                    <a:gd name="T6" fmla="*/ 93 w 104"/>
                    <a:gd name="T7" fmla="*/ 11 h 17"/>
                    <a:gd name="T8" fmla="*/ 87 w 104"/>
                    <a:gd name="T9" fmla="*/ 12 h 17"/>
                    <a:gd name="T10" fmla="*/ 80 w 104"/>
                    <a:gd name="T11" fmla="*/ 14 h 17"/>
                    <a:gd name="T12" fmla="*/ 72 w 104"/>
                    <a:gd name="T13" fmla="*/ 14 h 17"/>
                    <a:gd name="T14" fmla="*/ 64 w 104"/>
                    <a:gd name="T15" fmla="*/ 15 h 17"/>
                    <a:gd name="T16" fmla="*/ 55 w 104"/>
                    <a:gd name="T17" fmla="*/ 16 h 17"/>
                    <a:gd name="T18" fmla="*/ 46 w 104"/>
                    <a:gd name="T19" fmla="*/ 16 h 17"/>
                    <a:gd name="T20" fmla="*/ 37 w 104"/>
                    <a:gd name="T21" fmla="*/ 15 h 17"/>
                    <a:gd name="T22" fmla="*/ 29 w 104"/>
                    <a:gd name="T23" fmla="*/ 14 h 17"/>
                    <a:gd name="T24" fmla="*/ 21 w 104"/>
                    <a:gd name="T25" fmla="*/ 14 h 17"/>
                    <a:gd name="T26" fmla="*/ 14 w 104"/>
                    <a:gd name="T27" fmla="*/ 12 h 17"/>
                    <a:gd name="T28" fmla="*/ 8 w 104"/>
                    <a:gd name="T29" fmla="*/ 11 h 17"/>
                    <a:gd name="T30" fmla="*/ 4 w 104"/>
                    <a:gd name="T31" fmla="*/ 10 h 17"/>
                    <a:gd name="T32" fmla="*/ 1 w 104"/>
                    <a:gd name="T33" fmla="*/ 8 h 17"/>
                    <a:gd name="T34" fmla="*/ 0 w 104"/>
                    <a:gd name="T35" fmla="*/ 6 h 17"/>
                    <a:gd name="T36" fmla="*/ 0 w 104"/>
                    <a:gd name="T37" fmla="*/ 0 h 17"/>
                    <a:gd name="T38" fmla="*/ 0 w 104"/>
                    <a:gd name="T39" fmla="*/ 2 h 17"/>
                    <a:gd name="T40" fmla="*/ 3 w 104"/>
                    <a:gd name="T41" fmla="*/ 4 h 17"/>
                    <a:gd name="T42" fmla="*/ 6 w 104"/>
                    <a:gd name="T43" fmla="*/ 5 h 17"/>
                    <a:gd name="T44" fmla="*/ 12 w 104"/>
                    <a:gd name="T45" fmla="*/ 6 h 17"/>
                    <a:gd name="T46" fmla="*/ 17 w 104"/>
                    <a:gd name="T47" fmla="*/ 8 h 17"/>
                    <a:gd name="T48" fmla="*/ 25 w 104"/>
                    <a:gd name="T49" fmla="*/ 9 h 17"/>
                    <a:gd name="T50" fmla="*/ 33 w 104"/>
                    <a:gd name="T51" fmla="*/ 10 h 17"/>
                    <a:gd name="T52" fmla="*/ 42 w 104"/>
                    <a:gd name="T53" fmla="*/ 10 h 17"/>
                    <a:gd name="T54" fmla="*/ 51 w 104"/>
                    <a:gd name="T55" fmla="*/ 10 h 17"/>
                    <a:gd name="T56" fmla="*/ 60 w 104"/>
                    <a:gd name="T57" fmla="*/ 10 h 17"/>
                    <a:gd name="T58" fmla="*/ 69 w 104"/>
                    <a:gd name="T59" fmla="*/ 10 h 17"/>
                    <a:gd name="T60" fmla="*/ 76 w 104"/>
                    <a:gd name="T61" fmla="*/ 9 h 17"/>
                    <a:gd name="T62" fmla="*/ 84 w 104"/>
                    <a:gd name="T63" fmla="*/ 8 h 17"/>
                    <a:gd name="T64" fmla="*/ 90 w 104"/>
                    <a:gd name="T65" fmla="*/ 6 h 17"/>
                    <a:gd name="T66" fmla="*/ 95 w 104"/>
                    <a:gd name="T67" fmla="*/ 5 h 17"/>
                    <a:gd name="T68" fmla="*/ 99 w 104"/>
                    <a:gd name="T69" fmla="*/ 4 h 17"/>
                    <a:gd name="T70" fmla="*/ 102 w 104"/>
                    <a:gd name="T71" fmla="*/ 2 h 17"/>
                    <a:gd name="T72" fmla="*/ 103 w 104"/>
                    <a:gd name="T73" fmla="*/ 0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04"/>
                    <a:gd name="T112" fmla="*/ 0 h 17"/>
                    <a:gd name="T113" fmla="*/ 104 w 104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04" h="17">
                      <a:moveTo>
                        <a:pt x="103" y="5"/>
                      </a:moveTo>
                      <a:lnTo>
                        <a:pt x="102" y="6"/>
                      </a:lnTo>
                      <a:lnTo>
                        <a:pt x="102" y="7"/>
                      </a:lnTo>
                      <a:lnTo>
                        <a:pt x="101" y="8"/>
                      </a:lnTo>
                      <a:lnTo>
                        <a:pt x="99" y="8"/>
                      </a:lnTo>
                      <a:lnTo>
                        <a:pt x="97" y="10"/>
                      </a:lnTo>
                      <a:lnTo>
                        <a:pt x="95" y="10"/>
                      </a:lnTo>
                      <a:lnTo>
                        <a:pt x="93" y="11"/>
                      </a:lnTo>
                      <a:lnTo>
                        <a:pt x="90" y="12"/>
                      </a:lnTo>
                      <a:lnTo>
                        <a:pt x="87" y="12"/>
                      </a:lnTo>
                      <a:lnTo>
                        <a:pt x="84" y="13"/>
                      </a:lnTo>
                      <a:lnTo>
                        <a:pt x="80" y="14"/>
                      </a:lnTo>
                      <a:lnTo>
                        <a:pt x="76" y="14"/>
                      </a:lnTo>
                      <a:lnTo>
                        <a:pt x="72" y="14"/>
                      </a:lnTo>
                      <a:lnTo>
                        <a:pt x="69" y="15"/>
                      </a:lnTo>
                      <a:lnTo>
                        <a:pt x="64" y="15"/>
                      </a:lnTo>
                      <a:lnTo>
                        <a:pt x="60" y="16"/>
                      </a:lnTo>
                      <a:lnTo>
                        <a:pt x="55" y="16"/>
                      </a:lnTo>
                      <a:lnTo>
                        <a:pt x="51" y="16"/>
                      </a:lnTo>
                      <a:lnTo>
                        <a:pt x="46" y="16"/>
                      </a:lnTo>
                      <a:lnTo>
                        <a:pt x="42" y="16"/>
                      </a:lnTo>
                      <a:lnTo>
                        <a:pt x="37" y="15"/>
                      </a:lnTo>
                      <a:lnTo>
                        <a:pt x="33" y="15"/>
                      </a:lnTo>
                      <a:lnTo>
                        <a:pt x="29" y="14"/>
                      </a:lnTo>
                      <a:lnTo>
                        <a:pt x="25" y="14"/>
                      </a:lnTo>
                      <a:lnTo>
                        <a:pt x="21" y="14"/>
                      </a:lnTo>
                      <a:lnTo>
                        <a:pt x="17" y="13"/>
                      </a:lnTo>
                      <a:lnTo>
                        <a:pt x="14" y="12"/>
                      </a:lnTo>
                      <a:lnTo>
                        <a:pt x="12" y="12"/>
                      </a:lnTo>
                      <a:lnTo>
                        <a:pt x="8" y="11"/>
                      </a:lnTo>
                      <a:lnTo>
                        <a:pt x="6" y="10"/>
                      </a:lnTo>
                      <a:lnTo>
                        <a:pt x="4" y="10"/>
                      </a:lnTo>
                      <a:lnTo>
                        <a:pt x="3" y="8"/>
                      </a:lnTo>
                      <a:lnTo>
                        <a:pt x="1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1" y="2"/>
                      </a:lnTo>
                      <a:lnTo>
                        <a:pt x="3" y="4"/>
                      </a:lnTo>
                      <a:lnTo>
                        <a:pt x="4" y="4"/>
                      </a:lnTo>
                      <a:lnTo>
                        <a:pt x="6" y="5"/>
                      </a:lnTo>
                      <a:lnTo>
                        <a:pt x="8" y="6"/>
                      </a:lnTo>
                      <a:lnTo>
                        <a:pt x="12" y="6"/>
                      </a:lnTo>
                      <a:lnTo>
                        <a:pt x="14" y="7"/>
                      </a:lnTo>
                      <a:lnTo>
                        <a:pt x="17" y="8"/>
                      </a:lnTo>
                      <a:lnTo>
                        <a:pt x="21" y="8"/>
                      </a:lnTo>
                      <a:lnTo>
                        <a:pt x="25" y="9"/>
                      </a:lnTo>
                      <a:lnTo>
                        <a:pt x="29" y="10"/>
                      </a:lnTo>
                      <a:lnTo>
                        <a:pt x="33" y="10"/>
                      </a:lnTo>
                      <a:lnTo>
                        <a:pt x="37" y="10"/>
                      </a:lnTo>
                      <a:lnTo>
                        <a:pt x="42" y="10"/>
                      </a:lnTo>
                      <a:lnTo>
                        <a:pt x="46" y="10"/>
                      </a:lnTo>
                      <a:lnTo>
                        <a:pt x="51" y="10"/>
                      </a:lnTo>
                      <a:lnTo>
                        <a:pt x="55" y="10"/>
                      </a:lnTo>
                      <a:lnTo>
                        <a:pt x="60" y="10"/>
                      </a:lnTo>
                      <a:lnTo>
                        <a:pt x="64" y="10"/>
                      </a:lnTo>
                      <a:lnTo>
                        <a:pt x="69" y="10"/>
                      </a:lnTo>
                      <a:lnTo>
                        <a:pt x="72" y="10"/>
                      </a:lnTo>
                      <a:lnTo>
                        <a:pt x="76" y="9"/>
                      </a:lnTo>
                      <a:lnTo>
                        <a:pt x="80" y="8"/>
                      </a:lnTo>
                      <a:lnTo>
                        <a:pt x="84" y="8"/>
                      </a:lnTo>
                      <a:lnTo>
                        <a:pt x="87" y="7"/>
                      </a:lnTo>
                      <a:lnTo>
                        <a:pt x="90" y="6"/>
                      </a:lnTo>
                      <a:lnTo>
                        <a:pt x="93" y="6"/>
                      </a:lnTo>
                      <a:lnTo>
                        <a:pt x="95" y="5"/>
                      </a:lnTo>
                      <a:lnTo>
                        <a:pt x="97" y="4"/>
                      </a:lnTo>
                      <a:lnTo>
                        <a:pt x="99" y="4"/>
                      </a:lnTo>
                      <a:lnTo>
                        <a:pt x="101" y="2"/>
                      </a:lnTo>
                      <a:lnTo>
                        <a:pt x="102" y="2"/>
                      </a:lnTo>
                      <a:lnTo>
                        <a:pt x="102" y="1"/>
                      </a:lnTo>
                      <a:lnTo>
                        <a:pt x="103" y="0"/>
                      </a:lnTo>
                      <a:lnTo>
                        <a:pt x="103" y="5"/>
                      </a:lnTo>
                    </a:path>
                  </a:pathLst>
                </a:custGeom>
                <a:solidFill>
                  <a:srgbClr val="666666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09" name="Freeform 434"/>
                <p:cNvSpPr>
                  <a:spLocks/>
                </p:cNvSpPr>
                <p:nvPr/>
              </p:nvSpPr>
              <p:spPr bwMode="auto">
                <a:xfrm>
                  <a:off x="3840" y="1486"/>
                  <a:ext cx="220" cy="77"/>
                </a:xfrm>
                <a:custGeom>
                  <a:avLst/>
                  <a:gdLst>
                    <a:gd name="T0" fmla="*/ 0 w 220"/>
                    <a:gd name="T1" fmla="*/ 76 h 77"/>
                    <a:gd name="T2" fmla="*/ 219 w 220"/>
                    <a:gd name="T3" fmla="*/ 76 h 77"/>
                    <a:gd name="T4" fmla="*/ 219 w 220"/>
                    <a:gd name="T5" fmla="*/ 0 h 77"/>
                    <a:gd name="T6" fmla="*/ 0 w 220"/>
                    <a:gd name="T7" fmla="*/ 0 h 77"/>
                    <a:gd name="T8" fmla="*/ 0 w 220"/>
                    <a:gd name="T9" fmla="*/ 76 h 7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77"/>
                    <a:gd name="T17" fmla="*/ 220 w 220"/>
                    <a:gd name="T18" fmla="*/ 77 h 7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77">
                      <a:moveTo>
                        <a:pt x="0" y="76"/>
                      </a:moveTo>
                      <a:lnTo>
                        <a:pt x="219" y="76"/>
                      </a:lnTo>
                      <a:lnTo>
                        <a:pt x="219" y="0"/>
                      </a:lnTo>
                      <a:lnTo>
                        <a:pt x="0" y="0"/>
                      </a:lnTo>
                      <a:lnTo>
                        <a:pt x="0" y="76"/>
                      </a:lnTo>
                    </a:path>
                  </a:pathLst>
                </a:custGeom>
                <a:solidFill>
                  <a:srgbClr val="EFEFD1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10" name="Freeform 435"/>
                <p:cNvSpPr>
                  <a:spLocks/>
                </p:cNvSpPr>
                <p:nvPr/>
              </p:nvSpPr>
              <p:spPr bwMode="auto">
                <a:xfrm>
                  <a:off x="3875" y="1449"/>
                  <a:ext cx="69" cy="17"/>
                </a:xfrm>
                <a:custGeom>
                  <a:avLst/>
                  <a:gdLst>
                    <a:gd name="T0" fmla="*/ 0 w 69"/>
                    <a:gd name="T1" fmla="*/ 16 h 17"/>
                    <a:gd name="T2" fmla="*/ 0 w 69"/>
                    <a:gd name="T3" fmla="*/ 0 h 17"/>
                    <a:gd name="T4" fmla="*/ 68 w 69"/>
                    <a:gd name="T5" fmla="*/ 0 h 17"/>
                    <a:gd name="T6" fmla="*/ 68 w 69"/>
                    <a:gd name="T7" fmla="*/ 16 h 17"/>
                    <a:gd name="T8" fmla="*/ 0 w 69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9"/>
                    <a:gd name="T16" fmla="*/ 0 h 17"/>
                    <a:gd name="T17" fmla="*/ 69 w 69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9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68" y="0"/>
                      </a:lnTo>
                      <a:lnTo>
                        <a:pt x="68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11" name="Freeform 436"/>
                <p:cNvSpPr>
                  <a:spLocks/>
                </p:cNvSpPr>
                <p:nvPr/>
              </p:nvSpPr>
              <p:spPr bwMode="auto">
                <a:xfrm>
                  <a:off x="3931" y="1450"/>
                  <a:ext cx="94" cy="17"/>
                </a:xfrm>
                <a:custGeom>
                  <a:avLst/>
                  <a:gdLst>
                    <a:gd name="T0" fmla="*/ 0 w 94"/>
                    <a:gd name="T1" fmla="*/ 16 h 17"/>
                    <a:gd name="T2" fmla="*/ 0 w 94"/>
                    <a:gd name="T3" fmla="*/ 0 h 17"/>
                    <a:gd name="T4" fmla="*/ 93 w 94"/>
                    <a:gd name="T5" fmla="*/ 0 h 17"/>
                    <a:gd name="T6" fmla="*/ 93 w 94"/>
                    <a:gd name="T7" fmla="*/ 16 h 17"/>
                    <a:gd name="T8" fmla="*/ 0 w 94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4"/>
                    <a:gd name="T16" fmla="*/ 0 h 17"/>
                    <a:gd name="T17" fmla="*/ 94 w 9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4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93" y="0"/>
                      </a:lnTo>
                      <a:lnTo>
                        <a:pt x="93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12" name="Freeform 437"/>
                <p:cNvSpPr>
                  <a:spLocks/>
                </p:cNvSpPr>
                <p:nvPr/>
              </p:nvSpPr>
              <p:spPr bwMode="auto">
                <a:xfrm>
                  <a:off x="3877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13" name="Freeform 438"/>
                <p:cNvSpPr>
                  <a:spLocks/>
                </p:cNvSpPr>
                <p:nvPr/>
              </p:nvSpPr>
              <p:spPr bwMode="auto">
                <a:xfrm>
                  <a:off x="388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4 w 17"/>
                    <a:gd name="T7" fmla="*/ 16 h 17"/>
                    <a:gd name="T8" fmla="*/ 8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14" name="Freeform 439"/>
                <p:cNvSpPr>
                  <a:spLocks/>
                </p:cNvSpPr>
                <p:nvPr/>
              </p:nvSpPr>
              <p:spPr bwMode="auto">
                <a:xfrm>
                  <a:off x="388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15" name="Freeform 440"/>
                <p:cNvSpPr>
                  <a:spLocks/>
                </p:cNvSpPr>
                <p:nvPr/>
              </p:nvSpPr>
              <p:spPr bwMode="auto">
                <a:xfrm>
                  <a:off x="388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16" name="Freeform 441"/>
                <p:cNvSpPr>
                  <a:spLocks/>
                </p:cNvSpPr>
                <p:nvPr/>
              </p:nvSpPr>
              <p:spPr bwMode="auto">
                <a:xfrm>
                  <a:off x="388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17" name="Freeform 442"/>
                <p:cNvSpPr>
                  <a:spLocks/>
                </p:cNvSpPr>
                <p:nvPr/>
              </p:nvSpPr>
              <p:spPr bwMode="auto">
                <a:xfrm>
                  <a:off x="389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18" name="Freeform 443"/>
                <p:cNvSpPr>
                  <a:spLocks/>
                </p:cNvSpPr>
                <p:nvPr/>
              </p:nvSpPr>
              <p:spPr bwMode="auto">
                <a:xfrm>
                  <a:off x="389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19" name="Freeform 444"/>
                <p:cNvSpPr>
                  <a:spLocks/>
                </p:cNvSpPr>
                <p:nvPr/>
              </p:nvSpPr>
              <p:spPr bwMode="auto">
                <a:xfrm>
                  <a:off x="3894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20" name="Freeform 445"/>
                <p:cNvSpPr>
                  <a:spLocks/>
                </p:cNvSpPr>
                <p:nvPr/>
              </p:nvSpPr>
              <p:spPr bwMode="auto">
                <a:xfrm>
                  <a:off x="389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21" name="Freeform 446"/>
                <p:cNvSpPr>
                  <a:spLocks/>
                </p:cNvSpPr>
                <p:nvPr/>
              </p:nvSpPr>
              <p:spPr bwMode="auto">
                <a:xfrm>
                  <a:off x="390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22" name="Freeform 447"/>
                <p:cNvSpPr>
                  <a:spLocks/>
                </p:cNvSpPr>
                <p:nvPr/>
              </p:nvSpPr>
              <p:spPr bwMode="auto">
                <a:xfrm>
                  <a:off x="390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0 w 17"/>
                    <a:gd name="T5" fmla="*/ 16 h 17"/>
                    <a:gd name="T6" fmla="*/ 8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0" y="16"/>
                      </a:lnTo>
                      <a:lnTo>
                        <a:pt x="8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23" name="Freeform 448"/>
                <p:cNvSpPr>
                  <a:spLocks/>
                </p:cNvSpPr>
                <p:nvPr/>
              </p:nvSpPr>
              <p:spPr bwMode="auto">
                <a:xfrm>
                  <a:off x="390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6 h 17"/>
                    <a:gd name="T6" fmla="*/ 8 w 17"/>
                    <a:gd name="T7" fmla="*/ 16 h 17"/>
                    <a:gd name="T8" fmla="*/ 12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24" name="Freeform 449"/>
                <p:cNvSpPr>
                  <a:spLocks/>
                </p:cNvSpPr>
                <p:nvPr/>
              </p:nvSpPr>
              <p:spPr bwMode="auto">
                <a:xfrm>
                  <a:off x="390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25" name="Freeform 450"/>
                <p:cNvSpPr>
                  <a:spLocks/>
                </p:cNvSpPr>
                <p:nvPr/>
              </p:nvSpPr>
              <p:spPr bwMode="auto">
                <a:xfrm>
                  <a:off x="391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26" name="Freeform 451"/>
                <p:cNvSpPr>
                  <a:spLocks/>
                </p:cNvSpPr>
                <p:nvPr/>
              </p:nvSpPr>
              <p:spPr bwMode="auto">
                <a:xfrm>
                  <a:off x="391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27" name="Freeform 452"/>
                <p:cNvSpPr>
                  <a:spLocks/>
                </p:cNvSpPr>
                <p:nvPr/>
              </p:nvSpPr>
              <p:spPr bwMode="auto">
                <a:xfrm>
                  <a:off x="3916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28" name="Freeform 453"/>
                <p:cNvSpPr>
                  <a:spLocks/>
                </p:cNvSpPr>
                <p:nvPr/>
              </p:nvSpPr>
              <p:spPr bwMode="auto">
                <a:xfrm>
                  <a:off x="391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29" name="Freeform 454"/>
                <p:cNvSpPr>
                  <a:spLocks/>
                </p:cNvSpPr>
                <p:nvPr/>
              </p:nvSpPr>
              <p:spPr bwMode="auto">
                <a:xfrm>
                  <a:off x="3921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30" name="Freeform 455"/>
                <p:cNvSpPr>
                  <a:spLocks/>
                </p:cNvSpPr>
                <p:nvPr/>
              </p:nvSpPr>
              <p:spPr bwMode="auto">
                <a:xfrm>
                  <a:off x="392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31" name="Freeform 456"/>
                <p:cNvSpPr>
                  <a:spLocks/>
                </p:cNvSpPr>
                <p:nvPr/>
              </p:nvSpPr>
              <p:spPr bwMode="auto">
                <a:xfrm>
                  <a:off x="392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32" name="Freeform 457"/>
                <p:cNvSpPr>
                  <a:spLocks/>
                </p:cNvSpPr>
                <p:nvPr/>
              </p:nvSpPr>
              <p:spPr bwMode="auto">
                <a:xfrm>
                  <a:off x="3855" y="1279"/>
                  <a:ext cx="187" cy="174"/>
                </a:xfrm>
                <a:custGeom>
                  <a:avLst/>
                  <a:gdLst>
                    <a:gd name="T0" fmla="*/ 180 w 187"/>
                    <a:gd name="T1" fmla="*/ 173 h 174"/>
                    <a:gd name="T2" fmla="*/ 180 w 187"/>
                    <a:gd name="T3" fmla="*/ 173 h 174"/>
                    <a:gd name="T4" fmla="*/ 180 w 187"/>
                    <a:gd name="T5" fmla="*/ 172 h 174"/>
                    <a:gd name="T6" fmla="*/ 182 w 187"/>
                    <a:gd name="T7" fmla="*/ 172 h 174"/>
                    <a:gd name="T8" fmla="*/ 182 w 187"/>
                    <a:gd name="T9" fmla="*/ 172 h 174"/>
                    <a:gd name="T10" fmla="*/ 183 w 187"/>
                    <a:gd name="T11" fmla="*/ 171 h 174"/>
                    <a:gd name="T12" fmla="*/ 183 w 187"/>
                    <a:gd name="T13" fmla="*/ 171 h 174"/>
                    <a:gd name="T14" fmla="*/ 184 w 187"/>
                    <a:gd name="T15" fmla="*/ 171 h 174"/>
                    <a:gd name="T16" fmla="*/ 184 w 187"/>
                    <a:gd name="T17" fmla="*/ 170 h 174"/>
                    <a:gd name="T18" fmla="*/ 184 w 187"/>
                    <a:gd name="T19" fmla="*/ 170 h 174"/>
                    <a:gd name="T20" fmla="*/ 184 w 187"/>
                    <a:gd name="T21" fmla="*/ 169 h 174"/>
                    <a:gd name="T22" fmla="*/ 185 w 187"/>
                    <a:gd name="T23" fmla="*/ 169 h 174"/>
                    <a:gd name="T24" fmla="*/ 185 w 187"/>
                    <a:gd name="T25" fmla="*/ 168 h 174"/>
                    <a:gd name="T26" fmla="*/ 186 w 187"/>
                    <a:gd name="T27" fmla="*/ 167 h 174"/>
                    <a:gd name="T28" fmla="*/ 186 w 187"/>
                    <a:gd name="T29" fmla="*/ 167 h 174"/>
                    <a:gd name="T30" fmla="*/ 186 w 187"/>
                    <a:gd name="T31" fmla="*/ 6 h 174"/>
                    <a:gd name="T32" fmla="*/ 186 w 187"/>
                    <a:gd name="T33" fmla="*/ 5 h 174"/>
                    <a:gd name="T34" fmla="*/ 186 w 187"/>
                    <a:gd name="T35" fmla="*/ 5 h 174"/>
                    <a:gd name="T36" fmla="*/ 185 w 187"/>
                    <a:gd name="T37" fmla="*/ 5 h 174"/>
                    <a:gd name="T38" fmla="*/ 185 w 187"/>
                    <a:gd name="T39" fmla="*/ 3 h 174"/>
                    <a:gd name="T40" fmla="*/ 184 w 187"/>
                    <a:gd name="T41" fmla="*/ 3 h 174"/>
                    <a:gd name="T42" fmla="*/ 184 w 187"/>
                    <a:gd name="T43" fmla="*/ 2 h 174"/>
                    <a:gd name="T44" fmla="*/ 184 w 187"/>
                    <a:gd name="T45" fmla="*/ 1 h 174"/>
                    <a:gd name="T46" fmla="*/ 183 w 187"/>
                    <a:gd name="T47" fmla="*/ 1 h 174"/>
                    <a:gd name="T48" fmla="*/ 183 w 187"/>
                    <a:gd name="T49" fmla="*/ 1 h 174"/>
                    <a:gd name="T50" fmla="*/ 182 w 187"/>
                    <a:gd name="T51" fmla="*/ 1 h 174"/>
                    <a:gd name="T52" fmla="*/ 182 w 187"/>
                    <a:gd name="T53" fmla="*/ 0 h 174"/>
                    <a:gd name="T54" fmla="*/ 180 w 187"/>
                    <a:gd name="T55" fmla="*/ 0 h 174"/>
                    <a:gd name="T56" fmla="*/ 180 w 187"/>
                    <a:gd name="T57" fmla="*/ 0 h 174"/>
                    <a:gd name="T58" fmla="*/ 180 w 187"/>
                    <a:gd name="T59" fmla="*/ 0 h 174"/>
                    <a:gd name="T60" fmla="*/ 5 w 187"/>
                    <a:gd name="T61" fmla="*/ 0 h 174"/>
                    <a:gd name="T62" fmla="*/ 4 w 187"/>
                    <a:gd name="T63" fmla="*/ 0 h 174"/>
                    <a:gd name="T64" fmla="*/ 3 w 187"/>
                    <a:gd name="T65" fmla="*/ 0 h 174"/>
                    <a:gd name="T66" fmla="*/ 3 w 187"/>
                    <a:gd name="T67" fmla="*/ 0 h 174"/>
                    <a:gd name="T68" fmla="*/ 2 w 187"/>
                    <a:gd name="T69" fmla="*/ 0 h 174"/>
                    <a:gd name="T70" fmla="*/ 2 w 187"/>
                    <a:gd name="T71" fmla="*/ 1 h 174"/>
                    <a:gd name="T72" fmla="*/ 1 w 187"/>
                    <a:gd name="T73" fmla="*/ 1 h 174"/>
                    <a:gd name="T74" fmla="*/ 1 w 187"/>
                    <a:gd name="T75" fmla="*/ 1 h 174"/>
                    <a:gd name="T76" fmla="*/ 1 w 187"/>
                    <a:gd name="T77" fmla="*/ 2 h 174"/>
                    <a:gd name="T78" fmla="*/ 0 w 187"/>
                    <a:gd name="T79" fmla="*/ 3 h 174"/>
                    <a:gd name="T80" fmla="*/ 0 w 187"/>
                    <a:gd name="T81" fmla="*/ 3 h 174"/>
                    <a:gd name="T82" fmla="*/ 0 w 187"/>
                    <a:gd name="T83" fmla="*/ 3 h 174"/>
                    <a:gd name="T84" fmla="*/ 0 w 187"/>
                    <a:gd name="T85" fmla="*/ 5 h 174"/>
                    <a:gd name="T86" fmla="*/ 0 w 187"/>
                    <a:gd name="T87" fmla="*/ 5 h 174"/>
                    <a:gd name="T88" fmla="*/ 0 w 187"/>
                    <a:gd name="T89" fmla="*/ 6 h 174"/>
                    <a:gd name="T90" fmla="*/ 0 w 187"/>
                    <a:gd name="T91" fmla="*/ 167 h 174"/>
                    <a:gd name="T92" fmla="*/ 0 w 187"/>
                    <a:gd name="T93" fmla="*/ 167 h 174"/>
                    <a:gd name="T94" fmla="*/ 0 w 187"/>
                    <a:gd name="T95" fmla="*/ 168 h 174"/>
                    <a:gd name="T96" fmla="*/ 0 w 187"/>
                    <a:gd name="T97" fmla="*/ 169 h 174"/>
                    <a:gd name="T98" fmla="*/ 0 w 187"/>
                    <a:gd name="T99" fmla="*/ 169 h 174"/>
                    <a:gd name="T100" fmla="*/ 0 w 187"/>
                    <a:gd name="T101" fmla="*/ 170 h 174"/>
                    <a:gd name="T102" fmla="*/ 1 w 187"/>
                    <a:gd name="T103" fmla="*/ 170 h 174"/>
                    <a:gd name="T104" fmla="*/ 1 w 187"/>
                    <a:gd name="T105" fmla="*/ 171 h 174"/>
                    <a:gd name="T106" fmla="*/ 1 w 187"/>
                    <a:gd name="T107" fmla="*/ 171 h 174"/>
                    <a:gd name="T108" fmla="*/ 2 w 187"/>
                    <a:gd name="T109" fmla="*/ 171 h 174"/>
                    <a:gd name="T110" fmla="*/ 2 w 187"/>
                    <a:gd name="T111" fmla="*/ 172 h 174"/>
                    <a:gd name="T112" fmla="*/ 2 w 187"/>
                    <a:gd name="T113" fmla="*/ 172 h 174"/>
                    <a:gd name="T114" fmla="*/ 3 w 187"/>
                    <a:gd name="T115" fmla="*/ 172 h 174"/>
                    <a:gd name="T116" fmla="*/ 3 w 187"/>
                    <a:gd name="T117" fmla="*/ 172 h 174"/>
                    <a:gd name="T118" fmla="*/ 4 w 187"/>
                    <a:gd name="T119" fmla="*/ 173 h 174"/>
                    <a:gd name="T120" fmla="*/ 5 w 187"/>
                    <a:gd name="T121" fmla="*/ 173 h 174"/>
                    <a:gd name="T122" fmla="*/ 180 w 187"/>
                    <a:gd name="T123" fmla="*/ 173 h 174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w 187"/>
                    <a:gd name="T187" fmla="*/ 0 h 174"/>
                    <a:gd name="T188" fmla="*/ 187 w 187"/>
                    <a:gd name="T189" fmla="*/ 174 h 174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T186" t="T187" r="T188" b="T189"/>
                  <a:pathLst>
                    <a:path w="187" h="174">
                      <a:moveTo>
                        <a:pt x="180" y="173"/>
                      </a:moveTo>
                      <a:lnTo>
                        <a:pt x="180" y="173"/>
                      </a:lnTo>
                      <a:lnTo>
                        <a:pt x="180" y="172"/>
                      </a:lnTo>
                      <a:lnTo>
                        <a:pt x="182" y="172"/>
                      </a:lnTo>
                      <a:lnTo>
                        <a:pt x="183" y="171"/>
                      </a:lnTo>
                      <a:lnTo>
                        <a:pt x="184" y="171"/>
                      </a:lnTo>
                      <a:lnTo>
                        <a:pt x="184" y="170"/>
                      </a:lnTo>
                      <a:lnTo>
                        <a:pt x="184" y="169"/>
                      </a:lnTo>
                      <a:lnTo>
                        <a:pt x="185" y="169"/>
                      </a:lnTo>
                      <a:lnTo>
                        <a:pt x="185" y="168"/>
                      </a:lnTo>
                      <a:lnTo>
                        <a:pt x="186" y="167"/>
                      </a:lnTo>
                      <a:lnTo>
                        <a:pt x="186" y="6"/>
                      </a:lnTo>
                      <a:lnTo>
                        <a:pt x="186" y="5"/>
                      </a:lnTo>
                      <a:lnTo>
                        <a:pt x="185" y="5"/>
                      </a:lnTo>
                      <a:lnTo>
                        <a:pt x="185" y="3"/>
                      </a:lnTo>
                      <a:lnTo>
                        <a:pt x="184" y="3"/>
                      </a:lnTo>
                      <a:lnTo>
                        <a:pt x="184" y="2"/>
                      </a:lnTo>
                      <a:lnTo>
                        <a:pt x="184" y="1"/>
                      </a:lnTo>
                      <a:lnTo>
                        <a:pt x="183" y="1"/>
                      </a:lnTo>
                      <a:lnTo>
                        <a:pt x="182" y="1"/>
                      </a:lnTo>
                      <a:lnTo>
                        <a:pt x="182" y="0"/>
                      </a:lnTo>
                      <a:lnTo>
                        <a:pt x="180" y="0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2" y="1"/>
                      </a:lnTo>
                      <a:lnTo>
                        <a:pt x="1" y="1"/>
                      </a:lnTo>
                      <a:lnTo>
                        <a:pt x="1" y="2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0" y="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0" y="169"/>
                      </a:lnTo>
                      <a:lnTo>
                        <a:pt x="0" y="170"/>
                      </a:lnTo>
                      <a:lnTo>
                        <a:pt x="1" y="170"/>
                      </a:lnTo>
                      <a:lnTo>
                        <a:pt x="1" y="171"/>
                      </a:lnTo>
                      <a:lnTo>
                        <a:pt x="2" y="171"/>
                      </a:lnTo>
                      <a:lnTo>
                        <a:pt x="2" y="172"/>
                      </a:lnTo>
                      <a:lnTo>
                        <a:pt x="3" y="172"/>
                      </a:lnTo>
                      <a:lnTo>
                        <a:pt x="4" y="173"/>
                      </a:lnTo>
                      <a:lnTo>
                        <a:pt x="5" y="173"/>
                      </a:lnTo>
                      <a:lnTo>
                        <a:pt x="180" y="173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33" name="Freeform 458"/>
                <p:cNvSpPr>
                  <a:spLocks/>
                </p:cNvSpPr>
                <p:nvPr/>
              </p:nvSpPr>
              <p:spPr bwMode="auto">
                <a:xfrm>
                  <a:off x="3855" y="1281"/>
                  <a:ext cx="186" cy="172"/>
                </a:xfrm>
                <a:custGeom>
                  <a:avLst/>
                  <a:gdLst>
                    <a:gd name="T0" fmla="*/ 185 w 186"/>
                    <a:gd name="T1" fmla="*/ 165 h 172"/>
                    <a:gd name="T2" fmla="*/ 185 w 186"/>
                    <a:gd name="T3" fmla="*/ 166 h 172"/>
                    <a:gd name="T4" fmla="*/ 185 w 186"/>
                    <a:gd name="T5" fmla="*/ 167 h 172"/>
                    <a:gd name="T6" fmla="*/ 184 w 186"/>
                    <a:gd name="T7" fmla="*/ 167 h 172"/>
                    <a:gd name="T8" fmla="*/ 184 w 186"/>
                    <a:gd name="T9" fmla="*/ 168 h 172"/>
                    <a:gd name="T10" fmla="*/ 183 w 186"/>
                    <a:gd name="T11" fmla="*/ 169 h 172"/>
                    <a:gd name="T12" fmla="*/ 183 w 186"/>
                    <a:gd name="T13" fmla="*/ 169 h 172"/>
                    <a:gd name="T14" fmla="*/ 182 w 186"/>
                    <a:gd name="T15" fmla="*/ 170 h 172"/>
                    <a:gd name="T16" fmla="*/ 182 w 186"/>
                    <a:gd name="T17" fmla="*/ 170 h 172"/>
                    <a:gd name="T18" fmla="*/ 181 w 186"/>
                    <a:gd name="T19" fmla="*/ 170 h 172"/>
                    <a:gd name="T20" fmla="*/ 181 w 186"/>
                    <a:gd name="T21" fmla="*/ 171 h 172"/>
                    <a:gd name="T22" fmla="*/ 180 w 186"/>
                    <a:gd name="T23" fmla="*/ 171 h 172"/>
                    <a:gd name="T24" fmla="*/ 179 w 186"/>
                    <a:gd name="T25" fmla="*/ 171 h 172"/>
                    <a:gd name="T26" fmla="*/ 4 w 186"/>
                    <a:gd name="T27" fmla="*/ 171 h 172"/>
                    <a:gd name="T28" fmla="*/ 3 w 186"/>
                    <a:gd name="T29" fmla="*/ 171 h 172"/>
                    <a:gd name="T30" fmla="*/ 3 w 186"/>
                    <a:gd name="T31" fmla="*/ 171 h 172"/>
                    <a:gd name="T32" fmla="*/ 3 w 186"/>
                    <a:gd name="T33" fmla="*/ 170 h 172"/>
                    <a:gd name="T34" fmla="*/ 2 w 186"/>
                    <a:gd name="T35" fmla="*/ 170 h 172"/>
                    <a:gd name="T36" fmla="*/ 2 w 186"/>
                    <a:gd name="T37" fmla="*/ 170 h 172"/>
                    <a:gd name="T38" fmla="*/ 1 w 186"/>
                    <a:gd name="T39" fmla="*/ 169 h 172"/>
                    <a:gd name="T40" fmla="*/ 1 w 186"/>
                    <a:gd name="T41" fmla="*/ 169 h 172"/>
                    <a:gd name="T42" fmla="*/ 0 w 186"/>
                    <a:gd name="T43" fmla="*/ 169 h 172"/>
                    <a:gd name="T44" fmla="*/ 0 w 186"/>
                    <a:gd name="T45" fmla="*/ 168 h 172"/>
                    <a:gd name="T46" fmla="*/ 0 w 186"/>
                    <a:gd name="T47" fmla="*/ 167 h 172"/>
                    <a:gd name="T48" fmla="*/ 0 w 186"/>
                    <a:gd name="T49" fmla="*/ 167 h 172"/>
                    <a:gd name="T50" fmla="*/ 0 w 186"/>
                    <a:gd name="T51" fmla="*/ 166 h 172"/>
                    <a:gd name="T52" fmla="*/ 0 w 186"/>
                    <a:gd name="T53" fmla="*/ 165 h 172"/>
                    <a:gd name="T54" fmla="*/ 0 w 186"/>
                    <a:gd name="T55" fmla="*/ 5 h 172"/>
                    <a:gd name="T56" fmla="*/ 0 w 186"/>
                    <a:gd name="T57" fmla="*/ 4 h 172"/>
                    <a:gd name="T58" fmla="*/ 0 w 186"/>
                    <a:gd name="T59" fmla="*/ 3 h 172"/>
                    <a:gd name="T60" fmla="*/ 0 w 186"/>
                    <a:gd name="T61" fmla="*/ 3 h 172"/>
                    <a:gd name="T62" fmla="*/ 0 w 186"/>
                    <a:gd name="T63" fmla="*/ 2 h 172"/>
                    <a:gd name="T64" fmla="*/ 0 w 186"/>
                    <a:gd name="T65" fmla="*/ 2 h 172"/>
                    <a:gd name="T66" fmla="*/ 1 w 186"/>
                    <a:gd name="T67" fmla="*/ 1 h 172"/>
                    <a:gd name="T68" fmla="*/ 1 w 186"/>
                    <a:gd name="T69" fmla="*/ 1 h 172"/>
                    <a:gd name="T70" fmla="*/ 2 w 186"/>
                    <a:gd name="T71" fmla="*/ 1 h 172"/>
                    <a:gd name="T72" fmla="*/ 2 w 186"/>
                    <a:gd name="T73" fmla="*/ 0 h 172"/>
                    <a:gd name="T74" fmla="*/ 2 w 186"/>
                    <a:gd name="T75" fmla="*/ 0 h 172"/>
                    <a:gd name="T76" fmla="*/ 3 w 186"/>
                    <a:gd name="T77" fmla="*/ 0 h 172"/>
                    <a:gd name="T78" fmla="*/ 3 w 186"/>
                    <a:gd name="T79" fmla="*/ 0 h 172"/>
                    <a:gd name="T80" fmla="*/ 4 w 186"/>
                    <a:gd name="T81" fmla="*/ 0 h 172"/>
                    <a:gd name="T82" fmla="*/ 179 w 186"/>
                    <a:gd name="T83" fmla="*/ 0 h 172"/>
                    <a:gd name="T84" fmla="*/ 180 w 186"/>
                    <a:gd name="T85" fmla="*/ 0 h 172"/>
                    <a:gd name="T86" fmla="*/ 181 w 186"/>
                    <a:gd name="T87" fmla="*/ 0 h 172"/>
                    <a:gd name="T88" fmla="*/ 181 w 186"/>
                    <a:gd name="T89" fmla="*/ 0 h 172"/>
                    <a:gd name="T90" fmla="*/ 182 w 186"/>
                    <a:gd name="T91" fmla="*/ 0 h 172"/>
                    <a:gd name="T92" fmla="*/ 182 w 186"/>
                    <a:gd name="T93" fmla="*/ 1 h 172"/>
                    <a:gd name="T94" fmla="*/ 183 w 186"/>
                    <a:gd name="T95" fmla="*/ 1 h 172"/>
                    <a:gd name="T96" fmla="*/ 183 w 186"/>
                    <a:gd name="T97" fmla="*/ 1 h 172"/>
                    <a:gd name="T98" fmla="*/ 183 w 186"/>
                    <a:gd name="T99" fmla="*/ 2 h 172"/>
                    <a:gd name="T100" fmla="*/ 184 w 186"/>
                    <a:gd name="T101" fmla="*/ 2 h 172"/>
                    <a:gd name="T102" fmla="*/ 184 w 186"/>
                    <a:gd name="T103" fmla="*/ 3 h 172"/>
                    <a:gd name="T104" fmla="*/ 185 w 186"/>
                    <a:gd name="T105" fmla="*/ 3 h 172"/>
                    <a:gd name="T106" fmla="*/ 185 w 186"/>
                    <a:gd name="T107" fmla="*/ 4 h 172"/>
                    <a:gd name="T108" fmla="*/ 185 w 186"/>
                    <a:gd name="T109" fmla="*/ 5 h 172"/>
                    <a:gd name="T110" fmla="*/ 185 w 186"/>
                    <a:gd name="T111" fmla="*/ 165 h 172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86"/>
                    <a:gd name="T169" fmla="*/ 0 h 172"/>
                    <a:gd name="T170" fmla="*/ 186 w 186"/>
                    <a:gd name="T171" fmla="*/ 172 h 172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86" h="172">
                      <a:moveTo>
                        <a:pt x="185" y="165"/>
                      </a:moveTo>
                      <a:lnTo>
                        <a:pt x="185" y="166"/>
                      </a:lnTo>
                      <a:lnTo>
                        <a:pt x="185" y="167"/>
                      </a:lnTo>
                      <a:lnTo>
                        <a:pt x="184" y="167"/>
                      </a:lnTo>
                      <a:lnTo>
                        <a:pt x="184" y="168"/>
                      </a:lnTo>
                      <a:lnTo>
                        <a:pt x="183" y="169"/>
                      </a:lnTo>
                      <a:lnTo>
                        <a:pt x="182" y="170"/>
                      </a:lnTo>
                      <a:lnTo>
                        <a:pt x="181" y="170"/>
                      </a:lnTo>
                      <a:lnTo>
                        <a:pt x="181" y="171"/>
                      </a:lnTo>
                      <a:lnTo>
                        <a:pt x="180" y="171"/>
                      </a:lnTo>
                      <a:lnTo>
                        <a:pt x="179" y="171"/>
                      </a:lnTo>
                      <a:lnTo>
                        <a:pt x="4" y="171"/>
                      </a:lnTo>
                      <a:lnTo>
                        <a:pt x="3" y="171"/>
                      </a:lnTo>
                      <a:lnTo>
                        <a:pt x="3" y="170"/>
                      </a:lnTo>
                      <a:lnTo>
                        <a:pt x="2" y="170"/>
                      </a:lnTo>
                      <a:lnTo>
                        <a:pt x="1" y="169"/>
                      </a:lnTo>
                      <a:lnTo>
                        <a:pt x="0" y="169"/>
                      </a:lnTo>
                      <a:lnTo>
                        <a:pt x="0" y="168"/>
                      </a:lnTo>
                      <a:lnTo>
                        <a:pt x="0" y="167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79" y="0"/>
                      </a:lnTo>
                      <a:lnTo>
                        <a:pt x="180" y="0"/>
                      </a:lnTo>
                      <a:lnTo>
                        <a:pt x="181" y="0"/>
                      </a:lnTo>
                      <a:lnTo>
                        <a:pt x="182" y="0"/>
                      </a:lnTo>
                      <a:lnTo>
                        <a:pt x="182" y="1"/>
                      </a:lnTo>
                      <a:lnTo>
                        <a:pt x="183" y="1"/>
                      </a:lnTo>
                      <a:lnTo>
                        <a:pt x="183" y="2"/>
                      </a:lnTo>
                      <a:lnTo>
                        <a:pt x="184" y="2"/>
                      </a:lnTo>
                      <a:lnTo>
                        <a:pt x="184" y="3"/>
                      </a:lnTo>
                      <a:lnTo>
                        <a:pt x="185" y="3"/>
                      </a:lnTo>
                      <a:lnTo>
                        <a:pt x="185" y="4"/>
                      </a:lnTo>
                      <a:lnTo>
                        <a:pt x="185" y="5"/>
                      </a:lnTo>
                      <a:lnTo>
                        <a:pt x="185" y="165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34" name="Freeform 459"/>
                <p:cNvSpPr>
                  <a:spLocks/>
                </p:cNvSpPr>
                <p:nvPr/>
              </p:nvSpPr>
              <p:spPr bwMode="auto">
                <a:xfrm>
                  <a:off x="3857" y="1281"/>
                  <a:ext cx="181" cy="171"/>
                </a:xfrm>
                <a:custGeom>
                  <a:avLst/>
                  <a:gdLst>
                    <a:gd name="T0" fmla="*/ 180 w 181"/>
                    <a:gd name="T1" fmla="*/ 3 h 171"/>
                    <a:gd name="T2" fmla="*/ 180 w 181"/>
                    <a:gd name="T3" fmla="*/ 3 h 171"/>
                    <a:gd name="T4" fmla="*/ 180 w 181"/>
                    <a:gd name="T5" fmla="*/ 2 h 171"/>
                    <a:gd name="T6" fmla="*/ 179 w 181"/>
                    <a:gd name="T7" fmla="*/ 2 h 171"/>
                    <a:gd name="T8" fmla="*/ 179 w 181"/>
                    <a:gd name="T9" fmla="*/ 1 h 171"/>
                    <a:gd name="T10" fmla="*/ 178 w 181"/>
                    <a:gd name="T11" fmla="*/ 1 h 171"/>
                    <a:gd name="T12" fmla="*/ 178 w 181"/>
                    <a:gd name="T13" fmla="*/ 0 h 171"/>
                    <a:gd name="T14" fmla="*/ 177 w 181"/>
                    <a:gd name="T15" fmla="*/ 0 h 171"/>
                    <a:gd name="T16" fmla="*/ 177 w 181"/>
                    <a:gd name="T17" fmla="*/ 0 h 171"/>
                    <a:gd name="T18" fmla="*/ 177 w 181"/>
                    <a:gd name="T19" fmla="*/ 0 h 171"/>
                    <a:gd name="T20" fmla="*/ 176 w 181"/>
                    <a:gd name="T21" fmla="*/ 0 h 171"/>
                    <a:gd name="T22" fmla="*/ 176 w 181"/>
                    <a:gd name="T23" fmla="*/ 0 h 171"/>
                    <a:gd name="T24" fmla="*/ 3 w 181"/>
                    <a:gd name="T25" fmla="*/ 0 h 171"/>
                    <a:gd name="T26" fmla="*/ 3 w 181"/>
                    <a:gd name="T27" fmla="*/ 0 h 171"/>
                    <a:gd name="T28" fmla="*/ 2 w 181"/>
                    <a:gd name="T29" fmla="*/ 0 h 171"/>
                    <a:gd name="T30" fmla="*/ 2 w 181"/>
                    <a:gd name="T31" fmla="*/ 0 h 171"/>
                    <a:gd name="T32" fmla="*/ 1 w 181"/>
                    <a:gd name="T33" fmla="*/ 0 h 171"/>
                    <a:gd name="T34" fmla="*/ 1 w 181"/>
                    <a:gd name="T35" fmla="*/ 0 h 171"/>
                    <a:gd name="T36" fmla="*/ 1 w 181"/>
                    <a:gd name="T37" fmla="*/ 1 h 171"/>
                    <a:gd name="T38" fmla="*/ 0 w 181"/>
                    <a:gd name="T39" fmla="*/ 1 h 171"/>
                    <a:gd name="T40" fmla="*/ 0 w 181"/>
                    <a:gd name="T41" fmla="*/ 1 h 171"/>
                    <a:gd name="T42" fmla="*/ 0 w 181"/>
                    <a:gd name="T43" fmla="*/ 2 h 171"/>
                    <a:gd name="T44" fmla="*/ 0 w 181"/>
                    <a:gd name="T45" fmla="*/ 3 h 171"/>
                    <a:gd name="T46" fmla="*/ 0 w 181"/>
                    <a:gd name="T47" fmla="*/ 3 h 171"/>
                    <a:gd name="T48" fmla="*/ 0 w 181"/>
                    <a:gd name="T49" fmla="*/ 166 h 171"/>
                    <a:gd name="T50" fmla="*/ 0 w 181"/>
                    <a:gd name="T51" fmla="*/ 166 h 171"/>
                    <a:gd name="T52" fmla="*/ 0 w 181"/>
                    <a:gd name="T53" fmla="*/ 167 h 171"/>
                    <a:gd name="T54" fmla="*/ 0 w 181"/>
                    <a:gd name="T55" fmla="*/ 168 h 171"/>
                    <a:gd name="T56" fmla="*/ 0 w 181"/>
                    <a:gd name="T57" fmla="*/ 168 h 171"/>
                    <a:gd name="T58" fmla="*/ 1 w 181"/>
                    <a:gd name="T59" fmla="*/ 168 h 171"/>
                    <a:gd name="T60" fmla="*/ 1 w 181"/>
                    <a:gd name="T61" fmla="*/ 169 h 171"/>
                    <a:gd name="T62" fmla="*/ 2 w 181"/>
                    <a:gd name="T63" fmla="*/ 169 h 171"/>
                    <a:gd name="T64" fmla="*/ 2 w 181"/>
                    <a:gd name="T65" fmla="*/ 169 h 171"/>
                    <a:gd name="T66" fmla="*/ 3 w 181"/>
                    <a:gd name="T67" fmla="*/ 170 h 171"/>
                    <a:gd name="T68" fmla="*/ 3 w 181"/>
                    <a:gd name="T69" fmla="*/ 170 h 171"/>
                    <a:gd name="T70" fmla="*/ 176 w 181"/>
                    <a:gd name="T71" fmla="*/ 170 h 171"/>
                    <a:gd name="T72" fmla="*/ 176 w 181"/>
                    <a:gd name="T73" fmla="*/ 169 h 171"/>
                    <a:gd name="T74" fmla="*/ 177 w 181"/>
                    <a:gd name="T75" fmla="*/ 169 h 171"/>
                    <a:gd name="T76" fmla="*/ 177 w 181"/>
                    <a:gd name="T77" fmla="*/ 169 h 171"/>
                    <a:gd name="T78" fmla="*/ 178 w 181"/>
                    <a:gd name="T79" fmla="*/ 169 h 171"/>
                    <a:gd name="T80" fmla="*/ 178 w 181"/>
                    <a:gd name="T81" fmla="*/ 168 h 171"/>
                    <a:gd name="T82" fmla="*/ 178 w 181"/>
                    <a:gd name="T83" fmla="*/ 168 h 171"/>
                    <a:gd name="T84" fmla="*/ 179 w 181"/>
                    <a:gd name="T85" fmla="*/ 168 h 171"/>
                    <a:gd name="T86" fmla="*/ 179 w 181"/>
                    <a:gd name="T87" fmla="*/ 167 h 171"/>
                    <a:gd name="T88" fmla="*/ 180 w 181"/>
                    <a:gd name="T89" fmla="*/ 166 h 171"/>
                    <a:gd name="T90" fmla="*/ 180 w 181"/>
                    <a:gd name="T91" fmla="*/ 166 h 171"/>
                    <a:gd name="T92" fmla="*/ 180 w 181"/>
                    <a:gd name="T93" fmla="*/ 3 h 171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w 181"/>
                    <a:gd name="T142" fmla="*/ 0 h 171"/>
                    <a:gd name="T143" fmla="*/ 181 w 181"/>
                    <a:gd name="T144" fmla="*/ 171 h 171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T141" t="T142" r="T143" b="T144"/>
                  <a:pathLst>
                    <a:path w="181" h="171">
                      <a:moveTo>
                        <a:pt x="180" y="3"/>
                      </a:moveTo>
                      <a:lnTo>
                        <a:pt x="180" y="3"/>
                      </a:lnTo>
                      <a:lnTo>
                        <a:pt x="180" y="2"/>
                      </a:lnTo>
                      <a:lnTo>
                        <a:pt x="179" y="2"/>
                      </a:lnTo>
                      <a:lnTo>
                        <a:pt x="179" y="1"/>
                      </a:lnTo>
                      <a:lnTo>
                        <a:pt x="178" y="1"/>
                      </a:lnTo>
                      <a:lnTo>
                        <a:pt x="178" y="0"/>
                      </a:lnTo>
                      <a:lnTo>
                        <a:pt x="177" y="0"/>
                      </a:lnTo>
                      <a:lnTo>
                        <a:pt x="17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16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1" y="169"/>
                      </a:lnTo>
                      <a:lnTo>
                        <a:pt x="2" y="169"/>
                      </a:lnTo>
                      <a:lnTo>
                        <a:pt x="3" y="170"/>
                      </a:lnTo>
                      <a:lnTo>
                        <a:pt x="176" y="170"/>
                      </a:lnTo>
                      <a:lnTo>
                        <a:pt x="176" y="169"/>
                      </a:lnTo>
                      <a:lnTo>
                        <a:pt x="177" y="169"/>
                      </a:lnTo>
                      <a:lnTo>
                        <a:pt x="178" y="169"/>
                      </a:lnTo>
                      <a:lnTo>
                        <a:pt x="178" y="168"/>
                      </a:lnTo>
                      <a:lnTo>
                        <a:pt x="179" y="168"/>
                      </a:lnTo>
                      <a:lnTo>
                        <a:pt x="179" y="167"/>
                      </a:lnTo>
                      <a:lnTo>
                        <a:pt x="180" y="166"/>
                      </a:lnTo>
                      <a:lnTo>
                        <a:pt x="180" y="3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35" name="Freeform 460"/>
                <p:cNvSpPr>
                  <a:spLocks/>
                </p:cNvSpPr>
                <p:nvPr/>
              </p:nvSpPr>
              <p:spPr bwMode="auto">
                <a:xfrm>
                  <a:off x="3858" y="1282"/>
                  <a:ext cx="180" cy="168"/>
                </a:xfrm>
                <a:custGeom>
                  <a:avLst/>
                  <a:gdLst>
                    <a:gd name="T0" fmla="*/ 179 w 180"/>
                    <a:gd name="T1" fmla="*/ 163 h 168"/>
                    <a:gd name="T2" fmla="*/ 179 w 180"/>
                    <a:gd name="T3" fmla="*/ 164 h 168"/>
                    <a:gd name="T4" fmla="*/ 178 w 180"/>
                    <a:gd name="T5" fmla="*/ 165 h 168"/>
                    <a:gd name="T6" fmla="*/ 178 w 180"/>
                    <a:gd name="T7" fmla="*/ 165 h 168"/>
                    <a:gd name="T8" fmla="*/ 177 w 180"/>
                    <a:gd name="T9" fmla="*/ 166 h 168"/>
                    <a:gd name="T10" fmla="*/ 177 w 180"/>
                    <a:gd name="T11" fmla="*/ 166 h 168"/>
                    <a:gd name="T12" fmla="*/ 176 w 180"/>
                    <a:gd name="T13" fmla="*/ 167 h 168"/>
                    <a:gd name="T14" fmla="*/ 176 w 180"/>
                    <a:gd name="T15" fmla="*/ 167 h 168"/>
                    <a:gd name="T16" fmla="*/ 2 w 180"/>
                    <a:gd name="T17" fmla="*/ 167 h 168"/>
                    <a:gd name="T18" fmla="*/ 2 w 180"/>
                    <a:gd name="T19" fmla="*/ 167 h 168"/>
                    <a:gd name="T20" fmla="*/ 1 w 180"/>
                    <a:gd name="T21" fmla="*/ 167 h 168"/>
                    <a:gd name="T22" fmla="*/ 1 w 180"/>
                    <a:gd name="T23" fmla="*/ 166 h 168"/>
                    <a:gd name="T24" fmla="*/ 1 w 180"/>
                    <a:gd name="T25" fmla="*/ 166 h 168"/>
                    <a:gd name="T26" fmla="*/ 0 w 180"/>
                    <a:gd name="T27" fmla="*/ 166 h 168"/>
                    <a:gd name="T28" fmla="*/ 0 w 180"/>
                    <a:gd name="T29" fmla="*/ 165 h 168"/>
                    <a:gd name="T30" fmla="*/ 0 w 180"/>
                    <a:gd name="T31" fmla="*/ 165 h 168"/>
                    <a:gd name="T32" fmla="*/ 0 w 180"/>
                    <a:gd name="T33" fmla="*/ 165 h 168"/>
                    <a:gd name="T34" fmla="*/ 0 w 180"/>
                    <a:gd name="T35" fmla="*/ 164 h 168"/>
                    <a:gd name="T36" fmla="*/ 0 w 180"/>
                    <a:gd name="T37" fmla="*/ 163 h 168"/>
                    <a:gd name="T38" fmla="*/ 0 w 180"/>
                    <a:gd name="T39" fmla="*/ 3 h 168"/>
                    <a:gd name="T40" fmla="*/ 0 w 180"/>
                    <a:gd name="T41" fmla="*/ 2 h 168"/>
                    <a:gd name="T42" fmla="*/ 0 w 180"/>
                    <a:gd name="T43" fmla="*/ 1 h 168"/>
                    <a:gd name="T44" fmla="*/ 0 w 180"/>
                    <a:gd name="T45" fmla="*/ 1 h 168"/>
                    <a:gd name="T46" fmla="*/ 0 w 180"/>
                    <a:gd name="T47" fmla="*/ 1 h 168"/>
                    <a:gd name="T48" fmla="*/ 1 w 180"/>
                    <a:gd name="T49" fmla="*/ 0 h 168"/>
                    <a:gd name="T50" fmla="*/ 1 w 180"/>
                    <a:gd name="T51" fmla="*/ 0 h 168"/>
                    <a:gd name="T52" fmla="*/ 2 w 180"/>
                    <a:gd name="T53" fmla="*/ 0 h 168"/>
                    <a:gd name="T54" fmla="*/ 2 w 180"/>
                    <a:gd name="T55" fmla="*/ 0 h 168"/>
                    <a:gd name="T56" fmla="*/ 176 w 180"/>
                    <a:gd name="T57" fmla="*/ 0 h 168"/>
                    <a:gd name="T58" fmla="*/ 176 w 180"/>
                    <a:gd name="T59" fmla="*/ 0 h 168"/>
                    <a:gd name="T60" fmla="*/ 176 w 180"/>
                    <a:gd name="T61" fmla="*/ 0 h 168"/>
                    <a:gd name="T62" fmla="*/ 177 w 180"/>
                    <a:gd name="T63" fmla="*/ 0 h 168"/>
                    <a:gd name="T64" fmla="*/ 177 w 180"/>
                    <a:gd name="T65" fmla="*/ 0 h 168"/>
                    <a:gd name="T66" fmla="*/ 177 w 180"/>
                    <a:gd name="T67" fmla="*/ 1 h 168"/>
                    <a:gd name="T68" fmla="*/ 178 w 180"/>
                    <a:gd name="T69" fmla="*/ 1 h 168"/>
                    <a:gd name="T70" fmla="*/ 178 w 180"/>
                    <a:gd name="T71" fmla="*/ 1 h 168"/>
                    <a:gd name="T72" fmla="*/ 179 w 180"/>
                    <a:gd name="T73" fmla="*/ 2 h 168"/>
                    <a:gd name="T74" fmla="*/ 179 w 180"/>
                    <a:gd name="T75" fmla="*/ 3 h 168"/>
                    <a:gd name="T76" fmla="*/ 179 w 180"/>
                    <a:gd name="T77" fmla="*/ 16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80"/>
                    <a:gd name="T118" fmla="*/ 0 h 168"/>
                    <a:gd name="T119" fmla="*/ 180 w 180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80" h="168">
                      <a:moveTo>
                        <a:pt x="179" y="163"/>
                      </a:moveTo>
                      <a:lnTo>
                        <a:pt x="179" y="164"/>
                      </a:lnTo>
                      <a:lnTo>
                        <a:pt x="178" y="165"/>
                      </a:lnTo>
                      <a:lnTo>
                        <a:pt x="177" y="166"/>
                      </a:lnTo>
                      <a:lnTo>
                        <a:pt x="176" y="167"/>
                      </a:lnTo>
                      <a:lnTo>
                        <a:pt x="2" y="167"/>
                      </a:lnTo>
                      <a:lnTo>
                        <a:pt x="1" y="167"/>
                      </a:lnTo>
                      <a:lnTo>
                        <a:pt x="1" y="166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164"/>
                      </a:lnTo>
                      <a:lnTo>
                        <a:pt x="0" y="163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2" y="0"/>
                      </a:lnTo>
                      <a:lnTo>
                        <a:pt x="176" y="0"/>
                      </a:lnTo>
                      <a:lnTo>
                        <a:pt x="177" y="0"/>
                      </a:lnTo>
                      <a:lnTo>
                        <a:pt x="177" y="1"/>
                      </a:lnTo>
                      <a:lnTo>
                        <a:pt x="178" y="1"/>
                      </a:lnTo>
                      <a:lnTo>
                        <a:pt x="179" y="2"/>
                      </a:lnTo>
                      <a:lnTo>
                        <a:pt x="179" y="3"/>
                      </a:lnTo>
                      <a:lnTo>
                        <a:pt x="179" y="163"/>
                      </a:lnTo>
                    </a:path>
                  </a:pathLst>
                </a:custGeom>
                <a:solidFill>
                  <a:srgbClr val="EFEFD1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36" name="Freeform 461"/>
                <p:cNvSpPr>
                  <a:spLocks/>
                </p:cNvSpPr>
                <p:nvPr/>
              </p:nvSpPr>
              <p:spPr bwMode="auto">
                <a:xfrm>
                  <a:off x="3877" y="1304"/>
                  <a:ext cx="142" cy="124"/>
                </a:xfrm>
                <a:custGeom>
                  <a:avLst/>
                  <a:gdLst>
                    <a:gd name="T0" fmla="*/ 0 w 142"/>
                    <a:gd name="T1" fmla="*/ 1 h 124"/>
                    <a:gd name="T2" fmla="*/ 1 w 142"/>
                    <a:gd name="T3" fmla="*/ 1 h 124"/>
                    <a:gd name="T4" fmla="*/ 1 w 142"/>
                    <a:gd name="T5" fmla="*/ 1 h 124"/>
                    <a:gd name="T6" fmla="*/ 2 w 142"/>
                    <a:gd name="T7" fmla="*/ 0 h 124"/>
                    <a:gd name="T8" fmla="*/ 2 w 142"/>
                    <a:gd name="T9" fmla="*/ 0 h 124"/>
                    <a:gd name="T10" fmla="*/ 3 w 142"/>
                    <a:gd name="T11" fmla="*/ 0 h 124"/>
                    <a:gd name="T12" fmla="*/ 3 w 142"/>
                    <a:gd name="T13" fmla="*/ 0 h 124"/>
                    <a:gd name="T14" fmla="*/ 4 w 142"/>
                    <a:gd name="T15" fmla="*/ 0 h 124"/>
                    <a:gd name="T16" fmla="*/ 135 w 142"/>
                    <a:gd name="T17" fmla="*/ 0 h 124"/>
                    <a:gd name="T18" fmla="*/ 136 w 142"/>
                    <a:gd name="T19" fmla="*/ 0 h 124"/>
                    <a:gd name="T20" fmla="*/ 137 w 142"/>
                    <a:gd name="T21" fmla="*/ 0 h 124"/>
                    <a:gd name="T22" fmla="*/ 137 w 142"/>
                    <a:gd name="T23" fmla="*/ 0 h 124"/>
                    <a:gd name="T24" fmla="*/ 138 w 142"/>
                    <a:gd name="T25" fmla="*/ 0 h 124"/>
                    <a:gd name="T26" fmla="*/ 138 w 142"/>
                    <a:gd name="T27" fmla="*/ 1 h 124"/>
                    <a:gd name="T28" fmla="*/ 139 w 142"/>
                    <a:gd name="T29" fmla="*/ 1 h 124"/>
                    <a:gd name="T30" fmla="*/ 139 w 142"/>
                    <a:gd name="T31" fmla="*/ 1 h 124"/>
                    <a:gd name="T32" fmla="*/ 140 w 142"/>
                    <a:gd name="T33" fmla="*/ 2 h 124"/>
                    <a:gd name="T34" fmla="*/ 140 w 142"/>
                    <a:gd name="T35" fmla="*/ 3 h 124"/>
                    <a:gd name="T36" fmla="*/ 141 w 142"/>
                    <a:gd name="T37" fmla="*/ 3 h 124"/>
                    <a:gd name="T38" fmla="*/ 141 w 142"/>
                    <a:gd name="T39" fmla="*/ 4 h 124"/>
                    <a:gd name="T40" fmla="*/ 141 w 142"/>
                    <a:gd name="T41" fmla="*/ 5 h 124"/>
                    <a:gd name="T42" fmla="*/ 141 w 142"/>
                    <a:gd name="T43" fmla="*/ 117 h 124"/>
                    <a:gd name="T44" fmla="*/ 141 w 142"/>
                    <a:gd name="T45" fmla="*/ 119 h 124"/>
                    <a:gd name="T46" fmla="*/ 140 w 142"/>
                    <a:gd name="T47" fmla="*/ 119 h 124"/>
                    <a:gd name="T48" fmla="*/ 140 w 142"/>
                    <a:gd name="T49" fmla="*/ 120 h 124"/>
                    <a:gd name="T50" fmla="*/ 139 w 142"/>
                    <a:gd name="T51" fmla="*/ 121 h 124"/>
                    <a:gd name="T52" fmla="*/ 139 w 142"/>
                    <a:gd name="T53" fmla="*/ 121 h 124"/>
                    <a:gd name="T54" fmla="*/ 138 w 142"/>
                    <a:gd name="T55" fmla="*/ 122 h 124"/>
                    <a:gd name="T56" fmla="*/ 138 w 142"/>
                    <a:gd name="T57" fmla="*/ 122 h 124"/>
                    <a:gd name="T58" fmla="*/ 137 w 142"/>
                    <a:gd name="T59" fmla="*/ 122 h 124"/>
                    <a:gd name="T60" fmla="*/ 137 w 142"/>
                    <a:gd name="T61" fmla="*/ 123 h 124"/>
                    <a:gd name="T62" fmla="*/ 136 w 142"/>
                    <a:gd name="T63" fmla="*/ 123 h 124"/>
                    <a:gd name="T64" fmla="*/ 135 w 142"/>
                    <a:gd name="T65" fmla="*/ 123 h 124"/>
                    <a:gd name="T66" fmla="*/ 4 w 142"/>
                    <a:gd name="T67" fmla="*/ 123 h 124"/>
                    <a:gd name="T68" fmla="*/ 3 w 142"/>
                    <a:gd name="T69" fmla="*/ 123 h 124"/>
                    <a:gd name="T70" fmla="*/ 3 w 142"/>
                    <a:gd name="T71" fmla="*/ 123 h 124"/>
                    <a:gd name="T72" fmla="*/ 2 w 142"/>
                    <a:gd name="T73" fmla="*/ 122 h 124"/>
                    <a:gd name="T74" fmla="*/ 2 w 142"/>
                    <a:gd name="T75" fmla="*/ 122 h 124"/>
                    <a:gd name="T76" fmla="*/ 1 w 142"/>
                    <a:gd name="T77" fmla="*/ 122 h 124"/>
                    <a:gd name="T78" fmla="*/ 1 w 142"/>
                    <a:gd name="T79" fmla="*/ 121 h 124"/>
                    <a:gd name="T80" fmla="*/ 0 w 142"/>
                    <a:gd name="T81" fmla="*/ 121 h 124"/>
                    <a:gd name="T82" fmla="*/ 0 w 142"/>
                    <a:gd name="T83" fmla="*/ 120 h 124"/>
                    <a:gd name="T84" fmla="*/ 0 w 142"/>
                    <a:gd name="T85" fmla="*/ 119 h 124"/>
                    <a:gd name="T86" fmla="*/ 0 w 142"/>
                    <a:gd name="T87" fmla="*/ 119 h 124"/>
                    <a:gd name="T88" fmla="*/ 0 w 142"/>
                    <a:gd name="T89" fmla="*/ 117 h 124"/>
                    <a:gd name="T90" fmla="*/ 0 w 142"/>
                    <a:gd name="T91" fmla="*/ 5 h 124"/>
                    <a:gd name="T92" fmla="*/ 0 w 142"/>
                    <a:gd name="T93" fmla="*/ 4 h 124"/>
                    <a:gd name="T94" fmla="*/ 0 w 142"/>
                    <a:gd name="T95" fmla="*/ 3 h 124"/>
                    <a:gd name="T96" fmla="*/ 0 w 142"/>
                    <a:gd name="T97" fmla="*/ 3 h 124"/>
                    <a:gd name="T98" fmla="*/ 0 w 142"/>
                    <a:gd name="T99" fmla="*/ 2 h 124"/>
                    <a:gd name="T100" fmla="*/ 0 w 142"/>
                    <a:gd name="T101" fmla="*/ 1 h 124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42"/>
                    <a:gd name="T154" fmla="*/ 0 h 124"/>
                    <a:gd name="T155" fmla="*/ 142 w 142"/>
                    <a:gd name="T156" fmla="*/ 124 h 124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42" h="124">
                      <a:moveTo>
                        <a:pt x="0" y="1"/>
                      </a:moveTo>
                      <a:lnTo>
                        <a:pt x="1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8" y="1"/>
                      </a:lnTo>
                      <a:lnTo>
                        <a:pt x="139" y="1"/>
                      </a:lnTo>
                      <a:lnTo>
                        <a:pt x="140" y="2"/>
                      </a:lnTo>
                      <a:lnTo>
                        <a:pt x="140" y="3"/>
                      </a:lnTo>
                      <a:lnTo>
                        <a:pt x="141" y="3"/>
                      </a:lnTo>
                      <a:lnTo>
                        <a:pt x="141" y="4"/>
                      </a:lnTo>
                      <a:lnTo>
                        <a:pt x="141" y="5"/>
                      </a:lnTo>
                      <a:lnTo>
                        <a:pt x="141" y="117"/>
                      </a:lnTo>
                      <a:lnTo>
                        <a:pt x="141" y="119"/>
                      </a:lnTo>
                      <a:lnTo>
                        <a:pt x="140" y="119"/>
                      </a:lnTo>
                      <a:lnTo>
                        <a:pt x="140" y="120"/>
                      </a:lnTo>
                      <a:lnTo>
                        <a:pt x="139" y="121"/>
                      </a:lnTo>
                      <a:lnTo>
                        <a:pt x="138" y="122"/>
                      </a:lnTo>
                      <a:lnTo>
                        <a:pt x="137" y="122"/>
                      </a:lnTo>
                      <a:lnTo>
                        <a:pt x="137" y="123"/>
                      </a:lnTo>
                      <a:lnTo>
                        <a:pt x="136" y="123"/>
                      </a:lnTo>
                      <a:lnTo>
                        <a:pt x="135" y="123"/>
                      </a:lnTo>
                      <a:lnTo>
                        <a:pt x="4" y="123"/>
                      </a:lnTo>
                      <a:lnTo>
                        <a:pt x="3" y="123"/>
                      </a:lnTo>
                      <a:lnTo>
                        <a:pt x="2" y="122"/>
                      </a:lnTo>
                      <a:lnTo>
                        <a:pt x="1" y="122"/>
                      </a:lnTo>
                      <a:lnTo>
                        <a:pt x="1" y="121"/>
                      </a:lnTo>
                      <a:lnTo>
                        <a:pt x="0" y="121"/>
                      </a:lnTo>
                      <a:lnTo>
                        <a:pt x="0" y="120"/>
                      </a:lnTo>
                      <a:lnTo>
                        <a:pt x="0" y="119"/>
                      </a:lnTo>
                      <a:lnTo>
                        <a:pt x="0" y="117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</a:path>
                  </a:pathLst>
                </a:custGeom>
                <a:gradFill rotWithShape="0">
                  <a:gsLst>
                    <a:gs pos="0">
                      <a:srgbClr val="1D2B4B"/>
                    </a:gs>
                    <a:gs pos="50000">
                      <a:srgbClr val="618FFD"/>
                    </a:gs>
                    <a:gs pos="100000">
                      <a:srgbClr val="1D2B4B"/>
                    </a:gs>
                  </a:gsLst>
                  <a:lin ang="2700000" scaled="1"/>
                </a:gra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37" name="Freeform 462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4 h 17"/>
                    <a:gd name="T2" fmla="*/ 151 w 153"/>
                    <a:gd name="T3" fmla="*/ 3 h 17"/>
                    <a:gd name="T4" fmla="*/ 151 w 153"/>
                    <a:gd name="T5" fmla="*/ 2 h 17"/>
                    <a:gd name="T6" fmla="*/ 150 w 153"/>
                    <a:gd name="T7" fmla="*/ 2 h 17"/>
                    <a:gd name="T8" fmla="*/ 150 w 153"/>
                    <a:gd name="T9" fmla="*/ 2 h 17"/>
                    <a:gd name="T10" fmla="*/ 150 w 153"/>
                    <a:gd name="T11" fmla="*/ 1 h 17"/>
                    <a:gd name="T12" fmla="*/ 149 w 153"/>
                    <a:gd name="T13" fmla="*/ 1 h 17"/>
                    <a:gd name="T14" fmla="*/ 149 w 153"/>
                    <a:gd name="T15" fmla="*/ 1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1 h 17"/>
                    <a:gd name="T32" fmla="*/ 1 w 153"/>
                    <a:gd name="T33" fmla="*/ 1 h 17"/>
                    <a:gd name="T34" fmla="*/ 0 w 153"/>
                    <a:gd name="T35" fmla="*/ 2 h 17"/>
                    <a:gd name="T36" fmla="*/ 0 w 153"/>
                    <a:gd name="T37" fmla="*/ 2 h 17"/>
                    <a:gd name="T38" fmla="*/ 0 w 153"/>
                    <a:gd name="T39" fmla="*/ 3 h 17"/>
                    <a:gd name="T40" fmla="*/ 6 w 153"/>
                    <a:gd name="T41" fmla="*/ 16 h 17"/>
                    <a:gd name="T42" fmla="*/ 7 w 153"/>
                    <a:gd name="T43" fmla="*/ 14 h 17"/>
                    <a:gd name="T44" fmla="*/ 7 w 153"/>
                    <a:gd name="T45" fmla="*/ 14 h 17"/>
                    <a:gd name="T46" fmla="*/ 8 w 153"/>
                    <a:gd name="T47" fmla="*/ 13 h 17"/>
                    <a:gd name="T48" fmla="*/ 8 w 153"/>
                    <a:gd name="T49" fmla="*/ 13 h 17"/>
                    <a:gd name="T50" fmla="*/ 8 w 153"/>
                    <a:gd name="T51" fmla="*/ 12 h 17"/>
                    <a:gd name="T52" fmla="*/ 9 w 153"/>
                    <a:gd name="T53" fmla="*/ 12 h 17"/>
                    <a:gd name="T54" fmla="*/ 10 w 153"/>
                    <a:gd name="T55" fmla="*/ 12 h 17"/>
                    <a:gd name="T56" fmla="*/ 140 w 153"/>
                    <a:gd name="T57" fmla="*/ 12 h 17"/>
                    <a:gd name="T58" fmla="*/ 141 w 153"/>
                    <a:gd name="T59" fmla="*/ 12 h 17"/>
                    <a:gd name="T60" fmla="*/ 142 w 153"/>
                    <a:gd name="T61" fmla="*/ 12 h 17"/>
                    <a:gd name="T62" fmla="*/ 142 w 153"/>
                    <a:gd name="T63" fmla="*/ 13 h 17"/>
                    <a:gd name="T64" fmla="*/ 143 w 153"/>
                    <a:gd name="T65" fmla="*/ 13 h 17"/>
                    <a:gd name="T66" fmla="*/ 143 w 153"/>
                    <a:gd name="T67" fmla="*/ 14 h 17"/>
                    <a:gd name="T68" fmla="*/ 143 w 153"/>
                    <a:gd name="T69" fmla="*/ 14 h 17"/>
                    <a:gd name="T70" fmla="*/ 144 w 153"/>
                    <a:gd name="T71" fmla="*/ 14 h 17"/>
                    <a:gd name="T72" fmla="*/ 152 w 153"/>
                    <a:gd name="T73" fmla="*/ 4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53"/>
                    <a:gd name="T112" fmla="*/ 0 h 17"/>
                    <a:gd name="T113" fmla="*/ 153 w 153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53" h="17">
                      <a:moveTo>
                        <a:pt x="152" y="4"/>
                      </a:moveTo>
                      <a:lnTo>
                        <a:pt x="151" y="3"/>
                      </a:lnTo>
                      <a:lnTo>
                        <a:pt x="151" y="2"/>
                      </a:lnTo>
                      <a:lnTo>
                        <a:pt x="150" y="2"/>
                      </a:lnTo>
                      <a:lnTo>
                        <a:pt x="150" y="1"/>
                      </a:lnTo>
                      <a:lnTo>
                        <a:pt x="149" y="1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6" y="16"/>
                      </a:lnTo>
                      <a:lnTo>
                        <a:pt x="7" y="14"/>
                      </a:lnTo>
                      <a:lnTo>
                        <a:pt x="8" y="13"/>
                      </a:lnTo>
                      <a:lnTo>
                        <a:pt x="8" y="12"/>
                      </a:lnTo>
                      <a:lnTo>
                        <a:pt x="9" y="12"/>
                      </a:lnTo>
                      <a:lnTo>
                        <a:pt x="10" y="12"/>
                      </a:lnTo>
                      <a:lnTo>
                        <a:pt x="140" y="12"/>
                      </a:lnTo>
                      <a:lnTo>
                        <a:pt x="141" y="12"/>
                      </a:lnTo>
                      <a:lnTo>
                        <a:pt x="142" y="12"/>
                      </a:lnTo>
                      <a:lnTo>
                        <a:pt x="142" y="13"/>
                      </a:lnTo>
                      <a:lnTo>
                        <a:pt x="143" y="13"/>
                      </a:lnTo>
                      <a:lnTo>
                        <a:pt x="143" y="14"/>
                      </a:lnTo>
                      <a:lnTo>
                        <a:pt x="144" y="14"/>
                      </a:lnTo>
                      <a:lnTo>
                        <a:pt x="152" y="4"/>
                      </a:lnTo>
                    </a:path>
                  </a:pathLst>
                </a:custGeom>
                <a:solidFill>
                  <a:srgbClr val="9F9FA2"/>
                </a:solidFill>
                <a:ln w="12700" cap="rnd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38" name="Freeform 463"/>
                <p:cNvSpPr>
                  <a:spLocks/>
                </p:cNvSpPr>
                <p:nvPr/>
              </p:nvSpPr>
              <p:spPr bwMode="auto">
                <a:xfrm>
                  <a:off x="3870" y="1299"/>
                  <a:ext cx="17" cy="135"/>
                </a:xfrm>
                <a:custGeom>
                  <a:avLst/>
                  <a:gdLst>
                    <a:gd name="T0" fmla="*/ 2 w 17"/>
                    <a:gd name="T1" fmla="*/ 0 h 135"/>
                    <a:gd name="T2" fmla="*/ 1 w 17"/>
                    <a:gd name="T3" fmla="*/ 0 h 135"/>
                    <a:gd name="T4" fmla="*/ 0 w 17"/>
                    <a:gd name="T5" fmla="*/ 1 h 135"/>
                    <a:gd name="T6" fmla="*/ 0 w 17"/>
                    <a:gd name="T7" fmla="*/ 2 h 135"/>
                    <a:gd name="T8" fmla="*/ 0 w 17"/>
                    <a:gd name="T9" fmla="*/ 2 h 135"/>
                    <a:gd name="T10" fmla="*/ 0 w 17"/>
                    <a:gd name="T11" fmla="*/ 3 h 135"/>
                    <a:gd name="T12" fmla="*/ 0 w 17"/>
                    <a:gd name="T13" fmla="*/ 4 h 135"/>
                    <a:gd name="T14" fmla="*/ 0 w 17"/>
                    <a:gd name="T15" fmla="*/ 130 h 135"/>
                    <a:gd name="T16" fmla="*/ 0 w 17"/>
                    <a:gd name="T17" fmla="*/ 130 h 135"/>
                    <a:gd name="T18" fmla="*/ 0 w 17"/>
                    <a:gd name="T19" fmla="*/ 131 h 135"/>
                    <a:gd name="T20" fmla="*/ 0 w 17"/>
                    <a:gd name="T21" fmla="*/ 132 h 135"/>
                    <a:gd name="T22" fmla="*/ 0 w 17"/>
                    <a:gd name="T23" fmla="*/ 132 h 135"/>
                    <a:gd name="T24" fmla="*/ 1 w 17"/>
                    <a:gd name="T25" fmla="*/ 133 h 135"/>
                    <a:gd name="T26" fmla="*/ 2 w 17"/>
                    <a:gd name="T27" fmla="*/ 133 h 135"/>
                    <a:gd name="T28" fmla="*/ 2 w 17"/>
                    <a:gd name="T29" fmla="*/ 134 h 135"/>
                    <a:gd name="T30" fmla="*/ 3 w 17"/>
                    <a:gd name="T31" fmla="*/ 134 h 135"/>
                    <a:gd name="T32" fmla="*/ 16 w 17"/>
                    <a:gd name="T33" fmla="*/ 127 h 135"/>
                    <a:gd name="T34" fmla="*/ 15 w 17"/>
                    <a:gd name="T35" fmla="*/ 126 h 135"/>
                    <a:gd name="T36" fmla="*/ 15 w 17"/>
                    <a:gd name="T37" fmla="*/ 126 h 135"/>
                    <a:gd name="T38" fmla="*/ 14 w 17"/>
                    <a:gd name="T39" fmla="*/ 126 h 135"/>
                    <a:gd name="T40" fmla="*/ 14 w 17"/>
                    <a:gd name="T41" fmla="*/ 125 h 135"/>
                    <a:gd name="T42" fmla="*/ 13 w 17"/>
                    <a:gd name="T43" fmla="*/ 124 h 135"/>
                    <a:gd name="T44" fmla="*/ 13 w 17"/>
                    <a:gd name="T45" fmla="*/ 124 h 135"/>
                    <a:gd name="T46" fmla="*/ 13 w 17"/>
                    <a:gd name="T47" fmla="*/ 10 h 135"/>
                    <a:gd name="T48" fmla="*/ 13 w 17"/>
                    <a:gd name="T49" fmla="*/ 9 h 135"/>
                    <a:gd name="T50" fmla="*/ 13 w 17"/>
                    <a:gd name="T51" fmla="*/ 8 h 135"/>
                    <a:gd name="T52" fmla="*/ 14 w 17"/>
                    <a:gd name="T53" fmla="*/ 8 h 135"/>
                    <a:gd name="T54" fmla="*/ 15 w 17"/>
                    <a:gd name="T55" fmla="*/ 7 h 135"/>
                    <a:gd name="T56" fmla="*/ 15 w 17"/>
                    <a:gd name="T57" fmla="*/ 6 h 135"/>
                    <a:gd name="T58" fmla="*/ 2 w 17"/>
                    <a:gd name="T59" fmla="*/ 0 h 135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w 17"/>
                    <a:gd name="T91" fmla="*/ 0 h 135"/>
                    <a:gd name="T92" fmla="*/ 17 w 17"/>
                    <a:gd name="T93" fmla="*/ 135 h 135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T90" t="T91" r="T92" b="T93"/>
                  <a:pathLst>
                    <a:path w="17" h="135">
                      <a:moveTo>
                        <a:pt x="2" y="0"/>
                      </a:moveTo>
                      <a:lnTo>
                        <a:pt x="1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0" y="130"/>
                      </a:lnTo>
                      <a:lnTo>
                        <a:pt x="0" y="131"/>
                      </a:lnTo>
                      <a:lnTo>
                        <a:pt x="0" y="132"/>
                      </a:lnTo>
                      <a:lnTo>
                        <a:pt x="1" y="133"/>
                      </a:lnTo>
                      <a:lnTo>
                        <a:pt x="2" y="133"/>
                      </a:lnTo>
                      <a:lnTo>
                        <a:pt x="2" y="134"/>
                      </a:lnTo>
                      <a:lnTo>
                        <a:pt x="3" y="134"/>
                      </a:lnTo>
                      <a:lnTo>
                        <a:pt x="16" y="127"/>
                      </a:lnTo>
                      <a:lnTo>
                        <a:pt x="15" y="126"/>
                      </a:lnTo>
                      <a:lnTo>
                        <a:pt x="14" y="126"/>
                      </a:lnTo>
                      <a:lnTo>
                        <a:pt x="14" y="125"/>
                      </a:lnTo>
                      <a:lnTo>
                        <a:pt x="13" y="124"/>
                      </a:lnTo>
                      <a:lnTo>
                        <a:pt x="13" y="10"/>
                      </a:lnTo>
                      <a:lnTo>
                        <a:pt x="13" y="9"/>
                      </a:lnTo>
                      <a:lnTo>
                        <a:pt x="13" y="8"/>
                      </a:lnTo>
                      <a:lnTo>
                        <a:pt x="14" y="8"/>
                      </a:lnTo>
                      <a:lnTo>
                        <a:pt x="15" y="7"/>
                      </a:lnTo>
                      <a:lnTo>
                        <a:pt x="15" y="6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666666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39" name="Freeform 464"/>
                <p:cNvSpPr>
                  <a:spLocks/>
                </p:cNvSpPr>
                <p:nvPr/>
              </p:nvSpPr>
              <p:spPr bwMode="auto">
                <a:xfrm>
                  <a:off x="3872" y="1300"/>
                  <a:ext cx="155" cy="136"/>
                </a:xfrm>
                <a:custGeom>
                  <a:avLst/>
                  <a:gdLst>
                    <a:gd name="T0" fmla="*/ 0 w 155"/>
                    <a:gd name="T1" fmla="*/ 133 h 136"/>
                    <a:gd name="T2" fmla="*/ 0 w 155"/>
                    <a:gd name="T3" fmla="*/ 134 h 136"/>
                    <a:gd name="T4" fmla="*/ 0 w 155"/>
                    <a:gd name="T5" fmla="*/ 134 h 136"/>
                    <a:gd name="T6" fmla="*/ 1 w 155"/>
                    <a:gd name="T7" fmla="*/ 134 h 136"/>
                    <a:gd name="T8" fmla="*/ 1 w 155"/>
                    <a:gd name="T9" fmla="*/ 134 h 136"/>
                    <a:gd name="T10" fmla="*/ 2 w 155"/>
                    <a:gd name="T11" fmla="*/ 135 h 136"/>
                    <a:gd name="T12" fmla="*/ 2 w 155"/>
                    <a:gd name="T13" fmla="*/ 135 h 136"/>
                    <a:gd name="T14" fmla="*/ 3 w 155"/>
                    <a:gd name="T15" fmla="*/ 135 h 136"/>
                    <a:gd name="T16" fmla="*/ 148 w 155"/>
                    <a:gd name="T17" fmla="*/ 135 h 136"/>
                    <a:gd name="T18" fmla="*/ 150 w 155"/>
                    <a:gd name="T19" fmla="*/ 134 h 136"/>
                    <a:gd name="T20" fmla="*/ 151 w 155"/>
                    <a:gd name="T21" fmla="*/ 134 h 136"/>
                    <a:gd name="T22" fmla="*/ 151 w 155"/>
                    <a:gd name="T23" fmla="*/ 133 h 136"/>
                    <a:gd name="T24" fmla="*/ 152 w 155"/>
                    <a:gd name="T25" fmla="*/ 133 h 136"/>
                    <a:gd name="T26" fmla="*/ 152 w 155"/>
                    <a:gd name="T27" fmla="*/ 133 h 136"/>
                    <a:gd name="T28" fmla="*/ 153 w 155"/>
                    <a:gd name="T29" fmla="*/ 132 h 136"/>
                    <a:gd name="T30" fmla="*/ 153 w 155"/>
                    <a:gd name="T31" fmla="*/ 131 h 136"/>
                    <a:gd name="T32" fmla="*/ 154 w 155"/>
                    <a:gd name="T33" fmla="*/ 131 h 136"/>
                    <a:gd name="T34" fmla="*/ 154 w 155"/>
                    <a:gd name="T35" fmla="*/ 129 h 136"/>
                    <a:gd name="T36" fmla="*/ 154 w 155"/>
                    <a:gd name="T37" fmla="*/ 129 h 136"/>
                    <a:gd name="T38" fmla="*/ 154 w 155"/>
                    <a:gd name="T39" fmla="*/ 3 h 136"/>
                    <a:gd name="T40" fmla="*/ 154 w 155"/>
                    <a:gd name="T41" fmla="*/ 2 h 136"/>
                    <a:gd name="T42" fmla="*/ 154 w 155"/>
                    <a:gd name="T43" fmla="*/ 1 h 136"/>
                    <a:gd name="T44" fmla="*/ 154 w 155"/>
                    <a:gd name="T45" fmla="*/ 1 h 136"/>
                    <a:gd name="T46" fmla="*/ 153 w 155"/>
                    <a:gd name="T47" fmla="*/ 1 h 136"/>
                    <a:gd name="T48" fmla="*/ 153 w 155"/>
                    <a:gd name="T49" fmla="*/ 0 h 136"/>
                    <a:gd name="T50" fmla="*/ 153 w 155"/>
                    <a:gd name="T51" fmla="*/ 0 h 136"/>
                    <a:gd name="T52" fmla="*/ 145 w 155"/>
                    <a:gd name="T53" fmla="*/ 5 h 136"/>
                    <a:gd name="T54" fmla="*/ 145 w 155"/>
                    <a:gd name="T55" fmla="*/ 5 h 136"/>
                    <a:gd name="T56" fmla="*/ 146 w 155"/>
                    <a:gd name="T57" fmla="*/ 6 h 136"/>
                    <a:gd name="T58" fmla="*/ 146 w 155"/>
                    <a:gd name="T59" fmla="*/ 7 h 136"/>
                    <a:gd name="T60" fmla="*/ 146 w 155"/>
                    <a:gd name="T61" fmla="*/ 7 h 136"/>
                    <a:gd name="T62" fmla="*/ 146 w 155"/>
                    <a:gd name="T63" fmla="*/ 7 h 136"/>
                    <a:gd name="T64" fmla="*/ 146 w 155"/>
                    <a:gd name="T65" fmla="*/ 8 h 136"/>
                    <a:gd name="T66" fmla="*/ 146 w 155"/>
                    <a:gd name="T67" fmla="*/ 9 h 136"/>
                    <a:gd name="T68" fmla="*/ 146 w 155"/>
                    <a:gd name="T69" fmla="*/ 9 h 136"/>
                    <a:gd name="T70" fmla="*/ 146 w 155"/>
                    <a:gd name="T71" fmla="*/ 123 h 136"/>
                    <a:gd name="T72" fmla="*/ 146 w 155"/>
                    <a:gd name="T73" fmla="*/ 123 h 136"/>
                    <a:gd name="T74" fmla="*/ 146 w 155"/>
                    <a:gd name="T75" fmla="*/ 124 h 136"/>
                    <a:gd name="T76" fmla="*/ 146 w 155"/>
                    <a:gd name="T77" fmla="*/ 125 h 136"/>
                    <a:gd name="T78" fmla="*/ 146 w 155"/>
                    <a:gd name="T79" fmla="*/ 125 h 136"/>
                    <a:gd name="T80" fmla="*/ 145 w 155"/>
                    <a:gd name="T81" fmla="*/ 126 h 136"/>
                    <a:gd name="T82" fmla="*/ 145 w 155"/>
                    <a:gd name="T83" fmla="*/ 127 h 136"/>
                    <a:gd name="T84" fmla="*/ 144 w 155"/>
                    <a:gd name="T85" fmla="*/ 127 h 136"/>
                    <a:gd name="T86" fmla="*/ 143 w 155"/>
                    <a:gd name="T87" fmla="*/ 127 h 136"/>
                    <a:gd name="T88" fmla="*/ 143 w 155"/>
                    <a:gd name="T89" fmla="*/ 128 h 136"/>
                    <a:gd name="T90" fmla="*/ 142 w 155"/>
                    <a:gd name="T91" fmla="*/ 128 h 136"/>
                    <a:gd name="T92" fmla="*/ 142 w 155"/>
                    <a:gd name="T93" fmla="*/ 128 h 136"/>
                    <a:gd name="T94" fmla="*/ 9 w 155"/>
                    <a:gd name="T95" fmla="*/ 128 h 136"/>
                    <a:gd name="T96" fmla="*/ 8 w 155"/>
                    <a:gd name="T97" fmla="*/ 128 h 136"/>
                    <a:gd name="T98" fmla="*/ 8 w 155"/>
                    <a:gd name="T99" fmla="*/ 128 h 136"/>
                    <a:gd name="T100" fmla="*/ 8 w 155"/>
                    <a:gd name="T101" fmla="*/ 127 h 136"/>
                    <a:gd name="T102" fmla="*/ 7 w 155"/>
                    <a:gd name="T103" fmla="*/ 127 h 136"/>
                    <a:gd name="T104" fmla="*/ 7 w 155"/>
                    <a:gd name="T105" fmla="*/ 127 h 136"/>
                    <a:gd name="T106" fmla="*/ 6 w 155"/>
                    <a:gd name="T107" fmla="*/ 127 h 136"/>
                    <a:gd name="T108" fmla="*/ 6 w 155"/>
                    <a:gd name="T109" fmla="*/ 127 h 136"/>
                    <a:gd name="T110" fmla="*/ 0 w 155"/>
                    <a:gd name="T111" fmla="*/ 133 h 1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55"/>
                    <a:gd name="T169" fmla="*/ 0 h 136"/>
                    <a:gd name="T170" fmla="*/ 155 w 155"/>
                    <a:gd name="T171" fmla="*/ 136 h 136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55" h="136">
                      <a:moveTo>
                        <a:pt x="0" y="133"/>
                      </a:moveTo>
                      <a:lnTo>
                        <a:pt x="0" y="134"/>
                      </a:lnTo>
                      <a:lnTo>
                        <a:pt x="1" y="134"/>
                      </a:lnTo>
                      <a:lnTo>
                        <a:pt x="2" y="135"/>
                      </a:lnTo>
                      <a:lnTo>
                        <a:pt x="3" y="135"/>
                      </a:lnTo>
                      <a:lnTo>
                        <a:pt x="148" y="135"/>
                      </a:lnTo>
                      <a:lnTo>
                        <a:pt x="150" y="134"/>
                      </a:lnTo>
                      <a:lnTo>
                        <a:pt x="151" y="134"/>
                      </a:lnTo>
                      <a:lnTo>
                        <a:pt x="151" y="133"/>
                      </a:lnTo>
                      <a:lnTo>
                        <a:pt x="152" y="133"/>
                      </a:lnTo>
                      <a:lnTo>
                        <a:pt x="153" y="132"/>
                      </a:lnTo>
                      <a:lnTo>
                        <a:pt x="153" y="131"/>
                      </a:lnTo>
                      <a:lnTo>
                        <a:pt x="154" y="131"/>
                      </a:lnTo>
                      <a:lnTo>
                        <a:pt x="154" y="129"/>
                      </a:lnTo>
                      <a:lnTo>
                        <a:pt x="154" y="3"/>
                      </a:lnTo>
                      <a:lnTo>
                        <a:pt x="154" y="2"/>
                      </a:lnTo>
                      <a:lnTo>
                        <a:pt x="154" y="1"/>
                      </a:lnTo>
                      <a:lnTo>
                        <a:pt x="153" y="1"/>
                      </a:lnTo>
                      <a:lnTo>
                        <a:pt x="153" y="0"/>
                      </a:lnTo>
                      <a:lnTo>
                        <a:pt x="145" y="5"/>
                      </a:lnTo>
                      <a:lnTo>
                        <a:pt x="146" y="6"/>
                      </a:lnTo>
                      <a:lnTo>
                        <a:pt x="146" y="7"/>
                      </a:lnTo>
                      <a:lnTo>
                        <a:pt x="146" y="8"/>
                      </a:lnTo>
                      <a:lnTo>
                        <a:pt x="146" y="9"/>
                      </a:lnTo>
                      <a:lnTo>
                        <a:pt x="146" y="123"/>
                      </a:lnTo>
                      <a:lnTo>
                        <a:pt x="146" y="124"/>
                      </a:lnTo>
                      <a:lnTo>
                        <a:pt x="146" y="125"/>
                      </a:lnTo>
                      <a:lnTo>
                        <a:pt x="145" y="126"/>
                      </a:lnTo>
                      <a:lnTo>
                        <a:pt x="145" y="127"/>
                      </a:lnTo>
                      <a:lnTo>
                        <a:pt x="144" y="127"/>
                      </a:lnTo>
                      <a:lnTo>
                        <a:pt x="143" y="127"/>
                      </a:lnTo>
                      <a:lnTo>
                        <a:pt x="143" y="128"/>
                      </a:lnTo>
                      <a:lnTo>
                        <a:pt x="142" y="128"/>
                      </a:lnTo>
                      <a:lnTo>
                        <a:pt x="9" y="128"/>
                      </a:lnTo>
                      <a:lnTo>
                        <a:pt x="8" y="128"/>
                      </a:lnTo>
                      <a:lnTo>
                        <a:pt x="8" y="127"/>
                      </a:lnTo>
                      <a:lnTo>
                        <a:pt x="7" y="127"/>
                      </a:lnTo>
                      <a:lnTo>
                        <a:pt x="6" y="127"/>
                      </a:lnTo>
                      <a:lnTo>
                        <a:pt x="0" y="133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40" name="Freeform 465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16 h 17"/>
                    <a:gd name="T2" fmla="*/ 151 w 153"/>
                    <a:gd name="T3" fmla="*/ 16 h 17"/>
                    <a:gd name="T4" fmla="*/ 151 w 153"/>
                    <a:gd name="T5" fmla="*/ 10 h 17"/>
                    <a:gd name="T6" fmla="*/ 150 w 153"/>
                    <a:gd name="T7" fmla="*/ 10 h 17"/>
                    <a:gd name="T8" fmla="*/ 150 w 153"/>
                    <a:gd name="T9" fmla="*/ 10 h 17"/>
                    <a:gd name="T10" fmla="*/ 150 w 153"/>
                    <a:gd name="T11" fmla="*/ 5 h 17"/>
                    <a:gd name="T12" fmla="*/ 149 w 153"/>
                    <a:gd name="T13" fmla="*/ 5 h 17"/>
                    <a:gd name="T14" fmla="*/ 149 w 153"/>
                    <a:gd name="T15" fmla="*/ 5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5 h 17"/>
                    <a:gd name="T32" fmla="*/ 1 w 153"/>
                    <a:gd name="T33" fmla="*/ 5 h 17"/>
                    <a:gd name="T34" fmla="*/ 0 w 153"/>
                    <a:gd name="T35" fmla="*/ 10 h 17"/>
                    <a:gd name="T36" fmla="*/ 0 w 153"/>
                    <a:gd name="T37" fmla="*/ 10 h 17"/>
                    <a:gd name="T38" fmla="*/ 0 w 153"/>
                    <a:gd name="T39" fmla="*/ 16 h 17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153"/>
                    <a:gd name="T61" fmla="*/ 0 h 17"/>
                    <a:gd name="T62" fmla="*/ 153 w 153"/>
                    <a:gd name="T63" fmla="*/ 17 h 17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153" h="17">
                      <a:moveTo>
                        <a:pt x="152" y="16"/>
                      </a:moveTo>
                      <a:lnTo>
                        <a:pt x="151" y="16"/>
                      </a:lnTo>
                      <a:lnTo>
                        <a:pt x="151" y="10"/>
                      </a:lnTo>
                      <a:lnTo>
                        <a:pt x="150" y="10"/>
                      </a:lnTo>
                      <a:lnTo>
                        <a:pt x="150" y="5"/>
                      </a:lnTo>
                      <a:lnTo>
                        <a:pt x="149" y="5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5"/>
                      </a:lnTo>
                      <a:lnTo>
                        <a:pt x="0" y="1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 cap="rnd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41" name="Freeform 466"/>
                <p:cNvSpPr>
                  <a:spLocks/>
                </p:cNvSpPr>
                <p:nvPr/>
              </p:nvSpPr>
              <p:spPr bwMode="auto">
                <a:xfrm>
                  <a:off x="3843" y="1489"/>
                  <a:ext cx="215" cy="72"/>
                </a:xfrm>
                <a:custGeom>
                  <a:avLst/>
                  <a:gdLst>
                    <a:gd name="T0" fmla="*/ 0 w 215"/>
                    <a:gd name="T1" fmla="*/ 71 h 72"/>
                    <a:gd name="T2" fmla="*/ 0 w 215"/>
                    <a:gd name="T3" fmla="*/ 0 h 72"/>
                    <a:gd name="T4" fmla="*/ 214 w 215"/>
                    <a:gd name="T5" fmla="*/ 0 h 72"/>
                    <a:gd name="T6" fmla="*/ 214 w 215"/>
                    <a:gd name="T7" fmla="*/ 71 h 72"/>
                    <a:gd name="T8" fmla="*/ 0 w 215"/>
                    <a:gd name="T9" fmla="*/ 71 h 7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15"/>
                    <a:gd name="T16" fmla="*/ 0 h 72"/>
                    <a:gd name="T17" fmla="*/ 215 w 215"/>
                    <a:gd name="T18" fmla="*/ 72 h 7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15" h="72">
                      <a:moveTo>
                        <a:pt x="0" y="71"/>
                      </a:moveTo>
                      <a:lnTo>
                        <a:pt x="0" y="0"/>
                      </a:lnTo>
                      <a:lnTo>
                        <a:pt x="214" y="0"/>
                      </a:lnTo>
                      <a:lnTo>
                        <a:pt x="214" y="71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42" name="Freeform 467"/>
                <p:cNvSpPr>
                  <a:spLocks/>
                </p:cNvSpPr>
                <p:nvPr/>
              </p:nvSpPr>
              <p:spPr bwMode="auto">
                <a:xfrm>
                  <a:off x="3841" y="1489"/>
                  <a:ext cx="219" cy="23"/>
                </a:xfrm>
                <a:custGeom>
                  <a:avLst/>
                  <a:gdLst>
                    <a:gd name="T0" fmla="*/ 79 w 219"/>
                    <a:gd name="T1" fmla="*/ 0 h 23"/>
                    <a:gd name="T2" fmla="*/ 0 w 219"/>
                    <a:gd name="T3" fmla="*/ 0 h 23"/>
                    <a:gd name="T4" fmla="*/ 0 w 219"/>
                    <a:gd name="T5" fmla="*/ 22 h 23"/>
                    <a:gd name="T6" fmla="*/ 218 w 219"/>
                    <a:gd name="T7" fmla="*/ 22 h 23"/>
                    <a:gd name="T8" fmla="*/ 215 w 219"/>
                    <a:gd name="T9" fmla="*/ 0 h 23"/>
                    <a:gd name="T10" fmla="*/ 137 w 219"/>
                    <a:gd name="T11" fmla="*/ 0 h 23"/>
                    <a:gd name="T12" fmla="*/ 79 w 219"/>
                    <a:gd name="T13" fmla="*/ 0 h 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19"/>
                    <a:gd name="T22" fmla="*/ 0 h 23"/>
                    <a:gd name="T23" fmla="*/ 219 w 219"/>
                    <a:gd name="T24" fmla="*/ 23 h 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9" h="23">
                      <a:moveTo>
                        <a:pt x="79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218" y="22"/>
                      </a:lnTo>
                      <a:lnTo>
                        <a:pt x="215" y="0"/>
                      </a:lnTo>
                      <a:lnTo>
                        <a:pt x="137" y="0"/>
                      </a:lnTo>
                      <a:lnTo>
                        <a:pt x="79" y="0"/>
                      </a:lnTo>
                    </a:path>
                  </a:pathLst>
                </a:custGeom>
                <a:solidFill>
                  <a:srgbClr val="EFEFD1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43" name="Freeform 468"/>
                <p:cNvSpPr>
                  <a:spLocks/>
                </p:cNvSpPr>
                <p:nvPr/>
              </p:nvSpPr>
              <p:spPr bwMode="auto">
                <a:xfrm>
                  <a:off x="3991" y="1495"/>
                  <a:ext cx="56" cy="17"/>
                </a:xfrm>
                <a:custGeom>
                  <a:avLst/>
                  <a:gdLst>
                    <a:gd name="T0" fmla="*/ 0 w 56"/>
                    <a:gd name="T1" fmla="*/ 6 h 17"/>
                    <a:gd name="T2" fmla="*/ 18 w 56"/>
                    <a:gd name="T3" fmla="*/ 6 h 17"/>
                    <a:gd name="T4" fmla="*/ 18 w 56"/>
                    <a:gd name="T5" fmla="*/ 0 h 17"/>
                    <a:gd name="T6" fmla="*/ 35 w 56"/>
                    <a:gd name="T7" fmla="*/ 0 h 17"/>
                    <a:gd name="T8" fmla="*/ 35 w 56"/>
                    <a:gd name="T9" fmla="*/ 6 h 17"/>
                    <a:gd name="T10" fmla="*/ 55 w 56"/>
                    <a:gd name="T11" fmla="*/ 6 h 17"/>
                    <a:gd name="T12" fmla="*/ 55 w 56"/>
                    <a:gd name="T13" fmla="*/ 10 h 17"/>
                    <a:gd name="T14" fmla="*/ 35 w 56"/>
                    <a:gd name="T15" fmla="*/ 10 h 17"/>
                    <a:gd name="T16" fmla="*/ 35 w 56"/>
                    <a:gd name="T17" fmla="*/ 16 h 17"/>
                    <a:gd name="T18" fmla="*/ 18 w 56"/>
                    <a:gd name="T19" fmla="*/ 16 h 17"/>
                    <a:gd name="T20" fmla="*/ 18 w 56"/>
                    <a:gd name="T21" fmla="*/ 10 h 17"/>
                    <a:gd name="T22" fmla="*/ 0 w 56"/>
                    <a:gd name="T23" fmla="*/ 10 h 17"/>
                    <a:gd name="T24" fmla="*/ 0 w 56"/>
                    <a:gd name="T25" fmla="*/ 6 h 17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56"/>
                    <a:gd name="T40" fmla="*/ 0 h 17"/>
                    <a:gd name="T41" fmla="*/ 56 w 56"/>
                    <a:gd name="T42" fmla="*/ 17 h 17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56" h="17">
                      <a:moveTo>
                        <a:pt x="0" y="6"/>
                      </a:moveTo>
                      <a:lnTo>
                        <a:pt x="18" y="6"/>
                      </a:lnTo>
                      <a:lnTo>
                        <a:pt x="18" y="0"/>
                      </a:lnTo>
                      <a:lnTo>
                        <a:pt x="35" y="0"/>
                      </a:lnTo>
                      <a:lnTo>
                        <a:pt x="35" y="6"/>
                      </a:lnTo>
                      <a:lnTo>
                        <a:pt x="55" y="6"/>
                      </a:lnTo>
                      <a:lnTo>
                        <a:pt x="55" y="10"/>
                      </a:lnTo>
                      <a:lnTo>
                        <a:pt x="35" y="10"/>
                      </a:lnTo>
                      <a:lnTo>
                        <a:pt x="35" y="16"/>
                      </a:lnTo>
                      <a:lnTo>
                        <a:pt x="18" y="16"/>
                      </a:lnTo>
                      <a:lnTo>
                        <a:pt x="18" y="10"/>
                      </a:lnTo>
                      <a:lnTo>
                        <a:pt x="0" y="10"/>
                      </a:lnTo>
                      <a:lnTo>
                        <a:pt x="0" y="6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44" name="Freeform 469"/>
                <p:cNvSpPr>
                  <a:spLocks/>
                </p:cNvSpPr>
                <p:nvPr/>
              </p:nvSpPr>
              <p:spPr bwMode="auto">
                <a:xfrm>
                  <a:off x="3991" y="1501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0 h 17"/>
                    <a:gd name="T4" fmla="*/ 16 w 17"/>
                    <a:gd name="T5" fmla="*/ 5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17"/>
                    <a:gd name="T14" fmla="*/ 17 w 17"/>
                    <a:gd name="T15" fmla="*/ 17 h 1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17">
                      <a:moveTo>
                        <a:pt x="0" y="16"/>
                      </a:moveTo>
                      <a:lnTo>
                        <a:pt x="16" y="10"/>
                      </a:lnTo>
                      <a:lnTo>
                        <a:pt x="16" y="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rnd">
                  <a:solidFill>
                    <a:srgbClr val="EFEFD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45" name="Freeform 470"/>
                <p:cNvSpPr>
                  <a:spLocks/>
                </p:cNvSpPr>
                <p:nvPr/>
              </p:nvSpPr>
              <p:spPr bwMode="auto">
                <a:xfrm>
                  <a:off x="4010" y="149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rnd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46" name="Freeform 471"/>
                <p:cNvSpPr>
                  <a:spLocks/>
                </p:cNvSpPr>
                <p:nvPr/>
              </p:nvSpPr>
              <p:spPr bwMode="auto">
                <a:xfrm>
                  <a:off x="4046" y="1504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rnd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47" name="Freeform 472"/>
                <p:cNvSpPr>
                  <a:spLocks/>
                </p:cNvSpPr>
                <p:nvPr/>
              </p:nvSpPr>
              <p:spPr bwMode="auto">
                <a:xfrm>
                  <a:off x="4027" y="1495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0 h 17"/>
                    <a:gd name="T4" fmla="*/ 0 w 17"/>
                    <a:gd name="T5" fmla="*/ 16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16"/>
                      </a:moveTo>
                      <a:lnTo>
                        <a:pt x="16" y="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 cap="rnd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48" name="Freeform 473"/>
                <p:cNvSpPr>
                  <a:spLocks/>
                </p:cNvSpPr>
                <p:nvPr/>
              </p:nvSpPr>
              <p:spPr bwMode="auto">
                <a:xfrm>
                  <a:off x="4011" y="1499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6 h 17"/>
                    <a:gd name="T4" fmla="*/ 16 w 17"/>
                    <a:gd name="T5" fmla="*/ 0 h 17"/>
                    <a:gd name="T6" fmla="*/ 0 w 17"/>
                    <a:gd name="T7" fmla="*/ 0 h 17"/>
                    <a:gd name="T8" fmla="*/ 0 w 17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16"/>
                      </a:moveTo>
                      <a:lnTo>
                        <a:pt x="16" y="16"/>
                      </a:lnTo>
                      <a:lnTo>
                        <a:pt x="16" y="0"/>
                      </a:lnTo>
                      <a:lnTo>
                        <a:pt x="0" y="0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F9FA2"/>
                </a:solidFill>
                <a:ln w="12700" cap="rnd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49" name="Freeform 474"/>
                <p:cNvSpPr>
                  <a:spLocks/>
                </p:cNvSpPr>
                <p:nvPr/>
              </p:nvSpPr>
              <p:spPr bwMode="auto">
                <a:xfrm>
                  <a:off x="3993" y="1502"/>
                  <a:ext cx="54" cy="17"/>
                </a:xfrm>
                <a:custGeom>
                  <a:avLst/>
                  <a:gdLst>
                    <a:gd name="T0" fmla="*/ 0 w 54"/>
                    <a:gd name="T1" fmla="*/ 0 h 17"/>
                    <a:gd name="T2" fmla="*/ 53 w 54"/>
                    <a:gd name="T3" fmla="*/ 0 h 17"/>
                    <a:gd name="T4" fmla="*/ 53 w 54"/>
                    <a:gd name="T5" fmla="*/ 16 h 17"/>
                    <a:gd name="T6" fmla="*/ 0 w 54"/>
                    <a:gd name="T7" fmla="*/ 16 h 17"/>
                    <a:gd name="T8" fmla="*/ 0 w 54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4"/>
                    <a:gd name="T16" fmla="*/ 0 h 17"/>
                    <a:gd name="T17" fmla="*/ 54 w 5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4" h="17">
                      <a:moveTo>
                        <a:pt x="0" y="0"/>
                      </a:moveTo>
                      <a:lnTo>
                        <a:pt x="53" y="0"/>
                      </a:lnTo>
                      <a:lnTo>
                        <a:pt x="53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50" name="Freeform 475"/>
                <p:cNvSpPr>
                  <a:spLocks/>
                </p:cNvSpPr>
                <p:nvPr/>
              </p:nvSpPr>
              <p:spPr bwMode="auto">
                <a:xfrm>
                  <a:off x="4010" y="1496"/>
                  <a:ext cx="19" cy="17"/>
                </a:xfrm>
                <a:custGeom>
                  <a:avLst/>
                  <a:gdLst>
                    <a:gd name="T0" fmla="*/ 18 w 19"/>
                    <a:gd name="T1" fmla="*/ 12 h 17"/>
                    <a:gd name="T2" fmla="*/ 17 w 19"/>
                    <a:gd name="T3" fmla="*/ 16 h 17"/>
                    <a:gd name="T4" fmla="*/ 17 w 19"/>
                    <a:gd name="T5" fmla="*/ 0 h 17"/>
                    <a:gd name="T6" fmla="*/ 0 w 19"/>
                    <a:gd name="T7" fmla="*/ 0 h 17"/>
                    <a:gd name="T8" fmla="*/ 0 w 19"/>
                    <a:gd name="T9" fmla="*/ 16 h 17"/>
                    <a:gd name="T10" fmla="*/ 0 w 19"/>
                    <a:gd name="T11" fmla="*/ 12 h 1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"/>
                    <a:gd name="T19" fmla="*/ 0 h 17"/>
                    <a:gd name="T20" fmla="*/ 19 w 19"/>
                    <a:gd name="T21" fmla="*/ 17 h 1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" h="17">
                      <a:moveTo>
                        <a:pt x="18" y="12"/>
                      </a:moveTo>
                      <a:lnTo>
                        <a:pt x="17" y="16"/>
                      </a:ln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6"/>
                      </a:lnTo>
                      <a:lnTo>
                        <a:pt x="0" y="12"/>
                      </a:lnTo>
                    </a:path>
                  </a:pathLst>
                </a:custGeom>
                <a:noFill/>
                <a:ln w="12700" cap="rnd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51" name="Freeform 476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16 w 17"/>
                    <a:gd name="T1" fmla="*/ 0 h 17"/>
                    <a:gd name="T2" fmla="*/ 16 w 17"/>
                    <a:gd name="T3" fmla="*/ 16 h 17"/>
                    <a:gd name="T4" fmla="*/ 0 w 17"/>
                    <a:gd name="T5" fmla="*/ 16 h 17"/>
                    <a:gd name="T6" fmla="*/ 0 w 17"/>
                    <a:gd name="T7" fmla="*/ 0 h 17"/>
                    <a:gd name="T8" fmla="*/ 16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16" y="0"/>
                      </a:move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  <a:lnTo>
                        <a:pt x="16" y="0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52" name="Freeform 477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53" name="Freeform 478"/>
                <p:cNvSpPr>
                  <a:spLocks/>
                </p:cNvSpPr>
                <p:nvPr/>
              </p:nvSpPr>
              <p:spPr bwMode="auto">
                <a:xfrm>
                  <a:off x="3930" y="1497"/>
                  <a:ext cx="44" cy="17"/>
                </a:xfrm>
                <a:custGeom>
                  <a:avLst/>
                  <a:gdLst>
                    <a:gd name="T0" fmla="*/ 14 w 44"/>
                    <a:gd name="T1" fmla="*/ 16 h 17"/>
                    <a:gd name="T2" fmla="*/ 0 w 44"/>
                    <a:gd name="T3" fmla="*/ 16 h 17"/>
                    <a:gd name="T4" fmla="*/ 0 w 44"/>
                    <a:gd name="T5" fmla="*/ 8 h 17"/>
                    <a:gd name="T6" fmla="*/ 14 w 44"/>
                    <a:gd name="T7" fmla="*/ 8 h 17"/>
                    <a:gd name="T8" fmla="*/ 14 w 44"/>
                    <a:gd name="T9" fmla="*/ 0 h 17"/>
                    <a:gd name="T10" fmla="*/ 28 w 44"/>
                    <a:gd name="T11" fmla="*/ 0 h 17"/>
                    <a:gd name="T12" fmla="*/ 28 w 44"/>
                    <a:gd name="T13" fmla="*/ 8 h 17"/>
                    <a:gd name="T14" fmla="*/ 43 w 44"/>
                    <a:gd name="T15" fmla="*/ 8 h 17"/>
                    <a:gd name="T16" fmla="*/ 43 w 44"/>
                    <a:gd name="T17" fmla="*/ 16 h 17"/>
                    <a:gd name="T18" fmla="*/ 28 w 44"/>
                    <a:gd name="T19" fmla="*/ 16 h 17"/>
                    <a:gd name="T20" fmla="*/ 14 w 44"/>
                    <a:gd name="T21" fmla="*/ 16 h 1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44"/>
                    <a:gd name="T34" fmla="*/ 0 h 17"/>
                    <a:gd name="T35" fmla="*/ 44 w 44"/>
                    <a:gd name="T36" fmla="*/ 17 h 17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44" h="17">
                      <a:moveTo>
                        <a:pt x="14" y="16"/>
                      </a:moveTo>
                      <a:lnTo>
                        <a:pt x="0" y="16"/>
                      </a:lnTo>
                      <a:lnTo>
                        <a:pt x="0" y="8"/>
                      </a:lnTo>
                      <a:lnTo>
                        <a:pt x="14" y="8"/>
                      </a:lnTo>
                      <a:lnTo>
                        <a:pt x="14" y="0"/>
                      </a:lnTo>
                      <a:lnTo>
                        <a:pt x="28" y="0"/>
                      </a:lnTo>
                      <a:lnTo>
                        <a:pt x="28" y="8"/>
                      </a:lnTo>
                      <a:lnTo>
                        <a:pt x="43" y="8"/>
                      </a:lnTo>
                      <a:lnTo>
                        <a:pt x="43" y="16"/>
                      </a:lnTo>
                      <a:lnTo>
                        <a:pt x="28" y="16"/>
                      </a:lnTo>
                      <a:lnTo>
                        <a:pt x="14" y="16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54" name="Freeform 479"/>
                <p:cNvSpPr>
                  <a:spLocks/>
                </p:cNvSpPr>
                <p:nvPr/>
              </p:nvSpPr>
              <p:spPr bwMode="auto">
                <a:xfrm>
                  <a:off x="3945" y="1497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55" name="Freeform 480"/>
                <p:cNvSpPr>
                  <a:spLocks/>
                </p:cNvSpPr>
                <p:nvPr/>
              </p:nvSpPr>
              <p:spPr bwMode="auto">
                <a:xfrm>
                  <a:off x="3897" y="1494"/>
                  <a:ext cx="20" cy="17"/>
                </a:xfrm>
                <a:custGeom>
                  <a:avLst/>
                  <a:gdLst>
                    <a:gd name="T0" fmla="*/ 5 w 20"/>
                    <a:gd name="T1" fmla="*/ 16 h 17"/>
                    <a:gd name="T2" fmla="*/ 3 w 20"/>
                    <a:gd name="T3" fmla="*/ 15 h 17"/>
                    <a:gd name="T4" fmla="*/ 2 w 20"/>
                    <a:gd name="T5" fmla="*/ 15 h 17"/>
                    <a:gd name="T6" fmla="*/ 1 w 20"/>
                    <a:gd name="T7" fmla="*/ 14 h 17"/>
                    <a:gd name="T8" fmla="*/ 1 w 20"/>
                    <a:gd name="T9" fmla="*/ 12 h 17"/>
                    <a:gd name="T10" fmla="*/ 0 w 20"/>
                    <a:gd name="T11" fmla="*/ 12 h 17"/>
                    <a:gd name="T12" fmla="*/ 0 w 20"/>
                    <a:gd name="T13" fmla="*/ 10 h 17"/>
                    <a:gd name="T14" fmla="*/ 0 w 20"/>
                    <a:gd name="T15" fmla="*/ 8 h 17"/>
                    <a:gd name="T16" fmla="*/ 0 w 20"/>
                    <a:gd name="T17" fmla="*/ 6 h 17"/>
                    <a:gd name="T18" fmla="*/ 0 w 20"/>
                    <a:gd name="T19" fmla="*/ 4 h 17"/>
                    <a:gd name="T20" fmla="*/ 0 w 20"/>
                    <a:gd name="T21" fmla="*/ 3 h 17"/>
                    <a:gd name="T22" fmla="*/ 1 w 20"/>
                    <a:gd name="T23" fmla="*/ 2 h 17"/>
                    <a:gd name="T24" fmla="*/ 2 w 20"/>
                    <a:gd name="T25" fmla="*/ 1 h 17"/>
                    <a:gd name="T26" fmla="*/ 3 w 20"/>
                    <a:gd name="T27" fmla="*/ 0 h 17"/>
                    <a:gd name="T28" fmla="*/ 4 w 20"/>
                    <a:gd name="T29" fmla="*/ 0 h 17"/>
                    <a:gd name="T30" fmla="*/ 5 w 20"/>
                    <a:gd name="T31" fmla="*/ 0 h 17"/>
                    <a:gd name="T32" fmla="*/ 12 w 20"/>
                    <a:gd name="T33" fmla="*/ 0 h 17"/>
                    <a:gd name="T34" fmla="*/ 13 w 20"/>
                    <a:gd name="T35" fmla="*/ 0 h 17"/>
                    <a:gd name="T36" fmla="*/ 15 w 20"/>
                    <a:gd name="T37" fmla="*/ 0 h 17"/>
                    <a:gd name="T38" fmla="*/ 16 w 20"/>
                    <a:gd name="T39" fmla="*/ 1 h 17"/>
                    <a:gd name="T40" fmla="*/ 17 w 20"/>
                    <a:gd name="T41" fmla="*/ 3 h 17"/>
                    <a:gd name="T42" fmla="*/ 17 w 20"/>
                    <a:gd name="T43" fmla="*/ 3 h 17"/>
                    <a:gd name="T44" fmla="*/ 18 w 20"/>
                    <a:gd name="T45" fmla="*/ 5 h 17"/>
                    <a:gd name="T46" fmla="*/ 18 w 20"/>
                    <a:gd name="T47" fmla="*/ 7 h 17"/>
                    <a:gd name="T48" fmla="*/ 18 w 20"/>
                    <a:gd name="T49" fmla="*/ 8 h 17"/>
                    <a:gd name="T50" fmla="*/ 18 w 20"/>
                    <a:gd name="T51" fmla="*/ 10 h 17"/>
                    <a:gd name="T52" fmla="*/ 17 w 20"/>
                    <a:gd name="T53" fmla="*/ 12 h 17"/>
                    <a:gd name="T54" fmla="*/ 16 w 20"/>
                    <a:gd name="T55" fmla="*/ 13 h 17"/>
                    <a:gd name="T56" fmla="*/ 15 w 20"/>
                    <a:gd name="T57" fmla="*/ 15 h 17"/>
                    <a:gd name="T58" fmla="*/ 13 w 20"/>
                    <a:gd name="T59" fmla="*/ 15 h 17"/>
                    <a:gd name="T60" fmla="*/ 13 w 20"/>
                    <a:gd name="T61" fmla="*/ 16 h 17"/>
                    <a:gd name="T62" fmla="*/ 12 w 20"/>
                    <a:gd name="T63" fmla="*/ 16 h 17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20"/>
                    <a:gd name="T97" fmla="*/ 0 h 17"/>
                    <a:gd name="T98" fmla="*/ 20 w 20"/>
                    <a:gd name="T99" fmla="*/ 17 h 17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20" h="17">
                      <a:moveTo>
                        <a:pt x="5" y="16"/>
                      </a:moveTo>
                      <a:lnTo>
                        <a:pt x="5" y="16"/>
                      </a:lnTo>
                      <a:lnTo>
                        <a:pt x="4" y="16"/>
                      </a:lnTo>
                      <a:lnTo>
                        <a:pt x="3" y="15"/>
                      </a:lnTo>
                      <a:lnTo>
                        <a:pt x="2" y="15"/>
                      </a:lnTo>
                      <a:lnTo>
                        <a:pt x="2" y="14"/>
                      </a:lnTo>
                      <a:lnTo>
                        <a:pt x="1" y="14"/>
                      </a:lnTo>
                      <a:lnTo>
                        <a:pt x="1" y="13"/>
                      </a:lnTo>
                      <a:lnTo>
                        <a:pt x="1" y="12"/>
                      </a:lnTo>
                      <a:lnTo>
                        <a:pt x="0" y="12"/>
                      </a:lnTo>
                      <a:lnTo>
                        <a:pt x="0" y="11"/>
                      </a:lnTo>
                      <a:lnTo>
                        <a:pt x="0" y="10"/>
                      </a:lnTo>
                      <a:lnTo>
                        <a:pt x="0" y="9"/>
                      </a:lnTo>
                      <a:lnTo>
                        <a:pt x="0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1" y="3"/>
                      </a:lnTo>
                      <a:lnTo>
                        <a:pt x="1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5" y="0"/>
                      </a:lnTo>
                      <a:lnTo>
                        <a:pt x="12" y="0"/>
                      </a:lnTo>
                      <a:lnTo>
                        <a:pt x="13" y="0"/>
                      </a:lnTo>
                      <a:lnTo>
                        <a:pt x="15" y="0"/>
                      </a:lnTo>
                      <a:lnTo>
                        <a:pt x="16" y="1"/>
                      </a:lnTo>
                      <a:lnTo>
                        <a:pt x="16" y="2"/>
                      </a:lnTo>
                      <a:lnTo>
                        <a:pt x="17" y="3"/>
                      </a:lnTo>
                      <a:lnTo>
                        <a:pt x="18" y="4"/>
                      </a:lnTo>
                      <a:lnTo>
                        <a:pt x="18" y="5"/>
                      </a:lnTo>
                      <a:lnTo>
                        <a:pt x="18" y="6"/>
                      </a:lnTo>
                      <a:lnTo>
                        <a:pt x="18" y="7"/>
                      </a:lnTo>
                      <a:lnTo>
                        <a:pt x="19" y="8"/>
                      </a:lnTo>
                      <a:lnTo>
                        <a:pt x="18" y="8"/>
                      </a:lnTo>
                      <a:lnTo>
                        <a:pt x="18" y="9"/>
                      </a:lnTo>
                      <a:lnTo>
                        <a:pt x="18" y="10"/>
                      </a:lnTo>
                      <a:lnTo>
                        <a:pt x="18" y="11"/>
                      </a:lnTo>
                      <a:lnTo>
                        <a:pt x="17" y="12"/>
                      </a:lnTo>
                      <a:lnTo>
                        <a:pt x="16" y="13"/>
                      </a:lnTo>
                      <a:lnTo>
                        <a:pt x="16" y="14"/>
                      </a:lnTo>
                      <a:lnTo>
                        <a:pt x="15" y="15"/>
                      </a:lnTo>
                      <a:lnTo>
                        <a:pt x="13" y="15"/>
                      </a:lnTo>
                      <a:lnTo>
                        <a:pt x="13" y="16"/>
                      </a:lnTo>
                      <a:lnTo>
                        <a:pt x="12" y="16"/>
                      </a:lnTo>
                      <a:lnTo>
                        <a:pt x="5" y="16"/>
                      </a:lnTo>
                    </a:path>
                  </a:pathLst>
                </a:custGeom>
                <a:solidFill>
                  <a:srgbClr val="666666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56" name="Freeform 481"/>
                <p:cNvSpPr>
                  <a:spLocks/>
                </p:cNvSpPr>
                <p:nvPr/>
              </p:nvSpPr>
              <p:spPr bwMode="auto">
                <a:xfrm>
                  <a:off x="3921" y="1489"/>
                  <a:ext cx="17" cy="38"/>
                </a:xfrm>
                <a:custGeom>
                  <a:avLst/>
                  <a:gdLst>
                    <a:gd name="T0" fmla="*/ 8 w 17"/>
                    <a:gd name="T1" fmla="*/ 0 h 38"/>
                    <a:gd name="T2" fmla="*/ 0 w 17"/>
                    <a:gd name="T3" fmla="*/ 22 h 38"/>
                    <a:gd name="T4" fmla="*/ 16 w 17"/>
                    <a:gd name="T5" fmla="*/ 22 h 38"/>
                    <a:gd name="T6" fmla="*/ 16 w 17"/>
                    <a:gd name="T7" fmla="*/ 37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38"/>
                    <a:gd name="T14" fmla="*/ 17 w 17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38">
                      <a:moveTo>
                        <a:pt x="8" y="0"/>
                      </a:moveTo>
                      <a:lnTo>
                        <a:pt x="0" y="22"/>
                      </a:lnTo>
                      <a:lnTo>
                        <a:pt x="16" y="22"/>
                      </a:lnTo>
                      <a:lnTo>
                        <a:pt x="16" y="37"/>
                      </a:lnTo>
                    </a:path>
                  </a:pathLst>
                </a:custGeom>
                <a:noFill/>
                <a:ln w="12700" cap="rnd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57" name="Freeform 482"/>
                <p:cNvSpPr>
                  <a:spLocks/>
                </p:cNvSpPr>
                <p:nvPr/>
              </p:nvSpPr>
              <p:spPr bwMode="auto">
                <a:xfrm>
                  <a:off x="3979" y="1489"/>
                  <a:ext cx="17" cy="72"/>
                </a:xfrm>
                <a:custGeom>
                  <a:avLst/>
                  <a:gdLst>
                    <a:gd name="T0" fmla="*/ 0 w 17"/>
                    <a:gd name="T1" fmla="*/ 0 h 72"/>
                    <a:gd name="T2" fmla="*/ 16 w 17"/>
                    <a:gd name="T3" fmla="*/ 22 h 72"/>
                    <a:gd name="T4" fmla="*/ 0 w 17"/>
                    <a:gd name="T5" fmla="*/ 22 h 72"/>
                    <a:gd name="T6" fmla="*/ 0 w 17"/>
                    <a:gd name="T7" fmla="*/ 71 h 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72"/>
                    <a:gd name="T14" fmla="*/ 17 w 17"/>
                    <a:gd name="T15" fmla="*/ 72 h 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72">
                      <a:moveTo>
                        <a:pt x="0" y="0"/>
                      </a:moveTo>
                      <a:lnTo>
                        <a:pt x="16" y="22"/>
                      </a:lnTo>
                      <a:lnTo>
                        <a:pt x="0" y="22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 cap="rnd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58" name="Freeform 483"/>
                <p:cNvSpPr>
                  <a:spLocks/>
                </p:cNvSpPr>
                <p:nvPr/>
              </p:nvSpPr>
              <p:spPr bwMode="auto">
                <a:xfrm>
                  <a:off x="3855" y="1532"/>
                  <a:ext cx="250" cy="41"/>
                </a:xfrm>
                <a:custGeom>
                  <a:avLst/>
                  <a:gdLst>
                    <a:gd name="T0" fmla="*/ 0 w 250"/>
                    <a:gd name="T1" fmla="*/ 40 h 41"/>
                    <a:gd name="T2" fmla="*/ 249 w 250"/>
                    <a:gd name="T3" fmla="*/ 40 h 41"/>
                    <a:gd name="T4" fmla="*/ 240 w 250"/>
                    <a:gd name="T5" fmla="*/ 0 h 41"/>
                    <a:gd name="T6" fmla="*/ 10 w 250"/>
                    <a:gd name="T7" fmla="*/ 0 h 41"/>
                    <a:gd name="T8" fmla="*/ 0 w 250"/>
                    <a:gd name="T9" fmla="*/ 40 h 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0"/>
                    <a:gd name="T16" fmla="*/ 0 h 41"/>
                    <a:gd name="T17" fmla="*/ 250 w 250"/>
                    <a:gd name="T18" fmla="*/ 41 h 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0" h="41">
                      <a:moveTo>
                        <a:pt x="0" y="40"/>
                      </a:moveTo>
                      <a:lnTo>
                        <a:pt x="249" y="40"/>
                      </a:lnTo>
                      <a:lnTo>
                        <a:pt x="240" y="0"/>
                      </a:lnTo>
                      <a:lnTo>
                        <a:pt x="10" y="0"/>
                      </a:lnTo>
                      <a:lnTo>
                        <a:pt x="0" y="40"/>
                      </a:lnTo>
                    </a:path>
                  </a:pathLst>
                </a:custGeom>
                <a:solidFill>
                  <a:srgbClr val="EFEFD1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59" name="Freeform 484"/>
                <p:cNvSpPr>
                  <a:spLocks/>
                </p:cNvSpPr>
                <p:nvPr/>
              </p:nvSpPr>
              <p:spPr bwMode="auto">
                <a:xfrm>
                  <a:off x="3855" y="1572"/>
                  <a:ext cx="251" cy="17"/>
                </a:xfrm>
                <a:custGeom>
                  <a:avLst/>
                  <a:gdLst>
                    <a:gd name="T0" fmla="*/ 0 w 251"/>
                    <a:gd name="T1" fmla="*/ 16 h 17"/>
                    <a:gd name="T2" fmla="*/ 0 w 251"/>
                    <a:gd name="T3" fmla="*/ 0 h 17"/>
                    <a:gd name="T4" fmla="*/ 249 w 251"/>
                    <a:gd name="T5" fmla="*/ 0 h 17"/>
                    <a:gd name="T6" fmla="*/ 250 w 251"/>
                    <a:gd name="T7" fmla="*/ 16 h 17"/>
                    <a:gd name="T8" fmla="*/ 0 w 251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1"/>
                    <a:gd name="T16" fmla="*/ 0 h 17"/>
                    <a:gd name="T17" fmla="*/ 251 w 251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1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249" y="0"/>
                      </a:lnTo>
                      <a:lnTo>
                        <a:pt x="250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CCCC6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60" name="Freeform 485"/>
                <p:cNvSpPr>
                  <a:spLocks/>
                </p:cNvSpPr>
                <p:nvPr/>
              </p:nvSpPr>
              <p:spPr bwMode="auto">
                <a:xfrm>
                  <a:off x="3872" y="1538"/>
                  <a:ext cx="223" cy="28"/>
                </a:xfrm>
                <a:custGeom>
                  <a:avLst/>
                  <a:gdLst>
                    <a:gd name="T0" fmla="*/ 0 w 223"/>
                    <a:gd name="T1" fmla="*/ 27 h 28"/>
                    <a:gd name="T2" fmla="*/ 222 w 223"/>
                    <a:gd name="T3" fmla="*/ 27 h 28"/>
                    <a:gd name="T4" fmla="*/ 214 w 223"/>
                    <a:gd name="T5" fmla="*/ 0 h 28"/>
                    <a:gd name="T6" fmla="*/ 8 w 223"/>
                    <a:gd name="T7" fmla="*/ 0 h 28"/>
                    <a:gd name="T8" fmla="*/ 0 w 223"/>
                    <a:gd name="T9" fmla="*/ 27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3"/>
                    <a:gd name="T16" fmla="*/ 0 h 28"/>
                    <a:gd name="T17" fmla="*/ 223 w 223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3" h="28">
                      <a:moveTo>
                        <a:pt x="0" y="27"/>
                      </a:moveTo>
                      <a:lnTo>
                        <a:pt x="222" y="27"/>
                      </a:lnTo>
                      <a:lnTo>
                        <a:pt x="214" y="0"/>
                      </a:lnTo>
                      <a:lnTo>
                        <a:pt x="8" y="0"/>
                      </a:lnTo>
                      <a:lnTo>
                        <a:pt x="0" y="27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6887" name="Group 486"/>
              <p:cNvGrpSpPr>
                <a:grpSpLocks/>
              </p:cNvGrpSpPr>
              <p:nvPr/>
            </p:nvGrpSpPr>
            <p:grpSpPr bwMode="auto">
              <a:xfrm>
                <a:off x="817" y="3579"/>
                <a:ext cx="248" cy="201"/>
                <a:chOff x="3840" y="1279"/>
                <a:chExt cx="266" cy="310"/>
              </a:xfrm>
            </p:grpSpPr>
            <p:sp>
              <p:nvSpPr>
                <p:cNvPr id="26949" name="Freeform 487"/>
                <p:cNvSpPr>
                  <a:spLocks/>
                </p:cNvSpPr>
                <p:nvPr/>
              </p:nvSpPr>
              <p:spPr bwMode="auto">
                <a:xfrm>
                  <a:off x="3848" y="1548"/>
                  <a:ext cx="206" cy="20"/>
                </a:xfrm>
                <a:custGeom>
                  <a:avLst/>
                  <a:gdLst>
                    <a:gd name="T0" fmla="*/ 0 w 206"/>
                    <a:gd name="T1" fmla="*/ 19 h 20"/>
                    <a:gd name="T2" fmla="*/ 0 w 206"/>
                    <a:gd name="T3" fmla="*/ 0 h 20"/>
                    <a:gd name="T4" fmla="*/ 205 w 206"/>
                    <a:gd name="T5" fmla="*/ 0 h 20"/>
                    <a:gd name="T6" fmla="*/ 205 w 206"/>
                    <a:gd name="T7" fmla="*/ 19 h 20"/>
                    <a:gd name="T8" fmla="*/ 0 w 206"/>
                    <a:gd name="T9" fmla="*/ 19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6"/>
                    <a:gd name="T16" fmla="*/ 0 h 20"/>
                    <a:gd name="T17" fmla="*/ 206 w 206"/>
                    <a:gd name="T18" fmla="*/ 20 h 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6" h="20">
                      <a:moveTo>
                        <a:pt x="0" y="19"/>
                      </a:moveTo>
                      <a:lnTo>
                        <a:pt x="0" y="0"/>
                      </a:lnTo>
                      <a:lnTo>
                        <a:pt x="205" y="0"/>
                      </a:lnTo>
                      <a:lnTo>
                        <a:pt x="205" y="19"/>
                      </a:lnTo>
                      <a:lnTo>
                        <a:pt x="0" y="19"/>
                      </a:lnTo>
                    </a:path>
                  </a:pathLst>
                </a:custGeom>
                <a:solidFill>
                  <a:srgbClr val="666666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50" name="Freeform 488"/>
                <p:cNvSpPr>
                  <a:spLocks/>
                </p:cNvSpPr>
                <p:nvPr/>
              </p:nvSpPr>
              <p:spPr bwMode="auto">
                <a:xfrm>
                  <a:off x="3840" y="1453"/>
                  <a:ext cx="220" cy="34"/>
                </a:xfrm>
                <a:custGeom>
                  <a:avLst/>
                  <a:gdLst>
                    <a:gd name="T0" fmla="*/ 189 w 220"/>
                    <a:gd name="T1" fmla="*/ 0 h 34"/>
                    <a:gd name="T2" fmla="*/ 219 w 220"/>
                    <a:gd name="T3" fmla="*/ 33 h 34"/>
                    <a:gd name="T4" fmla="*/ 0 w 220"/>
                    <a:gd name="T5" fmla="*/ 33 h 34"/>
                    <a:gd name="T6" fmla="*/ 29 w 220"/>
                    <a:gd name="T7" fmla="*/ 0 h 34"/>
                    <a:gd name="T8" fmla="*/ 189 w 220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34"/>
                    <a:gd name="T17" fmla="*/ 220 w 220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34">
                      <a:moveTo>
                        <a:pt x="189" y="0"/>
                      </a:moveTo>
                      <a:lnTo>
                        <a:pt x="219" y="33"/>
                      </a:lnTo>
                      <a:lnTo>
                        <a:pt x="0" y="33"/>
                      </a:lnTo>
                      <a:lnTo>
                        <a:pt x="29" y="0"/>
                      </a:lnTo>
                      <a:lnTo>
                        <a:pt x="189" y="0"/>
                      </a:lnTo>
                    </a:path>
                  </a:pathLst>
                </a:custGeom>
                <a:solidFill>
                  <a:srgbClr val="EFEFD1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51" name="Freeform 489"/>
                <p:cNvSpPr>
                  <a:spLocks/>
                </p:cNvSpPr>
                <p:nvPr/>
              </p:nvSpPr>
              <p:spPr bwMode="auto">
                <a:xfrm>
                  <a:off x="3897" y="1449"/>
                  <a:ext cx="104" cy="24"/>
                </a:xfrm>
                <a:custGeom>
                  <a:avLst/>
                  <a:gdLst>
                    <a:gd name="T0" fmla="*/ 102 w 104"/>
                    <a:gd name="T1" fmla="*/ 10 h 24"/>
                    <a:gd name="T2" fmla="*/ 101 w 104"/>
                    <a:gd name="T3" fmla="*/ 8 h 24"/>
                    <a:gd name="T4" fmla="*/ 97 w 104"/>
                    <a:gd name="T5" fmla="*/ 6 h 24"/>
                    <a:gd name="T6" fmla="*/ 93 w 104"/>
                    <a:gd name="T7" fmla="*/ 4 h 24"/>
                    <a:gd name="T8" fmla="*/ 87 w 104"/>
                    <a:gd name="T9" fmla="*/ 3 h 24"/>
                    <a:gd name="T10" fmla="*/ 80 w 104"/>
                    <a:gd name="T11" fmla="*/ 2 h 24"/>
                    <a:gd name="T12" fmla="*/ 72 w 104"/>
                    <a:gd name="T13" fmla="*/ 1 h 24"/>
                    <a:gd name="T14" fmla="*/ 64 w 104"/>
                    <a:gd name="T15" fmla="*/ 0 h 24"/>
                    <a:gd name="T16" fmla="*/ 55 w 104"/>
                    <a:gd name="T17" fmla="*/ 0 h 24"/>
                    <a:gd name="T18" fmla="*/ 46 w 104"/>
                    <a:gd name="T19" fmla="*/ 0 h 24"/>
                    <a:gd name="T20" fmla="*/ 37 w 104"/>
                    <a:gd name="T21" fmla="*/ 0 h 24"/>
                    <a:gd name="T22" fmla="*/ 29 w 104"/>
                    <a:gd name="T23" fmla="*/ 1 h 24"/>
                    <a:gd name="T24" fmla="*/ 21 w 104"/>
                    <a:gd name="T25" fmla="*/ 2 h 24"/>
                    <a:gd name="T26" fmla="*/ 14 w 104"/>
                    <a:gd name="T27" fmla="*/ 3 h 24"/>
                    <a:gd name="T28" fmla="*/ 8 w 104"/>
                    <a:gd name="T29" fmla="*/ 4 h 24"/>
                    <a:gd name="T30" fmla="*/ 4 w 104"/>
                    <a:gd name="T31" fmla="*/ 6 h 24"/>
                    <a:gd name="T32" fmla="*/ 1 w 104"/>
                    <a:gd name="T33" fmla="*/ 8 h 24"/>
                    <a:gd name="T34" fmla="*/ 0 w 104"/>
                    <a:gd name="T35" fmla="*/ 10 h 24"/>
                    <a:gd name="T36" fmla="*/ 0 w 104"/>
                    <a:gd name="T37" fmla="*/ 12 h 24"/>
                    <a:gd name="T38" fmla="*/ 1 w 104"/>
                    <a:gd name="T39" fmla="*/ 14 h 24"/>
                    <a:gd name="T40" fmla="*/ 4 w 104"/>
                    <a:gd name="T41" fmla="*/ 16 h 24"/>
                    <a:gd name="T42" fmla="*/ 8 w 104"/>
                    <a:gd name="T43" fmla="*/ 17 h 24"/>
                    <a:gd name="T44" fmla="*/ 14 w 104"/>
                    <a:gd name="T45" fmla="*/ 19 h 24"/>
                    <a:gd name="T46" fmla="*/ 21 w 104"/>
                    <a:gd name="T47" fmla="*/ 20 h 24"/>
                    <a:gd name="T48" fmla="*/ 29 w 104"/>
                    <a:gd name="T49" fmla="*/ 21 h 24"/>
                    <a:gd name="T50" fmla="*/ 37 w 104"/>
                    <a:gd name="T51" fmla="*/ 22 h 24"/>
                    <a:gd name="T52" fmla="*/ 46 w 104"/>
                    <a:gd name="T53" fmla="*/ 23 h 24"/>
                    <a:gd name="T54" fmla="*/ 55 w 104"/>
                    <a:gd name="T55" fmla="*/ 23 h 24"/>
                    <a:gd name="T56" fmla="*/ 64 w 104"/>
                    <a:gd name="T57" fmla="*/ 22 h 24"/>
                    <a:gd name="T58" fmla="*/ 72 w 104"/>
                    <a:gd name="T59" fmla="*/ 21 h 24"/>
                    <a:gd name="T60" fmla="*/ 80 w 104"/>
                    <a:gd name="T61" fmla="*/ 20 h 24"/>
                    <a:gd name="T62" fmla="*/ 87 w 104"/>
                    <a:gd name="T63" fmla="*/ 19 h 24"/>
                    <a:gd name="T64" fmla="*/ 93 w 104"/>
                    <a:gd name="T65" fmla="*/ 17 h 24"/>
                    <a:gd name="T66" fmla="*/ 97 w 104"/>
                    <a:gd name="T67" fmla="*/ 16 h 24"/>
                    <a:gd name="T68" fmla="*/ 101 w 104"/>
                    <a:gd name="T69" fmla="*/ 14 h 24"/>
                    <a:gd name="T70" fmla="*/ 102 w 104"/>
                    <a:gd name="T71" fmla="*/ 12 h 24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104"/>
                    <a:gd name="T109" fmla="*/ 0 h 24"/>
                    <a:gd name="T110" fmla="*/ 104 w 104"/>
                    <a:gd name="T111" fmla="*/ 24 h 24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104" h="24">
                      <a:moveTo>
                        <a:pt x="103" y="11"/>
                      </a:moveTo>
                      <a:lnTo>
                        <a:pt x="102" y="10"/>
                      </a:lnTo>
                      <a:lnTo>
                        <a:pt x="102" y="9"/>
                      </a:lnTo>
                      <a:lnTo>
                        <a:pt x="101" y="8"/>
                      </a:lnTo>
                      <a:lnTo>
                        <a:pt x="99" y="7"/>
                      </a:lnTo>
                      <a:lnTo>
                        <a:pt x="97" y="6"/>
                      </a:lnTo>
                      <a:lnTo>
                        <a:pt x="95" y="6"/>
                      </a:lnTo>
                      <a:lnTo>
                        <a:pt x="93" y="4"/>
                      </a:lnTo>
                      <a:lnTo>
                        <a:pt x="90" y="4"/>
                      </a:lnTo>
                      <a:lnTo>
                        <a:pt x="87" y="3"/>
                      </a:lnTo>
                      <a:lnTo>
                        <a:pt x="84" y="2"/>
                      </a:lnTo>
                      <a:lnTo>
                        <a:pt x="80" y="2"/>
                      </a:lnTo>
                      <a:lnTo>
                        <a:pt x="76" y="1"/>
                      </a:lnTo>
                      <a:lnTo>
                        <a:pt x="72" y="1"/>
                      </a:lnTo>
                      <a:lnTo>
                        <a:pt x="69" y="0"/>
                      </a:lnTo>
                      <a:lnTo>
                        <a:pt x="64" y="0"/>
                      </a:lnTo>
                      <a:lnTo>
                        <a:pt x="60" y="0"/>
                      </a:lnTo>
                      <a:lnTo>
                        <a:pt x="55" y="0"/>
                      </a:lnTo>
                      <a:lnTo>
                        <a:pt x="51" y="0"/>
                      </a:lnTo>
                      <a:lnTo>
                        <a:pt x="46" y="0"/>
                      </a:lnTo>
                      <a:lnTo>
                        <a:pt x="42" y="0"/>
                      </a:lnTo>
                      <a:lnTo>
                        <a:pt x="37" y="0"/>
                      </a:lnTo>
                      <a:lnTo>
                        <a:pt x="33" y="0"/>
                      </a:lnTo>
                      <a:lnTo>
                        <a:pt x="29" y="1"/>
                      </a:lnTo>
                      <a:lnTo>
                        <a:pt x="25" y="1"/>
                      </a:lnTo>
                      <a:lnTo>
                        <a:pt x="21" y="2"/>
                      </a:lnTo>
                      <a:lnTo>
                        <a:pt x="17" y="2"/>
                      </a:lnTo>
                      <a:lnTo>
                        <a:pt x="14" y="3"/>
                      </a:lnTo>
                      <a:lnTo>
                        <a:pt x="12" y="4"/>
                      </a:lnTo>
                      <a:lnTo>
                        <a:pt x="8" y="4"/>
                      </a:lnTo>
                      <a:lnTo>
                        <a:pt x="6" y="6"/>
                      </a:lnTo>
                      <a:lnTo>
                        <a:pt x="4" y="6"/>
                      </a:lnTo>
                      <a:lnTo>
                        <a:pt x="3" y="7"/>
                      </a:lnTo>
                      <a:lnTo>
                        <a:pt x="1" y="8"/>
                      </a:lnTo>
                      <a:lnTo>
                        <a:pt x="0" y="9"/>
                      </a:lnTo>
                      <a:lnTo>
                        <a:pt x="0" y="10"/>
                      </a:lnTo>
                      <a:lnTo>
                        <a:pt x="0" y="11"/>
                      </a:lnTo>
                      <a:lnTo>
                        <a:pt x="0" y="12"/>
                      </a:lnTo>
                      <a:lnTo>
                        <a:pt x="0" y="13"/>
                      </a:lnTo>
                      <a:lnTo>
                        <a:pt x="1" y="14"/>
                      </a:lnTo>
                      <a:lnTo>
                        <a:pt x="3" y="15"/>
                      </a:lnTo>
                      <a:lnTo>
                        <a:pt x="4" y="16"/>
                      </a:lnTo>
                      <a:lnTo>
                        <a:pt x="6" y="17"/>
                      </a:lnTo>
                      <a:lnTo>
                        <a:pt x="8" y="17"/>
                      </a:lnTo>
                      <a:lnTo>
                        <a:pt x="12" y="18"/>
                      </a:lnTo>
                      <a:lnTo>
                        <a:pt x="14" y="19"/>
                      </a:lnTo>
                      <a:lnTo>
                        <a:pt x="17" y="20"/>
                      </a:lnTo>
                      <a:lnTo>
                        <a:pt x="21" y="20"/>
                      </a:lnTo>
                      <a:lnTo>
                        <a:pt x="25" y="21"/>
                      </a:lnTo>
                      <a:lnTo>
                        <a:pt x="29" y="21"/>
                      </a:lnTo>
                      <a:lnTo>
                        <a:pt x="33" y="22"/>
                      </a:lnTo>
                      <a:lnTo>
                        <a:pt x="37" y="22"/>
                      </a:lnTo>
                      <a:lnTo>
                        <a:pt x="42" y="22"/>
                      </a:lnTo>
                      <a:lnTo>
                        <a:pt x="46" y="23"/>
                      </a:lnTo>
                      <a:lnTo>
                        <a:pt x="51" y="23"/>
                      </a:lnTo>
                      <a:lnTo>
                        <a:pt x="55" y="23"/>
                      </a:lnTo>
                      <a:lnTo>
                        <a:pt x="60" y="22"/>
                      </a:lnTo>
                      <a:lnTo>
                        <a:pt x="64" y="22"/>
                      </a:lnTo>
                      <a:lnTo>
                        <a:pt x="69" y="22"/>
                      </a:lnTo>
                      <a:lnTo>
                        <a:pt x="72" y="21"/>
                      </a:lnTo>
                      <a:lnTo>
                        <a:pt x="76" y="21"/>
                      </a:lnTo>
                      <a:lnTo>
                        <a:pt x="80" y="20"/>
                      </a:lnTo>
                      <a:lnTo>
                        <a:pt x="84" y="20"/>
                      </a:lnTo>
                      <a:lnTo>
                        <a:pt x="87" y="19"/>
                      </a:lnTo>
                      <a:lnTo>
                        <a:pt x="90" y="18"/>
                      </a:lnTo>
                      <a:lnTo>
                        <a:pt x="93" y="17"/>
                      </a:lnTo>
                      <a:lnTo>
                        <a:pt x="95" y="17"/>
                      </a:lnTo>
                      <a:lnTo>
                        <a:pt x="97" y="16"/>
                      </a:lnTo>
                      <a:lnTo>
                        <a:pt x="99" y="15"/>
                      </a:lnTo>
                      <a:lnTo>
                        <a:pt x="101" y="14"/>
                      </a:lnTo>
                      <a:lnTo>
                        <a:pt x="102" y="13"/>
                      </a:lnTo>
                      <a:lnTo>
                        <a:pt x="102" y="12"/>
                      </a:lnTo>
                      <a:lnTo>
                        <a:pt x="103" y="11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52" name="Freeform 490"/>
                <p:cNvSpPr>
                  <a:spLocks/>
                </p:cNvSpPr>
                <p:nvPr/>
              </p:nvSpPr>
              <p:spPr bwMode="auto">
                <a:xfrm>
                  <a:off x="3897" y="1461"/>
                  <a:ext cx="104" cy="17"/>
                </a:xfrm>
                <a:custGeom>
                  <a:avLst/>
                  <a:gdLst>
                    <a:gd name="T0" fmla="*/ 102 w 104"/>
                    <a:gd name="T1" fmla="*/ 6 h 17"/>
                    <a:gd name="T2" fmla="*/ 101 w 104"/>
                    <a:gd name="T3" fmla="*/ 8 h 17"/>
                    <a:gd name="T4" fmla="*/ 97 w 104"/>
                    <a:gd name="T5" fmla="*/ 10 h 17"/>
                    <a:gd name="T6" fmla="*/ 93 w 104"/>
                    <a:gd name="T7" fmla="*/ 11 h 17"/>
                    <a:gd name="T8" fmla="*/ 87 w 104"/>
                    <a:gd name="T9" fmla="*/ 12 h 17"/>
                    <a:gd name="T10" fmla="*/ 80 w 104"/>
                    <a:gd name="T11" fmla="*/ 14 h 17"/>
                    <a:gd name="T12" fmla="*/ 72 w 104"/>
                    <a:gd name="T13" fmla="*/ 14 h 17"/>
                    <a:gd name="T14" fmla="*/ 64 w 104"/>
                    <a:gd name="T15" fmla="*/ 15 h 17"/>
                    <a:gd name="T16" fmla="*/ 55 w 104"/>
                    <a:gd name="T17" fmla="*/ 16 h 17"/>
                    <a:gd name="T18" fmla="*/ 46 w 104"/>
                    <a:gd name="T19" fmla="*/ 16 h 17"/>
                    <a:gd name="T20" fmla="*/ 37 w 104"/>
                    <a:gd name="T21" fmla="*/ 15 h 17"/>
                    <a:gd name="T22" fmla="*/ 29 w 104"/>
                    <a:gd name="T23" fmla="*/ 14 h 17"/>
                    <a:gd name="T24" fmla="*/ 21 w 104"/>
                    <a:gd name="T25" fmla="*/ 14 h 17"/>
                    <a:gd name="T26" fmla="*/ 14 w 104"/>
                    <a:gd name="T27" fmla="*/ 12 h 17"/>
                    <a:gd name="T28" fmla="*/ 8 w 104"/>
                    <a:gd name="T29" fmla="*/ 11 h 17"/>
                    <a:gd name="T30" fmla="*/ 4 w 104"/>
                    <a:gd name="T31" fmla="*/ 10 h 17"/>
                    <a:gd name="T32" fmla="*/ 1 w 104"/>
                    <a:gd name="T33" fmla="*/ 8 h 17"/>
                    <a:gd name="T34" fmla="*/ 0 w 104"/>
                    <a:gd name="T35" fmla="*/ 6 h 17"/>
                    <a:gd name="T36" fmla="*/ 0 w 104"/>
                    <a:gd name="T37" fmla="*/ 0 h 17"/>
                    <a:gd name="T38" fmla="*/ 0 w 104"/>
                    <a:gd name="T39" fmla="*/ 2 h 17"/>
                    <a:gd name="T40" fmla="*/ 3 w 104"/>
                    <a:gd name="T41" fmla="*/ 4 h 17"/>
                    <a:gd name="T42" fmla="*/ 6 w 104"/>
                    <a:gd name="T43" fmla="*/ 5 h 17"/>
                    <a:gd name="T44" fmla="*/ 12 w 104"/>
                    <a:gd name="T45" fmla="*/ 6 h 17"/>
                    <a:gd name="T46" fmla="*/ 17 w 104"/>
                    <a:gd name="T47" fmla="*/ 8 h 17"/>
                    <a:gd name="T48" fmla="*/ 25 w 104"/>
                    <a:gd name="T49" fmla="*/ 9 h 17"/>
                    <a:gd name="T50" fmla="*/ 33 w 104"/>
                    <a:gd name="T51" fmla="*/ 10 h 17"/>
                    <a:gd name="T52" fmla="*/ 42 w 104"/>
                    <a:gd name="T53" fmla="*/ 10 h 17"/>
                    <a:gd name="T54" fmla="*/ 51 w 104"/>
                    <a:gd name="T55" fmla="*/ 10 h 17"/>
                    <a:gd name="T56" fmla="*/ 60 w 104"/>
                    <a:gd name="T57" fmla="*/ 10 h 17"/>
                    <a:gd name="T58" fmla="*/ 69 w 104"/>
                    <a:gd name="T59" fmla="*/ 10 h 17"/>
                    <a:gd name="T60" fmla="*/ 76 w 104"/>
                    <a:gd name="T61" fmla="*/ 9 h 17"/>
                    <a:gd name="T62" fmla="*/ 84 w 104"/>
                    <a:gd name="T63" fmla="*/ 8 h 17"/>
                    <a:gd name="T64" fmla="*/ 90 w 104"/>
                    <a:gd name="T65" fmla="*/ 6 h 17"/>
                    <a:gd name="T66" fmla="*/ 95 w 104"/>
                    <a:gd name="T67" fmla="*/ 5 h 17"/>
                    <a:gd name="T68" fmla="*/ 99 w 104"/>
                    <a:gd name="T69" fmla="*/ 4 h 17"/>
                    <a:gd name="T70" fmla="*/ 102 w 104"/>
                    <a:gd name="T71" fmla="*/ 2 h 17"/>
                    <a:gd name="T72" fmla="*/ 103 w 104"/>
                    <a:gd name="T73" fmla="*/ 0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04"/>
                    <a:gd name="T112" fmla="*/ 0 h 17"/>
                    <a:gd name="T113" fmla="*/ 104 w 104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04" h="17">
                      <a:moveTo>
                        <a:pt x="103" y="5"/>
                      </a:moveTo>
                      <a:lnTo>
                        <a:pt x="102" y="6"/>
                      </a:lnTo>
                      <a:lnTo>
                        <a:pt x="102" y="7"/>
                      </a:lnTo>
                      <a:lnTo>
                        <a:pt x="101" y="8"/>
                      </a:lnTo>
                      <a:lnTo>
                        <a:pt x="99" y="8"/>
                      </a:lnTo>
                      <a:lnTo>
                        <a:pt x="97" y="10"/>
                      </a:lnTo>
                      <a:lnTo>
                        <a:pt x="95" y="10"/>
                      </a:lnTo>
                      <a:lnTo>
                        <a:pt x="93" y="11"/>
                      </a:lnTo>
                      <a:lnTo>
                        <a:pt x="90" y="12"/>
                      </a:lnTo>
                      <a:lnTo>
                        <a:pt x="87" y="12"/>
                      </a:lnTo>
                      <a:lnTo>
                        <a:pt x="84" y="13"/>
                      </a:lnTo>
                      <a:lnTo>
                        <a:pt x="80" y="14"/>
                      </a:lnTo>
                      <a:lnTo>
                        <a:pt x="76" y="14"/>
                      </a:lnTo>
                      <a:lnTo>
                        <a:pt x="72" y="14"/>
                      </a:lnTo>
                      <a:lnTo>
                        <a:pt x="69" y="15"/>
                      </a:lnTo>
                      <a:lnTo>
                        <a:pt x="64" y="15"/>
                      </a:lnTo>
                      <a:lnTo>
                        <a:pt x="60" y="16"/>
                      </a:lnTo>
                      <a:lnTo>
                        <a:pt x="55" y="16"/>
                      </a:lnTo>
                      <a:lnTo>
                        <a:pt x="51" y="16"/>
                      </a:lnTo>
                      <a:lnTo>
                        <a:pt x="46" y="16"/>
                      </a:lnTo>
                      <a:lnTo>
                        <a:pt x="42" y="16"/>
                      </a:lnTo>
                      <a:lnTo>
                        <a:pt x="37" y="15"/>
                      </a:lnTo>
                      <a:lnTo>
                        <a:pt x="33" y="15"/>
                      </a:lnTo>
                      <a:lnTo>
                        <a:pt x="29" y="14"/>
                      </a:lnTo>
                      <a:lnTo>
                        <a:pt x="25" y="14"/>
                      </a:lnTo>
                      <a:lnTo>
                        <a:pt x="21" y="14"/>
                      </a:lnTo>
                      <a:lnTo>
                        <a:pt x="17" y="13"/>
                      </a:lnTo>
                      <a:lnTo>
                        <a:pt x="14" y="12"/>
                      </a:lnTo>
                      <a:lnTo>
                        <a:pt x="12" y="12"/>
                      </a:lnTo>
                      <a:lnTo>
                        <a:pt x="8" y="11"/>
                      </a:lnTo>
                      <a:lnTo>
                        <a:pt x="6" y="10"/>
                      </a:lnTo>
                      <a:lnTo>
                        <a:pt x="4" y="10"/>
                      </a:lnTo>
                      <a:lnTo>
                        <a:pt x="3" y="8"/>
                      </a:lnTo>
                      <a:lnTo>
                        <a:pt x="1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1" y="2"/>
                      </a:lnTo>
                      <a:lnTo>
                        <a:pt x="3" y="4"/>
                      </a:lnTo>
                      <a:lnTo>
                        <a:pt x="4" y="4"/>
                      </a:lnTo>
                      <a:lnTo>
                        <a:pt x="6" y="5"/>
                      </a:lnTo>
                      <a:lnTo>
                        <a:pt x="8" y="6"/>
                      </a:lnTo>
                      <a:lnTo>
                        <a:pt x="12" y="6"/>
                      </a:lnTo>
                      <a:lnTo>
                        <a:pt x="14" y="7"/>
                      </a:lnTo>
                      <a:lnTo>
                        <a:pt x="17" y="8"/>
                      </a:lnTo>
                      <a:lnTo>
                        <a:pt x="21" y="8"/>
                      </a:lnTo>
                      <a:lnTo>
                        <a:pt x="25" y="9"/>
                      </a:lnTo>
                      <a:lnTo>
                        <a:pt x="29" y="10"/>
                      </a:lnTo>
                      <a:lnTo>
                        <a:pt x="33" y="10"/>
                      </a:lnTo>
                      <a:lnTo>
                        <a:pt x="37" y="10"/>
                      </a:lnTo>
                      <a:lnTo>
                        <a:pt x="42" y="10"/>
                      </a:lnTo>
                      <a:lnTo>
                        <a:pt x="46" y="10"/>
                      </a:lnTo>
                      <a:lnTo>
                        <a:pt x="51" y="10"/>
                      </a:lnTo>
                      <a:lnTo>
                        <a:pt x="55" y="10"/>
                      </a:lnTo>
                      <a:lnTo>
                        <a:pt x="60" y="10"/>
                      </a:lnTo>
                      <a:lnTo>
                        <a:pt x="64" y="10"/>
                      </a:lnTo>
                      <a:lnTo>
                        <a:pt x="69" y="10"/>
                      </a:lnTo>
                      <a:lnTo>
                        <a:pt x="72" y="10"/>
                      </a:lnTo>
                      <a:lnTo>
                        <a:pt x="76" y="9"/>
                      </a:lnTo>
                      <a:lnTo>
                        <a:pt x="80" y="8"/>
                      </a:lnTo>
                      <a:lnTo>
                        <a:pt x="84" y="8"/>
                      </a:lnTo>
                      <a:lnTo>
                        <a:pt x="87" y="7"/>
                      </a:lnTo>
                      <a:lnTo>
                        <a:pt x="90" y="6"/>
                      </a:lnTo>
                      <a:lnTo>
                        <a:pt x="93" y="6"/>
                      </a:lnTo>
                      <a:lnTo>
                        <a:pt x="95" y="5"/>
                      </a:lnTo>
                      <a:lnTo>
                        <a:pt x="97" y="4"/>
                      </a:lnTo>
                      <a:lnTo>
                        <a:pt x="99" y="4"/>
                      </a:lnTo>
                      <a:lnTo>
                        <a:pt x="101" y="2"/>
                      </a:lnTo>
                      <a:lnTo>
                        <a:pt x="102" y="2"/>
                      </a:lnTo>
                      <a:lnTo>
                        <a:pt x="102" y="1"/>
                      </a:lnTo>
                      <a:lnTo>
                        <a:pt x="103" y="0"/>
                      </a:lnTo>
                      <a:lnTo>
                        <a:pt x="103" y="5"/>
                      </a:lnTo>
                    </a:path>
                  </a:pathLst>
                </a:custGeom>
                <a:solidFill>
                  <a:srgbClr val="666666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53" name="Freeform 491"/>
                <p:cNvSpPr>
                  <a:spLocks/>
                </p:cNvSpPr>
                <p:nvPr/>
              </p:nvSpPr>
              <p:spPr bwMode="auto">
                <a:xfrm>
                  <a:off x="3840" y="1486"/>
                  <a:ext cx="220" cy="77"/>
                </a:xfrm>
                <a:custGeom>
                  <a:avLst/>
                  <a:gdLst>
                    <a:gd name="T0" fmla="*/ 0 w 220"/>
                    <a:gd name="T1" fmla="*/ 76 h 77"/>
                    <a:gd name="T2" fmla="*/ 219 w 220"/>
                    <a:gd name="T3" fmla="*/ 76 h 77"/>
                    <a:gd name="T4" fmla="*/ 219 w 220"/>
                    <a:gd name="T5" fmla="*/ 0 h 77"/>
                    <a:gd name="T6" fmla="*/ 0 w 220"/>
                    <a:gd name="T7" fmla="*/ 0 h 77"/>
                    <a:gd name="T8" fmla="*/ 0 w 220"/>
                    <a:gd name="T9" fmla="*/ 76 h 7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77"/>
                    <a:gd name="T17" fmla="*/ 220 w 220"/>
                    <a:gd name="T18" fmla="*/ 77 h 7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77">
                      <a:moveTo>
                        <a:pt x="0" y="76"/>
                      </a:moveTo>
                      <a:lnTo>
                        <a:pt x="219" y="76"/>
                      </a:lnTo>
                      <a:lnTo>
                        <a:pt x="219" y="0"/>
                      </a:lnTo>
                      <a:lnTo>
                        <a:pt x="0" y="0"/>
                      </a:lnTo>
                      <a:lnTo>
                        <a:pt x="0" y="76"/>
                      </a:lnTo>
                    </a:path>
                  </a:pathLst>
                </a:custGeom>
                <a:solidFill>
                  <a:srgbClr val="EFEFD1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54" name="Freeform 492"/>
                <p:cNvSpPr>
                  <a:spLocks/>
                </p:cNvSpPr>
                <p:nvPr/>
              </p:nvSpPr>
              <p:spPr bwMode="auto">
                <a:xfrm>
                  <a:off x="3875" y="1449"/>
                  <a:ext cx="69" cy="17"/>
                </a:xfrm>
                <a:custGeom>
                  <a:avLst/>
                  <a:gdLst>
                    <a:gd name="T0" fmla="*/ 0 w 69"/>
                    <a:gd name="T1" fmla="*/ 16 h 17"/>
                    <a:gd name="T2" fmla="*/ 0 w 69"/>
                    <a:gd name="T3" fmla="*/ 0 h 17"/>
                    <a:gd name="T4" fmla="*/ 68 w 69"/>
                    <a:gd name="T5" fmla="*/ 0 h 17"/>
                    <a:gd name="T6" fmla="*/ 68 w 69"/>
                    <a:gd name="T7" fmla="*/ 16 h 17"/>
                    <a:gd name="T8" fmla="*/ 0 w 69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9"/>
                    <a:gd name="T16" fmla="*/ 0 h 17"/>
                    <a:gd name="T17" fmla="*/ 69 w 69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9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68" y="0"/>
                      </a:lnTo>
                      <a:lnTo>
                        <a:pt x="68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55" name="Freeform 493"/>
                <p:cNvSpPr>
                  <a:spLocks/>
                </p:cNvSpPr>
                <p:nvPr/>
              </p:nvSpPr>
              <p:spPr bwMode="auto">
                <a:xfrm>
                  <a:off x="3931" y="1450"/>
                  <a:ext cx="94" cy="17"/>
                </a:xfrm>
                <a:custGeom>
                  <a:avLst/>
                  <a:gdLst>
                    <a:gd name="T0" fmla="*/ 0 w 94"/>
                    <a:gd name="T1" fmla="*/ 16 h 17"/>
                    <a:gd name="T2" fmla="*/ 0 w 94"/>
                    <a:gd name="T3" fmla="*/ 0 h 17"/>
                    <a:gd name="T4" fmla="*/ 93 w 94"/>
                    <a:gd name="T5" fmla="*/ 0 h 17"/>
                    <a:gd name="T6" fmla="*/ 93 w 94"/>
                    <a:gd name="T7" fmla="*/ 16 h 17"/>
                    <a:gd name="T8" fmla="*/ 0 w 94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4"/>
                    <a:gd name="T16" fmla="*/ 0 h 17"/>
                    <a:gd name="T17" fmla="*/ 94 w 9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4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93" y="0"/>
                      </a:lnTo>
                      <a:lnTo>
                        <a:pt x="93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56" name="Freeform 494"/>
                <p:cNvSpPr>
                  <a:spLocks/>
                </p:cNvSpPr>
                <p:nvPr/>
              </p:nvSpPr>
              <p:spPr bwMode="auto">
                <a:xfrm>
                  <a:off x="3877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57" name="Freeform 495"/>
                <p:cNvSpPr>
                  <a:spLocks/>
                </p:cNvSpPr>
                <p:nvPr/>
              </p:nvSpPr>
              <p:spPr bwMode="auto">
                <a:xfrm>
                  <a:off x="388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4 w 17"/>
                    <a:gd name="T7" fmla="*/ 16 h 17"/>
                    <a:gd name="T8" fmla="*/ 8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58" name="Freeform 496"/>
                <p:cNvSpPr>
                  <a:spLocks/>
                </p:cNvSpPr>
                <p:nvPr/>
              </p:nvSpPr>
              <p:spPr bwMode="auto">
                <a:xfrm>
                  <a:off x="388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59" name="Freeform 497"/>
                <p:cNvSpPr>
                  <a:spLocks/>
                </p:cNvSpPr>
                <p:nvPr/>
              </p:nvSpPr>
              <p:spPr bwMode="auto">
                <a:xfrm>
                  <a:off x="388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60" name="Freeform 498"/>
                <p:cNvSpPr>
                  <a:spLocks/>
                </p:cNvSpPr>
                <p:nvPr/>
              </p:nvSpPr>
              <p:spPr bwMode="auto">
                <a:xfrm>
                  <a:off x="388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61" name="Freeform 499"/>
                <p:cNvSpPr>
                  <a:spLocks/>
                </p:cNvSpPr>
                <p:nvPr/>
              </p:nvSpPr>
              <p:spPr bwMode="auto">
                <a:xfrm>
                  <a:off x="389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62" name="Freeform 500"/>
                <p:cNvSpPr>
                  <a:spLocks/>
                </p:cNvSpPr>
                <p:nvPr/>
              </p:nvSpPr>
              <p:spPr bwMode="auto">
                <a:xfrm>
                  <a:off x="389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63" name="Freeform 501"/>
                <p:cNvSpPr>
                  <a:spLocks/>
                </p:cNvSpPr>
                <p:nvPr/>
              </p:nvSpPr>
              <p:spPr bwMode="auto">
                <a:xfrm>
                  <a:off x="3894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64" name="Freeform 502"/>
                <p:cNvSpPr>
                  <a:spLocks/>
                </p:cNvSpPr>
                <p:nvPr/>
              </p:nvSpPr>
              <p:spPr bwMode="auto">
                <a:xfrm>
                  <a:off x="389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65" name="Freeform 503"/>
                <p:cNvSpPr>
                  <a:spLocks/>
                </p:cNvSpPr>
                <p:nvPr/>
              </p:nvSpPr>
              <p:spPr bwMode="auto">
                <a:xfrm>
                  <a:off x="390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66" name="Freeform 504"/>
                <p:cNvSpPr>
                  <a:spLocks/>
                </p:cNvSpPr>
                <p:nvPr/>
              </p:nvSpPr>
              <p:spPr bwMode="auto">
                <a:xfrm>
                  <a:off x="390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0 w 17"/>
                    <a:gd name="T5" fmla="*/ 16 h 17"/>
                    <a:gd name="T6" fmla="*/ 8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0" y="16"/>
                      </a:lnTo>
                      <a:lnTo>
                        <a:pt x="8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67" name="Freeform 505"/>
                <p:cNvSpPr>
                  <a:spLocks/>
                </p:cNvSpPr>
                <p:nvPr/>
              </p:nvSpPr>
              <p:spPr bwMode="auto">
                <a:xfrm>
                  <a:off x="390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6 h 17"/>
                    <a:gd name="T6" fmla="*/ 8 w 17"/>
                    <a:gd name="T7" fmla="*/ 16 h 17"/>
                    <a:gd name="T8" fmla="*/ 12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68" name="Freeform 506"/>
                <p:cNvSpPr>
                  <a:spLocks/>
                </p:cNvSpPr>
                <p:nvPr/>
              </p:nvSpPr>
              <p:spPr bwMode="auto">
                <a:xfrm>
                  <a:off x="390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69" name="Freeform 507"/>
                <p:cNvSpPr>
                  <a:spLocks/>
                </p:cNvSpPr>
                <p:nvPr/>
              </p:nvSpPr>
              <p:spPr bwMode="auto">
                <a:xfrm>
                  <a:off x="391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70" name="Freeform 508"/>
                <p:cNvSpPr>
                  <a:spLocks/>
                </p:cNvSpPr>
                <p:nvPr/>
              </p:nvSpPr>
              <p:spPr bwMode="auto">
                <a:xfrm>
                  <a:off x="391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71" name="Freeform 509"/>
                <p:cNvSpPr>
                  <a:spLocks/>
                </p:cNvSpPr>
                <p:nvPr/>
              </p:nvSpPr>
              <p:spPr bwMode="auto">
                <a:xfrm>
                  <a:off x="3916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72" name="Freeform 510"/>
                <p:cNvSpPr>
                  <a:spLocks/>
                </p:cNvSpPr>
                <p:nvPr/>
              </p:nvSpPr>
              <p:spPr bwMode="auto">
                <a:xfrm>
                  <a:off x="391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73" name="Freeform 511"/>
                <p:cNvSpPr>
                  <a:spLocks/>
                </p:cNvSpPr>
                <p:nvPr/>
              </p:nvSpPr>
              <p:spPr bwMode="auto">
                <a:xfrm>
                  <a:off x="3921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74" name="Freeform 512"/>
                <p:cNvSpPr>
                  <a:spLocks/>
                </p:cNvSpPr>
                <p:nvPr/>
              </p:nvSpPr>
              <p:spPr bwMode="auto">
                <a:xfrm>
                  <a:off x="392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75" name="Freeform 513"/>
                <p:cNvSpPr>
                  <a:spLocks/>
                </p:cNvSpPr>
                <p:nvPr/>
              </p:nvSpPr>
              <p:spPr bwMode="auto">
                <a:xfrm>
                  <a:off x="392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76" name="Freeform 514"/>
                <p:cNvSpPr>
                  <a:spLocks/>
                </p:cNvSpPr>
                <p:nvPr/>
              </p:nvSpPr>
              <p:spPr bwMode="auto">
                <a:xfrm>
                  <a:off x="3855" y="1279"/>
                  <a:ext cx="187" cy="174"/>
                </a:xfrm>
                <a:custGeom>
                  <a:avLst/>
                  <a:gdLst>
                    <a:gd name="T0" fmla="*/ 180 w 187"/>
                    <a:gd name="T1" fmla="*/ 173 h 174"/>
                    <a:gd name="T2" fmla="*/ 180 w 187"/>
                    <a:gd name="T3" fmla="*/ 173 h 174"/>
                    <a:gd name="T4" fmla="*/ 180 w 187"/>
                    <a:gd name="T5" fmla="*/ 172 h 174"/>
                    <a:gd name="T6" fmla="*/ 182 w 187"/>
                    <a:gd name="T7" fmla="*/ 172 h 174"/>
                    <a:gd name="T8" fmla="*/ 182 w 187"/>
                    <a:gd name="T9" fmla="*/ 172 h 174"/>
                    <a:gd name="T10" fmla="*/ 183 w 187"/>
                    <a:gd name="T11" fmla="*/ 171 h 174"/>
                    <a:gd name="T12" fmla="*/ 183 w 187"/>
                    <a:gd name="T13" fmla="*/ 171 h 174"/>
                    <a:gd name="T14" fmla="*/ 184 w 187"/>
                    <a:gd name="T15" fmla="*/ 171 h 174"/>
                    <a:gd name="T16" fmla="*/ 184 w 187"/>
                    <a:gd name="T17" fmla="*/ 170 h 174"/>
                    <a:gd name="T18" fmla="*/ 184 w 187"/>
                    <a:gd name="T19" fmla="*/ 170 h 174"/>
                    <a:gd name="T20" fmla="*/ 184 w 187"/>
                    <a:gd name="T21" fmla="*/ 169 h 174"/>
                    <a:gd name="T22" fmla="*/ 185 w 187"/>
                    <a:gd name="T23" fmla="*/ 169 h 174"/>
                    <a:gd name="T24" fmla="*/ 185 w 187"/>
                    <a:gd name="T25" fmla="*/ 168 h 174"/>
                    <a:gd name="T26" fmla="*/ 186 w 187"/>
                    <a:gd name="T27" fmla="*/ 167 h 174"/>
                    <a:gd name="T28" fmla="*/ 186 w 187"/>
                    <a:gd name="T29" fmla="*/ 167 h 174"/>
                    <a:gd name="T30" fmla="*/ 186 w 187"/>
                    <a:gd name="T31" fmla="*/ 6 h 174"/>
                    <a:gd name="T32" fmla="*/ 186 w 187"/>
                    <a:gd name="T33" fmla="*/ 5 h 174"/>
                    <a:gd name="T34" fmla="*/ 186 w 187"/>
                    <a:gd name="T35" fmla="*/ 5 h 174"/>
                    <a:gd name="T36" fmla="*/ 185 w 187"/>
                    <a:gd name="T37" fmla="*/ 5 h 174"/>
                    <a:gd name="T38" fmla="*/ 185 w 187"/>
                    <a:gd name="T39" fmla="*/ 3 h 174"/>
                    <a:gd name="T40" fmla="*/ 184 w 187"/>
                    <a:gd name="T41" fmla="*/ 3 h 174"/>
                    <a:gd name="T42" fmla="*/ 184 w 187"/>
                    <a:gd name="T43" fmla="*/ 2 h 174"/>
                    <a:gd name="T44" fmla="*/ 184 w 187"/>
                    <a:gd name="T45" fmla="*/ 1 h 174"/>
                    <a:gd name="T46" fmla="*/ 183 w 187"/>
                    <a:gd name="T47" fmla="*/ 1 h 174"/>
                    <a:gd name="T48" fmla="*/ 183 w 187"/>
                    <a:gd name="T49" fmla="*/ 1 h 174"/>
                    <a:gd name="T50" fmla="*/ 182 w 187"/>
                    <a:gd name="T51" fmla="*/ 1 h 174"/>
                    <a:gd name="T52" fmla="*/ 182 w 187"/>
                    <a:gd name="T53" fmla="*/ 0 h 174"/>
                    <a:gd name="T54" fmla="*/ 180 w 187"/>
                    <a:gd name="T55" fmla="*/ 0 h 174"/>
                    <a:gd name="T56" fmla="*/ 180 w 187"/>
                    <a:gd name="T57" fmla="*/ 0 h 174"/>
                    <a:gd name="T58" fmla="*/ 180 w 187"/>
                    <a:gd name="T59" fmla="*/ 0 h 174"/>
                    <a:gd name="T60" fmla="*/ 5 w 187"/>
                    <a:gd name="T61" fmla="*/ 0 h 174"/>
                    <a:gd name="T62" fmla="*/ 4 w 187"/>
                    <a:gd name="T63" fmla="*/ 0 h 174"/>
                    <a:gd name="T64" fmla="*/ 3 w 187"/>
                    <a:gd name="T65" fmla="*/ 0 h 174"/>
                    <a:gd name="T66" fmla="*/ 3 w 187"/>
                    <a:gd name="T67" fmla="*/ 0 h 174"/>
                    <a:gd name="T68" fmla="*/ 2 w 187"/>
                    <a:gd name="T69" fmla="*/ 0 h 174"/>
                    <a:gd name="T70" fmla="*/ 2 w 187"/>
                    <a:gd name="T71" fmla="*/ 1 h 174"/>
                    <a:gd name="T72" fmla="*/ 1 w 187"/>
                    <a:gd name="T73" fmla="*/ 1 h 174"/>
                    <a:gd name="T74" fmla="*/ 1 w 187"/>
                    <a:gd name="T75" fmla="*/ 1 h 174"/>
                    <a:gd name="T76" fmla="*/ 1 w 187"/>
                    <a:gd name="T77" fmla="*/ 2 h 174"/>
                    <a:gd name="T78" fmla="*/ 0 w 187"/>
                    <a:gd name="T79" fmla="*/ 3 h 174"/>
                    <a:gd name="T80" fmla="*/ 0 w 187"/>
                    <a:gd name="T81" fmla="*/ 3 h 174"/>
                    <a:gd name="T82" fmla="*/ 0 w 187"/>
                    <a:gd name="T83" fmla="*/ 3 h 174"/>
                    <a:gd name="T84" fmla="*/ 0 w 187"/>
                    <a:gd name="T85" fmla="*/ 5 h 174"/>
                    <a:gd name="T86" fmla="*/ 0 w 187"/>
                    <a:gd name="T87" fmla="*/ 5 h 174"/>
                    <a:gd name="T88" fmla="*/ 0 w 187"/>
                    <a:gd name="T89" fmla="*/ 6 h 174"/>
                    <a:gd name="T90" fmla="*/ 0 w 187"/>
                    <a:gd name="T91" fmla="*/ 167 h 174"/>
                    <a:gd name="T92" fmla="*/ 0 w 187"/>
                    <a:gd name="T93" fmla="*/ 167 h 174"/>
                    <a:gd name="T94" fmla="*/ 0 w 187"/>
                    <a:gd name="T95" fmla="*/ 168 h 174"/>
                    <a:gd name="T96" fmla="*/ 0 w 187"/>
                    <a:gd name="T97" fmla="*/ 169 h 174"/>
                    <a:gd name="T98" fmla="*/ 0 w 187"/>
                    <a:gd name="T99" fmla="*/ 169 h 174"/>
                    <a:gd name="T100" fmla="*/ 0 w 187"/>
                    <a:gd name="T101" fmla="*/ 170 h 174"/>
                    <a:gd name="T102" fmla="*/ 1 w 187"/>
                    <a:gd name="T103" fmla="*/ 170 h 174"/>
                    <a:gd name="T104" fmla="*/ 1 w 187"/>
                    <a:gd name="T105" fmla="*/ 171 h 174"/>
                    <a:gd name="T106" fmla="*/ 1 w 187"/>
                    <a:gd name="T107" fmla="*/ 171 h 174"/>
                    <a:gd name="T108" fmla="*/ 2 w 187"/>
                    <a:gd name="T109" fmla="*/ 171 h 174"/>
                    <a:gd name="T110" fmla="*/ 2 w 187"/>
                    <a:gd name="T111" fmla="*/ 172 h 174"/>
                    <a:gd name="T112" fmla="*/ 2 w 187"/>
                    <a:gd name="T113" fmla="*/ 172 h 174"/>
                    <a:gd name="T114" fmla="*/ 3 w 187"/>
                    <a:gd name="T115" fmla="*/ 172 h 174"/>
                    <a:gd name="T116" fmla="*/ 3 w 187"/>
                    <a:gd name="T117" fmla="*/ 172 h 174"/>
                    <a:gd name="T118" fmla="*/ 4 w 187"/>
                    <a:gd name="T119" fmla="*/ 173 h 174"/>
                    <a:gd name="T120" fmla="*/ 5 w 187"/>
                    <a:gd name="T121" fmla="*/ 173 h 174"/>
                    <a:gd name="T122" fmla="*/ 180 w 187"/>
                    <a:gd name="T123" fmla="*/ 173 h 174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w 187"/>
                    <a:gd name="T187" fmla="*/ 0 h 174"/>
                    <a:gd name="T188" fmla="*/ 187 w 187"/>
                    <a:gd name="T189" fmla="*/ 174 h 174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T186" t="T187" r="T188" b="T189"/>
                  <a:pathLst>
                    <a:path w="187" h="174">
                      <a:moveTo>
                        <a:pt x="180" y="173"/>
                      </a:moveTo>
                      <a:lnTo>
                        <a:pt x="180" y="173"/>
                      </a:lnTo>
                      <a:lnTo>
                        <a:pt x="180" y="172"/>
                      </a:lnTo>
                      <a:lnTo>
                        <a:pt x="182" y="172"/>
                      </a:lnTo>
                      <a:lnTo>
                        <a:pt x="183" y="171"/>
                      </a:lnTo>
                      <a:lnTo>
                        <a:pt x="184" y="171"/>
                      </a:lnTo>
                      <a:lnTo>
                        <a:pt x="184" y="170"/>
                      </a:lnTo>
                      <a:lnTo>
                        <a:pt x="184" y="169"/>
                      </a:lnTo>
                      <a:lnTo>
                        <a:pt x="185" y="169"/>
                      </a:lnTo>
                      <a:lnTo>
                        <a:pt x="185" y="168"/>
                      </a:lnTo>
                      <a:lnTo>
                        <a:pt x="186" y="167"/>
                      </a:lnTo>
                      <a:lnTo>
                        <a:pt x="186" y="6"/>
                      </a:lnTo>
                      <a:lnTo>
                        <a:pt x="186" y="5"/>
                      </a:lnTo>
                      <a:lnTo>
                        <a:pt x="185" y="5"/>
                      </a:lnTo>
                      <a:lnTo>
                        <a:pt x="185" y="3"/>
                      </a:lnTo>
                      <a:lnTo>
                        <a:pt x="184" y="3"/>
                      </a:lnTo>
                      <a:lnTo>
                        <a:pt x="184" y="2"/>
                      </a:lnTo>
                      <a:lnTo>
                        <a:pt x="184" y="1"/>
                      </a:lnTo>
                      <a:lnTo>
                        <a:pt x="183" y="1"/>
                      </a:lnTo>
                      <a:lnTo>
                        <a:pt x="182" y="1"/>
                      </a:lnTo>
                      <a:lnTo>
                        <a:pt x="182" y="0"/>
                      </a:lnTo>
                      <a:lnTo>
                        <a:pt x="180" y="0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2" y="1"/>
                      </a:lnTo>
                      <a:lnTo>
                        <a:pt x="1" y="1"/>
                      </a:lnTo>
                      <a:lnTo>
                        <a:pt x="1" y="2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0" y="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0" y="169"/>
                      </a:lnTo>
                      <a:lnTo>
                        <a:pt x="0" y="170"/>
                      </a:lnTo>
                      <a:lnTo>
                        <a:pt x="1" y="170"/>
                      </a:lnTo>
                      <a:lnTo>
                        <a:pt x="1" y="171"/>
                      </a:lnTo>
                      <a:lnTo>
                        <a:pt x="2" y="171"/>
                      </a:lnTo>
                      <a:lnTo>
                        <a:pt x="2" y="172"/>
                      </a:lnTo>
                      <a:lnTo>
                        <a:pt x="3" y="172"/>
                      </a:lnTo>
                      <a:lnTo>
                        <a:pt x="4" y="173"/>
                      </a:lnTo>
                      <a:lnTo>
                        <a:pt x="5" y="173"/>
                      </a:lnTo>
                      <a:lnTo>
                        <a:pt x="180" y="173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77" name="Freeform 515"/>
                <p:cNvSpPr>
                  <a:spLocks/>
                </p:cNvSpPr>
                <p:nvPr/>
              </p:nvSpPr>
              <p:spPr bwMode="auto">
                <a:xfrm>
                  <a:off x="3855" y="1281"/>
                  <a:ext cx="186" cy="172"/>
                </a:xfrm>
                <a:custGeom>
                  <a:avLst/>
                  <a:gdLst>
                    <a:gd name="T0" fmla="*/ 185 w 186"/>
                    <a:gd name="T1" fmla="*/ 165 h 172"/>
                    <a:gd name="T2" fmla="*/ 185 w 186"/>
                    <a:gd name="T3" fmla="*/ 166 h 172"/>
                    <a:gd name="T4" fmla="*/ 185 w 186"/>
                    <a:gd name="T5" fmla="*/ 167 h 172"/>
                    <a:gd name="T6" fmla="*/ 184 w 186"/>
                    <a:gd name="T7" fmla="*/ 167 h 172"/>
                    <a:gd name="T8" fmla="*/ 184 w 186"/>
                    <a:gd name="T9" fmla="*/ 168 h 172"/>
                    <a:gd name="T10" fmla="*/ 183 w 186"/>
                    <a:gd name="T11" fmla="*/ 169 h 172"/>
                    <a:gd name="T12" fmla="*/ 183 w 186"/>
                    <a:gd name="T13" fmla="*/ 169 h 172"/>
                    <a:gd name="T14" fmla="*/ 182 w 186"/>
                    <a:gd name="T15" fmla="*/ 170 h 172"/>
                    <a:gd name="T16" fmla="*/ 182 w 186"/>
                    <a:gd name="T17" fmla="*/ 170 h 172"/>
                    <a:gd name="T18" fmla="*/ 181 w 186"/>
                    <a:gd name="T19" fmla="*/ 170 h 172"/>
                    <a:gd name="T20" fmla="*/ 181 w 186"/>
                    <a:gd name="T21" fmla="*/ 171 h 172"/>
                    <a:gd name="T22" fmla="*/ 180 w 186"/>
                    <a:gd name="T23" fmla="*/ 171 h 172"/>
                    <a:gd name="T24" fmla="*/ 179 w 186"/>
                    <a:gd name="T25" fmla="*/ 171 h 172"/>
                    <a:gd name="T26" fmla="*/ 4 w 186"/>
                    <a:gd name="T27" fmla="*/ 171 h 172"/>
                    <a:gd name="T28" fmla="*/ 3 w 186"/>
                    <a:gd name="T29" fmla="*/ 171 h 172"/>
                    <a:gd name="T30" fmla="*/ 3 w 186"/>
                    <a:gd name="T31" fmla="*/ 171 h 172"/>
                    <a:gd name="T32" fmla="*/ 3 w 186"/>
                    <a:gd name="T33" fmla="*/ 170 h 172"/>
                    <a:gd name="T34" fmla="*/ 2 w 186"/>
                    <a:gd name="T35" fmla="*/ 170 h 172"/>
                    <a:gd name="T36" fmla="*/ 2 w 186"/>
                    <a:gd name="T37" fmla="*/ 170 h 172"/>
                    <a:gd name="T38" fmla="*/ 1 w 186"/>
                    <a:gd name="T39" fmla="*/ 169 h 172"/>
                    <a:gd name="T40" fmla="*/ 1 w 186"/>
                    <a:gd name="T41" fmla="*/ 169 h 172"/>
                    <a:gd name="T42" fmla="*/ 0 w 186"/>
                    <a:gd name="T43" fmla="*/ 169 h 172"/>
                    <a:gd name="T44" fmla="*/ 0 w 186"/>
                    <a:gd name="T45" fmla="*/ 168 h 172"/>
                    <a:gd name="T46" fmla="*/ 0 w 186"/>
                    <a:gd name="T47" fmla="*/ 167 h 172"/>
                    <a:gd name="T48" fmla="*/ 0 w 186"/>
                    <a:gd name="T49" fmla="*/ 167 h 172"/>
                    <a:gd name="T50" fmla="*/ 0 w 186"/>
                    <a:gd name="T51" fmla="*/ 166 h 172"/>
                    <a:gd name="T52" fmla="*/ 0 w 186"/>
                    <a:gd name="T53" fmla="*/ 165 h 172"/>
                    <a:gd name="T54" fmla="*/ 0 w 186"/>
                    <a:gd name="T55" fmla="*/ 5 h 172"/>
                    <a:gd name="T56" fmla="*/ 0 w 186"/>
                    <a:gd name="T57" fmla="*/ 4 h 172"/>
                    <a:gd name="T58" fmla="*/ 0 w 186"/>
                    <a:gd name="T59" fmla="*/ 3 h 172"/>
                    <a:gd name="T60" fmla="*/ 0 w 186"/>
                    <a:gd name="T61" fmla="*/ 3 h 172"/>
                    <a:gd name="T62" fmla="*/ 0 w 186"/>
                    <a:gd name="T63" fmla="*/ 2 h 172"/>
                    <a:gd name="T64" fmla="*/ 0 w 186"/>
                    <a:gd name="T65" fmla="*/ 2 h 172"/>
                    <a:gd name="T66" fmla="*/ 1 w 186"/>
                    <a:gd name="T67" fmla="*/ 1 h 172"/>
                    <a:gd name="T68" fmla="*/ 1 w 186"/>
                    <a:gd name="T69" fmla="*/ 1 h 172"/>
                    <a:gd name="T70" fmla="*/ 2 w 186"/>
                    <a:gd name="T71" fmla="*/ 1 h 172"/>
                    <a:gd name="T72" fmla="*/ 2 w 186"/>
                    <a:gd name="T73" fmla="*/ 0 h 172"/>
                    <a:gd name="T74" fmla="*/ 2 w 186"/>
                    <a:gd name="T75" fmla="*/ 0 h 172"/>
                    <a:gd name="T76" fmla="*/ 3 w 186"/>
                    <a:gd name="T77" fmla="*/ 0 h 172"/>
                    <a:gd name="T78" fmla="*/ 3 w 186"/>
                    <a:gd name="T79" fmla="*/ 0 h 172"/>
                    <a:gd name="T80" fmla="*/ 4 w 186"/>
                    <a:gd name="T81" fmla="*/ 0 h 172"/>
                    <a:gd name="T82" fmla="*/ 179 w 186"/>
                    <a:gd name="T83" fmla="*/ 0 h 172"/>
                    <a:gd name="T84" fmla="*/ 180 w 186"/>
                    <a:gd name="T85" fmla="*/ 0 h 172"/>
                    <a:gd name="T86" fmla="*/ 181 w 186"/>
                    <a:gd name="T87" fmla="*/ 0 h 172"/>
                    <a:gd name="T88" fmla="*/ 181 w 186"/>
                    <a:gd name="T89" fmla="*/ 0 h 172"/>
                    <a:gd name="T90" fmla="*/ 182 w 186"/>
                    <a:gd name="T91" fmla="*/ 0 h 172"/>
                    <a:gd name="T92" fmla="*/ 182 w 186"/>
                    <a:gd name="T93" fmla="*/ 1 h 172"/>
                    <a:gd name="T94" fmla="*/ 183 w 186"/>
                    <a:gd name="T95" fmla="*/ 1 h 172"/>
                    <a:gd name="T96" fmla="*/ 183 w 186"/>
                    <a:gd name="T97" fmla="*/ 1 h 172"/>
                    <a:gd name="T98" fmla="*/ 183 w 186"/>
                    <a:gd name="T99" fmla="*/ 2 h 172"/>
                    <a:gd name="T100" fmla="*/ 184 w 186"/>
                    <a:gd name="T101" fmla="*/ 2 h 172"/>
                    <a:gd name="T102" fmla="*/ 184 w 186"/>
                    <a:gd name="T103" fmla="*/ 3 h 172"/>
                    <a:gd name="T104" fmla="*/ 185 w 186"/>
                    <a:gd name="T105" fmla="*/ 3 h 172"/>
                    <a:gd name="T106" fmla="*/ 185 w 186"/>
                    <a:gd name="T107" fmla="*/ 4 h 172"/>
                    <a:gd name="T108" fmla="*/ 185 w 186"/>
                    <a:gd name="T109" fmla="*/ 5 h 172"/>
                    <a:gd name="T110" fmla="*/ 185 w 186"/>
                    <a:gd name="T111" fmla="*/ 165 h 172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86"/>
                    <a:gd name="T169" fmla="*/ 0 h 172"/>
                    <a:gd name="T170" fmla="*/ 186 w 186"/>
                    <a:gd name="T171" fmla="*/ 172 h 172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86" h="172">
                      <a:moveTo>
                        <a:pt x="185" y="165"/>
                      </a:moveTo>
                      <a:lnTo>
                        <a:pt x="185" y="166"/>
                      </a:lnTo>
                      <a:lnTo>
                        <a:pt x="185" y="167"/>
                      </a:lnTo>
                      <a:lnTo>
                        <a:pt x="184" y="167"/>
                      </a:lnTo>
                      <a:lnTo>
                        <a:pt x="184" y="168"/>
                      </a:lnTo>
                      <a:lnTo>
                        <a:pt x="183" y="169"/>
                      </a:lnTo>
                      <a:lnTo>
                        <a:pt x="182" y="170"/>
                      </a:lnTo>
                      <a:lnTo>
                        <a:pt x="181" y="170"/>
                      </a:lnTo>
                      <a:lnTo>
                        <a:pt x="181" y="171"/>
                      </a:lnTo>
                      <a:lnTo>
                        <a:pt x="180" y="171"/>
                      </a:lnTo>
                      <a:lnTo>
                        <a:pt x="179" y="171"/>
                      </a:lnTo>
                      <a:lnTo>
                        <a:pt x="4" y="171"/>
                      </a:lnTo>
                      <a:lnTo>
                        <a:pt x="3" y="171"/>
                      </a:lnTo>
                      <a:lnTo>
                        <a:pt x="3" y="170"/>
                      </a:lnTo>
                      <a:lnTo>
                        <a:pt x="2" y="170"/>
                      </a:lnTo>
                      <a:lnTo>
                        <a:pt x="1" y="169"/>
                      </a:lnTo>
                      <a:lnTo>
                        <a:pt x="0" y="169"/>
                      </a:lnTo>
                      <a:lnTo>
                        <a:pt x="0" y="168"/>
                      </a:lnTo>
                      <a:lnTo>
                        <a:pt x="0" y="167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79" y="0"/>
                      </a:lnTo>
                      <a:lnTo>
                        <a:pt x="180" y="0"/>
                      </a:lnTo>
                      <a:lnTo>
                        <a:pt x="181" y="0"/>
                      </a:lnTo>
                      <a:lnTo>
                        <a:pt x="182" y="0"/>
                      </a:lnTo>
                      <a:lnTo>
                        <a:pt x="182" y="1"/>
                      </a:lnTo>
                      <a:lnTo>
                        <a:pt x="183" y="1"/>
                      </a:lnTo>
                      <a:lnTo>
                        <a:pt x="183" y="2"/>
                      </a:lnTo>
                      <a:lnTo>
                        <a:pt x="184" y="2"/>
                      </a:lnTo>
                      <a:lnTo>
                        <a:pt x="184" y="3"/>
                      </a:lnTo>
                      <a:lnTo>
                        <a:pt x="185" y="3"/>
                      </a:lnTo>
                      <a:lnTo>
                        <a:pt x="185" y="4"/>
                      </a:lnTo>
                      <a:lnTo>
                        <a:pt x="185" y="5"/>
                      </a:lnTo>
                      <a:lnTo>
                        <a:pt x="185" y="165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78" name="Freeform 516"/>
                <p:cNvSpPr>
                  <a:spLocks/>
                </p:cNvSpPr>
                <p:nvPr/>
              </p:nvSpPr>
              <p:spPr bwMode="auto">
                <a:xfrm>
                  <a:off x="3857" y="1281"/>
                  <a:ext cx="181" cy="171"/>
                </a:xfrm>
                <a:custGeom>
                  <a:avLst/>
                  <a:gdLst>
                    <a:gd name="T0" fmla="*/ 180 w 181"/>
                    <a:gd name="T1" fmla="*/ 3 h 171"/>
                    <a:gd name="T2" fmla="*/ 180 w 181"/>
                    <a:gd name="T3" fmla="*/ 3 h 171"/>
                    <a:gd name="T4" fmla="*/ 180 w 181"/>
                    <a:gd name="T5" fmla="*/ 2 h 171"/>
                    <a:gd name="T6" fmla="*/ 179 w 181"/>
                    <a:gd name="T7" fmla="*/ 2 h 171"/>
                    <a:gd name="T8" fmla="*/ 179 w 181"/>
                    <a:gd name="T9" fmla="*/ 1 h 171"/>
                    <a:gd name="T10" fmla="*/ 178 w 181"/>
                    <a:gd name="T11" fmla="*/ 1 h 171"/>
                    <a:gd name="T12" fmla="*/ 178 w 181"/>
                    <a:gd name="T13" fmla="*/ 0 h 171"/>
                    <a:gd name="T14" fmla="*/ 177 w 181"/>
                    <a:gd name="T15" fmla="*/ 0 h 171"/>
                    <a:gd name="T16" fmla="*/ 177 w 181"/>
                    <a:gd name="T17" fmla="*/ 0 h 171"/>
                    <a:gd name="T18" fmla="*/ 177 w 181"/>
                    <a:gd name="T19" fmla="*/ 0 h 171"/>
                    <a:gd name="T20" fmla="*/ 176 w 181"/>
                    <a:gd name="T21" fmla="*/ 0 h 171"/>
                    <a:gd name="T22" fmla="*/ 176 w 181"/>
                    <a:gd name="T23" fmla="*/ 0 h 171"/>
                    <a:gd name="T24" fmla="*/ 3 w 181"/>
                    <a:gd name="T25" fmla="*/ 0 h 171"/>
                    <a:gd name="T26" fmla="*/ 3 w 181"/>
                    <a:gd name="T27" fmla="*/ 0 h 171"/>
                    <a:gd name="T28" fmla="*/ 2 w 181"/>
                    <a:gd name="T29" fmla="*/ 0 h 171"/>
                    <a:gd name="T30" fmla="*/ 2 w 181"/>
                    <a:gd name="T31" fmla="*/ 0 h 171"/>
                    <a:gd name="T32" fmla="*/ 1 w 181"/>
                    <a:gd name="T33" fmla="*/ 0 h 171"/>
                    <a:gd name="T34" fmla="*/ 1 w 181"/>
                    <a:gd name="T35" fmla="*/ 0 h 171"/>
                    <a:gd name="T36" fmla="*/ 1 w 181"/>
                    <a:gd name="T37" fmla="*/ 1 h 171"/>
                    <a:gd name="T38" fmla="*/ 0 w 181"/>
                    <a:gd name="T39" fmla="*/ 1 h 171"/>
                    <a:gd name="T40" fmla="*/ 0 w 181"/>
                    <a:gd name="T41" fmla="*/ 1 h 171"/>
                    <a:gd name="T42" fmla="*/ 0 w 181"/>
                    <a:gd name="T43" fmla="*/ 2 h 171"/>
                    <a:gd name="T44" fmla="*/ 0 w 181"/>
                    <a:gd name="T45" fmla="*/ 3 h 171"/>
                    <a:gd name="T46" fmla="*/ 0 w 181"/>
                    <a:gd name="T47" fmla="*/ 3 h 171"/>
                    <a:gd name="T48" fmla="*/ 0 w 181"/>
                    <a:gd name="T49" fmla="*/ 166 h 171"/>
                    <a:gd name="T50" fmla="*/ 0 w 181"/>
                    <a:gd name="T51" fmla="*/ 166 h 171"/>
                    <a:gd name="T52" fmla="*/ 0 w 181"/>
                    <a:gd name="T53" fmla="*/ 167 h 171"/>
                    <a:gd name="T54" fmla="*/ 0 w 181"/>
                    <a:gd name="T55" fmla="*/ 168 h 171"/>
                    <a:gd name="T56" fmla="*/ 0 w 181"/>
                    <a:gd name="T57" fmla="*/ 168 h 171"/>
                    <a:gd name="T58" fmla="*/ 1 w 181"/>
                    <a:gd name="T59" fmla="*/ 168 h 171"/>
                    <a:gd name="T60" fmla="*/ 1 w 181"/>
                    <a:gd name="T61" fmla="*/ 169 h 171"/>
                    <a:gd name="T62" fmla="*/ 2 w 181"/>
                    <a:gd name="T63" fmla="*/ 169 h 171"/>
                    <a:gd name="T64" fmla="*/ 2 w 181"/>
                    <a:gd name="T65" fmla="*/ 169 h 171"/>
                    <a:gd name="T66" fmla="*/ 3 w 181"/>
                    <a:gd name="T67" fmla="*/ 170 h 171"/>
                    <a:gd name="T68" fmla="*/ 3 w 181"/>
                    <a:gd name="T69" fmla="*/ 170 h 171"/>
                    <a:gd name="T70" fmla="*/ 176 w 181"/>
                    <a:gd name="T71" fmla="*/ 170 h 171"/>
                    <a:gd name="T72" fmla="*/ 176 w 181"/>
                    <a:gd name="T73" fmla="*/ 169 h 171"/>
                    <a:gd name="T74" fmla="*/ 177 w 181"/>
                    <a:gd name="T75" fmla="*/ 169 h 171"/>
                    <a:gd name="T76" fmla="*/ 177 w 181"/>
                    <a:gd name="T77" fmla="*/ 169 h 171"/>
                    <a:gd name="T78" fmla="*/ 178 w 181"/>
                    <a:gd name="T79" fmla="*/ 169 h 171"/>
                    <a:gd name="T80" fmla="*/ 178 w 181"/>
                    <a:gd name="T81" fmla="*/ 168 h 171"/>
                    <a:gd name="T82" fmla="*/ 178 w 181"/>
                    <a:gd name="T83" fmla="*/ 168 h 171"/>
                    <a:gd name="T84" fmla="*/ 179 w 181"/>
                    <a:gd name="T85" fmla="*/ 168 h 171"/>
                    <a:gd name="T86" fmla="*/ 179 w 181"/>
                    <a:gd name="T87" fmla="*/ 167 h 171"/>
                    <a:gd name="T88" fmla="*/ 180 w 181"/>
                    <a:gd name="T89" fmla="*/ 166 h 171"/>
                    <a:gd name="T90" fmla="*/ 180 w 181"/>
                    <a:gd name="T91" fmla="*/ 166 h 171"/>
                    <a:gd name="T92" fmla="*/ 180 w 181"/>
                    <a:gd name="T93" fmla="*/ 3 h 171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w 181"/>
                    <a:gd name="T142" fmla="*/ 0 h 171"/>
                    <a:gd name="T143" fmla="*/ 181 w 181"/>
                    <a:gd name="T144" fmla="*/ 171 h 171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T141" t="T142" r="T143" b="T144"/>
                  <a:pathLst>
                    <a:path w="181" h="171">
                      <a:moveTo>
                        <a:pt x="180" y="3"/>
                      </a:moveTo>
                      <a:lnTo>
                        <a:pt x="180" y="3"/>
                      </a:lnTo>
                      <a:lnTo>
                        <a:pt x="180" y="2"/>
                      </a:lnTo>
                      <a:lnTo>
                        <a:pt x="179" y="2"/>
                      </a:lnTo>
                      <a:lnTo>
                        <a:pt x="179" y="1"/>
                      </a:lnTo>
                      <a:lnTo>
                        <a:pt x="178" y="1"/>
                      </a:lnTo>
                      <a:lnTo>
                        <a:pt x="178" y="0"/>
                      </a:lnTo>
                      <a:lnTo>
                        <a:pt x="177" y="0"/>
                      </a:lnTo>
                      <a:lnTo>
                        <a:pt x="17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16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1" y="169"/>
                      </a:lnTo>
                      <a:lnTo>
                        <a:pt x="2" y="169"/>
                      </a:lnTo>
                      <a:lnTo>
                        <a:pt x="3" y="170"/>
                      </a:lnTo>
                      <a:lnTo>
                        <a:pt x="176" y="170"/>
                      </a:lnTo>
                      <a:lnTo>
                        <a:pt x="176" y="169"/>
                      </a:lnTo>
                      <a:lnTo>
                        <a:pt x="177" y="169"/>
                      </a:lnTo>
                      <a:lnTo>
                        <a:pt x="178" y="169"/>
                      </a:lnTo>
                      <a:lnTo>
                        <a:pt x="178" y="168"/>
                      </a:lnTo>
                      <a:lnTo>
                        <a:pt x="179" y="168"/>
                      </a:lnTo>
                      <a:lnTo>
                        <a:pt x="179" y="167"/>
                      </a:lnTo>
                      <a:lnTo>
                        <a:pt x="180" y="166"/>
                      </a:lnTo>
                      <a:lnTo>
                        <a:pt x="180" y="3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79" name="Freeform 517"/>
                <p:cNvSpPr>
                  <a:spLocks/>
                </p:cNvSpPr>
                <p:nvPr/>
              </p:nvSpPr>
              <p:spPr bwMode="auto">
                <a:xfrm>
                  <a:off x="3858" y="1282"/>
                  <a:ext cx="180" cy="168"/>
                </a:xfrm>
                <a:custGeom>
                  <a:avLst/>
                  <a:gdLst>
                    <a:gd name="T0" fmla="*/ 179 w 180"/>
                    <a:gd name="T1" fmla="*/ 163 h 168"/>
                    <a:gd name="T2" fmla="*/ 179 w 180"/>
                    <a:gd name="T3" fmla="*/ 164 h 168"/>
                    <a:gd name="T4" fmla="*/ 178 w 180"/>
                    <a:gd name="T5" fmla="*/ 165 h 168"/>
                    <a:gd name="T6" fmla="*/ 178 w 180"/>
                    <a:gd name="T7" fmla="*/ 165 h 168"/>
                    <a:gd name="T8" fmla="*/ 177 w 180"/>
                    <a:gd name="T9" fmla="*/ 166 h 168"/>
                    <a:gd name="T10" fmla="*/ 177 w 180"/>
                    <a:gd name="T11" fmla="*/ 166 h 168"/>
                    <a:gd name="T12" fmla="*/ 176 w 180"/>
                    <a:gd name="T13" fmla="*/ 167 h 168"/>
                    <a:gd name="T14" fmla="*/ 176 w 180"/>
                    <a:gd name="T15" fmla="*/ 167 h 168"/>
                    <a:gd name="T16" fmla="*/ 2 w 180"/>
                    <a:gd name="T17" fmla="*/ 167 h 168"/>
                    <a:gd name="T18" fmla="*/ 2 w 180"/>
                    <a:gd name="T19" fmla="*/ 167 h 168"/>
                    <a:gd name="T20" fmla="*/ 1 w 180"/>
                    <a:gd name="T21" fmla="*/ 167 h 168"/>
                    <a:gd name="T22" fmla="*/ 1 w 180"/>
                    <a:gd name="T23" fmla="*/ 166 h 168"/>
                    <a:gd name="T24" fmla="*/ 1 w 180"/>
                    <a:gd name="T25" fmla="*/ 166 h 168"/>
                    <a:gd name="T26" fmla="*/ 0 w 180"/>
                    <a:gd name="T27" fmla="*/ 166 h 168"/>
                    <a:gd name="T28" fmla="*/ 0 w 180"/>
                    <a:gd name="T29" fmla="*/ 165 h 168"/>
                    <a:gd name="T30" fmla="*/ 0 w 180"/>
                    <a:gd name="T31" fmla="*/ 165 h 168"/>
                    <a:gd name="T32" fmla="*/ 0 w 180"/>
                    <a:gd name="T33" fmla="*/ 165 h 168"/>
                    <a:gd name="T34" fmla="*/ 0 w 180"/>
                    <a:gd name="T35" fmla="*/ 164 h 168"/>
                    <a:gd name="T36" fmla="*/ 0 w 180"/>
                    <a:gd name="T37" fmla="*/ 163 h 168"/>
                    <a:gd name="T38" fmla="*/ 0 w 180"/>
                    <a:gd name="T39" fmla="*/ 3 h 168"/>
                    <a:gd name="T40" fmla="*/ 0 w 180"/>
                    <a:gd name="T41" fmla="*/ 2 h 168"/>
                    <a:gd name="T42" fmla="*/ 0 w 180"/>
                    <a:gd name="T43" fmla="*/ 1 h 168"/>
                    <a:gd name="T44" fmla="*/ 0 w 180"/>
                    <a:gd name="T45" fmla="*/ 1 h 168"/>
                    <a:gd name="T46" fmla="*/ 0 w 180"/>
                    <a:gd name="T47" fmla="*/ 1 h 168"/>
                    <a:gd name="T48" fmla="*/ 1 w 180"/>
                    <a:gd name="T49" fmla="*/ 0 h 168"/>
                    <a:gd name="T50" fmla="*/ 1 w 180"/>
                    <a:gd name="T51" fmla="*/ 0 h 168"/>
                    <a:gd name="T52" fmla="*/ 2 w 180"/>
                    <a:gd name="T53" fmla="*/ 0 h 168"/>
                    <a:gd name="T54" fmla="*/ 2 w 180"/>
                    <a:gd name="T55" fmla="*/ 0 h 168"/>
                    <a:gd name="T56" fmla="*/ 176 w 180"/>
                    <a:gd name="T57" fmla="*/ 0 h 168"/>
                    <a:gd name="T58" fmla="*/ 176 w 180"/>
                    <a:gd name="T59" fmla="*/ 0 h 168"/>
                    <a:gd name="T60" fmla="*/ 176 w 180"/>
                    <a:gd name="T61" fmla="*/ 0 h 168"/>
                    <a:gd name="T62" fmla="*/ 177 w 180"/>
                    <a:gd name="T63" fmla="*/ 0 h 168"/>
                    <a:gd name="T64" fmla="*/ 177 w 180"/>
                    <a:gd name="T65" fmla="*/ 0 h 168"/>
                    <a:gd name="T66" fmla="*/ 177 w 180"/>
                    <a:gd name="T67" fmla="*/ 1 h 168"/>
                    <a:gd name="T68" fmla="*/ 178 w 180"/>
                    <a:gd name="T69" fmla="*/ 1 h 168"/>
                    <a:gd name="T70" fmla="*/ 178 w 180"/>
                    <a:gd name="T71" fmla="*/ 1 h 168"/>
                    <a:gd name="T72" fmla="*/ 179 w 180"/>
                    <a:gd name="T73" fmla="*/ 2 h 168"/>
                    <a:gd name="T74" fmla="*/ 179 w 180"/>
                    <a:gd name="T75" fmla="*/ 3 h 168"/>
                    <a:gd name="T76" fmla="*/ 179 w 180"/>
                    <a:gd name="T77" fmla="*/ 16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80"/>
                    <a:gd name="T118" fmla="*/ 0 h 168"/>
                    <a:gd name="T119" fmla="*/ 180 w 180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80" h="168">
                      <a:moveTo>
                        <a:pt x="179" y="163"/>
                      </a:moveTo>
                      <a:lnTo>
                        <a:pt x="179" y="164"/>
                      </a:lnTo>
                      <a:lnTo>
                        <a:pt x="178" y="165"/>
                      </a:lnTo>
                      <a:lnTo>
                        <a:pt x="177" y="166"/>
                      </a:lnTo>
                      <a:lnTo>
                        <a:pt x="176" y="167"/>
                      </a:lnTo>
                      <a:lnTo>
                        <a:pt x="2" y="167"/>
                      </a:lnTo>
                      <a:lnTo>
                        <a:pt x="1" y="167"/>
                      </a:lnTo>
                      <a:lnTo>
                        <a:pt x="1" y="166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164"/>
                      </a:lnTo>
                      <a:lnTo>
                        <a:pt x="0" y="163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2" y="0"/>
                      </a:lnTo>
                      <a:lnTo>
                        <a:pt x="176" y="0"/>
                      </a:lnTo>
                      <a:lnTo>
                        <a:pt x="177" y="0"/>
                      </a:lnTo>
                      <a:lnTo>
                        <a:pt x="177" y="1"/>
                      </a:lnTo>
                      <a:lnTo>
                        <a:pt x="178" y="1"/>
                      </a:lnTo>
                      <a:lnTo>
                        <a:pt x="179" y="2"/>
                      </a:lnTo>
                      <a:lnTo>
                        <a:pt x="179" y="3"/>
                      </a:lnTo>
                      <a:lnTo>
                        <a:pt x="179" y="163"/>
                      </a:lnTo>
                    </a:path>
                  </a:pathLst>
                </a:custGeom>
                <a:solidFill>
                  <a:srgbClr val="EFEFD1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80" name="Freeform 518"/>
                <p:cNvSpPr>
                  <a:spLocks/>
                </p:cNvSpPr>
                <p:nvPr/>
              </p:nvSpPr>
              <p:spPr bwMode="auto">
                <a:xfrm>
                  <a:off x="3877" y="1304"/>
                  <a:ext cx="142" cy="124"/>
                </a:xfrm>
                <a:custGeom>
                  <a:avLst/>
                  <a:gdLst>
                    <a:gd name="T0" fmla="*/ 0 w 142"/>
                    <a:gd name="T1" fmla="*/ 1 h 124"/>
                    <a:gd name="T2" fmla="*/ 1 w 142"/>
                    <a:gd name="T3" fmla="*/ 1 h 124"/>
                    <a:gd name="T4" fmla="*/ 1 w 142"/>
                    <a:gd name="T5" fmla="*/ 1 h 124"/>
                    <a:gd name="T6" fmla="*/ 2 w 142"/>
                    <a:gd name="T7" fmla="*/ 0 h 124"/>
                    <a:gd name="T8" fmla="*/ 2 w 142"/>
                    <a:gd name="T9" fmla="*/ 0 h 124"/>
                    <a:gd name="T10" fmla="*/ 3 w 142"/>
                    <a:gd name="T11" fmla="*/ 0 h 124"/>
                    <a:gd name="T12" fmla="*/ 3 w 142"/>
                    <a:gd name="T13" fmla="*/ 0 h 124"/>
                    <a:gd name="T14" fmla="*/ 4 w 142"/>
                    <a:gd name="T15" fmla="*/ 0 h 124"/>
                    <a:gd name="T16" fmla="*/ 135 w 142"/>
                    <a:gd name="T17" fmla="*/ 0 h 124"/>
                    <a:gd name="T18" fmla="*/ 136 w 142"/>
                    <a:gd name="T19" fmla="*/ 0 h 124"/>
                    <a:gd name="T20" fmla="*/ 137 w 142"/>
                    <a:gd name="T21" fmla="*/ 0 h 124"/>
                    <a:gd name="T22" fmla="*/ 137 w 142"/>
                    <a:gd name="T23" fmla="*/ 0 h 124"/>
                    <a:gd name="T24" fmla="*/ 138 w 142"/>
                    <a:gd name="T25" fmla="*/ 0 h 124"/>
                    <a:gd name="T26" fmla="*/ 138 w 142"/>
                    <a:gd name="T27" fmla="*/ 1 h 124"/>
                    <a:gd name="T28" fmla="*/ 139 w 142"/>
                    <a:gd name="T29" fmla="*/ 1 h 124"/>
                    <a:gd name="T30" fmla="*/ 139 w 142"/>
                    <a:gd name="T31" fmla="*/ 1 h 124"/>
                    <a:gd name="T32" fmla="*/ 140 w 142"/>
                    <a:gd name="T33" fmla="*/ 2 h 124"/>
                    <a:gd name="T34" fmla="*/ 140 w 142"/>
                    <a:gd name="T35" fmla="*/ 3 h 124"/>
                    <a:gd name="T36" fmla="*/ 141 w 142"/>
                    <a:gd name="T37" fmla="*/ 3 h 124"/>
                    <a:gd name="T38" fmla="*/ 141 w 142"/>
                    <a:gd name="T39" fmla="*/ 4 h 124"/>
                    <a:gd name="T40" fmla="*/ 141 w 142"/>
                    <a:gd name="T41" fmla="*/ 5 h 124"/>
                    <a:gd name="T42" fmla="*/ 141 w 142"/>
                    <a:gd name="T43" fmla="*/ 117 h 124"/>
                    <a:gd name="T44" fmla="*/ 141 w 142"/>
                    <a:gd name="T45" fmla="*/ 119 h 124"/>
                    <a:gd name="T46" fmla="*/ 140 w 142"/>
                    <a:gd name="T47" fmla="*/ 119 h 124"/>
                    <a:gd name="T48" fmla="*/ 140 w 142"/>
                    <a:gd name="T49" fmla="*/ 120 h 124"/>
                    <a:gd name="T50" fmla="*/ 139 w 142"/>
                    <a:gd name="T51" fmla="*/ 121 h 124"/>
                    <a:gd name="T52" fmla="*/ 139 w 142"/>
                    <a:gd name="T53" fmla="*/ 121 h 124"/>
                    <a:gd name="T54" fmla="*/ 138 w 142"/>
                    <a:gd name="T55" fmla="*/ 122 h 124"/>
                    <a:gd name="T56" fmla="*/ 138 w 142"/>
                    <a:gd name="T57" fmla="*/ 122 h 124"/>
                    <a:gd name="T58" fmla="*/ 137 w 142"/>
                    <a:gd name="T59" fmla="*/ 122 h 124"/>
                    <a:gd name="T60" fmla="*/ 137 w 142"/>
                    <a:gd name="T61" fmla="*/ 123 h 124"/>
                    <a:gd name="T62" fmla="*/ 136 w 142"/>
                    <a:gd name="T63" fmla="*/ 123 h 124"/>
                    <a:gd name="T64" fmla="*/ 135 w 142"/>
                    <a:gd name="T65" fmla="*/ 123 h 124"/>
                    <a:gd name="T66" fmla="*/ 4 w 142"/>
                    <a:gd name="T67" fmla="*/ 123 h 124"/>
                    <a:gd name="T68" fmla="*/ 3 w 142"/>
                    <a:gd name="T69" fmla="*/ 123 h 124"/>
                    <a:gd name="T70" fmla="*/ 3 w 142"/>
                    <a:gd name="T71" fmla="*/ 123 h 124"/>
                    <a:gd name="T72" fmla="*/ 2 w 142"/>
                    <a:gd name="T73" fmla="*/ 122 h 124"/>
                    <a:gd name="T74" fmla="*/ 2 w 142"/>
                    <a:gd name="T75" fmla="*/ 122 h 124"/>
                    <a:gd name="T76" fmla="*/ 1 w 142"/>
                    <a:gd name="T77" fmla="*/ 122 h 124"/>
                    <a:gd name="T78" fmla="*/ 1 w 142"/>
                    <a:gd name="T79" fmla="*/ 121 h 124"/>
                    <a:gd name="T80" fmla="*/ 0 w 142"/>
                    <a:gd name="T81" fmla="*/ 121 h 124"/>
                    <a:gd name="T82" fmla="*/ 0 w 142"/>
                    <a:gd name="T83" fmla="*/ 120 h 124"/>
                    <a:gd name="T84" fmla="*/ 0 w 142"/>
                    <a:gd name="T85" fmla="*/ 119 h 124"/>
                    <a:gd name="T86" fmla="*/ 0 w 142"/>
                    <a:gd name="T87" fmla="*/ 119 h 124"/>
                    <a:gd name="T88" fmla="*/ 0 w 142"/>
                    <a:gd name="T89" fmla="*/ 117 h 124"/>
                    <a:gd name="T90" fmla="*/ 0 w 142"/>
                    <a:gd name="T91" fmla="*/ 5 h 124"/>
                    <a:gd name="T92" fmla="*/ 0 w 142"/>
                    <a:gd name="T93" fmla="*/ 4 h 124"/>
                    <a:gd name="T94" fmla="*/ 0 w 142"/>
                    <a:gd name="T95" fmla="*/ 3 h 124"/>
                    <a:gd name="T96" fmla="*/ 0 w 142"/>
                    <a:gd name="T97" fmla="*/ 3 h 124"/>
                    <a:gd name="T98" fmla="*/ 0 w 142"/>
                    <a:gd name="T99" fmla="*/ 2 h 124"/>
                    <a:gd name="T100" fmla="*/ 0 w 142"/>
                    <a:gd name="T101" fmla="*/ 1 h 124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42"/>
                    <a:gd name="T154" fmla="*/ 0 h 124"/>
                    <a:gd name="T155" fmla="*/ 142 w 142"/>
                    <a:gd name="T156" fmla="*/ 124 h 124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42" h="124">
                      <a:moveTo>
                        <a:pt x="0" y="1"/>
                      </a:moveTo>
                      <a:lnTo>
                        <a:pt x="1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8" y="1"/>
                      </a:lnTo>
                      <a:lnTo>
                        <a:pt x="139" y="1"/>
                      </a:lnTo>
                      <a:lnTo>
                        <a:pt x="140" y="2"/>
                      </a:lnTo>
                      <a:lnTo>
                        <a:pt x="140" y="3"/>
                      </a:lnTo>
                      <a:lnTo>
                        <a:pt x="141" y="3"/>
                      </a:lnTo>
                      <a:lnTo>
                        <a:pt x="141" y="4"/>
                      </a:lnTo>
                      <a:lnTo>
                        <a:pt x="141" y="5"/>
                      </a:lnTo>
                      <a:lnTo>
                        <a:pt x="141" y="117"/>
                      </a:lnTo>
                      <a:lnTo>
                        <a:pt x="141" y="119"/>
                      </a:lnTo>
                      <a:lnTo>
                        <a:pt x="140" y="119"/>
                      </a:lnTo>
                      <a:lnTo>
                        <a:pt x="140" y="120"/>
                      </a:lnTo>
                      <a:lnTo>
                        <a:pt x="139" y="121"/>
                      </a:lnTo>
                      <a:lnTo>
                        <a:pt x="138" y="122"/>
                      </a:lnTo>
                      <a:lnTo>
                        <a:pt x="137" y="122"/>
                      </a:lnTo>
                      <a:lnTo>
                        <a:pt x="137" y="123"/>
                      </a:lnTo>
                      <a:lnTo>
                        <a:pt x="136" y="123"/>
                      </a:lnTo>
                      <a:lnTo>
                        <a:pt x="135" y="123"/>
                      </a:lnTo>
                      <a:lnTo>
                        <a:pt x="4" y="123"/>
                      </a:lnTo>
                      <a:lnTo>
                        <a:pt x="3" y="123"/>
                      </a:lnTo>
                      <a:lnTo>
                        <a:pt x="2" y="122"/>
                      </a:lnTo>
                      <a:lnTo>
                        <a:pt x="1" y="122"/>
                      </a:lnTo>
                      <a:lnTo>
                        <a:pt x="1" y="121"/>
                      </a:lnTo>
                      <a:lnTo>
                        <a:pt x="0" y="121"/>
                      </a:lnTo>
                      <a:lnTo>
                        <a:pt x="0" y="120"/>
                      </a:lnTo>
                      <a:lnTo>
                        <a:pt x="0" y="119"/>
                      </a:lnTo>
                      <a:lnTo>
                        <a:pt x="0" y="117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</a:path>
                  </a:pathLst>
                </a:custGeom>
                <a:gradFill rotWithShape="0">
                  <a:gsLst>
                    <a:gs pos="0">
                      <a:srgbClr val="1D2B4B"/>
                    </a:gs>
                    <a:gs pos="50000">
                      <a:srgbClr val="618FFD"/>
                    </a:gs>
                    <a:gs pos="100000">
                      <a:srgbClr val="1D2B4B"/>
                    </a:gs>
                  </a:gsLst>
                  <a:lin ang="2700000" scaled="1"/>
                </a:gra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81" name="Freeform 519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4 h 17"/>
                    <a:gd name="T2" fmla="*/ 151 w 153"/>
                    <a:gd name="T3" fmla="*/ 3 h 17"/>
                    <a:gd name="T4" fmla="*/ 151 w 153"/>
                    <a:gd name="T5" fmla="*/ 2 h 17"/>
                    <a:gd name="T6" fmla="*/ 150 w 153"/>
                    <a:gd name="T7" fmla="*/ 2 h 17"/>
                    <a:gd name="T8" fmla="*/ 150 w 153"/>
                    <a:gd name="T9" fmla="*/ 2 h 17"/>
                    <a:gd name="T10" fmla="*/ 150 w 153"/>
                    <a:gd name="T11" fmla="*/ 1 h 17"/>
                    <a:gd name="T12" fmla="*/ 149 w 153"/>
                    <a:gd name="T13" fmla="*/ 1 h 17"/>
                    <a:gd name="T14" fmla="*/ 149 w 153"/>
                    <a:gd name="T15" fmla="*/ 1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1 h 17"/>
                    <a:gd name="T32" fmla="*/ 1 w 153"/>
                    <a:gd name="T33" fmla="*/ 1 h 17"/>
                    <a:gd name="T34" fmla="*/ 0 w 153"/>
                    <a:gd name="T35" fmla="*/ 2 h 17"/>
                    <a:gd name="T36" fmla="*/ 0 w 153"/>
                    <a:gd name="T37" fmla="*/ 2 h 17"/>
                    <a:gd name="T38" fmla="*/ 0 w 153"/>
                    <a:gd name="T39" fmla="*/ 3 h 17"/>
                    <a:gd name="T40" fmla="*/ 6 w 153"/>
                    <a:gd name="T41" fmla="*/ 16 h 17"/>
                    <a:gd name="T42" fmla="*/ 7 w 153"/>
                    <a:gd name="T43" fmla="*/ 14 h 17"/>
                    <a:gd name="T44" fmla="*/ 7 w 153"/>
                    <a:gd name="T45" fmla="*/ 14 h 17"/>
                    <a:gd name="T46" fmla="*/ 8 w 153"/>
                    <a:gd name="T47" fmla="*/ 13 h 17"/>
                    <a:gd name="T48" fmla="*/ 8 w 153"/>
                    <a:gd name="T49" fmla="*/ 13 h 17"/>
                    <a:gd name="T50" fmla="*/ 8 w 153"/>
                    <a:gd name="T51" fmla="*/ 12 h 17"/>
                    <a:gd name="T52" fmla="*/ 9 w 153"/>
                    <a:gd name="T53" fmla="*/ 12 h 17"/>
                    <a:gd name="T54" fmla="*/ 10 w 153"/>
                    <a:gd name="T55" fmla="*/ 12 h 17"/>
                    <a:gd name="T56" fmla="*/ 140 w 153"/>
                    <a:gd name="T57" fmla="*/ 12 h 17"/>
                    <a:gd name="T58" fmla="*/ 141 w 153"/>
                    <a:gd name="T59" fmla="*/ 12 h 17"/>
                    <a:gd name="T60" fmla="*/ 142 w 153"/>
                    <a:gd name="T61" fmla="*/ 12 h 17"/>
                    <a:gd name="T62" fmla="*/ 142 w 153"/>
                    <a:gd name="T63" fmla="*/ 13 h 17"/>
                    <a:gd name="T64" fmla="*/ 143 w 153"/>
                    <a:gd name="T65" fmla="*/ 13 h 17"/>
                    <a:gd name="T66" fmla="*/ 143 w 153"/>
                    <a:gd name="T67" fmla="*/ 14 h 17"/>
                    <a:gd name="T68" fmla="*/ 143 w 153"/>
                    <a:gd name="T69" fmla="*/ 14 h 17"/>
                    <a:gd name="T70" fmla="*/ 144 w 153"/>
                    <a:gd name="T71" fmla="*/ 14 h 17"/>
                    <a:gd name="T72" fmla="*/ 152 w 153"/>
                    <a:gd name="T73" fmla="*/ 4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53"/>
                    <a:gd name="T112" fmla="*/ 0 h 17"/>
                    <a:gd name="T113" fmla="*/ 153 w 153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53" h="17">
                      <a:moveTo>
                        <a:pt x="152" y="4"/>
                      </a:moveTo>
                      <a:lnTo>
                        <a:pt x="151" y="3"/>
                      </a:lnTo>
                      <a:lnTo>
                        <a:pt x="151" y="2"/>
                      </a:lnTo>
                      <a:lnTo>
                        <a:pt x="150" y="2"/>
                      </a:lnTo>
                      <a:lnTo>
                        <a:pt x="150" y="1"/>
                      </a:lnTo>
                      <a:lnTo>
                        <a:pt x="149" y="1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6" y="16"/>
                      </a:lnTo>
                      <a:lnTo>
                        <a:pt x="7" y="14"/>
                      </a:lnTo>
                      <a:lnTo>
                        <a:pt x="8" y="13"/>
                      </a:lnTo>
                      <a:lnTo>
                        <a:pt x="8" y="12"/>
                      </a:lnTo>
                      <a:lnTo>
                        <a:pt x="9" y="12"/>
                      </a:lnTo>
                      <a:lnTo>
                        <a:pt x="10" y="12"/>
                      </a:lnTo>
                      <a:lnTo>
                        <a:pt x="140" y="12"/>
                      </a:lnTo>
                      <a:lnTo>
                        <a:pt x="141" y="12"/>
                      </a:lnTo>
                      <a:lnTo>
                        <a:pt x="142" y="12"/>
                      </a:lnTo>
                      <a:lnTo>
                        <a:pt x="142" y="13"/>
                      </a:lnTo>
                      <a:lnTo>
                        <a:pt x="143" y="13"/>
                      </a:lnTo>
                      <a:lnTo>
                        <a:pt x="143" y="14"/>
                      </a:lnTo>
                      <a:lnTo>
                        <a:pt x="144" y="14"/>
                      </a:lnTo>
                      <a:lnTo>
                        <a:pt x="152" y="4"/>
                      </a:lnTo>
                    </a:path>
                  </a:pathLst>
                </a:custGeom>
                <a:solidFill>
                  <a:srgbClr val="9F9FA2"/>
                </a:solidFill>
                <a:ln w="12700" cap="rnd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82" name="Freeform 520"/>
                <p:cNvSpPr>
                  <a:spLocks/>
                </p:cNvSpPr>
                <p:nvPr/>
              </p:nvSpPr>
              <p:spPr bwMode="auto">
                <a:xfrm>
                  <a:off x="3870" y="1299"/>
                  <a:ext cx="17" cy="135"/>
                </a:xfrm>
                <a:custGeom>
                  <a:avLst/>
                  <a:gdLst>
                    <a:gd name="T0" fmla="*/ 2 w 17"/>
                    <a:gd name="T1" fmla="*/ 0 h 135"/>
                    <a:gd name="T2" fmla="*/ 1 w 17"/>
                    <a:gd name="T3" fmla="*/ 0 h 135"/>
                    <a:gd name="T4" fmla="*/ 0 w 17"/>
                    <a:gd name="T5" fmla="*/ 1 h 135"/>
                    <a:gd name="T6" fmla="*/ 0 w 17"/>
                    <a:gd name="T7" fmla="*/ 2 h 135"/>
                    <a:gd name="T8" fmla="*/ 0 w 17"/>
                    <a:gd name="T9" fmla="*/ 2 h 135"/>
                    <a:gd name="T10" fmla="*/ 0 w 17"/>
                    <a:gd name="T11" fmla="*/ 3 h 135"/>
                    <a:gd name="T12" fmla="*/ 0 w 17"/>
                    <a:gd name="T13" fmla="*/ 4 h 135"/>
                    <a:gd name="T14" fmla="*/ 0 w 17"/>
                    <a:gd name="T15" fmla="*/ 130 h 135"/>
                    <a:gd name="T16" fmla="*/ 0 w 17"/>
                    <a:gd name="T17" fmla="*/ 130 h 135"/>
                    <a:gd name="T18" fmla="*/ 0 w 17"/>
                    <a:gd name="T19" fmla="*/ 131 h 135"/>
                    <a:gd name="T20" fmla="*/ 0 w 17"/>
                    <a:gd name="T21" fmla="*/ 132 h 135"/>
                    <a:gd name="T22" fmla="*/ 0 w 17"/>
                    <a:gd name="T23" fmla="*/ 132 h 135"/>
                    <a:gd name="T24" fmla="*/ 1 w 17"/>
                    <a:gd name="T25" fmla="*/ 133 h 135"/>
                    <a:gd name="T26" fmla="*/ 2 w 17"/>
                    <a:gd name="T27" fmla="*/ 133 h 135"/>
                    <a:gd name="T28" fmla="*/ 2 w 17"/>
                    <a:gd name="T29" fmla="*/ 134 h 135"/>
                    <a:gd name="T30" fmla="*/ 3 w 17"/>
                    <a:gd name="T31" fmla="*/ 134 h 135"/>
                    <a:gd name="T32" fmla="*/ 16 w 17"/>
                    <a:gd name="T33" fmla="*/ 127 h 135"/>
                    <a:gd name="T34" fmla="*/ 15 w 17"/>
                    <a:gd name="T35" fmla="*/ 126 h 135"/>
                    <a:gd name="T36" fmla="*/ 15 w 17"/>
                    <a:gd name="T37" fmla="*/ 126 h 135"/>
                    <a:gd name="T38" fmla="*/ 14 w 17"/>
                    <a:gd name="T39" fmla="*/ 126 h 135"/>
                    <a:gd name="T40" fmla="*/ 14 w 17"/>
                    <a:gd name="T41" fmla="*/ 125 h 135"/>
                    <a:gd name="T42" fmla="*/ 13 w 17"/>
                    <a:gd name="T43" fmla="*/ 124 h 135"/>
                    <a:gd name="T44" fmla="*/ 13 w 17"/>
                    <a:gd name="T45" fmla="*/ 124 h 135"/>
                    <a:gd name="T46" fmla="*/ 13 w 17"/>
                    <a:gd name="T47" fmla="*/ 10 h 135"/>
                    <a:gd name="T48" fmla="*/ 13 w 17"/>
                    <a:gd name="T49" fmla="*/ 9 h 135"/>
                    <a:gd name="T50" fmla="*/ 13 w 17"/>
                    <a:gd name="T51" fmla="*/ 8 h 135"/>
                    <a:gd name="T52" fmla="*/ 14 w 17"/>
                    <a:gd name="T53" fmla="*/ 8 h 135"/>
                    <a:gd name="T54" fmla="*/ 15 w 17"/>
                    <a:gd name="T55" fmla="*/ 7 h 135"/>
                    <a:gd name="T56" fmla="*/ 15 w 17"/>
                    <a:gd name="T57" fmla="*/ 6 h 135"/>
                    <a:gd name="T58" fmla="*/ 2 w 17"/>
                    <a:gd name="T59" fmla="*/ 0 h 135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w 17"/>
                    <a:gd name="T91" fmla="*/ 0 h 135"/>
                    <a:gd name="T92" fmla="*/ 17 w 17"/>
                    <a:gd name="T93" fmla="*/ 135 h 135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T90" t="T91" r="T92" b="T93"/>
                  <a:pathLst>
                    <a:path w="17" h="135">
                      <a:moveTo>
                        <a:pt x="2" y="0"/>
                      </a:moveTo>
                      <a:lnTo>
                        <a:pt x="1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0" y="130"/>
                      </a:lnTo>
                      <a:lnTo>
                        <a:pt x="0" y="131"/>
                      </a:lnTo>
                      <a:lnTo>
                        <a:pt x="0" y="132"/>
                      </a:lnTo>
                      <a:lnTo>
                        <a:pt x="1" y="133"/>
                      </a:lnTo>
                      <a:lnTo>
                        <a:pt x="2" y="133"/>
                      </a:lnTo>
                      <a:lnTo>
                        <a:pt x="2" y="134"/>
                      </a:lnTo>
                      <a:lnTo>
                        <a:pt x="3" y="134"/>
                      </a:lnTo>
                      <a:lnTo>
                        <a:pt x="16" y="127"/>
                      </a:lnTo>
                      <a:lnTo>
                        <a:pt x="15" y="126"/>
                      </a:lnTo>
                      <a:lnTo>
                        <a:pt x="14" y="126"/>
                      </a:lnTo>
                      <a:lnTo>
                        <a:pt x="14" y="125"/>
                      </a:lnTo>
                      <a:lnTo>
                        <a:pt x="13" y="124"/>
                      </a:lnTo>
                      <a:lnTo>
                        <a:pt x="13" y="10"/>
                      </a:lnTo>
                      <a:lnTo>
                        <a:pt x="13" y="9"/>
                      </a:lnTo>
                      <a:lnTo>
                        <a:pt x="13" y="8"/>
                      </a:lnTo>
                      <a:lnTo>
                        <a:pt x="14" y="8"/>
                      </a:lnTo>
                      <a:lnTo>
                        <a:pt x="15" y="7"/>
                      </a:lnTo>
                      <a:lnTo>
                        <a:pt x="15" y="6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666666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83" name="Freeform 521"/>
                <p:cNvSpPr>
                  <a:spLocks/>
                </p:cNvSpPr>
                <p:nvPr/>
              </p:nvSpPr>
              <p:spPr bwMode="auto">
                <a:xfrm>
                  <a:off x="3872" y="1300"/>
                  <a:ext cx="155" cy="136"/>
                </a:xfrm>
                <a:custGeom>
                  <a:avLst/>
                  <a:gdLst>
                    <a:gd name="T0" fmla="*/ 0 w 155"/>
                    <a:gd name="T1" fmla="*/ 133 h 136"/>
                    <a:gd name="T2" fmla="*/ 0 w 155"/>
                    <a:gd name="T3" fmla="*/ 134 h 136"/>
                    <a:gd name="T4" fmla="*/ 0 w 155"/>
                    <a:gd name="T5" fmla="*/ 134 h 136"/>
                    <a:gd name="T6" fmla="*/ 1 w 155"/>
                    <a:gd name="T7" fmla="*/ 134 h 136"/>
                    <a:gd name="T8" fmla="*/ 1 w 155"/>
                    <a:gd name="T9" fmla="*/ 134 h 136"/>
                    <a:gd name="T10" fmla="*/ 2 w 155"/>
                    <a:gd name="T11" fmla="*/ 135 h 136"/>
                    <a:gd name="T12" fmla="*/ 2 w 155"/>
                    <a:gd name="T13" fmla="*/ 135 h 136"/>
                    <a:gd name="T14" fmla="*/ 3 w 155"/>
                    <a:gd name="T15" fmla="*/ 135 h 136"/>
                    <a:gd name="T16" fmla="*/ 148 w 155"/>
                    <a:gd name="T17" fmla="*/ 135 h 136"/>
                    <a:gd name="T18" fmla="*/ 150 w 155"/>
                    <a:gd name="T19" fmla="*/ 134 h 136"/>
                    <a:gd name="T20" fmla="*/ 151 w 155"/>
                    <a:gd name="T21" fmla="*/ 134 h 136"/>
                    <a:gd name="T22" fmla="*/ 151 w 155"/>
                    <a:gd name="T23" fmla="*/ 133 h 136"/>
                    <a:gd name="T24" fmla="*/ 152 w 155"/>
                    <a:gd name="T25" fmla="*/ 133 h 136"/>
                    <a:gd name="T26" fmla="*/ 152 w 155"/>
                    <a:gd name="T27" fmla="*/ 133 h 136"/>
                    <a:gd name="T28" fmla="*/ 153 w 155"/>
                    <a:gd name="T29" fmla="*/ 132 h 136"/>
                    <a:gd name="T30" fmla="*/ 153 w 155"/>
                    <a:gd name="T31" fmla="*/ 131 h 136"/>
                    <a:gd name="T32" fmla="*/ 154 w 155"/>
                    <a:gd name="T33" fmla="*/ 131 h 136"/>
                    <a:gd name="T34" fmla="*/ 154 w 155"/>
                    <a:gd name="T35" fmla="*/ 129 h 136"/>
                    <a:gd name="T36" fmla="*/ 154 w 155"/>
                    <a:gd name="T37" fmla="*/ 129 h 136"/>
                    <a:gd name="T38" fmla="*/ 154 w 155"/>
                    <a:gd name="T39" fmla="*/ 3 h 136"/>
                    <a:gd name="T40" fmla="*/ 154 w 155"/>
                    <a:gd name="T41" fmla="*/ 2 h 136"/>
                    <a:gd name="T42" fmla="*/ 154 w 155"/>
                    <a:gd name="T43" fmla="*/ 1 h 136"/>
                    <a:gd name="T44" fmla="*/ 154 w 155"/>
                    <a:gd name="T45" fmla="*/ 1 h 136"/>
                    <a:gd name="T46" fmla="*/ 153 w 155"/>
                    <a:gd name="T47" fmla="*/ 1 h 136"/>
                    <a:gd name="T48" fmla="*/ 153 w 155"/>
                    <a:gd name="T49" fmla="*/ 0 h 136"/>
                    <a:gd name="T50" fmla="*/ 153 w 155"/>
                    <a:gd name="T51" fmla="*/ 0 h 136"/>
                    <a:gd name="T52" fmla="*/ 145 w 155"/>
                    <a:gd name="T53" fmla="*/ 5 h 136"/>
                    <a:gd name="T54" fmla="*/ 145 w 155"/>
                    <a:gd name="T55" fmla="*/ 5 h 136"/>
                    <a:gd name="T56" fmla="*/ 146 w 155"/>
                    <a:gd name="T57" fmla="*/ 6 h 136"/>
                    <a:gd name="T58" fmla="*/ 146 w 155"/>
                    <a:gd name="T59" fmla="*/ 7 h 136"/>
                    <a:gd name="T60" fmla="*/ 146 w 155"/>
                    <a:gd name="T61" fmla="*/ 7 h 136"/>
                    <a:gd name="T62" fmla="*/ 146 w 155"/>
                    <a:gd name="T63" fmla="*/ 7 h 136"/>
                    <a:gd name="T64" fmla="*/ 146 w 155"/>
                    <a:gd name="T65" fmla="*/ 8 h 136"/>
                    <a:gd name="T66" fmla="*/ 146 w 155"/>
                    <a:gd name="T67" fmla="*/ 9 h 136"/>
                    <a:gd name="T68" fmla="*/ 146 w 155"/>
                    <a:gd name="T69" fmla="*/ 9 h 136"/>
                    <a:gd name="T70" fmla="*/ 146 w 155"/>
                    <a:gd name="T71" fmla="*/ 123 h 136"/>
                    <a:gd name="T72" fmla="*/ 146 w 155"/>
                    <a:gd name="T73" fmla="*/ 123 h 136"/>
                    <a:gd name="T74" fmla="*/ 146 w 155"/>
                    <a:gd name="T75" fmla="*/ 124 h 136"/>
                    <a:gd name="T76" fmla="*/ 146 w 155"/>
                    <a:gd name="T77" fmla="*/ 125 h 136"/>
                    <a:gd name="T78" fmla="*/ 146 w 155"/>
                    <a:gd name="T79" fmla="*/ 125 h 136"/>
                    <a:gd name="T80" fmla="*/ 145 w 155"/>
                    <a:gd name="T81" fmla="*/ 126 h 136"/>
                    <a:gd name="T82" fmla="*/ 145 w 155"/>
                    <a:gd name="T83" fmla="*/ 127 h 136"/>
                    <a:gd name="T84" fmla="*/ 144 w 155"/>
                    <a:gd name="T85" fmla="*/ 127 h 136"/>
                    <a:gd name="T86" fmla="*/ 143 w 155"/>
                    <a:gd name="T87" fmla="*/ 127 h 136"/>
                    <a:gd name="T88" fmla="*/ 143 w 155"/>
                    <a:gd name="T89" fmla="*/ 128 h 136"/>
                    <a:gd name="T90" fmla="*/ 142 w 155"/>
                    <a:gd name="T91" fmla="*/ 128 h 136"/>
                    <a:gd name="T92" fmla="*/ 142 w 155"/>
                    <a:gd name="T93" fmla="*/ 128 h 136"/>
                    <a:gd name="T94" fmla="*/ 9 w 155"/>
                    <a:gd name="T95" fmla="*/ 128 h 136"/>
                    <a:gd name="T96" fmla="*/ 8 w 155"/>
                    <a:gd name="T97" fmla="*/ 128 h 136"/>
                    <a:gd name="T98" fmla="*/ 8 w 155"/>
                    <a:gd name="T99" fmla="*/ 128 h 136"/>
                    <a:gd name="T100" fmla="*/ 8 w 155"/>
                    <a:gd name="T101" fmla="*/ 127 h 136"/>
                    <a:gd name="T102" fmla="*/ 7 w 155"/>
                    <a:gd name="T103" fmla="*/ 127 h 136"/>
                    <a:gd name="T104" fmla="*/ 7 w 155"/>
                    <a:gd name="T105" fmla="*/ 127 h 136"/>
                    <a:gd name="T106" fmla="*/ 6 w 155"/>
                    <a:gd name="T107" fmla="*/ 127 h 136"/>
                    <a:gd name="T108" fmla="*/ 6 w 155"/>
                    <a:gd name="T109" fmla="*/ 127 h 136"/>
                    <a:gd name="T110" fmla="*/ 0 w 155"/>
                    <a:gd name="T111" fmla="*/ 133 h 1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55"/>
                    <a:gd name="T169" fmla="*/ 0 h 136"/>
                    <a:gd name="T170" fmla="*/ 155 w 155"/>
                    <a:gd name="T171" fmla="*/ 136 h 136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55" h="136">
                      <a:moveTo>
                        <a:pt x="0" y="133"/>
                      </a:moveTo>
                      <a:lnTo>
                        <a:pt x="0" y="134"/>
                      </a:lnTo>
                      <a:lnTo>
                        <a:pt x="1" y="134"/>
                      </a:lnTo>
                      <a:lnTo>
                        <a:pt x="2" y="135"/>
                      </a:lnTo>
                      <a:lnTo>
                        <a:pt x="3" y="135"/>
                      </a:lnTo>
                      <a:lnTo>
                        <a:pt x="148" y="135"/>
                      </a:lnTo>
                      <a:lnTo>
                        <a:pt x="150" y="134"/>
                      </a:lnTo>
                      <a:lnTo>
                        <a:pt x="151" y="134"/>
                      </a:lnTo>
                      <a:lnTo>
                        <a:pt x="151" y="133"/>
                      </a:lnTo>
                      <a:lnTo>
                        <a:pt x="152" y="133"/>
                      </a:lnTo>
                      <a:lnTo>
                        <a:pt x="153" y="132"/>
                      </a:lnTo>
                      <a:lnTo>
                        <a:pt x="153" y="131"/>
                      </a:lnTo>
                      <a:lnTo>
                        <a:pt x="154" y="131"/>
                      </a:lnTo>
                      <a:lnTo>
                        <a:pt x="154" y="129"/>
                      </a:lnTo>
                      <a:lnTo>
                        <a:pt x="154" y="3"/>
                      </a:lnTo>
                      <a:lnTo>
                        <a:pt x="154" y="2"/>
                      </a:lnTo>
                      <a:lnTo>
                        <a:pt x="154" y="1"/>
                      </a:lnTo>
                      <a:lnTo>
                        <a:pt x="153" y="1"/>
                      </a:lnTo>
                      <a:lnTo>
                        <a:pt x="153" y="0"/>
                      </a:lnTo>
                      <a:lnTo>
                        <a:pt x="145" y="5"/>
                      </a:lnTo>
                      <a:lnTo>
                        <a:pt x="146" y="6"/>
                      </a:lnTo>
                      <a:lnTo>
                        <a:pt x="146" y="7"/>
                      </a:lnTo>
                      <a:lnTo>
                        <a:pt x="146" y="8"/>
                      </a:lnTo>
                      <a:lnTo>
                        <a:pt x="146" y="9"/>
                      </a:lnTo>
                      <a:lnTo>
                        <a:pt x="146" y="123"/>
                      </a:lnTo>
                      <a:lnTo>
                        <a:pt x="146" y="124"/>
                      </a:lnTo>
                      <a:lnTo>
                        <a:pt x="146" y="125"/>
                      </a:lnTo>
                      <a:lnTo>
                        <a:pt x="145" y="126"/>
                      </a:lnTo>
                      <a:lnTo>
                        <a:pt x="145" y="127"/>
                      </a:lnTo>
                      <a:lnTo>
                        <a:pt x="144" y="127"/>
                      </a:lnTo>
                      <a:lnTo>
                        <a:pt x="143" y="127"/>
                      </a:lnTo>
                      <a:lnTo>
                        <a:pt x="143" y="128"/>
                      </a:lnTo>
                      <a:lnTo>
                        <a:pt x="142" y="128"/>
                      </a:lnTo>
                      <a:lnTo>
                        <a:pt x="9" y="128"/>
                      </a:lnTo>
                      <a:lnTo>
                        <a:pt x="8" y="128"/>
                      </a:lnTo>
                      <a:lnTo>
                        <a:pt x="8" y="127"/>
                      </a:lnTo>
                      <a:lnTo>
                        <a:pt x="7" y="127"/>
                      </a:lnTo>
                      <a:lnTo>
                        <a:pt x="6" y="127"/>
                      </a:lnTo>
                      <a:lnTo>
                        <a:pt x="0" y="133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84" name="Freeform 522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16 h 17"/>
                    <a:gd name="T2" fmla="*/ 151 w 153"/>
                    <a:gd name="T3" fmla="*/ 16 h 17"/>
                    <a:gd name="T4" fmla="*/ 151 w 153"/>
                    <a:gd name="T5" fmla="*/ 10 h 17"/>
                    <a:gd name="T6" fmla="*/ 150 w 153"/>
                    <a:gd name="T7" fmla="*/ 10 h 17"/>
                    <a:gd name="T8" fmla="*/ 150 w 153"/>
                    <a:gd name="T9" fmla="*/ 10 h 17"/>
                    <a:gd name="T10" fmla="*/ 150 w 153"/>
                    <a:gd name="T11" fmla="*/ 5 h 17"/>
                    <a:gd name="T12" fmla="*/ 149 w 153"/>
                    <a:gd name="T13" fmla="*/ 5 h 17"/>
                    <a:gd name="T14" fmla="*/ 149 w 153"/>
                    <a:gd name="T15" fmla="*/ 5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5 h 17"/>
                    <a:gd name="T32" fmla="*/ 1 w 153"/>
                    <a:gd name="T33" fmla="*/ 5 h 17"/>
                    <a:gd name="T34" fmla="*/ 0 w 153"/>
                    <a:gd name="T35" fmla="*/ 10 h 17"/>
                    <a:gd name="T36" fmla="*/ 0 w 153"/>
                    <a:gd name="T37" fmla="*/ 10 h 17"/>
                    <a:gd name="T38" fmla="*/ 0 w 153"/>
                    <a:gd name="T39" fmla="*/ 16 h 17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153"/>
                    <a:gd name="T61" fmla="*/ 0 h 17"/>
                    <a:gd name="T62" fmla="*/ 153 w 153"/>
                    <a:gd name="T63" fmla="*/ 17 h 17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153" h="17">
                      <a:moveTo>
                        <a:pt x="152" y="16"/>
                      </a:moveTo>
                      <a:lnTo>
                        <a:pt x="151" y="16"/>
                      </a:lnTo>
                      <a:lnTo>
                        <a:pt x="151" y="10"/>
                      </a:lnTo>
                      <a:lnTo>
                        <a:pt x="150" y="10"/>
                      </a:lnTo>
                      <a:lnTo>
                        <a:pt x="150" y="5"/>
                      </a:lnTo>
                      <a:lnTo>
                        <a:pt x="149" y="5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5"/>
                      </a:lnTo>
                      <a:lnTo>
                        <a:pt x="0" y="1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 cap="rnd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85" name="Freeform 523"/>
                <p:cNvSpPr>
                  <a:spLocks/>
                </p:cNvSpPr>
                <p:nvPr/>
              </p:nvSpPr>
              <p:spPr bwMode="auto">
                <a:xfrm>
                  <a:off x="3843" y="1489"/>
                  <a:ext cx="215" cy="72"/>
                </a:xfrm>
                <a:custGeom>
                  <a:avLst/>
                  <a:gdLst>
                    <a:gd name="T0" fmla="*/ 0 w 215"/>
                    <a:gd name="T1" fmla="*/ 71 h 72"/>
                    <a:gd name="T2" fmla="*/ 0 w 215"/>
                    <a:gd name="T3" fmla="*/ 0 h 72"/>
                    <a:gd name="T4" fmla="*/ 214 w 215"/>
                    <a:gd name="T5" fmla="*/ 0 h 72"/>
                    <a:gd name="T6" fmla="*/ 214 w 215"/>
                    <a:gd name="T7" fmla="*/ 71 h 72"/>
                    <a:gd name="T8" fmla="*/ 0 w 215"/>
                    <a:gd name="T9" fmla="*/ 71 h 7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15"/>
                    <a:gd name="T16" fmla="*/ 0 h 72"/>
                    <a:gd name="T17" fmla="*/ 215 w 215"/>
                    <a:gd name="T18" fmla="*/ 72 h 7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15" h="72">
                      <a:moveTo>
                        <a:pt x="0" y="71"/>
                      </a:moveTo>
                      <a:lnTo>
                        <a:pt x="0" y="0"/>
                      </a:lnTo>
                      <a:lnTo>
                        <a:pt x="214" y="0"/>
                      </a:lnTo>
                      <a:lnTo>
                        <a:pt x="214" y="71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86" name="Freeform 524"/>
                <p:cNvSpPr>
                  <a:spLocks/>
                </p:cNvSpPr>
                <p:nvPr/>
              </p:nvSpPr>
              <p:spPr bwMode="auto">
                <a:xfrm>
                  <a:off x="3841" y="1489"/>
                  <a:ext cx="219" cy="23"/>
                </a:xfrm>
                <a:custGeom>
                  <a:avLst/>
                  <a:gdLst>
                    <a:gd name="T0" fmla="*/ 79 w 219"/>
                    <a:gd name="T1" fmla="*/ 0 h 23"/>
                    <a:gd name="T2" fmla="*/ 0 w 219"/>
                    <a:gd name="T3" fmla="*/ 0 h 23"/>
                    <a:gd name="T4" fmla="*/ 0 w 219"/>
                    <a:gd name="T5" fmla="*/ 22 h 23"/>
                    <a:gd name="T6" fmla="*/ 218 w 219"/>
                    <a:gd name="T7" fmla="*/ 22 h 23"/>
                    <a:gd name="T8" fmla="*/ 215 w 219"/>
                    <a:gd name="T9" fmla="*/ 0 h 23"/>
                    <a:gd name="T10" fmla="*/ 137 w 219"/>
                    <a:gd name="T11" fmla="*/ 0 h 23"/>
                    <a:gd name="T12" fmla="*/ 79 w 219"/>
                    <a:gd name="T13" fmla="*/ 0 h 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19"/>
                    <a:gd name="T22" fmla="*/ 0 h 23"/>
                    <a:gd name="T23" fmla="*/ 219 w 219"/>
                    <a:gd name="T24" fmla="*/ 23 h 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9" h="23">
                      <a:moveTo>
                        <a:pt x="79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218" y="22"/>
                      </a:lnTo>
                      <a:lnTo>
                        <a:pt x="215" y="0"/>
                      </a:lnTo>
                      <a:lnTo>
                        <a:pt x="137" y="0"/>
                      </a:lnTo>
                      <a:lnTo>
                        <a:pt x="79" y="0"/>
                      </a:lnTo>
                    </a:path>
                  </a:pathLst>
                </a:custGeom>
                <a:solidFill>
                  <a:srgbClr val="EFEFD1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87" name="Freeform 525"/>
                <p:cNvSpPr>
                  <a:spLocks/>
                </p:cNvSpPr>
                <p:nvPr/>
              </p:nvSpPr>
              <p:spPr bwMode="auto">
                <a:xfrm>
                  <a:off x="3991" y="1495"/>
                  <a:ext cx="56" cy="17"/>
                </a:xfrm>
                <a:custGeom>
                  <a:avLst/>
                  <a:gdLst>
                    <a:gd name="T0" fmla="*/ 0 w 56"/>
                    <a:gd name="T1" fmla="*/ 6 h 17"/>
                    <a:gd name="T2" fmla="*/ 18 w 56"/>
                    <a:gd name="T3" fmla="*/ 6 h 17"/>
                    <a:gd name="T4" fmla="*/ 18 w 56"/>
                    <a:gd name="T5" fmla="*/ 0 h 17"/>
                    <a:gd name="T6" fmla="*/ 35 w 56"/>
                    <a:gd name="T7" fmla="*/ 0 h 17"/>
                    <a:gd name="T8" fmla="*/ 35 w 56"/>
                    <a:gd name="T9" fmla="*/ 6 h 17"/>
                    <a:gd name="T10" fmla="*/ 55 w 56"/>
                    <a:gd name="T11" fmla="*/ 6 h 17"/>
                    <a:gd name="T12" fmla="*/ 55 w 56"/>
                    <a:gd name="T13" fmla="*/ 10 h 17"/>
                    <a:gd name="T14" fmla="*/ 35 w 56"/>
                    <a:gd name="T15" fmla="*/ 10 h 17"/>
                    <a:gd name="T16" fmla="*/ 35 w 56"/>
                    <a:gd name="T17" fmla="*/ 16 h 17"/>
                    <a:gd name="T18" fmla="*/ 18 w 56"/>
                    <a:gd name="T19" fmla="*/ 16 h 17"/>
                    <a:gd name="T20" fmla="*/ 18 w 56"/>
                    <a:gd name="T21" fmla="*/ 10 h 17"/>
                    <a:gd name="T22" fmla="*/ 0 w 56"/>
                    <a:gd name="T23" fmla="*/ 10 h 17"/>
                    <a:gd name="T24" fmla="*/ 0 w 56"/>
                    <a:gd name="T25" fmla="*/ 6 h 17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56"/>
                    <a:gd name="T40" fmla="*/ 0 h 17"/>
                    <a:gd name="T41" fmla="*/ 56 w 56"/>
                    <a:gd name="T42" fmla="*/ 17 h 17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56" h="17">
                      <a:moveTo>
                        <a:pt x="0" y="6"/>
                      </a:moveTo>
                      <a:lnTo>
                        <a:pt x="18" y="6"/>
                      </a:lnTo>
                      <a:lnTo>
                        <a:pt x="18" y="0"/>
                      </a:lnTo>
                      <a:lnTo>
                        <a:pt x="35" y="0"/>
                      </a:lnTo>
                      <a:lnTo>
                        <a:pt x="35" y="6"/>
                      </a:lnTo>
                      <a:lnTo>
                        <a:pt x="55" y="6"/>
                      </a:lnTo>
                      <a:lnTo>
                        <a:pt x="55" y="10"/>
                      </a:lnTo>
                      <a:lnTo>
                        <a:pt x="35" y="10"/>
                      </a:lnTo>
                      <a:lnTo>
                        <a:pt x="35" y="16"/>
                      </a:lnTo>
                      <a:lnTo>
                        <a:pt x="18" y="16"/>
                      </a:lnTo>
                      <a:lnTo>
                        <a:pt x="18" y="10"/>
                      </a:lnTo>
                      <a:lnTo>
                        <a:pt x="0" y="10"/>
                      </a:lnTo>
                      <a:lnTo>
                        <a:pt x="0" y="6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88" name="Freeform 526"/>
                <p:cNvSpPr>
                  <a:spLocks/>
                </p:cNvSpPr>
                <p:nvPr/>
              </p:nvSpPr>
              <p:spPr bwMode="auto">
                <a:xfrm>
                  <a:off x="3991" y="1501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0 h 17"/>
                    <a:gd name="T4" fmla="*/ 16 w 17"/>
                    <a:gd name="T5" fmla="*/ 5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17"/>
                    <a:gd name="T14" fmla="*/ 17 w 17"/>
                    <a:gd name="T15" fmla="*/ 17 h 1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17">
                      <a:moveTo>
                        <a:pt x="0" y="16"/>
                      </a:moveTo>
                      <a:lnTo>
                        <a:pt x="16" y="10"/>
                      </a:lnTo>
                      <a:lnTo>
                        <a:pt x="16" y="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rnd">
                  <a:solidFill>
                    <a:srgbClr val="EFEFD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89" name="Freeform 527"/>
                <p:cNvSpPr>
                  <a:spLocks/>
                </p:cNvSpPr>
                <p:nvPr/>
              </p:nvSpPr>
              <p:spPr bwMode="auto">
                <a:xfrm>
                  <a:off x="4010" y="149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rnd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90" name="Freeform 528"/>
                <p:cNvSpPr>
                  <a:spLocks/>
                </p:cNvSpPr>
                <p:nvPr/>
              </p:nvSpPr>
              <p:spPr bwMode="auto">
                <a:xfrm>
                  <a:off x="4046" y="1504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rnd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91" name="Freeform 529"/>
                <p:cNvSpPr>
                  <a:spLocks/>
                </p:cNvSpPr>
                <p:nvPr/>
              </p:nvSpPr>
              <p:spPr bwMode="auto">
                <a:xfrm>
                  <a:off x="4027" y="1495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0 h 17"/>
                    <a:gd name="T4" fmla="*/ 0 w 17"/>
                    <a:gd name="T5" fmla="*/ 16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16"/>
                      </a:moveTo>
                      <a:lnTo>
                        <a:pt x="16" y="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 cap="rnd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92" name="Freeform 530"/>
                <p:cNvSpPr>
                  <a:spLocks/>
                </p:cNvSpPr>
                <p:nvPr/>
              </p:nvSpPr>
              <p:spPr bwMode="auto">
                <a:xfrm>
                  <a:off x="4011" y="1499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6 h 17"/>
                    <a:gd name="T4" fmla="*/ 16 w 17"/>
                    <a:gd name="T5" fmla="*/ 0 h 17"/>
                    <a:gd name="T6" fmla="*/ 0 w 17"/>
                    <a:gd name="T7" fmla="*/ 0 h 17"/>
                    <a:gd name="T8" fmla="*/ 0 w 17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16"/>
                      </a:moveTo>
                      <a:lnTo>
                        <a:pt x="16" y="16"/>
                      </a:lnTo>
                      <a:lnTo>
                        <a:pt x="16" y="0"/>
                      </a:lnTo>
                      <a:lnTo>
                        <a:pt x="0" y="0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F9FA2"/>
                </a:solidFill>
                <a:ln w="12700" cap="rnd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93" name="Freeform 531"/>
                <p:cNvSpPr>
                  <a:spLocks/>
                </p:cNvSpPr>
                <p:nvPr/>
              </p:nvSpPr>
              <p:spPr bwMode="auto">
                <a:xfrm>
                  <a:off x="3993" y="1502"/>
                  <a:ext cx="54" cy="17"/>
                </a:xfrm>
                <a:custGeom>
                  <a:avLst/>
                  <a:gdLst>
                    <a:gd name="T0" fmla="*/ 0 w 54"/>
                    <a:gd name="T1" fmla="*/ 0 h 17"/>
                    <a:gd name="T2" fmla="*/ 53 w 54"/>
                    <a:gd name="T3" fmla="*/ 0 h 17"/>
                    <a:gd name="T4" fmla="*/ 53 w 54"/>
                    <a:gd name="T5" fmla="*/ 16 h 17"/>
                    <a:gd name="T6" fmla="*/ 0 w 54"/>
                    <a:gd name="T7" fmla="*/ 16 h 17"/>
                    <a:gd name="T8" fmla="*/ 0 w 54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4"/>
                    <a:gd name="T16" fmla="*/ 0 h 17"/>
                    <a:gd name="T17" fmla="*/ 54 w 5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4" h="17">
                      <a:moveTo>
                        <a:pt x="0" y="0"/>
                      </a:moveTo>
                      <a:lnTo>
                        <a:pt x="53" y="0"/>
                      </a:lnTo>
                      <a:lnTo>
                        <a:pt x="53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94" name="Freeform 532"/>
                <p:cNvSpPr>
                  <a:spLocks/>
                </p:cNvSpPr>
                <p:nvPr/>
              </p:nvSpPr>
              <p:spPr bwMode="auto">
                <a:xfrm>
                  <a:off x="4010" y="1496"/>
                  <a:ext cx="19" cy="17"/>
                </a:xfrm>
                <a:custGeom>
                  <a:avLst/>
                  <a:gdLst>
                    <a:gd name="T0" fmla="*/ 18 w 19"/>
                    <a:gd name="T1" fmla="*/ 12 h 17"/>
                    <a:gd name="T2" fmla="*/ 17 w 19"/>
                    <a:gd name="T3" fmla="*/ 16 h 17"/>
                    <a:gd name="T4" fmla="*/ 17 w 19"/>
                    <a:gd name="T5" fmla="*/ 0 h 17"/>
                    <a:gd name="T6" fmla="*/ 0 w 19"/>
                    <a:gd name="T7" fmla="*/ 0 h 17"/>
                    <a:gd name="T8" fmla="*/ 0 w 19"/>
                    <a:gd name="T9" fmla="*/ 16 h 17"/>
                    <a:gd name="T10" fmla="*/ 0 w 19"/>
                    <a:gd name="T11" fmla="*/ 12 h 1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"/>
                    <a:gd name="T19" fmla="*/ 0 h 17"/>
                    <a:gd name="T20" fmla="*/ 19 w 19"/>
                    <a:gd name="T21" fmla="*/ 17 h 1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" h="17">
                      <a:moveTo>
                        <a:pt x="18" y="12"/>
                      </a:moveTo>
                      <a:lnTo>
                        <a:pt x="17" y="16"/>
                      </a:ln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6"/>
                      </a:lnTo>
                      <a:lnTo>
                        <a:pt x="0" y="12"/>
                      </a:lnTo>
                    </a:path>
                  </a:pathLst>
                </a:custGeom>
                <a:noFill/>
                <a:ln w="12700" cap="rnd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95" name="Freeform 533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16 w 17"/>
                    <a:gd name="T1" fmla="*/ 0 h 17"/>
                    <a:gd name="T2" fmla="*/ 16 w 17"/>
                    <a:gd name="T3" fmla="*/ 16 h 17"/>
                    <a:gd name="T4" fmla="*/ 0 w 17"/>
                    <a:gd name="T5" fmla="*/ 16 h 17"/>
                    <a:gd name="T6" fmla="*/ 0 w 17"/>
                    <a:gd name="T7" fmla="*/ 0 h 17"/>
                    <a:gd name="T8" fmla="*/ 16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16" y="0"/>
                      </a:move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  <a:lnTo>
                        <a:pt x="16" y="0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96" name="Freeform 534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97" name="Freeform 535"/>
                <p:cNvSpPr>
                  <a:spLocks/>
                </p:cNvSpPr>
                <p:nvPr/>
              </p:nvSpPr>
              <p:spPr bwMode="auto">
                <a:xfrm>
                  <a:off x="3930" y="1497"/>
                  <a:ext cx="44" cy="17"/>
                </a:xfrm>
                <a:custGeom>
                  <a:avLst/>
                  <a:gdLst>
                    <a:gd name="T0" fmla="*/ 14 w 44"/>
                    <a:gd name="T1" fmla="*/ 16 h 17"/>
                    <a:gd name="T2" fmla="*/ 0 w 44"/>
                    <a:gd name="T3" fmla="*/ 16 h 17"/>
                    <a:gd name="T4" fmla="*/ 0 w 44"/>
                    <a:gd name="T5" fmla="*/ 8 h 17"/>
                    <a:gd name="T6" fmla="*/ 14 w 44"/>
                    <a:gd name="T7" fmla="*/ 8 h 17"/>
                    <a:gd name="T8" fmla="*/ 14 w 44"/>
                    <a:gd name="T9" fmla="*/ 0 h 17"/>
                    <a:gd name="T10" fmla="*/ 28 w 44"/>
                    <a:gd name="T11" fmla="*/ 0 h 17"/>
                    <a:gd name="T12" fmla="*/ 28 w 44"/>
                    <a:gd name="T13" fmla="*/ 8 h 17"/>
                    <a:gd name="T14" fmla="*/ 43 w 44"/>
                    <a:gd name="T15" fmla="*/ 8 h 17"/>
                    <a:gd name="T16" fmla="*/ 43 w 44"/>
                    <a:gd name="T17" fmla="*/ 16 h 17"/>
                    <a:gd name="T18" fmla="*/ 28 w 44"/>
                    <a:gd name="T19" fmla="*/ 16 h 17"/>
                    <a:gd name="T20" fmla="*/ 14 w 44"/>
                    <a:gd name="T21" fmla="*/ 16 h 1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44"/>
                    <a:gd name="T34" fmla="*/ 0 h 17"/>
                    <a:gd name="T35" fmla="*/ 44 w 44"/>
                    <a:gd name="T36" fmla="*/ 17 h 17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44" h="17">
                      <a:moveTo>
                        <a:pt x="14" y="16"/>
                      </a:moveTo>
                      <a:lnTo>
                        <a:pt x="0" y="16"/>
                      </a:lnTo>
                      <a:lnTo>
                        <a:pt x="0" y="8"/>
                      </a:lnTo>
                      <a:lnTo>
                        <a:pt x="14" y="8"/>
                      </a:lnTo>
                      <a:lnTo>
                        <a:pt x="14" y="0"/>
                      </a:lnTo>
                      <a:lnTo>
                        <a:pt x="28" y="0"/>
                      </a:lnTo>
                      <a:lnTo>
                        <a:pt x="28" y="8"/>
                      </a:lnTo>
                      <a:lnTo>
                        <a:pt x="43" y="8"/>
                      </a:lnTo>
                      <a:lnTo>
                        <a:pt x="43" y="16"/>
                      </a:lnTo>
                      <a:lnTo>
                        <a:pt x="28" y="16"/>
                      </a:lnTo>
                      <a:lnTo>
                        <a:pt x="14" y="16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98" name="Freeform 536"/>
                <p:cNvSpPr>
                  <a:spLocks/>
                </p:cNvSpPr>
                <p:nvPr/>
              </p:nvSpPr>
              <p:spPr bwMode="auto">
                <a:xfrm>
                  <a:off x="3945" y="1497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99" name="Freeform 537"/>
                <p:cNvSpPr>
                  <a:spLocks/>
                </p:cNvSpPr>
                <p:nvPr/>
              </p:nvSpPr>
              <p:spPr bwMode="auto">
                <a:xfrm>
                  <a:off x="3897" y="1494"/>
                  <a:ext cx="20" cy="17"/>
                </a:xfrm>
                <a:custGeom>
                  <a:avLst/>
                  <a:gdLst>
                    <a:gd name="T0" fmla="*/ 5 w 20"/>
                    <a:gd name="T1" fmla="*/ 16 h 17"/>
                    <a:gd name="T2" fmla="*/ 3 w 20"/>
                    <a:gd name="T3" fmla="*/ 15 h 17"/>
                    <a:gd name="T4" fmla="*/ 2 w 20"/>
                    <a:gd name="T5" fmla="*/ 15 h 17"/>
                    <a:gd name="T6" fmla="*/ 1 w 20"/>
                    <a:gd name="T7" fmla="*/ 14 h 17"/>
                    <a:gd name="T8" fmla="*/ 1 w 20"/>
                    <a:gd name="T9" fmla="*/ 12 h 17"/>
                    <a:gd name="T10" fmla="*/ 0 w 20"/>
                    <a:gd name="T11" fmla="*/ 12 h 17"/>
                    <a:gd name="T12" fmla="*/ 0 w 20"/>
                    <a:gd name="T13" fmla="*/ 10 h 17"/>
                    <a:gd name="T14" fmla="*/ 0 w 20"/>
                    <a:gd name="T15" fmla="*/ 8 h 17"/>
                    <a:gd name="T16" fmla="*/ 0 w 20"/>
                    <a:gd name="T17" fmla="*/ 6 h 17"/>
                    <a:gd name="T18" fmla="*/ 0 w 20"/>
                    <a:gd name="T19" fmla="*/ 4 h 17"/>
                    <a:gd name="T20" fmla="*/ 0 w 20"/>
                    <a:gd name="T21" fmla="*/ 3 h 17"/>
                    <a:gd name="T22" fmla="*/ 1 w 20"/>
                    <a:gd name="T23" fmla="*/ 2 h 17"/>
                    <a:gd name="T24" fmla="*/ 2 w 20"/>
                    <a:gd name="T25" fmla="*/ 1 h 17"/>
                    <a:gd name="T26" fmla="*/ 3 w 20"/>
                    <a:gd name="T27" fmla="*/ 0 h 17"/>
                    <a:gd name="T28" fmla="*/ 4 w 20"/>
                    <a:gd name="T29" fmla="*/ 0 h 17"/>
                    <a:gd name="T30" fmla="*/ 5 w 20"/>
                    <a:gd name="T31" fmla="*/ 0 h 17"/>
                    <a:gd name="T32" fmla="*/ 12 w 20"/>
                    <a:gd name="T33" fmla="*/ 0 h 17"/>
                    <a:gd name="T34" fmla="*/ 13 w 20"/>
                    <a:gd name="T35" fmla="*/ 0 h 17"/>
                    <a:gd name="T36" fmla="*/ 15 w 20"/>
                    <a:gd name="T37" fmla="*/ 0 h 17"/>
                    <a:gd name="T38" fmla="*/ 16 w 20"/>
                    <a:gd name="T39" fmla="*/ 1 h 17"/>
                    <a:gd name="T40" fmla="*/ 17 w 20"/>
                    <a:gd name="T41" fmla="*/ 3 h 17"/>
                    <a:gd name="T42" fmla="*/ 17 w 20"/>
                    <a:gd name="T43" fmla="*/ 3 h 17"/>
                    <a:gd name="T44" fmla="*/ 18 w 20"/>
                    <a:gd name="T45" fmla="*/ 5 h 17"/>
                    <a:gd name="T46" fmla="*/ 18 w 20"/>
                    <a:gd name="T47" fmla="*/ 7 h 17"/>
                    <a:gd name="T48" fmla="*/ 18 w 20"/>
                    <a:gd name="T49" fmla="*/ 8 h 17"/>
                    <a:gd name="T50" fmla="*/ 18 w 20"/>
                    <a:gd name="T51" fmla="*/ 10 h 17"/>
                    <a:gd name="T52" fmla="*/ 17 w 20"/>
                    <a:gd name="T53" fmla="*/ 12 h 17"/>
                    <a:gd name="T54" fmla="*/ 16 w 20"/>
                    <a:gd name="T55" fmla="*/ 13 h 17"/>
                    <a:gd name="T56" fmla="*/ 15 w 20"/>
                    <a:gd name="T57" fmla="*/ 15 h 17"/>
                    <a:gd name="T58" fmla="*/ 13 w 20"/>
                    <a:gd name="T59" fmla="*/ 15 h 17"/>
                    <a:gd name="T60" fmla="*/ 13 w 20"/>
                    <a:gd name="T61" fmla="*/ 16 h 17"/>
                    <a:gd name="T62" fmla="*/ 12 w 20"/>
                    <a:gd name="T63" fmla="*/ 16 h 17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20"/>
                    <a:gd name="T97" fmla="*/ 0 h 17"/>
                    <a:gd name="T98" fmla="*/ 20 w 20"/>
                    <a:gd name="T99" fmla="*/ 17 h 17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20" h="17">
                      <a:moveTo>
                        <a:pt x="5" y="16"/>
                      </a:moveTo>
                      <a:lnTo>
                        <a:pt x="5" y="16"/>
                      </a:lnTo>
                      <a:lnTo>
                        <a:pt x="4" y="16"/>
                      </a:lnTo>
                      <a:lnTo>
                        <a:pt x="3" y="15"/>
                      </a:lnTo>
                      <a:lnTo>
                        <a:pt x="2" y="15"/>
                      </a:lnTo>
                      <a:lnTo>
                        <a:pt x="2" y="14"/>
                      </a:lnTo>
                      <a:lnTo>
                        <a:pt x="1" y="14"/>
                      </a:lnTo>
                      <a:lnTo>
                        <a:pt x="1" y="13"/>
                      </a:lnTo>
                      <a:lnTo>
                        <a:pt x="1" y="12"/>
                      </a:lnTo>
                      <a:lnTo>
                        <a:pt x="0" y="12"/>
                      </a:lnTo>
                      <a:lnTo>
                        <a:pt x="0" y="11"/>
                      </a:lnTo>
                      <a:lnTo>
                        <a:pt x="0" y="10"/>
                      </a:lnTo>
                      <a:lnTo>
                        <a:pt x="0" y="9"/>
                      </a:lnTo>
                      <a:lnTo>
                        <a:pt x="0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1" y="3"/>
                      </a:lnTo>
                      <a:lnTo>
                        <a:pt x="1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5" y="0"/>
                      </a:lnTo>
                      <a:lnTo>
                        <a:pt x="12" y="0"/>
                      </a:lnTo>
                      <a:lnTo>
                        <a:pt x="13" y="0"/>
                      </a:lnTo>
                      <a:lnTo>
                        <a:pt x="15" y="0"/>
                      </a:lnTo>
                      <a:lnTo>
                        <a:pt x="16" y="1"/>
                      </a:lnTo>
                      <a:lnTo>
                        <a:pt x="16" y="2"/>
                      </a:lnTo>
                      <a:lnTo>
                        <a:pt x="17" y="3"/>
                      </a:lnTo>
                      <a:lnTo>
                        <a:pt x="18" y="4"/>
                      </a:lnTo>
                      <a:lnTo>
                        <a:pt x="18" y="5"/>
                      </a:lnTo>
                      <a:lnTo>
                        <a:pt x="18" y="6"/>
                      </a:lnTo>
                      <a:lnTo>
                        <a:pt x="18" y="7"/>
                      </a:lnTo>
                      <a:lnTo>
                        <a:pt x="19" y="8"/>
                      </a:lnTo>
                      <a:lnTo>
                        <a:pt x="18" y="8"/>
                      </a:lnTo>
                      <a:lnTo>
                        <a:pt x="18" y="9"/>
                      </a:lnTo>
                      <a:lnTo>
                        <a:pt x="18" y="10"/>
                      </a:lnTo>
                      <a:lnTo>
                        <a:pt x="18" y="11"/>
                      </a:lnTo>
                      <a:lnTo>
                        <a:pt x="17" y="12"/>
                      </a:lnTo>
                      <a:lnTo>
                        <a:pt x="16" y="13"/>
                      </a:lnTo>
                      <a:lnTo>
                        <a:pt x="16" y="14"/>
                      </a:lnTo>
                      <a:lnTo>
                        <a:pt x="15" y="15"/>
                      </a:lnTo>
                      <a:lnTo>
                        <a:pt x="13" y="15"/>
                      </a:lnTo>
                      <a:lnTo>
                        <a:pt x="13" y="16"/>
                      </a:lnTo>
                      <a:lnTo>
                        <a:pt x="12" y="16"/>
                      </a:lnTo>
                      <a:lnTo>
                        <a:pt x="5" y="16"/>
                      </a:lnTo>
                    </a:path>
                  </a:pathLst>
                </a:custGeom>
                <a:solidFill>
                  <a:srgbClr val="666666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00" name="Freeform 538"/>
                <p:cNvSpPr>
                  <a:spLocks/>
                </p:cNvSpPr>
                <p:nvPr/>
              </p:nvSpPr>
              <p:spPr bwMode="auto">
                <a:xfrm>
                  <a:off x="3921" y="1489"/>
                  <a:ext cx="17" cy="38"/>
                </a:xfrm>
                <a:custGeom>
                  <a:avLst/>
                  <a:gdLst>
                    <a:gd name="T0" fmla="*/ 8 w 17"/>
                    <a:gd name="T1" fmla="*/ 0 h 38"/>
                    <a:gd name="T2" fmla="*/ 0 w 17"/>
                    <a:gd name="T3" fmla="*/ 22 h 38"/>
                    <a:gd name="T4" fmla="*/ 16 w 17"/>
                    <a:gd name="T5" fmla="*/ 22 h 38"/>
                    <a:gd name="T6" fmla="*/ 16 w 17"/>
                    <a:gd name="T7" fmla="*/ 37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38"/>
                    <a:gd name="T14" fmla="*/ 17 w 17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38">
                      <a:moveTo>
                        <a:pt x="8" y="0"/>
                      </a:moveTo>
                      <a:lnTo>
                        <a:pt x="0" y="22"/>
                      </a:lnTo>
                      <a:lnTo>
                        <a:pt x="16" y="22"/>
                      </a:lnTo>
                      <a:lnTo>
                        <a:pt x="16" y="37"/>
                      </a:lnTo>
                    </a:path>
                  </a:pathLst>
                </a:custGeom>
                <a:noFill/>
                <a:ln w="12700" cap="rnd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01" name="Freeform 539"/>
                <p:cNvSpPr>
                  <a:spLocks/>
                </p:cNvSpPr>
                <p:nvPr/>
              </p:nvSpPr>
              <p:spPr bwMode="auto">
                <a:xfrm>
                  <a:off x="3979" y="1489"/>
                  <a:ext cx="17" cy="72"/>
                </a:xfrm>
                <a:custGeom>
                  <a:avLst/>
                  <a:gdLst>
                    <a:gd name="T0" fmla="*/ 0 w 17"/>
                    <a:gd name="T1" fmla="*/ 0 h 72"/>
                    <a:gd name="T2" fmla="*/ 16 w 17"/>
                    <a:gd name="T3" fmla="*/ 22 h 72"/>
                    <a:gd name="T4" fmla="*/ 0 w 17"/>
                    <a:gd name="T5" fmla="*/ 22 h 72"/>
                    <a:gd name="T6" fmla="*/ 0 w 17"/>
                    <a:gd name="T7" fmla="*/ 71 h 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72"/>
                    <a:gd name="T14" fmla="*/ 17 w 17"/>
                    <a:gd name="T15" fmla="*/ 72 h 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72">
                      <a:moveTo>
                        <a:pt x="0" y="0"/>
                      </a:moveTo>
                      <a:lnTo>
                        <a:pt x="16" y="22"/>
                      </a:lnTo>
                      <a:lnTo>
                        <a:pt x="0" y="22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 cap="rnd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02" name="Freeform 540"/>
                <p:cNvSpPr>
                  <a:spLocks/>
                </p:cNvSpPr>
                <p:nvPr/>
              </p:nvSpPr>
              <p:spPr bwMode="auto">
                <a:xfrm>
                  <a:off x="3855" y="1532"/>
                  <a:ext cx="250" cy="41"/>
                </a:xfrm>
                <a:custGeom>
                  <a:avLst/>
                  <a:gdLst>
                    <a:gd name="T0" fmla="*/ 0 w 250"/>
                    <a:gd name="T1" fmla="*/ 40 h 41"/>
                    <a:gd name="T2" fmla="*/ 249 w 250"/>
                    <a:gd name="T3" fmla="*/ 40 h 41"/>
                    <a:gd name="T4" fmla="*/ 240 w 250"/>
                    <a:gd name="T5" fmla="*/ 0 h 41"/>
                    <a:gd name="T6" fmla="*/ 10 w 250"/>
                    <a:gd name="T7" fmla="*/ 0 h 41"/>
                    <a:gd name="T8" fmla="*/ 0 w 250"/>
                    <a:gd name="T9" fmla="*/ 40 h 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0"/>
                    <a:gd name="T16" fmla="*/ 0 h 41"/>
                    <a:gd name="T17" fmla="*/ 250 w 250"/>
                    <a:gd name="T18" fmla="*/ 41 h 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0" h="41">
                      <a:moveTo>
                        <a:pt x="0" y="40"/>
                      </a:moveTo>
                      <a:lnTo>
                        <a:pt x="249" y="40"/>
                      </a:lnTo>
                      <a:lnTo>
                        <a:pt x="240" y="0"/>
                      </a:lnTo>
                      <a:lnTo>
                        <a:pt x="10" y="0"/>
                      </a:lnTo>
                      <a:lnTo>
                        <a:pt x="0" y="40"/>
                      </a:lnTo>
                    </a:path>
                  </a:pathLst>
                </a:custGeom>
                <a:solidFill>
                  <a:srgbClr val="EFEFD1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03" name="Freeform 541"/>
                <p:cNvSpPr>
                  <a:spLocks/>
                </p:cNvSpPr>
                <p:nvPr/>
              </p:nvSpPr>
              <p:spPr bwMode="auto">
                <a:xfrm>
                  <a:off x="3855" y="1572"/>
                  <a:ext cx="251" cy="17"/>
                </a:xfrm>
                <a:custGeom>
                  <a:avLst/>
                  <a:gdLst>
                    <a:gd name="T0" fmla="*/ 0 w 251"/>
                    <a:gd name="T1" fmla="*/ 16 h 17"/>
                    <a:gd name="T2" fmla="*/ 0 w 251"/>
                    <a:gd name="T3" fmla="*/ 0 h 17"/>
                    <a:gd name="T4" fmla="*/ 249 w 251"/>
                    <a:gd name="T5" fmla="*/ 0 h 17"/>
                    <a:gd name="T6" fmla="*/ 250 w 251"/>
                    <a:gd name="T7" fmla="*/ 16 h 17"/>
                    <a:gd name="T8" fmla="*/ 0 w 251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1"/>
                    <a:gd name="T16" fmla="*/ 0 h 17"/>
                    <a:gd name="T17" fmla="*/ 251 w 251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1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249" y="0"/>
                      </a:lnTo>
                      <a:lnTo>
                        <a:pt x="250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CCCC6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04" name="Freeform 542"/>
                <p:cNvSpPr>
                  <a:spLocks/>
                </p:cNvSpPr>
                <p:nvPr/>
              </p:nvSpPr>
              <p:spPr bwMode="auto">
                <a:xfrm>
                  <a:off x="3872" y="1538"/>
                  <a:ext cx="223" cy="28"/>
                </a:xfrm>
                <a:custGeom>
                  <a:avLst/>
                  <a:gdLst>
                    <a:gd name="T0" fmla="*/ 0 w 223"/>
                    <a:gd name="T1" fmla="*/ 27 h 28"/>
                    <a:gd name="T2" fmla="*/ 222 w 223"/>
                    <a:gd name="T3" fmla="*/ 27 h 28"/>
                    <a:gd name="T4" fmla="*/ 214 w 223"/>
                    <a:gd name="T5" fmla="*/ 0 h 28"/>
                    <a:gd name="T6" fmla="*/ 8 w 223"/>
                    <a:gd name="T7" fmla="*/ 0 h 28"/>
                    <a:gd name="T8" fmla="*/ 0 w 223"/>
                    <a:gd name="T9" fmla="*/ 27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3"/>
                    <a:gd name="T16" fmla="*/ 0 h 28"/>
                    <a:gd name="T17" fmla="*/ 223 w 223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3" h="28">
                      <a:moveTo>
                        <a:pt x="0" y="27"/>
                      </a:moveTo>
                      <a:lnTo>
                        <a:pt x="222" y="27"/>
                      </a:lnTo>
                      <a:lnTo>
                        <a:pt x="214" y="0"/>
                      </a:lnTo>
                      <a:lnTo>
                        <a:pt x="8" y="0"/>
                      </a:lnTo>
                      <a:lnTo>
                        <a:pt x="0" y="27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6888" name="Group 543"/>
              <p:cNvGrpSpPr>
                <a:grpSpLocks/>
              </p:cNvGrpSpPr>
              <p:nvPr/>
            </p:nvGrpSpPr>
            <p:grpSpPr bwMode="auto">
              <a:xfrm>
                <a:off x="810" y="3877"/>
                <a:ext cx="248" cy="201"/>
                <a:chOff x="3840" y="1279"/>
                <a:chExt cx="266" cy="310"/>
              </a:xfrm>
            </p:grpSpPr>
            <p:sp>
              <p:nvSpPr>
                <p:cNvPr id="26893" name="Freeform 544"/>
                <p:cNvSpPr>
                  <a:spLocks/>
                </p:cNvSpPr>
                <p:nvPr/>
              </p:nvSpPr>
              <p:spPr bwMode="auto">
                <a:xfrm>
                  <a:off x="3848" y="1548"/>
                  <a:ext cx="206" cy="20"/>
                </a:xfrm>
                <a:custGeom>
                  <a:avLst/>
                  <a:gdLst>
                    <a:gd name="T0" fmla="*/ 0 w 206"/>
                    <a:gd name="T1" fmla="*/ 19 h 20"/>
                    <a:gd name="T2" fmla="*/ 0 w 206"/>
                    <a:gd name="T3" fmla="*/ 0 h 20"/>
                    <a:gd name="T4" fmla="*/ 205 w 206"/>
                    <a:gd name="T5" fmla="*/ 0 h 20"/>
                    <a:gd name="T6" fmla="*/ 205 w 206"/>
                    <a:gd name="T7" fmla="*/ 19 h 20"/>
                    <a:gd name="T8" fmla="*/ 0 w 206"/>
                    <a:gd name="T9" fmla="*/ 19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6"/>
                    <a:gd name="T16" fmla="*/ 0 h 20"/>
                    <a:gd name="T17" fmla="*/ 206 w 206"/>
                    <a:gd name="T18" fmla="*/ 20 h 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6" h="20">
                      <a:moveTo>
                        <a:pt x="0" y="19"/>
                      </a:moveTo>
                      <a:lnTo>
                        <a:pt x="0" y="0"/>
                      </a:lnTo>
                      <a:lnTo>
                        <a:pt x="205" y="0"/>
                      </a:lnTo>
                      <a:lnTo>
                        <a:pt x="205" y="19"/>
                      </a:lnTo>
                      <a:lnTo>
                        <a:pt x="0" y="19"/>
                      </a:lnTo>
                    </a:path>
                  </a:pathLst>
                </a:custGeom>
                <a:solidFill>
                  <a:srgbClr val="666666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894" name="Freeform 545"/>
                <p:cNvSpPr>
                  <a:spLocks/>
                </p:cNvSpPr>
                <p:nvPr/>
              </p:nvSpPr>
              <p:spPr bwMode="auto">
                <a:xfrm>
                  <a:off x="3840" y="1453"/>
                  <a:ext cx="220" cy="34"/>
                </a:xfrm>
                <a:custGeom>
                  <a:avLst/>
                  <a:gdLst>
                    <a:gd name="T0" fmla="*/ 189 w 220"/>
                    <a:gd name="T1" fmla="*/ 0 h 34"/>
                    <a:gd name="T2" fmla="*/ 219 w 220"/>
                    <a:gd name="T3" fmla="*/ 33 h 34"/>
                    <a:gd name="T4" fmla="*/ 0 w 220"/>
                    <a:gd name="T5" fmla="*/ 33 h 34"/>
                    <a:gd name="T6" fmla="*/ 29 w 220"/>
                    <a:gd name="T7" fmla="*/ 0 h 34"/>
                    <a:gd name="T8" fmla="*/ 189 w 220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34"/>
                    <a:gd name="T17" fmla="*/ 220 w 220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34">
                      <a:moveTo>
                        <a:pt x="189" y="0"/>
                      </a:moveTo>
                      <a:lnTo>
                        <a:pt x="219" y="33"/>
                      </a:lnTo>
                      <a:lnTo>
                        <a:pt x="0" y="33"/>
                      </a:lnTo>
                      <a:lnTo>
                        <a:pt x="29" y="0"/>
                      </a:lnTo>
                      <a:lnTo>
                        <a:pt x="189" y="0"/>
                      </a:lnTo>
                    </a:path>
                  </a:pathLst>
                </a:custGeom>
                <a:solidFill>
                  <a:srgbClr val="EFEFD1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895" name="Freeform 546"/>
                <p:cNvSpPr>
                  <a:spLocks/>
                </p:cNvSpPr>
                <p:nvPr/>
              </p:nvSpPr>
              <p:spPr bwMode="auto">
                <a:xfrm>
                  <a:off x="3897" y="1449"/>
                  <a:ext cx="104" cy="24"/>
                </a:xfrm>
                <a:custGeom>
                  <a:avLst/>
                  <a:gdLst>
                    <a:gd name="T0" fmla="*/ 102 w 104"/>
                    <a:gd name="T1" fmla="*/ 10 h 24"/>
                    <a:gd name="T2" fmla="*/ 101 w 104"/>
                    <a:gd name="T3" fmla="*/ 8 h 24"/>
                    <a:gd name="T4" fmla="*/ 97 w 104"/>
                    <a:gd name="T5" fmla="*/ 6 h 24"/>
                    <a:gd name="T6" fmla="*/ 93 w 104"/>
                    <a:gd name="T7" fmla="*/ 4 h 24"/>
                    <a:gd name="T8" fmla="*/ 87 w 104"/>
                    <a:gd name="T9" fmla="*/ 3 h 24"/>
                    <a:gd name="T10" fmla="*/ 80 w 104"/>
                    <a:gd name="T11" fmla="*/ 2 h 24"/>
                    <a:gd name="T12" fmla="*/ 72 w 104"/>
                    <a:gd name="T13" fmla="*/ 1 h 24"/>
                    <a:gd name="T14" fmla="*/ 64 w 104"/>
                    <a:gd name="T15" fmla="*/ 0 h 24"/>
                    <a:gd name="T16" fmla="*/ 55 w 104"/>
                    <a:gd name="T17" fmla="*/ 0 h 24"/>
                    <a:gd name="T18" fmla="*/ 46 w 104"/>
                    <a:gd name="T19" fmla="*/ 0 h 24"/>
                    <a:gd name="T20" fmla="*/ 37 w 104"/>
                    <a:gd name="T21" fmla="*/ 0 h 24"/>
                    <a:gd name="T22" fmla="*/ 29 w 104"/>
                    <a:gd name="T23" fmla="*/ 1 h 24"/>
                    <a:gd name="T24" fmla="*/ 21 w 104"/>
                    <a:gd name="T25" fmla="*/ 2 h 24"/>
                    <a:gd name="T26" fmla="*/ 14 w 104"/>
                    <a:gd name="T27" fmla="*/ 3 h 24"/>
                    <a:gd name="T28" fmla="*/ 8 w 104"/>
                    <a:gd name="T29" fmla="*/ 4 h 24"/>
                    <a:gd name="T30" fmla="*/ 4 w 104"/>
                    <a:gd name="T31" fmla="*/ 6 h 24"/>
                    <a:gd name="T32" fmla="*/ 1 w 104"/>
                    <a:gd name="T33" fmla="*/ 8 h 24"/>
                    <a:gd name="T34" fmla="*/ 0 w 104"/>
                    <a:gd name="T35" fmla="*/ 10 h 24"/>
                    <a:gd name="T36" fmla="*/ 0 w 104"/>
                    <a:gd name="T37" fmla="*/ 12 h 24"/>
                    <a:gd name="T38" fmla="*/ 1 w 104"/>
                    <a:gd name="T39" fmla="*/ 14 h 24"/>
                    <a:gd name="T40" fmla="*/ 4 w 104"/>
                    <a:gd name="T41" fmla="*/ 16 h 24"/>
                    <a:gd name="T42" fmla="*/ 8 w 104"/>
                    <a:gd name="T43" fmla="*/ 17 h 24"/>
                    <a:gd name="T44" fmla="*/ 14 w 104"/>
                    <a:gd name="T45" fmla="*/ 19 h 24"/>
                    <a:gd name="T46" fmla="*/ 21 w 104"/>
                    <a:gd name="T47" fmla="*/ 20 h 24"/>
                    <a:gd name="T48" fmla="*/ 29 w 104"/>
                    <a:gd name="T49" fmla="*/ 21 h 24"/>
                    <a:gd name="T50" fmla="*/ 37 w 104"/>
                    <a:gd name="T51" fmla="*/ 22 h 24"/>
                    <a:gd name="T52" fmla="*/ 46 w 104"/>
                    <a:gd name="T53" fmla="*/ 23 h 24"/>
                    <a:gd name="T54" fmla="*/ 55 w 104"/>
                    <a:gd name="T55" fmla="*/ 23 h 24"/>
                    <a:gd name="T56" fmla="*/ 64 w 104"/>
                    <a:gd name="T57" fmla="*/ 22 h 24"/>
                    <a:gd name="T58" fmla="*/ 72 w 104"/>
                    <a:gd name="T59" fmla="*/ 21 h 24"/>
                    <a:gd name="T60" fmla="*/ 80 w 104"/>
                    <a:gd name="T61" fmla="*/ 20 h 24"/>
                    <a:gd name="T62" fmla="*/ 87 w 104"/>
                    <a:gd name="T63" fmla="*/ 19 h 24"/>
                    <a:gd name="T64" fmla="*/ 93 w 104"/>
                    <a:gd name="T65" fmla="*/ 17 h 24"/>
                    <a:gd name="T66" fmla="*/ 97 w 104"/>
                    <a:gd name="T67" fmla="*/ 16 h 24"/>
                    <a:gd name="T68" fmla="*/ 101 w 104"/>
                    <a:gd name="T69" fmla="*/ 14 h 24"/>
                    <a:gd name="T70" fmla="*/ 102 w 104"/>
                    <a:gd name="T71" fmla="*/ 12 h 24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104"/>
                    <a:gd name="T109" fmla="*/ 0 h 24"/>
                    <a:gd name="T110" fmla="*/ 104 w 104"/>
                    <a:gd name="T111" fmla="*/ 24 h 24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104" h="24">
                      <a:moveTo>
                        <a:pt x="103" y="11"/>
                      </a:moveTo>
                      <a:lnTo>
                        <a:pt x="102" y="10"/>
                      </a:lnTo>
                      <a:lnTo>
                        <a:pt x="102" y="9"/>
                      </a:lnTo>
                      <a:lnTo>
                        <a:pt x="101" y="8"/>
                      </a:lnTo>
                      <a:lnTo>
                        <a:pt x="99" y="7"/>
                      </a:lnTo>
                      <a:lnTo>
                        <a:pt x="97" y="6"/>
                      </a:lnTo>
                      <a:lnTo>
                        <a:pt x="95" y="6"/>
                      </a:lnTo>
                      <a:lnTo>
                        <a:pt x="93" y="4"/>
                      </a:lnTo>
                      <a:lnTo>
                        <a:pt x="90" y="4"/>
                      </a:lnTo>
                      <a:lnTo>
                        <a:pt x="87" y="3"/>
                      </a:lnTo>
                      <a:lnTo>
                        <a:pt x="84" y="2"/>
                      </a:lnTo>
                      <a:lnTo>
                        <a:pt x="80" y="2"/>
                      </a:lnTo>
                      <a:lnTo>
                        <a:pt x="76" y="1"/>
                      </a:lnTo>
                      <a:lnTo>
                        <a:pt x="72" y="1"/>
                      </a:lnTo>
                      <a:lnTo>
                        <a:pt x="69" y="0"/>
                      </a:lnTo>
                      <a:lnTo>
                        <a:pt x="64" y="0"/>
                      </a:lnTo>
                      <a:lnTo>
                        <a:pt x="60" y="0"/>
                      </a:lnTo>
                      <a:lnTo>
                        <a:pt x="55" y="0"/>
                      </a:lnTo>
                      <a:lnTo>
                        <a:pt x="51" y="0"/>
                      </a:lnTo>
                      <a:lnTo>
                        <a:pt x="46" y="0"/>
                      </a:lnTo>
                      <a:lnTo>
                        <a:pt x="42" y="0"/>
                      </a:lnTo>
                      <a:lnTo>
                        <a:pt x="37" y="0"/>
                      </a:lnTo>
                      <a:lnTo>
                        <a:pt x="33" y="0"/>
                      </a:lnTo>
                      <a:lnTo>
                        <a:pt x="29" y="1"/>
                      </a:lnTo>
                      <a:lnTo>
                        <a:pt x="25" y="1"/>
                      </a:lnTo>
                      <a:lnTo>
                        <a:pt x="21" y="2"/>
                      </a:lnTo>
                      <a:lnTo>
                        <a:pt x="17" y="2"/>
                      </a:lnTo>
                      <a:lnTo>
                        <a:pt x="14" y="3"/>
                      </a:lnTo>
                      <a:lnTo>
                        <a:pt x="12" y="4"/>
                      </a:lnTo>
                      <a:lnTo>
                        <a:pt x="8" y="4"/>
                      </a:lnTo>
                      <a:lnTo>
                        <a:pt x="6" y="6"/>
                      </a:lnTo>
                      <a:lnTo>
                        <a:pt x="4" y="6"/>
                      </a:lnTo>
                      <a:lnTo>
                        <a:pt x="3" y="7"/>
                      </a:lnTo>
                      <a:lnTo>
                        <a:pt x="1" y="8"/>
                      </a:lnTo>
                      <a:lnTo>
                        <a:pt x="0" y="9"/>
                      </a:lnTo>
                      <a:lnTo>
                        <a:pt x="0" y="10"/>
                      </a:lnTo>
                      <a:lnTo>
                        <a:pt x="0" y="11"/>
                      </a:lnTo>
                      <a:lnTo>
                        <a:pt x="0" y="12"/>
                      </a:lnTo>
                      <a:lnTo>
                        <a:pt x="0" y="13"/>
                      </a:lnTo>
                      <a:lnTo>
                        <a:pt x="1" y="14"/>
                      </a:lnTo>
                      <a:lnTo>
                        <a:pt x="3" y="15"/>
                      </a:lnTo>
                      <a:lnTo>
                        <a:pt x="4" y="16"/>
                      </a:lnTo>
                      <a:lnTo>
                        <a:pt x="6" y="17"/>
                      </a:lnTo>
                      <a:lnTo>
                        <a:pt x="8" y="17"/>
                      </a:lnTo>
                      <a:lnTo>
                        <a:pt x="12" y="18"/>
                      </a:lnTo>
                      <a:lnTo>
                        <a:pt x="14" y="19"/>
                      </a:lnTo>
                      <a:lnTo>
                        <a:pt x="17" y="20"/>
                      </a:lnTo>
                      <a:lnTo>
                        <a:pt x="21" y="20"/>
                      </a:lnTo>
                      <a:lnTo>
                        <a:pt x="25" y="21"/>
                      </a:lnTo>
                      <a:lnTo>
                        <a:pt x="29" y="21"/>
                      </a:lnTo>
                      <a:lnTo>
                        <a:pt x="33" y="22"/>
                      </a:lnTo>
                      <a:lnTo>
                        <a:pt x="37" y="22"/>
                      </a:lnTo>
                      <a:lnTo>
                        <a:pt x="42" y="22"/>
                      </a:lnTo>
                      <a:lnTo>
                        <a:pt x="46" y="23"/>
                      </a:lnTo>
                      <a:lnTo>
                        <a:pt x="51" y="23"/>
                      </a:lnTo>
                      <a:lnTo>
                        <a:pt x="55" y="23"/>
                      </a:lnTo>
                      <a:lnTo>
                        <a:pt x="60" y="22"/>
                      </a:lnTo>
                      <a:lnTo>
                        <a:pt x="64" y="22"/>
                      </a:lnTo>
                      <a:lnTo>
                        <a:pt x="69" y="22"/>
                      </a:lnTo>
                      <a:lnTo>
                        <a:pt x="72" y="21"/>
                      </a:lnTo>
                      <a:lnTo>
                        <a:pt x="76" y="21"/>
                      </a:lnTo>
                      <a:lnTo>
                        <a:pt x="80" y="20"/>
                      </a:lnTo>
                      <a:lnTo>
                        <a:pt x="84" y="20"/>
                      </a:lnTo>
                      <a:lnTo>
                        <a:pt x="87" y="19"/>
                      </a:lnTo>
                      <a:lnTo>
                        <a:pt x="90" y="18"/>
                      </a:lnTo>
                      <a:lnTo>
                        <a:pt x="93" y="17"/>
                      </a:lnTo>
                      <a:lnTo>
                        <a:pt x="95" y="17"/>
                      </a:lnTo>
                      <a:lnTo>
                        <a:pt x="97" y="16"/>
                      </a:lnTo>
                      <a:lnTo>
                        <a:pt x="99" y="15"/>
                      </a:lnTo>
                      <a:lnTo>
                        <a:pt x="101" y="14"/>
                      </a:lnTo>
                      <a:lnTo>
                        <a:pt x="102" y="13"/>
                      </a:lnTo>
                      <a:lnTo>
                        <a:pt x="102" y="12"/>
                      </a:lnTo>
                      <a:lnTo>
                        <a:pt x="103" y="11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896" name="Freeform 547"/>
                <p:cNvSpPr>
                  <a:spLocks/>
                </p:cNvSpPr>
                <p:nvPr/>
              </p:nvSpPr>
              <p:spPr bwMode="auto">
                <a:xfrm>
                  <a:off x="3897" y="1461"/>
                  <a:ext cx="104" cy="17"/>
                </a:xfrm>
                <a:custGeom>
                  <a:avLst/>
                  <a:gdLst>
                    <a:gd name="T0" fmla="*/ 102 w 104"/>
                    <a:gd name="T1" fmla="*/ 6 h 17"/>
                    <a:gd name="T2" fmla="*/ 101 w 104"/>
                    <a:gd name="T3" fmla="*/ 8 h 17"/>
                    <a:gd name="T4" fmla="*/ 97 w 104"/>
                    <a:gd name="T5" fmla="*/ 10 h 17"/>
                    <a:gd name="T6" fmla="*/ 93 w 104"/>
                    <a:gd name="T7" fmla="*/ 11 h 17"/>
                    <a:gd name="T8" fmla="*/ 87 w 104"/>
                    <a:gd name="T9" fmla="*/ 12 h 17"/>
                    <a:gd name="T10" fmla="*/ 80 w 104"/>
                    <a:gd name="T11" fmla="*/ 14 h 17"/>
                    <a:gd name="T12" fmla="*/ 72 w 104"/>
                    <a:gd name="T13" fmla="*/ 14 h 17"/>
                    <a:gd name="T14" fmla="*/ 64 w 104"/>
                    <a:gd name="T15" fmla="*/ 15 h 17"/>
                    <a:gd name="T16" fmla="*/ 55 w 104"/>
                    <a:gd name="T17" fmla="*/ 16 h 17"/>
                    <a:gd name="T18" fmla="*/ 46 w 104"/>
                    <a:gd name="T19" fmla="*/ 16 h 17"/>
                    <a:gd name="T20" fmla="*/ 37 w 104"/>
                    <a:gd name="T21" fmla="*/ 15 h 17"/>
                    <a:gd name="T22" fmla="*/ 29 w 104"/>
                    <a:gd name="T23" fmla="*/ 14 h 17"/>
                    <a:gd name="T24" fmla="*/ 21 w 104"/>
                    <a:gd name="T25" fmla="*/ 14 h 17"/>
                    <a:gd name="T26" fmla="*/ 14 w 104"/>
                    <a:gd name="T27" fmla="*/ 12 h 17"/>
                    <a:gd name="T28" fmla="*/ 8 w 104"/>
                    <a:gd name="T29" fmla="*/ 11 h 17"/>
                    <a:gd name="T30" fmla="*/ 4 w 104"/>
                    <a:gd name="T31" fmla="*/ 10 h 17"/>
                    <a:gd name="T32" fmla="*/ 1 w 104"/>
                    <a:gd name="T33" fmla="*/ 8 h 17"/>
                    <a:gd name="T34" fmla="*/ 0 w 104"/>
                    <a:gd name="T35" fmla="*/ 6 h 17"/>
                    <a:gd name="T36" fmla="*/ 0 w 104"/>
                    <a:gd name="T37" fmla="*/ 0 h 17"/>
                    <a:gd name="T38" fmla="*/ 0 w 104"/>
                    <a:gd name="T39" fmla="*/ 2 h 17"/>
                    <a:gd name="T40" fmla="*/ 3 w 104"/>
                    <a:gd name="T41" fmla="*/ 4 h 17"/>
                    <a:gd name="T42" fmla="*/ 6 w 104"/>
                    <a:gd name="T43" fmla="*/ 5 h 17"/>
                    <a:gd name="T44" fmla="*/ 12 w 104"/>
                    <a:gd name="T45" fmla="*/ 6 h 17"/>
                    <a:gd name="T46" fmla="*/ 17 w 104"/>
                    <a:gd name="T47" fmla="*/ 8 h 17"/>
                    <a:gd name="T48" fmla="*/ 25 w 104"/>
                    <a:gd name="T49" fmla="*/ 9 h 17"/>
                    <a:gd name="T50" fmla="*/ 33 w 104"/>
                    <a:gd name="T51" fmla="*/ 10 h 17"/>
                    <a:gd name="T52" fmla="*/ 42 w 104"/>
                    <a:gd name="T53" fmla="*/ 10 h 17"/>
                    <a:gd name="T54" fmla="*/ 51 w 104"/>
                    <a:gd name="T55" fmla="*/ 10 h 17"/>
                    <a:gd name="T56" fmla="*/ 60 w 104"/>
                    <a:gd name="T57" fmla="*/ 10 h 17"/>
                    <a:gd name="T58" fmla="*/ 69 w 104"/>
                    <a:gd name="T59" fmla="*/ 10 h 17"/>
                    <a:gd name="T60" fmla="*/ 76 w 104"/>
                    <a:gd name="T61" fmla="*/ 9 h 17"/>
                    <a:gd name="T62" fmla="*/ 84 w 104"/>
                    <a:gd name="T63" fmla="*/ 8 h 17"/>
                    <a:gd name="T64" fmla="*/ 90 w 104"/>
                    <a:gd name="T65" fmla="*/ 6 h 17"/>
                    <a:gd name="T66" fmla="*/ 95 w 104"/>
                    <a:gd name="T67" fmla="*/ 5 h 17"/>
                    <a:gd name="T68" fmla="*/ 99 w 104"/>
                    <a:gd name="T69" fmla="*/ 4 h 17"/>
                    <a:gd name="T70" fmla="*/ 102 w 104"/>
                    <a:gd name="T71" fmla="*/ 2 h 17"/>
                    <a:gd name="T72" fmla="*/ 103 w 104"/>
                    <a:gd name="T73" fmla="*/ 0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04"/>
                    <a:gd name="T112" fmla="*/ 0 h 17"/>
                    <a:gd name="T113" fmla="*/ 104 w 104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04" h="17">
                      <a:moveTo>
                        <a:pt x="103" y="5"/>
                      </a:moveTo>
                      <a:lnTo>
                        <a:pt x="102" y="6"/>
                      </a:lnTo>
                      <a:lnTo>
                        <a:pt x="102" y="7"/>
                      </a:lnTo>
                      <a:lnTo>
                        <a:pt x="101" y="8"/>
                      </a:lnTo>
                      <a:lnTo>
                        <a:pt x="99" y="8"/>
                      </a:lnTo>
                      <a:lnTo>
                        <a:pt x="97" y="10"/>
                      </a:lnTo>
                      <a:lnTo>
                        <a:pt x="95" y="10"/>
                      </a:lnTo>
                      <a:lnTo>
                        <a:pt x="93" y="11"/>
                      </a:lnTo>
                      <a:lnTo>
                        <a:pt x="90" y="12"/>
                      </a:lnTo>
                      <a:lnTo>
                        <a:pt x="87" y="12"/>
                      </a:lnTo>
                      <a:lnTo>
                        <a:pt x="84" y="13"/>
                      </a:lnTo>
                      <a:lnTo>
                        <a:pt x="80" y="14"/>
                      </a:lnTo>
                      <a:lnTo>
                        <a:pt x="76" y="14"/>
                      </a:lnTo>
                      <a:lnTo>
                        <a:pt x="72" y="14"/>
                      </a:lnTo>
                      <a:lnTo>
                        <a:pt x="69" y="15"/>
                      </a:lnTo>
                      <a:lnTo>
                        <a:pt x="64" y="15"/>
                      </a:lnTo>
                      <a:lnTo>
                        <a:pt x="60" y="16"/>
                      </a:lnTo>
                      <a:lnTo>
                        <a:pt x="55" y="16"/>
                      </a:lnTo>
                      <a:lnTo>
                        <a:pt x="51" y="16"/>
                      </a:lnTo>
                      <a:lnTo>
                        <a:pt x="46" y="16"/>
                      </a:lnTo>
                      <a:lnTo>
                        <a:pt x="42" y="16"/>
                      </a:lnTo>
                      <a:lnTo>
                        <a:pt x="37" y="15"/>
                      </a:lnTo>
                      <a:lnTo>
                        <a:pt x="33" y="15"/>
                      </a:lnTo>
                      <a:lnTo>
                        <a:pt x="29" y="14"/>
                      </a:lnTo>
                      <a:lnTo>
                        <a:pt x="25" y="14"/>
                      </a:lnTo>
                      <a:lnTo>
                        <a:pt x="21" y="14"/>
                      </a:lnTo>
                      <a:lnTo>
                        <a:pt x="17" y="13"/>
                      </a:lnTo>
                      <a:lnTo>
                        <a:pt x="14" y="12"/>
                      </a:lnTo>
                      <a:lnTo>
                        <a:pt x="12" y="12"/>
                      </a:lnTo>
                      <a:lnTo>
                        <a:pt x="8" y="11"/>
                      </a:lnTo>
                      <a:lnTo>
                        <a:pt x="6" y="10"/>
                      </a:lnTo>
                      <a:lnTo>
                        <a:pt x="4" y="10"/>
                      </a:lnTo>
                      <a:lnTo>
                        <a:pt x="3" y="8"/>
                      </a:lnTo>
                      <a:lnTo>
                        <a:pt x="1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1" y="2"/>
                      </a:lnTo>
                      <a:lnTo>
                        <a:pt x="3" y="4"/>
                      </a:lnTo>
                      <a:lnTo>
                        <a:pt x="4" y="4"/>
                      </a:lnTo>
                      <a:lnTo>
                        <a:pt x="6" y="5"/>
                      </a:lnTo>
                      <a:lnTo>
                        <a:pt x="8" y="6"/>
                      </a:lnTo>
                      <a:lnTo>
                        <a:pt x="12" y="6"/>
                      </a:lnTo>
                      <a:lnTo>
                        <a:pt x="14" y="7"/>
                      </a:lnTo>
                      <a:lnTo>
                        <a:pt x="17" y="8"/>
                      </a:lnTo>
                      <a:lnTo>
                        <a:pt x="21" y="8"/>
                      </a:lnTo>
                      <a:lnTo>
                        <a:pt x="25" y="9"/>
                      </a:lnTo>
                      <a:lnTo>
                        <a:pt x="29" y="10"/>
                      </a:lnTo>
                      <a:lnTo>
                        <a:pt x="33" y="10"/>
                      </a:lnTo>
                      <a:lnTo>
                        <a:pt x="37" y="10"/>
                      </a:lnTo>
                      <a:lnTo>
                        <a:pt x="42" y="10"/>
                      </a:lnTo>
                      <a:lnTo>
                        <a:pt x="46" y="10"/>
                      </a:lnTo>
                      <a:lnTo>
                        <a:pt x="51" y="10"/>
                      </a:lnTo>
                      <a:lnTo>
                        <a:pt x="55" y="10"/>
                      </a:lnTo>
                      <a:lnTo>
                        <a:pt x="60" y="10"/>
                      </a:lnTo>
                      <a:lnTo>
                        <a:pt x="64" y="10"/>
                      </a:lnTo>
                      <a:lnTo>
                        <a:pt x="69" y="10"/>
                      </a:lnTo>
                      <a:lnTo>
                        <a:pt x="72" y="10"/>
                      </a:lnTo>
                      <a:lnTo>
                        <a:pt x="76" y="9"/>
                      </a:lnTo>
                      <a:lnTo>
                        <a:pt x="80" y="8"/>
                      </a:lnTo>
                      <a:lnTo>
                        <a:pt x="84" y="8"/>
                      </a:lnTo>
                      <a:lnTo>
                        <a:pt x="87" y="7"/>
                      </a:lnTo>
                      <a:lnTo>
                        <a:pt x="90" y="6"/>
                      </a:lnTo>
                      <a:lnTo>
                        <a:pt x="93" y="6"/>
                      </a:lnTo>
                      <a:lnTo>
                        <a:pt x="95" y="5"/>
                      </a:lnTo>
                      <a:lnTo>
                        <a:pt x="97" y="4"/>
                      </a:lnTo>
                      <a:lnTo>
                        <a:pt x="99" y="4"/>
                      </a:lnTo>
                      <a:lnTo>
                        <a:pt x="101" y="2"/>
                      </a:lnTo>
                      <a:lnTo>
                        <a:pt x="102" y="2"/>
                      </a:lnTo>
                      <a:lnTo>
                        <a:pt x="102" y="1"/>
                      </a:lnTo>
                      <a:lnTo>
                        <a:pt x="103" y="0"/>
                      </a:lnTo>
                      <a:lnTo>
                        <a:pt x="103" y="5"/>
                      </a:lnTo>
                    </a:path>
                  </a:pathLst>
                </a:custGeom>
                <a:solidFill>
                  <a:srgbClr val="666666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897" name="Freeform 548"/>
                <p:cNvSpPr>
                  <a:spLocks/>
                </p:cNvSpPr>
                <p:nvPr/>
              </p:nvSpPr>
              <p:spPr bwMode="auto">
                <a:xfrm>
                  <a:off x="3840" y="1486"/>
                  <a:ext cx="220" cy="77"/>
                </a:xfrm>
                <a:custGeom>
                  <a:avLst/>
                  <a:gdLst>
                    <a:gd name="T0" fmla="*/ 0 w 220"/>
                    <a:gd name="T1" fmla="*/ 76 h 77"/>
                    <a:gd name="T2" fmla="*/ 219 w 220"/>
                    <a:gd name="T3" fmla="*/ 76 h 77"/>
                    <a:gd name="T4" fmla="*/ 219 w 220"/>
                    <a:gd name="T5" fmla="*/ 0 h 77"/>
                    <a:gd name="T6" fmla="*/ 0 w 220"/>
                    <a:gd name="T7" fmla="*/ 0 h 77"/>
                    <a:gd name="T8" fmla="*/ 0 w 220"/>
                    <a:gd name="T9" fmla="*/ 76 h 7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0"/>
                    <a:gd name="T16" fmla="*/ 0 h 77"/>
                    <a:gd name="T17" fmla="*/ 220 w 220"/>
                    <a:gd name="T18" fmla="*/ 77 h 7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0" h="77">
                      <a:moveTo>
                        <a:pt x="0" y="76"/>
                      </a:moveTo>
                      <a:lnTo>
                        <a:pt x="219" y="76"/>
                      </a:lnTo>
                      <a:lnTo>
                        <a:pt x="219" y="0"/>
                      </a:lnTo>
                      <a:lnTo>
                        <a:pt x="0" y="0"/>
                      </a:lnTo>
                      <a:lnTo>
                        <a:pt x="0" y="76"/>
                      </a:lnTo>
                    </a:path>
                  </a:pathLst>
                </a:custGeom>
                <a:solidFill>
                  <a:srgbClr val="EFEFD1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898" name="Freeform 549"/>
                <p:cNvSpPr>
                  <a:spLocks/>
                </p:cNvSpPr>
                <p:nvPr/>
              </p:nvSpPr>
              <p:spPr bwMode="auto">
                <a:xfrm>
                  <a:off x="3875" y="1449"/>
                  <a:ext cx="69" cy="17"/>
                </a:xfrm>
                <a:custGeom>
                  <a:avLst/>
                  <a:gdLst>
                    <a:gd name="T0" fmla="*/ 0 w 69"/>
                    <a:gd name="T1" fmla="*/ 16 h 17"/>
                    <a:gd name="T2" fmla="*/ 0 w 69"/>
                    <a:gd name="T3" fmla="*/ 0 h 17"/>
                    <a:gd name="T4" fmla="*/ 68 w 69"/>
                    <a:gd name="T5" fmla="*/ 0 h 17"/>
                    <a:gd name="T6" fmla="*/ 68 w 69"/>
                    <a:gd name="T7" fmla="*/ 16 h 17"/>
                    <a:gd name="T8" fmla="*/ 0 w 69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9"/>
                    <a:gd name="T16" fmla="*/ 0 h 17"/>
                    <a:gd name="T17" fmla="*/ 69 w 69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9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68" y="0"/>
                      </a:lnTo>
                      <a:lnTo>
                        <a:pt x="68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899" name="Freeform 550"/>
                <p:cNvSpPr>
                  <a:spLocks/>
                </p:cNvSpPr>
                <p:nvPr/>
              </p:nvSpPr>
              <p:spPr bwMode="auto">
                <a:xfrm>
                  <a:off x="3931" y="1450"/>
                  <a:ext cx="94" cy="17"/>
                </a:xfrm>
                <a:custGeom>
                  <a:avLst/>
                  <a:gdLst>
                    <a:gd name="T0" fmla="*/ 0 w 94"/>
                    <a:gd name="T1" fmla="*/ 16 h 17"/>
                    <a:gd name="T2" fmla="*/ 0 w 94"/>
                    <a:gd name="T3" fmla="*/ 0 h 17"/>
                    <a:gd name="T4" fmla="*/ 93 w 94"/>
                    <a:gd name="T5" fmla="*/ 0 h 17"/>
                    <a:gd name="T6" fmla="*/ 93 w 94"/>
                    <a:gd name="T7" fmla="*/ 16 h 17"/>
                    <a:gd name="T8" fmla="*/ 0 w 94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4"/>
                    <a:gd name="T16" fmla="*/ 0 h 17"/>
                    <a:gd name="T17" fmla="*/ 94 w 9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4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93" y="0"/>
                      </a:lnTo>
                      <a:lnTo>
                        <a:pt x="93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00" name="Freeform 551"/>
                <p:cNvSpPr>
                  <a:spLocks/>
                </p:cNvSpPr>
                <p:nvPr/>
              </p:nvSpPr>
              <p:spPr bwMode="auto">
                <a:xfrm>
                  <a:off x="3877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01" name="Freeform 552"/>
                <p:cNvSpPr>
                  <a:spLocks/>
                </p:cNvSpPr>
                <p:nvPr/>
              </p:nvSpPr>
              <p:spPr bwMode="auto">
                <a:xfrm>
                  <a:off x="388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4 w 17"/>
                    <a:gd name="T7" fmla="*/ 16 h 17"/>
                    <a:gd name="T8" fmla="*/ 8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02" name="Freeform 553"/>
                <p:cNvSpPr>
                  <a:spLocks/>
                </p:cNvSpPr>
                <p:nvPr/>
              </p:nvSpPr>
              <p:spPr bwMode="auto">
                <a:xfrm>
                  <a:off x="388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03" name="Freeform 554"/>
                <p:cNvSpPr>
                  <a:spLocks/>
                </p:cNvSpPr>
                <p:nvPr/>
              </p:nvSpPr>
              <p:spPr bwMode="auto">
                <a:xfrm>
                  <a:off x="388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04" name="Freeform 555"/>
                <p:cNvSpPr>
                  <a:spLocks/>
                </p:cNvSpPr>
                <p:nvPr/>
              </p:nvSpPr>
              <p:spPr bwMode="auto">
                <a:xfrm>
                  <a:off x="388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05" name="Freeform 556"/>
                <p:cNvSpPr>
                  <a:spLocks/>
                </p:cNvSpPr>
                <p:nvPr/>
              </p:nvSpPr>
              <p:spPr bwMode="auto">
                <a:xfrm>
                  <a:off x="389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06" name="Freeform 557"/>
                <p:cNvSpPr>
                  <a:spLocks/>
                </p:cNvSpPr>
                <p:nvPr/>
              </p:nvSpPr>
              <p:spPr bwMode="auto">
                <a:xfrm>
                  <a:off x="389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07" name="Freeform 558"/>
                <p:cNvSpPr>
                  <a:spLocks/>
                </p:cNvSpPr>
                <p:nvPr/>
              </p:nvSpPr>
              <p:spPr bwMode="auto">
                <a:xfrm>
                  <a:off x="3894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08" name="Freeform 559"/>
                <p:cNvSpPr>
                  <a:spLocks/>
                </p:cNvSpPr>
                <p:nvPr/>
              </p:nvSpPr>
              <p:spPr bwMode="auto">
                <a:xfrm>
                  <a:off x="389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09" name="Freeform 560"/>
                <p:cNvSpPr>
                  <a:spLocks/>
                </p:cNvSpPr>
                <p:nvPr/>
              </p:nvSpPr>
              <p:spPr bwMode="auto">
                <a:xfrm>
                  <a:off x="390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10" name="Freeform 561"/>
                <p:cNvSpPr>
                  <a:spLocks/>
                </p:cNvSpPr>
                <p:nvPr/>
              </p:nvSpPr>
              <p:spPr bwMode="auto">
                <a:xfrm>
                  <a:off x="390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0 w 17"/>
                    <a:gd name="T5" fmla="*/ 16 h 17"/>
                    <a:gd name="T6" fmla="*/ 8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0" y="16"/>
                      </a:lnTo>
                      <a:lnTo>
                        <a:pt x="8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11" name="Freeform 562"/>
                <p:cNvSpPr>
                  <a:spLocks/>
                </p:cNvSpPr>
                <p:nvPr/>
              </p:nvSpPr>
              <p:spPr bwMode="auto">
                <a:xfrm>
                  <a:off x="390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6 h 17"/>
                    <a:gd name="T6" fmla="*/ 8 w 17"/>
                    <a:gd name="T7" fmla="*/ 16 h 17"/>
                    <a:gd name="T8" fmla="*/ 12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6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12" name="Freeform 563"/>
                <p:cNvSpPr>
                  <a:spLocks/>
                </p:cNvSpPr>
                <p:nvPr/>
              </p:nvSpPr>
              <p:spPr bwMode="auto">
                <a:xfrm>
                  <a:off x="390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0 w 17"/>
                    <a:gd name="T9" fmla="*/ 14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13" name="Freeform 564"/>
                <p:cNvSpPr>
                  <a:spLocks/>
                </p:cNvSpPr>
                <p:nvPr/>
              </p:nvSpPr>
              <p:spPr bwMode="auto">
                <a:xfrm>
                  <a:off x="3910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4 h 17"/>
                    <a:gd name="T6" fmla="*/ 8 w 17"/>
                    <a:gd name="T7" fmla="*/ 16 h 17"/>
                    <a:gd name="T8" fmla="*/ 16 w 17"/>
                    <a:gd name="T9" fmla="*/ 16 h 17"/>
                    <a:gd name="T10" fmla="*/ 16 w 17"/>
                    <a:gd name="T11" fmla="*/ 14 h 17"/>
                    <a:gd name="T12" fmla="*/ 16 w 17"/>
                    <a:gd name="T13" fmla="*/ 0 h 17"/>
                    <a:gd name="T14" fmla="*/ 0 w 17"/>
                    <a:gd name="T15" fmla="*/ 0 h 1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7"/>
                    <a:gd name="T25" fmla="*/ 0 h 17"/>
                    <a:gd name="T26" fmla="*/ 17 w 17"/>
                    <a:gd name="T27" fmla="*/ 17 h 1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14" name="Freeform 565"/>
                <p:cNvSpPr>
                  <a:spLocks/>
                </p:cNvSpPr>
                <p:nvPr/>
              </p:nvSpPr>
              <p:spPr bwMode="auto">
                <a:xfrm>
                  <a:off x="3912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15" name="Freeform 566"/>
                <p:cNvSpPr>
                  <a:spLocks/>
                </p:cNvSpPr>
                <p:nvPr/>
              </p:nvSpPr>
              <p:spPr bwMode="auto">
                <a:xfrm>
                  <a:off x="3916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16" name="Freeform 567"/>
                <p:cNvSpPr>
                  <a:spLocks/>
                </p:cNvSpPr>
                <p:nvPr/>
              </p:nvSpPr>
              <p:spPr bwMode="auto">
                <a:xfrm>
                  <a:off x="3918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4 h 17"/>
                    <a:gd name="T6" fmla="*/ 5 w 17"/>
                    <a:gd name="T7" fmla="*/ 16 h 17"/>
                    <a:gd name="T8" fmla="*/ 10 w 17"/>
                    <a:gd name="T9" fmla="*/ 16 h 17"/>
                    <a:gd name="T10" fmla="*/ 10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0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17" name="Freeform 568"/>
                <p:cNvSpPr>
                  <a:spLocks/>
                </p:cNvSpPr>
                <p:nvPr/>
              </p:nvSpPr>
              <p:spPr bwMode="auto">
                <a:xfrm>
                  <a:off x="3921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8 w 17"/>
                    <a:gd name="T5" fmla="*/ 16 h 17"/>
                    <a:gd name="T6" fmla="*/ 16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8" y="16"/>
                      </a:lnTo>
                      <a:lnTo>
                        <a:pt x="16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18" name="Freeform 569"/>
                <p:cNvSpPr>
                  <a:spLocks/>
                </p:cNvSpPr>
                <p:nvPr/>
              </p:nvSpPr>
              <p:spPr bwMode="auto">
                <a:xfrm>
                  <a:off x="3923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5 w 17"/>
                    <a:gd name="T5" fmla="*/ 16 h 17"/>
                    <a:gd name="T6" fmla="*/ 10 w 17"/>
                    <a:gd name="T7" fmla="*/ 16 h 17"/>
                    <a:gd name="T8" fmla="*/ 16 w 17"/>
                    <a:gd name="T9" fmla="*/ 14 h 17"/>
                    <a:gd name="T10" fmla="*/ 16 w 17"/>
                    <a:gd name="T11" fmla="*/ 0 h 17"/>
                    <a:gd name="T12" fmla="*/ 0 w 17"/>
                    <a:gd name="T13" fmla="*/ 0 h 1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7"/>
                    <a:gd name="T22" fmla="*/ 0 h 17"/>
                    <a:gd name="T23" fmla="*/ 17 w 17"/>
                    <a:gd name="T24" fmla="*/ 17 h 1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5" y="16"/>
                      </a:lnTo>
                      <a:lnTo>
                        <a:pt x="10" y="16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19" name="Freeform 570"/>
                <p:cNvSpPr>
                  <a:spLocks/>
                </p:cNvSpPr>
                <p:nvPr/>
              </p:nvSpPr>
              <p:spPr bwMode="auto">
                <a:xfrm>
                  <a:off x="3925" y="1452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0 w 17"/>
                    <a:gd name="T3" fmla="*/ 14 h 17"/>
                    <a:gd name="T4" fmla="*/ 4 w 17"/>
                    <a:gd name="T5" fmla="*/ 14 h 17"/>
                    <a:gd name="T6" fmla="*/ 8 w 17"/>
                    <a:gd name="T7" fmla="*/ 16 h 17"/>
                    <a:gd name="T8" fmla="*/ 12 w 17"/>
                    <a:gd name="T9" fmla="*/ 16 h 17"/>
                    <a:gd name="T10" fmla="*/ 12 w 17"/>
                    <a:gd name="T11" fmla="*/ 14 h 17"/>
                    <a:gd name="T12" fmla="*/ 16 w 17"/>
                    <a:gd name="T13" fmla="*/ 14 h 17"/>
                    <a:gd name="T14" fmla="*/ 16 w 17"/>
                    <a:gd name="T15" fmla="*/ 0 h 17"/>
                    <a:gd name="T16" fmla="*/ 0 w 17"/>
                    <a:gd name="T17" fmla="*/ 0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7"/>
                    <a:gd name="T28" fmla="*/ 0 h 17"/>
                    <a:gd name="T29" fmla="*/ 17 w 17"/>
                    <a:gd name="T30" fmla="*/ 17 h 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7" h="17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4" y="14"/>
                      </a:lnTo>
                      <a:lnTo>
                        <a:pt x="8" y="16"/>
                      </a:lnTo>
                      <a:lnTo>
                        <a:pt x="12" y="16"/>
                      </a:lnTo>
                      <a:lnTo>
                        <a:pt x="12" y="14"/>
                      </a:lnTo>
                      <a:lnTo>
                        <a:pt x="16" y="14"/>
                      </a:lnTo>
                      <a:lnTo>
                        <a:pt x="16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20" name="Freeform 571"/>
                <p:cNvSpPr>
                  <a:spLocks/>
                </p:cNvSpPr>
                <p:nvPr/>
              </p:nvSpPr>
              <p:spPr bwMode="auto">
                <a:xfrm>
                  <a:off x="3855" y="1279"/>
                  <a:ext cx="187" cy="174"/>
                </a:xfrm>
                <a:custGeom>
                  <a:avLst/>
                  <a:gdLst>
                    <a:gd name="T0" fmla="*/ 180 w 187"/>
                    <a:gd name="T1" fmla="*/ 173 h 174"/>
                    <a:gd name="T2" fmla="*/ 180 w 187"/>
                    <a:gd name="T3" fmla="*/ 173 h 174"/>
                    <a:gd name="T4" fmla="*/ 180 w 187"/>
                    <a:gd name="T5" fmla="*/ 172 h 174"/>
                    <a:gd name="T6" fmla="*/ 182 w 187"/>
                    <a:gd name="T7" fmla="*/ 172 h 174"/>
                    <a:gd name="T8" fmla="*/ 182 w 187"/>
                    <a:gd name="T9" fmla="*/ 172 h 174"/>
                    <a:gd name="T10" fmla="*/ 183 w 187"/>
                    <a:gd name="T11" fmla="*/ 171 h 174"/>
                    <a:gd name="T12" fmla="*/ 183 w 187"/>
                    <a:gd name="T13" fmla="*/ 171 h 174"/>
                    <a:gd name="T14" fmla="*/ 184 w 187"/>
                    <a:gd name="T15" fmla="*/ 171 h 174"/>
                    <a:gd name="T16" fmla="*/ 184 w 187"/>
                    <a:gd name="T17" fmla="*/ 170 h 174"/>
                    <a:gd name="T18" fmla="*/ 184 w 187"/>
                    <a:gd name="T19" fmla="*/ 170 h 174"/>
                    <a:gd name="T20" fmla="*/ 184 w 187"/>
                    <a:gd name="T21" fmla="*/ 169 h 174"/>
                    <a:gd name="T22" fmla="*/ 185 w 187"/>
                    <a:gd name="T23" fmla="*/ 169 h 174"/>
                    <a:gd name="T24" fmla="*/ 185 w 187"/>
                    <a:gd name="T25" fmla="*/ 168 h 174"/>
                    <a:gd name="T26" fmla="*/ 186 w 187"/>
                    <a:gd name="T27" fmla="*/ 167 h 174"/>
                    <a:gd name="T28" fmla="*/ 186 w 187"/>
                    <a:gd name="T29" fmla="*/ 167 h 174"/>
                    <a:gd name="T30" fmla="*/ 186 w 187"/>
                    <a:gd name="T31" fmla="*/ 6 h 174"/>
                    <a:gd name="T32" fmla="*/ 186 w 187"/>
                    <a:gd name="T33" fmla="*/ 5 h 174"/>
                    <a:gd name="T34" fmla="*/ 186 w 187"/>
                    <a:gd name="T35" fmla="*/ 5 h 174"/>
                    <a:gd name="T36" fmla="*/ 185 w 187"/>
                    <a:gd name="T37" fmla="*/ 5 h 174"/>
                    <a:gd name="T38" fmla="*/ 185 w 187"/>
                    <a:gd name="T39" fmla="*/ 3 h 174"/>
                    <a:gd name="T40" fmla="*/ 184 w 187"/>
                    <a:gd name="T41" fmla="*/ 3 h 174"/>
                    <a:gd name="T42" fmla="*/ 184 w 187"/>
                    <a:gd name="T43" fmla="*/ 2 h 174"/>
                    <a:gd name="T44" fmla="*/ 184 w 187"/>
                    <a:gd name="T45" fmla="*/ 1 h 174"/>
                    <a:gd name="T46" fmla="*/ 183 w 187"/>
                    <a:gd name="T47" fmla="*/ 1 h 174"/>
                    <a:gd name="T48" fmla="*/ 183 w 187"/>
                    <a:gd name="T49" fmla="*/ 1 h 174"/>
                    <a:gd name="T50" fmla="*/ 182 w 187"/>
                    <a:gd name="T51" fmla="*/ 1 h 174"/>
                    <a:gd name="T52" fmla="*/ 182 w 187"/>
                    <a:gd name="T53" fmla="*/ 0 h 174"/>
                    <a:gd name="T54" fmla="*/ 180 w 187"/>
                    <a:gd name="T55" fmla="*/ 0 h 174"/>
                    <a:gd name="T56" fmla="*/ 180 w 187"/>
                    <a:gd name="T57" fmla="*/ 0 h 174"/>
                    <a:gd name="T58" fmla="*/ 180 w 187"/>
                    <a:gd name="T59" fmla="*/ 0 h 174"/>
                    <a:gd name="T60" fmla="*/ 5 w 187"/>
                    <a:gd name="T61" fmla="*/ 0 h 174"/>
                    <a:gd name="T62" fmla="*/ 4 w 187"/>
                    <a:gd name="T63" fmla="*/ 0 h 174"/>
                    <a:gd name="T64" fmla="*/ 3 w 187"/>
                    <a:gd name="T65" fmla="*/ 0 h 174"/>
                    <a:gd name="T66" fmla="*/ 3 w 187"/>
                    <a:gd name="T67" fmla="*/ 0 h 174"/>
                    <a:gd name="T68" fmla="*/ 2 w 187"/>
                    <a:gd name="T69" fmla="*/ 0 h 174"/>
                    <a:gd name="T70" fmla="*/ 2 w 187"/>
                    <a:gd name="T71" fmla="*/ 1 h 174"/>
                    <a:gd name="T72" fmla="*/ 1 w 187"/>
                    <a:gd name="T73" fmla="*/ 1 h 174"/>
                    <a:gd name="T74" fmla="*/ 1 w 187"/>
                    <a:gd name="T75" fmla="*/ 1 h 174"/>
                    <a:gd name="T76" fmla="*/ 1 w 187"/>
                    <a:gd name="T77" fmla="*/ 2 h 174"/>
                    <a:gd name="T78" fmla="*/ 0 w 187"/>
                    <a:gd name="T79" fmla="*/ 3 h 174"/>
                    <a:gd name="T80" fmla="*/ 0 w 187"/>
                    <a:gd name="T81" fmla="*/ 3 h 174"/>
                    <a:gd name="T82" fmla="*/ 0 w 187"/>
                    <a:gd name="T83" fmla="*/ 3 h 174"/>
                    <a:gd name="T84" fmla="*/ 0 w 187"/>
                    <a:gd name="T85" fmla="*/ 5 h 174"/>
                    <a:gd name="T86" fmla="*/ 0 w 187"/>
                    <a:gd name="T87" fmla="*/ 5 h 174"/>
                    <a:gd name="T88" fmla="*/ 0 w 187"/>
                    <a:gd name="T89" fmla="*/ 6 h 174"/>
                    <a:gd name="T90" fmla="*/ 0 w 187"/>
                    <a:gd name="T91" fmla="*/ 167 h 174"/>
                    <a:gd name="T92" fmla="*/ 0 w 187"/>
                    <a:gd name="T93" fmla="*/ 167 h 174"/>
                    <a:gd name="T94" fmla="*/ 0 w 187"/>
                    <a:gd name="T95" fmla="*/ 168 h 174"/>
                    <a:gd name="T96" fmla="*/ 0 w 187"/>
                    <a:gd name="T97" fmla="*/ 169 h 174"/>
                    <a:gd name="T98" fmla="*/ 0 w 187"/>
                    <a:gd name="T99" fmla="*/ 169 h 174"/>
                    <a:gd name="T100" fmla="*/ 0 w 187"/>
                    <a:gd name="T101" fmla="*/ 170 h 174"/>
                    <a:gd name="T102" fmla="*/ 1 w 187"/>
                    <a:gd name="T103" fmla="*/ 170 h 174"/>
                    <a:gd name="T104" fmla="*/ 1 w 187"/>
                    <a:gd name="T105" fmla="*/ 171 h 174"/>
                    <a:gd name="T106" fmla="*/ 1 w 187"/>
                    <a:gd name="T107" fmla="*/ 171 h 174"/>
                    <a:gd name="T108" fmla="*/ 2 w 187"/>
                    <a:gd name="T109" fmla="*/ 171 h 174"/>
                    <a:gd name="T110" fmla="*/ 2 w 187"/>
                    <a:gd name="T111" fmla="*/ 172 h 174"/>
                    <a:gd name="T112" fmla="*/ 2 w 187"/>
                    <a:gd name="T113" fmla="*/ 172 h 174"/>
                    <a:gd name="T114" fmla="*/ 3 w 187"/>
                    <a:gd name="T115" fmla="*/ 172 h 174"/>
                    <a:gd name="T116" fmla="*/ 3 w 187"/>
                    <a:gd name="T117" fmla="*/ 172 h 174"/>
                    <a:gd name="T118" fmla="*/ 4 w 187"/>
                    <a:gd name="T119" fmla="*/ 173 h 174"/>
                    <a:gd name="T120" fmla="*/ 5 w 187"/>
                    <a:gd name="T121" fmla="*/ 173 h 174"/>
                    <a:gd name="T122" fmla="*/ 180 w 187"/>
                    <a:gd name="T123" fmla="*/ 173 h 174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w 187"/>
                    <a:gd name="T187" fmla="*/ 0 h 174"/>
                    <a:gd name="T188" fmla="*/ 187 w 187"/>
                    <a:gd name="T189" fmla="*/ 174 h 174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T186" t="T187" r="T188" b="T189"/>
                  <a:pathLst>
                    <a:path w="187" h="174">
                      <a:moveTo>
                        <a:pt x="180" y="173"/>
                      </a:moveTo>
                      <a:lnTo>
                        <a:pt x="180" y="173"/>
                      </a:lnTo>
                      <a:lnTo>
                        <a:pt x="180" y="172"/>
                      </a:lnTo>
                      <a:lnTo>
                        <a:pt x="182" y="172"/>
                      </a:lnTo>
                      <a:lnTo>
                        <a:pt x="183" y="171"/>
                      </a:lnTo>
                      <a:lnTo>
                        <a:pt x="184" y="171"/>
                      </a:lnTo>
                      <a:lnTo>
                        <a:pt x="184" y="170"/>
                      </a:lnTo>
                      <a:lnTo>
                        <a:pt x="184" y="169"/>
                      </a:lnTo>
                      <a:lnTo>
                        <a:pt x="185" y="169"/>
                      </a:lnTo>
                      <a:lnTo>
                        <a:pt x="185" y="168"/>
                      </a:lnTo>
                      <a:lnTo>
                        <a:pt x="186" y="167"/>
                      </a:lnTo>
                      <a:lnTo>
                        <a:pt x="186" y="6"/>
                      </a:lnTo>
                      <a:lnTo>
                        <a:pt x="186" y="5"/>
                      </a:lnTo>
                      <a:lnTo>
                        <a:pt x="185" y="5"/>
                      </a:lnTo>
                      <a:lnTo>
                        <a:pt x="185" y="3"/>
                      </a:lnTo>
                      <a:lnTo>
                        <a:pt x="184" y="3"/>
                      </a:lnTo>
                      <a:lnTo>
                        <a:pt x="184" y="2"/>
                      </a:lnTo>
                      <a:lnTo>
                        <a:pt x="184" y="1"/>
                      </a:lnTo>
                      <a:lnTo>
                        <a:pt x="183" y="1"/>
                      </a:lnTo>
                      <a:lnTo>
                        <a:pt x="182" y="1"/>
                      </a:lnTo>
                      <a:lnTo>
                        <a:pt x="182" y="0"/>
                      </a:lnTo>
                      <a:lnTo>
                        <a:pt x="180" y="0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2" y="1"/>
                      </a:lnTo>
                      <a:lnTo>
                        <a:pt x="1" y="1"/>
                      </a:lnTo>
                      <a:lnTo>
                        <a:pt x="1" y="2"/>
                      </a:lnTo>
                      <a:lnTo>
                        <a:pt x="0" y="3"/>
                      </a:lnTo>
                      <a:lnTo>
                        <a:pt x="0" y="5"/>
                      </a:lnTo>
                      <a:lnTo>
                        <a:pt x="0" y="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0" y="169"/>
                      </a:lnTo>
                      <a:lnTo>
                        <a:pt x="0" y="170"/>
                      </a:lnTo>
                      <a:lnTo>
                        <a:pt x="1" y="170"/>
                      </a:lnTo>
                      <a:lnTo>
                        <a:pt x="1" y="171"/>
                      </a:lnTo>
                      <a:lnTo>
                        <a:pt x="2" y="171"/>
                      </a:lnTo>
                      <a:lnTo>
                        <a:pt x="2" y="172"/>
                      </a:lnTo>
                      <a:lnTo>
                        <a:pt x="3" y="172"/>
                      </a:lnTo>
                      <a:lnTo>
                        <a:pt x="4" y="173"/>
                      </a:lnTo>
                      <a:lnTo>
                        <a:pt x="5" y="173"/>
                      </a:lnTo>
                      <a:lnTo>
                        <a:pt x="180" y="173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21" name="Freeform 572"/>
                <p:cNvSpPr>
                  <a:spLocks/>
                </p:cNvSpPr>
                <p:nvPr/>
              </p:nvSpPr>
              <p:spPr bwMode="auto">
                <a:xfrm>
                  <a:off x="3855" y="1281"/>
                  <a:ext cx="186" cy="172"/>
                </a:xfrm>
                <a:custGeom>
                  <a:avLst/>
                  <a:gdLst>
                    <a:gd name="T0" fmla="*/ 185 w 186"/>
                    <a:gd name="T1" fmla="*/ 165 h 172"/>
                    <a:gd name="T2" fmla="*/ 185 w 186"/>
                    <a:gd name="T3" fmla="*/ 166 h 172"/>
                    <a:gd name="T4" fmla="*/ 185 w 186"/>
                    <a:gd name="T5" fmla="*/ 167 h 172"/>
                    <a:gd name="T6" fmla="*/ 184 w 186"/>
                    <a:gd name="T7" fmla="*/ 167 h 172"/>
                    <a:gd name="T8" fmla="*/ 184 w 186"/>
                    <a:gd name="T9" fmla="*/ 168 h 172"/>
                    <a:gd name="T10" fmla="*/ 183 w 186"/>
                    <a:gd name="T11" fmla="*/ 169 h 172"/>
                    <a:gd name="T12" fmla="*/ 183 w 186"/>
                    <a:gd name="T13" fmla="*/ 169 h 172"/>
                    <a:gd name="T14" fmla="*/ 182 w 186"/>
                    <a:gd name="T15" fmla="*/ 170 h 172"/>
                    <a:gd name="T16" fmla="*/ 182 w 186"/>
                    <a:gd name="T17" fmla="*/ 170 h 172"/>
                    <a:gd name="T18" fmla="*/ 181 w 186"/>
                    <a:gd name="T19" fmla="*/ 170 h 172"/>
                    <a:gd name="T20" fmla="*/ 181 w 186"/>
                    <a:gd name="T21" fmla="*/ 171 h 172"/>
                    <a:gd name="T22" fmla="*/ 180 w 186"/>
                    <a:gd name="T23" fmla="*/ 171 h 172"/>
                    <a:gd name="T24" fmla="*/ 179 w 186"/>
                    <a:gd name="T25" fmla="*/ 171 h 172"/>
                    <a:gd name="T26" fmla="*/ 4 w 186"/>
                    <a:gd name="T27" fmla="*/ 171 h 172"/>
                    <a:gd name="T28" fmla="*/ 3 w 186"/>
                    <a:gd name="T29" fmla="*/ 171 h 172"/>
                    <a:gd name="T30" fmla="*/ 3 w 186"/>
                    <a:gd name="T31" fmla="*/ 171 h 172"/>
                    <a:gd name="T32" fmla="*/ 3 w 186"/>
                    <a:gd name="T33" fmla="*/ 170 h 172"/>
                    <a:gd name="T34" fmla="*/ 2 w 186"/>
                    <a:gd name="T35" fmla="*/ 170 h 172"/>
                    <a:gd name="T36" fmla="*/ 2 w 186"/>
                    <a:gd name="T37" fmla="*/ 170 h 172"/>
                    <a:gd name="T38" fmla="*/ 1 w 186"/>
                    <a:gd name="T39" fmla="*/ 169 h 172"/>
                    <a:gd name="T40" fmla="*/ 1 w 186"/>
                    <a:gd name="T41" fmla="*/ 169 h 172"/>
                    <a:gd name="T42" fmla="*/ 0 w 186"/>
                    <a:gd name="T43" fmla="*/ 169 h 172"/>
                    <a:gd name="T44" fmla="*/ 0 w 186"/>
                    <a:gd name="T45" fmla="*/ 168 h 172"/>
                    <a:gd name="T46" fmla="*/ 0 w 186"/>
                    <a:gd name="T47" fmla="*/ 167 h 172"/>
                    <a:gd name="T48" fmla="*/ 0 w 186"/>
                    <a:gd name="T49" fmla="*/ 167 h 172"/>
                    <a:gd name="T50" fmla="*/ 0 w 186"/>
                    <a:gd name="T51" fmla="*/ 166 h 172"/>
                    <a:gd name="T52" fmla="*/ 0 w 186"/>
                    <a:gd name="T53" fmla="*/ 165 h 172"/>
                    <a:gd name="T54" fmla="*/ 0 w 186"/>
                    <a:gd name="T55" fmla="*/ 5 h 172"/>
                    <a:gd name="T56" fmla="*/ 0 w 186"/>
                    <a:gd name="T57" fmla="*/ 4 h 172"/>
                    <a:gd name="T58" fmla="*/ 0 w 186"/>
                    <a:gd name="T59" fmla="*/ 3 h 172"/>
                    <a:gd name="T60" fmla="*/ 0 w 186"/>
                    <a:gd name="T61" fmla="*/ 3 h 172"/>
                    <a:gd name="T62" fmla="*/ 0 w 186"/>
                    <a:gd name="T63" fmla="*/ 2 h 172"/>
                    <a:gd name="T64" fmla="*/ 0 w 186"/>
                    <a:gd name="T65" fmla="*/ 2 h 172"/>
                    <a:gd name="T66" fmla="*/ 1 w 186"/>
                    <a:gd name="T67" fmla="*/ 1 h 172"/>
                    <a:gd name="T68" fmla="*/ 1 w 186"/>
                    <a:gd name="T69" fmla="*/ 1 h 172"/>
                    <a:gd name="T70" fmla="*/ 2 w 186"/>
                    <a:gd name="T71" fmla="*/ 1 h 172"/>
                    <a:gd name="T72" fmla="*/ 2 w 186"/>
                    <a:gd name="T73" fmla="*/ 0 h 172"/>
                    <a:gd name="T74" fmla="*/ 2 w 186"/>
                    <a:gd name="T75" fmla="*/ 0 h 172"/>
                    <a:gd name="T76" fmla="*/ 3 w 186"/>
                    <a:gd name="T77" fmla="*/ 0 h 172"/>
                    <a:gd name="T78" fmla="*/ 3 w 186"/>
                    <a:gd name="T79" fmla="*/ 0 h 172"/>
                    <a:gd name="T80" fmla="*/ 4 w 186"/>
                    <a:gd name="T81" fmla="*/ 0 h 172"/>
                    <a:gd name="T82" fmla="*/ 179 w 186"/>
                    <a:gd name="T83" fmla="*/ 0 h 172"/>
                    <a:gd name="T84" fmla="*/ 180 w 186"/>
                    <a:gd name="T85" fmla="*/ 0 h 172"/>
                    <a:gd name="T86" fmla="*/ 181 w 186"/>
                    <a:gd name="T87" fmla="*/ 0 h 172"/>
                    <a:gd name="T88" fmla="*/ 181 w 186"/>
                    <a:gd name="T89" fmla="*/ 0 h 172"/>
                    <a:gd name="T90" fmla="*/ 182 w 186"/>
                    <a:gd name="T91" fmla="*/ 0 h 172"/>
                    <a:gd name="T92" fmla="*/ 182 w 186"/>
                    <a:gd name="T93" fmla="*/ 1 h 172"/>
                    <a:gd name="T94" fmla="*/ 183 w 186"/>
                    <a:gd name="T95" fmla="*/ 1 h 172"/>
                    <a:gd name="T96" fmla="*/ 183 w 186"/>
                    <a:gd name="T97" fmla="*/ 1 h 172"/>
                    <a:gd name="T98" fmla="*/ 183 w 186"/>
                    <a:gd name="T99" fmla="*/ 2 h 172"/>
                    <a:gd name="T100" fmla="*/ 184 w 186"/>
                    <a:gd name="T101" fmla="*/ 2 h 172"/>
                    <a:gd name="T102" fmla="*/ 184 w 186"/>
                    <a:gd name="T103" fmla="*/ 3 h 172"/>
                    <a:gd name="T104" fmla="*/ 185 w 186"/>
                    <a:gd name="T105" fmla="*/ 3 h 172"/>
                    <a:gd name="T106" fmla="*/ 185 w 186"/>
                    <a:gd name="T107" fmla="*/ 4 h 172"/>
                    <a:gd name="T108" fmla="*/ 185 w 186"/>
                    <a:gd name="T109" fmla="*/ 5 h 172"/>
                    <a:gd name="T110" fmla="*/ 185 w 186"/>
                    <a:gd name="T111" fmla="*/ 165 h 172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86"/>
                    <a:gd name="T169" fmla="*/ 0 h 172"/>
                    <a:gd name="T170" fmla="*/ 186 w 186"/>
                    <a:gd name="T171" fmla="*/ 172 h 172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86" h="172">
                      <a:moveTo>
                        <a:pt x="185" y="165"/>
                      </a:moveTo>
                      <a:lnTo>
                        <a:pt x="185" y="166"/>
                      </a:lnTo>
                      <a:lnTo>
                        <a:pt x="185" y="167"/>
                      </a:lnTo>
                      <a:lnTo>
                        <a:pt x="184" y="167"/>
                      </a:lnTo>
                      <a:lnTo>
                        <a:pt x="184" y="168"/>
                      </a:lnTo>
                      <a:lnTo>
                        <a:pt x="183" y="169"/>
                      </a:lnTo>
                      <a:lnTo>
                        <a:pt x="182" y="170"/>
                      </a:lnTo>
                      <a:lnTo>
                        <a:pt x="181" y="170"/>
                      </a:lnTo>
                      <a:lnTo>
                        <a:pt x="181" y="171"/>
                      </a:lnTo>
                      <a:lnTo>
                        <a:pt x="180" y="171"/>
                      </a:lnTo>
                      <a:lnTo>
                        <a:pt x="179" y="171"/>
                      </a:lnTo>
                      <a:lnTo>
                        <a:pt x="4" y="171"/>
                      </a:lnTo>
                      <a:lnTo>
                        <a:pt x="3" y="171"/>
                      </a:lnTo>
                      <a:lnTo>
                        <a:pt x="3" y="170"/>
                      </a:lnTo>
                      <a:lnTo>
                        <a:pt x="2" y="170"/>
                      </a:lnTo>
                      <a:lnTo>
                        <a:pt x="1" y="169"/>
                      </a:lnTo>
                      <a:lnTo>
                        <a:pt x="0" y="169"/>
                      </a:lnTo>
                      <a:lnTo>
                        <a:pt x="0" y="168"/>
                      </a:lnTo>
                      <a:lnTo>
                        <a:pt x="0" y="167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79" y="0"/>
                      </a:lnTo>
                      <a:lnTo>
                        <a:pt x="180" y="0"/>
                      </a:lnTo>
                      <a:lnTo>
                        <a:pt x="181" y="0"/>
                      </a:lnTo>
                      <a:lnTo>
                        <a:pt x="182" y="0"/>
                      </a:lnTo>
                      <a:lnTo>
                        <a:pt x="182" y="1"/>
                      </a:lnTo>
                      <a:lnTo>
                        <a:pt x="183" y="1"/>
                      </a:lnTo>
                      <a:lnTo>
                        <a:pt x="183" y="2"/>
                      </a:lnTo>
                      <a:lnTo>
                        <a:pt x="184" y="2"/>
                      </a:lnTo>
                      <a:lnTo>
                        <a:pt x="184" y="3"/>
                      </a:lnTo>
                      <a:lnTo>
                        <a:pt x="185" y="3"/>
                      </a:lnTo>
                      <a:lnTo>
                        <a:pt x="185" y="4"/>
                      </a:lnTo>
                      <a:lnTo>
                        <a:pt x="185" y="5"/>
                      </a:lnTo>
                      <a:lnTo>
                        <a:pt x="185" y="165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22" name="Freeform 573"/>
                <p:cNvSpPr>
                  <a:spLocks/>
                </p:cNvSpPr>
                <p:nvPr/>
              </p:nvSpPr>
              <p:spPr bwMode="auto">
                <a:xfrm>
                  <a:off x="3857" y="1281"/>
                  <a:ext cx="181" cy="171"/>
                </a:xfrm>
                <a:custGeom>
                  <a:avLst/>
                  <a:gdLst>
                    <a:gd name="T0" fmla="*/ 180 w 181"/>
                    <a:gd name="T1" fmla="*/ 3 h 171"/>
                    <a:gd name="T2" fmla="*/ 180 w 181"/>
                    <a:gd name="T3" fmla="*/ 3 h 171"/>
                    <a:gd name="T4" fmla="*/ 180 w 181"/>
                    <a:gd name="T5" fmla="*/ 2 h 171"/>
                    <a:gd name="T6" fmla="*/ 179 w 181"/>
                    <a:gd name="T7" fmla="*/ 2 h 171"/>
                    <a:gd name="T8" fmla="*/ 179 w 181"/>
                    <a:gd name="T9" fmla="*/ 1 h 171"/>
                    <a:gd name="T10" fmla="*/ 178 w 181"/>
                    <a:gd name="T11" fmla="*/ 1 h 171"/>
                    <a:gd name="T12" fmla="*/ 178 w 181"/>
                    <a:gd name="T13" fmla="*/ 0 h 171"/>
                    <a:gd name="T14" fmla="*/ 177 w 181"/>
                    <a:gd name="T15" fmla="*/ 0 h 171"/>
                    <a:gd name="T16" fmla="*/ 177 w 181"/>
                    <a:gd name="T17" fmla="*/ 0 h 171"/>
                    <a:gd name="T18" fmla="*/ 177 w 181"/>
                    <a:gd name="T19" fmla="*/ 0 h 171"/>
                    <a:gd name="T20" fmla="*/ 176 w 181"/>
                    <a:gd name="T21" fmla="*/ 0 h 171"/>
                    <a:gd name="T22" fmla="*/ 176 w 181"/>
                    <a:gd name="T23" fmla="*/ 0 h 171"/>
                    <a:gd name="T24" fmla="*/ 3 w 181"/>
                    <a:gd name="T25" fmla="*/ 0 h 171"/>
                    <a:gd name="T26" fmla="*/ 3 w 181"/>
                    <a:gd name="T27" fmla="*/ 0 h 171"/>
                    <a:gd name="T28" fmla="*/ 2 w 181"/>
                    <a:gd name="T29" fmla="*/ 0 h 171"/>
                    <a:gd name="T30" fmla="*/ 2 w 181"/>
                    <a:gd name="T31" fmla="*/ 0 h 171"/>
                    <a:gd name="T32" fmla="*/ 1 w 181"/>
                    <a:gd name="T33" fmla="*/ 0 h 171"/>
                    <a:gd name="T34" fmla="*/ 1 w 181"/>
                    <a:gd name="T35" fmla="*/ 0 h 171"/>
                    <a:gd name="T36" fmla="*/ 1 w 181"/>
                    <a:gd name="T37" fmla="*/ 1 h 171"/>
                    <a:gd name="T38" fmla="*/ 0 w 181"/>
                    <a:gd name="T39" fmla="*/ 1 h 171"/>
                    <a:gd name="T40" fmla="*/ 0 w 181"/>
                    <a:gd name="T41" fmla="*/ 1 h 171"/>
                    <a:gd name="T42" fmla="*/ 0 w 181"/>
                    <a:gd name="T43" fmla="*/ 2 h 171"/>
                    <a:gd name="T44" fmla="*/ 0 w 181"/>
                    <a:gd name="T45" fmla="*/ 3 h 171"/>
                    <a:gd name="T46" fmla="*/ 0 w 181"/>
                    <a:gd name="T47" fmla="*/ 3 h 171"/>
                    <a:gd name="T48" fmla="*/ 0 w 181"/>
                    <a:gd name="T49" fmla="*/ 166 h 171"/>
                    <a:gd name="T50" fmla="*/ 0 w 181"/>
                    <a:gd name="T51" fmla="*/ 166 h 171"/>
                    <a:gd name="T52" fmla="*/ 0 w 181"/>
                    <a:gd name="T53" fmla="*/ 167 h 171"/>
                    <a:gd name="T54" fmla="*/ 0 w 181"/>
                    <a:gd name="T55" fmla="*/ 168 h 171"/>
                    <a:gd name="T56" fmla="*/ 0 w 181"/>
                    <a:gd name="T57" fmla="*/ 168 h 171"/>
                    <a:gd name="T58" fmla="*/ 1 w 181"/>
                    <a:gd name="T59" fmla="*/ 168 h 171"/>
                    <a:gd name="T60" fmla="*/ 1 w 181"/>
                    <a:gd name="T61" fmla="*/ 169 h 171"/>
                    <a:gd name="T62" fmla="*/ 2 w 181"/>
                    <a:gd name="T63" fmla="*/ 169 h 171"/>
                    <a:gd name="T64" fmla="*/ 2 w 181"/>
                    <a:gd name="T65" fmla="*/ 169 h 171"/>
                    <a:gd name="T66" fmla="*/ 3 w 181"/>
                    <a:gd name="T67" fmla="*/ 170 h 171"/>
                    <a:gd name="T68" fmla="*/ 3 w 181"/>
                    <a:gd name="T69" fmla="*/ 170 h 171"/>
                    <a:gd name="T70" fmla="*/ 176 w 181"/>
                    <a:gd name="T71" fmla="*/ 170 h 171"/>
                    <a:gd name="T72" fmla="*/ 176 w 181"/>
                    <a:gd name="T73" fmla="*/ 169 h 171"/>
                    <a:gd name="T74" fmla="*/ 177 w 181"/>
                    <a:gd name="T75" fmla="*/ 169 h 171"/>
                    <a:gd name="T76" fmla="*/ 177 w 181"/>
                    <a:gd name="T77" fmla="*/ 169 h 171"/>
                    <a:gd name="T78" fmla="*/ 178 w 181"/>
                    <a:gd name="T79" fmla="*/ 169 h 171"/>
                    <a:gd name="T80" fmla="*/ 178 w 181"/>
                    <a:gd name="T81" fmla="*/ 168 h 171"/>
                    <a:gd name="T82" fmla="*/ 178 w 181"/>
                    <a:gd name="T83" fmla="*/ 168 h 171"/>
                    <a:gd name="T84" fmla="*/ 179 w 181"/>
                    <a:gd name="T85" fmla="*/ 168 h 171"/>
                    <a:gd name="T86" fmla="*/ 179 w 181"/>
                    <a:gd name="T87" fmla="*/ 167 h 171"/>
                    <a:gd name="T88" fmla="*/ 180 w 181"/>
                    <a:gd name="T89" fmla="*/ 166 h 171"/>
                    <a:gd name="T90" fmla="*/ 180 w 181"/>
                    <a:gd name="T91" fmla="*/ 166 h 171"/>
                    <a:gd name="T92" fmla="*/ 180 w 181"/>
                    <a:gd name="T93" fmla="*/ 3 h 171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w 181"/>
                    <a:gd name="T142" fmla="*/ 0 h 171"/>
                    <a:gd name="T143" fmla="*/ 181 w 181"/>
                    <a:gd name="T144" fmla="*/ 171 h 171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T141" t="T142" r="T143" b="T144"/>
                  <a:pathLst>
                    <a:path w="181" h="171">
                      <a:moveTo>
                        <a:pt x="180" y="3"/>
                      </a:moveTo>
                      <a:lnTo>
                        <a:pt x="180" y="3"/>
                      </a:lnTo>
                      <a:lnTo>
                        <a:pt x="180" y="2"/>
                      </a:lnTo>
                      <a:lnTo>
                        <a:pt x="179" y="2"/>
                      </a:lnTo>
                      <a:lnTo>
                        <a:pt x="179" y="1"/>
                      </a:lnTo>
                      <a:lnTo>
                        <a:pt x="178" y="1"/>
                      </a:lnTo>
                      <a:lnTo>
                        <a:pt x="178" y="0"/>
                      </a:lnTo>
                      <a:lnTo>
                        <a:pt x="177" y="0"/>
                      </a:lnTo>
                      <a:lnTo>
                        <a:pt x="17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166"/>
                      </a:lnTo>
                      <a:lnTo>
                        <a:pt x="0" y="167"/>
                      </a:ln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1" y="169"/>
                      </a:lnTo>
                      <a:lnTo>
                        <a:pt x="2" y="169"/>
                      </a:lnTo>
                      <a:lnTo>
                        <a:pt x="3" y="170"/>
                      </a:lnTo>
                      <a:lnTo>
                        <a:pt x="176" y="170"/>
                      </a:lnTo>
                      <a:lnTo>
                        <a:pt x="176" y="169"/>
                      </a:lnTo>
                      <a:lnTo>
                        <a:pt x="177" y="169"/>
                      </a:lnTo>
                      <a:lnTo>
                        <a:pt x="178" y="169"/>
                      </a:lnTo>
                      <a:lnTo>
                        <a:pt x="178" y="168"/>
                      </a:lnTo>
                      <a:lnTo>
                        <a:pt x="179" y="168"/>
                      </a:lnTo>
                      <a:lnTo>
                        <a:pt x="179" y="167"/>
                      </a:lnTo>
                      <a:lnTo>
                        <a:pt x="180" y="166"/>
                      </a:lnTo>
                      <a:lnTo>
                        <a:pt x="180" y="3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23" name="Freeform 574"/>
                <p:cNvSpPr>
                  <a:spLocks/>
                </p:cNvSpPr>
                <p:nvPr/>
              </p:nvSpPr>
              <p:spPr bwMode="auto">
                <a:xfrm>
                  <a:off x="3858" y="1282"/>
                  <a:ext cx="180" cy="168"/>
                </a:xfrm>
                <a:custGeom>
                  <a:avLst/>
                  <a:gdLst>
                    <a:gd name="T0" fmla="*/ 179 w 180"/>
                    <a:gd name="T1" fmla="*/ 163 h 168"/>
                    <a:gd name="T2" fmla="*/ 179 w 180"/>
                    <a:gd name="T3" fmla="*/ 164 h 168"/>
                    <a:gd name="T4" fmla="*/ 178 w 180"/>
                    <a:gd name="T5" fmla="*/ 165 h 168"/>
                    <a:gd name="T6" fmla="*/ 178 w 180"/>
                    <a:gd name="T7" fmla="*/ 165 h 168"/>
                    <a:gd name="T8" fmla="*/ 177 w 180"/>
                    <a:gd name="T9" fmla="*/ 166 h 168"/>
                    <a:gd name="T10" fmla="*/ 177 w 180"/>
                    <a:gd name="T11" fmla="*/ 166 h 168"/>
                    <a:gd name="T12" fmla="*/ 176 w 180"/>
                    <a:gd name="T13" fmla="*/ 167 h 168"/>
                    <a:gd name="T14" fmla="*/ 176 w 180"/>
                    <a:gd name="T15" fmla="*/ 167 h 168"/>
                    <a:gd name="T16" fmla="*/ 2 w 180"/>
                    <a:gd name="T17" fmla="*/ 167 h 168"/>
                    <a:gd name="T18" fmla="*/ 2 w 180"/>
                    <a:gd name="T19" fmla="*/ 167 h 168"/>
                    <a:gd name="T20" fmla="*/ 1 w 180"/>
                    <a:gd name="T21" fmla="*/ 167 h 168"/>
                    <a:gd name="T22" fmla="*/ 1 w 180"/>
                    <a:gd name="T23" fmla="*/ 166 h 168"/>
                    <a:gd name="T24" fmla="*/ 1 w 180"/>
                    <a:gd name="T25" fmla="*/ 166 h 168"/>
                    <a:gd name="T26" fmla="*/ 0 w 180"/>
                    <a:gd name="T27" fmla="*/ 166 h 168"/>
                    <a:gd name="T28" fmla="*/ 0 w 180"/>
                    <a:gd name="T29" fmla="*/ 165 h 168"/>
                    <a:gd name="T30" fmla="*/ 0 w 180"/>
                    <a:gd name="T31" fmla="*/ 165 h 168"/>
                    <a:gd name="T32" fmla="*/ 0 w 180"/>
                    <a:gd name="T33" fmla="*/ 165 h 168"/>
                    <a:gd name="T34" fmla="*/ 0 w 180"/>
                    <a:gd name="T35" fmla="*/ 164 h 168"/>
                    <a:gd name="T36" fmla="*/ 0 w 180"/>
                    <a:gd name="T37" fmla="*/ 163 h 168"/>
                    <a:gd name="T38" fmla="*/ 0 w 180"/>
                    <a:gd name="T39" fmla="*/ 3 h 168"/>
                    <a:gd name="T40" fmla="*/ 0 w 180"/>
                    <a:gd name="T41" fmla="*/ 2 h 168"/>
                    <a:gd name="T42" fmla="*/ 0 w 180"/>
                    <a:gd name="T43" fmla="*/ 1 h 168"/>
                    <a:gd name="T44" fmla="*/ 0 w 180"/>
                    <a:gd name="T45" fmla="*/ 1 h 168"/>
                    <a:gd name="T46" fmla="*/ 0 w 180"/>
                    <a:gd name="T47" fmla="*/ 1 h 168"/>
                    <a:gd name="T48" fmla="*/ 1 w 180"/>
                    <a:gd name="T49" fmla="*/ 0 h 168"/>
                    <a:gd name="T50" fmla="*/ 1 w 180"/>
                    <a:gd name="T51" fmla="*/ 0 h 168"/>
                    <a:gd name="T52" fmla="*/ 2 w 180"/>
                    <a:gd name="T53" fmla="*/ 0 h 168"/>
                    <a:gd name="T54" fmla="*/ 2 w 180"/>
                    <a:gd name="T55" fmla="*/ 0 h 168"/>
                    <a:gd name="T56" fmla="*/ 176 w 180"/>
                    <a:gd name="T57" fmla="*/ 0 h 168"/>
                    <a:gd name="T58" fmla="*/ 176 w 180"/>
                    <a:gd name="T59" fmla="*/ 0 h 168"/>
                    <a:gd name="T60" fmla="*/ 176 w 180"/>
                    <a:gd name="T61" fmla="*/ 0 h 168"/>
                    <a:gd name="T62" fmla="*/ 177 w 180"/>
                    <a:gd name="T63" fmla="*/ 0 h 168"/>
                    <a:gd name="T64" fmla="*/ 177 w 180"/>
                    <a:gd name="T65" fmla="*/ 0 h 168"/>
                    <a:gd name="T66" fmla="*/ 177 w 180"/>
                    <a:gd name="T67" fmla="*/ 1 h 168"/>
                    <a:gd name="T68" fmla="*/ 178 w 180"/>
                    <a:gd name="T69" fmla="*/ 1 h 168"/>
                    <a:gd name="T70" fmla="*/ 178 w 180"/>
                    <a:gd name="T71" fmla="*/ 1 h 168"/>
                    <a:gd name="T72" fmla="*/ 179 w 180"/>
                    <a:gd name="T73" fmla="*/ 2 h 168"/>
                    <a:gd name="T74" fmla="*/ 179 w 180"/>
                    <a:gd name="T75" fmla="*/ 3 h 168"/>
                    <a:gd name="T76" fmla="*/ 179 w 180"/>
                    <a:gd name="T77" fmla="*/ 16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80"/>
                    <a:gd name="T118" fmla="*/ 0 h 168"/>
                    <a:gd name="T119" fmla="*/ 180 w 180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80" h="168">
                      <a:moveTo>
                        <a:pt x="179" y="163"/>
                      </a:moveTo>
                      <a:lnTo>
                        <a:pt x="179" y="164"/>
                      </a:lnTo>
                      <a:lnTo>
                        <a:pt x="178" y="165"/>
                      </a:lnTo>
                      <a:lnTo>
                        <a:pt x="177" y="166"/>
                      </a:lnTo>
                      <a:lnTo>
                        <a:pt x="176" y="167"/>
                      </a:lnTo>
                      <a:lnTo>
                        <a:pt x="2" y="167"/>
                      </a:lnTo>
                      <a:lnTo>
                        <a:pt x="1" y="167"/>
                      </a:lnTo>
                      <a:lnTo>
                        <a:pt x="1" y="166"/>
                      </a:lnTo>
                      <a:lnTo>
                        <a:pt x="0" y="166"/>
                      </a:lnTo>
                      <a:lnTo>
                        <a:pt x="0" y="165"/>
                      </a:lnTo>
                      <a:lnTo>
                        <a:pt x="0" y="164"/>
                      </a:lnTo>
                      <a:lnTo>
                        <a:pt x="0" y="163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  <a:lnTo>
                        <a:pt x="1" y="0"/>
                      </a:lnTo>
                      <a:lnTo>
                        <a:pt x="2" y="0"/>
                      </a:lnTo>
                      <a:lnTo>
                        <a:pt x="176" y="0"/>
                      </a:lnTo>
                      <a:lnTo>
                        <a:pt x="177" y="0"/>
                      </a:lnTo>
                      <a:lnTo>
                        <a:pt x="177" y="1"/>
                      </a:lnTo>
                      <a:lnTo>
                        <a:pt x="178" y="1"/>
                      </a:lnTo>
                      <a:lnTo>
                        <a:pt x="179" y="2"/>
                      </a:lnTo>
                      <a:lnTo>
                        <a:pt x="179" y="3"/>
                      </a:lnTo>
                      <a:lnTo>
                        <a:pt x="179" y="163"/>
                      </a:lnTo>
                    </a:path>
                  </a:pathLst>
                </a:custGeom>
                <a:solidFill>
                  <a:srgbClr val="EFEFD1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24" name="Freeform 575"/>
                <p:cNvSpPr>
                  <a:spLocks/>
                </p:cNvSpPr>
                <p:nvPr/>
              </p:nvSpPr>
              <p:spPr bwMode="auto">
                <a:xfrm>
                  <a:off x="3877" y="1304"/>
                  <a:ext cx="142" cy="124"/>
                </a:xfrm>
                <a:custGeom>
                  <a:avLst/>
                  <a:gdLst>
                    <a:gd name="T0" fmla="*/ 0 w 142"/>
                    <a:gd name="T1" fmla="*/ 1 h 124"/>
                    <a:gd name="T2" fmla="*/ 1 w 142"/>
                    <a:gd name="T3" fmla="*/ 1 h 124"/>
                    <a:gd name="T4" fmla="*/ 1 w 142"/>
                    <a:gd name="T5" fmla="*/ 1 h 124"/>
                    <a:gd name="T6" fmla="*/ 2 w 142"/>
                    <a:gd name="T7" fmla="*/ 0 h 124"/>
                    <a:gd name="T8" fmla="*/ 2 w 142"/>
                    <a:gd name="T9" fmla="*/ 0 h 124"/>
                    <a:gd name="T10" fmla="*/ 3 w 142"/>
                    <a:gd name="T11" fmla="*/ 0 h 124"/>
                    <a:gd name="T12" fmla="*/ 3 w 142"/>
                    <a:gd name="T13" fmla="*/ 0 h 124"/>
                    <a:gd name="T14" fmla="*/ 4 w 142"/>
                    <a:gd name="T15" fmla="*/ 0 h 124"/>
                    <a:gd name="T16" fmla="*/ 135 w 142"/>
                    <a:gd name="T17" fmla="*/ 0 h 124"/>
                    <a:gd name="T18" fmla="*/ 136 w 142"/>
                    <a:gd name="T19" fmla="*/ 0 h 124"/>
                    <a:gd name="T20" fmla="*/ 137 w 142"/>
                    <a:gd name="T21" fmla="*/ 0 h 124"/>
                    <a:gd name="T22" fmla="*/ 137 w 142"/>
                    <a:gd name="T23" fmla="*/ 0 h 124"/>
                    <a:gd name="T24" fmla="*/ 138 w 142"/>
                    <a:gd name="T25" fmla="*/ 0 h 124"/>
                    <a:gd name="T26" fmla="*/ 138 w 142"/>
                    <a:gd name="T27" fmla="*/ 1 h 124"/>
                    <a:gd name="T28" fmla="*/ 139 w 142"/>
                    <a:gd name="T29" fmla="*/ 1 h 124"/>
                    <a:gd name="T30" fmla="*/ 139 w 142"/>
                    <a:gd name="T31" fmla="*/ 1 h 124"/>
                    <a:gd name="T32" fmla="*/ 140 w 142"/>
                    <a:gd name="T33" fmla="*/ 2 h 124"/>
                    <a:gd name="T34" fmla="*/ 140 w 142"/>
                    <a:gd name="T35" fmla="*/ 3 h 124"/>
                    <a:gd name="T36" fmla="*/ 141 w 142"/>
                    <a:gd name="T37" fmla="*/ 3 h 124"/>
                    <a:gd name="T38" fmla="*/ 141 w 142"/>
                    <a:gd name="T39" fmla="*/ 4 h 124"/>
                    <a:gd name="T40" fmla="*/ 141 w 142"/>
                    <a:gd name="T41" fmla="*/ 5 h 124"/>
                    <a:gd name="T42" fmla="*/ 141 w 142"/>
                    <a:gd name="T43" fmla="*/ 117 h 124"/>
                    <a:gd name="T44" fmla="*/ 141 w 142"/>
                    <a:gd name="T45" fmla="*/ 119 h 124"/>
                    <a:gd name="T46" fmla="*/ 140 w 142"/>
                    <a:gd name="T47" fmla="*/ 119 h 124"/>
                    <a:gd name="T48" fmla="*/ 140 w 142"/>
                    <a:gd name="T49" fmla="*/ 120 h 124"/>
                    <a:gd name="T50" fmla="*/ 139 w 142"/>
                    <a:gd name="T51" fmla="*/ 121 h 124"/>
                    <a:gd name="T52" fmla="*/ 139 w 142"/>
                    <a:gd name="T53" fmla="*/ 121 h 124"/>
                    <a:gd name="T54" fmla="*/ 138 w 142"/>
                    <a:gd name="T55" fmla="*/ 122 h 124"/>
                    <a:gd name="T56" fmla="*/ 138 w 142"/>
                    <a:gd name="T57" fmla="*/ 122 h 124"/>
                    <a:gd name="T58" fmla="*/ 137 w 142"/>
                    <a:gd name="T59" fmla="*/ 122 h 124"/>
                    <a:gd name="T60" fmla="*/ 137 w 142"/>
                    <a:gd name="T61" fmla="*/ 123 h 124"/>
                    <a:gd name="T62" fmla="*/ 136 w 142"/>
                    <a:gd name="T63" fmla="*/ 123 h 124"/>
                    <a:gd name="T64" fmla="*/ 135 w 142"/>
                    <a:gd name="T65" fmla="*/ 123 h 124"/>
                    <a:gd name="T66" fmla="*/ 4 w 142"/>
                    <a:gd name="T67" fmla="*/ 123 h 124"/>
                    <a:gd name="T68" fmla="*/ 3 w 142"/>
                    <a:gd name="T69" fmla="*/ 123 h 124"/>
                    <a:gd name="T70" fmla="*/ 3 w 142"/>
                    <a:gd name="T71" fmla="*/ 123 h 124"/>
                    <a:gd name="T72" fmla="*/ 2 w 142"/>
                    <a:gd name="T73" fmla="*/ 122 h 124"/>
                    <a:gd name="T74" fmla="*/ 2 w 142"/>
                    <a:gd name="T75" fmla="*/ 122 h 124"/>
                    <a:gd name="T76" fmla="*/ 1 w 142"/>
                    <a:gd name="T77" fmla="*/ 122 h 124"/>
                    <a:gd name="T78" fmla="*/ 1 w 142"/>
                    <a:gd name="T79" fmla="*/ 121 h 124"/>
                    <a:gd name="T80" fmla="*/ 0 w 142"/>
                    <a:gd name="T81" fmla="*/ 121 h 124"/>
                    <a:gd name="T82" fmla="*/ 0 w 142"/>
                    <a:gd name="T83" fmla="*/ 120 h 124"/>
                    <a:gd name="T84" fmla="*/ 0 w 142"/>
                    <a:gd name="T85" fmla="*/ 119 h 124"/>
                    <a:gd name="T86" fmla="*/ 0 w 142"/>
                    <a:gd name="T87" fmla="*/ 119 h 124"/>
                    <a:gd name="T88" fmla="*/ 0 w 142"/>
                    <a:gd name="T89" fmla="*/ 117 h 124"/>
                    <a:gd name="T90" fmla="*/ 0 w 142"/>
                    <a:gd name="T91" fmla="*/ 5 h 124"/>
                    <a:gd name="T92" fmla="*/ 0 w 142"/>
                    <a:gd name="T93" fmla="*/ 4 h 124"/>
                    <a:gd name="T94" fmla="*/ 0 w 142"/>
                    <a:gd name="T95" fmla="*/ 3 h 124"/>
                    <a:gd name="T96" fmla="*/ 0 w 142"/>
                    <a:gd name="T97" fmla="*/ 3 h 124"/>
                    <a:gd name="T98" fmla="*/ 0 w 142"/>
                    <a:gd name="T99" fmla="*/ 2 h 124"/>
                    <a:gd name="T100" fmla="*/ 0 w 142"/>
                    <a:gd name="T101" fmla="*/ 1 h 124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42"/>
                    <a:gd name="T154" fmla="*/ 0 h 124"/>
                    <a:gd name="T155" fmla="*/ 142 w 142"/>
                    <a:gd name="T156" fmla="*/ 124 h 124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42" h="124">
                      <a:moveTo>
                        <a:pt x="0" y="1"/>
                      </a:moveTo>
                      <a:lnTo>
                        <a:pt x="1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8" y="1"/>
                      </a:lnTo>
                      <a:lnTo>
                        <a:pt x="139" y="1"/>
                      </a:lnTo>
                      <a:lnTo>
                        <a:pt x="140" y="2"/>
                      </a:lnTo>
                      <a:lnTo>
                        <a:pt x="140" y="3"/>
                      </a:lnTo>
                      <a:lnTo>
                        <a:pt x="141" y="3"/>
                      </a:lnTo>
                      <a:lnTo>
                        <a:pt x="141" y="4"/>
                      </a:lnTo>
                      <a:lnTo>
                        <a:pt x="141" y="5"/>
                      </a:lnTo>
                      <a:lnTo>
                        <a:pt x="141" y="117"/>
                      </a:lnTo>
                      <a:lnTo>
                        <a:pt x="141" y="119"/>
                      </a:lnTo>
                      <a:lnTo>
                        <a:pt x="140" y="119"/>
                      </a:lnTo>
                      <a:lnTo>
                        <a:pt x="140" y="120"/>
                      </a:lnTo>
                      <a:lnTo>
                        <a:pt x="139" y="121"/>
                      </a:lnTo>
                      <a:lnTo>
                        <a:pt x="138" y="122"/>
                      </a:lnTo>
                      <a:lnTo>
                        <a:pt x="137" y="122"/>
                      </a:lnTo>
                      <a:lnTo>
                        <a:pt x="137" y="123"/>
                      </a:lnTo>
                      <a:lnTo>
                        <a:pt x="136" y="123"/>
                      </a:lnTo>
                      <a:lnTo>
                        <a:pt x="135" y="123"/>
                      </a:lnTo>
                      <a:lnTo>
                        <a:pt x="4" y="123"/>
                      </a:lnTo>
                      <a:lnTo>
                        <a:pt x="3" y="123"/>
                      </a:lnTo>
                      <a:lnTo>
                        <a:pt x="2" y="122"/>
                      </a:lnTo>
                      <a:lnTo>
                        <a:pt x="1" y="122"/>
                      </a:lnTo>
                      <a:lnTo>
                        <a:pt x="1" y="121"/>
                      </a:lnTo>
                      <a:lnTo>
                        <a:pt x="0" y="121"/>
                      </a:lnTo>
                      <a:lnTo>
                        <a:pt x="0" y="120"/>
                      </a:lnTo>
                      <a:lnTo>
                        <a:pt x="0" y="119"/>
                      </a:lnTo>
                      <a:lnTo>
                        <a:pt x="0" y="117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0" y="2"/>
                      </a:lnTo>
                      <a:lnTo>
                        <a:pt x="0" y="1"/>
                      </a:lnTo>
                    </a:path>
                  </a:pathLst>
                </a:custGeom>
                <a:gradFill rotWithShape="0">
                  <a:gsLst>
                    <a:gs pos="0">
                      <a:srgbClr val="1D2B4B"/>
                    </a:gs>
                    <a:gs pos="50000">
                      <a:srgbClr val="618FFD"/>
                    </a:gs>
                    <a:gs pos="100000">
                      <a:srgbClr val="1D2B4B"/>
                    </a:gs>
                  </a:gsLst>
                  <a:lin ang="2700000" scaled="1"/>
                </a:gra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25" name="Freeform 576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4 h 17"/>
                    <a:gd name="T2" fmla="*/ 151 w 153"/>
                    <a:gd name="T3" fmla="*/ 3 h 17"/>
                    <a:gd name="T4" fmla="*/ 151 w 153"/>
                    <a:gd name="T5" fmla="*/ 2 h 17"/>
                    <a:gd name="T6" fmla="*/ 150 w 153"/>
                    <a:gd name="T7" fmla="*/ 2 h 17"/>
                    <a:gd name="T8" fmla="*/ 150 w 153"/>
                    <a:gd name="T9" fmla="*/ 2 h 17"/>
                    <a:gd name="T10" fmla="*/ 150 w 153"/>
                    <a:gd name="T11" fmla="*/ 1 h 17"/>
                    <a:gd name="T12" fmla="*/ 149 w 153"/>
                    <a:gd name="T13" fmla="*/ 1 h 17"/>
                    <a:gd name="T14" fmla="*/ 149 w 153"/>
                    <a:gd name="T15" fmla="*/ 1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1 h 17"/>
                    <a:gd name="T32" fmla="*/ 1 w 153"/>
                    <a:gd name="T33" fmla="*/ 1 h 17"/>
                    <a:gd name="T34" fmla="*/ 0 w 153"/>
                    <a:gd name="T35" fmla="*/ 2 h 17"/>
                    <a:gd name="T36" fmla="*/ 0 w 153"/>
                    <a:gd name="T37" fmla="*/ 2 h 17"/>
                    <a:gd name="T38" fmla="*/ 0 w 153"/>
                    <a:gd name="T39" fmla="*/ 3 h 17"/>
                    <a:gd name="T40" fmla="*/ 6 w 153"/>
                    <a:gd name="T41" fmla="*/ 16 h 17"/>
                    <a:gd name="T42" fmla="*/ 7 w 153"/>
                    <a:gd name="T43" fmla="*/ 14 h 17"/>
                    <a:gd name="T44" fmla="*/ 7 w 153"/>
                    <a:gd name="T45" fmla="*/ 14 h 17"/>
                    <a:gd name="T46" fmla="*/ 8 w 153"/>
                    <a:gd name="T47" fmla="*/ 13 h 17"/>
                    <a:gd name="T48" fmla="*/ 8 w 153"/>
                    <a:gd name="T49" fmla="*/ 13 h 17"/>
                    <a:gd name="T50" fmla="*/ 8 w 153"/>
                    <a:gd name="T51" fmla="*/ 12 h 17"/>
                    <a:gd name="T52" fmla="*/ 9 w 153"/>
                    <a:gd name="T53" fmla="*/ 12 h 17"/>
                    <a:gd name="T54" fmla="*/ 10 w 153"/>
                    <a:gd name="T55" fmla="*/ 12 h 17"/>
                    <a:gd name="T56" fmla="*/ 140 w 153"/>
                    <a:gd name="T57" fmla="*/ 12 h 17"/>
                    <a:gd name="T58" fmla="*/ 141 w 153"/>
                    <a:gd name="T59" fmla="*/ 12 h 17"/>
                    <a:gd name="T60" fmla="*/ 142 w 153"/>
                    <a:gd name="T61" fmla="*/ 12 h 17"/>
                    <a:gd name="T62" fmla="*/ 142 w 153"/>
                    <a:gd name="T63" fmla="*/ 13 h 17"/>
                    <a:gd name="T64" fmla="*/ 143 w 153"/>
                    <a:gd name="T65" fmla="*/ 13 h 17"/>
                    <a:gd name="T66" fmla="*/ 143 w 153"/>
                    <a:gd name="T67" fmla="*/ 14 h 17"/>
                    <a:gd name="T68" fmla="*/ 143 w 153"/>
                    <a:gd name="T69" fmla="*/ 14 h 17"/>
                    <a:gd name="T70" fmla="*/ 144 w 153"/>
                    <a:gd name="T71" fmla="*/ 14 h 17"/>
                    <a:gd name="T72" fmla="*/ 152 w 153"/>
                    <a:gd name="T73" fmla="*/ 4 h 17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53"/>
                    <a:gd name="T112" fmla="*/ 0 h 17"/>
                    <a:gd name="T113" fmla="*/ 153 w 153"/>
                    <a:gd name="T114" fmla="*/ 17 h 17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53" h="17">
                      <a:moveTo>
                        <a:pt x="152" y="4"/>
                      </a:moveTo>
                      <a:lnTo>
                        <a:pt x="151" y="3"/>
                      </a:lnTo>
                      <a:lnTo>
                        <a:pt x="151" y="2"/>
                      </a:lnTo>
                      <a:lnTo>
                        <a:pt x="150" y="2"/>
                      </a:lnTo>
                      <a:lnTo>
                        <a:pt x="150" y="1"/>
                      </a:lnTo>
                      <a:lnTo>
                        <a:pt x="149" y="1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6" y="16"/>
                      </a:lnTo>
                      <a:lnTo>
                        <a:pt x="7" y="14"/>
                      </a:lnTo>
                      <a:lnTo>
                        <a:pt x="8" y="13"/>
                      </a:lnTo>
                      <a:lnTo>
                        <a:pt x="8" y="12"/>
                      </a:lnTo>
                      <a:lnTo>
                        <a:pt x="9" y="12"/>
                      </a:lnTo>
                      <a:lnTo>
                        <a:pt x="10" y="12"/>
                      </a:lnTo>
                      <a:lnTo>
                        <a:pt x="140" y="12"/>
                      </a:lnTo>
                      <a:lnTo>
                        <a:pt x="141" y="12"/>
                      </a:lnTo>
                      <a:lnTo>
                        <a:pt x="142" y="12"/>
                      </a:lnTo>
                      <a:lnTo>
                        <a:pt x="142" y="13"/>
                      </a:lnTo>
                      <a:lnTo>
                        <a:pt x="143" y="13"/>
                      </a:lnTo>
                      <a:lnTo>
                        <a:pt x="143" y="14"/>
                      </a:lnTo>
                      <a:lnTo>
                        <a:pt x="144" y="14"/>
                      </a:lnTo>
                      <a:lnTo>
                        <a:pt x="152" y="4"/>
                      </a:lnTo>
                    </a:path>
                  </a:pathLst>
                </a:custGeom>
                <a:solidFill>
                  <a:srgbClr val="9F9FA2"/>
                </a:solidFill>
                <a:ln w="12700" cap="rnd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26" name="Freeform 577"/>
                <p:cNvSpPr>
                  <a:spLocks/>
                </p:cNvSpPr>
                <p:nvPr/>
              </p:nvSpPr>
              <p:spPr bwMode="auto">
                <a:xfrm>
                  <a:off x="3870" y="1299"/>
                  <a:ext cx="17" cy="135"/>
                </a:xfrm>
                <a:custGeom>
                  <a:avLst/>
                  <a:gdLst>
                    <a:gd name="T0" fmla="*/ 2 w 17"/>
                    <a:gd name="T1" fmla="*/ 0 h 135"/>
                    <a:gd name="T2" fmla="*/ 1 w 17"/>
                    <a:gd name="T3" fmla="*/ 0 h 135"/>
                    <a:gd name="T4" fmla="*/ 0 w 17"/>
                    <a:gd name="T5" fmla="*/ 1 h 135"/>
                    <a:gd name="T6" fmla="*/ 0 w 17"/>
                    <a:gd name="T7" fmla="*/ 2 h 135"/>
                    <a:gd name="T8" fmla="*/ 0 w 17"/>
                    <a:gd name="T9" fmla="*/ 2 h 135"/>
                    <a:gd name="T10" fmla="*/ 0 w 17"/>
                    <a:gd name="T11" fmla="*/ 3 h 135"/>
                    <a:gd name="T12" fmla="*/ 0 w 17"/>
                    <a:gd name="T13" fmla="*/ 4 h 135"/>
                    <a:gd name="T14" fmla="*/ 0 w 17"/>
                    <a:gd name="T15" fmla="*/ 130 h 135"/>
                    <a:gd name="T16" fmla="*/ 0 w 17"/>
                    <a:gd name="T17" fmla="*/ 130 h 135"/>
                    <a:gd name="T18" fmla="*/ 0 w 17"/>
                    <a:gd name="T19" fmla="*/ 131 h 135"/>
                    <a:gd name="T20" fmla="*/ 0 w 17"/>
                    <a:gd name="T21" fmla="*/ 132 h 135"/>
                    <a:gd name="T22" fmla="*/ 0 w 17"/>
                    <a:gd name="T23" fmla="*/ 132 h 135"/>
                    <a:gd name="T24" fmla="*/ 1 w 17"/>
                    <a:gd name="T25" fmla="*/ 133 h 135"/>
                    <a:gd name="T26" fmla="*/ 2 w 17"/>
                    <a:gd name="T27" fmla="*/ 133 h 135"/>
                    <a:gd name="T28" fmla="*/ 2 w 17"/>
                    <a:gd name="T29" fmla="*/ 134 h 135"/>
                    <a:gd name="T30" fmla="*/ 3 w 17"/>
                    <a:gd name="T31" fmla="*/ 134 h 135"/>
                    <a:gd name="T32" fmla="*/ 16 w 17"/>
                    <a:gd name="T33" fmla="*/ 127 h 135"/>
                    <a:gd name="T34" fmla="*/ 15 w 17"/>
                    <a:gd name="T35" fmla="*/ 126 h 135"/>
                    <a:gd name="T36" fmla="*/ 15 w 17"/>
                    <a:gd name="T37" fmla="*/ 126 h 135"/>
                    <a:gd name="T38" fmla="*/ 14 w 17"/>
                    <a:gd name="T39" fmla="*/ 126 h 135"/>
                    <a:gd name="T40" fmla="*/ 14 w 17"/>
                    <a:gd name="T41" fmla="*/ 125 h 135"/>
                    <a:gd name="T42" fmla="*/ 13 w 17"/>
                    <a:gd name="T43" fmla="*/ 124 h 135"/>
                    <a:gd name="T44" fmla="*/ 13 w 17"/>
                    <a:gd name="T45" fmla="*/ 124 h 135"/>
                    <a:gd name="T46" fmla="*/ 13 w 17"/>
                    <a:gd name="T47" fmla="*/ 10 h 135"/>
                    <a:gd name="T48" fmla="*/ 13 w 17"/>
                    <a:gd name="T49" fmla="*/ 9 h 135"/>
                    <a:gd name="T50" fmla="*/ 13 w 17"/>
                    <a:gd name="T51" fmla="*/ 8 h 135"/>
                    <a:gd name="T52" fmla="*/ 14 w 17"/>
                    <a:gd name="T53" fmla="*/ 8 h 135"/>
                    <a:gd name="T54" fmla="*/ 15 w 17"/>
                    <a:gd name="T55" fmla="*/ 7 h 135"/>
                    <a:gd name="T56" fmla="*/ 15 w 17"/>
                    <a:gd name="T57" fmla="*/ 6 h 135"/>
                    <a:gd name="T58" fmla="*/ 2 w 17"/>
                    <a:gd name="T59" fmla="*/ 0 h 135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w 17"/>
                    <a:gd name="T91" fmla="*/ 0 h 135"/>
                    <a:gd name="T92" fmla="*/ 17 w 17"/>
                    <a:gd name="T93" fmla="*/ 135 h 135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T90" t="T91" r="T92" b="T93"/>
                  <a:pathLst>
                    <a:path w="17" h="135">
                      <a:moveTo>
                        <a:pt x="2" y="0"/>
                      </a:moveTo>
                      <a:lnTo>
                        <a:pt x="1" y="0"/>
                      </a:lnTo>
                      <a:lnTo>
                        <a:pt x="0" y="1"/>
                      </a:lnTo>
                      <a:lnTo>
                        <a:pt x="0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lnTo>
                        <a:pt x="0" y="130"/>
                      </a:lnTo>
                      <a:lnTo>
                        <a:pt x="0" y="131"/>
                      </a:lnTo>
                      <a:lnTo>
                        <a:pt x="0" y="132"/>
                      </a:lnTo>
                      <a:lnTo>
                        <a:pt x="1" y="133"/>
                      </a:lnTo>
                      <a:lnTo>
                        <a:pt x="2" y="133"/>
                      </a:lnTo>
                      <a:lnTo>
                        <a:pt x="2" y="134"/>
                      </a:lnTo>
                      <a:lnTo>
                        <a:pt x="3" y="134"/>
                      </a:lnTo>
                      <a:lnTo>
                        <a:pt x="16" y="127"/>
                      </a:lnTo>
                      <a:lnTo>
                        <a:pt x="15" y="126"/>
                      </a:lnTo>
                      <a:lnTo>
                        <a:pt x="14" y="126"/>
                      </a:lnTo>
                      <a:lnTo>
                        <a:pt x="14" y="125"/>
                      </a:lnTo>
                      <a:lnTo>
                        <a:pt x="13" y="124"/>
                      </a:lnTo>
                      <a:lnTo>
                        <a:pt x="13" y="10"/>
                      </a:lnTo>
                      <a:lnTo>
                        <a:pt x="13" y="9"/>
                      </a:lnTo>
                      <a:lnTo>
                        <a:pt x="13" y="8"/>
                      </a:lnTo>
                      <a:lnTo>
                        <a:pt x="14" y="8"/>
                      </a:lnTo>
                      <a:lnTo>
                        <a:pt x="15" y="7"/>
                      </a:lnTo>
                      <a:lnTo>
                        <a:pt x="15" y="6"/>
                      </a:lnTo>
                      <a:lnTo>
                        <a:pt x="2" y="0"/>
                      </a:lnTo>
                    </a:path>
                  </a:pathLst>
                </a:custGeom>
                <a:solidFill>
                  <a:srgbClr val="666666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27" name="Freeform 578"/>
                <p:cNvSpPr>
                  <a:spLocks/>
                </p:cNvSpPr>
                <p:nvPr/>
              </p:nvSpPr>
              <p:spPr bwMode="auto">
                <a:xfrm>
                  <a:off x="3872" y="1300"/>
                  <a:ext cx="155" cy="136"/>
                </a:xfrm>
                <a:custGeom>
                  <a:avLst/>
                  <a:gdLst>
                    <a:gd name="T0" fmla="*/ 0 w 155"/>
                    <a:gd name="T1" fmla="*/ 133 h 136"/>
                    <a:gd name="T2" fmla="*/ 0 w 155"/>
                    <a:gd name="T3" fmla="*/ 134 h 136"/>
                    <a:gd name="T4" fmla="*/ 0 w 155"/>
                    <a:gd name="T5" fmla="*/ 134 h 136"/>
                    <a:gd name="T6" fmla="*/ 1 w 155"/>
                    <a:gd name="T7" fmla="*/ 134 h 136"/>
                    <a:gd name="T8" fmla="*/ 1 w 155"/>
                    <a:gd name="T9" fmla="*/ 134 h 136"/>
                    <a:gd name="T10" fmla="*/ 2 w 155"/>
                    <a:gd name="T11" fmla="*/ 135 h 136"/>
                    <a:gd name="T12" fmla="*/ 2 w 155"/>
                    <a:gd name="T13" fmla="*/ 135 h 136"/>
                    <a:gd name="T14" fmla="*/ 3 w 155"/>
                    <a:gd name="T15" fmla="*/ 135 h 136"/>
                    <a:gd name="T16" fmla="*/ 148 w 155"/>
                    <a:gd name="T17" fmla="*/ 135 h 136"/>
                    <a:gd name="T18" fmla="*/ 150 w 155"/>
                    <a:gd name="T19" fmla="*/ 134 h 136"/>
                    <a:gd name="T20" fmla="*/ 151 w 155"/>
                    <a:gd name="T21" fmla="*/ 134 h 136"/>
                    <a:gd name="T22" fmla="*/ 151 w 155"/>
                    <a:gd name="T23" fmla="*/ 133 h 136"/>
                    <a:gd name="T24" fmla="*/ 152 w 155"/>
                    <a:gd name="T25" fmla="*/ 133 h 136"/>
                    <a:gd name="T26" fmla="*/ 152 w 155"/>
                    <a:gd name="T27" fmla="*/ 133 h 136"/>
                    <a:gd name="T28" fmla="*/ 153 w 155"/>
                    <a:gd name="T29" fmla="*/ 132 h 136"/>
                    <a:gd name="T30" fmla="*/ 153 w 155"/>
                    <a:gd name="T31" fmla="*/ 131 h 136"/>
                    <a:gd name="T32" fmla="*/ 154 w 155"/>
                    <a:gd name="T33" fmla="*/ 131 h 136"/>
                    <a:gd name="T34" fmla="*/ 154 w 155"/>
                    <a:gd name="T35" fmla="*/ 129 h 136"/>
                    <a:gd name="T36" fmla="*/ 154 w 155"/>
                    <a:gd name="T37" fmla="*/ 129 h 136"/>
                    <a:gd name="T38" fmla="*/ 154 w 155"/>
                    <a:gd name="T39" fmla="*/ 3 h 136"/>
                    <a:gd name="T40" fmla="*/ 154 w 155"/>
                    <a:gd name="T41" fmla="*/ 2 h 136"/>
                    <a:gd name="T42" fmla="*/ 154 w 155"/>
                    <a:gd name="T43" fmla="*/ 1 h 136"/>
                    <a:gd name="T44" fmla="*/ 154 w 155"/>
                    <a:gd name="T45" fmla="*/ 1 h 136"/>
                    <a:gd name="T46" fmla="*/ 153 w 155"/>
                    <a:gd name="T47" fmla="*/ 1 h 136"/>
                    <a:gd name="T48" fmla="*/ 153 w 155"/>
                    <a:gd name="T49" fmla="*/ 0 h 136"/>
                    <a:gd name="T50" fmla="*/ 153 w 155"/>
                    <a:gd name="T51" fmla="*/ 0 h 136"/>
                    <a:gd name="T52" fmla="*/ 145 w 155"/>
                    <a:gd name="T53" fmla="*/ 5 h 136"/>
                    <a:gd name="T54" fmla="*/ 145 w 155"/>
                    <a:gd name="T55" fmla="*/ 5 h 136"/>
                    <a:gd name="T56" fmla="*/ 146 w 155"/>
                    <a:gd name="T57" fmla="*/ 6 h 136"/>
                    <a:gd name="T58" fmla="*/ 146 w 155"/>
                    <a:gd name="T59" fmla="*/ 7 h 136"/>
                    <a:gd name="T60" fmla="*/ 146 w 155"/>
                    <a:gd name="T61" fmla="*/ 7 h 136"/>
                    <a:gd name="T62" fmla="*/ 146 w 155"/>
                    <a:gd name="T63" fmla="*/ 7 h 136"/>
                    <a:gd name="T64" fmla="*/ 146 w 155"/>
                    <a:gd name="T65" fmla="*/ 8 h 136"/>
                    <a:gd name="T66" fmla="*/ 146 w 155"/>
                    <a:gd name="T67" fmla="*/ 9 h 136"/>
                    <a:gd name="T68" fmla="*/ 146 w 155"/>
                    <a:gd name="T69" fmla="*/ 9 h 136"/>
                    <a:gd name="T70" fmla="*/ 146 w 155"/>
                    <a:gd name="T71" fmla="*/ 123 h 136"/>
                    <a:gd name="T72" fmla="*/ 146 w 155"/>
                    <a:gd name="T73" fmla="*/ 123 h 136"/>
                    <a:gd name="T74" fmla="*/ 146 w 155"/>
                    <a:gd name="T75" fmla="*/ 124 h 136"/>
                    <a:gd name="T76" fmla="*/ 146 w 155"/>
                    <a:gd name="T77" fmla="*/ 125 h 136"/>
                    <a:gd name="T78" fmla="*/ 146 w 155"/>
                    <a:gd name="T79" fmla="*/ 125 h 136"/>
                    <a:gd name="T80" fmla="*/ 145 w 155"/>
                    <a:gd name="T81" fmla="*/ 126 h 136"/>
                    <a:gd name="T82" fmla="*/ 145 w 155"/>
                    <a:gd name="T83" fmla="*/ 127 h 136"/>
                    <a:gd name="T84" fmla="*/ 144 w 155"/>
                    <a:gd name="T85" fmla="*/ 127 h 136"/>
                    <a:gd name="T86" fmla="*/ 143 w 155"/>
                    <a:gd name="T87" fmla="*/ 127 h 136"/>
                    <a:gd name="T88" fmla="*/ 143 w 155"/>
                    <a:gd name="T89" fmla="*/ 128 h 136"/>
                    <a:gd name="T90" fmla="*/ 142 w 155"/>
                    <a:gd name="T91" fmla="*/ 128 h 136"/>
                    <a:gd name="T92" fmla="*/ 142 w 155"/>
                    <a:gd name="T93" fmla="*/ 128 h 136"/>
                    <a:gd name="T94" fmla="*/ 9 w 155"/>
                    <a:gd name="T95" fmla="*/ 128 h 136"/>
                    <a:gd name="T96" fmla="*/ 8 w 155"/>
                    <a:gd name="T97" fmla="*/ 128 h 136"/>
                    <a:gd name="T98" fmla="*/ 8 w 155"/>
                    <a:gd name="T99" fmla="*/ 128 h 136"/>
                    <a:gd name="T100" fmla="*/ 8 w 155"/>
                    <a:gd name="T101" fmla="*/ 127 h 136"/>
                    <a:gd name="T102" fmla="*/ 7 w 155"/>
                    <a:gd name="T103" fmla="*/ 127 h 136"/>
                    <a:gd name="T104" fmla="*/ 7 w 155"/>
                    <a:gd name="T105" fmla="*/ 127 h 136"/>
                    <a:gd name="T106" fmla="*/ 6 w 155"/>
                    <a:gd name="T107" fmla="*/ 127 h 136"/>
                    <a:gd name="T108" fmla="*/ 6 w 155"/>
                    <a:gd name="T109" fmla="*/ 127 h 136"/>
                    <a:gd name="T110" fmla="*/ 0 w 155"/>
                    <a:gd name="T111" fmla="*/ 133 h 1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55"/>
                    <a:gd name="T169" fmla="*/ 0 h 136"/>
                    <a:gd name="T170" fmla="*/ 155 w 155"/>
                    <a:gd name="T171" fmla="*/ 136 h 136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55" h="136">
                      <a:moveTo>
                        <a:pt x="0" y="133"/>
                      </a:moveTo>
                      <a:lnTo>
                        <a:pt x="0" y="134"/>
                      </a:lnTo>
                      <a:lnTo>
                        <a:pt x="1" y="134"/>
                      </a:lnTo>
                      <a:lnTo>
                        <a:pt x="2" y="135"/>
                      </a:lnTo>
                      <a:lnTo>
                        <a:pt x="3" y="135"/>
                      </a:lnTo>
                      <a:lnTo>
                        <a:pt x="148" y="135"/>
                      </a:lnTo>
                      <a:lnTo>
                        <a:pt x="150" y="134"/>
                      </a:lnTo>
                      <a:lnTo>
                        <a:pt x="151" y="134"/>
                      </a:lnTo>
                      <a:lnTo>
                        <a:pt x="151" y="133"/>
                      </a:lnTo>
                      <a:lnTo>
                        <a:pt x="152" y="133"/>
                      </a:lnTo>
                      <a:lnTo>
                        <a:pt x="153" y="132"/>
                      </a:lnTo>
                      <a:lnTo>
                        <a:pt x="153" y="131"/>
                      </a:lnTo>
                      <a:lnTo>
                        <a:pt x="154" y="131"/>
                      </a:lnTo>
                      <a:lnTo>
                        <a:pt x="154" y="129"/>
                      </a:lnTo>
                      <a:lnTo>
                        <a:pt x="154" y="3"/>
                      </a:lnTo>
                      <a:lnTo>
                        <a:pt x="154" y="2"/>
                      </a:lnTo>
                      <a:lnTo>
                        <a:pt x="154" y="1"/>
                      </a:lnTo>
                      <a:lnTo>
                        <a:pt x="153" y="1"/>
                      </a:lnTo>
                      <a:lnTo>
                        <a:pt x="153" y="0"/>
                      </a:lnTo>
                      <a:lnTo>
                        <a:pt x="145" y="5"/>
                      </a:lnTo>
                      <a:lnTo>
                        <a:pt x="146" y="6"/>
                      </a:lnTo>
                      <a:lnTo>
                        <a:pt x="146" y="7"/>
                      </a:lnTo>
                      <a:lnTo>
                        <a:pt x="146" y="8"/>
                      </a:lnTo>
                      <a:lnTo>
                        <a:pt x="146" y="9"/>
                      </a:lnTo>
                      <a:lnTo>
                        <a:pt x="146" y="123"/>
                      </a:lnTo>
                      <a:lnTo>
                        <a:pt x="146" y="124"/>
                      </a:lnTo>
                      <a:lnTo>
                        <a:pt x="146" y="125"/>
                      </a:lnTo>
                      <a:lnTo>
                        <a:pt x="145" y="126"/>
                      </a:lnTo>
                      <a:lnTo>
                        <a:pt x="145" y="127"/>
                      </a:lnTo>
                      <a:lnTo>
                        <a:pt x="144" y="127"/>
                      </a:lnTo>
                      <a:lnTo>
                        <a:pt x="143" y="127"/>
                      </a:lnTo>
                      <a:lnTo>
                        <a:pt x="143" y="128"/>
                      </a:lnTo>
                      <a:lnTo>
                        <a:pt x="142" y="128"/>
                      </a:lnTo>
                      <a:lnTo>
                        <a:pt x="9" y="128"/>
                      </a:lnTo>
                      <a:lnTo>
                        <a:pt x="8" y="128"/>
                      </a:lnTo>
                      <a:lnTo>
                        <a:pt x="8" y="127"/>
                      </a:lnTo>
                      <a:lnTo>
                        <a:pt x="7" y="127"/>
                      </a:lnTo>
                      <a:lnTo>
                        <a:pt x="6" y="127"/>
                      </a:lnTo>
                      <a:lnTo>
                        <a:pt x="0" y="133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999999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28" name="Freeform 579"/>
                <p:cNvSpPr>
                  <a:spLocks/>
                </p:cNvSpPr>
                <p:nvPr/>
              </p:nvSpPr>
              <p:spPr bwMode="auto">
                <a:xfrm>
                  <a:off x="3872" y="1298"/>
                  <a:ext cx="153" cy="17"/>
                </a:xfrm>
                <a:custGeom>
                  <a:avLst/>
                  <a:gdLst>
                    <a:gd name="T0" fmla="*/ 152 w 153"/>
                    <a:gd name="T1" fmla="*/ 16 h 17"/>
                    <a:gd name="T2" fmla="*/ 151 w 153"/>
                    <a:gd name="T3" fmla="*/ 16 h 17"/>
                    <a:gd name="T4" fmla="*/ 151 w 153"/>
                    <a:gd name="T5" fmla="*/ 10 h 17"/>
                    <a:gd name="T6" fmla="*/ 150 w 153"/>
                    <a:gd name="T7" fmla="*/ 10 h 17"/>
                    <a:gd name="T8" fmla="*/ 150 w 153"/>
                    <a:gd name="T9" fmla="*/ 10 h 17"/>
                    <a:gd name="T10" fmla="*/ 150 w 153"/>
                    <a:gd name="T11" fmla="*/ 5 h 17"/>
                    <a:gd name="T12" fmla="*/ 149 w 153"/>
                    <a:gd name="T13" fmla="*/ 5 h 17"/>
                    <a:gd name="T14" fmla="*/ 149 w 153"/>
                    <a:gd name="T15" fmla="*/ 5 h 17"/>
                    <a:gd name="T16" fmla="*/ 148 w 153"/>
                    <a:gd name="T17" fmla="*/ 0 h 17"/>
                    <a:gd name="T18" fmla="*/ 148 w 153"/>
                    <a:gd name="T19" fmla="*/ 0 h 17"/>
                    <a:gd name="T20" fmla="*/ 147 w 153"/>
                    <a:gd name="T21" fmla="*/ 0 h 17"/>
                    <a:gd name="T22" fmla="*/ 146 w 153"/>
                    <a:gd name="T23" fmla="*/ 0 h 17"/>
                    <a:gd name="T24" fmla="*/ 3 w 153"/>
                    <a:gd name="T25" fmla="*/ 0 h 17"/>
                    <a:gd name="T26" fmla="*/ 3 w 153"/>
                    <a:gd name="T27" fmla="*/ 0 h 17"/>
                    <a:gd name="T28" fmla="*/ 2 w 153"/>
                    <a:gd name="T29" fmla="*/ 0 h 17"/>
                    <a:gd name="T30" fmla="*/ 1 w 153"/>
                    <a:gd name="T31" fmla="*/ 5 h 17"/>
                    <a:gd name="T32" fmla="*/ 1 w 153"/>
                    <a:gd name="T33" fmla="*/ 5 h 17"/>
                    <a:gd name="T34" fmla="*/ 0 w 153"/>
                    <a:gd name="T35" fmla="*/ 10 h 17"/>
                    <a:gd name="T36" fmla="*/ 0 w 153"/>
                    <a:gd name="T37" fmla="*/ 10 h 17"/>
                    <a:gd name="T38" fmla="*/ 0 w 153"/>
                    <a:gd name="T39" fmla="*/ 16 h 17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153"/>
                    <a:gd name="T61" fmla="*/ 0 h 17"/>
                    <a:gd name="T62" fmla="*/ 153 w 153"/>
                    <a:gd name="T63" fmla="*/ 17 h 17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153" h="17">
                      <a:moveTo>
                        <a:pt x="152" y="16"/>
                      </a:moveTo>
                      <a:lnTo>
                        <a:pt x="151" y="16"/>
                      </a:lnTo>
                      <a:lnTo>
                        <a:pt x="151" y="10"/>
                      </a:lnTo>
                      <a:lnTo>
                        <a:pt x="150" y="10"/>
                      </a:lnTo>
                      <a:lnTo>
                        <a:pt x="150" y="5"/>
                      </a:lnTo>
                      <a:lnTo>
                        <a:pt x="149" y="5"/>
                      </a:lnTo>
                      <a:lnTo>
                        <a:pt x="148" y="0"/>
                      </a:lnTo>
                      <a:lnTo>
                        <a:pt x="147" y="0"/>
                      </a:lnTo>
                      <a:lnTo>
                        <a:pt x="146" y="0"/>
                      </a:lnTo>
                      <a:lnTo>
                        <a:pt x="3" y="0"/>
                      </a:lnTo>
                      <a:lnTo>
                        <a:pt x="2" y="0"/>
                      </a:lnTo>
                      <a:lnTo>
                        <a:pt x="1" y="5"/>
                      </a:lnTo>
                      <a:lnTo>
                        <a:pt x="0" y="1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 cap="rnd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29" name="Freeform 580"/>
                <p:cNvSpPr>
                  <a:spLocks/>
                </p:cNvSpPr>
                <p:nvPr/>
              </p:nvSpPr>
              <p:spPr bwMode="auto">
                <a:xfrm>
                  <a:off x="3843" y="1489"/>
                  <a:ext cx="215" cy="72"/>
                </a:xfrm>
                <a:custGeom>
                  <a:avLst/>
                  <a:gdLst>
                    <a:gd name="T0" fmla="*/ 0 w 215"/>
                    <a:gd name="T1" fmla="*/ 71 h 72"/>
                    <a:gd name="T2" fmla="*/ 0 w 215"/>
                    <a:gd name="T3" fmla="*/ 0 h 72"/>
                    <a:gd name="T4" fmla="*/ 214 w 215"/>
                    <a:gd name="T5" fmla="*/ 0 h 72"/>
                    <a:gd name="T6" fmla="*/ 214 w 215"/>
                    <a:gd name="T7" fmla="*/ 71 h 72"/>
                    <a:gd name="T8" fmla="*/ 0 w 215"/>
                    <a:gd name="T9" fmla="*/ 71 h 7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15"/>
                    <a:gd name="T16" fmla="*/ 0 h 72"/>
                    <a:gd name="T17" fmla="*/ 215 w 215"/>
                    <a:gd name="T18" fmla="*/ 72 h 7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15" h="72">
                      <a:moveTo>
                        <a:pt x="0" y="71"/>
                      </a:moveTo>
                      <a:lnTo>
                        <a:pt x="0" y="0"/>
                      </a:lnTo>
                      <a:lnTo>
                        <a:pt x="214" y="0"/>
                      </a:lnTo>
                      <a:lnTo>
                        <a:pt x="214" y="71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30" name="Freeform 581"/>
                <p:cNvSpPr>
                  <a:spLocks/>
                </p:cNvSpPr>
                <p:nvPr/>
              </p:nvSpPr>
              <p:spPr bwMode="auto">
                <a:xfrm>
                  <a:off x="3841" y="1489"/>
                  <a:ext cx="219" cy="23"/>
                </a:xfrm>
                <a:custGeom>
                  <a:avLst/>
                  <a:gdLst>
                    <a:gd name="T0" fmla="*/ 79 w 219"/>
                    <a:gd name="T1" fmla="*/ 0 h 23"/>
                    <a:gd name="T2" fmla="*/ 0 w 219"/>
                    <a:gd name="T3" fmla="*/ 0 h 23"/>
                    <a:gd name="T4" fmla="*/ 0 w 219"/>
                    <a:gd name="T5" fmla="*/ 22 h 23"/>
                    <a:gd name="T6" fmla="*/ 218 w 219"/>
                    <a:gd name="T7" fmla="*/ 22 h 23"/>
                    <a:gd name="T8" fmla="*/ 215 w 219"/>
                    <a:gd name="T9" fmla="*/ 0 h 23"/>
                    <a:gd name="T10" fmla="*/ 137 w 219"/>
                    <a:gd name="T11" fmla="*/ 0 h 23"/>
                    <a:gd name="T12" fmla="*/ 79 w 219"/>
                    <a:gd name="T13" fmla="*/ 0 h 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19"/>
                    <a:gd name="T22" fmla="*/ 0 h 23"/>
                    <a:gd name="T23" fmla="*/ 219 w 219"/>
                    <a:gd name="T24" fmla="*/ 23 h 2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19" h="23">
                      <a:moveTo>
                        <a:pt x="79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218" y="22"/>
                      </a:lnTo>
                      <a:lnTo>
                        <a:pt x="215" y="0"/>
                      </a:lnTo>
                      <a:lnTo>
                        <a:pt x="137" y="0"/>
                      </a:lnTo>
                      <a:lnTo>
                        <a:pt x="79" y="0"/>
                      </a:lnTo>
                    </a:path>
                  </a:pathLst>
                </a:custGeom>
                <a:solidFill>
                  <a:srgbClr val="EFEFD1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31" name="Freeform 582"/>
                <p:cNvSpPr>
                  <a:spLocks/>
                </p:cNvSpPr>
                <p:nvPr/>
              </p:nvSpPr>
              <p:spPr bwMode="auto">
                <a:xfrm>
                  <a:off x="3991" y="1495"/>
                  <a:ext cx="56" cy="17"/>
                </a:xfrm>
                <a:custGeom>
                  <a:avLst/>
                  <a:gdLst>
                    <a:gd name="T0" fmla="*/ 0 w 56"/>
                    <a:gd name="T1" fmla="*/ 6 h 17"/>
                    <a:gd name="T2" fmla="*/ 18 w 56"/>
                    <a:gd name="T3" fmla="*/ 6 h 17"/>
                    <a:gd name="T4" fmla="*/ 18 w 56"/>
                    <a:gd name="T5" fmla="*/ 0 h 17"/>
                    <a:gd name="T6" fmla="*/ 35 w 56"/>
                    <a:gd name="T7" fmla="*/ 0 h 17"/>
                    <a:gd name="T8" fmla="*/ 35 w 56"/>
                    <a:gd name="T9" fmla="*/ 6 h 17"/>
                    <a:gd name="T10" fmla="*/ 55 w 56"/>
                    <a:gd name="T11" fmla="*/ 6 h 17"/>
                    <a:gd name="T12" fmla="*/ 55 w 56"/>
                    <a:gd name="T13" fmla="*/ 10 h 17"/>
                    <a:gd name="T14" fmla="*/ 35 w 56"/>
                    <a:gd name="T15" fmla="*/ 10 h 17"/>
                    <a:gd name="T16" fmla="*/ 35 w 56"/>
                    <a:gd name="T17" fmla="*/ 16 h 17"/>
                    <a:gd name="T18" fmla="*/ 18 w 56"/>
                    <a:gd name="T19" fmla="*/ 16 h 17"/>
                    <a:gd name="T20" fmla="*/ 18 w 56"/>
                    <a:gd name="T21" fmla="*/ 10 h 17"/>
                    <a:gd name="T22" fmla="*/ 0 w 56"/>
                    <a:gd name="T23" fmla="*/ 10 h 17"/>
                    <a:gd name="T24" fmla="*/ 0 w 56"/>
                    <a:gd name="T25" fmla="*/ 6 h 17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56"/>
                    <a:gd name="T40" fmla="*/ 0 h 17"/>
                    <a:gd name="T41" fmla="*/ 56 w 56"/>
                    <a:gd name="T42" fmla="*/ 17 h 17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56" h="17">
                      <a:moveTo>
                        <a:pt x="0" y="6"/>
                      </a:moveTo>
                      <a:lnTo>
                        <a:pt x="18" y="6"/>
                      </a:lnTo>
                      <a:lnTo>
                        <a:pt x="18" y="0"/>
                      </a:lnTo>
                      <a:lnTo>
                        <a:pt x="35" y="0"/>
                      </a:lnTo>
                      <a:lnTo>
                        <a:pt x="35" y="6"/>
                      </a:lnTo>
                      <a:lnTo>
                        <a:pt x="55" y="6"/>
                      </a:lnTo>
                      <a:lnTo>
                        <a:pt x="55" y="10"/>
                      </a:lnTo>
                      <a:lnTo>
                        <a:pt x="35" y="10"/>
                      </a:lnTo>
                      <a:lnTo>
                        <a:pt x="35" y="16"/>
                      </a:lnTo>
                      <a:lnTo>
                        <a:pt x="18" y="16"/>
                      </a:lnTo>
                      <a:lnTo>
                        <a:pt x="18" y="10"/>
                      </a:lnTo>
                      <a:lnTo>
                        <a:pt x="0" y="10"/>
                      </a:lnTo>
                      <a:lnTo>
                        <a:pt x="0" y="6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32" name="Freeform 583"/>
                <p:cNvSpPr>
                  <a:spLocks/>
                </p:cNvSpPr>
                <p:nvPr/>
              </p:nvSpPr>
              <p:spPr bwMode="auto">
                <a:xfrm>
                  <a:off x="3991" y="1501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0 h 17"/>
                    <a:gd name="T4" fmla="*/ 16 w 17"/>
                    <a:gd name="T5" fmla="*/ 5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17"/>
                    <a:gd name="T14" fmla="*/ 17 w 17"/>
                    <a:gd name="T15" fmla="*/ 17 h 1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17">
                      <a:moveTo>
                        <a:pt x="0" y="16"/>
                      </a:moveTo>
                      <a:lnTo>
                        <a:pt x="16" y="10"/>
                      </a:lnTo>
                      <a:lnTo>
                        <a:pt x="16" y="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rnd">
                  <a:solidFill>
                    <a:srgbClr val="EFEFD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33" name="Freeform 584"/>
                <p:cNvSpPr>
                  <a:spLocks/>
                </p:cNvSpPr>
                <p:nvPr/>
              </p:nvSpPr>
              <p:spPr bwMode="auto">
                <a:xfrm>
                  <a:off x="4010" y="149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rnd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34" name="Freeform 585"/>
                <p:cNvSpPr>
                  <a:spLocks/>
                </p:cNvSpPr>
                <p:nvPr/>
              </p:nvSpPr>
              <p:spPr bwMode="auto">
                <a:xfrm>
                  <a:off x="4046" y="1504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16 h 17"/>
                    <a:gd name="T4" fmla="*/ 0 w 17"/>
                    <a:gd name="T5" fmla="*/ 0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0"/>
                      </a:move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rnd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35" name="Freeform 586"/>
                <p:cNvSpPr>
                  <a:spLocks/>
                </p:cNvSpPr>
                <p:nvPr/>
              </p:nvSpPr>
              <p:spPr bwMode="auto">
                <a:xfrm>
                  <a:off x="4027" y="1495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0 h 17"/>
                    <a:gd name="T4" fmla="*/ 0 w 17"/>
                    <a:gd name="T5" fmla="*/ 16 h 17"/>
                    <a:gd name="T6" fmla="*/ 0 60000 65536"/>
                    <a:gd name="T7" fmla="*/ 0 60000 65536"/>
                    <a:gd name="T8" fmla="*/ 0 60000 65536"/>
                    <a:gd name="T9" fmla="*/ 0 w 17"/>
                    <a:gd name="T10" fmla="*/ 0 h 17"/>
                    <a:gd name="T11" fmla="*/ 17 w 17"/>
                    <a:gd name="T12" fmla="*/ 17 h 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" h="17">
                      <a:moveTo>
                        <a:pt x="0" y="16"/>
                      </a:moveTo>
                      <a:lnTo>
                        <a:pt x="16" y="0"/>
                      </a:lnTo>
                      <a:lnTo>
                        <a:pt x="0" y="16"/>
                      </a:lnTo>
                    </a:path>
                  </a:pathLst>
                </a:custGeom>
                <a:noFill/>
                <a:ln w="12700" cap="rnd">
                  <a:solidFill>
                    <a:srgbClr val="EFEFD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36" name="Freeform 587"/>
                <p:cNvSpPr>
                  <a:spLocks/>
                </p:cNvSpPr>
                <p:nvPr/>
              </p:nvSpPr>
              <p:spPr bwMode="auto">
                <a:xfrm>
                  <a:off x="4011" y="1499"/>
                  <a:ext cx="17" cy="17"/>
                </a:xfrm>
                <a:custGeom>
                  <a:avLst/>
                  <a:gdLst>
                    <a:gd name="T0" fmla="*/ 0 w 17"/>
                    <a:gd name="T1" fmla="*/ 16 h 17"/>
                    <a:gd name="T2" fmla="*/ 16 w 17"/>
                    <a:gd name="T3" fmla="*/ 16 h 17"/>
                    <a:gd name="T4" fmla="*/ 16 w 17"/>
                    <a:gd name="T5" fmla="*/ 0 h 17"/>
                    <a:gd name="T6" fmla="*/ 0 w 17"/>
                    <a:gd name="T7" fmla="*/ 0 h 17"/>
                    <a:gd name="T8" fmla="*/ 0 w 17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16"/>
                      </a:moveTo>
                      <a:lnTo>
                        <a:pt x="16" y="16"/>
                      </a:lnTo>
                      <a:lnTo>
                        <a:pt x="16" y="0"/>
                      </a:lnTo>
                      <a:lnTo>
                        <a:pt x="0" y="0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9F9FA2"/>
                </a:solidFill>
                <a:ln w="12700" cap="rnd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37" name="Freeform 588"/>
                <p:cNvSpPr>
                  <a:spLocks/>
                </p:cNvSpPr>
                <p:nvPr/>
              </p:nvSpPr>
              <p:spPr bwMode="auto">
                <a:xfrm>
                  <a:off x="3993" y="1502"/>
                  <a:ext cx="54" cy="17"/>
                </a:xfrm>
                <a:custGeom>
                  <a:avLst/>
                  <a:gdLst>
                    <a:gd name="T0" fmla="*/ 0 w 54"/>
                    <a:gd name="T1" fmla="*/ 0 h 17"/>
                    <a:gd name="T2" fmla="*/ 53 w 54"/>
                    <a:gd name="T3" fmla="*/ 0 h 17"/>
                    <a:gd name="T4" fmla="*/ 53 w 54"/>
                    <a:gd name="T5" fmla="*/ 16 h 17"/>
                    <a:gd name="T6" fmla="*/ 0 w 54"/>
                    <a:gd name="T7" fmla="*/ 16 h 17"/>
                    <a:gd name="T8" fmla="*/ 0 w 54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4"/>
                    <a:gd name="T16" fmla="*/ 0 h 17"/>
                    <a:gd name="T17" fmla="*/ 54 w 54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4" h="17">
                      <a:moveTo>
                        <a:pt x="0" y="0"/>
                      </a:moveTo>
                      <a:lnTo>
                        <a:pt x="53" y="0"/>
                      </a:lnTo>
                      <a:lnTo>
                        <a:pt x="53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38" name="Freeform 589"/>
                <p:cNvSpPr>
                  <a:spLocks/>
                </p:cNvSpPr>
                <p:nvPr/>
              </p:nvSpPr>
              <p:spPr bwMode="auto">
                <a:xfrm>
                  <a:off x="4010" y="1496"/>
                  <a:ext cx="19" cy="17"/>
                </a:xfrm>
                <a:custGeom>
                  <a:avLst/>
                  <a:gdLst>
                    <a:gd name="T0" fmla="*/ 18 w 19"/>
                    <a:gd name="T1" fmla="*/ 12 h 17"/>
                    <a:gd name="T2" fmla="*/ 17 w 19"/>
                    <a:gd name="T3" fmla="*/ 16 h 17"/>
                    <a:gd name="T4" fmla="*/ 17 w 19"/>
                    <a:gd name="T5" fmla="*/ 0 h 17"/>
                    <a:gd name="T6" fmla="*/ 0 w 19"/>
                    <a:gd name="T7" fmla="*/ 0 h 17"/>
                    <a:gd name="T8" fmla="*/ 0 w 19"/>
                    <a:gd name="T9" fmla="*/ 16 h 17"/>
                    <a:gd name="T10" fmla="*/ 0 w 19"/>
                    <a:gd name="T11" fmla="*/ 12 h 1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9"/>
                    <a:gd name="T19" fmla="*/ 0 h 17"/>
                    <a:gd name="T20" fmla="*/ 19 w 19"/>
                    <a:gd name="T21" fmla="*/ 17 h 1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9" h="17">
                      <a:moveTo>
                        <a:pt x="18" y="12"/>
                      </a:moveTo>
                      <a:lnTo>
                        <a:pt x="17" y="16"/>
                      </a:ln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6"/>
                      </a:lnTo>
                      <a:lnTo>
                        <a:pt x="0" y="12"/>
                      </a:lnTo>
                    </a:path>
                  </a:pathLst>
                </a:custGeom>
                <a:noFill/>
                <a:ln w="12700" cap="rnd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39" name="Freeform 590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16 w 17"/>
                    <a:gd name="T1" fmla="*/ 0 h 17"/>
                    <a:gd name="T2" fmla="*/ 16 w 17"/>
                    <a:gd name="T3" fmla="*/ 16 h 17"/>
                    <a:gd name="T4" fmla="*/ 0 w 17"/>
                    <a:gd name="T5" fmla="*/ 16 h 17"/>
                    <a:gd name="T6" fmla="*/ 0 w 17"/>
                    <a:gd name="T7" fmla="*/ 0 h 17"/>
                    <a:gd name="T8" fmla="*/ 16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16" y="0"/>
                      </a:move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  <a:lnTo>
                        <a:pt x="16" y="0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40" name="Freeform 591"/>
                <p:cNvSpPr>
                  <a:spLocks/>
                </p:cNvSpPr>
                <p:nvPr/>
              </p:nvSpPr>
              <p:spPr bwMode="auto">
                <a:xfrm>
                  <a:off x="3945" y="150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41" name="Freeform 592"/>
                <p:cNvSpPr>
                  <a:spLocks/>
                </p:cNvSpPr>
                <p:nvPr/>
              </p:nvSpPr>
              <p:spPr bwMode="auto">
                <a:xfrm>
                  <a:off x="3930" y="1497"/>
                  <a:ext cx="44" cy="17"/>
                </a:xfrm>
                <a:custGeom>
                  <a:avLst/>
                  <a:gdLst>
                    <a:gd name="T0" fmla="*/ 14 w 44"/>
                    <a:gd name="T1" fmla="*/ 16 h 17"/>
                    <a:gd name="T2" fmla="*/ 0 w 44"/>
                    <a:gd name="T3" fmla="*/ 16 h 17"/>
                    <a:gd name="T4" fmla="*/ 0 w 44"/>
                    <a:gd name="T5" fmla="*/ 8 h 17"/>
                    <a:gd name="T6" fmla="*/ 14 w 44"/>
                    <a:gd name="T7" fmla="*/ 8 h 17"/>
                    <a:gd name="T8" fmla="*/ 14 w 44"/>
                    <a:gd name="T9" fmla="*/ 0 h 17"/>
                    <a:gd name="T10" fmla="*/ 28 w 44"/>
                    <a:gd name="T11" fmla="*/ 0 h 17"/>
                    <a:gd name="T12" fmla="*/ 28 w 44"/>
                    <a:gd name="T13" fmla="*/ 8 h 17"/>
                    <a:gd name="T14" fmla="*/ 43 w 44"/>
                    <a:gd name="T15" fmla="*/ 8 h 17"/>
                    <a:gd name="T16" fmla="*/ 43 w 44"/>
                    <a:gd name="T17" fmla="*/ 16 h 17"/>
                    <a:gd name="T18" fmla="*/ 28 w 44"/>
                    <a:gd name="T19" fmla="*/ 16 h 17"/>
                    <a:gd name="T20" fmla="*/ 14 w 44"/>
                    <a:gd name="T21" fmla="*/ 16 h 1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44"/>
                    <a:gd name="T34" fmla="*/ 0 h 17"/>
                    <a:gd name="T35" fmla="*/ 44 w 44"/>
                    <a:gd name="T36" fmla="*/ 17 h 17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44" h="17">
                      <a:moveTo>
                        <a:pt x="14" y="16"/>
                      </a:moveTo>
                      <a:lnTo>
                        <a:pt x="0" y="16"/>
                      </a:lnTo>
                      <a:lnTo>
                        <a:pt x="0" y="8"/>
                      </a:lnTo>
                      <a:lnTo>
                        <a:pt x="14" y="8"/>
                      </a:lnTo>
                      <a:lnTo>
                        <a:pt x="14" y="0"/>
                      </a:lnTo>
                      <a:lnTo>
                        <a:pt x="28" y="0"/>
                      </a:lnTo>
                      <a:lnTo>
                        <a:pt x="28" y="8"/>
                      </a:lnTo>
                      <a:lnTo>
                        <a:pt x="43" y="8"/>
                      </a:lnTo>
                      <a:lnTo>
                        <a:pt x="43" y="16"/>
                      </a:lnTo>
                      <a:lnTo>
                        <a:pt x="28" y="16"/>
                      </a:lnTo>
                      <a:lnTo>
                        <a:pt x="14" y="16"/>
                      </a:lnTo>
                    </a:path>
                  </a:pathLst>
                </a:custGeom>
                <a:solidFill>
                  <a:srgbClr val="00000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42" name="Freeform 593"/>
                <p:cNvSpPr>
                  <a:spLocks/>
                </p:cNvSpPr>
                <p:nvPr/>
              </p:nvSpPr>
              <p:spPr bwMode="auto">
                <a:xfrm>
                  <a:off x="3945" y="1497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16 h 17"/>
                    <a:gd name="T8" fmla="*/ 0 w 17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17"/>
                    <a:gd name="T17" fmla="*/ 17 w 17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43" name="Freeform 594"/>
                <p:cNvSpPr>
                  <a:spLocks/>
                </p:cNvSpPr>
                <p:nvPr/>
              </p:nvSpPr>
              <p:spPr bwMode="auto">
                <a:xfrm>
                  <a:off x="3897" y="1494"/>
                  <a:ext cx="20" cy="17"/>
                </a:xfrm>
                <a:custGeom>
                  <a:avLst/>
                  <a:gdLst>
                    <a:gd name="T0" fmla="*/ 5 w 20"/>
                    <a:gd name="T1" fmla="*/ 16 h 17"/>
                    <a:gd name="T2" fmla="*/ 3 w 20"/>
                    <a:gd name="T3" fmla="*/ 15 h 17"/>
                    <a:gd name="T4" fmla="*/ 2 w 20"/>
                    <a:gd name="T5" fmla="*/ 15 h 17"/>
                    <a:gd name="T6" fmla="*/ 1 w 20"/>
                    <a:gd name="T7" fmla="*/ 14 h 17"/>
                    <a:gd name="T8" fmla="*/ 1 w 20"/>
                    <a:gd name="T9" fmla="*/ 12 h 17"/>
                    <a:gd name="T10" fmla="*/ 0 w 20"/>
                    <a:gd name="T11" fmla="*/ 12 h 17"/>
                    <a:gd name="T12" fmla="*/ 0 w 20"/>
                    <a:gd name="T13" fmla="*/ 10 h 17"/>
                    <a:gd name="T14" fmla="*/ 0 w 20"/>
                    <a:gd name="T15" fmla="*/ 8 h 17"/>
                    <a:gd name="T16" fmla="*/ 0 w 20"/>
                    <a:gd name="T17" fmla="*/ 6 h 17"/>
                    <a:gd name="T18" fmla="*/ 0 w 20"/>
                    <a:gd name="T19" fmla="*/ 4 h 17"/>
                    <a:gd name="T20" fmla="*/ 0 w 20"/>
                    <a:gd name="T21" fmla="*/ 3 h 17"/>
                    <a:gd name="T22" fmla="*/ 1 w 20"/>
                    <a:gd name="T23" fmla="*/ 2 h 17"/>
                    <a:gd name="T24" fmla="*/ 2 w 20"/>
                    <a:gd name="T25" fmla="*/ 1 h 17"/>
                    <a:gd name="T26" fmla="*/ 3 w 20"/>
                    <a:gd name="T27" fmla="*/ 0 h 17"/>
                    <a:gd name="T28" fmla="*/ 4 w 20"/>
                    <a:gd name="T29" fmla="*/ 0 h 17"/>
                    <a:gd name="T30" fmla="*/ 5 w 20"/>
                    <a:gd name="T31" fmla="*/ 0 h 17"/>
                    <a:gd name="T32" fmla="*/ 12 w 20"/>
                    <a:gd name="T33" fmla="*/ 0 h 17"/>
                    <a:gd name="T34" fmla="*/ 13 w 20"/>
                    <a:gd name="T35" fmla="*/ 0 h 17"/>
                    <a:gd name="T36" fmla="*/ 15 w 20"/>
                    <a:gd name="T37" fmla="*/ 0 h 17"/>
                    <a:gd name="T38" fmla="*/ 16 w 20"/>
                    <a:gd name="T39" fmla="*/ 1 h 17"/>
                    <a:gd name="T40" fmla="*/ 17 w 20"/>
                    <a:gd name="T41" fmla="*/ 3 h 17"/>
                    <a:gd name="T42" fmla="*/ 17 w 20"/>
                    <a:gd name="T43" fmla="*/ 3 h 17"/>
                    <a:gd name="T44" fmla="*/ 18 w 20"/>
                    <a:gd name="T45" fmla="*/ 5 h 17"/>
                    <a:gd name="T46" fmla="*/ 18 w 20"/>
                    <a:gd name="T47" fmla="*/ 7 h 17"/>
                    <a:gd name="T48" fmla="*/ 18 w 20"/>
                    <a:gd name="T49" fmla="*/ 8 h 17"/>
                    <a:gd name="T50" fmla="*/ 18 w 20"/>
                    <a:gd name="T51" fmla="*/ 10 h 17"/>
                    <a:gd name="T52" fmla="*/ 17 w 20"/>
                    <a:gd name="T53" fmla="*/ 12 h 17"/>
                    <a:gd name="T54" fmla="*/ 16 w 20"/>
                    <a:gd name="T55" fmla="*/ 13 h 17"/>
                    <a:gd name="T56" fmla="*/ 15 w 20"/>
                    <a:gd name="T57" fmla="*/ 15 h 17"/>
                    <a:gd name="T58" fmla="*/ 13 w 20"/>
                    <a:gd name="T59" fmla="*/ 15 h 17"/>
                    <a:gd name="T60" fmla="*/ 13 w 20"/>
                    <a:gd name="T61" fmla="*/ 16 h 17"/>
                    <a:gd name="T62" fmla="*/ 12 w 20"/>
                    <a:gd name="T63" fmla="*/ 16 h 17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20"/>
                    <a:gd name="T97" fmla="*/ 0 h 17"/>
                    <a:gd name="T98" fmla="*/ 20 w 20"/>
                    <a:gd name="T99" fmla="*/ 17 h 17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20" h="17">
                      <a:moveTo>
                        <a:pt x="5" y="16"/>
                      </a:moveTo>
                      <a:lnTo>
                        <a:pt x="5" y="16"/>
                      </a:lnTo>
                      <a:lnTo>
                        <a:pt x="4" y="16"/>
                      </a:lnTo>
                      <a:lnTo>
                        <a:pt x="3" y="15"/>
                      </a:lnTo>
                      <a:lnTo>
                        <a:pt x="2" y="15"/>
                      </a:lnTo>
                      <a:lnTo>
                        <a:pt x="2" y="14"/>
                      </a:lnTo>
                      <a:lnTo>
                        <a:pt x="1" y="14"/>
                      </a:lnTo>
                      <a:lnTo>
                        <a:pt x="1" y="13"/>
                      </a:lnTo>
                      <a:lnTo>
                        <a:pt x="1" y="12"/>
                      </a:lnTo>
                      <a:lnTo>
                        <a:pt x="0" y="12"/>
                      </a:lnTo>
                      <a:lnTo>
                        <a:pt x="0" y="11"/>
                      </a:lnTo>
                      <a:lnTo>
                        <a:pt x="0" y="10"/>
                      </a:lnTo>
                      <a:lnTo>
                        <a:pt x="0" y="9"/>
                      </a:lnTo>
                      <a:lnTo>
                        <a:pt x="0" y="8"/>
                      </a:lnTo>
                      <a:lnTo>
                        <a:pt x="0" y="7"/>
                      </a:lnTo>
                      <a:lnTo>
                        <a:pt x="0" y="6"/>
                      </a:lnTo>
                      <a:lnTo>
                        <a:pt x="0" y="5"/>
                      </a:lnTo>
                      <a:lnTo>
                        <a:pt x="0" y="4"/>
                      </a:lnTo>
                      <a:lnTo>
                        <a:pt x="0" y="3"/>
                      </a:lnTo>
                      <a:lnTo>
                        <a:pt x="1" y="3"/>
                      </a:lnTo>
                      <a:lnTo>
                        <a:pt x="1" y="2"/>
                      </a:lnTo>
                      <a:lnTo>
                        <a:pt x="1" y="1"/>
                      </a:lnTo>
                      <a:lnTo>
                        <a:pt x="2" y="1"/>
                      </a:lnTo>
                      <a:lnTo>
                        <a:pt x="2" y="0"/>
                      </a:lnTo>
                      <a:lnTo>
                        <a:pt x="3" y="0"/>
                      </a:lnTo>
                      <a:lnTo>
                        <a:pt x="4" y="0"/>
                      </a:lnTo>
                      <a:lnTo>
                        <a:pt x="5" y="0"/>
                      </a:lnTo>
                      <a:lnTo>
                        <a:pt x="12" y="0"/>
                      </a:lnTo>
                      <a:lnTo>
                        <a:pt x="13" y="0"/>
                      </a:lnTo>
                      <a:lnTo>
                        <a:pt x="15" y="0"/>
                      </a:lnTo>
                      <a:lnTo>
                        <a:pt x="16" y="1"/>
                      </a:lnTo>
                      <a:lnTo>
                        <a:pt x="16" y="2"/>
                      </a:lnTo>
                      <a:lnTo>
                        <a:pt x="17" y="3"/>
                      </a:lnTo>
                      <a:lnTo>
                        <a:pt x="18" y="4"/>
                      </a:lnTo>
                      <a:lnTo>
                        <a:pt x="18" y="5"/>
                      </a:lnTo>
                      <a:lnTo>
                        <a:pt x="18" y="6"/>
                      </a:lnTo>
                      <a:lnTo>
                        <a:pt x="18" y="7"/>
                      </a:lnTo>
                      <a:lnTo>
                        <a:pt x="19" y="8"/>
                      </a:lnTo>
                      <a:lnTo>
                        <a:pt x="18" y="8"/>
                      </a:lnTo>
                      <a:lnTo>
                        <a:pt x="18" y="9"/>
                      </a:lnTo>
                      <a:lnTo>
                        <a:pt x="18" y="10"/>
                      </a:lnTo>
                      <a:lnTo>
                        <a:pt x="18" y="11"/>
                      </a:lnTo>
                      <a:lnTo>
                        <a:pt x="17" y="12"/>
                      </a:lnTo>
                      <a:lnTo>
                        <a:pt x="16" y="13"/>
                      </a:lnTo>
                      <a:lnTo>
                        <a:pt x="16" y="14"/>
                      </a:lnTo>
                      <a:lnTo>
                        <a:pt x="15" y="15"/>
                      </a:lnTo>
                      <a:lnTo>
                        <a:pt x="13" y="15"/>
                      </a:lnTo>
                      <a:lnTo>
                        <a:pt x="13" y="16"/>
                      </a:lnTo>
                      <a:lnTo>
                        <a:pt x="12" y="16"/>
                      </a:lnTo>
                      <a:lnTo>
                        <a:pt x="5" y="16"/>
                      </a:lnTo>
                    </a:path>
                  </a:pathLst>
                </a:custGeom>
                <a:solidFill>
                  <a:srgbClr val="666666"/>
                </a:solidFill>
                <a:ln w="12700" cap="rnd">
                  <a:solidFill>
                    <a:srgbClr val="6666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44" name="Freeform 595"/>
                <p:cNvSpPr>
                  <a:spLocks/>
                </p:cNvSpPr>
                <p:nvPr/>
              </p:nvSpPr>
              <p:spPr bwMode="auto">
                <a:xfrm>
                  <a:off x="3921" y="1489"/>
                  <a:ext cx="17" cy="38"/>
                </a:xfrm>
                <a:custGeom>
                  <a:avLst/>
                  <a:gdLst>
                    <a:gd name="T0" fmla="*/ 8 w 17"/>
                    <a:gd name="T1" fmla="*/ 0 h 38"/>
                    <a:gd name="T2" fmla="*/ 0 w 17"/>
                    <a:gd name="T3" fmla="*/ 22 h 38"/>
                    <a:gd name="T4" fmla="*/ 16 w 17"/>
                    <a:gd name="T5" fmla="*/ 22 h 38"/>
                    <a:gd name="T6" fmla="*/ 16 w 17"/>
                    <a:gd name="T7" fmla="*/ 37 h 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38"/>
                    <a:gd name="T14" fmla="*/ 17 w 17"/>
                    <a:gd name="T15" fmla="*/ 38 h 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38">
                      <a:moveTo>
                        <a:pt x="8" y="0"/>
                      </a:moveTo>
                      <a:lnTo>
                        <a:pt x="0" y="22"/>
                      </a:lnTo>
                      <a:lnTo>
                        <a:pt x="16" y="22"/>
                      </a:lnTo>
                      <a:lnTo>
                        <a:pt x="16" y="37"/>
                      </a:lnTo>
                    </a:path>
                  </a:pathLst>
                </a:custGeom>
                <a:noFill/>
                <a:ln w="12700" cap="rnd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45" name="Freeform 596"/>
                <p:cNvSpPr>
                  <a:spLocks/>
                </p:cNvSpPr>
                <p:nvPr/>
              </p:nvSpPr>
              <p:spPr bwMode="auto">
                <a:xfrm>
                  <a:off x="3979" y="1489"/>
                  <a:ext cx="17" cy="72"/>
                </a:xfrm>
                <a:custGeom>
                  <a:avLst/>
                  <a:gdLst>
                    <a:gd name="T0" fmla="*/ 0 w 17"/>
                    <a:gd name="T1" fmla="*/ 0 h 72"/>
                    <a:gd name="T2" fmla="*/ 16 w 17"/>
                    <a:gd name="T3" fmla="*/ 22 h 72"/>
                    <a:gd name="T4" fmla="*/ 0 w 17"/>
                    <a:gd name="T5" fmla="*/ 22 h 72"/>
                    <a:gd name="T6" fmla="*/ 0 w 17"/>
                    <a:gd name="T7" fmla="*/ 71 h 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"/>
                    <a:gd name="T13" fmla="*/ 0 h 72"/>
                    <a:gd name="T14" fmla="*/ 17 w 17"/>
                    <a:gd name="T15" fmla="*/ 72 h 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" h="72">
                      <a:moveTo>
                        <a:pt x="0" y="0"/>
                      </a:moveTo>
                      <a:lnTo>
                        <a:pt x="16" y="22"/>
                      </a:lnTo>
                      <a:lnTo>
                        <a:pt x="0" y="22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12700" cap="rnd">
                  <a:solidFill>
                    <a:srgbClr val="9F9FA2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46" name="Freeform 597"/>
                <p:cNvSpPr>
                  <a:spLocks/>
                </p:cNvSpPr>
                <p:nvPr/>
              </p:nvSpPr>
              <p:spPr bwMode="auto">
                <a:xfrm>
                  <a:off x="3855" y="1532"/>
                  <a:ext cx="250" cy="41"/>
                </a:xfrm>
                <a:custGeom>
                  <a:avLst/>
                  <a:gdLst>
                    <a:gd name="T0" fmla="*/ 0 w 250"/>
                    <a:gd name="T1" fmla="*/ 40 h 41"/>
                    <a:gd name="T2" fmla="*/ 249 w 250"/>
                    <a:gd name="T3" fmla="*/ 40 h 41"/>
                    <a:gd name="T4" fmla="*/ 240 w 250"/>
                    <a:gd name="T5" fmla="*/ 0 h 41"/>
                    <a:gd name="T6" fmla="*/ 10 w 250"/>
                    <a:gd name="T7" fmla="*/ 0 h 41"/>
                    <a:gd name="T8" fmla="*/ 0 w 250"/>
                    <a:gd name="T9" fmla="*/ 40 h 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0"/>
                    <a:gd name="T16" fmla="*/ 0 h 41"/>
                    <a:gd name="T17" fmla="*/ 250 w 250"/>
                    <a:gd name="T18" fmla="*/ 41 h 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0" h="41">
                      <a:moveTo>
                        <a:pt x="0" y="40"/>
                      </a:moveTo>
                      <a:lnTo>
                        <a:pt x="249" y="40"/>
                      </a:lnTo>
                      <a:lnTo>
                        <a:pt x="240" y="0"/>
                      </a:lnTo>
                      <a:lnTo>
                        <a:pt x="10" y="0"/>
                      </a:lnTo>
                      <a:lnTo>
                        <a:pt x="0" y="40"/>
                      </a:lnTo>
                    </a:path>
                  </a:pathLst>
                </a:custGeom>
                <a:solidFill>
                  <a:srgbClr val="EFEFD1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47" name="Freeform 598"/>
                <p:cNvSpPr>
                  <a:spLocks/>
                </p:cNvSpPr>
                <p:nvPr/>
              </p:nvSpPr>
              <p:spPr bwMode="auto">
                <a:xfrm>
                  <a:off x="3855" y="1572"/>
                  <a:ext cx="251" cy="17"/>
                </a:xfrm>
                <a:custGeom>
                  <a:avLst/>
                  <a:gdLst>
                    <a:gd name="T0" fmla="*/ 0 w 251"/>
                    <a:gd name="T1" fmla="*/ 16 h 17"/>
                    <a:gd name="T2" fmla="*/ 0 w 251"/>
                    <a:gd name="T3" fmla="*/ 0 h 17"/>
                    <a:gd name="T4" fmla="*/ 249 w 251"/>
                    <a:gd name="T5" fmla="*/ 0 h 17"/>
                    <a:gd name="T6" fmla="*/ 250 w 251"/>
                    <a:gd name="T7" fmla="*/ 16 h 17"/>
                    <a:gd name="T8" fmla="*/ 0 w 251"/>
                    <a:gd name="T9" fmla="*/ 16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1"/>
                    <a:gd name="T16" fmla="*/ 0 h 17"/>
                    <a:gd name="T17" fmla="*/ 251 w 251"/>
                    <a:gd name="T18" fmla="*/ 17 h 1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1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249" y="0"/>
                      </a:lnTo>
                      <a:lnTo>
                        <a:pt x="250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CCCC60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48" name="Freeform 599"/>
                <p:cNvSpPr>
                  <a:spLocks/>
                </p:cNvSpPr>
                <p:nvPr/>
              </p:nvSpPr>
              <p:spPr bwMode="auto">
                <a:xfrm>
                  <a:off x="3872" y="1538"/>
                  <a:ext cx="223" cy="28"/>
                </a:xfrm>
                <a:custGeom>
                  <a:avLst/>
                  <a:gdLst>
                    <a:gd name="T0" fmla="*/ 0 w 223"/>
                    <a:gd name="T1" fmla="*/ 27 h 28"/>
                    <a:gd name="T2" fmla="*/ 222 w 223"/>
                    <a:gd name="T3" fmla="*/ 27 h 28"/>
                    <a:gd name="T4" fmla="*/ 214 w 223"/>
                    <a:gd name="T5" fmla="*/ 0 h 28"/>
                    <a:gd name="T6" fmla="*/ 8 w 223"/>
                    <a:gd name="T7" fmla="*/ 0 h 28"/>
                    <a:gd name="T8" fmla="*/ 0 w 223"/>
                    <a:gd name="T9" fmla="*/ 27 h 2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3"/>
                    <a:gd name="T16" fmla="*/ 0 h 28"/>
                    <a:gd name="T17" fmla="*/ 223 w 223"/>
                    <a:gd name="T18" fmla="*/ 28 h 2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3" h="28">
                      <a:moveTo>
                        <a:pt x="0" y="27"/>
                      </a:moveTo>
                      <a:lnTo>
                        <a:pt x="222" y="27"/>
                      </a:lnTo>
                      <a:lnTo>
                        <a:pt x="214" y="0"/>
                      </a:lnTo>
                      <a:lnTo>
                        <a:pt x="8" y="0"/>
                      </a:lnTo>
                      <a:lnTo>
                        <a:pt x="0" y="27"/>
                      </a:lnTo>
                    </a:path>
                  </a:pathLst>
                </a:custGeom>
                <a:solidFill>
                  <a:srgbClr val="999999"/>
                </a:solidFill>
                <a:ln w="12700" cap="rnd">
                  <a:solidFill>
                    <a:srgbClr val="9F9FA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6889" name="Line 600"/>
              <p:cNvSpPr>
                <a:spLocks noChangeShapeType="1"/>
              </p:cNvSpPr>
              <p:nvPr/>
            </p:nvSpPr>
            <p:spPr bwMode="auto">
              <a:xfrm>
                <a:off x="1060" y="3413"/>
                <a:ext cx="445" cy="2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890" name="Line 601"/>
              <p:cNvSpPr>
                <a:spLocks noChangeShapeType="1"/>
              </p:cNvSpPr>
              <p:nvPr/>
            </p:nvSpPr>
            <p:spPr bwMode="auto">
              <a:xfrm>
                <a:off x="993" y="3612"/>
                <a:ext cx="532" cy="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891" name="Line 602"/>
              <p:cNvSpPr>
                <a:spLocks noChangeShapeType="1"/>
              </p:cNvSpPr>
              <p:nvPr/>
            </p:nvSpPr>
            <p:spPr bwMode="auto">
              <a:xfrm flipV="1">
                <a:off x="1040" y="3811"/>
                <a:ext cx="467" cy="1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892" name="Text Box 603"/>
              <p:cNvSpPr txBox="1">
                <a:spLocks noChangeArrowheads="1"/>
              </p:cNvSpPr>
              <p:nvPr/>
            </p:nvSpPr>
            <p:spPr bwMode="auto">
              <a:xfrm rot="-5400000">
                <a:off x="1059" y="3633"/>
                <a:ext cx="368" cy="2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200">
                    <a:cs typeface="Arial" charset="0"/>
                  </a:rPr>
                  <a:t>• </a:t>
                </a:r>
                <a:r>
                  <a:rPr lang="en-US" sz="1200"/>
                  <a:t>• •</a:t>
                </a:r>
              </a:p>
            </p:txBody>
          </p:sp>
        </p:grpSp>
        <p:sp>
          <p:nvSpPr>
            <p:cNvPr id="26883" name="Line 781"/>
            <p:cNvSpPr>
              <a:spLocks noChangeShapeType="1"/>
            </p:cNvSpPr>
            <p:nvPr/>
          </p:nvSpPr>
          <p:spPr bwMode="auto">
            <a:xfrm>
              <a:off x="968" y="1157"/>
              <a:ext cx="733" cy="1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884" name="Line 782"/>
            <p:cNvSpPr>
              <a:spLocks noChangeShapeType="1"/>
            </p:cNvSpPr>
            <p:nvPr/>
          </p:nvSpPr>
          <p:spPr bwMode="auto">
            <a:xfrm flipV="1">
              <a:off x="983" y="1677"/>
              <a:ext cx="705" cy="1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"/>
          <p:cNvGrpSpPr>
            <a:grpSpLocks/>
          </p:cNvGrpSpPr>
          <p:nvPr/>
        </p:nvGrpSpPr>
        <p:grpSpPr bwMode="auto">
          <a:xfrm>
            <a:off x="661988" y="3795713"/>
            <a:ext cx="3116262" cy="947737"/>
            <a:chOff x="417" y="2391"/>
            <a:chExt cx="1963" cy="597"/>
          </a:xfrm>
        </p:grpSpPr>
        <p:sp>
          <p:nvSpPr>
            <p:cNvPr id="26860" name="Line 38"/>
            <p:cNvSpPr>
              <a:spLocks noChangeShapeType="1"/>
            </p:cNvSpPr>
            <p:nvPr/>
          </p:nvSpPr>
          <p:spPr bwMode="auto">
            <a:xfrm rot="5400000" flipH="1">
              <a:off x="2041" y="2052"/>
              <a:ext cx="0" cy="67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861" name="Line 783"/>
            <p:cNvSpPr>
              <a:spLocks noChangeShapeType="1"/>
            </p:cNvSpPr>
            <p:nvPr/>
          </p:nvSpPr>
          <p:spPr bwMode="auto">
            <a:xfrm flipV="1">
              <a:off x="993" y="2392"/>
              <a:ext cx="700" cy="2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26862" name="Group 816"/>
            <p:cNvGrpSpPr>
              <a:grpSpLocks/>
            </p:cNvGrpSpPr>
            <p:nvPr/>
          </p:nvGrpSpPr>
          <p:grpSpPr bwMode="auto">
            <a:xfrm>
              <a:off x="417" y="2416"/>
              <a:ext cx="558" cy="572"/>
              <a:chOff x="2130" y="1216"/>
              <a:chExt cx="1651" cy="1599"/>
            </a:xfrm>
          </p:grpSpPr>
          <p:sp>
            <p:nvSpPr>
              <p:cNvPr id="26863" name="Rectangle 800"/>
              <p:cNvSpPr>
                <a:spLocks noChangeArrowheads="1"/>
              </p:cNvSpPr>
              <p:nvPr/>
            </p:nvSpPr>
            <p:spPr bwMode="auto">
              <a:xfrm>
                <a:off x="2130" y="1216"/>
                <a:ext cx="1651" cy="1599"/>
              </a:xfrm>
              <a:prstGeom prst="rect">
                <a:avLst/>
              </a:prstGeom>
              <a:solidFill>
                <a:schemeClr val="folHlink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64" name="AutoShape 801"/>
              <p:cNvSpPr>
                <a:spLocks noChangeArrowheads="1"/>
              </p:cNvSpPr>
              <p:nvPr/>
            </p:nvSpPr>
            <p:spPr bwMode="auto">
              <a:xfrm rot="5400000" flipH="1" flipV="1">
                <a:off x="2147" y="2450"/>
                <a:ext cx="252" cy="15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381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65" name="AutoShape 802"/>
              <p:cNvSpPr>
                <a:spLocks noChangeArrowheads="1"/>
              </p:cNvSpPr>
              <p:nvPr/>
            </p:nvSpPr>
            <p:spPr bwMode="auto">
              <a:xfrm rot="5400000" flipH="1" flipV="1">
                <a:off x="2133" y="1398"/>
                <a:ext cx="252" cy="151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381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66" name="AutoShape 803"/>
              <p:cNvSpPr>
                <a:spLocks noChangeArrowheads="1"/>
              </p:cNvSpPr>
              <p:nvPr/>
            </p:nvSpPr>
            <p:spPr bwMode="auto">
              <a:xfrm rot="5400000">
                <a:off x="3560" y="2470"/>
                <a:ext cx="248" cy="15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381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67" name="AutoShape 804"/>
              <p:cNvSpPr>
                <a:spLocks noChangeArrowheads="1"/>
              </p:cNvSpPr>
              <p:nvPr/>
            </p:nvSpPr>
            <p:spPr bwMode="auto">
              <a:xfrm rot="5400000">
                <a:off x="3552" y="1403"/>
                <a:ext cx="249" cy="151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381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68" name="Line 805"/>
              <p:cNvSpPr>
                <a:spLocks noChangeShapeType="1"/>
              </p:cNvSpPr>
              <p:nvPr/>
            </p:nvSpPr>
            <p:spPr bwMode="auto">
              <a:xfrm>
                <a:off x="2335" y="1391"/>
                <a:ext cx="1240" cy="0"/>
              </a:xfrm>
              <a:prstGeom prst="line">
                <a:avLst/>
              </a:prstGeom>
              <a:noFill/>
              <a:ln w="12700" cap="rnd">
                <a:solidFill>
                  <a:schemeClr val="tx2"/>
                </a:solidFill>
                <a:prstDash val="sysDot"/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6869" name="Line 806"/>
              <p:cNvSpPr>
                <a:spLocks noChangeShapeType="1"/>
              </p:cNvSpPr>
              <p:nvPr/>
            </p:nvSpPr>
            <p:spPr bwMode="auto">
              <a:xfrm>
                <a:off x="2356" y="1566"/>
                <a:ext cx="1240" cy="911"/>
              </a:xfrm>
              <a:prstGeom prst="line">
                <a:avLst/>
              </a:prstGeom>
              <a:noFill/>
              <a:ln w="12700" cap="rnd">
                <a:solidFill>
                  <a:schemeClr val="tx2"/>
                </a:solidFill>
                <a:prstDash val="sysDot"/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6870" name="Line 807"/>
              <p:cNvSpPr>
                <a:spLocks noChangeShapeType="1"/>
              </p:cNvSpPr>
              <p:nvPr/>
            </p:nvSpPr>
            <p:spPr bwMode="auto">
              <a:xfrm>
                <a:off x="2383" y="2598"/>
                <a:ext cx="1240" cy="0"/>
              </a:xfrm>
              <a:prstGeom prst="line">
                <a:avLst/>
              </a:prstGeom>
              <a:noFill/>
              <a:ln w="12700" cap="rnd">
                <a:solidFill>
                  <a:schemeClr val="tx2"/>
                </a:solidFill>
                <a:prstDash val="sysDot"/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6871" name="Line 808"/>
              <p:cNvSpPr>
                <a:spLocks noChangeShapeType="1"/>
              </p:cNvSpPr>
              <p:nvPr/>
            </p:nvSpPr>
            <p:spPr bwMode="auto">
              <a:xfrm flipV="1">
                <a:off x="2397" y="1560"/>
                <a:ext cx="1185" cy="899"/>
              </a:xfrm>
              <a:prstGeom prst="line">
                <a:avLst/>
              </a:prstGeom>
              <a:noFill/>
              <a:ln w="12700" cap="rnd">
                <a:solidFill>
                  <a:schemeClr val="tx2"/>
                </a:solidFill>
                <a:prstDash val="sysDot"/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6872" name="AutoShape 809"/>
              <p:cNvSpPr>
                <a:spLocks noChangeArrowheads="1"/>
              </p:cNvSpPr>
              <p:nvPr/>
            </p:nvSpPr>
            <p:spPr bwMode="auto">
              <a:xfrm rot="5400000" flipH="1" flipV="1">
                <a:off x="2140" y="1737"/>
                <a:ext cx="252" cy="151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381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73" name="AutoShape 810"/>
              <p:cNvSpPr>
                <a:spLocks noChangeArrowheads="1"/>
              </p:cNvSpPr>
              <p:nvPr/>
            </p:nvSpPr>
            <p:spPr bwMode="auto">
              <a:xfrm rot="5400000">
                <a:off x="3553" y="1757"/>
                <a:ext cx="248" cy="151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381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74" name="Line 811"/>
              <p:cNvSpPr>
                <a:spLocks noChangeShapeType="1"/>
              </p:cNvSpPr>
              <p:nvPr/>
            </p:nvSpPr>
            <p:spPr bwMode="auto">
              <a:xfrm>
                <a:off x="2376" y="1795"/>
                <a:ext cx="1241" cy="0"/>
              </a:xfrm>
              <a:prstGeom prst="line">
                <a:avLst/>
              </a:prstGeom>
              <a:noFill/>
              <a:ln w="12700" cap="rnd">
                <a:solidFill>
                  <a:schemeClr val="tx2"/>
                </a:solidFill>
                <a:prstDash val="sysDot"/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6875" name="Line 812"/>
              <p:cNvSpPr>
                <a:spLocks noChangeShapeType="1"/>
              </p:cNvSpPr>
              <p:nvPr/>
            </p:nvSpPr>
            <p:spPr bwMode="auto">
              <a:xfrm flipV="1">
                <a:off x="2370" y="1457"/>
                <a:ext cx="1219" cy="254"/>
              </a:xfrm>
              <a:prstGeom prst="line">
                <a:avLst/>
              </a:prstGeom>
              <a:noFill/>
              <a:ln w="12700" cap="rnd">
                <a:solidFill>
                  <a:schemeClr val="tx2"/>
                </a:solidFill>
                <a:prstDash val="sysDot"/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6876" name="Line 813"/>
              <p:cNvSpPr>
                <a:spLocks noChangeShapeType="1"/>
              </p:cNvSpPr>
              <p:nvPr/>
            </p:nvSpPr>
            <p:spPr bwMode="auto">
              <a:xfrm>
                <a:off x="2383" y="1916"/>
                <a:ext cx="1199" cy="591"/>
              </a:xfrm>
              <a:prstGeom prst="line">
                <a:avLst/>
              </a:prstGeom>
              <a:noFill/>
              <a:ln w="12700" cap="rnd">
                <a:solidFill>
                  <a:schemeClr val="tx2"/>
                </a:solidFill>
                <a:prstDash val="sysDot"/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6877" name="Line 814"/>
              <p:cNvSpPr>
                <a:spLocks noChangeShapeType="1"/>
              </p:cNvSpPr>
              <p:nvPr/>
            </p:nvSpPr>
            <p:spPr bwMode="auto">
              <a:xfrm>
                <a:off x="2362" y="1445"/>
                <a:ext cx="1234" cy="284"/>
              </a:xfrm>
              <a:prstGeom prst="line">
                <a:avLst/>
              </a:prstGeom>
              <a:noFill/>
              <a:ln w="12700" cap="rnd">
                <a:solidFill>
                  <a:schemeClr val="tx2"/>
                </a:solidFill>
                <a:prstDash val="sysDot"/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6878" name="Line 815"/>
              <p:cNvSpPr>
                <a:spLocks noChangeShapeType="1"/>
              </p:cNvSpPr>
              <p:nvPr/>
            </p:nvSpPr>
            <p:spPr bwMode="auto">
              <a:xfrm flipV="1">
                <a:off x="2383" y="1922"/>
                <a:ext cx="1192" cy="579"/>
              </a:xfrm>
              <a:prstGeom prst="line">
                <a:avLst/>
              </a:prstGeom>
              <a:noFill/>
              <a:ln w="12700" cap="rnd">
                <a:solidFill>
                  <a:schemeClr val="tx2"/>
                </a:solidFill>
                <a:prstDash val="sysDot"/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</p:grpSp>
      </p:grpSp>
      <p:sp>
        <p:nvSpPr>
          <p:cNvPr id="1211364" name="Rectangle 996"/>
          <p:cNvSpPr>
            <a:spLocks noChangeArrowheads="1"/>
          </p:cNvSpPr>
          <p:nvPr/>
        </p:nvSpPr>
        <p:spPr bwMode="auto">
          <a:xfrm>
            <a:off x="461963" y="4959350"/>
            <a:ext cx="8370887" cy="171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l"/>
            </a:pPr>
            <a:r>
              <a:rPr lang="en-US" sz="2100" dirty="0"/>
              <a:t>Inputs contain multiplexed flows from access </a:t>
            </a:r>
            <a:r>
              <a:rPr lang="en-US" sz="2100" dirty="0" err="1"/>
              <a:t>muxs</a:t>
            </a:r>
            <a:r>
              <a:rPr lang="en-US" sz="2100" dirty="0"/>
              <a:t> &amp; other packet switches</a:t>
            </a:r>
          </a:p>
          <a:p>
            <a:pPr marL="342900" indent="-342900" algn="l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l"/>
            </a:pPr>
            <a:r>
              <a:rPr lang="en-US" sz="2100" dirty="0"/>
              <a:t>Flows </a:t>
            </a:r>
            <a:r>
              <a:rPr lang="en-US" sz="2100" dirty="0" err="1"/>
              <a:t>demultiplexed</a:t>
            </a:r>
            <a:r>
              <a:rPr lang="en-US" sz="2100" dirty="0"/>
              <a:t> at input, routed and/or forwarded to output ports</a:t>
            </a:r>
          </a:p>
          <a:p>
            <a:pPr marL="342900" indent="-342900" algn="l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l"/>
            </a:pPr>
            <a:r>
              <a:rPr lang="en-US" sz="2100" dirty="0"/>
              <a:t>Packets buffered, prioritized, and multiplexed on output lines</a:t>
            </a:r>
          </a:p>
          <a:p>
            <a:pPr marL="342900" indent="-342900" algn="l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l"/>
            </a:pPr>
            <a:endParaRPr lang="en-US" sz="2100" dirty="0"/>
          </a:p>
        </p:txBody>
      </p:sp>
      <p:grpSp>
        <p:nvGrpSpPr>
          <p:cNvPr id="13" name="Group 1007"/>
          <p:cNvGrpSpPr>
            <a:grpSpLocks/>
          </p:cNvGrpSpPr>
          <p:nvPr/>
        </p:nvGrpSpPr>
        <p:grpSpPr bwMode="auto">
          <a:xfrm>
            <a:off x="3995738" y="1997075"/>
            <a:ext cx="2044700" cy="1916113"/>
            <a:chOff x="2517" y="1258"/>
            <a:chExt cx="1288" cy="1207"/>
          </a:xfrm>
        </p:grpSpPr>
        <p:sp>
          <p:nvSpPr>
            <p:cNvPr id="26851" name="Line 998"/>
            <p:cNvSpPr>
              <a:spLocks noChangeShapeType="1"/>
            </p:cNvSpPr>
            <p:nvPr/>
          </p:nvSpPr>
          <p:spPr bwMode="auto">
            <a:xfrm>
              <a:off x="2517" y="1258"/>
              <a:ext cx="1240" cy="0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852" name="Line 999"/>
            <p:cNvSpPr>
              <a:spLocks noChangeShapeType="1"/>
            </p:cNvSpPr>
            <p:nvPr/>
          </p:nvSpPr>
          <p:spPr bwMode="auto">
            <a:xfrm>
              <a:off x="2538" y="1433"/>
              <a:ext cx="1240" cy="911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853" name="Line 1000"/>
            <p:cNvSpPr>
              <a:spLocks noChangeShapeType="1"/>
            </p:cNvSpPr>
            <p:nvPr/>
          </p:nvSpPr>
          <p:spPr bwMode="auto">
            <a:xfrm>
              <a:off x="2565" y="2465"/>
              <a:ext cx="1240" cy="0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854" name="Line 1001"/>
            <p:cNvSpPr>
              <a:spLocks noChangeShapeType="1"/>
            </p:cNvSpPr>
            <p:nvPr/>
          </p:nvSpPr>
          <p:spPr bwMode="auto">
            <a:xfrm flipV="1">
              <a:off x="2579" y="1427"/>
              <a:ext cx="1185" cy="899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855" name="Line 1002"/>
            <p:cNvSpPr>
              <a:spLocks noChangeShapeType="1"/>
            </p:cNvSpPr>
            <p:nvPr/>
          </p:nvSpPr>
          <p:spPr bwMode="auto">
            <a:xfrm>
              <a:off x="2558" y="1662"/>
              <a:ext cx="1241" cy="0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856" name="Line 1003"/>
            <p:cNvSpPr>
              <a:spLocks noChangeShapeType="1"/>
            </p:cNvSpPr>
            <p:nvPr/>
          </p:nvSpPr>
          <p:spPr bwMode="auto">
            <a:xfrm flipV="1">
              <a:off x="2552" y="1324"/>
              <a:ext cx="1219" cy="254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857" name="Line 1004"/>
            <p:cNvSpPr>
              <a:spLocks noChangeShapeType="1"/>
            </p:cNvSpPr>
            <p:nvPr/>
          </p:nvSpPr>
          <p:spPr bwMode="auto">
            <a:xfrm>
              <a:off x="2565" y="1783"/>
              <a:ext cx="1199" cy="591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858" name="Line 1005"/>
            <p:cNvSpPr>
              <a:spLocks noChangeShapeType="1"/>
            </p:cNvSpPr>
            <p:nvPr/>
          </p:nvSpPr>
          <p:spPr bwMode="auto">
            <a:xfrm>
              <a:off x="2544" y="1312"/>
              <a:ext cx="1234" cy="284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859" name="Line 1006"/>
            <p:cNvSpPr>
              <a:spLocks noChangeShapeType="1"/>
            </p:cNvSpPr>
            <p:nvPr/>
          </p:nvSpPr>
          <p:spPr bwMode="auto">
            <a:xfrm flipV="1">
              <a:off x="2565" y="1789"/>
              <a:ext cx="1192" cy="579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4" name="Group 2"/>
          <p:cNvGrpSpPr>
            <a:grpSpLocks/>
          </p:cNvGrpSpPr>
          <p:nvPr/>
        </p:nvGrpSpPr>
        <p:grpSpPr bwMode="auto">
          <a:xfrm>
            <a:off x="6226175" y="1628775"/>
            <a:ext cx="2095500" cy="2776538"/>
            <a:chOff x="3922" y="1026"/>
            <a:chExt cx="1320" cy="1749"/>
          </a:xfrm>
        </p:grpSpPr>
        <p:sp>
          <p:nvSpPr>
            <p:cNvPr id="26657" name="Line 43"/>
            <p:cNvSpPr>
              <a:spLocks noChangeShapeType="1"/>
            </p:cNvSpPr>
            <p:nvPr/>
          </p:nvSpPr>
          <p:spPr bwMode="auto">
            <a:xfrm rot="5400000" flipV="1">
              <a:off x="4267" y="2072"/>
              <a:ext cx="0" cy="67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658" name="Line 46"/>
            <p:cNvSpPr>
              <a:spLocks noChangeShapeType="1"/>
            </p:cNvSpPr>
            <p:nvPr/>
          </p:nvSpPr>
          <p:spPr bwMode="auto">
            <a:xfrm rot="5400000" flipV="1">
              <a:off x="4261" y="1006"/>
              <a:ext cx="0" cy="67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659" name="Line 55"/>
            <p:cNvSpPr>
              <a:spLocks noChangeShapeType="1"/>
            </p:cNvSpPr>
            <p:nvPr/>
          </p:nvSpPr>
          <p:spPr bwMode="auto">
            <a:xfrm rot="5400000" flipV="1">
              <a:off x="4261" y="1360"/>
              <a:ext cx="0" cy="67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grpSp>
          <p:nvGrpSpPr>
            <p:cNvPr id="26660" name="Group 995"/>
            <p:cNvGrpSpPr>
              <a:grpSpLocks/>
            </p:cNvGrpSpPr>
            <p:nvPr/>
          </p:nvGrpSpPr>
          <p:grpSpPr bwMode="auto">
            <a:xfrm>
              <a:off x="4646" y="1026"/>
              <a:ext cx="596" cy="552"/>
              <a:chOff x="2000" y="2933"/>
              <a:chExt cx="596" cy="552"/>
            </a:xfrm>
          </p:grpSpPr>
          <p:sp>
            <p:nvSpPr>
              <p:cNvPr id="26678" name="AutoShape 818"/>
              <p:cNvSpPr>
                <a:spLocks noChangeArrowheads="1"/>
              </p:cNvSpPr>
              <p:nvPr/>
            </p:nvSpPr>
            <p:spPr bwMode="auto">
              <a:xfrm rot="16200000" flipH="1">
                <a:off x="1961" y="3193"/>
                <a:ext cx="183" cy="105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381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79" name="Freeform 820"/>
              <p:cNvSpPr>
                <a:spLocks/>
              </p:cNvSpPr>
              <p:nvPr/>
            </p:nvSpPr>
            <p:spPr bwMode="auto">
              <a:xfrm>
                <a:off x="2435" y="3062"/>
                <a:ext cx="121" cy="10"/>
              </a:xfrm>
              <a:custGeom>
                <a:avLst/>
                <a:gdLst>
                  <a:gd name="T0" fmla="*/ 0 w 206"/>
                  <a:gd name="T1" fmla="*/ 1 h 20"/>
                  <a:gd name="T2" fmla="*/ 0 w 206"/>
                  <a:gd name="T3" fmla="*/ 0 h 20"/>
                  <a:gd name="T4" fmla="*/ 8 w 206"/>
                  <a:gd name="T5" fmla="*/ 0 h 20"/>
                  <a:gd name="T6" fmla="*/ 8 w 206"/>
                  <a:gd name="T7" fmla="*/ 1 h 20"/>
                  <a:gd name="T8" fmla="*/ 0 w 206"/>
                  <a:gd name="T9" fmla="*/ 1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6"/>
                  <a:gd name="T16" fmla="*/ 0 h 20"/>
                  <a:gd name="T17" fmla="*/ 206 w 206"/>
                  <a:gd name="T18" fmla="*/ 20 h 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6" h="20">
                    <a:moveTo>
                      <a:pt x="0" y="19"/>
                    </a:moveTo>
                    <a:lnTo>
                      <a:pt x="0" y="0"/>
                    </a:lnTo>
                    <a:lnTo>
                      <a:pt x="205" y="0"/>
                    </a:lnTo>
                    <a:lnTo>
                      <a:pt x="205" y="19"/>
                    </a:lnTo>
                    <a:lnTo>
                      <a:pt x="0" y="19"/>
                    </a:lnTo>
                  </a:path>
                </a:pathLst>
              </a:custGeom>
              <a:solidFill>
                <a:srgbClr val="666666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80" name="Freeform 821"/>
              <p:cNvSpPr>
                <a:spLocks/>
              </p:cNvSpPr>
              <p:nvPr/>
            </p:nvSpPr>
            <p:spPr bwMode="auto">
              <a:xfrm>
                <a:off x="2430" y="3017"/>
                <a:ext cx="129" cy="16"/>
              </a:xfrm>
              <a:custGeom>
                <a:avLst/>
                <a:gdLst>
                  <a:gd name="T0" fmla="*/ 8 w 220"/>
                  <a:gd name="T1" fmla="*/ 0 h 34"/>
                  <a:gd name="T2" fmla="*/ 9 w 220"/>
                  <a:gd name="T3" fmla="*/ 0 h 34"/>
                  <a:gd name="T4" fmla="*/ 0 w 220"/>
                  <a:gd name="T5" fmla="*/ 0 h 34"/>
                  <a:gd name="T6" fmla="*/ 1 w 220"/>
                  <a:gd name="T7" fmla="*/ 0 h 34"/>
                  <a:gd name="T8" fmla="*/ 8 w 220"/>
                  <a:gd name="T9" fmla="*/ 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0"/>
                  <a:gd name="T16" fmla="*/ 0 h 34"/>
                  <a:gd name="T17" fmla="*/ 220 w 220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0" h="34">
                    <a:moveTo>
                      <a:pt x="189" y="0"/>
                    </a:moveTo>
                    <a:lnTo>
                      <a:pt x="219" y="33"/>
                    </a:lnTo>
                    <a:lnTo>
                      <a:pt x="0" y="33"/>
                    </a:lnTo>
                    <a:lnTo>
                      <a:pt x="29" y="0"/>
                    </a:lnTo>
                    <a:lnTo>
                      <a:pt x="189" y="0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81" name="Freeform 822"/>
              <p:cNvSpPr>
                <a:spLocks/>
              </p:cNvSpPr>
              <p:nvPr/>
            </p:nvSpPr>
            <p:spPr bwMode="auto">
              <a:xfrm>
                <a:off x="2463" y="3015"/>
                <a:ext cx="61" cy="11"/>
              </a:xfrm>
              <a:custGeom>
                <a:avLst/>
                <a:gdLst>
                  <a:gd name="T0" fmla="*/ 4 w 104"/>
                  <a:gd name="T1" fmla="*/ 0 h 24"/>
                  <a:gd name="T2" fmla="*/ 4 w 104"/>
                  <a:gd name="T3" fmla="*/ 0 h 24"/>
                  <a:gd name="T4" fmla="*/ 4 w 104"/>
                  <a:gd name="T5" fmla="*/ 0 h 24"/>
                  <a:gd name="T6" fmla="*/ 4 w 104"/>
                  <a:gd name="T7" fmla="*/ 0 h 24"/>
                  <a:gd name="T8" fmla="*/ 4 w 104"/>
                  <a:gd name="T9" fmla="*/ 0 h 24"/>
                  <a:gd name="T10" fmla="*/ 3 w 104"/>
                  <a:gd name="T11" fmla="*/ 0 h 24"/>
                  <a:gd name="T12" fmla="*/ 3 w 104"/>
                  <a:gd name="T13" fmla="*/ 0 h 24"/>
                  <a:gd name="T14" fmla="*/ 3 w 104"/>
                  <a:gd name="T15" fmla="*/ 0 h 24"/>
                  <a:gd name="T16" fmla="*/ 2 w 104"/>
                  <a:gd name="T17" fmla="*/ 0 h 24"/>
                  <a:gd name="T18" fmla="*/ 2 w 104"/>
                  <a:gd name="T19" fmla="*/ 0 h 24"/>
                  <a:gd name="T20" fmla="*/ 2 w 104"/>
                  <a:gd name="T21" fmla="*/ 0 h 24"/>
                  <a:gd name="T22" fmla="*/ 1 w 104"/>
                  <a:gd name="T23" fmla="*/ 0 h 24"/>
                  <a:gd name="T24" fmla="*/ 1 w 104"/>
                  <a:gd name="T25" fmla="*/ 0 h 24"/>
                  <a:gd name="T26" fmla="*/ 1 w 104"/>
                  <a:gd name="T27" fmla="*/ 0 h 24"/>
                  <a:gd name="T28" fmla="*/ 1 w 104"/>
                  <a:gd name="T29" fmla="*/ 0 h 24"/>
                  <a:gd name="T30" fmla="*/ 1 w 104"/>
                  <a:gd name="T31" fmla="*/ 0 h 24"/>
                  <a:gd name="T32" fmla="*/ 1 w 104"/>
                  <a:gd name="T33" fmla="*/ 0 h 24"/>
                  <a:gd name="T34" fmla="*/ 0 w 104"/>
                  <a:gd name="T35" fmla="*/ 0 h 24"/>
                  <a:gd name="T36" fmla="*/ 0 w 104"/>
                  <a:gd name="T37" fmla="*/ 0 h 24"/>
                  <a:gd name="T38" fmla="*/ 1 w 104"/>
                  <a:gd name="T39" fmla="*/ 0 h 24"/>
                  <a:gd name="T40" fmla="*/ 1 w 104"/>
                  <a:gd name="T41" fmla="*/ 0 h 24"/>
                  <a:gd name="T42" fmla="*/ 1 w 104"/>
                  <a:gd name="T43" fmla="*/ 0 h 24"/>
                  <a:gd name="T44" fmla="*/ 1 w 104"/>
                  <a:gd name="T45" fmla="*/ 0 h 24"/>
                  <a:gd name="T46" fmla="*/ 1 w 104"/>
                  <a:gd name="T47" fmla="*/ 0 h 24"/>
                  <a:gd name="T48" fmla="*/ 1 w 104"/>
                  <a:gd name="T49" fmla="*/ 0 h 24"/>
                  <a:gd name="T50" fmla="*/ 2 w 104"/>
                  <a:gd name="T51" fmla="*/ 0 h 24"/>
                  <a:gd name="T52" fmla="*/ 2 w 104"/>
                  <a:gd name="T53" fmla="*/ 0 h 24"/>
                  <a:gd name="T54" fmla="*/ 2 w 104"/>
                  <a:gd name="T55" fmla="*/ 0 h 24"/>
                  <a:gd name="T56" fmla="*/ 3 w 104"/>
                  <a:gd name="T57" fmla="*/ 0 h 24"/>
                  <a:gd name="T58" fmla="*/ 3 w 104"/>
                  <a:gd name="T59" fmla="*/ 0 h 24"/>
                  <a:gd name="T60" fmla="*/ 3 w 104"/>
                  <a:gd name="T61" fmla="*/ 0 h 24"/>
                  <a:gd name="T62" fmla="*/ 4 w 104"/>
                  <a:gd name="T63" fmla="*/ 0 h 24"/>
                  <a:gd name="T64" fmla="*/ 4 w 104"/>
                  <a:gd name="T65" fmla="*/ 0 h 24"/>
                  <a:gd name="T66" fmla="*/ 4 w 104"/>
                  <a:gd name="T67" fmla="*/ 0 h 24"/>
                  <a:gd name="T68" fmla="*/ 4 w 104"/>
                  <a:gd name="T69" fmla="*/ 0 h 24"/>
                  <a:gd name="T70" fmla="*/ 4 w 104"/>
                  <a:gd name="T71" fmla="*/ 0 h 2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04"/>
                  <a:gd name="T109" fmla="*/ 0 h 24"/>
                  <a:gd name="T110" fmla="*/ 104 w 104"/>
                  <a:gd name="T111" fmla="*/ 24 h 2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04" h="24">
                    <a:moveTo>
                      <a:pt x="103" y="11"/>
                    </a:moveTo>
                    <a:lnTo>
                      <a:pt x="102" y="10"/>
                    </a:lnTo>
                    <a:lnTo>
                      <a:pt x="102" y="9"/>
                    </a:lnTo>
                    <a:lnTo>
                      <a:pt x="101" y="8"/>
                    </a:lnTo>
                    <a:lnTo>
                      <a:pt x="99" y="7"/>
                    </a:lnTo>
                    <a:lnTo>
                      <a:pt x="97" y="6"/>
                    </a:lnTo>
                    <a:lnTo>
                      <a:pt x="95" y="6"/>
                    </a:lnTo>
                    <a:lnTo>
                      <a:pt x="93" y="4"/>
                    </a:lnTo>
                    <a:lnTo>
                      <a:pt x="90" y="4"/>
                    </a:lnTo>
                    <a:lnTo>
                      <a:pt x="87" y="3"/>
                    </a:lnTo>
                    <a:lnTo>
                      <a:pt x="84" y="2"/>
                    </a:lnTo>
                    <a:lnTo>
                      <a:pt x="80" y="2"/>
                    </a:lnTo>
                    <a:lnTo>
                      <a:pt x="76" y="1"/>
                    </a:lnTo>
                    <a:lnTo>
                      <a:pt x="72" y="1"/>
                    </a:lnTo>
                    <a:lnTo>
                      <a:pt x="69" y="0"/>
                    </a:lnTo>
                    <a:lnTo>
                      <a:pt x="64" y="0"/>
                    </a:lnTo>
                    <a:lnTo>
                      <a:pt x="60" y="0"/>
                    </a:lnTo>
                    <a:lnTo>
                      <a:pt x="55" y="0"/>
                    </a:lnTo>
                    <a:lnTo>
                      <a:pt x="51" y="0"/>
                    </a:lnTo>
                    <a:lnTo>
                      <a:pt x="46" y="0"/>
                    </a:lnTo>
                    <a:lnTo>
                      <a:pt x="42" y="0"/>
                    </a:lnTo>
                    <a:lnTo>
                      <a:pt x="37" y="0"/>
                    </a:lnTo>
                    <a:lnTo>
                      <a:pt x="33" y="0"/>
                    </a:lnTo>
                    <a:lnTo>
                      <a:pt x="29" y="1"/>
                    </a:lnTo>
                    <a:lnTo>
                      <a:pt x="25" y="1"/>
                    </a:lnTo>
                    <a:lnTo>
                      <a:pt x="21" y="2"/>
                    </a:lnTo>
                    <a:lnTo>
                      <a:pt x="17" y="2"/>
                    </a:lnTo>
                    <a:lnTo>
                      <a:pt x="14" y="3"/>
                    </a:lnTo>
                    <a:lnTo>
                      <a:pt x="12" y="4"/>
                    </a:lnTo>
                    <a:lnTo>
                      <a:pt x="8" y="4"/>
                    </a:lnTo>
                    <a:lnTo>
                      <a:pt x="6" y="6"/>
                    </a:lnTo>
                    <a:lnTo>
                      <a:pt x="4" y="6"/>
                    </a:lnTo>
                    <a:lnTo>
                      <a:pt x="3" y="7"/>
                    </a:lnTo>
                    <a:lnTo>
                      <a:pt x="1" y="8"/>
                    </a:lnTo>
                    <a:lnTo>
                      <a:pt x="0" y="9"/>
                    </a:lnTo>
                    <a:lnTo>
                      <a:pt x="0" y="10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3"/>
                    </a:lnTo>
                    <a:lnTo>
                      <a:pt x="1" y="14"/>
                    </a:lnTo>
                    <a:lnTo>
                      <a:pt x="3" y="15"/>
                    </a:lnTo>
                    <a:lnTo>
                      <a:pt x="4" y="16"/>
                    </a:lnTo>
                    <a:lnTo>
                      <a:pt x="6" y="17"/>
                    </a:lnTo>
                    <a:lnTo>
                      <a:pt x="8" y="17"/>
                    </a:lnTo>
                    <a:lnTo>
                      <a:pt x="12" y="18"/>
                    </a:lnTo>
                    <a:lnTo>
                      <a:pt x="14" y="19"/>
                    </a:lnTo>
                    <a:lnTo>
                      <a:pt x="17" y="20"/>
                    </a:lnTo>
                    <a:lnTo>
                      <a:pt x="21" y="20"/>
                    </a:lnTo>
                    <a:lnTo>
                      <a:pt x="25" y="21"/>
                    </a:lnTo>
                    <a:lnTo>
                      <a:pt x="29" y="21"/>
                    </a:lnTo>
                    <a:lnTo>
                      <a:pt x="33" y="22"/>
                    </a:lnTo>
                    <a:lnTo>
                      <a:pt x="37" y="22"/>
                    </a:lnTo>
                    <a:lnTo>
                      <a:pt x="42" y="22"/>
                    </a:lnTo>
                    <a:lnTo>
                      <a:pt x="46" y="23"/>
                    </a:lnTo>
                    <a:lnTo>
                      <a:pt x="51" y="23"/>
                    </a:lnTo>
                    <a:lnTo>
                      <a:pt x="55" y="23"/>
                    </a:lnTo>
                    <a:lnTo>
                      <a:pt x="60" y="22"/>
                    </a:lnTo>
                    <a:lnTo>
                      <a:pt x="64" y="22"/>
                    </a:lnTo>
                    <a:lnTo>
                      <a:pt x="69" y="22"/>
                    </a:lnTo>
                    <a:lnTo>
                      <a:pt x="72" y="21"/>
                    </a:lnTo>
                    <a:lnTo>
                      <a:pt x="76" y="21"/>
                    </a:lnTo>
                    <a:lnTo>
                      <a:pt x="80" y="20"/>
                    </a:lnTo>
                    <a:lnTo>
                      <a:pt x="84" y="20"/>
                    </a:lnTo>
                    <a:lnTo>
                      <a:pt x="87" y="19"/>
                    </a:lnTo>
                    <a:lnTo>
                      <a:pt x="90" y="18"/>
                    </a:lnTo>
                    <a:lnTo>
                      <a:pt x="93" y="17"/>
                    </a:lnTo>
                    <a:lnTo>
                      <a:pt x="95" y="17"/>
                    </a:lnTo>
                    <a:lnTo>
                      <a:pt x="97" y="16"/>
                    </a:lnTo>
                    <a:lnTo>
                      <a:pt x="99" y="15"/>
                    </a:lnTo>
                    <a:lnTo>
                      <a:pt x="101" y="14"/>
                    </a:lnTo>
                    <a:lnTo>
                      <a:pt x="102" y="13"/>
                    </a:lnTo>
                    <a:lnTo>
                      <a:pt x="102" y="12"/>
                    </a:lnTo>
                    <a:lnTo>
                      <a:pt x="103" y="11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82" name="Freeform 823"/>
              <p:cNvSpPr>
                <a:spLocks/>
              </p:cNvSpPr>
              <p:nvPr/>
            </p:nvSpPr>
            <p:spPr bwMode="auto">
              <a:xfrm>
                <a:off x="2463" y="3020"/>
                <a:ext cx="61" cy="9"/>
              </a:xfrm>
              <a:custGeom>
                <a:avLst/>
                <a:gdLst>
                  <a:gd name="T0" fmla="*/ 4 w 104"/>
                  <a:gd name="T1" fmla="*/ 1 h 17"/>
                  <a:gd name="T2" fmla="*/ 4 w 104"/>
                  <a:gd name="T3" fmla="*/ 1 h 17"/>
                  <a:gd name="T4" fmla="*/ 4 w 104"/>
                  <a:gd name="T5" fmla="*/ 1 h 17"/>
                  <a:gd name="T6" fmla="*/ 4 w 104"/>
                  <a:gd name="T7" fmla="*/ 1 h 17"/>
                  <a:gd name="T8" fmla="*/ 4 w 104"/>
                  <a:gd name="T9" fmla="*/ 1 h 17"/>
                  <a:gd name="T10" fmla="*/ 3 w 104"/>
                  <a:gd name="T11" fmla="*/ 1 h 17"/>
                  <a:gd name="T12" fmla="*/ 3 w 104"/>
                  <a:gd name="T13" fmla="*/ 1 h 17"/>
                  <a:gd name="T14" fmla="*/ 3 w 104"/>
                  <a:gd name="T15" fmla="*/ 1 h 17"/>
                  <a:gd name="T16" fmla="*/ 2 w 104"/>
                  <a:gd name="T17" fmla="*/ 1 h 17"/>
                  <a:gd name="T18" fmla="*/ 2 w 104"/>
                  <a:gd name="T19" fmla="*/ 1 h 17"/>
                  <a:gd name="T20" fmla="*/ 2 w 104"/>
                  <a:gd name="T21" fmla="*/ 1 h 17"/>
                  <a:gd name="T22" fmla="*/ 1 w 104"/>
                  <a:gd name="T23" fmla="*/ 1 h 17"/>
                  <a:gd name="T24" fmla="*/ 1 w 104"/>
                  <a:gd name="T25" fmla="*/ 1 h 17"/>
                  <a:gd name="T26" fmla="*/ 1 w 104"/>
                  <a:gd name="T27" fmla="*/ 1 h 17"/>
                  <a:gd name="T28" fmla="*/ 1 w 104"/>
                  <a:gd name="T29" fmla="*/ 1 h 17"/>
                  <a:gd name="T30" fmla="*/ 1 w 104"/>
                  <a:gd name="T31" fmla="*/ 1 h 17"/>
                  <a:gd name="T32" fmla="*/ 1 w 104"/>
                  <a:gd name="T33" fmla="*/ 1 h 17"/>
                  <a:gd name="T34" fmla="*/ 0 w 104"/>
                  <a:gd name="T35" fmla="*/ 1 h 17"/>
                  <a:gd name="T36" fmla="*/ 0 w 104"/>
                  <a:gd name="T37" fmla="*/ 0 h 17"/>
                  <a:gd name="T38" fmla="*/ 0 w 104"/>
                  <a:gd name="T39" fmla="*/ 1 h 17"/>
                  <a:gd name="T40" fmla="*/ 1 w 104"/>
                  <a:gd name="T41" fmla="*/ 1 h 17"/>
                  <a:gd name="T42" fmla="*/ 1 w 104"/>
                  <a:gd name="T43" fmla="*/ 1 h 17"/>
                  <a:gd name="T44" fmla="*/ 1 w 104"/>
                  <a:gd name="T45" fmla="*/ 1 h 17"/>
                  <a:gd name="T46" fmla="*/ 1 w 104"/>
                  <a:gd name="T47" fmla="*/ 1 h 17"/>
                  <a:gd name="T48" fmla="*/ 1 w 104"/>
                  <a:gd name="T49" fmla="*/ 1 h 17"/>
                  <a:gd name="T50" fmla="*/ 1 w 104"/>
                  <a:gd name="T51" fmla="*/ 1 h 17"/>
                  <a:gd name="T52" fmla="*/ 2 w 104"/>
                  <a:gd name="T53" fmla="*/ 1 h 17"/>
                  <a:gd name="T54" fmla="*/ 2 w 104"/>
                  <a:gd name="T55" fmla="*/ 1 h 17"/>
                  <a:gd name="T56" fmla="*/ 2 w 104"/>
                  <a:gd name="T57" fmla="*/ 1 h 17"/>
                  <a:gd name="T58" fmla="*/ 3 w 104"/>
                  <a:gd name="T59" fmla="*/ 1 h 17"/>
                  <a:gd name="T60" fmla="*/ 3 w 104"/>
                  <a:gd name="T61" fmla="*/ 1 h 17"/>
                  <a:gd name="T62" fmla="*/ 4 w 104"/>
                  <a:gd name="T63" fmla="*/ 1 h 17"/>
                  <a:gd name="T64" fmla="*/ 4 w 104"/>
                  <a:gd name="T65" fmla="*/ 1 h 17"/>
                  <a:gd name="T66" fmla="*/ 4 w 104"/>
                  <a:gd name="T67" fmla="*/ 1 h 17"/>
                  <a:gd name="T68" fmla="*/ 4 w 104"/>
                  <a:gd name="T69" fmla="*/ 1 h 17"/>
                  <a:gd name="T70" fmla="*/ 4 w 104"/>
                  <a:gd name="T71" fmla="*/ 1 h 17"/>
                  <a:gd name="T72" fmla="*/ 4 w 104"/>
                  <a:gd name="T73" fmla="*/ 0 h 1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04"/>
                  <a:gd name="T112" fmla="*/ 0 h 17"/>
                  <a:gd name="T113" fmla="*/ 104 w 104"/>
                  <a:gd name="T114" fmla="*/ 17 h 1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04" h="17">
                    <a:moveTo>
                      <a:pt x="103" y="5"/>
                    </a:moveTo>
                    <a:lnTo>
                      <a:pt x="102" y="6"/>
                    </a:lnTo>
                    <a:lnTo>
                      <a:pt x="102" y="7"/>
                    </a:lnTo>
                    <a:lnTo>
                      <a:pt x="101" y="8"/>
                    </a:lnTo>
                    <a:lnTo>
                      <a:pt x="99" y="8"/>
                    </a:lnTo>
                    <a:lnTo>
                      <a:pt x="97" y="10"/>
                    </a:lnTo>
                    <a:lnTo>
                      <a:pt x="95" y="10"/>
                    </a:lnTo>
                    <a:lnTo>
                      <a:pt x="93" y="11"/>
                    </a:lnTo>
                    <a:lnTo>
                      <a:pt x="90" y="12"/>
                    </a:lnTo>
                    <a:lnTo>
                      <a:pt x="87" y="12"/>
                    </a:lnTo>
                    <a:lnTo>
                      <a:pt x="84" y="13"/>
                    </a:lnTo>
                    <a:lnTo>
                      <a:pt x="80" y="14"/>
                    </a:lnTo>
                    <a:lnTo>
                      <a:pt x="76" y="14"/>
                    </a:lnTo>
                    <a:lnTo>
                      <a:pt x="72" y="14"/>
                    </a:lnTo>
                    <a:lnTo>
                      <a:pt x="69" y="15"/>
                    </a:lnTo>
                    <a:lnTo>
                      <a:pt x="64" y="15"/>
                    </a:lnTo>
                    <a:lnTo>
                      <a:pt x="60" y="16"/>
                    </a:lnTo>
                    <a:lnTo>
                      <a:pt x="55" y="16"/>
                    </a:lnTo>
                    <a:lnTo>
                      <a:pt x="51" y="16"/>
                    </a:lnTo>
                    <a:lnTo>
                      <a:pt x="46" y="16"/>
                    </a:lnTo>
                    <a:lnTo>
                      <a:pt x="42" y="16"/>
                    </a:lnTo>
                    <a:lnTo>
                      <a:pt x="37" y="15"/>
                    </a:lnTo>
                    <a:lnTo>
                      <a:pt x="33" y="15"/>
                    </a:lnTo>
                    <a:lnTo>
                      <a:pt x="29" y="14"/>
                    </a:lnTo>
                    <a:lnTo>
                      <a:pt x="25" y="14"/>
                    </a:lnTo>
                    <a:lnTo>
                      <a:pt x="21" y="14"/>
                    </a:lnTo>
                    <a:lnTo>
                      <a:pt x="17" y="13"/>
                    </a:lnTo>
                    <a:lnTo>
                      <a:pt x="14" y="12"/>
                    </a:lnTo>
                    <a:lnTo>
                      <a:pt x="12" y="12"/>
                    </a:lnTo>
                    <a:lnTo>
                      <a:pt x="8" y="11"/>
                    </a:lnTo>
                    <a:lnTo>
                      <a:pt x="6" y="10"/>
                    </a:lnTo>
                    <a:lnTo>
                      <a:pt x="4" y="10"/>
                    </a:lnTo>
                    <a:lnTo>
                      <a:pt x="3" y="8"/>
                    </a:lnTo>
                    <a:lnTo>
                      <a:pt x="1" y="8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1" y="2"/>
                    </a:lnTo>
                    <a:lnTo>
                      <a:pt x="3" y="4"/>
                    </a:lnTo>
                    <a:lnTo>
                      <a:pt x="4" y="4"/>
                    </a:lnTo>
                    <a:lnTo>
                      <a:pt x="6" y="5"/>
                    </a:lnTo>
                    <a:lnTo>
                      <a:pt x="8" y="6"/>
                    </a:lnTo>
                    <a:lnTo>
                      <a:pt x="12" y="6"/>
                    </a:lnTo>
                    <a:lnTo>
                      <a:pt x="14" y="7"/>
                    </a:lnTo>
                    <a:lnTo>
                      <a:pt x="17" y="8"/>
                    </a:lnTo>
                    <a:lnTo>
                      <a:pt x="21" y="8"/>
                    </a:lnTo>
                    <a:lnTo>
                      <a:pt x="25" y="9"/>
                    </a:lnTo>
                    <a:lnTo>
                      <a:pt x="29" y="10"/>
                    </a:lnTo>
                    <a:lnTo>
                      <a:pt x="33" y="10"/>
                    </a:lnTo>
                    <a:lnTo>
                      <a:pt x="37" y="10"/>
                    </a:lnTo>
                    <a:lnTo>
                      <a:pt x="42" y="10"/>
                    </a:lnTo>
                    <a:lnTo>
                      <a:pt x="46" y="10"/>
                    </a:lnTo>
                    <a:lnTo>
                      <a:pt x="51" y="10"/>
                    </a:lnTo>
                    <a:lnTo>
                      <a:pt x="55" y="10"/>
                    </a:lnTo>
                    <a:lnTo>
                      <a:pt x="60" y="10"/>
                    </a:lnTo>
                    <a:lnTo>
                      <a:pt x="64" y="10"/>
                    </a:lnTo>
                    <a:lnTo>
                      <a:pt x="69" y="10"/>
                    </a:lnTo>
                    <a:lnTo>
                      <a:pt x="72" y="10"/>
                    </a:lnTo>
                    <a:lnTo>
                      <a:pt x="76" y="9"/>
                    </a:lnTo>
                    <a:lnTo>
                      <a:pt x="80" y="8"/>
                    </a:lnTo>
                    <a:lnTo>
                      <a:pt x="84" y="8"/>
                    </a:lnTo>
                    <a:lnTo>
                      <a:pt x="87" y="7"/>
                    </a:lnTo>
                    <a:lnTo>
                      <a:pt x="90" y="6"/>
                    </a:lnTo>
                    <a:lnTo>
                      <a:pt x="93" y="6"/>
                    </a:lnTo>
                    <a:lnTo>
                      <a:pt x="95" y="5"/>
                    </a:lnTo>
                    <a:lnTo>
                      <a:pt x="97" y="4"/>
                    </a:lnTo>
                    <a:lnTo>
                      <a:pt x="99" y="4"/>
                    </a:lnTo>
                    <a:lnTo>
                      <a:pt x="101" y="2"/>
                    </a:lnTo>
                    <a:lnTo>
                      <a:pt x="102" y="2"/>
                    </a:lnTo>
                    <a:lnTo>
                      <a:pt x="102" y="1"/>
                    </a:lnTo>
                    <a:lnTo>
                      <a:pt x="103" y="0"/>
                    </a:lnTo>
                    <a:lnTo>
                      <a:pt x="103" y="5"/>
                    </a:lnTo>
                  </a:path>
                </a:pathLst>
              </a:custGeom>
              <a:solidFill>
                <a:srgbClr val="666666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83" name="Freeform 824"/>
              <p:cNvSpPr>
                <a:spLocks/>
              </p:cNvSpPr>
              <p:nvPr/>
            </p:nvSpPr>
            <p:spPr bwMode="auto">
              <a:xfrm>
                <a:off x="2430" y="3032"/>
                <a:ext cx="129" cy="38"/>
              </a:xfrm>
              <a:custGeom>
                <a:avLst/>
                <a:gdLst>
                  <a:gd name="T0" fmla="*/ 0 w 220"/>
                  <a:gd name="T1" fmla="*/ 1 h 77"/>
                  <a:gd name="T2" fmla="*/ 9 w 220"/>
                  <a:gd name="T3" fmla="*/ 1 h 77"/>
                  <a:gd name="T4" fmla="*/ 9 w 220"/>
                  <a:gd name="T5" fmla="*/ 0 h 77"/>
                  <a:gd name="T6" fmla="*/ 0 w 220"/>
                  <a:gd name="T7" fmla="*/ 0 h 77"/>
                  <a:gd name="T8" fmla="*/ 0 w 220"/>
                  <a:gd name="T9" fmla="*/ 1 h 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0"/>
                  <a:gd name="T16" fmla="*/ 0 h 77"/>
                  <a:gd name="T17" fmla="*/ 220 w 220"/>
                  <a:gd name="T18" fmla="*/ 77 h 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0" h="77">
                    <a:moveTo>
                      <a:pt x="0" y="76"/>
                    </a:moveTo>
                    <a:lnTo>
                      <a:pt x="219" y="76"/>
                    </a:lnTo>
                    <a:lnTo>
                      <a:pt x="219" y="0"/>
                    </a:lnTo>
                    <a:lnTo>
                      <a:pt x="0" y="0"/>
                    </a:lnTo>
                    <a:lnTo>
                      <a:pt x="0" y="76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84" name="Freeform 825"/>
              <p:cNvSpPr>
                <a:spLocks/>
              </p:cNvSpPr>
              <p:nvPr/>
            </p:nvSpPr>
            <p:spPr bwMode="auto">
              <a:xfrm>
                <a:off x="2451" y="3015"/>
                <a:ext cx="40" cy="8"/>
              </a:xfrm>
              <a:custGeom>
                <a:avLst/>
                <a:gdLst>
                  <a:gd name="T0" fmla="*/ 0 w 69"/>
                  <a:gd name="T1" fmla="*/ 0 h 17"/>
                  <a:gd name="T2" fmla="*/ 0 w 69"/>
                  <a:gd name="T3" fmla="*/ 0 h 17"/>
                  <a:gd name="T4" fmla="*/ 3 w 69"/>
                  <a:gd name="T5" fmla="*/ 0 h 17"/>
                  <a:gd name="T6" fmla="*/ 3 w 69"/>
                  <a:gd name="T7" fmla="*/ 0 h 17"/>
                  <a:gd name="T8" fmla="*/ 0 w 69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9"/>
                  <a:gd name="T16" fmla="*/ 0 h 17"/>
                  <a:gd name="T17" fmla="*/ 69 w 69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9" h="17">
                    <a:moveTo>
                      <a:pt x="0" y="16"/>
                    </a:moveTo>
                    <a:lnTo>
                      <a:pt x="0" y="0"/>
                    </a:lnTo>
                    <a:lnTo>
                      <a:pt x="68" y="0"/>
                    </a:lnTo>
                    <a:lnTo>
                      <a:pt x="68" y="16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85" name="Freeform 826"/>
              <p:cNvSpPr>
                <a:spLocks/>
              </p:cNvSpPr>
              <p:nvPr/>
            </p:nvSpPr>
            <p:spPr bwMode="auto">
              <a:xfrm>
                <a:off x="2483" y="3015"/>
                <a:ext cx="55" cy="8"/>
              </a:xfrm>
              <a:custGeom>
                <a:avLst/>
                <a:gdLst>
                  <a:gd name="T0" fmla="*/ 0 w 94"/>
                  <a:gd name="T1" fmla="*/ 0 h 17"/>
                  <a:gd name="T2" fmla="*/ 0 w 94"/>
                  <a:gd name="T3" fmla="*/ 0 h 17"/>
                  <a:gd name="T4" fmla="*/ 4 w 94"/>
                  <a:gd name="T5" fmla="*/ 0 h 17"/>
                  <a:gd name="T6" fmla="*/ 4 w 94"/>
                  <a:gd name="T7" fmla="*/ 0 h 17"/>
                  <a:gd name="T8" fmla="*/ 0 w 94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4"/>
                  <a:gd name="T16" fmla="*/ 0 h 17"/>
                  <a:gd name="T17" fmla="*/ 94 w 9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4" h="17">
                    <a:moveTo>
                      <a:pt x="0" y="16"/>
                    </a:moveTo>
                    <a:lnTo>
                      <a:pt x="0" y="0"/>
                    </a:lnTo>
                    <a:lnTo>
                      <a:pt x="93" y="0"/>
                    </a:lnTo>
                    <a:lnTo>
                      <a:pt x="93" y="16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86" name="Freeform 827"/>
              <p:cNvSpPr>
                <a:spLocks/>
              </p:cNvSpPr>
              <p:nvPr/>
            </p:nvSpPr>
            <p:spPr bwMode="auto">
              <a:xfrm>
                <a:off x="2452" y="3016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87" name="Freeform 828"/>
              <p:cNvSpPr>
                <a:spLocks/>
              </p:cNvSpPr>
              <p:nvPr/>
            </p:nvSpPr>
            <p:spPr bwMode="auto">
              <a:xfrm>
                <a:off x="2453" y="3016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1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4"/>
                    </a:lnTo>
                    <a:lnTo>
                      <a:pt x="4" y="16"/>
                    </a:lnTo>
                    <a:lnTo>
                      <a:pt x="8" y="16"/>
                    </a:lnTo>
                    <a:lnTo>
                      <a:pt x="12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88" name="Freeform 829"/>
              <p:cNvSpPr>
                <a:spLocks/>
              </p:cNvSpPr>
              <p:nvPr/>
            </p:nvSpPr>
            <p:spPr bwMode="auto">
              <a:xfrm>
                <a:off x="2455" y="3016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89" name="Freeform 830"/>
              <p:cNvSpPr>
                <a:spLocks/>
              </p:cNvSpPr>
              <p:nvPr/>
            </p:nvSpPr>
            <p:spPr bwMode="auto">
              <a:xfrm>
                <a:off x="2456" y="3016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90" name="Freeform 831"/>
              <p:cNvSpPr>
                <a:spLocks/>
              </p:cNvSpPr>
              <p:nvPr/>
            </p:nvSpPr>
            <p:spPr bwMode="auto">
              <a:xfrm>
                <a:off x="2458" y="3016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1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91" name="Freeform 832"/>
              <p:cNvSpPr>
                <a:spLocks/>
              </p:cNvSpPr>
              <p:nvPr/>
            </p:nvSpPr>
            <p:spPr bwMode="auto">
              <a:xfrm>
                <a:off x="2459" y="3016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92" name="Freeform 833"/>
              <p:cNvSpPr>
                <a:spLocks/>
              </p:cNvSpPr>
              <p:nvPr/>
            </p:nvSpPr>
            <p:spPr bwMode="auto">
              <a:xfrm>
                <a:off x="2461" y="3016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93" name="Freeform 834"/>
              <p:cNvSpPr>
                <a:spLocks/>
              </p:cNvSpPr>
              <p:nvPr/>
            </p:nvSpPr>
            <p:spPr bwMode="auto">
              <a:xfrm>
                <a:off x="2462" y="3016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1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4"/>
                    </a:lnTo>
                    <a:lnTo>
                      <a:pt x="8" y="16"/>
                    </a:lnTo>
                    <a:lnTo>
                      <a:pt x="12" y="16"/>
                    </a:lnTo>
                    <a:lnTo>
                      <a:pt x="12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94" name="Freeform 835"/>
              <p:cNvSpPr>
                <a:spLocks/>
              </p:cNvSpPr>
              <p:nvPr/>
            </p:nvSpPr>
            <p:spPr bwMode="auto">
              <a:xfrm>
                <a:off x="2464" y="3016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95" name="Freeform 836"/>
              <p:cNvSpPr>
                <a:spLocks/>
              </p:cNvSpPr>
              <p:nvPr/>
            </p:nvSpPr>
            <p:spPr bwMode="auto">
              <a:xfrm>
                <a:off x="2465" y="3016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96" name="Freeform 837"/>
              <p:cNvSpPr>
                <a:spLocks/>
              </p:cNvSpPr>
              <p:nvPr/>
            </p:nvSpPr>
            <p:spPr bwMode="auto">
              <a:xfrm>
                <a:off x="2466" y="3016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0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0" y="16"/>
                    </a:lnTo>
                    <a:lnTo>
                      <a:pt x="8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97" name="Freeform 838"/>
              <p:cNvSpPr>
                <a:spLocks/>
              </p:cNvSpPr>
              <p:nvPr/>
            </p:nvSpPr>
            <p:spPr bwMode="auto">
              <a:xfrm>
                <a:off x="2468" y="3016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6"/>
                    </a:lnTo>
                    <a:lnTo>
                      <a:pt x="8" y="16"/>
                    </a:lnTo>
                    <a:lnTo>
                      <a:pt x="12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98" name="Freeform 839"/>
              <p:cNvSpPr>
                <a:spLocks/>
              </p:cNvSpPr>
              <p:nvPr/>
            </p:nvSpPr>
            <p:spPr bwMode="auto">
              <a:xfrm>
                <a:off x="2470" y="3016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99" name="Freeform 840"/>
              <p:cNvSpPr>
                <a:spLocks/>
              </p:cNvSpPr>
              <p:nvPr/>
            </p:nvSpPr>
            <p:spPr bwMode="auto">
              <a:xfrm>
                <a:off x="2471" y="3016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00" name="Freeform 841"/>
              <p:cNvSpPr>
                <a:spLocks/>
              </p:cNvSpPr>
              <p:nvPr/>
            </p:nvSpPr>
            <p:spPr bwMode="auto">
              <a:xfrm>
                <a:off x="2472" y="3016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01" name="Freeform 842"/>
              <p:cNvSpPr>
                <a:spLocks/>
              </p:cNvSpPr>
              <p:nvPr/>
            </p:nvSpPr>
            <p:spPr bwMode="auto">
              <a:xfrm>
                <a:off x="2475" y="3016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02" name="Freeform 843"/>
              <p:cNvSpPr>
                <a:spLocks/>
              </p:cNvSpPr>
              <p:nvPr/>
            </p:nvSpPr>
            <p:spPr bwMode="auto">
              <a:xfrm>
                <a:off x="2476" y="3016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1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03" name="Freeform 844"/>
              <p:cNvSpPr>
                <a:spLocks/>
              </p:cNvSpPr>
              <p:nvPr/>
            </p:nvSpPr>
            <p:spPr bwMode="auto">
              <a:xfrm>
                <a:off x="2478" y="3016"/>
                <a:ext cx="9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04" name="Freeform 845"/>
              <p:cNvSpPr>
                <a:spLocks/>
              </p:cNvSpPr>
              <p:nvPr/>
            </p:nvSpPr>
            <p:spPr bwMode="auto">
              <a:xfrm>
                <a:off x="2479" y="3016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05" name="Freeform 846"/>
              <p:cNvSpPr>
                <a:spLocks/>
              </p:cNvSpPr>
              <p:nvPr/>
            </p:nvSpPr>
            <p:spPr bwMode="auto">
              <a:xfrm>
                <a:off x="2480" y="3016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1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4"/>
                    </a:lnTo>
                    <a:lnTo>
                      <a:pt x="8" y="16"/>
                    </a:lnTo>
                    <a:lnTo>
                      <a:pt x="12" y="16"/>
                    </a:lnTo>
                    <a:lnTo>
                      <a:pt x="12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06" name="Freeform 847"/>
              <p:cNvSpPr>
                <a:spLocks/>
              </p:cNvSpPr>
              <p:nvPr/>
            </p:nvSpPr>
            <p:spPr bwMode="auto">
              <a:xfrm>
                <a:off x="2439" y="2933"/>
                <a:ext cx="109" cy="84"/>
              </a:xfrm>
              <a:custGeom>
                <a:avLst/>
                <a:gdLst>
                  <a:gd name="T0" fmla="*/ 7 w 187"/>
                  <a:gd name="T1" fmla="*/ 2 h 174"/>
                  <a:gd name="T2" fmla="*/ 7 w 187"/>
                  <a:gd name="T3" fmla="*/ 2 h 174"/>
                  <a:gd name="T4" fmla="*/ 7 w 187"/>
                  <a:gd name="T5" fmla="*/ 2 h 174"/>
                  <a:gd name="T6" fmla="*/ 7 w 187"/>
                  <a:gd name="T7" fmla="*/ 2 h 174"/>
                  <a:gd name="T8" fmla="*/ 7 w 187"/>
                  <a:gd name="T9" fmla="*/ 2 h 174"/>
                  <a:gd name="T10" fmla="*/ 7 w 187"/>
                  <a:gd name="T11" fmla="*/ 2 h 174"/>
                  <a:gd name="T12" fmla="*/ 7 w 187"/>
                  <a:gd name="T13" fmla="*/ 2 h 174"/>
                  <a:gd name="T14" fmla="*/ 7 w 187"/>
                  <a:gd name="T15" fmla="*/ 2 h 174"/>
                  <a:gd name="T16" fmla="*/ 7 w 187"/>
                  <a:gd name="T17" fmla="*/ 2 h 174"/>
                  <a:gd name="T18" fmla="*/ 7 w 187"/>
                  <a:gd name="T19" fmla="*/ 2 h 174"/>
                  <a:gd name="T20" fmla="*/ 7 w 187"/>
                  <a:gd name="T21" fmla="*/ 2 h 174"/>
                  <a:gd name="T22" fmla="*/ 8 w 187"/>
                  <a:gd name="T23" fmla="*/ 2 h 174"/>
                  <a:gd name="T24" fmla="*/ 8 w 187"/>
                  <a:gd name="T25" fmla="*/ 2 h 174"/>
                  <a:gd name="T26" fmla="*/ 8 w 187"/>
                  <a:gd name="T27" fmla="*/ 2 h 174"/>
                  <a:gd name="T28" fmla="*/ 8 w 187"/>
                  <a:gd name="T29" fmla="*/ 2 h 174"/>
                  <a:gd name="T30" fmla="*/ 8 w 187"/>
                  <a:gd name="T31" fmla="*/ 0 h 174"/>
                  <a:gd name="T32" fmla="*/ 8 w 187"/>
                  <a:gd name="T33" fmla="*/ 0 h 174"/>
                  <a:gd name="T34" fmla="*/ 8 w 187"/>
                  <a:gd name="T35" fmla="*/ 0 h 174"/>
                  <a:gd name="T36" fmla="*/ 8 w 187"/>
                  <a:gd name="T37" fmla="*/ 0 h 174"/>
                  <a:gd name="T38" fmla="*/ 8 w 187"/>
                  <a:gd name="T39" fmla="*/ 0 h 174"/>
                  <a:gd name="T40" fmla="*/ 7 w 187"/>
                  <a:gd name="T41" fmla="*/ 0 h 174"/>
                  <a:gd name="T42" fmla="*/ 7 w 187"/>
                  <a:gd name="T43" fmla="*/ 0 h 174"/>
                  <a:gd name="T44" fmla="*/ 7 w 187"/>
                  <a:gd name="T45" fmla="*/ 0 h 174"/>
                  <a:gd name="T46" fmla="*/ 7 w 187"/>
                  <a:gd name="T47" fmla="*/ 0 h 174"/>
                  <a:gd name="T48" fmla="*/ 7 w 187"/>
                  <a:gd name="T49" fmla="*/ 0 h 174"/>
                  <a:gd name="T50" fmla="*/ 7 w 187"/>
                  <a:gd name="T51" fmla="*/ 0 h 174"/>
                  <a:gd name="T52" fmla="*/ 7 w 187"/>
                  <a:gd name="T53" fmla="*/ 0 h 174"/>
                  <a:gd name="T54" fmla="*/ 7 w 187"/>
                  <a:gd name="T55" fmla="*/ 0 h 174"/>
                  <a:gd name="T56" fmla="*/ 7 w 187"/>
                  <a:gd name="T57" fmla="*/ 0 h 174"/>
                  <a:gd name="T58" fmla="*/ 7 w 187"/>
                  <a:gd name="T59" fmla="*/ 0 h 174"/>
                  <a:gd name="T60" fmla="*/ 1 w 187"/>
                  <a:gd name="T61" fmla="*/ 0 h 174"/>
                  <a:gd name="T62" fmla="*/ 1 w 187"/>
                  <a:gd name="T63" fmla="*/ 0 h 174"/>
                  <a:gd name="T64" fmla="*/ 1 w 187"/>
                  <a:gd name="T65" fmla="*/ 0 h 174"/>
                  <a:gd name="T66" fmla="*/ 1 w 187"/>
                  <a:gd name="T67" fmla="*/ 0 h 174"/>
                  <a:gd name="T68" fmla="*/ 1 w 187"/>
                  <a:gd name="T69" fmla="*/ 0 h 174"/>
                  <a:gd name="T70" fmla="*/ 1 w 187"/>
                  <a:gd name="T71" fmla="*/ 0 h 174"/>
                  <a:gd name="T72" fmla="*/ 1 w 187"/>
                  <a:gd name="T73" fmla="*/ 0 h 174"/>
                  <a:gd name="T74" fmla="*/ 1 w 187"/>
                  <a:gd name="T75" fmla="*/ 0 h 174"/>
                  <a:gd name="T76" fmla="*/ 1 w 187"/>
                  <a:gd name="T77" fmla="*/ 0 h 174"/>
                  <a:gd name="T78" fmla="*/ 0 w 187"/>
                  <a:gd name="T79" fmla="*/ 0 h 174"/>
                  <a:gd name="T80" fmla="*/ 0 w 187"/>
                  <a:gd name="T81" fmla="*/ 0 h 174"/>
                  <a:gd name="T82" fmla="*/ 0 w 187"/>
                  <a:gd name="T83" fmla="*/ 0 h 174"/>
                  <a:gd name="T84" fmla="*/ 0 w 187"/>
                  <a:gd name="T85" fmla="*/ 0 h 174"/>
                  <a:gd name="T86" fmla="*/ 0 w 187"/>
                  <a:gd name="T87" fmla="*/ 0 h 174"/>
                  <a:gd name="T88" fmla="*/ 0 w 187"/>
                  <a:gd name="T89" fmla="*/ 0 h 174"/>
                  <a:gd name="T90" fmla="*/ 0 w 187"/>
                  <a:gd name="T91" fmla="*/ 2 h 174"/>
                  <a:gd name="T92" fmla="*/ 0 w 187"/>
                  <a:gd name="T93" fmla="*/ 2 h 174"/>
                  <a:gd name="T94" fmla="*/ 0 w 187"/>
                  <a:gd name="T95" fmla="*/ 2 h 174"/>
                  <a:gd name="T96" fmla="*/ 0 w 187"/>
                  <a:gd name="T97" fmla="*/ 2 h 174"/>
                  <a:gd name="T98" fmla="*/ 0 w 187"/>
                  <a:gd name="T99" fmla="*/ 2 h 174"/>
                  <a:gd name="T100" fmla="*/ 0 w 187"/>
                  <a:gd name="T101" fmla="*/ 2 h 174"/>
                  <a:gd name="T102" fmla="*/ 1 w 187"/>
                  <a:gd name="T103" fmla="*/ 2 h 174"/>
                  <a:gd name="T104" fmla="*/ 1 w 187"/>
                  <a:gd name="T105" fmla="*/ 2 h 174"/>
                  <a:gd name="T106" fmla="*/ 1 w 187"/>
                  <a:gd name="T107" fmla="*/ 2 h 174"/>
                  <a:gd name="T108" fmla="*/ 1 w 187"/>
                  <a:gd name="T109" fmla="*/ 2 h 174"/>
                  <a:gd name="T110" fmla="*/ 1 w 187"/>
                  <a:gd name="T111" fmla="*/ 2 h 174"/>
                  <a:gd name="T112" fmla="*/ 1 w 187"/>
                  <a:gd name="T113" fmla="*/ 2 h 174"/>
                  <a:gd name="T114" fmla="*/ 1 w 187"/>
                  <a:gd name="T115" fmla="*/ 2 h 174"/>
                  <a:gd name="T116" fmla="*/ 1 w 187"/>
                  <a:gd name="T117" fmla="*/ 2 h 174"/>
                  <a:gd name="T118" fmla="*/ 1 w 187"/>
                  <a:gd name="T119" fmla="*/ 2 h 174"/>
                  <a:gd name="T120" fmla="*/ 1 w 187"/>
                  <a:gd name="T121" fmla="*/ 2 h 174"/>
                  <a:gd name="T122" fmla="*/ 7 w 187"/>
                  <a:gd name="T123" fmla="*/ 2 h 174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187"/>
                  <a:gd name="T187" fmla="*/ 0 h 174"/>
                  <a:gd name="T188" fmla="*/ 187 w 187"/>
                  <a:gd name="T189" fmla="*/ 174 h 174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187" h="174">
                    <a:moveTo>
                      <a:pt x="180" y="173"/>
                    </a:moveTo>
                    <a:lnTo>
                      <a:pt x="180" y="173"/>
                    </a:lnTo>
                    <a:lnTo>
                      <a:pt x="180" y="172"/>
                    </a:lnTo>
                    <a:lnTo>
                      <a:pt x="182" y="172"/>
                    </a:lnTo>
                    <a:lnTo>
                      <a:pt x="183" y="171"/>
                    </a:lnTo>
                    <a:lnTo>
                      <a:pt x="184" y="171"/>
                    </a:lnTo>
                    <a:lnTo>
                      <a:pt x="184" y="170"/>
                    </a:lnTo>
                    <a:lnTo>
                      <a:pt x="184" y="169"/>
                    </a:lnTo>
                    <a:lnTo>
                      <a:pt x="185" y="169"/>
                    </a:lnTo>
                    <a:lnTo>
                      <a:pt x="185" y="168"/>
                    </a:lnTo>
                    <a:lnTo>
                      <a:pt x="186" y="167"/>
                    </a:lnTo>
                    <a:lnTo>
                      <a:pt x="186" y="6"/>
                    </a:lnTo>
                    <a:lnTo>
                      <a:pt x="186" y="5"/>
                    </a:lnTo>
                    <a:lnTo>
                      <a:pt x="185" y="5"/>
                    </a:lnTo>
                    <a:lnTo>
                      <a:pt x="185" y="3"/>
                    </a:lnTo>
                    <a:lnTo>
                      <a:pt x="184" y="3"/>
                    </a:lnTo>
                    <a:lnTo>
                      <a:pt x="184" y="2"/>
                    </a:lnTo>
                    <a:lnTo>
                      <a:pt x="184" y="1"/>
                    </a:lnTo>
                    <a:lnTo>
                      <a:pt x="183" y="1"/>
                    </a:lnTo>
                    <a:lnTo>
                      <a:pt x="182" y="1"/>
                    </a:lnTo>
                    <a:lnTo>
                      <a:pt x="182" y="0"/>
                    </a:lnTo>
                    <a:lnTo>
                      <a:pt x="180" y="0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167"/>
                    </a:lnTo>
                    <a:lnTo>
                      <a:pt x="0" y="168"/>
                    </a:lnTo>
                    <a:lnTo>
                      <a:pt x="0" y="169"/>
                    </a:lnTo>
                    <a:lnTo>
                      <a:pt x="0" y="170"/>
                    </a:lnTo>
                    <a:lnTo>
                      <a:pt x="1" y="170"/>
                    </a:lnTo>
                    <a:lnTo>
                      <a:pt x="1" y="171"/>
                    </a:lnTo>
                    <a:lnTo>
                      <a:pt x="2" y="171"/>
                    </a:lnTo>
                    <a:lnTo>
                      <a:pt x="2" y="172"/>
                    </a:lnTo>
                    <a:lnTo>
                      <a:pt x="3" y="172"/>
                    </a:lnTo>
                    <a:lnTo>
                      <a:pt x="4" y="173"/>
                    </a:lnTo>
                    <a:lnTo>
                      <a:pt x="5" y="173"/>
                    </a:lnTo>
                    <a:lnTo>
                      <a:pt x="180" y="173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07" name="Freeform 848"/>
              <p:cNvSpPr>
                <a:spLocks/>
              </p:cNvSpPr>
              <p:nvPr/>
            </p:nvSpPr>
            <p:spPr bwMode="auto">
              <a:xfrm>
                <a:off x="2439" y="2934"/>
                <a:ext cx="109" cy="83"/>
              </a:xfrm>
              <a:custGeom>
                <a:avLst/>
                <a:gdLst>
                  <a:gd name="T0" fmla="*/ 8 w 186"/>
                  <a:gd name="T1" fmla="*/ 2 h 172"/>
                  <a:gd name="T2" fmla="*/ 8 w 186"/>
                  <a:gd name="T3" fmla="*/ 2 h 172"/>
                  <a:gd name="T4" fmla="*/ 8 w 186"/>
                  <a:gd name="T5" fmla="*/ 2 h 172"/>
                  <a:gd name="T6" fmla="*/ 8 w 186"/>
                  <a:gd name="T7" fmla="*/ 2 h 172"/>
                  <a:gd name="T8" fmla="*/ 8 w 186"/>
                  <a:gd name="T9" fmla="*/ 2 h 172"/>
                  <a:gd name="T10" fmla="*/ 8 w 186"/>
                  <a:gd name="T11" fmla="*/ 2 h 172"/>
                  <a:gd name="T12" fmla="*/ 8 w 186"/>
                  <a:gd name="T13" fmla="*/ 2 h 172"/>
                  <a:gd name="T14" fmla="*/ 8 w 186"/>
                  <a:gd name="T15" fmla="*/ 2 h 172"/>
                  <a:gd name="T16" fmla="*/ 8 w 186"/>
                  <a:gd name="T17" fmla="*/ 2 h 172"/>
                  <a:gd name="T18" fmla="*/ 7 w 186"/>
                  <a:gd name="T19" fmla="*/ 2 h 172"/>
                  <a:gd name="T20" fmla="*/ 7 w 186"/>
                  <a:gd name="T21" fmla="*/ 2 h 172"/>
                  <a:gd name="T22" fmla="*/ 7 w 186"/>
                  <a:gd name="T23" fmla="*/ 2 h 172"/>
                  <a:gd name="T24" fmla="*/ 7 w 186"/>
                  <a:gd name="T25" fmla="*/ 2 h 172"/>
                  <a:gd name="T26" fmla="*/ 1 w 186"/>
                  <a:gd name="T27" fmla="*/ 2 h 172"/>
                  <a:gd name="T28" fmla="*/ 1 w 186"/>
                  <a:gd name="T29" fmla="*/ 2 h 172"/>
                  <a:gd name="T30" fmla="*/ 1 w 186"/>
                  <a:gd name="T31" fmla="*/ 2 h 172"/>
                  <a:gd name="T32" fmla="*/ 1 w 186"/>
                  <a:gd name="T33" fmla="*/ 2 h 172"/>
                  <a:gd name="T34" fmla="*/ 1 w 186"/>
                  <a:gd name="T35" fmla="*/ 2 h 172"/>
                  <a:gd name="T36" fmla="*/ 1 w 186"/>
                  <a:gd name="T37" fmla="*/ 2 h 172"/>
                  <a:gd name="T38" fmla="*/ 1 w 186"/>
                  <a:gd name="T39" fmla="*/ 2 h 172"/>
                  <a:gd name="T40" fmla="*/ 1 w 186"/>
                  <a:gd name="T41" fmla="*/ 2 h 172"/>
                  <a:gd name="T42" fmla="*/ 0 w 186"/>
                  <a:gd name="T43" fmla="*/ 2 h 172"/>
                  <a:gd name="T44" fmla="*/ 0 w 186"/>
                  <a:gd name="T45" fmla="*/ 2 h 172"/>
                  <a:gd name="T46" fmla="*/ 0 w 186"/>
                  <a:gd name="T47" fmla="*/ 2 h 172"/>
                  <a:gd name="T48" fmla="*/ 0 w 186"/>
                  <a:gd name="T49" fmla="*/ 2 h 172"/>
                  <a:gd name="T50" fmla="*/ 0 w 186"/>
                  <a:gd name="T51" fmla="*/ 2 h 172"/>
                  <a:gd name="T52" fmla="*/ 0 w 186"/>
                  <a:gd name="T53" fmla="*/ 2 h 172"/>
                  <a:gd name="T54" fmla="*/ 0 w 186"/>
                  <a:gd name="T55" fmla="*/ 0 h 172"/>
                  <a:gd name="T56" fmla="*/ 0 w 186"/>
                  <a:gd name="T57" fmla="*/ 0 h 172"/>
                  <a:gd name="T58" fmla="*/ 0 w 186"/>
                  <a:gd name="T59" fmla="*/ 0 h 172"/>
                  <a:gd name="T60" fmla="*/ 0 w 186"/>
                  <a:gd name="T61" fmla="*/ 0 h 172"/>
                  <a:gd name="T62" fmla="*/ 0 w 186"/>
                  <a:gd name="T63" fmla="*/ 0 h 172"/>
                  <a:gd name="T64" fmla="*/ 0 w 186"/>
                  <a:gd name="T65" fmla="*/ 0 h 172"/>
                  <a:gd name="T66" fmla="*/ 1 w 186"/>
                  <a:gd name="T67" fmla="*/ 0 h 172"/>
                  <a:gd name="T68" fmla="*/ 1 w 186"/>
                  <a:gd name="T69" fmla="*/ 0 h 172"/>
                  <a:gd name="T70" fmla="*/ 1 w 186"/>
                  <a:gd name="T71" fmla="*/ 0 h 172"/>
                  <a:gd name="T72" fmla="*/ 1 w 186"/>
                  <a:gd name="T73" fmla="*/ 0 h 172"/>
                  <a:gd name="T74" fmla="*/ 1 w 186"/>
                  <a:gd name="T75" fmla="*/ 0 h 172"/>
                  <a:gd name="T76" fmla="*/ 1 w 186"/>
                  <a:gd name="T77" fmla="*/ 0 h 172"/>
                  <a:gd name="T78" fmla="*/ 1 w 186"/>
                  <a:gd name="T79" fmla="*/ 0 h 172"/>
                  <a:gd name="T80" fmla="*/ 1 w 186"/>
                  <a:gd name="T81" fmla="*/ 0 h 172"/>
                  <a:gd name="T82" fmla="*/ 7 w 186"/>
                  <a:gd name="T83" fmla="*/ 0 h 172"/>
                  <a:gd name="T84" fmla="*/ 7 w 186"/>
                  <a:gd name="T85" fmla="*/ 0 h 172"/>
                  <a:gd name="T86" fmla="*/ 7 w 186"/>
                  <a:gd name="T87" fmla="*/ 0 h 172"/>
                  <a:gd name="T88" fmla="*/ 7 w 186"/>
                  <a:gd name="T89" fmla="*/ 0 h 172"/>
                  <a:gd name="T90" fmla="*/ 8 w 186"/>
                  <a:gd name="T91" fmla="*/ 0 h 172"/>
                  <a:gd name="T92" fmla="*/ 8 w 186"/>
                  <a:gd name="T93" fmla="*/ 0 h 172"/>
                  <a:gd name="T94" fmla="*/ 8 w 186"/>
                  <a:gd name="T95" fmla="*/ 0 h 172"/>
                  <a:gd name="T96" fmla="*/ 8 w 186"/>
                  <a:gd name="T97" fmla="*/ 0 h 172"/>
                  <a:gd name="T98" fmla="*/ 8 w 186"/>
                  <a:gd name="T99" fmla="*/ 0 h 172"/>
                  <a:gd name="T100" fmla="*/ 8 w 186"/>
                  <a:gd name="T101" fmla="*/ 0 h 172"/>
                  <a:gd name="T102" fmla="*/ 8 w 186"/>
                  <a:gd name="T103" fmla="*/ 0 h 172"/>
                  <a:gd name="T104" fmla="*/ 8 w 186"/>
                  <a:gd name="T105" fmla="*/ 0 h 172"/>
                  <a:gd name="T106" fmla="*/ 8 w 186"/>
                  <a:gd name="T107" fmla="*/ 0 h 172"/>
                  <a:gd name="T108" fmla="*/ 8 w 186"/>
                  <a:gd name="T109" fmla="*/ 0 h 172"/>
                  <a:gd name="T110" fmla="*/ 8 w 186"/>
                  <a:gd name="T111" fmla="*/ 2 h 172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186"/>
                  <a:gd name="T169" fmla="*/ 0 h 172"/>
                  <a:gd name="T170" fmla="*/ 186 w 186"/>
                  <a:gd name="T171" fmla="*/ 172 h 172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186" h="172">
                    <a:moveTo>
                      <a:pt x="185" y="165"/>
                    </a:moveTo>
                    <a:lnTo>
                      <a:pt x="185" y="166"/>
                    </a:lnTo>
                    <a:lnTo>
                      <a:pt x="185" y="167"/>
                    </a:lnTo>
                    <a:lnTo>
                      <a:pt x="184" y="167"/>
                    </a:lnTo>
                    <a:lnTo>
                      <a:pt x="184" y="168"/>
                    </a:lnTo>
                    <a:lnTo>
                      <a:pt x="183" y="169"/>
                    </a:lnTo>
                    <a:lnTo>
                      <a:pt x="182" y="170"/>
                    </a:lnTo>
                    <a:lnTo>
                      <a:pt x="181" y="170"/>
                    </a:lnTo>
                    <a:lnTo>
                      <a:pt x="181" y="171"/>
                    </a:lnTo>
                    <a:lnTo>
                      <a:pt x="180" y="171"/>
                    </a:lnTo>
                    <a:lnTo>
                      <a:pt x="179" y="171"/>
                    </a:lnTo>
                    <a:lnTo>
                      <a:pt x="4" y="171"/>
                    </a:lnTo>
                    <a:lnTo>
                      <a:pt x="3" y="171"/>
                    </a:lnTo>
                    <a:lnTo>
                      <a:pt x="3" y="170"/>
                    </a:lnTo>
                    <a:lnTo>
                      <a:pt x="2" y="170"/>
                    </a:lnTo>
                    <a:lnTo>
                      <a:pt x="1" y="169"/>
                    </a:lnTo>
                    <a:lnTo>
                      <a:pt x="0" y="169"/>
                    </a:lnTo>
                    <a:lnTo>
                      <a:pt x="0" y="168"/>
                    </a:lnTo>
                    <a:lnTo>
                      <a:pt x="0" y="167"/>
                    </a:lnTo>
                    <a:lnTo>
                      <a:pt x="0" y="166"/>
                    </a:lnTo>
                    <a:lnTo>
                      <a:pt x="0" y="165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179" y="0"/>
                    </a:lnTo>
                    <a:lnTo>
                      <a:pt x="180" y="0"/>
                    </a:lnTo>
                    <a:lnTo>
                      <a:pt x="181" y="0"/>
                    </a:lnTo>
                    <a:lnTo>
                      <a:pt x="182" y="0"/>
                    </a:lnTo>
                    <a:lnTo>
                      <a:pt x="182" y="1"/>
                    </a:lnTo>
                    <a:lnTo>
                      <a:pt x="183" y="1"/>
                    </a:lnTo>
                    <a:lnTo>
                      <a:pt x="183" y="2"/>
                    </a:lnTo>
                    <a:lnTo>
                      <a:pt x="184" y="2"/>
                    </a:lnTo>
                    <a:lnTo>
                      <a:pt x="184" y="3"/>
                    </a:lnTo>
                    <a:lnTo>
                      <a:pt x="185" y="3"/>
                    </a:lnTo>
                    <a:lnTo>
                      <a:pt x="185" y="4"/>
                    </a:lnTo>
                    <a:lnTo>
                      <a:pt x="185" y="5"/>
                    </a:lnTo>
                    <a:lnTo>
                      <a:pt x="185" y="165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08" name="Freeform 849"/>
              <p:cNvSpPr>
                <a:spLocks/>
              </p:cNvSpPr>
              <p:nvPr/>
            </p:nvSpPr>
            <p:spPr bwMode="auto">
              <a:xfrm>
                <a:off x="2440" y="2934"/>
                <a:ext cx="106" cy="82"/>
              </a:xfrm>
              <a:custGeom>
                <a:avLst/>
                <a:gdLst>
                  <a:gd name="T0" fmla="*/ 7 w 181"/>
                  <a:gd name="T1" fmla="*/ 0 h 171"/>
                  <a:gd name="T2" fmla="*/ 7 w 181"/>
                  <a:gd name="T3" fmla="*/ 0 h 171"/>
                  <a:gd name="T4" fmla="*/ 7 w 181"/>
                  <a:gd name="T5" fmla="*/ 0 h 171"/>
                  <a:gd name="T6" fmla="*/ 7 w 181"/>
                  <a:gd name="T7" fmla="*/ 0 h 171"/>
                  <a:gd name="T8" fmla="*/ 7 w 181"/>
                  <a:gd name="T9" fmla="*/ 0 h 171"/>
                  <a:gd name="T10" fmla="*/ 7 w 181"/>
                  <a:gd name="T11" fmla="*/ 0 h 171"/>
                  <a:gd name="T12" fmla="*/ 7 w 181"/>
                  <a:gd name="T13" fmla="*/ 0 h 171"/>
                  <a:gd name="T14" fmla="*/ 7 w 181"/>
                  <a:gd name="T15" fmla="*/ 0 h 171"/>
                  <a:gd name="T16" fmla="*/ 7 w 181"/>
                  <a:gd name="T17" fmla="*/ 0 h 171"/>
                  <a:gd name="T18" fmla="*/ 7 w 181"/>
                  <a:gd name="T19" fmla="*/ 0 h 171"/>
                  <a:gd name="T20" fmla="*/ 7 w 181"/>
                  <a:gd name="T21" fmla="*/ 0 h 171"/>
                  <a:gd name="T22" fmla="*/ 7 w 181"/>
                  <a:gd name="T23" fmla="*/ 0 h 171"/>
                  <a:gd name="T24" fmla="*/ 1 w 181"/>
                  <a:gd name="T25" fmla="*/ 0 h 171"/>
                  <a:gd name="T26" fmla="*/ 1 w 181"/>
                  <a:gd name="T27" fmla="*/ 0 h 171"/>
                  <a:gd name="T28" fmla="*/ 1 w 181"/>
                  <a:gd name="T29" fmla="*/ 0 h 171"/>
                  <a:gd name="T30" fmla="*/ 1 w 181"/>
                  <a:gd name="T31" fmla="*/ 0 h 171"/>
                  <a:gd name="T32" fmla="*/ 1 w 181"/>
                  <a:gd name="T33" fmla="*/ 0 h 171"/>
                  <a:gd name="T34" fmla="*/ 1 w 181"/>
                  <a:gd name="T35" fmla="*/ 0 h 171"/>
                  <a:gd name="T36" fmla="*/ 1 w 181"/>
                  <a:gd name="T37" fmla="*/ 0 h 171"/>
                  <a:gd name="T38" fmla="*/ 0 w 181"/>
                  <a:gd name="T39" fmla="*/ 0 h 171"/>
                  <a:gd name="T40" fmla="*/ 0 w 181"/>
                  <a:gd name="T41" fmla="*/ 0 h 171"/>
                  <a:gd name="T42" fmla="*/ 0 w 181"/>
                  <a:gd name="T43" fmla="*/ 0 h 171"/>
                  <a:gd name="T44" fmla="*/ 0 w 181"/>
                  <a:gd name="T45" fmla="*/ 0 h 171"/>
                  <a:gd name="T46" fmla="*/ 0 w 181"/>
                  <a:gd name="T47" fmla="*/ 0 h 171"/>
                  <a:gd name="T48" fmla="*/ 0 w 181"/>
                  <a:gd name="T49" fmla="*/ 2 h 171"/>
                  <a:gd name="T50" fmla="*/ 0 w 181"/>
                  <a:gd name="T51" fmla="*/ 2 h 171"/>
                  <a:gd name="T52" fmla="*/ 0 w 181"/>
                  <a:gd name="T53" fmla="*/ 2 h 171"/>
                  <a:gd name="T54" fmla="*/ 0 w 181"/>
                  <a:gd name="T55" fmla="*/ 2 h 171"/>
                  <a:gd name="T56" fmla="*/ 0 w 181"/>
                  <a:gd name="T57" fmla="*/ 2 h 171"/>
                  <a:gd name="T58" fmla="*/ 1 w 181"/>
                  <a:gd name="T59" fmla="*/ 2 h 171"/>
                  <a:gd name="T60" fmla="*/ 1 w 181"/>
                  <a:gd name="T61" fmla="*/ 2 h 171"/>
                  <a:gd name="T62" fmla="*/ 1 w 181"/>
                  <a:gd name="T63" fmla="*/ 2 h 171"/>
                  <a:gd name="T64" fmla="*/ 1 w 181"/>
                  <a:gd name="T65" fmla="*/ 2 h 171"/>
                  <a:gd name="T66" fmla="*/ 1 w 181"/>
                  <a:gd name="T67" fmla="*/ 2 h 171"/>
                  <a:gd name="T68" fmla="*/ 1 w 181"/>
                  <a:gd name="T69" fmla="*/ 2 h 171"/>
                  <a:gd name="T70" fmla="*/ 7 w 181"/>
                  <a:gd name="T71" fmla="*/ 2 h 171"/>
                  <a:gd name="T72" fmla="*/ 7 w 181"/>
                  <a:gd name="T73" fmla="*/ 2 h 171"/>
                  <a:gd name="T74" fmla="*/ 7 w 181"/>
                  <a:gd name="T75" fmla="*/ 2 h 171"/>
                  <a:gd name="T76" fmla="*/ 7 w 181"/>
                  <a:gd name="T77" fmla="*/ 2 h 171"/>
                  <a:gd name="T78" fmla="*/ 7 w 181"/>
                  <a:gd name="T79" fmla="*/ 2 h 171"/>
                  <a:gd name="T80" fmla="*/ 7 w 181"/>
                  <a:gd name="T81" fmla="*/ 2 h 171"/>
                  <a:gd name="T82" fmla="*/ 7 w 181"/>
                  <a:gd name="T83" fmla="*/ 2 h 171"/>
                  <a:gd name="T84" fmla="*/ 7 w 181"/>
                  <a:gd name="T85" fmla="*/ 2 h 171"/>
                  <a:gd name="T86" fmla="*/ 7 w 181"/>
                  <a:gd name="T87" fmla="*/ 2 h 171"/>
                  <a:gd name="T88" fmla="*/ 7 w 181"/>
                  <a:gd name="T89" fmla="*/ 2 h 171"/>
                  <a:gd name="T90" fmla="*/ 7 w 181"/>
                  <a:gd name="T91" fmla="*/ 2 h 171"/>
                  <a:gd name="T92" fmla="*/ 7 w 181"/>
                  <a:gd name="T93" fmla="*/ 0 h 171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181"/>
                  <a:gd name="T142" fmla="*/ 0 h 171"/>
                  <a:gd name="T143" fmla="*/ 181 w 181"/>
                  <a:gd name="T144" fmla="*/ 171 h 171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181" h="171">
                    <a:moveTo>
                      <a:pt x="180" y="3"/>
                    </a:moveTo>
                    <a:lnTo>
                      <a:pt x="180" y="3"/>
                    </a:lnTo>
                    <a:lnTo>
                      <a:pt x="180" y="2"/>
                    </a:lnTo>
                    <a:lnTo>
                      <a:pt x="179" y="2"/>
                    </a:lnTo>
                    <a:lnTo>
                      <a:pt x="179" y="1"/>
                    </a:lnTo>
                    <a:lnTo>
                      <a:pt x="178" y="1"/>
                    </a:lnTo>
                    <a:lnTo>
                      <a:pt x="178" y="0"/>
                    </a:lnTo>
                    <a:lnTo>
                      <a:pt x="177" y="0"/>
                    </a:lnTo>
                    <a:lnTo>
                      <a:pt x="176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166"/>
                    </a:lnTo>
                    <a:lnTo>
                      <a:pt x="0" y="167"/>
                    </a:lnTo>
                    <a:lnTo>
                      <a:pt x="0" y="168"/>
                    </a:lnTo>
                    <a:lnTo>
                      <a:pt x="1" y="168"/>
                    </a:lnTo>
                    <a:lnTo>
                      <a:pt x="1" y="169"/>
                    </a:lnTo>
                    <a:lnTo>
                      <a:pt x="2" y="169"/>
                    </a:lnTo>
                    <a:lnTo>
                      <a:pt x="3" y="170"/>
                    </a:lnTo>
                    <a:lnTo>
                      <a:pt x="176" y="170"/>
                    </a:lnTo>
                    <a:lnTo>
                      <a:pt x="176" y="169"/>
                    </a:lnTo>
                    <a:lnTo>
                      <a:pt x="177" y="169"/>
                    </a:lnTo>
                    <a:lnTo>
                      <a:pt x="178" y="169"/>
                    </a:lnTo>
                    <a:lnTo>
                      <a:pt x="178" y="168"/>
                    </a:lnTo>
                    <a:lnTo>
                      <a:pt x="179" y="168"/>
                    </a:lnTo>
                    <a:lnTo>
                      <a:pt x="179" y="167"/>
                    </a:lnTo>
                    <a:lnTo>
                      <a:pt x="180" y="166"/>
                    </a:lnTo>
                    <a:lnTo>
                      <a:pt x="180" y="3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9999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09" name="Freeform 850"/>
              <p:cNvSpPr>
                <a:spLocks/>
              </p:cNvSpPr>
              <p:nvPr/>
            </p:nvSpPr>
            <p:spPr bwMode="auto">
              <a:xfrm>
                <a:off x="2441" y="2934"/>
                <a:ext cx="105" cy="81"/>
              </a:xfrm>
              <a:custGeom>
                <a:avLst/>
                <a:gdLst>
                  <a:gd name="T0" fmla="*/ 7 w 180"/>
                  <a:gd name="T1" fmla="*/ 2 h 168"/>
                  <a:gd name="T2" fmla="*/ 7 w 180"/>
                  <a:gd name="T3" fmla="*/ 2 h 168"/>
                  <a:gd name="T4" fmla="*/ 7 w 180"/>
                  <a:gd name="T5" fmla="*/ 2 h 168"/>
                  <a:gd name="T6" fmla="*/ 7 w 180"/>
                  <a:gd name="T7" fmla="*/ 2 h 168"/>
                  <a:gd name="T8" fmla="*/ 7 w 180"/>
                  <a:gd name="T9" fmla="*/ 2 h 168"/>
                  <a:gd name="T10" fmla="*/ 7 w 180"/>
                  <a:gd name="T11" fmla="*/ 2 h 168"/>
                  <a:gd name="T12" fmla="*/ 7 w 180"/>
                  <a:gd name="T13" fmla="*/ 2 h 168"/>
                  <a:gd name="T14" fmla="*/ 7 w 180"/>
                  <a:gd name="T15" fmla="*/ 2 h 168"/>
                  <a:gd name="T16" fmla="*/ 1 w 180"/>
                  <a:gd name="T17" fmla="*/ 2 h 168"/>
                  <a:gd name="T18" fmla="*/ 1 w 180"/>
                  <a:gd name="T19" fmla="*/ 2 h 168"/>
                  <a:gd name="T20" fmla="*/ 1 w 180"/>
                  <a:gd name="T21" fmla="*/ 2 h 168"/>
                  <a:gd name="T22" fmla="*/ 1 w 180"/>
                  <a:gd name="T23" fmla="*/ 2 h 168"/>
                  <a:gd name="T24" fmla="*/ 1 w 180"/>
                  <a:gd name="T25" fmla="*/ 2 h 168"/>
                  <a:gd name="T26" fmla="*/ 0 w 180"/>
                  <a:gd name="T27" fmla="*/ 2 h 168"/>
                  <a:gd name="T28" fmla="*/ 0 w 180"/>
                  <a:gd name="T29" fmla="*/ 2 h 168"/>
                  <a:gd name="T30" fmla="*/ 0 w 180"/>
                  <a:gd name="T31" fmla="*/ 2 h 168"/>
                  <a:gd name="T32" fmla="*/ 0 w 180"/>
                  <a:gd name="T33" fmla="*/ 2 h 168"/>
                  <a:gd name="T34" fmla="*/ 0 w 180"/>
                  <a:gd name="T35" fmla="*/ 2 h 168"/>
                  <a:gd name="T36" fmla="*/ 0 w 180"/>
                  <a:gd name="T37" fmla="*/ 2 h 168"/>
                  <a:gd name="T38" fmla="*/ 0 w 180"/>
                  <a:gd name="T39" fmla="*/ 0 h 168"/>
                  <a:gd name="T40" fmla="*/ 0 w 180"/>
                  <a:gd name="T41" fmla="*/ 0 h 168"/>
                  <a:gd name="T42" fmla="*/ 0 w 180"/>
                  <a:gd name="T43" fmla="*/ 0 h 168"/>
                  <a:gd name="T44" fmla="*/ 0 w 180"/>
                  <a:gd name="T45" fmla="*/ 0 h 168"/>
                  <a:gd name="T46" fmla="*/ 0 w 180"/>
                  <a:gd name="T47" fmla="*/ 0 h 168"/>
                  <a:gd name="T48" fmla="*/ 1 w 180"/>
                  <a:gd name="T49" fmla="*/ 0 h 168"/>
                  <a:gd name="T50" fmla="*/ 1 w 180"/>
                  <a:gd name="T51" fmla="*/ 0 h 168"/>
                  <a:gd name="T52" fmla="*/ 1 w 180"/>
                  <a:gd name="T53" fmla="*/ 0 h 168"/>
                  <a:gd name="T54" fmla="*/ 1 w 180"/>
                  <a:gd name="T55" fmla="*/ 0 h 168"/>
                  <a:gd name="T56" fmla="*/ 7 w 180"/>
                  <a:gd name="T57" fmla="*/ 0 h 168"/>
                  <a:gd name="T58" fmla="*/ 7 w 180"/>
                  <a:gd name="T59" fmla="*/ 0 h 168"/>
                  <a:gd name="T60" fmla="*/ 7 w 180"/>
                  <a:gd name="T61" fmla="*/ 0 h 168"/>
                  <a:gd name="T62" fmla="*/ 7 w 180"/>
                  <a:gd name="T63" fmla="*/ 0 h 168"/>
                  <a:gd name="T64" fmla="*/ 7 w 180"/>
                  <a:gd name="T65" fmla="*/ 0 h 168"/>
                  <a:gd name="T66" fmla="*/ 7 w 180"/>
                  <a:gd name="T67" fmla="*/ 0 h 168"/>
                  <a:gd name="T68" fmla="*/ 7 w 180"/>
                  <a:gd name="T69" fmla="*/ 0 h 168"/>
                  <a:gd name="T70" fmla="*/ 7 w 180"/>
                  <a:gd name="T71" fmla="*/ 0 h 168"/>
                  <a:gd name="T72" fmla="*/ 7 w 180"/>
                  <a:gd name="T73" fmla="*/ 0 h 168"/>
                  <a:gd name="T74" fmla="*/ 7 w 180"/>
                  <a:gd name="T75" fmla="*/ 0 h 168"/>
                  <a:gd name="T76" fmla="*/ 7 w 180"/>
                  <a:gd name="T77" fmla="*/ 2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80"/>
                  <a:gd name="T118" fmla="*/ 0 h 168"/>
                  <a:gd name="T119" fmla="*/ 180 w 180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80" h="168">
                    <a:moveTo>
                      <a:pt x="179" y="163"/>
                    </a:moveTo>
                    <a:lnTo>
                      <a:pt x="179" y="164"/>
                    </a:lnTo>
                    <a:lnTo>
                      <a:pt x="178" y="165"/>
                    </a:lnTo>
                    <a:lnTo>
                      <a:pt x="177" y="166"/>
                    </a:lnTo>
                    <a:lnTo>
                      <a:pt x="176" y="167"/>
                    </a:lnTo>
                    <a:lnTo>
                      <a:pt x="2" y="167"/>
                    </a:lnTo>
                    <a:lnTo>
                      <a:pt x="1" y="167"/>
                    </a:lnTo>
                    <a:lnTo>
                      <a:pt x="1" y="166"/>
                    </a:lnTo>
                    <a:lnTo>
                      <a:pt x="0" y="166"/>
                    </a:lnTo>
                    <a:lnTo>
                      <a:pt x="0" y="165"/>
                    </a:lnTo>
                    <a:lnTo>
                      <a:pt x="0" y="164"/>
                    </a:lnTo>
                    <a:lnTo>
                      <a:pt x="0" y="163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176" y="0"/>
                    </a:lnTo>
                    <a:lnTo>
                      <a:pt x="177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2"/>
                    </a:lnTo>
                    <a:lnTo>
                      <a:pt x="179" y="3"/>
                    </a:lnTo>
                    <a:lnTo>
                      <a:pt x="179" y="163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10" name="Freeform 851"/>
              <p:cNvSpPr>
                <a:spLocks/>
              </p:cNvSpPr>
              <p:nvPr/>
            </p:nvSpPr>
            <p:spPr bwMode="auto">
              <a:xfrm>
                <a:off x="2452" y="2945"/>
                <a:ext cx="83" cy="60"/>
              </a:xfrm>
              <a:custGeom>
                <a:avLst/>
                <a:gdLst>
                  <a:gd name="T0" fmla="*/ 0 w 142"/>
                  <a:gd name="T1" fmla="*/ 0 h 124"/>
                  <a:gd name="T2" fmla="*/ 1 w 142"/>
                  <a:gd name="T3" fmla="*/ 0 h 124"/>
                  <a:gd name="T4" fmla="*/ 1 w 142"/>
                  <a:gd name="T5" fmla="*/ 0 h 124"/>
                  <a:gd name="T6" fmla="*/ 1 w 142"/>
                  <a:gd name="T7" fmla="*/ 0 h 124"/>
                  <a:gd name="T8" fmla="*/ 1 w 142"/>
                  <a:gd name="T9" fmla="*/ 0 h 124"/>
                  <a:gd name="T10" fmla="*/ 1 w 142"/>
                  <a:gd name="T11" fmla="*/ 0 h 124"/>
                  <a:gd name="T12" fmla="*/ 1 w 142"/>
                  <a:gd name="T13" fmla="*/ 0 h 124"/>
                  <a:gd name="T14" fmla="*/ 1 w 142"/>
                  <a:gd name="T15" fmla="*/ 0 h 124"/>
                  <a:gd name="T16" fmla="*/ 5 w 142"/>
                  <a:gd name="T17" fmla="*/ 0 h 124"/>
                  <a:gd name="T18" fmla="*/ 5 w 142"/>
                  <a:gd name="T19" fmla="*/ 0 h 124"/>
                  <a:gd name="T20" fmla="*/ 5 w 142"/>
                  <a:gd name="T21" fmla="*/ 0 h 124"/>
                  <a:gd name="T22" fmla="*/ 5 w 142"/>
                  <a:gd name="T23" fmla="*/ 0 h 124"/>
                  <a:gd name="T24" fmla="*/ 5 w 142"/>
                  <a:gd name="T25" fmla="*/ 0 h 124"/>
                  <a:gd name="T26" fmla="*/ 5 w 142"/>
                  <a:gd name="T27" fmla="*/ 0 h 124"/>
                  <a:gd name="T28" fmla="*/ 5 w 142"/>
                  <a:gd name="T29" fmla="*/ 0 h 124"/>
                  <a:gd name="T30" fmla="*/ 5 w 142"/>
                  <a:gd name="T31" fmla="*/ 0 h 124"/>
                  <a:gd name="T32" fmla="*/ 5 w 142"/>
                  <a:gd name="T33" fmla="*/ 0 h 124"/>
                  <a:gd name="T34" fmla="*/ 5 w 142"/>
                  <a:gd name="T35" fmla="*/ 0 h 124"/>
                  <a:gd name="T36" fmla="*/ 5 w 142"/>
                  <a:gd name="T37" fmla="*/ 0 h 124"/>
                  <a:gd name="T38" fmla="*/ 5 w 142"/>
                  <a:gd name="T39" fmla="*/ 0 h 124"/>
                  <a:gd name="T40" fmla="*/ 5 w 142"/>
                  <a:gd name="T41" fmla="*/ 0 h 124"/>
                  <a:gd name="T42" fmla="*/ 5 w 142"/>
                  <a:gd name="T43" fmla="*/ 1 h 124"/>
                  <a:gd name="T44" fmla="*/ 5 w 142"/>
                  <a:gd name="T45" fmla="*/ 1 h 124"/>
                  <a:gd name="T46" fmla="*/ 5 w 142"/>
                  <a:gd name="T47" fmla="*/ 1 h 124"/>
                  <a:gd name="T48" fmla="*/ 5 w 142"/>
                  <a:gd name="T49" fmla="*/ 1 h 124"/>
                  <a:gd name="T50" fmla="*/ 5 w 142"/>
                  <a:gd name="T51" fmla="*/ 1 h 124"/>
                  <a:gd name="T52" fmla="*/ 5 w 142"/>
                  <a:gd name="T53" fmla="*/ 1 h 124"/>
                  <a:gd name="T54" fmla="*/ 5 w 142"/>
                  <a:gd name="T55" fmla="*/ 1 h 124"/>
                  <a:gd name="T56" fmla="*/ 5 w 142"/>
                  <a:gd name="T57" fmla="*/ 1 h 124"/>
                  <a:gd name="T58" fmla="*/ 5 w 142"/>
                  <a:gd name="T59" fmla="*/ 1 h 124"/>
                  <a:gd name="T60" fmla="*/ 5 w 142"/>
                  <a:gd name="T61" fmla="*/ 1 h 124"/>
                  <a:gd name="T62" fmla="*/ 5 w 142"/>
                  <a:gd name="T63" fmla="*/ 1 h 124"/>
                  <a:gd name="T64" fmla="*/ 5 w 142"/>
                  <a:gd name="T65" fmla="*/ 1 h 124"/>
                  <a:gd name="T66" fmla="*/ 1 w 142"/>
                  <a:gd name="T67" fmla="*/ 1 h 124"/>
                  <a:gd name="T68" fmla="*/ 1 w 142"/>
                  <a:gd name="T69" fmla="*/ 1 h 124"/>
                  <a:gd name="T70" fmla="*/ 1 w 142"/>
                  <a:gd name="T71" fmla="*/ 1 h 124"/>
                  <a:gd name="T72" fmla="*/ 1 w 142"/>
                  <a:gd name="T73" fmla="*/ 1 h 124"/>
                  <a:gd name="T74" fmla="*/ 1 w 142"/>
                  <a:gd name="T75" fmla="*/ 1 h 124"/>
                  <a:gd name="T76" fmla="*/ 1 w 142"/>
                  <a:gd name="T77" fmla="*/ 1 h 124"/>
                  <a:gd name="T78" fmla="*/ 1 w 142"/>
                  <a:gd name="T79" fmla="*/ 1 h 124"/>
                  <a:gd name="T80" fmla="*/ 0 w 142"/>
                  <a:gd name="T81" fmla="*/ 1 h 124"/>
                  <a:gd name="T82" fmla="*/ 0 w 142"/>
                  <a:gd name="T83" fmla="*/ 1 h 124"/>
                  <a:gd name="T84" fmla="*/ 0 w 142"/>
                  <a:gd name="T85" fmla="*/ 1 h 124"/>
                  <a:gd name="T86" fmla="*/ 0 w 142"/>
                  <a:gd name="T87" fmla="*/ 1 h 124"/>
                  <a:gd name="T88" fmla="*/ 0 w 142"/>
                  <a:gd name="T89" fmla="*/ 1 h 124"/>
                  <a:gd name="T90" fmla="*/ 0 w 142"/>
                  <a:gd name="T91" fmla="*/ 0 h 124"/>
                  <a:gd name="T92" fmla="*/ 0 w 142"/>
                  <a:gd name="T93" fmla="*/ 0 h 124"/>
                  <a:gd name="T94" fmla="*/ 0 w 142"/>
                  <a:gd name="T95" fmla="*/ 0 h 124"/>
                  <a:gd name="T96" fmla="*/ 0 w 142"/>
                  <a:gd name="T97" fmla="*/ 0 h 124"/>
                  <a:gd name="T98" fmla="*/ 0 w 142"/>
                  <a:gd name="T99" fmla="*/ 0 h 124"/>
                  <a:gd name="T100" fmla="*/ 0 w 142"/>
                  <a:gd name="T101" fmla="*/ 0 h 124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42"/>
                  <a:gd name="T154" fmla="*/ 0 h 124"/>
                  <a:gd name="T155" fmla="*/ 142 w 142"/>
                  <a:gd name="T156" fmla="*/ 124 h 124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42" h="124">
                    <a:moveTo>
                      <a:pt x="0" y="1"/>
                    </a:moveTo>
                    <a:lnTo>
                      <a:pt x="1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8" y="1"/>
                    </a:lnTo>
                    <a:lnTo>
                      <a:pt x="139" y="1"/>
                    </a:lnTo>
                    <a:lnTo>
                      <a:pt x="140" y="2"/>
                    </a:lnTo>
                    <a:lnTo>
                      <a:pt x="140" y="3"/>
                    </a:lnTo>
                    <a:lnTo>
                      <a:pt x="141" y="3"/>
                    </a:lnTo>
                    <a:lnTo>
                      <a:pt x="141" y="4"/>
                    </a:lnTo>
                    <a:lnTo>
                      <a:pt x="141" y="5"/>
                    </a:lnTo>
                    <a:lnTo>
                      <a:pt x="141" y="117"/>
                    </a:lnTo>
                    <a:lnTo>
                      <a:pt x="141" y="119"/>
                    </a:lnTo>
                    <a:lnTo>
                      <a:pt x="140" y="119"/>
                    </a:lnTo>
                    <a:lnTo>
                      <a:pt x="140" y="120"/>
                    </a:lnTo>
                    <a:lnTo>
                      <a:pt x="139" y="121"/>
                    </a:lnTo>
                    <a:lnTo>
                      <a:pt x="138" y="122"/>
                    </a:lnTo>
                    <a:lnTo>
                      <a:pt x="137" y="122"/>
                    </a:lnTo>
                    <a:lnTo>
                      <a:pt x="137" y="123"/>
                    </a:lnTo>
                    <a:lnTo>
                      <a:pt x="136" y="123"/>
                    </a:lnTo>
                    <a:lnTo>
                      <a:pt x="135" y="123"/>
                    </a:lnTo>
                    <a:lnTo>
                      <a:pt x="4" y="123"/>
                    </a:lnTo>
                    <a:lnTo>
                      <a:pt x="3" y="123"/>
                    </a:lnTo>
                    <a:lnTo>
                      <a:pt x="2" y="122"/>
                    </a:lnTo>
                    <a:lnTo>
                      <a:pt x="1" y="122"/>
                    </a:lnTo>
                    <a:lnTo>
                      <a:pt x="1" y="121"/>
                    </a:lnTo>
                    <a:lnTo>
                      <a:pt x="0" y="121"/>
                    </a:lnTo>
                    <a:lnTo>
                      <a:pt x="0" y="120"/>
                    </a:lnTo>
                    <a:lnTo>
                      <a:pt x="0" y="119"/>
                    </a:lnTo>
                    <a:lnTo>
                      <a:pt x="0" y="117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</a:path>
                </a:pathLst>
              </a:custGeom>
              <a:gradFill rotWithShape="0">
                <a:gsLst>
                  <a:gs pos="0">
                    <a:srgbClr val="1D2B4B"/>
                  </a:gs>
                  <a:gs pos="50000">
                    <a:srgbClr val="618FFD"/>
                  </a:gs>
                  <a:gs pos="100000">
                    <a:srgbClr val="1D2B4B"/>
                  </a:gs>
                </a:gsLst>
                <a:lin ang="2700000" scaled="1"/>
              </a:gra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11" name="Freeform 852"/>
              <p:cNvSpPr>
                <a:spLocks/>
              </p:cNvSpPr>
              <p:nvPr/>
            </p:nvSpPr>
            <p:spPr bwMode="auto">
              <a:xfrm>
                <a:off x="2449" y="2942"/>
                <a:ext cx="89" cy="8"/>
              </a:xfrm>
              <a:custGeom>
                <a:avLst/>
                <a:gdLst>
                  <a:gd name="T0" fmla="*/ 6 w 153"/>
                  <a:gd name="T1" fmla="*/ 0 h 17"/>
                  <a:gd name="T2" fmla="*/ 6 w 153"/>
                  <a:gd name="T3" fmla="*/ 0 h 17"/>
                  <a:gd name="T4" fmla="*/ 6 w 153"/>
                  <a:gd name="T5" fmla="*/ 0 h 17"/>
                  <a:gd name="T6" fmla="*/ 6 w 153"/>
                  <a:gd name="T7" fmla="*/ 0 h 17"/>
                  <a:gd name="T8" fmla="*/ 6 w 153"/>
                  <a:gd name="T9" fmla="*/ 0 h 17"/>
                  <a:gd name="T10" fmla="*/ 6 w 153"/>
                  <a:gd name="T11" fmla="*/ 0 h 17"/>
                  <a:gd name="T12" fmla="*/ 6 w 153"/>
                  <a:gd name="T13" fmla="*/ 0 h 17"/>
                  <a:gd name="T14" fmla="*/ 6 w 153"/>
                  <a:gd name="T15" fmla="*/ 0 h 17"/>
                  <a:gd name="T16" fmla="*/ 6 w 153"/>
                  <a:gd name="T17" fmla="*/ 0 h 17"/>
                  <a:gd name="T18" fmla="*/ 6 w 153"/>
                  <a:gd name="T19" fmla="*/ 0 h 17"/>
                  <a:gd name="T20" fmla="*/ 6 w 153"/>
                  <a:gd name="T21" fmla="*/ 0 h 17"/>
                  <a:gd name="T22" fmla="*/ 6 w 153"/>
                  <a:gd name="T23" fmla="*/ 0 h 17"/>
                  <a:gd name="T24" fmla="*/ 1 w 153"/>
                  <a:gd name="T25" fmla="*/ 0 h 17"/>
                  <a:gd name="T26" fmla="*/ 1 w 153"/>
                  <a:gd name="T27" fmla="*/ 0 h 17"/>
                  <a:gd name="T28" fmla="*/ 1 w 153"/>
                  <a:gd name="T29" fmla="*/ 0 h 17"/>
                  <a:gd name="T30" fmla="*/ 1 w 153"/>
                  <a:gd name="T31" fmla="*/ 0 h 17"/>
                  <a:gd name="T32" fmla="*/ 1 w 153"/>
                  <a:gd name="T33" fmla="*/ 0 h 17"/>
                  <a:gd name="T34" fmla="*/ 0 w 153"/>
                  <a:gd name="T35" fmla="*/ 0 h 17"/>
                  <a:gd name="T36" fmla="*/ 0 w 153"/>
                  <a:gd name="T37" fmla="*/ 0 h 17"/>
                  <a:gd name="T38" fmla="*/ 0 w 153"/>
                  <a:gd name="T39" fmla="*/ 0 h 17"/>
                  <a:gd name="T40" fmla="*/ 1 w 153"/>
                  <a:gd name="T41" fmla="*/ 0 h 17"/>
                  <a:gd name="T42" fmla="*/ 1 w 153"/>
                  <a:gd name="T43" fmla="*/ 0 h 17"/>
                  <a:gd name="T44" fmla="*/ 1 w 153"/>
                  <a:gd name="T45" fmla="*/ 0 h 17"/>
                  <a:gd name="T46" fmla="*/ 1 w 153"/>
                  <a:gd name="T47" fmla="*/ 0 h 17"/>
                  <a:gd name="T48" fmla="*/ 1 w 153"/>
                  <a:gd name="T49" fmla="*/ 0 h 17"/>
                  <a:gd name="T50" fmla="*/ 1 w 153"/>
                  <a:gd name="T51" fmla="*/ 0 h 17"/>
                  <a:gd name="T52" fmla="*/ 1 w 153"/>
                  <a:gd name="T53" fmla="*/ 0 h 17"/>
                  <a:gd name="T54" fmla="*/ 1 w 153"/>
                  <a:gd name="T55" fmla="*/ 0 h 17"/>
                  <a:gd name="T56" fmla="*/ 5 w 153"/>
                  <a:gd name="T57" fmla="*/ 0 h 17"/>
                  <a:gd name="T58" fmla="*/ 5 w 153"/>
                  <a:gd name="T59" fmla="*/ 0 h 17"/>
                  <a:gd name="T60" fmla="*/ 5 w 153"/>
                  <a:gd name="T61" fmla="*/ 0 h 17"/>
                  <a:gd name="T62" fmla="*/ 5 w 153"/>
                  <a:gd name="T63" fmla="*/ 0 h 17"/>
                  <a:gd name="T64" fmla="*/ 5 w 153"/>
                  <a:gd name="T65" fmla="*/ 0 h 17"/>
                  <a:gd name="T66" fmla="*/ 5 w 153"/>
                  <a:gd name="T67" fmla="*/ 0 h 17"/>
                  <a:gd name="T68" fmla="*/ 5 w 153"/>
                  <a:gd name="T69" fmla="*/ 0 h 17"/>
                  <a:gd name="T70" fmla="*/ 6 w 153"/>
                  <a:gd name="T71" fmla="*/ 0 h 17"/>
                  <a:gd name="T72" fmla="*/ 6 w 153"/>
                  <a:gd name="T73" fmla="*/ 0 h 1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53"/>
                  <a:gd name="T112" fmla="*/ 0 h 17"/>
                  <a:gd name="T113" fmla="*/ 153 w 153"/>
                  <a:gd name="T114" fmla="*/ 17 h 1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53" h="17">
                    <a:moveTo>
                      <a:pt x="152" y="4"/>
                    </a:moveTo>
                    <a:lnTo>
                      <a:pt x="151" y="3"/>
                    </a:lnTo>
                    <a:lnTo>
                      <a:pt x="151" y="2"/>
                    </a:lnTo>
                    <a:lnTo>
                      <a:pt x="150" y="2"/>
                    </a:lnTo>
                    <a:lnTo>
                      <a:pt x="150" y="1"/>
                    </a:lnTo>
                    <a:lnTo>
                      <a:pt x="149" y="1"/>
                    </a:lnTo>
                    <a:lnTo>
                      <a:pt x="148" y="0"/>
                    </a:lnTo>
                    <a:lnTo>
                      <a:pt x="147" y="0"/>
                    </a:lnTo>
                    <a:lnTo>
                      <a:pt x="146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6" y="16"/>
                    </a:lnTo>
                    <a:lnTo>
                      <a:pt x="7" y="14"/>
                    </a:lnTo>
                    <a:lnTo>
                      <a:pt x="8" y="13"/>
                    </a:lnTo>
                    <a:lnTo>
                      <a:pt x="8" y="12"/>
                    </a:lnTo>
                    <a:lnTo>
                      <a:pt x="9" y="12"/>
                    </a:lnTo>
                    <a:lnTo>
                      <a:pt x="10" y="12"/>
                    </a:lnTo>
                    <a:lnTo>
                      <a:pt x="140" y="12"/>
                    </a:lnTo>
                    <a:lnTo>
                      <a:pt x="141" y="12"/>
                    </a:lnTo>
                    <a:lnTo>
                      <a:pt x="142" y="12"/>
                    </a:lnTo>
                    <a:lnTo>
                      <a:pt x="142" y="13"/>
                    </a:lnTo>
                    <a:lnTo>
                      <a:pt x="143" y="13"/>
                    </a:lnTo>
                    <a:lnTo>
                      <a:pt x="143" y="14"/>
                    </a:lnTo>
                    <a:lnTo>
                      <a:pt x="144" y="14"/>
                    </a:lnTo>
                    <a:lnTo>
                      <a:pt x="152" y="4"/>
                    </a:lnTo>
                  </a:path>
                </a:pathLst>
              </a:custGeom>
              <a:solidFill>
                <a:srgbClr val="9F9FA2"/>
              </a:solidFill>
              <a:ln w="12700" cap="rnd">
                <a:solidFill>
                  <a:srgbClr val="9F9FA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12" name="Freeform 853"/>
              <p:cNvSpPr>
                <a:spLocks/>
              </p:cNvSpPr>
              <p:nvPr/>
            </p:nvSpPr>
            <p:spPr bwMode="auto">
              <a:xfrm>
                <a:off x="2448" y="2943"/>
                <a:ext cx="10" cy="65"/>
              </a:xfrm>
              <a:custGeom>
                <a:avLst/>
                <a:gdLst>
                  <a:gd name="T0" fmla="*/ 1 w 17"/>
                  <a:gd name="T1" fmla="*/ 0 h 135"/>
                  <a:gd name="T2" fmla="*/ 1 w 17"/>
                  <a:gd name="T3" fmla="*/ 0 h 135"/>
                  <a:gd name="T4" fmla="*/ 0 w 17"/>
                  <a:gd name="T5" fmla="*/ 0 h 135"/>
                  <a:gd name="T6" fmla="*/ 0 w 17"/>
                  <a:gd name="T7" fmla="*/ 0 h 135"/>
                  <a:gd name="T8" fmla="*/ 0 w 17"/>
                  <a:gd name="T9" fmla="*/ 0 h 135"/>
                  <a:gd name="T10" fmla="*/ 0 w 17"/>
                  <a:gd name="T11" fmla="*/ 0 h 135"/>
                  <a:gd name="T12" fmla="*/ 0 w 17"/>
                  <a:gd name="T13" fmla="*/ 0 h 135"/>
                  <a:gd name="T14" fmla="*/ 0 w 17"/>
                  <a:gd name="T15" fmla="*/ 1 h 135"/>
                  <a:gd name="T16" fmla="*/ 0 w 17"/>
                  <a:gd name="T17" fmla="*/ 1 h 135"/>
                  <a:gd name="T18" fmla="*/ 0 w 17"/>
                  <a:gd name="T19" fmla="*/ 1 h 135"/>
                  <a:gd name="T20" fmla="*/ 0 w 17"/>
                  <a:gd name="T21" fmla="*/ 1 h 135"/>
                  <a:gd name="T22" fmla="*/ 0 w 17"/>
                  <a:gd name="T23" fmla="*/ 1 h 135"/>
                  <a:gd name="T24" fmla="*/ 1 w 17"/>
                  <a:gd name="T25" fmla="*/ 1 h 135"/>
                  <a:gd name="T26" fmla="*/ 1 w 17"/>
                  <a:gd name="T27" fmla="*/ 1 h 135"/>
                  <a:gd name="T28" fmla="*/ 1 w 17"/>
                  <a:gd name="T29" fmla="*/ 1 h 135"/>
                  <a:gd name="T30" fmla="*/ 1 w 17"/>
                  <a:gd name="T31" fmla="*/ 1 h 135"/>
                  <a:gd name="T32" fmla="*/ 1 w 17"/>
                  <a:gd name="T33" fmla="*/ 1 h 135"/>
                  <a:gd name="T34" fmla="*/ 1 w 17"/>
                  <a:gd name="T35" fmla="*/ 1 h 135"/>
                  <a:gd name="T36" fmla="*/ 1 w 17"/>
                  <a:gd name="T37" fmla="*/ 1 h 135"/>
                  <a:gd name="T38" fmla="*/ 1 w 17"/>
                  <a:gd name="T39" fmla="*/ 1 h 135"/>
                  <a:gd name="T40" fmla="*/ 1 w 17"/>
                  <a:gd name="T41" fmla="*/ 1 h 135"/>
                  <a:gd name="T42" fmla="*/ 1 w 17"/>
                  <a:gd name="T43" fmla="*/ 1 h 135"/>
                  <a:gd name="T44" fmla="*/ 1 w 17"/>
                  <a:gd name="T45" fmla="*/ 1 h 135"/>
                  <a:gd name="T46" fmla="*/ 1 w 17"/>
                  <a:gd name="T47" fmla="*/ 0 h 135"/>
                  <a:gd name="T48" fmla="*/ 1 w 17"/>
                  <a:gd name="T49" fmla="*/ 0 h 135"/>
                  <a:gd name="T50" fmla="*/ 1 w 17"/>
                  <a:gd name="T51" fmla="*/ 0 h 135"/>
                  <a:gd name="T52" fmla="*/ 1 w 17"/>
                  <a:gd name="T53" fmla="*/ 0 h 135"/>
                  <a:gd name="T54" fmla="*/ 1 w 17"/>
                  <a:gd name="T55" fmla="*/ 0 h 135"/>
                  <a:gd name="T56" fmla="*/ 1 w 17"/>
                  <a:gd name="T57" fmla="*/ 0 h 135"/>
                  <a:gd name="T58" fmla="*/ 1 w 17"/>
                  <a:gd name="T59" fmla="*/ 0 h 135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7"/>
                  <a:gd name="T91" fmla="*/ 0 h 135"/>
                  <a:gd name="T92" fmla="*/ 17 w 17"/>
                  <a:gd name="T93" fmla="*/ 135 h 135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7" h="135">
                    <a:moveTo>
                      <a:pt x="2" y="0"/>
                    </a:moveTo>
                    <a:lnTo>
                      <a:pt x="1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0" y="130"/>
                    </a:lnTo>
                    <a:lnTo>
                      <a:pt x="0" y="131"/>
                    </a:lnTo>
                    <a:lnTo>
                      <a:pt x="0" y="132"/>
                    </a:lnTo>
                    <a:lnTo>
                      <a:pt x="1" y="133"/>
                    </a:lnTo>
                    <a:lnTo>
                      <a:pt x="2" y="133"/>
                    </a:lnTo>
                    <a:lnTo>
                      <a:pt x="2" y="134"/>
                    </a:lnTo>
                    <a:lnTo>
                      <a:pt x="3" y="134"/>
                    </a:lnTo>
                    <a:lnTo>
                      <a:pt x="16" y="127"/>
                    </a:lnTo>
                    <a:lnTo>
                      <a:pt x="15" y="126"/>
                    </a:lnTo>
                    <a:lnTo>
                      <a:pt x="14" y="126"/>
                    </a:lnTo>
                    <a:lnTo>
                      <a:pt x="14" y="125"/>
                    </a:lnTo>
                    <a:lnTo>
                      <a:pt x="13" y="124"/>
                    </a:lnTo>
                    <a:lnTo>
                      <a:pt x="13" y="10"/>
                    </a:lnTo>
                    <a:lnTo>
                      <a:pt x="13" y="9"/>
                    </a:lnTo>
                    <a:lnTo>
                      <a:pt x="13" y="8"/>
                    </a:lnTo>
                    <a:lnTo>
                      <a:pt x="14" y="8"/>
                    </a:lnTo>
                    <a:lnTo>
                      <a:pt x="15" y="7"/>
                    </a:lnTo>
                    <a:lnTo>
                      <a:pt x="15" y="6"/>
                    </a:lnTo>
                    <a:lnTo>
                      <a:pt x="2" y="0"/>
                    </a:lnTo>
                  </a:path>
                </a:pathLst>
              </a:custGeom>
              <a:solidFill>
                <a:srgbClr val="666666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13" name="Freeform 854"/>
              <p:cNvSpPr>
                <a:spLocks/>
              </p:cNvSpPr>
              <p:nvPr/>
            </p:nvSpPr>
            <p:spPr bwMode="auto">
              <a:xfrm>
                <a:off x="2449" y="2943"/>
                <a:ext cx="91" cy="65"/>
              </a:xfrm>
              <a:custGeom>
                <a:avLst/>
                <a:gdLst>
                  <a:gd name="T0" fmla="*/ 0 w 155"/>
                  <a:gd name="T1" fmla="*/ 1 h 136"/>
                  <a:gd name="T2" fmla="*/ 0 w 155"/>
                  <a:gd name="T3" fmla="*/ 1 h 136"/>
                  <a:gd name="T4" fmla="*/ 0 w 155"/>
                  <a:gd name="T5" fmla="*/ 1 h 136"/>
                  <a:gd name="T6" fmla="*/ 1 w 155"/>
                  <a:gd name="T7" fmla="*/ 1 h 136"/>
                  <a:gd name="T8" fmla="*/ 1 w 155"/>
                  <a:gd name="T9" fmla="*/ 1 h 136"/>
                  <a:gd name="T10" fmla="*/ 1 w 155"/>
                  <a:gd name="T11" fmla="*/ 1 h 136"/>
                  <a:gd name="T12" fmla="*/ 1 w 155"/>
                  <a:gd name="T13" fmla="*/ 1 h 136"/>
                  <a:gd name="T14" fmla="*/ 1 w 155"/>
                  <a:gd name="T15" fmla="*/ 1 h 136"/>
                  <a:gd name="T16" fmla="*/ 6 w 155"/>
                  <a:gd name="T17" fmla="*/ 1 h 136"/>
                  <a:gd name="T18" fmla="*/ 6 w 155"/>
                  <a:gd name="T19" fmla="*/ 1 h 136"/>
                  <a:gd name="T20" fmla="*/ 6 w 155"/>
                  <a:gd name="T21" fmla="*/ 1 h 136"/>
                  <a:gd name="T22" fmla="*/ 6 w 155"/>
                  <a:gd name="T23" fmla="*/ 1 h 136"/>
                  <a:gd name="T24" fmla="*/ 6 w 155"/>
                  <a:gd name="T25" fmla="*/ 1 h 136"/>
                  <a:gd name="T26" fmla="*/ 6 w 155"/>
                  <a:gd name="T27" fmla="*/ 1 h 136"/>
                  <a:gd name="T28" fmla="*/ 6 w 155"/>
                  <a:gd name="T29" fmla="*/ 1 h 136"/>
                  <a:gd name="T30" fmla="*/ 6 w 155"/>
                  <a:gd name="T31" fmla="*/ 1 h 136"/>
                  <a:gd name="T32" fmla="*/ 6 w 155"/>
                  <a:gd name="T33" fmla="*/ 1 h 136"/>
                  <a:gd name="T34" fmla="*/ 6 w 155"/>
                  <a:gd name="T35" fmla="*/ 1 h 136"/>
                  <a:gd name="T36" fmla="*/ 6 w 155"/>
                  <a:gd name="T37" fmla="*/ 1 h 136"/>
                  <a:gd name="T38" fmla="*/ 6 w 155"/>
                  <a:gd name="T39" fmla="*/ 0 h 136"/>
                  <a:gd name="T40" fmla="*/ 6 w 155"/>
                  <a:gd name="T41" fmla="*/ 0 h 136"/>
                  <a:gd name="T42" fmla="*/ 6 w 155"/>
                  <a:gd name="T43" fmla="*/ 0 h 136"/>
                  <a:gd name="T44" fmla="*/ 6 w 155"/>
                  <a:gd name="T45" fmla="*/ 0 h 136"/>
                  <a:gd name="T46" fmla="*/ 6 w 155"/>
                  <a:gd name="T47" fmla="*/ 0 h 136"/>
                  <a:gd name="T48" fmla="*/ 6 w 155"/>
                  <a:gd name="T49" fmla="*/ 0 h 136"/>
                  <a:gd name="T50" fmla="*/ 6 w 155"/>
                  <a:gd name="T51" fmla="*/ 0 h 136"/>
                  <a:gd name="T52" fmla="*/ 6 w 155"/>
                  <a:gd name="T53" fmla="*/ 0 h 136"/>
                  <a:gd name="T54" fmla="*/ 6 w 155"/>
                  <a:gd name="T55" fmla="*/ 0 h 136"/>
                  <a:gd name="T56" fmla="*/ 6 w 155"/>
                  <a:gd name="T57" fmla="*/ 0 h 136"/>
                  <a:gd name="T58" fmla="*/ 6 w 155"/>
                  <a:gd name="T59" fmla="*/ 0 h 136"/>
                  <a:gd name="T60" fmla="*/ 6 w 155"/>
                  <a:gd name="T61" fmla="*/ 0 h 136"/>
                  <a:gd name="T62" fmla="*/ 6 w 155"/>
                  <a:gd name="T63" fmla="*/ 0 h 136"/>
                  <a:gd name="T64" fmla="*/ 6 w 155"/>
                  <a:gd name="T65" fmla="*/ 0 h 136"/>
                  <a:gd name="T66" fmla="*/ 6 w 155"/>
                  <a:gd name="T67" fmla="*/ 0 h 136"/>
                  <a:gd name="T68" fmla="*/ 6 w 155"/>
                  <a:gd name="T69" fmla="*/ 0 h 136"/>
                  <a:gd name="T70" fmla="*/ 6 w 155"/>
                  <a:gd name="T71" fmla="*/ 1 h 136"/>
                  <a:gd name="T72" fmla="*/ 6 w 155"/>
                  <a:gd name="T73" fmla="*/ 1 h 136"/>
                  <a:gd name="T74" fmla="*/ 6 w 155"/>
                  <a:gd name="T75" fmla="*/ 1 h 136"/>
                  <a:gd name="T76" fmla="*/ 6 w 155"/>
                  <a:gd name="T77" fmla="*/ 1 h 136"/>
                  <a:gd name="T78" fmla="*/ 6 w 155"/>
                  <a:gd name="T79" fmla="*/ 1 h 136"/>
                  <a:gd name="T80" fmla="*/ 6 w 155"/>
                  <a:gd name="T81" fmla="*/ 1 h 136"/>
                  <a:gd name="T82" fmla="*/ 6 w 155"/>
                  <a:gd name="T83" fmla="*/ 1 h 136"/>
                  <a:gd name="T84" fmla="*/ 6 w 155"/>
                  <a:gd name="T85" fmla="*/ 1 h 136"/>
                  <a:gd name="T86" fmla="*/ 6 w 155"/>
                  <a:gd name="T87" fmla="*/ 1 h 136"/>
                  <a:gd name="T88" fmla="*/ 6 w 155"/>
                  <a:gd name="T89" fmla="*/ 1 h 136"/>
                  <a:gd name="T90" fmla="*/ 6 w 155"/>
                  <a:gd name="T91" fmla="*/ 1 h 136"/>
                  <a:gd name="T92" fmla="*/ 6 w 155"/>
                  <a:gd name="T93" fmla="*/ 1 h 136"/>
                  <a:gd name="T94" fmla="*/ 1 w 155"/>
                  <a:gd name="T95" fmla="*/ 1 h 136"/>
                  <a:gd name="T96" fmla="*/ 1 w 155"/>
                  <a:gd name="T97" fmla="*/ 1 h 136"/>
                  <a:gd name="T98" fmla="*/ 1 w 155"/>
                  <a:gd name="T99" fmla="*/ 1 h 136"/>
                  <a:gd name="T100" fmla="*/ 1 w 155"/>
                  <a:gd name="T101" fmla="*/ 1 h 136"/>
                  <a:gd name="T102" fmla="*/ 1 w 155"/>
                  <a:gd name="T103" fmla="*/ 1 h 136"/>
                  <a:gd name="T104" fmla="*/ 1 w 155"/>
                  <a:gd name="T105" fmla="*/ 1 h 136"/>
                  <a:gd name="T106" fmla="*/ 1 w 155"/>
                  <a:gd name="T107" fmla="*/ 1 h 136"/>
                  <a:gd name="T108" fmla="*/ 1 w 155"/>
                  <a:gd name="T109" fmla="*/ 1 h 136"/>
                  <a:gd name="T110" fmla="*/ 0 w 155"/>
                  <a:gd name="T111" fmla="*/ 1 h 1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155"/>
                  <a:gd name="T169" fmla="*/ 0 h 136"/>
                  <a:gd name="T170" fmla="*/ 155 w 155"/>
                  <a:gd name="T171" fmla="*/ 136 h 1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155" h="136">
                    <a:moveTo>
                      <a:pt x="0" y="133"/>
                    </a:moveTo>
                    <a:lnTo>
                      <a:pt x="0" y="134"/>
                    </a:lnTo>
                    <a:lnTo>
                      <a:pt x="1" y="134"/>
                    </a:lnTo>
                    <a:lnTo>
                      <a:pt x="2" y="135"/>
                    </a:lnTo>
                    <a:lnTo>
                      <a:pt x="3" y="135"/>
                    </a:lnTo>
                    <a:lnTo>
                      <a:pt x="148" y="135"/>
                    </a:lnTo>
                    <a:lnTo>
                      <a:pt x="150" y="134"/>
                    </a:lnTo>
                    <a:lnTo>
                      <a:pt x="151" y="134"/>
                    </a:lnTo>
                    <a:lnTo>
                      <a:pt x="151" y="133"/>
                    </a:lnTo>
                    <a:lnTo>
                      <a:pt x="152" y="133"/>
                    </a:lnTo>
                    <a:lnTo>
                      <a:pt x="153" y="132"/>
                    </a:lnTo>
                    <a:lnTo>
                      <a:pt x="153" y="131"/>
                    </a:lnTo>
                    <a:lnTo>
                      <a:pt x="154" y="131"/>
                    </a:lnTo>
                    <a:lnTo>
                      <a:pt x="154" y="129"/>
                    </a:lnTo>
                    <a:lnTo>
                      <a:pt x="154" y="3"/>
                    </a:lnTo>
                    <a:lnTo>
                      <a:pt x="154" y="2"/>
                    </a:lnTo>
                    <a:lnTo>
                      <a:pt x="154" y="1"/>
                    </a:lnTo>
                    <a:lnTo>
                      <a:pt x="153" y="1"/>
                    </a:lnTo>
                    <a:lnTo>
                      <a:pt x="153" y="0"/>
                    </a:lnTo>
                    <a:lnTo>
                      <a:pt x="145" y="5"/>
                    </a:lnTo>
                    <a:lnTo>
                      <a:pt x="146" y="6"/>
                    </a:lnTo>
                    <a:lnTo>
                      <a:pt x="146" y="7"/>
                    </a:lnTo>
                    <a:lnTo>
                      <a:pt x="146" y="8"/>
                    </a:lnTo>
                    <a:lnTo>
                      <a:pt x="146" y="9"/>
                    </a:lnTo>
                    <a:lnTo>
                      <a:pt x="146" y="123"/>
                    </a:lnTo>
                    <a:lnTo>
                      <a:pt x="146" y="124"/>
                    </a:lnTo>
                    <a:lnTo>
                      <a:pt x="146" y="125"/>
                    </a:lnTo>
                    <a:lnTo>
                      <a:pt x="145" y="126"/>
                    </a:lnTo>
                    <a:lnTo>
                      <a:pt x="145" y="127"/>
                    </a:lnTo>
                    <a:lnTo>
                      <a:pt x="144" y="127"/>
                    </a:lnTo>
                    <a:lnTo>
                      <a:pt x="143" y="127"/>
                    </a:lnTo>
                    <a:lnTo>
                      <a:pt x="143" y="128"/>
                    </a:lnTo>
                    <a:lnTo>
                      <a:pt x="142" y="128"/>
                    </a:lnTo>
                    <a:lnTo>
                      <a:pt x="9" y="128"/>
                    </a:lnTo>
                    <a:lnTo>
                      <a:pt x="8" y="128"/>
                    </a:lnTo>
                    <a:lnTo>
                      <a:pt x="8" y="127"/>
                    </a:lnTo>
                    <a:lnTo>
                      <a:pt x="7" y="127"/>
                    </a:lnTo>
                    <a:lnTo>
                      <a:pt x="6" y="127"/>
                    </a:lnTo>
                    <a:lnTo>
                      <a:pt x="0" y="133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9999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14" name="Freeform 855"/>
              <p:cNvSpPr>
                <a:spLocks/>
              </p:cNvSpPr>
              <p:nvPr/>
            </p:nvSpPr>
            <p:spPr bwMode="auto">
              <a:xfrm>
                <a:off x="2449" y="2942"/>
                <a:ext cx="89" cy="8"/>
              </a:xfrm>
              <a:custGeom>
                <a:avLst/>
                <a:gdLst>
                  <a:gd name="T0" fmla="*/ 6 w 153"/>
                  <a:gd name="T1" fmla="*/ 0 h 17"/>
                  <a:gd name="T2" fmla="*/ 6 w 153"/>
                  <a:gd name="T3" fmla="*/ 0 h 17"/>
                  <a:gd name="T4" fmla="*/ 6 w 153"/>
                  <a:gd name="T5" fmla="*/ 0 h 17"/>
                  <a:gd name="T6" fmla="*/ 6 w 153"/>
                  <a:gd name="T7" fmla="*/ 0 h 17"/>
                  <a:gd name="T8" fmla="*/ 6 w 153"/>
                  <a:gd name="T9" fmla="*/ 0 h 17"/>
                  <a:gd name="T10" fmla="*/ 6 w 153"/>
                  <a:gd name="T11" fmla="*/ 0 h 17"/>
                  <a:gd name="T12" fmla="*/ 6 w 153"/>
                  <a:gd name="T13" fmla="*/ 0 h 17"/>
                  <a:gd name="T14" fmla="*/ 6 w 153"/>
                  <a:gd name="T15" fmla="*/ 0 h 17"/>
                  <a:gd name="T16" fmla="*/ 6 w 153"/>
                  <a:gd name="T17" fmla="*/ 0 h 17"/>
                  <a:gd name="T18" fmla="*/ 6 w 153"/>
                  <a:gd name="T19" fmla="*/ 0 h 17"/>
                  <a:gd name="T20" fmla="*/ 6 w 153"/>
                  <a:gd name="T21" fmla="*/ 0 h 17"/>
                  <a:gd name="T22" fmla="*/ 6 w 153"/>
                  <a:gd name="T23" fmla="*/ 0 h 17"/>
                  <a:gd name="T24" fmla="*/ 1 w 153"/>
                  <a:gd name="T25" fmla="*/ 0 h 17"/>
                  <a:gd name="T26" fmla="*/ 1 w 153"/>
                  <a:gd name="T27" fmla="*/ 0 h 17"/>
                  <a:gd name="T28" fmla="*/ 1 w 153"/>
                  <a:gd name="T29" fmla="*/ 0 h 17"/>
                  <a:gd name="T30" fmla="*/ 1 w 153"/>
                  <a:gd name="T31" fmla="*/ 0 h 17"/>
                  <a:gd name="T32" fmla="*/ 1 w 153"/>
                  <a:gd name="T33" fmla="*/ 0 h 17"/>
                  <a:gd name="T34" fmla="*/ 0 w 153"/>
                  <a:gd name="T35" fmla="*/ 0 h 17"/>
                  <a:gd name="T36" fmla="*/ 0 w 153"/>
                  <a:gd name="T37" fmla="*/ 0 h 17"/>
                  <a:gd name="T38" fmla="*/ 0 w 153"/>
                  <a:gd name="T39" fmla="*/ 0 h 1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53"/>
                  <a:gd name="T61" fmla="*/ 0 h 17"/>
                  <a:gd name="T62" fmla="*/ 153 w 153"/>
                  <a:gd name="T63" fmla="*/ 17 h 1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53" h="17">
                    <a:moveTo>
                      <a:pt x="152" y="16"/>
                    </a:moveTo>
                    <a:lnTo>
                      <a:pt x="151" y="16"/>
                    </a:lnTo>
                    <a:lnTo>
                      <a:pt x="151" y="10"/>
                    </a:lnTo>
                    <a:lnTo>
                      <a:pt x="150" y="10"/>
                    </a:lnTo>
                    <a:lnTo>
                      <a:pt x="150" y="5"/>
                    </a:lnTo>
                    <a:lnTo>
                      <a:pt x="149" y="5"/>
                    </a:lnTo>
                    <a:lnTo>
                      <a:pt x="148" y="0"/>
                    </a:lnTo>
                    <a:lnTo>
                      <a:pt x="147" y="0"/>
                    </a:lnTo>
                    <a:lnTo>
                      <a:pt x="146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5"/>
                    </a:lnTo>
                    <a:lnTo>
                      <a:pt x="0" y="10"/>
                    </a:lnTo>
                    <a:lnTo>
                      <a:pt x="0" y="16"/>
                    </a:lnTo>
                  </a:path>
                </a:pathLst>
              </a:custGeom>
              <a:noFill/>
              <a:ln w="12700" cap="rnd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15" name="Freeform 856"/>
              <p:cNvSpPr>
                <a:spLocks/>
              </p:cNvSpPr>
              <p:nvPr/>
            </p:nvSpPr>
            <p:spPr bwMode="auto">
              <a:xfrm>
                <a:off x="2432" y="3034"/>
                <a:ext cx="126" cy="35"/>
              </a:xfrm>
              <a:custGeom>
                <a:avLst/>
                <a:gdLst>
                  <a:gd name="T0" fmla="*/ 0 w 215"/>
                  <a:gd name="T1" fmla="*/ 1 h 72"/>
                  <a:gd name="T2" fmla="*/ 0 w 215"/>
                  <a:gd name="T3" fmla="*/ 0 h 72"/>
                  <a:gd name="T4" fmla="*/ 9 w 215"/>
                  <a:gd name="T5" fmla="*/ 0 h 72"/>
                  <a:gd name="T6" fmla="*/ 9 w 215"/>
                  <a:gd name="T7" fmla="*/ 1 h 72"/>
                  <a:gd name="T8" fmla="*/ 0 w 215"/>
                  <a:gd name="T9" fmla="*/ 1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5"/>
                  <a:gd name="T16" fmla="*/ 0 h 72"/>
                  <a:gd name="T17" fmla="*/ 215 w 215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5" h="72">
                    <a:moveTo>
                      <a:pt x="0" y="71"/>
                    </a:moveTo>
                    <a:lnTo>
                      <a:pt x="0" y="0"/>
                    </a:lnTo>
                    <a:lnTo>
                      <a:pt x="214" y="0"/>
                    </a:lnTo>
                    <a:lnTo>
                      <a:pt x="214" y="71"/>
                    </a:lnTo>
                    <a:lnTo>
                      <a:pt x="0" y="71"/>
                    </a:lnTo>
                  </a:path>
                </a:pathLst>
              </a:cu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16" name="Freeform 857"/>
              <p:cNvSpPr>
                <a:spLocks/>
              </p:cNvSpPr>
              <p:nvPr/>
            </p:nvSpPr>
            <p:spPr bwMode="auto">
              <a:xfrm>
                <a:off x="2431" y="3034"/>
                <a:ext cx="128" cy="11"/>
              </a:xfrm>
              <a:custGeom>
                <a:avLst/>
                <a:gdLst>
                  <a:gd name="T0" fmla="*/ 3 w 219"/>
                  <a:gd name="T1" fmla="*/ 0 h 23"/>
                  <a:gd name="T2" fmla="*/ 0 w 219"/>
                  <a:gd name="T3" fmla="*/ 0 h 23"/>
                  <a:gd name="T4" fmla="*/ 0 w 219"/>
                  <a:gd name="T5" fmla="*/ 0 h 23"/>
                  <a:gd name="T6" fmla="*/ 9 w 219"/>
                  <a:gd name="T7" fmla="*/ 0 h 23"/>
                  <a:gd name="T8" fmla="*/ 9 w 219"/>
                  <a:gd name="T9" fmla="*/ 0 h 23"/>
                  <a:gd name="T10" fmla="*/ 5 w 219"/>
                  <a:gd name="T11" fmla="*/ 0 h 23"/>
                  <a:gd name="T12" fmla="*/ 3 w 219"/>
                  <a:gd name="T13" fmla="*/ 0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19"/>
                  <a:gd name="T22" fmla="*/ 0 h 23"/>
                  <a:gd name="T23" fmla="*/ 219 w 219"/>
                  <a:gd name="T24" fmla="*/ 23 h 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19" h="23">
                    <a:moveTo>
                      <a:pt x="79" y="0"/>
                    </a:moveTo>
                    <a:lnTo>
                      <a:pt x="0" y="0"/>
                    </a:lnTo>
                    <a:lnTo>
                      <a:pt x="0" y="22"/>
                    </a:lnTo>
                    <a:lnTo>
                      <a:pt x="218" y="22"/>
                    </a:lnTo>
                    <a:lnTo>
                      <a:pt x="215" y="0"/>
                    </a:lnTo>
                    <a:lnTo>
                      <a:pt x="137" y="0"/>
                    </a:lnTo>
                    <a:lnTo>
                      <a:pt x="79" y="0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17" name="Freeform 858"/>
              <p:cNvSpPr>
                <a:spLocks/>
              </p:cNvSpPr>
              <p:nvPr/>
            </p:nvSpPr>
            <p:spPr bwMode="auto">
              <a:xfrm>
                <a:off x="2519" y="3037"/>
                <a:ext cx="32" cy="8"/>
              </a:xfrm>
              <a:custGeom>
                <a:avLst/>
                <a:gdLst>
                  <a:gd name="T0" fmla="*/ 0 w 56"/>
                  <a:gd name="T1" fmla="*/ 0 h 17"/>
                  <a:gd name="T2" fmla="*/ 1 w 56"/>
                  <a:gd name="T3" fmla="*/ 0 h 17"/>
                  <a:gd name="T4" fmla="*/ 1 w 56"/>
                  <a:gd name="T5" fmla="*/ 0 h 17"/>
                  <a:gd name="T6" fmla="*/ 1 w 56"/>
                  <a:gd name="T7" fmla="*/ 0 h 17"/>
                  <a:gd name="T8" fmla="*/ 1 w 56"/>
                  <a:gd name="T9" fmla="*/ 0 h 17"/>
                  <a:gd name="T10" fmla="*/ 2 w 56"/>
                  <a:gd name="T11" fmla="*/ 0 h 17"/>
                  <a:gd name="T12" fmla="*/ 2 w 56"/>
                  <a:gd name="T13" fmla="*/ 0 h 17"/>
                  <a:gd name="T14" fmla="*/ 1 w 56"/>
                  <a:gd name="T15" fmla="*/ 0 h 17"/>
                  <a:gd name="T16" fmla="*/ 1 w 56"/>
                  <a:gd name="T17" fmla="*/ 0 h 17"/>
                  <a:gd name="T18" fmla="*/ 1 w 56"/>
                  <a:gd name="T19" fmla="*/ 0 h 17"/>
                  <a:gd name="T20" fmla="*/ 1 w 56"/>
                  <a:gd name="T21" fmla="*/ 0 h 17"/>
                  <a:gd name="T22" fmla="*/ 0 w 56"/>
                  <a:gd name="T23" fmla="*/ 0 h 17"/>
                  <a:gd name="T24" fmla="*/ 0 w 56"/>
                  <a:gd name="T25" fmla="*/ 0 h 1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6"/>
                  <a:gd name="T40" fmla="*/ 0 h 17"/>
                  <a:gd name="T41" fmla="*/ 56 w 56"/>
                  <a:gd name="T42" fmla="*/ 17 h 1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6" h="17">
                    <a:moveTo>
                      <a:pt x="0" y="6"/>
                    </a:moveTo>
                    <a:lnTo>
                      <a:pt x="18" y="6"/>
                    </a:lnTo>
                    <a:lnTo>
                      <a:pt x="18" y="0"/>
                    </a:lnTo>
                    <a:lnTo>
                      <a:pt x="35" y="0"/>
                    </a:lnTo>
                    <a:lnTo>
                      <a:pt x="35" y="6"/>
                    </a:lnTo>
                    <a:lnTo>
                      <a:pt x="55" y="6"/>
                    </a:lnTo>
                    <a:lnTo>
                      <a:pt x="55" y="10"/>
                    </a:lnTo>
                    <a:lnTo>
                      <a:pt x="35" y="10"/>
                    </a:lnTo>
                    <a:lnTo>
                      <a:pt x="35" y="16"/>
                    </a:lnTo>
                    <a:lnTo>
                      <a:pt x="18" y="16"/>
                    </a:lnTo>
                    <a:lnTo>
                      <a:pt x="18" y="10"/>
                    </a:lnTo>
                    <a:lnTo>
                      <a:pt x="0" y="10"/>
                    </a:lnTo>
                    <a:lnTo>
                      <a:pt x="0" y="6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18" name="Freeform 859"/>
              <p:cNvSpPr>
                <a:spLocks/>
              </p:cNvSpPr>
              <p:nvPr/>
            </p:nvSpPr>
            <p:spPr bwMode="auto">
              <a:xfrm>
                <a:off x="2519" y="3040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1 w 17"/>
                  <a:gd name="T3" fmla="*/ 0 h 17"/>
                  <a:gd name="T4" fmla="*/ 1 w 17"/>
                  <a:gd name="T5" fmla="*/ 0 h 17"/>
                  <a:gd name="T6" fmla="*/ 0 w 17"/>
                  <a:gd name="T7" fmla="*/ 0 h 1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17"/>
                  <a:gd name="T14" fmla="*/ 17 w 17"/>
                  <a:gd name="T15" fmla="*/ 17 h 1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17">
                    <a:moveTo>
                      <a:pt x="0" y="16"/>
                    </a:moveTo>
                    <a:lnTo>
                      <a:pt x="16" y="10"/>
                    </a:lnTo>
                    <a:lnTo>
                      <a:pt x="16" y="5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rnd">
                <a:solidFill>
                  <a:srgbClr val="EFEFD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19" name="Freeform 860"/>
              <p:cNvSpPr>
                <a:spLocks/>
              </p:cNvSpPr>
              <p:nvPr/>
            </p:nvSpPr>
            <p:spPr bwMode="auto">
              <a:xfrm>
                <a:off x="2530" y="3037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1 w 17"/>
                  <a:gd name="T3" fmla="*/ 0 h 17"/>
                  <a:gd name="T4" fmla="*/ 0 w 17"/>
                  <a:gd name="T5" fmla="*/ 0 h 17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17"/>
                  <a:gd name="T11" fmla="*/ 17 w 17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17">
                    <a:moveTo>
                      <a:pt x="0" y="0"/>
                    </a:moveTo>
                    <a:lnTo>
                      <a:pt x="16" y="16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rnd">
                <a:solidFill>
                  <a:srgbClr val="EFE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20" name="Freeform 861"/>
              <p:cNvSpPr>
                <a:spLocks/>
              </p:cNvSpPr>
              <p:nvPr/>
            </p:nvSpPr>
            <p:spPr bwMode="auto">
              <a:xfrm>
                <a:off x="2551" y="3041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1 w 17"/>
                  <a:gd name="T3" fmla="*/ 0 h 17"/>
                  <a:gd name="T4" fmla="*/ 0 w 17"/>
                  <a:gd name="T5" fmla="*/ 0 h 17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17"/>
                  <a:gd name="T11" fmla="*/ 17 w 17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17">
                    <a:moveTo>
                      <a:pt x="0" y="0"/>
                    </a:moveTo>
                    <a:lnTo>
                      <a:pt x="16" y="16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rnd">
                <a:solidFill>
                  <a:srgbClr val="EFE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21" name="Freeform 862"/>
              <p:cNvSpPr>
                <a:spLocks/>
              </p:cNvSpPr>
              <p:nvPr/>
            </p:nvSpPr>
            <p:spPr bwMode="auto">
              <a:xfrm>
                <a:off x="2540" y="3037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1 w 17"/>
                  <a:gd name="T3" fmla="*/ 0 h 17"/>
                  <a:gd name="T4" fmla="*/ 0 w 17"/>
                  <a:gd name="T5" fmla="*/ 0 h 17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17"/>
                  <a:gd name="T11" fmla="*/ 17 w 17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17">
                    <a:moveTo>
                      <a:pt x="0" y="16"/>
                    </a:moveTo>
                    <a:lnTo>
                      <a:pt x="16" y="0"/>
                    </a:lnTo>
                    <a:lnTo>
                      <a:pt x="0" y="16"/>
                    </a:lnTo>
                  </a:path>
                </a:pathLst>
              </a:custGeom>
              <a:noFill/>
              <a:ln w="12700" cap="rnd">
                <a:solidFill>
                  <a:srgbClr val="EFE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22" name="Freeform 863"/>
              <p:cNvSpPr>
                <a:spLocks/>
              </p:cNvSpPr>
              <p:nvPr/>
            </p:nvSpPr>
            <p:spPr bwMode="auto">
              <a:xfrm>
                <a:off x="2530" y="303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1 w 17"/>
                  <a:gd name="T3" fmla="*/ 0 h 17"/>
                  <a:gd name="T4" fmla="*/ 1 w 17"/>
                  <a:gd name="T5" fmla="*/ 0 h 17"/>
                  <a:gd name="T6" fmla="*/ 0 w 17"/>
                  <a:gd name="T7" fmla="*/ 0 h 17"/>
                  <a:gd name="T8" fmla="*/ 0 w 17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0" y="16"/>
                    </a:moveTo>
                    <a:lnTo>
                      <a:pt x="16" y="16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9F9FA2"/>
              </a:solidFill>
              <a:ln w="12700" cap="rnd">
                <a:solidFill>
                  <a:srgbClr val="9F9FA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23" name="Freeform 864"/>
              <p:cNvSpPr>
                <a:spLocks/>
              </p:cNvSpPr>
              <p:nvPr/>
            </p:nvSpPr>
            <p:spPr bwMode="auto">
              <a:xfrm>
                <a:off x="2520" y="3040"/>
                <a:ext cx="31" cy="8"/>
              </a:xfrm>
              <a:custGeom>
                <a:avLst/>
                <a:gdLst>
                  <a:gd name="T0" fmla="*/ 0 w 54"/>
                  <a:gd name="T1" fmla="*/ 0 h 17"/>
                  <a:gd name="T2" fmla="*/ 2 w 54"/>
                  <a:gd name="T3" fmla="*/ 0 h 17"/>
                  <a:gd name="T4" fmla="*/ 2 w 54"/>
                  <a:gd name="T5" fmla="*/ 0 h 17"/>
                  <a:gd name="T6" fmla="*/ 0 w 54"/>
                  <a:gd name="T7" fmla="*/ 0 h 17"/>
                  <a:gd name="T8" fmla="*/ 0 w 54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"/>
                  <a:gd name="T16" fmla="*/ 0 h 17"/>
                  <a:gd name="T17" fmla="*/ 54 w 5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" h="17">
                    <a:moveTo>
                      <a:pt x="0" y="0"/>
                    </a:moveTo>
                    <a:lnTo>
                      <a:pt x="53" y="0"/>
                    </a:lnTo>
                    <a:lnTo>
                      <a:pt x="53" y="16"/>
                    </a:lnTo>
                    <a:lnTo>
                      <a:pt x="0" y="1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24" name="Freeform 865"/>
              <p:cNvSpPr>
                <a:spLocks/>
              </p:cNvSpPr>
              <p:nvPr/>
            </p:nvSpPr>
            <p:spPr bwMode="auto">
              <a:xfrm>
                <a:off x="2530" y="3037"/>
                <a:ext cx="11" cy="8"/>
              </a:xfrm>
              <a:custGeom>
                <a:avLst/>
                <a:gdLst>
                  <a:gd name="T0" fmla="*/ 1 w 19"/>
                  <a:gd name="T1" fmla="*/ 0 h 17"/>
                  <a:gd name="T2" fmla="*/ 1 w 19"/>
                  <a:gd name="T3" fmla="*/ 0 h 17"/>
                  <a:gd name="T4" fmla="*/ 1 w 19"/>
                  <a:gd name="T5" fmla="*/ 0 h 17"/>
                  <a:gd name="T6" fmla="*/ 0 w 19"/>
                  <a:gd name="T7" fmla="*/ 0 h 17"/>
                  <a:gd name="T8" fmla="*/ 0 w 19"/>
                  <a:gd name="T9" fmla="*/ 0 h 17"/>
                  <a:gd name="T10" fmla="*/ 0 w 19"/>
                  <a:gd name="T11" fmla="*/ 0 h 1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"/>
                  <a:gd name="T19" fmla="*/ 0 h 17"/>
                  <a:gd name="T20" fmla="*/ 19 w 19"/>
                  <a:gd name="T21" fmla="*/ 17 h 1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" h="17">
                    <a:moveTo>
                      <a:pt x="18" y="12"/>
                    </a:moveTo>
                    <a:lnTo>
                      <a:pt x="17" y="16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0" y="12"/>
                    </a:lnTo>
                  </a:path>
                </a:pathLst>
              </a:custGeom>
              <a:noFill/>
              <a:ln w="12700" cap="rnd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25" name="Freeform 866"/>
              <p:cNvSpPr>
                <a:spLocks/>
              </p:cNvSpPr>
              <p:nvPr/>
            </p:nvSpPr>
            <p:spPr bwMode="auto">
              <a:xfrm>
                <a:off x="2492" y="3042"/>
                <a:ext cx="10" cy="8"/>
              </a:xfrm>
              <a:custGeom>
                <a:avLst/>
                <a:gdLst>
                  <a:gd name="T0" fmla="*/ 1 w 17"/>
                  <a:gd name="T1" fmla="*/ 0 h 17"/>
                  <a:gd name="T2" fmla="*/ 1 w 17"/>
                  <a:gd name="T3" fmla="*/ 0 h 17"/>
                  <a:gd name="T4" fmla="*/ 0 w 17"/>
                  <a:gd name="T5" fmla="*/ 0 h 17"/>
                  <a:gd name="T6" fmla="*/ 0 w 17"/>
                  <a:gd name="T7" fmla="*/ 0 h 17"/>
                  <a:gd name="T8" fmla="*/ 1 w 17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16" y="0"/>
                    </a:moveTo>
                    <a:lnTo>
                      <a:pt x="16" y="16"/>
                    </a:lnTo>
                    <a:lnTo>
                      <a:pt x="0" y="16"/>
                    </a:lnTo>
                    <a:lnTo>
                      <a:pt x="0" y="0"/>
                    </a:lnTo>
                    <a:lnTo>
                      <a:pt x="16" y="0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26" name="Freeform 867"/>
              <p:cNvSpPr>
                <a:spLocks/>
              </p:cNvSpPr>
              <p:nvPr/>
            </p:nvSpPr>
            <p:spPr bwMode="auto">
              <a:xfrm>
                <a:off x="2492" y="3042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1 w 17"/>
                  <a:gd name="T3" fmla="*/ 0 h 17"/>
                  <a:gd name="T4" fmla="*/ 1 w 17"/>
                  <a:gd name="T5" fmla="*/ 0 h 17"/>
                  <a:gd name="T6" fmla="*/ 0 w 17"/>
                  <a:gd name="T7" fmla="*/ 0 h 17"/>
                  <a:gd name="T8" fmla="*/ 0 w 17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0" y="0"/>
                    </a:moveTo>
                    <a:lnTo>
                      <a:pt x="16" y="0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27" name="Freeform 868"/>
              <p:cNvSpPr>
                <a:spLocks/>
              </p:cNvSpPr>
              <p:nvPr/>
            </p:nvSpPr>
            <p:spPr bwMode="auto">
              <a:xfrm>
                <a:off x="2483" y="3038"/>
                <a:ext cx="26" cy="8"/>
              </a:xfrm>
              <a:custGeom>
                <a:avLst/>
                <a:gdLst>
                  <a:gd name="T0" fmla="*/ 1 w 44"/>
                  <a:gd name="T1" fmla="*/ 0 h 17"/>
                  <a:gd name="T2" fmla="*/ 0 w 44"/>
                  <a:gd name="T3" fmla="*/ 0 h 17"/>
                  <a:gd name="T4" fmla="*/ 0 w 44"/>
                  <a:gd name="T5" fmla="*/ 0 h 17"/>
                  <a:gd name="T6" fmla="*/ 1 w 44"/>
                  <a:gd name="T7" fmla="*/ 0 h 17"/>
                  <a:gd name="T8" fmla="*/ 1 w 44"/>
                  <a:gd name="T9" fmla="*/ 0 h 17"/>
                  <a:gd name="T10" fmla="*/ 1 w 44"/>
                  <a:gd name="T11" fmla="*/ 0 h 17"/>
                  <a:gd name="T12" fmla="*/ 1 w 44"/>
                  <a:gd name="T13" fmla="*/ 0 h 17"/>
                  <a:gd name="T14" fmla="*/ 2 w 44"/>
                  <a:gd name="T15" fmla="*/ 0 h 17"/>
                  <a:gd name="T16" fmla="*/ 2 w 44"/>
                  <a:gd name="T17" fmla="*/ 0 h 17"/>
                  <a:gd name="T18" fmla="*/ 1 w 44"/>
                  <a:gd name="T19" fmla="*/ 0 h 17"/>
                  <a:gd name="T20" fmla="*/ 1 w 44"/>
                  <a:gd name="T21" fmla="*/ 0 h 1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4"/>
                  <a:gd name="T34" fmla="*/ 0 h 17"/>
                  <a:gd name="T35" fmla="*/ 44 w 44"/>
                  <a:gd name="T36" fmla="*/ 17 h 1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4" h="17">
                    <a:moveTo>
                      <a:pt x="14" y="16"/>
                    </a:moveTo>
                    <a:lnTo>
                      <a:pt x="0" y="16"/>
                    </a:lnTo>
                    <a:lnTo>
                      <a:pt x="0" y="8"/>
                    </a:lnTo>
                    <a:lnTo>
                      <a:pt x="14" y="8"/>
                    </a:lnTo>
                    <a:lnTo>
                      <a:pt x="14" y="0"/>
                    </a:lnTo>
                    <a:lnTo>
                      <a:pt x="28" y="0"/>
                    </a:lnTo>
                    <a:lnTo>
                      <a:pt x="28" y="8"/>
                    </a:lnTo>
                    <a:lnTo>
                      <a:pt x="43" y="8"/>
                    </a:lnTo>
                    <a:lnTo>
                      <a:pt x="43" y="16"/>
                    </a:lnTo>
                    <a:lnTo>
                      <a:pt x="28" y="16"/>
                    </a:lnTo>
                    <a:lnTo>
                      <a:pt x="14" y="16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28" name="Freeform 869"/>
              <p:cNvSpPr>
                <a:spLocks/>
              </p:cNvSpPr>
              <p:nvPr/>
            </p:nvSpPr>
            <p:spPr bwMode="auto">
              <a:xfrm>
                <a:off x="2492" y="3038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1 w 17"/>
                  <a:gd name="T3" fmla="*/ 0 h 17"/>
                  <a:gd name="T4" fmla="*/ 1 w 17"/>
                  <a:gd name="T5" fmla="*/ 0 h 17"/>
                  <a:gd name="T6" fmla="*/ 0 w 17"/>
                  <a:gd name="T7" fmla="*/ 0 h 17"/>
                  <a:gd name="T8" fmla="*/ 0 w 17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0" y="0"/>
                    </a:moveTo>
                    <a:lnTo>
                      <a:pt x="16" y="0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29" name="Freeform 870"/>
              <p:cNvSpPr>
                <a:spLocks/>
              </p:cNvSpPr>
              <p:nvPr/>
            </p:nvSpPr>
            <p:spPr bwMode="auto">
              <a:xfrm>
                <a:off x="2463" y="3036"/>
                <a:ext cx="12" cy="9"/>
              </a:xfrm>
              <a:custGeom>
                <a:avLst/>
                <a:gdLst>
                  <a:gd name="T0" fmla="*/ 1 w 20"/>
                  <a:gd name="T1" fmla="*/ 1 h 17"/>
                  <a:gd name="T2" fmla="*/ 1 w 20"/>
                  <a:gd name="T3" fmla="*/ 1 h 17"/>
                  <a:gd name="T4" fmla="*/ 1 w 20"/>
                  <a:gd name="T5" fmla="*/ 1 h 17"/>
                  <a:gd name="T6" fmla="*/ 1 w 20"/>
                  <a:gd name="T7" fmla="*/ 1 h 17"/>
                  <a:gd name="T8" fmla="*/ 1 w 20"/>
                  <a:gd name="T9" fmla="*/ 1 h 17"/>
                  <a:gd name="T10" fmla="*/ 0 w 20"/>
                  <a:gd name="T11" fmla="*/ 1 h 17"/>
                  <a:gd name="T12" fmla="*/ 0 w 20"/>
                  <a:gd name="T13" fmla="*/ 1 h 17"/>
                  <a:gd name="T14" fmla="*/ 0 w 20"/>
                  <a:gd name="T15" fmla="*/ 1 h 17"/>
                  <a:gd name="T16" fmla="*/ 0 w 20"/>
                  <a:gd name="T17" fmla="*/ 1 h 17"/>
                  <a:gd name="T18" fmla="*/ 0 w 20"/>
                  <a:gd name="T19" fmla="*/ 1 h 17"/>
                  <a:gd name="T20" fmla="*/ 0 w 20"/>
                  <a:gd name="T21" fmla="*/ 1 h 17"/>
                  <a:gd name="T22" fmla="*/ 1 w 20"/>
                  <a:gd name="T23" fmla="*/ 1 h 17"/>
                  <a:gd name="T24" fmla="*/ 1 w 20"/>
                  <a:gd name="T25" fmla="*/ 1 h 17"/>
                  <a:gd name="T26" fmla="*/ 1 w 20"/>
                  <a:gd name="T27" fmla="*/ 0 h 17"/>
                  <a:gd name="T28" fmla="*/ 1 w 20"/>
                  <a:gd name="T29" fmla="*/ 0 h 17"/>
                  <a:gd name="T30" fmla="*/ 1 w 20"/>
                  <a:gd name="T31" fmla="*/ 0 h 17"/>
                  <a:gd name="T32" fmla="*/ 1 w 20"/>
                  <a:gd name="T33" fmla="*/ 0 h 17"/>
                  <a:gd name="T34" fmla="*/ 1 w 20"/>
                  <a:gd name="T35" fmla="*/ 0 h 17"/>
                  <a:gd name="T36" fmla="*/ 1 w 20"/>
                  <a:gd name="T37" fmla="*/ 0 h 17"/>
                  <a:gd name="T38" fmla="*/ 1 w 20"/>
                  <a:gd name="T39" fmla="*/ 1 h 17"/>
                  <a:gd name="T40" fmla="*/ 1 w 20"/>
                  <a:gd name="T41" fmla="*/ 1 h 17"/>
                  <a:gd name="T42" fmla="*/ 1 w 20"/>
                  <a:gd name="T43" fmla="*/ 1 h 17"/>
                  <a:gd name="T44" fmla="*/ 1 w 20"/>
                  <a:gd name="T45" fmla="*/ 1 h 17"/>
                  <a:gd name="T46" fmla="*/ 1 w 20"/>
                  <a:gd name="T47" fmla="*/ 1 h 17"/>
                  <a:gd name="T48" fmla="*/ 1 w 20"/>
                  <a:gd name="T49" fmla="*/ 1 h 17"/>
                  <a:gd name="T50" fmla="*/ 1 w 20"/>
                  <a:gd name="T51" fmla="*/ 1 h 17"/>
                  <a:gd name="T52" fmla="*/ 1 w 20"/>
                  <a:gd name="T53" fmla="*/ 1 h 17"/>
                  <a:gd name="T54" fmla="*/ 1 w 20"/>
                  <a:gd name="T55" fmla="*/ 1 h 17"/>
                  <a:gd name="T56" fmla="*/ 1 w 20"/>
                  <a:gd name="T57" fmla="*/ 1 h 17"/>
                  <a:gd name="T58" fmla="*/ 1 w 20"/>
                  <a:gd name="T59" fmla="*/ 1 h 17"/>
                  <a:gd name="T60" fmla="*/ 1 w 20"/>
                  <a:gd name="T61" fmla="*/ 1 h 17"/>
                  <a:gd name="T62" fmla="*/ 1 w 20"/>
                  <a:gd name="T63" fmla="*/ 1 h 17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0"/>
                  <a:gd name="T97" fmla="*/ 0 h 17"/>
                  <a:gd name="T98" fmla="*/ 20 w 20"/>
                  <a:gd name="T99" fmla="*/ 17 h 17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0" h="17">
                    <a:moveTo>
                      <a:pt x="5" y="16"/>
                    </a:moveTo>
                    <a:lnTo>
                      <a:pt x="5" y="16"/>
                    </a:lnTo>
                    <a:lnTo>
                      <a:pt x="4" y="16"/>
                    </a:lnTo>
                    <a:lnTo>
                      <a:pt x="3" y="15"/>
                    </a:lnTo>
                    <a:lnTo>
                      <a:pt x="2" y="15"/>
                    </a:lnTo>
                    <a:lnTo>
                      <a:pt x="2" y="14"/>
                    </a:lnTo>
                    <a:lnTo>
                      <a:pt x="1" y="14"/>
                    </a:lnTo>
                    <a:lnTo>
                      <a:pt x="1" y="13"/>
                    </a:lnTo>
                    <a:lnTo>
                      <a:pt x="1" y="12"/>
                    </a:lnTo>
                    <a:lnTo>
                      <a:pt x="0" y="12"/>
                    </a:lnTo>
                    <a:lnTo>
                      <a:pt x="0" y="11"/>
                    </a:lnTo>
                    <a:lnTo>
                      <a:pt x="0" y="10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3"/>
                    </a:lnTo>
                    <a:lnTo>
                      <a:pt x="1" y="2"/>
                    </a:lnTo>
                    <a:lnTo>
                      <a:pt x="1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5" y="0"/>
                    </a:lnTo>
                    <a:lnTo>
                      <a:pt x="16" y="1"/>
                    </a:lnTo>
                    <a:lnTo>
                      <a:pt x="16" y="2"/>
                    </a:lnTo>
                    <a:lnTo>
                      <a:pt x="17" y="3"/>
                    </a:lnTo>
                    <a:lnTo>
                      <a:pt x="18" y="4"/>
                    </a:lnTo>
                    <a:lnTo>
                      <a:pt x="18" y="5"/>
                    </a:lnTo>
                    <a:lnTo>
                      <a:pt x="18" y="6"/>
                    </a:lnTo>
                    <a:lnTo>
                      <a:pt x="18" y="7"/>
                    </a:lnTo>
                    <a:lnTo>
                      <a:pt x="19" y="8"/>
                    </a:lnTo>
                    <a:lnTo>
                      <a:pt x="18" y="8"/>
                    </a:lnTo>
                    <a:lnTo>
                      <a:pt x="18" y="9"/>
                    </a:lnTo>
                    <a:lnTo>
                      <a:pt x="18" y="10"/>
                    </a:lnTo>
                    <a:lnTo>
                      <a:pt x="18" y="11"/>
                    </a:lnTo>
                    <a:lnTo>
                      <a:pt x="17" y="12"/>
                    </a:lnTo>
                    <a:lnTo>
                      <a:pt x="16" y="13"/>
                    </a:lnTo>
                    <a:lnTo>
                      <a:pt x="16" y="14"/>
                    </a:lnTo>
                    <a:lnTo>
                      <a:pt x="15" y="15"/>
                    </a:lnTo>
                    <a:lnTo>
                      <a:pt x="13" y="15"/>
                    </a:lnTo>
                    <a:lnTo>
                      <a:pt x="13" y="16"/>
                    </a:lnTo>
                    <a:lnTo>
                      <a:pt x="12" y="16"/>
                    </a:lnTo>
                    <a:lnTo>
                      <a:pt x="5" y="16"/>
                    </a:lnTo>
                  </a:path>
                </a:pathLst>
              </a:custGeom>
              <a:solidFill>
                <a:srgbClr val="666666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30" name="Freeform 871"/>
              <p:cNvSpPr>
                <a:spLocks/>
              </p:cNvSpPr>
              <p:nvPr/>
            </p:nvSpPr>
            <p:spPr bwMode="auto">
              <a:xfrm>
                <a:off x="2478" y="3034"/>
                <a:ext cx="9" cy="18"/>
              </a:xfrm>
              <a:custGeom>
                <a:avLst/>
                <a:gdLst>
                  <a:gd name="T0" fmla="*/ 1 w 17"/>
                  <a:gd name="T1" fmla="*/ 0 h 38"/>
                  <a:gd name="T2" fmla="*/ 0 w 17"/>
                  <a:gd name="T3" fmla="*/ 0 h 38"/>
                  <a:gd name="T4" fmla="*/ 1 w 17"/>
                  <a:gd name="T5" fmla="*/ 0 h 38"/>
                  <a:gd name="T6" fmla="*/ 1 w 17"/>
                  <a:gd name="T7" fmla="*/ 0 h 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38"/>
                  <a:gd name="T14" fmla="*/ 17 w 17"/>
                  <a:gd name="T15" fmla="*/ 38 h 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38">
                    <a:moveTo>
                      <a:pt x="8" y="0"/>
                    </a:moveTo>
                    <a:lnTo>
                      <a:pt x="0" y="22"/>
                    </a:lnTo>
                    <a:lnTo>
                      <a:pt x="16" y="22"/>
                    </a:lnTo>
                    <a:lnTo>
                      <a:pt x="16" y="37"/>
                    </a:lnTo>
                  </a:path>
                </a:pathLst>
              </a:custGeom>
              <a:noFill/>
              <a:ln w="12700" cap="rnd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31" name="Freeform 872"/>
              <p:cNvSpPr>
                <a:spLocks/>
              </p:cNvSpPr>
              <p:nvPr/>
            </p:nvSpPr>
            <p:spPr bwMode="auto">
              <a:xfrm>
                <a:off x="2512" y="3034"/>
                <a:ext cx="9" cy="35"/>
              </a:xfrm>
              <a:custGeom>
                <a:avLst/>
                <a:gdLst>
                  <a:gd name="T0" fmla="*/ 0 w 17"/>
                  <a:gd name="T1" fmla="*/ 0 h 72"/>
                  <a:gd name="T2" fmla="*/ 1 w 17"/>
                  <a:gd name="T3" fmla="*/ 0 h 72"/>
                  <a:gd name="T4" fmla="*/ 0 w 17"/>
                  <a:gd name="T5" fmla="*/ 0 h 72"/>
                  <a:gd name="T6" fmla="*/ 0 w 17"/>
                  <a:gd name="T7" fmla="*/ 1 h 7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72"/>
                  <a:gd name="T14" fmla="*/ 17 w 17"/>
                  <a:gd name="T15" fmla="*/ 72 h 7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72">
                    <a:moveTo>
                      <a:pt x="0" y="0"/>
                    </a:moveTo>
                    <a:lnTo>
                      <a:pt x="16" y="22"/>
                    </a:lnTo>
                    <a:lnTo>
                      <a:pt x="0" y="22"/>
                    </a:lnTo>
                    <a:lnTo>
                      <a:pt x="0" y="71"/>
                    </a:lnTo>
                  </a:path>
                </a:pathLst>
              </a:custGeom>
              <a:noFill/>
              <a:ln w="12700" cap="rnd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32" name="Freeform 873"/>
              <p:cNvSpPr>
                <a:spLocks/>
              </p:cNvSpPr>
              <p:nvPr/>
            </p:nvSpPr>
            <p:spPr bwMode="auto">
              <a:xfrm>
                <a:off x="2439" y="3055"/>
                <a:ext cx="146" cy="19"/>
              </a:xfrm>
              <a:custGeom>
                <a:avLst/>
                <a:gdLst>
                  <a:gd name="T0" fmla="*/ 0 w 250"/>
                  <a:gd name="T1" fmla="*/ 0 h 41"/>
                  <a:gd name="T2" fmla="*/ 10 w 250"/>
                  <a:gd name="T3" fmla="*/ 0 h 41"/>
                  <a:gd name="T4" fmla="*/ 9 w 250"/>
                  <a:gd name="T5" fmla="*/ 0 h 41"/>
                  <a:gd name="T6" fmla="*/ 1 w 250"/>
                  <a:gd name="T7" fmla="*/ 0 h 41"/>
                  <a:gd name="T8" fmla="*/ 0 w 250"/>
                  <a:gd name="T9" fmla="*/ 0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0"/>
                  <a:gd name="T16" fmla="*/ 0 h 41"/>
                  <a:gd name="T17" fmla="*/ 250 w 250"/>
                  <a:gd name="T18" fmla="*/ 41 h 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0" h="41">
                    <a:moveTo>
                      <a:pt x="0" y="40"/>
                    </a:moveTo>
                    <a:lnTo>
                      <a:pt x="249" y="40"/>
                    </a:lnTo>
                    <a:lnTo>
                      <a:pt x="240" y="0"/>
                    </a:lnTo>
                    <a:lnTo>
                      <a:pt x="10" y="0"/>
                    </a:lnTo>
                    <a:lnTo>
                      <a:pt x="0" y="40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33" name="Freeform 874"/>
              <p:cNvSpPr>
                <a:spLocks/>
              </p:cNvSpPr>
              <p:nvPr/>
            </p:nvSpPr>
            <p:spPr bwMode="auto">
              <a:xfrm>
                <a:off x="2439" y="3074"/>
                <a:ext cx="147" cy="8"/>
              </a:xfrm>
              <a:custGeom>
                <a:avLst/>
                <a:gdLst>
                  <a:gd name="T0" fmla="*/ 0 w 251"/>
                  <a:gd name="T1" fmla="*/ 0 h 17"/>
                  <a:gd name="T2" fmla="*/ 0 w 251"/>
                  <a:gd name="T3" fmla="*/ 0 h 17"/>
                  <a:gd name="T4" fmla="*/ 10 w 251"/>
                  <a:gd name="T5" fmla="*/ 0 h 17"/>
                  <a:gd name="T6" fmla="*/ 10 w 251"/>
                  <a:gd name="T7" fmla="*/ 0 h 17"/>
                  <a:gd name="T8" fmla="*/ 0 w 251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1"/>
                  <a:gd name="T16" fmla="*/ 0 h 17"/>
                  <a:gd name="T17" fmla="*/ 251 w 251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1" h="17">
                    <a:moveTo>
                      <a:pt x="0" y="16"/>
                    </a:moveTo>
                    <a:lnTo>
                      <a:pt x="0" y="0"/>
                    </a:lnTo>
                    <a:lnTo>
                      <a:pt x="249" y="0"/>
                    </a:lnTo>
                    <a:lnTo>
                      <a:pt x="250" y="16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CCCC6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34" name="Freeform 875"/>
              <p:cNvSpPr>
                <a:spLocks/>
              </p:cNvSpPr>
              <p:nvPr/>
            </p:nvSpPr>
            <p:spPr bwMode="auto">
              <a:xfrm>
                <a:off x="2449" y="3057"/>
                <a:ext cx="131" cy="14"/>
              </a:xfrm>
              <a:custGeom>
                <a:avLst/>
                <a:gdLst>
                  <a:gd name="T0" fmla="*/ 0 w 223"/>
                  <a:gd name="T1" fmla="*/ 1 h 28"/>
                  <a:gd name="T2" fmla="*/ 9 w 223"/>
                  <a:gd name="T3" fmla="*/ 1 h 28"/>
                  <a:gd name="T4" fmla="*/ 9 w 223"/>
                  <a:gd name="T5" fmla="*/ 0 h 28"/>
                  <a:gd name="T6" fmla="*/ 1 w 223"/>
                  <a:gd name="T7" fmla="*/ 0 h 28"/>
                  <a:gd name="T8" fmla="*/ 0 w 223"/>
                  <a:gd name="T9" fmla="*/ 1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3"/>
                  <a:gd name="T16" fmla="*/ 0 h 28"/>
                  <a:gd name="T17" fmla="*/ 223 w 223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3" h="28">
                    <a:moveTo>
                      <a:pt x="0" y="27"/>
                    </a:moveTo>
                    <a:lnTo>
                      <a:pt x="222" y="27"/>
                    </a:lnTo>
                    <a:lnTo>
                      <a:pt x="214" y="0"/>
                    </a:lnTo>
                    <a:lnTo>
                      <a:pt x="8" y="0"/>
                    </a:lnTo>
                    <a:lnTo>
                      <a:pt x="0" y="27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9F9FA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35" name="Freeform 877"/>
              <p:cNvSpPr>
                <a:spLocks/>
              </p:cNvSpPr>
              <p:nvPr/>
            </p:nvSpPr>
            <p:spPr bwMode="auto">
              <a:xfrm>
                <a:off x="2444" y="3245"/>
                <a:ext cx="121" cy="10"/>
              </a:xfrm>
              <a:custGeom>
                <a:avLst/>
                <a:gdLst>
                  <a:gd name="T0" fmla="*/ 0 w 206"/>
                  <a:gd name="T1" fmla="*/ 1 h 20"/>
                  <a:gd name="T2" fmla="*/ 0 w 206"/>
                  <a:gd name="T3" fmla="*/ 0 h 20"/>
                  <a:gd name="T4" fmla="*/ 8 w 206"/>
                  <a:gd name="T5" fmla="*/ 0 h 20"/>
                  <a:gd name="T6" fmla="*/ 8 w 206"/>
                  <a:gd name="T7" fmla="*/ 1 h 20"/>
                  <a:gd name="T8" fmla="*/ 0 w 206"/>
                  <a:gd name="T9" fmla="*/ 1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6"/>
                  <a:gd name="T16" fmla="*/ 0 h 20"/>
                  <a:gd name="T17" fmla="*/ 206 w 206"/>
                  <a:gd name="T18" fmla="*/ 20 h 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6" h="20">
                    <a:moveTo>
                      <a:pt x="0" y="19"/>
                    </a:moveTo>
                    <a:lnTo>
                      <a:pt x="0" y="0"/>
                    </a:lnTo>
                    <a:lnTo>
                      <a:pt x="205" y="0"/>
                    </a:lnTo>
                    <a:lnTo>
                      <a:pt x="205" y="19"/>
                    </a:lnTo>
                    <a:lnTo>
                      <a:pt x="0" y="19"/>
                    </a:lnTo>
                  </a:path>
                </a:pathLst>
              </a:custGeom>
              <a:solidFill>
                <a:srgbClr val="666666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36" name="Freeform 878"/>
              <p:cNvSpPr>
                <a:spLocks/>
              </p:cNvSpPr>
              <p:nvPr/>
            </p:nvSpPr>
            <p:spPr bwMode="auto">
              <a:xfrm>
                <a:off x="2439" y="3200"/>
                <a:ext cx="130" cy="16"/>
              </a:xfrm>
              <a:custGeom>
                <a:avLst/>
                <a:gdLst>
                  <a:gd name="T0" fmla="*/ 8 w 220"/>
                  <a:gd name="T1" fmla="*/ 0 h 34"/>
                  <a:gd name="T2" fmla="*/ 9 w 220"/>
                  <a:gd name="T3" fmla="*/ 0 h 34"/>
                  <a:gd name="T4" fmla="*/ 0 w 220"/>
                  <a:gd name="T5" fmla="*/ 0 h 34"/>
                  <a:gd name="T6" fmla="*/ 1 w 220"/>
                  <a:gd name="T7" fmla="*/ 0 h 34"/>
                  <a:gd name="T8" fmla="*/ 8 w 220"/>
                  <a:gd name="T9" fmla="*/ 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0"/>
                  <a:gd name="T16" fmla="*/ 0 h 34"/>
                  <a:gd name="T17" fmla="*/ 220 w 220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0" h="34">
                    <a:moveTo>
                      <a:pt x="189" y="0"/>
                    </a:moveTo>
                    <a:lnTo>
                      <a:pt x="219" y="33"/>
                    </a:lnTo>
                    <a:lnTo>
                      <a:pt x="0" y="33"/>
                    </a:lnTo>
                    <a:lnTo>
                      <a:pt x="29" y="0"/>
                    </a:lnTo>
                    <a:lnTo>
                      <a:pt x="189" y="0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37" name="Freeform 879"/>
              <p:cNvSpPr>
                <a:spLocks/>
              </p:cNvSpPr>
              <p:nvPr/>
            </p:nvSpPr>
            <p:spPr bwMode="auto">
              <a:xfrm>
                <a:off x="2473" y="3198"/>
                <a:ext cx="61" cy="11"/>
              </a:xfrm>
              <a:custGeom>
                <a:avLst/>
                <a:gdLst>
                  <a:gd name="T0" fmla="*/ 4 w 104"/>
                  <a:gd name="T1" fmla="*/ 0 h 24"/>
                  <a:gd name="T2" fmla="*/ 4 w 104"/>
                  <a:gd name="T3" fmla="*/ 0 h 24"/>
                  <a:gd name="T4" fmla="*/ 4 w 104"/>
                  <a:gd name="T5" fmla="*/ 0 h 24"/>
                  <a:gd name="T6" fmla="*/ 4 w 104"/>
                  <a:gd name="T7" fmla="*/ 0 h 24"/>
                  <a:gd name="T8" fmla="*/ 4 w 104"/>
                  <a:gd name="T9" fmla="*/ 0 h 24"/>
                  <a:gd name="T10" fmla="*/ 3 w 104"/>
                  <a:gd name="T11" fmla="*/ 0 h 24"/>
                  <a:gd name="T12" fmla="*/ 3 w 104"/>
                  <a:gd name="T13" fmla="*/ 0 h 24"/>
                  <a:gd name="T14" fmla="*/ 3 w 104"/>
                  <a:gd name="T15" fmla="*/ 0 h 24"/>
                  <a:gd name="T16" fmla="*/ 2 w 104"/>
                  <a:gd name="T17" fmla="*/ 0 h 24"/>
                  <a:gd name="T18" fmla="*/ 2 w 104"/>
                  <a:gd name="T19" fmla="*/ 0 h 24"/>
                  <a:gd name="T20" fmla="*/ 2 w 104"/>
                  <a:gd name="T21" fmla="*/ 0 h 24"/>
                  <a:gd name="T22" fmla="*/ 1 w 104"/>
                  <a:gd name="T23" fmla="*/ 0 h 24"/>
                  <a:gd name="T24" fmla="*/ 1 w 104"/>
                  <a:gd name="T25" fmla="*/ 0 h 24"/>
                  <a:gd name="T26" fmla="*/ 1 w 104"/>
                  <a:gd name="T27" fmla="*/ 0 h 24"/>
                  <a:gd name="T28" fmla="*/ 1 w 104"/>
                  <a:gd name="T29" fmla="*/ 0 h 24"/>
                  <a:gd name="T30" fmla="*/ 1 w 104"/>
                  <a:gd name="T31" fmla="*/ 0 h 24"/>
                  <a:gd name="T32" fmla="*/ 1 w 104"/>
                  <a:gd name="T33" fmla="*/ 0 h 24"/>
                  <a:gd name="T34" fmla="*/ 0 w 104"/>
                  <a:gd name="T35" fmla="*/ 0 h 24"/>
                  <a:gd name="T36" fmla="*/ 0 w 104"/>
                  <a:gd name="T37" fmla="*/ 0 h 24"/>
                  <a:gd name="T38" fmla="*/ 1 w 104"/>
                  <a:gd name="T39" fmla="*/ 0 h 24"/>
                  <a:gd name="T40" fmla="*/ 1 w 104"/>
                  <a:gd name="T41" fmla="*/ 0 h 24"/>
                  <a:gd name="T42" fmla="*/ 1 w 104"/>
                  <a:gd name="T43" fmla="*/ 0 h 24"/>
                  <a:gd name="T44" fmla="*/ 1 w 104"/>
                  <a:gd name="T45" fmla="*/ 0 h 24"/>
                  <a:gd name="T46" fmla="*/ 1 w 104"/>
                  <a:gd name="T47" fmla="*/ 0 h 24"/>
                  <a:gd name="T48" fmla="*/ 1 w 104"/>
                  <a:gd name="T49" fmla="*/ 0 h 24"/>
                  <a:gd name="T50" fmla="*/ 2 w 104"/>
                  <a:gd name="T51" fmla="*/ 0 h 24"/>
                  <a:gd name="T52" fmla="*/ 2 w 104"/>
                  <a:gd name="T53" fmla="*/ 0 h 24"/>
                  <a:gd name="T54" fmla="*/ 2 w 104"/>
                  <a:gd name="T55" fmla="*/ 0 h 24"/>
                  <a:gd name="T56" fmla="*/ 3 w 104"/>
                  <a:gd name="T57" fmla="*/ 0 h 24"/>
                  <a:gd name="T58" fmla="*/ 3 w 104"/>
                  <a:gd name="T59" fmla="*/ 0 h 24"/>
                  <a:gd name="T60" fmla="*/ 3 w 104"/>
                  <a:gd name="T61" fmla="*/ 0 h 24"/>
                  <a:gd name="T62" fmla="*/ 4 w 104"/>
                  <a:gd name="T63" fmla="*/ 0 h 24"/>
                  <a:gd name="T64" fmla="*/ 4 w 104"/>
                  <a:gd name="T65" fmla="*/ 0 h 24"/>
                  <a:gd name="T66" fmla="*/ 4 w 104"/>
                  <a:gd name="T67" fmla="*/ 0 h 24"/>
                  <a:gd name="T68" fmla="*/ 4 w 104"/>
                  <a:gd name="T69" fmla="*/ 0 h 24"/>
                  <a:gd name="T70" fmla="*/ 4 w 104"/>
                  <a:gd name="T71" fmla="*/ 0 h 2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04"/>
                  <a:gd name="T109" fmla="*/ 0 h 24"/>
                  <a:gd name="T110" fmla="*/ 104 w 104"/>
                  <a:gd name="T111" fmla="*/ 24 h 2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04" h="24">
                    <a:moveTo>
                      <a:pt x="103" y="11"/>
                    </a:moveTo>
                    <a:lnTo>
                      <a:pt x="102" y="10"/>
                    </a:lnTo>
                    <a:lnTo>
                      <a:pt x="102" y="9"/>
                    </a:lnTo>
                    <a:lnTo>
                      <a:pt x="101" y="8"/>
                    </a:lnTo>
                    <a:lnTo>
                      <a:pt x="99" y="7"/>
                    </a:lnTo>
                    <a:lnTo>
                      <a:pt x="97" y="6"/>
                    </a:lnTo>
                    <a:lnTo>
                      <a:pt x="95" y="6"/>
                    </a:lnTo>
                    <a:lnTo>
                      <a:pt x="93" y="4"/>
                    </a:lnTo>
                    <a:lnTo>
                      <a:pt x="90" y="4"/>
                    </a:lnTo>
                    <a:lnTo>
                      <a:pt x="87" y="3"/>
                    </a:lnTo>
                    <a:lnTo>
                      <a:pt x="84" y="2"/>
                    </a:lnTo>
                    <a:lnTo>
                      <a:pt x="80" y="2"/>
                    </a:lnTo>
                    <a:lnTo>
                      <a:pt x="76" y="1"/>
                    </a:lnTo>
                    <a:lnTo>
                      <a:pt x="72" y="1"/>
                    </a:lnTo>
                    <a:lnTo>
                      <a:pt x="69" y="0"/>
                    </a:lnTo>
                    <a:lnTo>
                      <a:pt x="64" y="0"/>
                    </a:lnTo>
                    <a:lnTo>
                      <a:pt x="60" y="0"/>
                    </a:lnTo>
                    <a:lnTo>
                      <a:pt x="55" y="0"/>
                    </a:lnTo>
                    <a:lnTo>
                      <a:pt x="51" y="0"/>
                    </a:lnTo>
                    <a:lnTo>
                      <a:pt x="46" y="0"/>
                    </a:lnTo>
                    <a:lnTo>
                      <a:pt x="42" y="0"/>
                    </a:lnTo>
                    <a:lnTo>
                      <a:pt x="37" y="0"/>
                    </a:lnTo>
                    <a:lnTo>
                      <a:pt x="33" y="0"/>
                    </a:lnTo>
                    <a:lnTo>
                      <a:pt x="29" y="1"/>
                    </a:lnTo>
                    <a:lnTo>
                      <a:pt x="25" y="1"/>
                    </a:lnTo>
                    <a:lnTo>
                      <a:pt x="21" y="2"/>
                    </a:lnTo>
                    <a:lnTo>
                      <a:pt x="17" y="2"/>
                    </a:lnTo>
                    <a:lnTo>
                      <a:pt x="14" y="3"/>
                    </a:lnTo>
                    <a:lnTo>
                      <a:pt x="12" y="4"/>
                    </a:lnTo>
                    <a:lnTo>
                      <a:pt x="8" y="4"/>
                    </a:lnTo>
                    <a:lnTo>
                      <a:pt x="6" y="6"/>
                    </a:lnTo>
                    <a:lnTo>
                      <a:pt x="4" y="6"/>
                    </a:lnTo>
                    <a:lnTo>
                      <a:pt x="3" y="7"/>
                    </a:lnTo>
                    <a:lnTo>
                      <a:pt x="1" y="8"/>
                    </a:lnTo>
                    <a:lnTo>
                      <a:pt x="0" y="9"/>
                    </a:lnTo>
                    <a:lnTo>
                      <a:pt x="0" y="10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3"/>
                    </a:lnTo>
                    <a:lnTo>
                      <a:pt x="1" y="14"/>
                    </a:lnTo>
                    <a:lnTo>
                      <a:pt x="3" y="15"/>
                    </a:lnTo>
                    <a:lnTo>
                      <a:pt x="4" y="16"/>
                    </a:lnTo>
                    <a:lnTo>
                      <a:pt x="6" y="17"/>
                    </a:lnTo>
                    <a:lnTo>
                      <a:pt x="8" y="17"/>
                    </a:lnTo>
                    <a:lnTo>
                      <a:pt x="12" y="18"/>
                    </a:lnTo>
                    <a:lnTo>
                      <a:pt x="14" y="19"/>
                    </a:lnTo>
                    <a:lnTo>
                      <a:pt x="17" y="20"/>
                    </a:lnTo>
                    <a:lnTo>
                      <a:pt x="21" y="20"/>
                    </a:lnTo>
                    <a:lnTo>
                      <a:pt x="25" y="21"/>
                    </a:lnTo>
                    <a:lnTo>
                      <a:pt x="29" y="21"/>
                    </a:lnTo>
                    <a:lnTo>
                      <a:pt x="33" y="22"/>
                    </a:lnTo>
                    <a:lnTo>
                      <a:pt x="37" y="22"/>
                    </a:lnTo>
                    <a:lnTo>
                      <a:pt x="42" y="22"/>
                    </a:lnTo>
                    <a:lnTo>
                      <a:pt x="46" y="23"/>
                    </a:lnTo>
                    <a:lnTo>
                      <a:pt x="51" y="23"/>
                    </a:lnTo>
                    <a:lnTo>
                      <a:pt x="55" y="23"/>
                    </a:lnTo>
                    <a:lnTo>
                      <a:pt x="60" y="22"/>
                    </a:lnTo>
                    <a:lnTo>
                      <a:pt x="64" y="22"/>
                    </a:lnTo>
                    <a:lnTo>
                      <a:pt x="69" y="22"/>
                    </a:lnTo>
                    <a:lnTo>
                      <a:pt x="72" y="21"/>
                    </a:lnTo>
                    <a:lnTo>
                      <a:pt x="76" y="21"/>
                    </a:lnTo>
                    <a:lnTo>
                      <a:pt x="80" y="20"/>
                    </a:lnTo>
                    <a:lnTo>
                      <a:pt x="84" y="20"/>
                    </a:lnTo>
                    <a:lnTo>
                      <a:pt x="87" y="19"/>
                    </a:lnTo>
                    <a:lnTo>
                      <a:pt x="90" y="18"/>
                    </a:lnTo>
                    <a:lnTo>
                      <a:pt x="93" y="17"/>
                    </a:lnTo>
                    <a:lnTo>
                      <a:pt x="95" y="17"/>
                    </a:lnTo>
                    <a:lnTo>
                      <a:pt x="97" y="16"/>
                    </a:lnTo>
                    <a:lnTo>
                      <a:pt x="99" y="15"/>
                    </a:lnTo>
                    <a:lnTo>
                      <a:pt x="101" y="14"/>
                    </a:lnTo>
                    <a:lnTo>
                      <a:pt x="102" y="13"/>
                    </a:lnTo>
                    <a:lnTo>
                      <a:pt x="102" y="12"/>
                    </a:lnTo>
                    <a:lnTo>
                      <a:pt x="103" y="11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38" name="Freeform 880"/>
              <p:cNvSpPr>
                <a:spLocks/>
              </p:cNvSpPr>
              <p:nvPr/>
            </p:nvSpPr>
            <p:spPr bwMode="auto">
              <a:xfrm>
                <a:off x="2473" y="3203"/>
                <a:ext cx="61" cy="9"/>
              </a:xfrm>
              <a:custGeom>
                <a:avLst/>
                <a:gdLst>
                  <a:gd name="T0" fmla="*/ 4 w 104"/>
                  <a:gd name="T1" fmla="*/ 1 h 17"/>
                  <a:gd name="T2" fmla="*/ 4 w 104"/>
                  <a:gd name="T3" fmla="*/ 1 h 17"/>
                  <a:gd name="T4" fmla="*/ 4 w 104"/>
                  <a:gd name="T5" fmla="*/ 1 h 17"/>
                  <a:gd name="T6" fmla="*/ 4 w 104"/>
                  <a:gd name="T7" fmla="*/ 1 h 17"/>
                  <a:gd name="T8" fmla="*/ 4 w 104"/>
                  <a:gd name="T9" fmla="*/ 1 h 17"/>
                  <a:gd name="T10" fmla="*/ 3 w 104"/>
                  <a:gd name="T11" fmla="*/ 1 h 17"/>
                  <a:gd name="T12" fmla="*/ 3 w 104"/>
                  <a:gd name="T13" fmla="*/ 1 h 17"/>
                  <a:gd name="T14" fmla="*/ 3 w 104"/>
                  <a:gd name="T15" fmla="*/ 1 h 17"/>
                  <a:gd name="T16" fmla="*/ 2 w 104"/>
                  <a:gd name="T17" fmla="*/ 1 h 17"/>
                  <a:gd name="T18" fmla="*/ 2 w 104"/>
                  <a:gd name="T19" fmla="*/ 1 h 17"/>
                  <a:gd name="T20" fmla="*/ 2 w 104"/>
                  <a:gd name="T21" fmla="*/ 1 h 17"/>
                  <a:gd name="T22" fmla="*/ 1 w 104"/>
                  <a:gd name="T23" fmla="*/ 1 h 17"/>
                  <a:gd name="T24" fmla="*/ 1 w 104"/>
                  <a:gd name="T25" fmla="*/ 1 h 17"/>
                  <a:gd name="T26" fmla="*/ 1 w 104"/>
                  <a:gd name="T27" fmla="*/ 1 h 17"/>
                  <a:gd name="T28" fmla="*/ 1 w 104"/>
                  <a:gd name="T29" fmla="*/ 1 h 17"/>
                  <a:gd name="T30" fmla="*/ 1 w 104"/>
                  <a:gd name="T31" fmla="*/ 1 h 17"/>
                  <a:gd name="T32" fmla="*/ 1 w 104"/>
                  <a:gd name="T33" fmla="*/ 1 h 17"/>
                  <a:gd name="T34" fmla="*/ 0 w 104"/>
                  <a:gd name="T35" fmla="*/ 1 h 17"/>
                  <a:gd name="T36" fmla="*/ 0 w 104"/>
                  <a:gd name="T37" fmla="*/ 0 h 17"/>
                  <a:gd name="T38" fmla="*/ 0 w 104"/>
                  <a:gd name="T39" fmla="*/ 1 h 17"/>
                  <a:gd name="T40" fmla="*/ 1 w 104"/>
                  <a:gd name="T41" fmla="*/ 1 h 17"/>
                  <a:gd name="T42" fmla="*/ 1 w 104"/>
                  <a:gd name="T43" fmla="*/ 1 h 17"/>
                  <a:gd name="T44" fmla="*/ 1 w 104"/>
                  <a:gd name="T45" fmla="*/ 1 h 17"/>
                  <a:gd name="T46" fmla="*/ 1 w 104"/>
                  <a:gd name="T47" fmla="*/ 1 h 17"/>
                  <a:gd name="T48" fmla="*/ 1 w 104"/>
                  <a:gd name="T49" fmla="*/ 1 h 17"/>
                  <a:gd name="T50" fmla="*/ 1 w 104"/>
                  <a:gd name="T51" fmla="*/ 1 h 17"/>
                  <a:gd name="T52" fmla="*/ 2 w 104"/>
                  <a:gd name="T53" fmla="*/ 1 h 17"/>
                  <a:gd name="T54" fmla="*/ 2 w 104"/>
                  <a:gd name="T55" fmla="*/ 1 h 17"/>
                  <a:gd name="T56" fmla="*/ 2 w 104"/>
                  <a:gd name="T57" fmla="*/ 1 h 17"/>
                  <a:gd name="T58" fmla="*/ 3 w 104"/>
                  <a:gd name="T59" fmla="*/ 1 h 17"/>
                  <a:gd name="T60" fmla="*/ 3 w 104"/>
                  <a:gd name="T61" fmla="*/ 1 h 17"/>
                  <a:gd name="T62" fmla="*/ 4 w 104"/>
                  <a:gd name="T63" fmla="*/ 1 h 17"/>
                  <a:gd name="T64" fmla="*/ 4 w 104"/>
                  <a:gd name="T65" fmla="*/ 1 h 17"/>
                  <a:gd name="T66" fmla="*/ 4 w 104"/>
                  <a:gd name="T67" fmla="*/ 1 h 17"/>
                  <a:gd name="T68" fmla="*/ 4 w 104"/>
                  <a:gd name="T69" fmla="*/ 1 h 17"/>
                  <a:gd name="T70" fmla="*/ 4 w 104"/>
                  <a:gd name="T71" fmla="*/ 1 h 17"/>
                  <a:gd name="T72" fmla="*/ 4 w 104"/>
                  <a:gd name="T73" fmla="*/ 0 h 1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04"/>
                  <a:gd name="T112" fmla="*/ 0 h 17"/>
                  <a:gd name="T113" fmla="*/ 104 w 104"/>
                  <a:gd name="T114" fmla="*/ 17 h 1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04" h="17">
                    <a:moveTo>
                      <a:pt x="103" y="5"/>
                    </a:moveTo>
                    <a:lnTo>
                      <a:pt x="102" y="6"/>
                    </a:lnTo>
                    <a:lnTo>
                      <a:pt x="102" y="7"/>
                    </a:lnTo>
                    <a:lnTo>
                      <a:pt x="101" y="8"/>
                    </a:lnTo>
                    <a:lnTo>
                      <a:pt x="99" y="8"/>
                    </a:lnTo>
                    <a:lnTo>
                      <a:pt x="97" y="10"/>
                    </a:lnTo>
                    <a:lnTo>
                      <a:pt x="95" y="10"/>
                    </a:lnTo>
                    <a:lnTo>
                      <a:pt x="93" y="11"/>
                    </a:lnTo>
                    <a:lnTo>
                      <a:pt x="90" y="12"/>
                    </a:lnTo>
                    <a:lnTo>
                      <a:pt x="87" y="12"/>
                    </a:lnTo>
                    <a:lnTo>
                      <a:pt x="84" y="13"/>
                    </a:lnTo>
                    <a:lnTo>
                      <a:pt x="80" y="14"/>
                    </a:lnTo>
                    <a:lnTo>
                      <a:pt x="76" y="14"/>
                    </a:lnTo>
                    <a:lnTo>
                      <a:pt x="72" y="14"/>
                    </a:lnTo>
                    <a:lnTo>
                      <a:pt x="69" y="15"/>
                    </a:lnTo>
                    <a:lnTo>
                      <a:pt x="64" y="15"/>
                    </a:lnTo>
                    <a:lnTo>
                      <a:pt x="60" y="16"/>
                    </a:lnTo>
                    <a:lnTo>
                      <a:pt x="55" y="16"/>
                    </a:lnTo>
                    <a:lnTo>
                      <a:pt x="51" y="16"/>
                    </a:lnTo>
                    <a:lnTo>
                      <a:pt x="46" y="16"/>
                    </a:lnTo>
                    <a:lnTo>
                      <a:pt x="42" y="16"/>
                    </a:lnTo>
                    <a:lnTo>
                      <a:pt x="37" y="15"/>
                    </a:lnTo>
                    <a:lnTo>
                      <a:pt x="33" y="15"/>
                    </a:lnTo>
                    <a:lnTo>
                      <a:pt x="29" y="14"/>
                    </a:lnTo>
                    <a:lnTo>
                      <a:pt x="25" y="14"/>
                    </a:lnTo>
                    <a:lnTo>
                      <a:pt x="21" y="14"/>
                    </a:lnTo>
                    <a:lnTo>
                      <a:pt x="17" y="13"/>
                    </a:lnTo>
                    <a:lnTo>
                      <a:pt x="14" y="12"/>
                    </a:lnTo>
                    <a:lnTo>
                      <a:pt x="12" y="12"/>
                    </a:lnTo>
                    <a:lnTo>
                      <a:pt x="8" y="11"/>
                    </a:lnTo>
                    <a:lnTo>
                      <a:pt x="6" y="10"/>
                    </a:lnTo>
                    <a:lnTo>
                      <a:pt x="4" y="10"/>
                    </a:lnTo>
                    <a:lnTo>
                      <a:pt x="3" y="8"/>
                    </a:lnTo>
                    <a:lnTo>
                      <a:pt x="1" y="8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1" y="2"/>
                    </a:lnTo>
                    <a:lnTo>
                      <a:pt x="3" y="4"/>
                    </a:lnTo>
                    <a:lnTo>
                      <a:pt x="4" y="4"/>
                    </a:lnTo>
                    <a:lnTo>
                      <a:pt x="6" y="5"/>
                    </a:lnTo>
                    <a:lnTo>
                      <a:pt x="8" y="6"/>
                    </a:lnTo>
                    <a:lnTo>
                      <a:pt x="12" y="6"/>
                    </a:lnTo>
                    <a:lnTo>
                      <a:pt x="14" y="7"/>
                    </a:lnTo>
                    <a:lnTo>
                      <a:pt x="17" y="8"/>
                    </a:lnTo>
                    <a:lnTo>
                      <a:pt x="21" y="8"/>
                    </a:lnTo>
                    <a:lnTo>
                      <a:pt x="25" y="9"/>
                    </a:lnTo>
                    <a:lnTo>
                      <a:pt x="29" y="10"/>
                    </a:lnTo>
                    <a:lnTo>
                      <a:pt x="33" y="10"/>
                    </a:lnTo>
                    <a:lnTo>
                      <a:pt x="37" y="10"/>
                    </a:lnTo>
                    <a:lnTo>
                      <a:pt x="42" y="10"/>
                    </a:lnTo>
                    <a:lnTo>
                      <a:pt x="46" y="10"/>
                    </a:lnTo>
                    <a:lnTo>
                      <a:pt x="51" y="10"/>
                    </a:lnTo>
                    <a:lnTo>
                      <a:pt x="55" y="10"/>
                    </a:lnTo>
                    <a:lnTo>
                      <a:pt x="60" y="10"/>
                    </a:lnTo>
                    <a:lnTo>
                      <a:pt x="64" y="10"/>
                    </a:lnTo>
                    <a:lnTo>
                      <a:pt x="69" y="10"/>
                    </a:lnTo>
                    <a:lnTo>
                      <a:pt x="72" y="10"/>
                    </a:lnTo>
                    <a:lnTo>
                      <a:pt x="76" y="9"/>
                    </a:lnTo>
                    <a:lnTo>
                      <a:pt x="80" y="8"/>
                    </a:lnTo>
                    <a:lnTo>
                      <a:pt x="84" y="8"/>
                    </a:lnTo>
                    <a:lnTo>
                      <a:pt x="87" y="7"/>
                    </a:lnTo>
                    <a:lnTo>
                      <a:pt x="90" y="6"/>
                    </a:lnTo>
                    <a:lnTo>
                      <a:pt x="93" y="6"/>
                    </a:lnTo>
                    <a:lnTo>
                      <a:pt x="95" y="5"/>
                    </a:lnTo>
                    <a:lnTo>
                      <a:pt x="97" y="4"/>
                    </a:lnTo>
                    <a:lnTo>
                      <a:pt x="99" y="4"/>
                    </a:lnTo>
                    <a:lnTo>
                      <a:pt x="101" y="2"/>
                    </a:lnTo>
                    <a:lnTo>
                      <a:pt x="102" y="2"/>
                    </a:lnTo>
                    <a:lnTo>
                      <a:pt x="102" y="1"/>
                    </a:lnTo>
                    <a:lnTo>
                      <a:pt x="103" y="0"/>
                    </a:lnTo>
                    <a:lnTo>
                      <a:pt x="103" y="5"/>
                    </a:lnTo>
                  </a:path>
                </a:pathLst>
              </a:custGeom>
              <a:solidFill>
                <a:srgbClr val="666666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39" name="Freeform 881"/>
              <p:cNvSpPr>
                <a:spLocks/>
              </p:cNvSpPr>
              <p:nvPr/>
            </p:nvSpPr>
            <p:spPr bwMode="auto">
              <a:xfrm>
                <a:off x="2439" y="3215"/>
                <a:ext cx="130" cy="38"/>
              </a:xfrm>
              <a:custGeom>
                <a:avLst/>
                <a:gdLst>
                  <a:gd name="T0" fmla="*/ 0 w 220"/>
                  <a:gd name="T1" fmla="*/ 1 h 77"/>
                  <a:gd name="T2" fmla="*/ 9 w 220"/>
                  <a:gd name="T3" fmla="*/ 1 h 77"/>
                  <a:gd name="T4" fmla="*/ 9 w 220"/>
                  <a:gd name="T5" fmla="*/ 0 h 77"/>
                  <a:gd name="T6" fmla="*/ 0 w 220"/>
                  <a:gd name="T7" fmla="*/ 0 h 77"/>
                  <a:gd name="T8" fmla="*/ 0 w 220"/>
                  <a:gd name="T9" fmla="*/ 1 h 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0"/>
                  <a:gd name="T16" fmla="*/ 0 h 77"/>
                  <a:gd name="T17" fmla="*/ 220 w 220"/>
                  <a:gd name="T18" fmla="*/ 77 h 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0" h="77">
                    <a:moveTo>
                      <a:pt x="0" y="76"/>
                    </a:moveTo>
                    <a:lnTo>
                      <a:pt x="219" y="76"/>
                    </a:lnTo>
                    <a:lnTo>
                      <a:pt x="219" y="0"/>
                    </a:lnTo>
                    <a:lnTo>
                      <a:pt x="0" y="0"/>
                    </a:lnTo>
                    <a:lnTo>
                      <a:pt x="0" y="76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40" name="Freeform 882"/>
              <p:cNvSpPr>
                <a:spLocks/>
              </p:cNvSpPr>
              <p:nvPr/>
            </p:nvSpPr>
            <p:spPr bwMode="auto">
              <a:xfrm>
                <a:off x="2460" y="3198"/>
                <a:ext cx="40" cy="8"/>
              </a:xfrm>
              <a:custGeom>
                <a:avLst/>
                <a:gdLst>
                  <a:gd name="T0" fmla="*/ 0 w 69"/>
                  <a:gd name="T1" fmla="*/ 0 h 17"/>
                  <a:gd name="T2" fmla="*/ 0 w 69"/>
                  <a:gd name="T3" fmla="*/ 0 h 17"/>
                  <a:gd name="T4" fmla="*/ 3 w 69"/>
                  <a:gd name="T5" fmla="*/ 0 h 17"/>
                  <a:gd name="T6" fmla="*/ 3 w 69"/>
                  <a:gd name="T7" fmla="*/ 0 h 17"/>
                  <a:gd name="T8" fmla="*/ 0 w 69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9"/>
                  <a:gd name="T16" fmla="*/ 0 h 17"/>
                  <a:gd name="T17" fmla="*/ 69 w 69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9" h="17">
                    <a:moveTo>
                      <a:pt x="0" y="16"/>
                    </a:moveTo>
                    <a:lnTo>
                      <a:pt x="0" y="0"/>
                    </a:lnTo>
                    <a:lnTo>
                      <a:pt x="68" y="0"/>
                    </a:lnTo>
                    <a:lnTo>
                      <a:pt x="68" y="16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41" name="Freeform 883"/>
              <p:cNvSpPr>
                <a:spLocks/>
              </p:cNvSpPr>
              <p:nvPr/>
            </p:nvSpPr>
            <p:spPr bwMode="auto">
              <a:xfrm>
                <a:off x="2493" y="3198"/>
                <a:ext cx="55" cy="8"/>
              </a:xfrm>
              <a:custGeom>
                <a:avLst/>
                <a:gdLst>
                  <a:gd name="T0" fmla="*/ 0 w 94"/>
                  <a:gd name="T1" fmla="*/ 0 h 17"/>
                  <a:gd name="T2" fmla="*/ 0 w 94"/>
                  <a:gd name="T3" fmla="*/ 0 h 17"/>
                  <a:gd name="T4" fmla="*/ 4 w 94"/>
                  <a:gd name="T5" fmla="*/ 0 h 17"/>
                  <a:gd name="T6" fmla="*/ 4 w 94"/>
                  <a:gd name="T7" fmla="*/ 0 h 17"/>
                  <a:gd name="T8" fmla="*/ 0 w 94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4"/>
                  <a:gd name="T16" fmla="*/ 0 h 17"/>
                  <a:gd name="T17" fmla="*/ 94 w 9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4" h="17">
                    <a:moveTo>
                      <a:pt x="0" y="16"/>
                    </a:moveTo>
                    <a:lnTo>
                      <a:pt x="0" y="0"/>
                    </a:lnTo>
                    <a:lnTo>
                      <a:pt x="93" y="0"/>
                    </a:lnTo>
                    <a:lnTo>
                      <a:pt x="93" y="16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42" name="Freeform 884"/>
              <p:cNvSpPr>
                <a:spLocks/>
              </p:cNvSpPr>
              <p:nvPr/>
            </p:nvSpPr>
            <p:spPr bwMode="auto">
              <a:xfrm>
                <a:off x="2461" y="319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43" name="Freeform 885"/>
              <p:cNvSpPr>
                <a:spLocks/>
              </p:cNvSpPr>
              <p:nvPr/>
            </p:nvSpPr>
            <p:spPr bwMode="auto">
              <a:xfrm>
                <a:off x="2463" y="319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1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4"/>
                    </a:lnTo>
                    <a:lnTo>
                      <a:pt x="4" y="16"/>
                    </a:lnTo>
                    <a:lnTo>
                      <a:pt x="8" y="16"/>
                    </a:lnTo>
                    <a:lnTo>
                      <a:pt x="12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44" name="Freeform 886"/>
              <p:cNvSpPr>
                <a:spLocks/>
              </p:cNvSpPr>
              <p:nvPr/>
            </p:nvSpPr>
            <p:spPr bwMode="auto">
              <a:xfrm>
                <a:off x="2464" y="319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45" name="Freeform 887"/>
              <p:cNvSpPr>
                <a:spLocks/>
              </p:cNvSpPr>
              <p:nvPr/>
            </p:nvSpPr>
            <p:spPr bwMode="auto">
              <a:xfrm>
                <a:off x="2466" y="319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46" name="Freeform 888"/>
              <p:cNvSpPr>
                <a:spLocks/>
              </p:cNvSpPr>
              <p:nvPr/>
            </p:nvSpPr>
            <p:spPr bwMode="auto">
              <a:xfrm>
                <a:off x="2467" y="319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1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47" name="Freeform 889"/>
              <p:cNvSpPr>
                <a:spLocks/>
              </p:cNvSpPr>
              <p:nvPr/>
            </p:nvSpPr>
            <p:spPr bwMode="auto">
              <a:xfrm>
                <a:off x="2469" y="319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48" name="Freeform 890"/>
              <p:cNvSpPr>
                <a:spLocks/>
              </p:cNvSpPr>
              <p:nvPr/>
            </p:nvSpPr>
            <p:spPr bwMode="auto">
              <a:xfrm>
                <a:off x="2470" y="319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49" name="Freeform 891"/>
              <p:cNvSpPr>
                <a:spLocks/>
              </p:cNvSpPr>
              <p:nvPr/>
            </p:nvSpPr>
            <p:spPr bwMode="auto">
              <a:xfrm>
                <a:off x="2471" y="319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1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4"/>
                    </a:lnTo>
                    <a:lnTo>
                      <a:pt x="8" y="16"/>
                    </a:lnTo>
                    <a:lnTo>
                      <a:pt x="12" y="16"/>
                    </a:lnTo>
                    <a:lnTo>
                      <a:pt x="12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50" name="Freeform 892"/>
              <p:cNvSpPr>
                <a:spLocks/>
              </p:cNvSpPr>
              <p:nvPr/>
            </p:nvSpPr>
            <p:spPr bwMode="auto">
              <a:xfrm>
                <a:off x="2473" y="319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51" name="Freeform 893"/>
              <p:cNvSpPr>
                <a:spLocks/>
              </p:cNvSpPr>
              <p:nvPr/>
            </p:nvSpPr>
            <p:spPr bwMode="auto">
              <a:xfrm>
                <a:off x="2474" y="319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52" name="Freeform 894"/>
              <p:cNvSpPr>
                <a:spLocks/>
              </p:cNvSpPr>
              <p:nvPr/>
            </p:nvSpPr>
            <p:spPr bwMode="auto">
              <a:xfrm>
                <a:off x="2476" y="319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0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0" y="16"/>
                    </a:lnTo>
                    <a:lnTo>
                      <a:pt x="8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53" name="Freeform 895"/>
              <p:cNvSpPr>
                <a:spLocks/>
              </p:cNvSpPr>
              <p:nvPr/>
            </p:nvSpPr>
            <p:spPr bwMode="auto">
              <a:xfrm>
                <a:off x="2477" y="319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6"/>
                    </a:lnTo>
                    <a:lnTo>
                      <a:pt x="8" y="16"/>
                    </a:lnTo>
                    <a:lnTo>
                      <a:pt x="12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54" name="Freeform 896"/>
              <p:cNvSpPr>
                <a:spLocks/>
              </p:cNvSpPr>
              <p:nvPr/>
            </p:nvSpPr>
            <p:spPr bwMode="auto">
              <a:xfrm>
                <a:off x="2479" y="319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55" name="Freeform 897"/>
              <p:cNvSpPr>
                <a:spLocks/>
              </p:cNvSpPr>
              <p:nvPr/>
            </p:nvSpPr>
            <p:spPr bwMode="auto">
              <a:xfrm>
                <a:off x="2480" y="319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56" name="Freeform 898"/>
              <p:cNvSpPr>
                <a:spLocks/>
              </p:cNvSpPr>
              <p:nvPr/>
            </p:nvSpPr>
            <p:spPr bwMode="auto">
              <a:xfrm>
                <a:off x="2481" y="3199"/>
                <a:ext cx="11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57" name="Freeform 899"/>
              <p:cNvSpPr>
                <a:spLocks/>
              </p:cNvSpPr>
              <p:nvPr/>
            </p:nvSpPr>
            <p:spPr bwMode="auto">
              <a:xfrm>
                <a:off x="2484" y="319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58" name="Freeform 900"/>
              <p:cNvSpPr>
                <a:spLocks/>
              </p:cNvSpPr>
              <p:nvPr/>
            </p:nvSpPr>
            <p:spPr bwMode="auto">
              <a:xfrm>
                <a:off x="2485" y="319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1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59" name="Freeform 901"/>
              <p:cNvSpPr>
                <a:spLocks/>
              </p:cNvSpPr>
              <p:nvPr/>
            </p:nvSpPr>
            <p:spPr bwMode="auto">
              <a:xfrm>
                <a:off x="2487" y="319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60" name="Freeform 902"/>
              <p:cNvSpPr>
                <a:spLocks/>
              </p:cNvSpPr>
              <p:nvPr/>
            </p:nvSpPr>
            <p:spPr bwMode="auto">
              <a:xfrm>
                <a:off x="2488" y="319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61" name="Freeform 903"/>
              <p:cNvSpPr>
                <a:spLocks/>
              </p:cNvSpPr>
              <p:nvPr/>
            </p:nvSpPr>
            <p:spPr bwMode="auto">
              <a:xfrm>
                <a:off x="2489" y="319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1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4"/>
                    </a:lnTo>
                    <a:lnTo>
                      <a:pt x="8" y="16"/>
                    </a:lnTo>
                    <a:lnTo>
                      <a:pt x="12" y="16"/>
                    </a:lnTo>
                    <a:lnTo>
                      <a:pt x="12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62" name="Freeform 904"/>
              <p:cNvSpPr>
                <a:spLocks/>
              </p:cNvSpPr>
              <p:nvPr/>
            </p:nvSpPr>
            <p:spPr bwMode="auto">
              <a:xfrm>
                <a:off x="2448" y="3116"/>
                <a:ext cx="110" cy="84"/>
              </a:xfrm>
              <a:custGeom>
                <a:avLst/>
                <a:gdLst>
                  <a:gd name="T0" fmla="*/ 7 w 187"/>
                  <a:gd name="T1" fmla="*/ 2 h 174"/>
                  <a:gd name="T2" fmla="*/ 7 w 187"/>
                  <a:gd name="T3" fmla="*/ 2 h 174"/>
                  <a:gd name="T4" fmla="*/ 7 w 187"/>
                  <a:gd name="T5" fmla="*/ 2 h 174"/>
                  <a:gd name="T6" fmla="*/ 8 w 187"/>
                  <a:gd name="T7" fmla="*/ 2 h 174"/>
                  <a:gd name="T8" fmla="*/ 8 w 187"/>
                  <a:gd name="T9" fmla="*/ 2 h 174"/>
                  <a:gd name="T10" fmla="*/ 8 w 187"/>
                  <a:gd name="T11" fmla="*/ 2 h 174"/>
                  <a:gd name="T12" fmla="*/ 8 w 187"/>
                  <a:gd name="T13" fmla="*/ 2 h 174"/>
                  <a:gd name="T14" fmla="*/ 8 w 187"/>
                  <a:gd name="T15" fmla="*/ 2 h 174"/>
                  <a:gd name="T16" fmla="*/ 8 w 187"/>
                  <a:gd name="T17" fmla="*/ 2 h 174"/>
                  <a:gd name="T18" fmla="*/ 8 w 187"/>
                  <a:gd name="T19" fmla="*/ 2 h 174"/>
                  <a:gd name="T20" fmla="*/ 8 w 187"/>
                  <a:gd name="T21" fmla="*/ 2 h 174"/>
                  <a:gd name="T22" fmla="*/ 8 w 187"/>
                  <a:gd name="T23" fmla="*/ 2 h 174"/>
                  <a:gd name="T24" fmla="*/ 8 w 187"/>
                  <a:gd name="T25" fmla="*/ 2 h 174"/>
                  <a:gd name="T26" fmla="*/ 8 w 187"/>
                  <a:gd name="T27" fmla="*/ 2 h 174"/>
                  <a:gd name="T28" fmla="*/ 8 w 187"/>
                  <a:gd name="T29" fmla="*/ 2 h 174"/>
                  <a:gd name="T30" fmla="*/ 8 w 187"/>
                  <a:gd name="T31" fmla="*/ 0 h 174"/>
                  <a:gd name="T32" fmla="*/ 8 w 187"/>
                  <a:gd name="T33" fmla="*/ 0 h 174"/>
                  <a:gd name="T34" fmla="*/ 8 w 187"/>
                  <a:gd name="T35" fmla="*/ 0 h 174"/>
                  <a:gd name="T36" fmla="*/ 8 w 187"/>
                  <a:gd name="T37" fmla="*/ 0 h 174"/>
                  <a:gd name="T38" fmla="*/ 8 w 187"/>
                  <a:gd name="T39" fmla="*/ 0 h 174"/>
                  <a:gd name="T40" fmla="*/ 8 w 187"/>
                  <a:gd name="T41" fmla="*/ 0 h 174"/>
                  <a:gd name="T42" fmla="*/ 8 w 187"/>
                  <a:gd name="T43" fmla="*/ 0 h 174"/>
                  <a:gd name="T44" fmla="*/ 8 w 187"/>
                  <a:gd name="T45" fmla="*/ 0 h 174"/>
                  <a:gd name="T46" fmla="*/ 8 w 187"/>
                  <a:gd name="T47" fmla="*/ 0 h 174"/>
                  <a:gd name="T48" fmla="*/ 8 w 187"/>
                  <a:gd name="T49" fmla="*/ 0 h 174"/>
                  <a:gd name="T50" fmla="*/ 8 w 187"/>
                  <a:gd name="T51" fmla="*/ 0 h 174"/>
                  <a:gd name="T52" fmla="*/ 8 w 187"/>
                  <a:gd name="T53" fmla="*/ 0 h 174"/>
                  <a:gd name="T54" fmla="*/ 7 w 187"/>
                  <a:gd name="T55" fmla="*/ 0 h 174"/>
                  <a:gd name="T56" fmla="*/ 7 w 187"/>
                  <a:gd name="T57" fmla="*/ 0 h 174"/>
                  <a:gd name="T58" fmla="*/ 7 w 187"/>
                  <a:gd name="T59" fmla="*/ 0 h 174"/>
                  <a:gd name="T60" fmla="*/ 1 w 187"/>
                  <a:gd name="T61" fmla="*/ 0 h 174"/>
                  <a:gd name="T62" fmla="*/ 1 w 187"/>
                  <a:gd name="T63" fmla="*/ 0 h 174"/>
                  <a:gd name="T64" fmla="*/ 1 w 187"/>
                  <a:gd name="T65" fmla="*/ 0 h 174"/>
                  <a:gd name="T66" fmla="*/ 1 w 187"/>
                  <a:gd name="T67" fmla="*/ 0 h 174"/>
                  <a:gd name="T68" fmla="*/ 1 w 187"/>
                  <a:gd name="T69" fmla="*/ 0 h 174"/>
                  <a:gd name="T70" fmla="*/ 1 w 187"/>
                  <a:gd name="T71" fmla="*/ 0 h 174"/>
                  <a:gd name="T72" fmla="*/ 1 w 187"/>
                  <a:gd name="T73" fmla="*/ 0 h 174"/>
                  <a:gd name="T74" fmla="*/ 1 w 187"/>
                  <a:gd name="T75" fmla="*/ 0 h 174"/>
                  <a:gd name="T76" fmla="*/ 1 w 187"/>
                  <a:gd name="T77" fmla="*/ 0 h 174"/>
                  <a:gd name="T78" fmla="*/ 0 w 187"/>
                  <a:gd name="T79" fmla="*/ 0 h 174"/>
                  <a:gd name="T80" fmla="*/ 0 w 187"/>
                  <a:gd name="T81" fmla="*/ 0 h 174"/>
                  <a:gd name="T82" fmla="*/ 0 w 187"/>
                  <a:gd name="T83" fmla="*/ 0 h 174"/>
                  <a:gd name="T84" fmla="*/ 0 w 187"/>
                  <a:gd name="T85" fmla="*/ 0 h 174"/>
                  <a:gd name="T86" fmla="*/ 0 w 187"/>
                  <a:gd name="T87" fmla="*/ 0 h 174"/>
                  <a:gd name="T88" fmla="*/ 0 w 187"/>
                  <a:gd name="T89" fmla="*/ 0 h 174"/>
                  <a:gd name="T90" fmla="*/ 0 w 187"/>
                  <a:gd name="T91" fmla="*/ 2 h 174"/>
                  <a:gd name="T92" fmla="*/ 0 w 187"/>
                  <a:gd name="T93" fmla="*/ 2 h 174"/>
                  <a:gd name="T94" fmla="*/ 0 w 187"/>
                  <a:gd name="T95" fmla="*/ 2 h 174"/>
                  <a:gd name="T96" fmla="*/ 0 w 187"/>
                  <a:gd name="T97" fmla="*/ 2 h 174"/>
                  <a:gd name="T98" fmla="*/ 0 w 187"/>
                  <a:gd name="T99" fmla="*/ 2 h 174"/>
                  <a:gd name="T100" fmla="*/ 0 w 187"/>
                  <a:gd name="T101" fmla="*/ 2 h 174"/>
                  <a:gd name="T102" fmla="*/ 1 w 187"/>
                  <a:gd name="T103" fmla="*/ 2 h 174"/>
                  <a:gd name="T104" fmla="*/ 1 w 187"/>
                  <a:gd name="T105" fmla="*/ 2 h 174"/>
                  <a:gd name="T106" fmla="*/ 1 w 187"/>
                  <a:gd name="T107" fmla="*/ 2 h 174"/>
                  <a:gd name="T108" fmla="*/ 1 w 187"/>
                  <a:gd name="T109" fmla="*/ 2 h 174"/>
                  <a:gd name="T110" fmla="*/ 1 w 187"/>
                  <a:gd name="T111" fmla="*/ 2 h 174"/>
                  <a:gd name="T112" fmla="*/ 1 w 187"/>
                  <a:gd name="T113" fmla="*/ 2 h 174"/>
                  <a:gd name="T114" fmla="*/ 1 w 187"/>
                  <a:gd name="T115" fmla="*/ 2 h 174"/>
                  <a:gd name="T116" fmla="*/ 1 w 187"/>
                  <a:gd name="T117" fmla="*/ 2 h 174"/>
                  <a:gd name="T118" fmla="*/ 1 w 187"/>
                  <a:gd name="T119" fmla="*/ 2 h 174"/>
                  <a:gd name="T120" fmla="*/ 1 w 187"/>
                  <a:gd name="T121" fmla="*/ 2 h 174"/>
                  <a:gd name="T122" fmla="*/ 7 w 187"/>
                  <a:gd name="T123" fmla="*/ 2 h 174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187"/>
                  <a:gd name="T187" fmla="*/ 0 h 174"/>
                  <a:gd name="T188" fmla="*/ 187 w 187"/>
                  <a:gd name="T189" fmla="*/ 174 h 174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187" h="174">
                    <a:moveTo>
                      <a:pt x="180" y="173"/>
                    </a:moveTo>
                    <a:lnTo>
                      <a:pt x="180" y="173"/>
                    </a:lnTo>
                    <a:lnTo>
                      <a:pt x="180" y="172"/>
                    </a:lnTo>
                    <a:lnTo>
                      <a:pt x="182" y="172"/>
                    </a:lnTo>
                    <a:lnTo>
                      <a:pt x="183" y="171"/>
                    </a:lnTo>
                    <a:lnTo>
                      <a:pt x="184" y="171"/>
                    </a:lnTo>
                    <a:lnTo>
                      <a:pt x="184" y="170"/>
                    </a:lnTo>
                    <a:lnTo>
                      <a:pt x="184" y="169"/>
                    </a:lnTo>
                    <a:lnTo>
                      <a:pt x="185" y="169"/>
                    </a:lnTo>
                    <a:lnTo>
                      <a:pt x="185" y="168"/>
                    </a:lnTo>
                    <a:lnTo>
                      <a:pt x="186" y="167"/>
                    </a:lnTo>
                    <a:lnTo>
                      <a:pt x="186" y="6"/>
                    </a:lnTo>
                    <a:lnTo>
                      <a:pt x="186" y="5"/>
                    </a:lnTo>
                    <a:lnTo>
                      <a:pt x="185" y="5"/>
                    </a:lnTo>
                    <a:lnTo>
                      <a:pt x="185" y="3"/>
                    </a:lnTo>
                    <a:lnTo>
                      <a:pt x="184" y="3"/>
                    </a:lnTo>
                    <a:lnTo>
                      <a:pt x="184" y="2"/>
                    </a:lnTo>
                    <a:lnTo>
                      <a:pt x="184" y="1"/>
                    </a:lnTo>
                    <a:lnTo>
                      <a:pt x="183" y="1"/>
                    </a:lnTo>
                    <a:lnTo>
                      <a:pt x="182" y="1"/>
                    </a:lnTo>
                    <a:lnTo>
                      <a:pt x="182" y="0"/>
                    </a:lnTo>
                    <a:lnTo>
                      <a:pt x="180" y="0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167"/>
                    </a:lnTo>
                    <a:lnTo>
                      <a:pt x="0" y="168"/>
                    </a:lnTo>
                    <a:lnTo>
                      <a:pt x="0" y="169"/>
                    </a:lnTo>
                    <a:lnTo>
                      <a:pt x="0" y="170"/>
                    </a:lnTo>
                    <a:lnTo>
                      <a:pt x="1" y="170"/>
                    </a:lnTo>
                    <a:lnTo>
                      <a:pt x="1" y="171"/>
                    </a:lnTo>
                    <a:lnTo>
                      <a:pt x="2" y="171"/>
                    </a:lnTo>
                    <a:lnTo>
                      <a:pt x="2" y="172"/>
                    </a:lnTo>
                    <a:lnTo>
                      <a:pt x="3" y="172"/>
                    </a:lnTo>
                    <a:lnTo>
                      <a:pt x="4" y="173"/>
                    </a:lnTo>
                    <a:lnTo>
                      <a:pt x="5" y="173"/>
                    </a:lnTo>
                    <a:lnTo>
                      <a:pt x="180" y="173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63" name="Freeform 905"/>
              <p:cNvSpPr>
                <a:spLocks/>
              </p:cNvSpPr>
              <p:nvPr/>
            </p:nvSpPr>
            <p:spPr bwMode="auto">
              <a:xfrm>
                <a:off x="2448" y="3117"/>
                <a:ext cx="110" cy="83"/>
              </a:xfrm>
              <a:custGeom>
                <a:avLst/>
                <a:gdLst>
                  <a:gd name="T0" fmla="*/ 8 w 186"/>
                  <a:gd name="T1" fmla="*/ 2 h 172"/>
                  <a:gd name="T2" fmla="*/ 8 w 186"/>
                  <a:gd name="T3" fmla="*/ 2 h 172"/>
                  <a:gd name="T4" fmla="*/ 8 w 186"/>
                  <a:gd name="T5" fmla="*/ 2 h 172"/>
                  <a:gd name="T6" fmla="*/ 8 w 186"/>
                  <a:gd name="T7" fmla="*/ 2 h 172"/>
                  <a:gd name="T8" fmla="*/ 8 w 186"/>
                  <a:gd name="T9" fmla="*/ 2 h 172"/>
                  <a:gd name="T10" fmla="*/ 8 w 186"/>
                  <a:gd name="T11" fmla="*/ 2 h 172"/>
                  <a:gd name="T12" fmla="*/ 8 w 186"/>
                  <a:gd name="T13" fmla="*/ 2 h 172"/>
                  <a:gd name="T14" fmla="*/ 8 w 186"/>
                  <a:gd name="T15" fmla="*/ 2 h 172"/>
                  <a:gd name="T16" fmla="*/ 8 w 186"/>
                  <a:gd name="T17" fmla="*/ 2 h 172"/>
                  <a:gd name="T18" fmla="*/ 8 w 186"/>
                  <a:gd name="T19" fmla="*/ 2 h 172"/>
                  <a:gd name="T20" fmla="*/ 8 w 186"/>
                  <a:gd name="T21" fmla="*/ 2 h 172"/>
                  <a:gd name="T22" fmla="*/ 8 w 186"/>
                  <a:gd name="T23" fmla="*/ 2 h 172"/>
                  <a:gd name="T24" fmla="*/ 8 w 186"/>
                  <a:gd name="T25" fmla="*/ 2 h 172"/>
                  <a:gd name="T26" fmla="*/ 1 w 186"/>
                  <a:gd name="T27" fmla="*/ 2 h 172"/>
                  <a:gd name="T28" fmla="*/ 1 w 186"/>
                  <a:gd name="T29" fmla="*/ 2 h 172"/>
                  <a:gd name="T30" fmla="*/ 1 w 186"/>
                  <a:gd name="T31" fmla="*/ 2 h 172"/>
                  <a:gd name="T32" fmla="*/ 1 w 186"/>
                  <a:gd name="T33" fmla="*/ 2 h 172"/>
                  <a:gd name="T34" fmla="*/ 1 w 186"/>
                  <a:gd name="T35" fmla="*/ 2 h 172"/>
                  <a:gd name="T36" fmla="*/ 1 w 186"/>
                  <a:gd name="T37" fmla="*/ 2 h 172"/>
                  <a:gd name="T38" fmla="*/ 1 w 186"/>
                  <a:gd name="T39" fmla="*/ 2 h 172"/>
                  <a:gd name="T40" fmla="*/ 1 w 186"/>
                  <a:gd name="T41" fmla="*/ 2 h 172"/>
                  <a:gd name="T42" fmla="*/ 0 w 186"/>
                  <a:gd name="T43" fmla="*/ 2 h 172"/>
                  <a:gd name="T44" fmla="*/ 0 w 186"/>
                  <a:gd name="T45" fmla="*/ 2 h 172"/>
                  <a:gd name="T46" fmla="*/ 0 w 186"/>
                  <a:gd name="T47" fmla="*/ 2 h 172"/>
                  <a:gd name="T48" fmla="*/ 0 w 186"/>
                  <a:gd name="T49" fmla="*/ 2 h 172"/>
                  <a:gd name="T50" fmla="*/ 0 w 186"/>
                  <a:gd name="T51" fmla="*/ 2 h 172"/>
                  <a:gd name="T52" fmla="*/ 0 w 186"/>
                  <a:gd name="T53" fmla="*/ 2 h 172"/>
                  <a:gd name="T54" fmla="*/ 0 w 186"/>
                  <a:gd name="T55" fmla="*/ 0 h 172"/>
                  <a:gd name="T56" fmla="*/ 0 w 186"/>
                  <a:gd name="T57" fmla="*/ 0 h 172"/>
                  <a:gd name="T58" fmla="*/ 0 w 186"/>
                  <a:gd name="T59" fmla="*/ 0 h 172"/>
                  <a:gd name="T60" fmla="*/ 0 w 186"/>
                  <a:gd name="T61" fmla="*/ 0 h 172"/>
                  <a:gd name="T62" fmla="*/ 0 w 186"/>
                  <a:gd name="T63" fmla="*/ 0 h 172"/>
                  <a:gd name="T64" fmla="*/ 0 w 186"/>
                  <a:gd name="T65" fmla="*/ 0 h 172"/>
                  <a:gd name="T66" fmla="*/ 1 w 186"/>
                  <a:gd name="T67" fmla="*/ 0 h 172"/>
                  <a:gd name="T68" fmla="*/ 1 w 186"/>
                  <a:gd name="T69" fmla="*/ 0 h 172"/>
                  <a:gd name="T70" fmla="*/ 1 w 186"/>
                  <a:gd name="T71" fmla="*/ 0 h 172"/>
                  <a:gd name="T72" fmla="*/ 1 w 186"/>
                  <a:gd name="T73" fmla="*/ 0 h 172"/>
                  <a:gd name="T74" fmla="*/ 1 w 186"/>
                  <a:gd name="T75" fmla="*/ 0 h 172"/>
                  <a:gd name="T76" fmla="*/ 1 w 186"/>
                  <a:gd name="T77" fmla="*/ 0 h 172"/>
                  <a:gd name="T78" fmla="*/ 1 w 186"/>
                  <a:gd name="T79" fmla="*/ 0 h 172"/>
                  <a:gd name="T80" fmla="*/ 1 w 186"/>
                  <a:gd name="T81" fmla="*/ 0 h 172"/>
                  <a:gd name="T82" fmla="*/ 8 w 186"/>
                  <a:gd name="T83" fmla="*/ 0 h 172"/>
                  <a:gd name="T84" fmla="*/ 8 w 186"/>
                  <a:gd name="T85" fmla="*/ 0 h 172"/>
                  <a:gd name="T86" fmla="*/ 8 w 186"/>
                  <a:gd name="T87" fmla="*/ 0 h 172"/>
                  <a:gd name="T88" fmla="*/ 8 w 186"/>
                  <a:gd name="T89" fmla="*/ 0 h 172"/>
                  <a:gd name="T90" fmla="*/ 8 w 186"/>
                  <a:gd name="T91" fmla="*/ 0 h 172"/>
                  <a:gd name="T92" fmla="*/ 8 w 186"/>
                  <a:gd name="T93" fmla="*/ 0 h 172"/>
                  <a:gd name="T94" fmla="*/ 8 w 186"/>
                  <a:gd name="T95" fmla="*/ 0 h 172"/>
                  <a:gd name="T96" fmla="*/ 8 w 186"/>
                  <a:gd name="T97" fmla="*/ 0 h 172"/>
                  <a:gd name="T98" fmla="*/ 8 w 186"/>
                  <a:gd name="T99" fmla="*/ 0 h 172"/>
                  <a:gd name="T100" fmla="*/ 8 w 186"/>
                  <a:gd name="T101" fmla="*/ 0 h 172"/>
                  <a:gd name="T102" fmla="*/ 8 w 186"/>
                  <a:gd name="T103" fmla="*/ 0 h 172"/>
                  <a:gd name="T104" fmla="*/ 8 w 186"/>
                  <a:gd name="T105" fmla="*/ 0 h 172"/>
                  <a:gd name="T106" fmla="*/ 8 w 186"/>
                  <a:gd name="T107" fmla="*/ 0 h 172"/>
                  <a:gd name="T108" fmla="*/ 8 w 186"/>
                  <a:gd name="T109" fmla="*/ 0 h 172"/>
                  <a:gd name="T110" fmla="*/ 8 w 186"/>
                  <a:gd name="T111" fmla="*/ 2 h 172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186"/>
                  <a:gd name="T169" fmla="*/ 0 h 172"/>
                  <a:gd name="T170" fmla="*/ 186 w 186"/>
                  <a:gd name="T171" fmla="*/ 172 h 172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186" h="172">
                    <a:moveTo>
                      <a:pt x="185" y="165"/>
                    </a:moveTo>
                    <a:lnTo>
                      <a:pt x="185" y="166"/>
                    </a:lnTo>
                    <a:lnTo>
                      <a:pt x="185" y="167"/>
                    </a:lnTo>
                    <a:lnTo>
                      <a:pt x="184" y="167"/>
                    </a:lnTo>
                    <a:lnTo>
                      <a:pt x="184" y="168"/>
                    </a:lnTo>
                    <a:lnTo>
                      <a:pt x="183" y="169"/>
                    </a:lnTo>
                    <a:lnTo>
                      <a:pt x="182" y="170"/>
                    </a:lnTo>
                    <a:lnTo>
                      <a:pt x="181" y="170"/>
                    </a:lnTo>
                    <a:lnTo>
                      <a:pt x="181" y="171"/>
                    </a:lnTo>
                    <a:lnTo>
                      <a:pt x="180" y="171"/>
                    </a:lnTo>
                    <a:lnTo>
                      <a:pt x="179" y="171"/>
                    </a:lnTo>
                    <a:lnTo>
                      <a:pt x="4" y="171"/>
                    </a:lnTo>
                    <a:lnTo>
                      <a:pt x="3" y="171"/>
                    </a:lnTo>
                    <a:lnTo>
                      <a:pt x="3" y="170"/>
                    </a:lnTo>
                    <a:lnTo>
                      <a:pt x="2" y="170"/>
                    </a:lnTo>
                    <a:lnTo>
                      <a:pt x="1" y="169"/>
                    </a:lnTo>
                    <a:lnTo>
                      <a:pt x="0" y="169"/>
                    </a:lnTo>
                    <a:lnTo>
                      <a:pt x="0" y="168"/>
                    </a:lnTo>
                    <a:lnTo>
                      <a:pt x="0" y="167"/>
                    </a:lnTo>
                    <a:lnTo>
                      <a:pt x="0" y="166"/>
                    </a:lnTo>
                    <a:lnTo>
                      <a:pt x="0" y="165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179" y="0"/>
                    </a:lnTo>
                    <a:lnTo>
                      <a:pt x="180" y="0"/>
                    </a:lnTo>
                    <a:lnTo>
                      <a:pt x="181" y="0"/>
                    </a:lnTo>
                    <a:lnTo>
                      <a:pt x="182" y="0"/>
                    </a:lnTo>
                    <a:lnTo>
                      <a:pt x="182" y="1"/>
                    </a:lnTo>
                    <a:lnTo>
                      <a:pt x="183" y="1"/>
                    </a:lnTo>
                    <a:lnTo>
                      <a:pt x="183" y="2"/>
                    </a:lnTo>
                    <a:lnTo>
                      <a:pt x="184" y="2"/>
                    </a:lnTo>
                    <a:lnTo>
                      <a:pt x="184" y="3"/>
                    </a:lnTo>
                    <a:lnTo>
                      <a:pt x="185" y="3"/>
                    </a:lnTo>
                    <a:lnTo>
                      <a:pt x="185" y="4"/>
                    </a:lnTo>
                    <a:lnTo>
                      <a:pt x="185" y="5"/>
                    </a:lnTo>
                    <a:lnTo>
                      <a:pt x="185" y="165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64" name="Freeform 906"/>
              <p:cNvSpPr>
                <a:spLocks/>
              </p:cNvSpPr>
              <p:nvPr/>
            </p:nvSpPr>
            <p:spPr bwMode="auto">
              <a:xfrm>
                <a:off x="2449" y="3117"/>
                <a:ext cx="107" cy="82"/>
              </a:xfrm>
              <a:custGeom>
                <a:avLst/>
                <a:gdLst>
                  <a:gd name="T0" fmla="*/ 8 w 181"/>
                  <a:gd name="T1" fmla="*/ 0 h 171"/>
                  <a:gd name="T2" fmla="*/ 8 w 181"/>
                  <a:gd name="T3" fmla="*/ 0 h 171"/>
                  <a:gd name="T4" fmla="*/ 8 w 181"/>
                  <a:gd name="T5" fmla="*/ 0 h 171"/>
                  <a:gd name="T6" fmla="*/ 8 w 181"/>
                  <a:gd name="T7" fmla="*/ 0 h 171"/>
                  <a:gd name="T8" fmla="*/ 8 w 181"/>
                  <a:gd name="T9" fmla="*/ 0 h 171"/>
                  <a:gd name="T10" fmla="*/ 8 w 181"/>
                  <a:gd name="T11" fmla="*/ 0 h 171"/>
                  <a:gd name="T12" fmla="*/ 8 w 181"/>
                  <a:gd name="T13" fmla="*/ 0 h 171"/>
                  <a:gd name="T14" fmla="*/ 8 w 181"/>
                  <a:gd name="T15" fmla="*/ 0 h 171"/>
                  <a:gd name="T16" fmla="*/ 8 w 181"/>
                  <a:gd name="T17" fmla="*/ 0 h 171"/>
                  <a:gd name="T18" fmla="*/ 8 w 181"/>
                  <a:gd name="T19" fmla="*/ 0 h 171"/>
                  <a:gd name="T20" fmla="*/ 7 w 181"/>
                  <a:gd name="T21" fmla="*/ 0 h 171"/>
                  <a:gd name="T22" fmla="*/ 7 w 181"/>
                  <a:gd name="T23" fmla="*/ 0 h 171"/>
                  <a:gd name="T24" fmla="*/ 1 w 181"/>
                  <a:gd name="T25" fmla="*/ 0 h 171"/>
                  <a:gd name="T26" fmla="*/ 1 w 181"/>
                  <a:gd name="T27" fmla="*/ 0 h 171"/>
                  <a:gd name="T28" fmla="*/ 1 w 181"/>
                  <a:gd name="T29" fmla="*/ 0 h 171"/>
                  <a:gd name="T30" fmla="*/ 1 w 181"/>
                  <a:gd name="T31" fmla="*/ 0 h 171"/>
                  <a:gd name="T32" fmla="*/ 1 w 181"/>
                  <a:gd name="T33" fmla="*/ 0 h 171"/>
                  <a:gd name="T34" fmla="*/ 1 w 181"/>
                  <a:gd name="T35" fmla="*/ 0 h 171"/>
                  <a:gd name="T36" fmla="*/ 1 w 181"/>
                  <a:gd name="T37" fmla="*/ 0 h 171"/>
                  <a:gd name="T38" fmla="*/ 0 w 181"/>
                  <a:gd name="T39" fmla="*/ 0 h 171"/>
                  <a:gd name="T40" fmla="*/ 0 w 181"/>
                  <a:gd name="T41" fmla="*/ 0 h 171"/>
                  <a:gd name="T42" fmla="*/ 0 w 181"/>
                  <a:gd name="T43" fmla="*/ 0 h 171"/>
                  <a:gd name="T44" fmla="*/ 0 w 181"/>
                  <a:gd name="T45" fmla="*/ 0 h 171"/>
                  <a:gd name="T46" fmla="*/ 0 w 181"/>
                  <a:gd name="T47" fmla="*/ 0 h 171"/>
                  <a:gd name="T48" fmla="*/ 0 w 181"/>
                  <a:gd name="T49" fmla="*/ 2 h 171"/>
                  <a:gd name="T50" fmla="*/ 0 w 181"/>
                  <a:gd name="T51" fmla="*/ 2 h 171"/>
                  <a:gd name="T52" fmla="*/ 0 w 181"/>
                  <a:gd name="T53" fmla="*/ 2 h 171"/>
                  <a:gd name="T54" fmla="*/ 0 w 181"/>
                  <a:gd name="T55" fmla="*/ 2 h 171"/>
                  <a:gd name="T56" fmla="*/ 0 w 181"/>
                  <a:gd name="T57" fmla="*/ 2 h 171"/>
                  <a:gd name="T58" fmla="*/ 1 w 181"/>
                  <a:gd name="T59" fmla="*/ 2 h 171"/>
                  <a:gd name="T60" fmla="*/ 1 w 181"/>
                  <a:gd name="T61" fmla="*/ 2 h 171"/>
                  <a:gd name="T62" fmla="*/ 1 w 181"/>
                  <a:gd name="T63" fmla="*/ 2 h 171"/>
                  <a:gd name="T64" fmla="*/ 1 w 181"/>
                  <a:gd name="T65" fmla="*/ 2 h 171"/>
                  <a:gd name="T66" fmla="*/ 1 w 181"/>
                  <a:gd name="T67" fmla="*/ 2 h 171"/>
                  <a:gd name="T68" fmla="*/ 1 w 181"/>
                  <a:gd name="T69" fmla="*/ 2 h 171"/>
                  <a:gd name="T70" fmla="*/ 7 w 181"/>
                  <a:gd name="T71" fmla="*/ 2 h 171"/>
                  <a:gd name="T72" fmla="*/ 7 w 181"/>
                  <a:gd name="T73" fmla="*/ 2 h 171"/>
                  <a:gd name="T74" fmla="*/ 8 w 181"/>
                  <a:gd name="T75" fmla="*/ 2 h 171"/>
                  <a:gd name="T76" fmla="*/ 8 w 181"/>
                  <a:gd name="T77" fmla="*/ 2 h 171"/>
                  <a:gd name="T78" fmla="*/ 8 w 181"/>
                  <a:gd name="T79" fmla="*/ 2 h 171"/>
                  <a:gd name="T80" fmla="*/ 8 w 181"/>
                  <a:gd name="T81" fmla="*/ 2 h 171"/>
                  <a:gd name="T82" fmla="*/ 8 w 181"/>
                  <a:gd name="T83" fmla="*/ 2 h 171"/>
                  <a:gd name="T84" fmla="*/ 8 w 181"/>
                  <a:gd name="T85" fmla="*/ 2 h 171"/>
                  <a:gd name="T86" fmla="*/ 8 w 181"/>
                  <a:gd name="T87" fmla="*/ 2 h 171"/>
                  <a:gd name="T88" fmla="*/ 8 w 181"/>
                  <a:gd name="T89" fmla="*/ 2 h 171"/>
                  <a:gd name="T90" fmla="*/ 8 w 181"/>
                  <a:gd name="T91" fmla="*/ 2 h 171"/>
                  <a:gd name="T92" fmla="*/ 8 w 181"/>
                  <a:gd name="T93" fmla="*/ 0 h 171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181"/>
                  <a:gd name="T142" fmla="*/ 0 h 171"/>
                  <a:gd name="T143" fmla="*/ 181 w 181"/>
                  <a:gd name="T144" fmla="*/ 171 h 171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181" h="171">
                    <a:moveTo>
                      <a:pt x="180" y="3"/>
                    </a:moveTo>
                    <a:lnTo>
                      <a:pt x="180" y="3"/>
                    </a:lnTo>
                    <a:lnTo>
                      <a:pt x="180" y="2"/>
                    </a:lnTo>
                    <a:lnTo>
                      <a:pt x="179" y="2"/>
                    </a:lnTo>
                    <a:lnTo>
                      <a:pt x="179" y="1"/>
                    </a:lnTo>
                    <a:lnTo>
                      <a:pt x="178" y="1"/>
                    </a:lnTo>
                    <a:lnTo>
                      <a:pt x="178" y="0"/>
                    </a:lnTo>
                    <a:lnTo>
                      <a:pt x="177" y="0"/>
                    </a:lnTo>
                    <a:lnTo>
                      <a:pt x="176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166"/>
                    </a:lnTo>
                    <a:lnTo>
                      <a:pt x="0" y="167"/>
                    </a:lnTo>
                    <a:lnTo>
                      <a:pt x="0" y="168"/>
                    </a:lnTo>
                    <a:lnTo>
                      <a:pt x="1" y="168"/>
                    </a:lnTo>
                    <a:lnTo>
                      <a:pt x="1" y="169"/>
                    </a:lnTo>
                    <a:lnTo>
                      <a:pt x="2" y="169"/>
                    </a:lnTo>
                    <a:lnTo>
                      <a:pt x="3" y="170"/>
                    </a:lnTo>
                    <a:lnTo>
                      <a:pt x="176" y="170"/>
                    </a:lnTo>
                    <a:lnTo>
                      <a:pt x="176" y="169"/>
                    </a:lnTo>
                    <a:lnTo>
                      <a:pt x="177" y="169"/>
                    </a:lnTo>
                    <a:lnTo>
                      <a:pt x="178" y="169"/>
                    </a:lnTo>
                    <a:lnTo>
                      <a:pt x="178" y="168"/>
                    </a:lnTo>
                    <a:lnTo>
                      <a:pt x="179" y="168"/>
                    </a:lnTo>
                    <a:lnTo>
                      <a:pt x="179" y="167"/>
                    </a:lnTo>
                    <a:lnTo>
                      <a:pt x="180" y="166"/>
                    </a:lnTo>
                    <a:lnTo>
                      <a:pt x="180" y="3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9999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65" name="Freeform 907"/>
              <p:cNvSpPr>
                <a:spLocks/>
              </p:cNvSpPr>
              <p:nvPr/>
            </p:nvSpPr>
            <p:spPr bwMode="auto">
              <a:xfrm>
                <a:off x="2450" y="3117"/>
                <a:ext cx="106" cy="81"/>
              </a:xfrm>
              <a:custGeom>
                <a:avLst/>
                <a:gdLst>
                  <a:gd name="T0" fmla="*/ 8 w 180"/>
                  <a:gd name="T1" fmla="*/ 2 h 168"/>
                  <a:gd name="T2" fmla="*/ 8 w 180"/>
                  <a:gd name="T3" fmla="*/ 2 h 168"/>
                  <a:gd name="T4" fmla="*/ 8 w 180"/>
                  <a:gd name="T5" fmla="*/ 2 h 168"/>
                  <a:gd name="T6" fmla="*/ 8 w 180"/>
                  <a:gd name="T7" fmla="*/ 2 h 168"/>
                  <a:gd name="T8" fmla="*/ 7 w 180"/>
                  <a:gd name="T9" fmla="*/ 2 h 168"/>
                  <a:gd name="T10" fmla="*/ 7 w 180"/>
                  <a:gd name="T11" fmla="*/ 2 h 168"/>
                  <a:gd name="T12" fmla="*/ 7 w 180"/>
                  <a:gd name="T13" fmla="*/ 2 h 168"/>
                  <a:gd name="T14" fmla="*/ 7 w 180"/>
                  <a:gd name="T15" fmla="*/ 2 h 168"/>
                  <a:gd name="T16" fmla="*/ 1 w 180"/>
                  <a:gd name="T17" fmla="*/ 2 h 168"/>
                  <a:gd name="T18" fmla="*/ 1 w 180"/>
                  <a:gd name="T19" fmla="*/ 2 h 168"/>
                  <a:gd name="T20" fmla="*/ 1 w 180"/>
                  <a:gd name="T21" fmla="*/ 2 h 168"/>
                  <a:gd name="T22" fmla="*/ 1 w 180"/>
                  <a:gd name="T23" fmla="*/ 2 h 168"/>
                  <a:gd name="T24" fmla="*/ 1 w 180"/>
                  <a:gd name="T25" fmla="*/ 2 h 168"/>
                  <a:gd name="T26" fmla="*/ 0 w 180"/>
                  <a:gd name="T27" fmla="*/ 2 h 168"/>
                  <a:gd name="T28" fmla="*/ 0 w 180"/>
                  <a:gd name="T29" fmla="*/ 2 h 168"/>
                  <a:gd name="T30" fmla="*/ 0 w 180"/>
                  <a:gd name="T31" fmla="*/ 2 h 168"/>
                  <a:gd name="T32" fmla="*/ 0 w 180"/>
                  <a:gd name="T33" fmla="*/ 2 h 168"/>
                  <a:gd name="T34" fmla="*/ 0 w 180"/>
                  <a:gd name="T35" fmla="*/ 2 h 168"/>
                  <a:gd name="T36" fmla="*/ 0 w 180"/>
                  <a:gd name="T37" fmla="*/ 2 h 168"/>
                  <a:gd name="T38" fmla="*/ 0 w 180"/>
                  <a:gd name="T39" fmla="*/ 0 h 168"/>
                  <a:gd name="T40" fmla="*/ 0 w 180"/>
                  <a:gd name="T41" fmla="*/ 0 h 168"/>
                  <a:gd name="T42" fmla="*/ 0 w 180"/>
                  <a:gd name="T43" fmla="*/ 0 h 168"/>
                  <a:gd name="T44" fmla="*/ 0 w 180"/>
                  <a:gd name="T45" fmla="*/ 0 h 168"/>
                  <a:gd name="T46" fmla="*/ 0 w 180"/>
                  <a:gd name="T47" fmla="*/ 0 h 168"/>
                  <a:gd name="T48" fmla="*/ 1 w 180"/>
                  <a:gd name="T49" fmla="*/ 0 h 168"/>
                  <a:gd name="T50" fmla="*/ 1 w 180"/>
                  <a:gd name="T51" fmla="*/ 0 h 168"/>
                  <a:gd name="T52" fmla="*/ 1 w 180"/>
                  <a:gd name="T53" fmla="*/ 0 h 168"/>
                  <a:gd name="T54" fmla="*/ 1 w 180"/>
                  <a:gd name="T55" fmla="*/ 0 h 168"/>
                  <a:gd name="T56" fmla="*/ 7 w 180"/>
                  <a:gd name="T57" fmla="*/ 0 h 168"/>
                  <a:gd name="T58" fmla="*/ 7 w 180"/>
                  <a:gd name="T59" fmla="*/ 0 h 168"/>
                  <a:gd name="T60" fmla="*/ 7 w 180"/>
                  <a:gd name="T61" fmla="*/ 0 h 168"/>
                  <a:gd name="T62" fmla="*/ 7 w 180"/>
                  <a:gd name="T63" fmla="*/ 0 h 168"/>
                  <a:gd name="T64" fmla="*/ 7 w 180"/>
                  <a:gd name="T65" fmla="*/ 0 h 168"/>
                  <a:gd name="T66" fmla="*/ 7 w 180"/>
                  <a:gd name="T67" fmla="*/ 0 h 168"/>
                  <a:gd name="T68" fmla="*/ 8 w 180"/>
                  <a:gd name="T69" fmla="*/ 0 h 168"/>
                  <a:gd name="T70" fmla="*/ 8 w 180"/>
                  <a:gd name="T71" fmla="*/ 0 h 168"/>
                  <a:gd name="T72" fmla="*/ 8 w 180"/>
                  <a:gd name="T73" fmla="*/ 0 h 168"/>
                  <a:gd name="T74" fmla="*/ 8 w 180"/>
                  <a:gd name="T75" fmla="*/ 0 h 168"/>
                  <a:gd name="T76" fmla="*/ 8 w 180"/>
                  <a:gd name="T77" fmla="*/ 2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80"/>
                  <a:gd name="T118" fmla="*/ 0 h 168"/>
                  <a:gd name="T119" fmla="*/ 180 w 180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80" h="168">
                    <a:moveTo>
                      <a:pt x="179" y="163"/>
                    </a:moveTo>
                    <a:lnTo>
                      <a:pt x="179" y="164"/>
                    </a:lnTo>
                    <a:lnTo>
                      <a:pt x="178" y="165"/>
                    </a:lnTo>
                    <a:lnTo>
                      <a:pt x="177" y="166"/>
                    </a:lnTo>
                    <a:lnTo>
                      <a:pt x="176" y="167"/>
                    </a:lnTo>
                    <a:lnTo>
                      <a:pt x="2" y="167"/>
                    </a:lnTo>
                    <a:lnTo>
                      <a:pt x="1" y="167"/>
                    </a:lnTo>
                    <a:lnTo>
                      <a:pt x="1" y="166"/>
                    </a:lnTo>
                    <a:lnTo>
                      <a:pt x="0" y="166"/>
                    </a:lnTo>
                    <a:lnTo>
                      <a:pt x="0" y="165"/>
                    </a:lnTo>
                    <a:lnTo>
                      <a:pt x="0" y="164"/>
                    </a:lnTo>
                    <a:lnTo>
                      <a:pt x="0" y="163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176" y="0"/>
                    </a:lnTo>
                    <a:lnTo>
                      <a:pt x="177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2"/>
                    </a:lnTo>
                    <a:lnTo>
                      <a:pt x="179" y="3"/>
                    </a:lnTo>
                    <a:lnTo>
                      <a:pt x="179" y="163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66" name="Freeform 908"/>
              <p:cNvSpPr>
                <a:spLocks/>
              </p:cNvSpPr>
              <p:nvPr/>
            </p:nvSpPr>
            <p:spPr bwMode="auto">
              <a:xfrm>
                <a:off x="2461" y="3128"/>
                <a:ext cx="84" cy="60"/>
              </a:xfrm>
              <a:custGeom>
                <a:avLst/>
                <a:gdLst>
                  <a:gd name="T0" fmla="*/ 0 w 142"/>
                  <a:gd name="T1" fmla="*/ 0 h 124"/>
                  <a:gd name="T2" fmla="*/ 1 w 142"/>
                  <a:gd name="T3" fmla="*/ 0 h 124"/>
                  <a:gd name="T4" fmla="*/ 1 w 142"/>
                  <a:gd name="T5" fmla="*/ 0 h 124"/>
                  <a:gd name="T6" fmla="*/ 1 w 142"/>
                  <a:gd name="T7" fmla="*/ 0 h 124"/>
                  <a:gd name="T8" fmla="*/ 1 w 142"/>
                  <a:gd name="T9" fmla="*/ 0 h 124"/>
                  <a:gd name="T10" fmla="*/ 1 w 142"/>
                  <a:gd name="T11" fmla="*/ 0 h 124"/>
                  <a:gd name="T12" fmla="*/ 1 w 142"/>
                  <a:gd name="T13" fmla="*/ 0 h 124"/>
                  <a:gd name="T14" fmla="*/ 1 w 142"/>
                  <a:gd name="T15" fmla="*/ 0 h 124"/>
                  <a:gd name="T16" fmla="*/ 6 w 142"/>
                  <a:gd name="T17" fmla="*/ 0 h 124"/>
                  <a:gd name="T18" fmla="*/ 6 w 142"/>
                  <a:gd name="T19" fmla="*/ 0 h 124"/>
                  <a:gd name="T20" fmla="*/ 6 w 142"/>
                  <a:gd name="T21" fmla="*/ 0 h 124"/>
                  <a:gd name="T22" fmla="*/ 6 w 142"/>
                  <a:gd name="T23" fmla="*/ 0 h 124"/>
                  <a:gd name="T24" fmla="*/ 6 w 142"/>
                  <a:gd name="T25" fmla="*/ 0 h 124"/>
                  <a:gd name="T26" fmla="*/ 6 w 142"/>
                  <a:gd name="T27" fmla="*/ 0 h 124"/>
                  <a:gd name="T28" fmla="*/ 6 w 142"/>
                  <a:gd name="T29" fmla="*/ 0 h 124"/>
                  <a:gd name="T30" fmla="*/ 6 w 142"/>
                  <a:gd name="T31" fmla="*/ 0 h 124"/>
                  <a:gd name="T32" fmla="*/ 6 w 142"/>
                  <a:gd name="T33" fmla="*/ 0 h 124"/>
                  <a:gd name="T34" fmla="*/ 6 w 142"/>
                  <a:gd name="T35" fmla="*/ 0 h 124"/>
                  <a:gd name="T36" fmla="*/ 6 w 142"/>
                  <a:gd name="T37" fmla="*/ 0 h 124"/>
                  <a:gd name="T38" fmla="*/ 6 w 142"/>
                  <a:gd name="T39" fmla="*/ 0 h 124"/>
                  <a:gd name="T40" fmla="*/ 6 w 142"/>
                  <a:gd name="T41" fmla="*/ 0 h 124"/>
                  <a:gd name="T42" fmla="*/ 6 w 142"/>
                  <a:gd name="T43" fmla="*/ 1 h 124"/>
                  <a:gd name="T44" fmla="*/ 6 w 142"/>
                  <a:gd name="T45" fmla="*/ 1 h 124"/>
                  <a:gd name="T46" fmla="*/ 6 w 142"/>
                  <a:gd name="T47" fmla="*/ 1 h 124"/>
                  <a:gd name="T48" fmla="*/ 6 w 142"/>
                  <a:gd name="T49" fmla="*/ 1 h 124"/>
                  <a:gd name="T50" fmla="*/ 6 w 142"/>
                  <a:gd name="T51" fmla="*/ 1 h 124"/>
                  <a:gd name="T52" fmla="*/ 6 w 142"/>
                  <a:gd name="T53" fmla="*/ 1 h 124"/>
                  <a:gd name="T54" fmla="*/ 6 w 142"/>
                  <a:gd name="T55" fmla="*/ 1 h 124"/>
                  <a:gd name="T56" fmla="*/ 6 w 142"/>
                  <a:gd name="T57" fmla="*/ 1 h 124"/>
                  <a:gd name="T58" fmla="*/ 6 w 142"/>
                  <a:gd name="T59" fmla="*/ 1 h 124"/>
                  <a:gd name="T60" fmla="*/ 6 w 142"/>
                  <a:gd name="T61" fmla="*/ 1 h 124"/>
                  <a:gd name="T62" fmla="*/ 6 w 142"/>
                  <a:gd name="T63" fmla="*/ 1 h 124"/>
                  <a:gd name="T64" fmla="*/ 6 w 142"/>
                  <a:gd name="T65" fmla="*/ 1 h 124"/>
                  <a:gd name="T66" fmla="*/ 1 w 142"/>
                  <a:gd name="T67" fmla="*/ 1 h 124"/>
                  <a:gd name="T68" fmla="*/ 1 w 142"/>
                  <a:gd name="T69" fmla="*/ 1 h 124"/>
                  <a:gd name="T70" fmla="*/ 1 w 142"/>
                  <a:gd name="T71" fmla="*/ 1 h 124"/>
                  <a:gd name="T72" fmla="*/ 1 w 142"/>
                  <a:gd name="T73" fmla="*/ 1 h 124"/>
                  <a:gd name="T74" fmla="*/ 1 w 142"/>
                  <a:gd name="T75" fmla="*/ 1 h 124"/>
                  <a:gd name="T76" fmla="*/ 1 w 142"/>
                  <a:gd name="T77" fmla="*/ 1 h 124"/>
                  <a:gd name="T78" fmla="*/ 1 w 142"/>
                  <a:gd name="T79" fmla="*/ 1 h 124"/>
                  <a:gd name="T80" fmla="*/ 0 w 142"/>
                  <a:gd name="T81" fmla="*/ 1 h 124"/>
                  <a:gd name="T82" fmla="*/ 0 w 142"/>
                  <a:gd name="T83" fmla="*/ 1 h 124"/>
                  <a:gd name="T84" fmla="*/ 0 w 142"/>
                  <a:gd name="T85" fmla="*/ 1 h 124"/>
                  <a:gd name="T86" fmla="*/ 0 w 142"/>
                  <a:gd name="T87" fmla="*/ 1 h 124"/>
                  <a:gd name="T88" fmla="*/ 0 w 142"/>
                  <a:gd name="T89" fmla="*/ 1 h 124"/>
                  <a:gd name="T90" fmla="*/ 0 w 142"/>
                  <a:gd name="T91" fmla="*/ 0 h 124"/>
                  <a:gd name="T92" fmla="*/ 0 w 142"/>
                  <a:gd name="T93" fmla="*/ 0 h 124"/>
                  <a:gd name="T94" fmla="*/ 0 w 142"/>
                  <a:gd name="T95" fmla="*/ 0 h 124"/>
                  <a:gd name="T96" fmla="*/ 0 w 142"/>
                  <a:gd name="T97" fmla="*/ 0 h 124"/>
                  <a:gd name="T98" fmla="*/ 0 w 142"/>
                  <a:gd name="T99" fmla="*/ 0 h 124"/>
                  <a:gd name="T100" fmla="*/ 0 w 142"/>
                  <a:gd name="T101" fmla="*/ 0 h 124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42"/>
                  <a:gd name="T154" fmla="*/ 0 h 124"/>
                  <a:gd name="T155" fmla="*/ 142 w 142"/>
                  <a:gd name="T156" fmla="*/ 124 h 124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42" h="124">
                    <a:moveTo>
                      <a:pt x="0" y="1"/>
                    </a:moveTo>
                    <a:lnTo>
                      <a:pt x="1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8" y="1"/>
                    </a:lnTo>
                    <a:lnTo>
                      <a:pt x="139" y="1"/>
                    </a:lnTo>
                    <a:lnTo>
                      <a:pt x="140" y="2"/>
                    </a:lnTo>
                    <a:lnTo>
                      <a:pt x="140" y="3"/>
                    </a:lnTo>
                    <a:lnTo>
                      <a:pt x="141" y="3"/>
                    </a:lnTo>
                    <a:lnTo>
                      <a:pt x="141" y="4"/>
                    </a:lnTo>
                    <a:lnTo>
                      <a:pt x="141" y="5"/>
                    </a:lnTo>
                    <a:lnTo>
                      <a:pt x="141" y="117"/>
                    </a:lnTo>
                    <a:lnTo>
                      <a:pt x="141" y="119"/>
                    </a:lnTo>
                    <a:lnTo>
                      <a:pt x="140" y="119"/>
                    </a:lnTo>
                    <a:lnTo>
                      <a:pt x="140" y="120"/>
                    </a:lnTo>
                    <a:lnTo>
                      <a:pt x="139" y="121"/>
                    </a:lnTo>
                    <a:lnTo>
                      <a:pt x="138" y="122"/>
                    </a:lnTo>
                    <a:lnTo>
                      <a:pt x="137" y="122"/>
                    </a:lnTo>
                    <a:lnTo>
                      <a:pt x="137" y="123"/>
                    </a:lnTo>
                    <a:lnTo>
                      <a:pt x="136" y="123"/>
                    </a:lnTo>
                    <a:lnTo>
                      <a:pt x="135" y="123"/>
                    </a:lnTo>
                    <a:lnTo>
                      <a:pt x="4" y="123"/>
                    </a:lnTo>
                    <a:lnTo>
                      <a:pt x="3" y="123"/>
                    </a:lnTo>
                    <a:lnTo>
                      <a:pt x="2" y="122"/>
                    </a:lnTo>
                    <a:lnTo>
                      <a:pt x="1" y="122"/>
                    </a:lnTo>
                    <a:lnTo>
                      <a:pt x="1" y="121"/>
                    </a:lnTo>
                    <a:lnTo>
                      <a:pt x="0" y="121"/>
                    </a:lnTo>
                    <a:lnTo>
                      <a:pt x="0" y="120"/>
                    </a:lnTo>
                    <a:lnTo>
                      <a:pt x="0" y="119"/>
                    </a:lnTo>
                    <a:lnTo>
                      <a:pt x="0" y="117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</a:path>
                </a:pathLst>
              </a:custGeom>
              <a:gradFill rotWithShape="0">
                <a:gsLst>
                  <a:gs pos="0">
                    <a:srgbClr val="1D2B4B"/>
                  </a:gs>
                  <a:gs pos="50000">
                    <a:srgbClr val="618FFD"/>
                  </a:gs>
                  <a:gs pos="100000">
                    <a:srgbClr val="1D2B4B"/>
                  </a:gs>
                </a:gsLst>
                <a:lin ang="2700000" scaled="1"/>
              </a:gra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67" name="Freeform 909"/>
              <p:cNvSpPr>
                <a:spLocks/>
              </p:cNvSpPr>
              <p:nvPr/>
            </p:nvSpPr>
            <p:spPr bwMode="auto">
              <a:xfrm>
                <a:off x="2458" y="3125"/>
                <a:ext cx="90" cy="8"/>
              </a:xfrm>
              <a:custGeom>
                <a:avLst/>
                <a:gdLst>
                  <a:gd name="T0" fmla="*/ 6 w 153"/>
                  <a:gd name="T1" fmla="*/ 0 h 17"/>
                  <a:gd name="T2" fmla="*/ 6 w 153"/>
                  <a:gd name="T3" fmla="*/ 0 h 17"/>
                  <a:gd name="T4" fmla="*/ 6 w 153"/>
                  <a:gd name="T5" fmla="*/ 0 h 17"/>
                  <a:gd name="T6" fmla="*/ 6 w 153"/>
                  <a:gd name="T7" fmla="*/ 0 h 17"/>
                  <a:gd name="T8" fmla="*/ 6 w 153"/>
                  <a:gd name="T9" fmla="*/ 0 h 17"/>
                  <a:gd name="T10" fmla="*/ 6 w 153"/>
                  <a:gd name="T11" fmla="*/ 0 h 17"/>
                  <a:gd name="T12" fmla="*/ 6 w 153"/>
                  <a:gd name="T13" fmla="*/ 0 h 17"/>
                  <a:gd name="T14" fmla="*/ 6 w 153"/>
                  <a:gd name="T15" fmla="*/ 0 h 17"/>
                  <a:gd name="T16" fmla="*/ 6 w 153"/>
                  <a:gd name="T17" fmla="*/ 0 h 17"/>
                  <a:gd name="T18" fmla="*/ 6 w 153"/>
                  <a:gd name="T19" fmla="*/ 0 h 17"/>
                  <a:gd name="T20" fmla="*/ 6 w 153"/>
                  <a:gd name="T21" fmla="*/ 0 h 17"/>
                  <a:gd name="T22" fmla="*/ 6 w 153"/>
                  <a:gd name="T23" fmla="*/ 0 h 17"/>
                  <a:gd name="T24" fmla="*/ 1 w 153"/>
                  <a:gd name="T25" fmla="*/ 0 h 17"/>
                  <a:gd name="T26" fmla="*/ 1 w 153"/>
                  <a:gd name="T27" fmla="*/ 0 h 17"/>
                  <a:gd name="T28" fmla="*/ 1 w 153"/>
                  <a:gd name="T29" fmla="*/ 0 h 17"/>
                  <a:gd name="T30" fmla="*/ 1 w 153"/>
                  <a:gd name="T31" fmla="*/ 0 h 17"/>
                  <a:gd name="T32" fmla="*/ 1 w 153"/>
                  <a:gd name="T33" fmla="*/ 0 h 17"/>
                  <a:gd name="T34" fmla="*/ 0 w 153"/>
                  <a:gd name="T35" fmla="*/ 0 h 17"/>
                  <a:gd name="T36" fmla="*/ 0 w 153"/>
                  <a:gd name="T37" fmla="*/ 0 h 17"/>
                  <a:gd name="T38" fmla="*/ 0 w 153"/>
                  <a:gd name="T39" fmla="*/ 0 h 17"/>
                  <a:gd name="T40" fmla="*/ 1 w 153"/>
                  <a:gd name="T41" fmla="*/ 0 h 17"/>
                  <a:gd name="T42" fmla="*/ 1 w 153"/>
                  <a:gd name="T43" fmla="*/ 0 h 17"/>
                  <a:gd name="T44" fmla="*/ 1 w 153"/>
                  <a:gd name="T45" fmla="*/ 0 h 17"/>
                  <a:gd name="T46" fmla="*/ 1 w 153"/>
                  <a:gd name="T47" fmla="*/ 0 h 17"/>
                  <a:gd name="T48" fmla="*/ 1 w 153"/>
                  <a:gd name="T49" fmla="*/ 0 h 17"/>
                  <a:gd name="T50" fmla="*/ 1 w 153"/>
                  <a:gd name="T51" fmla="*/ 0 h 17"/>
                  <a:gd name="T52" fmla="*/ 1 w 153"/>
                  <a:gd name="T53" fmla="*/ 0 h 17"/>
                  <a:gd name="T54" fmla="*/ 1 w 153"/>
                  <a:gd name="T55" fmla="*/ 0 h 17"/>
                  <a:gd name="T56" fmla="*/ 5 w 153"/>
                  <a:gd name="T57" fmla="*/ 0 h 17"/>
                  <a:gd name="T58" fmla="*/ 6 w 153"/>
                  <a:gd name="T59" fmla="*/ 0 h 17"/>
                  <a:gd name="T60" fmla="*/ 6 w 153"/>
                  <a:gd name="T61" fmla="*/ 0 h 17"/>
                  <a:gd name="T62" fmla="*/ 6 w 153"/>
                  <a:gd name="T63" fmla="*/ 0 h 17"/>
                  <a:gd name="T64" fmla="*/ 6 w 153"/>
                  <a:gd name="T65" fmla="*/ 0 h 17"/>
                  <a:gd name="T66" fmla="*/ 6 w 153"/>
                  <a:gd name="T67" fmla="*/ 0 h 17"/>
                  <a:gd name="T68" fmla="*/ 6 w 153"/>
                  <a:gd name="T69" fmla="*/ 0 h 17"/>
                  <a:gd name="T70" fmla="*/ 6 w 153"/>
                  <a:gd name="T71" fmla="*/ 0 h 17"/>
                  <a:gd name="T72" fmla="*/ 6 w 153"/>
                  <a:gd name="T73" fmla="*/ 0 h 1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53"/>
                  <a:gd name="T112" fmla="*/ 0 h 17"/>
                  <a:gd name="T113" fmla="*/ 153 w 153"/>
                  <a:gd name="T114" fmla="*/ 17 h 1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53" h="17">
                    <a:moveTo>
                      <a:pt x="152" y="4"/>
                    </a:moveTo>
                    <a:lnTo>
                      <a:pt x="151" y="3"/>
                    </a:lnTo>
                    <a:lnTo>
                      <a:pt x="151" y="2"/>
                    </a:lnTo>
                    <a:lnTo>
                      <a:pt x="150" y="2"/>
                    </a:lnTo>
                    <a:lnTo>
                      <a:pt x="150" y="1"/>
                    </a:lnTo>
                    <a:lnTo>
                      <a:pt x="149" y="1"/>
                    </a:lnTo>
                    <a:lnTo>
                      <a:pt x="148" y="0"/>
                    </a:lnTo>
                    <a:lnTo>
                      <a:pt x="147" y="0"/>
                    </a:lnTo>
                    <a:lnTo>
                      <a:pt x="146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6" y="16"/>
                    </a:lnTo>
                    <a:lnTo>
                      <a:pt x="7" y="14"/>
                    </a:lnTo>
                    <a:lnTo>
                      <a:pt x="8" y="13"/>
                    </a:lnTo>
                    <a:lnTo>
                      <a:pt x="8" y="12"/>
                    </a:lnTo>
                    <a:lnTo>
                      <a:pt x="9" y="12"/>
                    </a:lnTo>
                    <a:lnTo>
                      <a:pt x="10" y="12"/>
                    </a:lnTo>
                    <a:lnTo>
                      <a:pt x="140" y="12"/>
                    </a:lnTo>
                    <a:lnTo>
                      <a:pt x="141" y="12"/>
                    </a:lnTo>
                    <a:lnTo>
                      <a:pt x="142" y="12"/>
                    </a:lnTo>
                    <a:lnTo>
                      <a:pt x="142" y="13"/>
                    </a:lnTo>
                    <a:lnTo>
                      <a:pt x="143" y="13"/>
                    </a:lnTo>
                    <a:lnTo>
                      <a:pt x="143" y="14"/>
                    </a:lnTo>
                    <a:lnTo>
                      <a:pt x="144" y="14"/>
                    </a:lnTo>
                    <a:lnTo>
                      <a:pt x="152" y="4"/>
                    </a:lnTo>
                  </a:path>
                </a:pathLst>
              </a:custGeom>
              <a:solidFill>
                <a:srgbClr val="9F9FA2"/>
              </a:solidFill>
              <a:ln w="12700" cap="rnd">
                <a:solidFill>
                  <a:srgbClr val="9F9FA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68" name="Freeform 910"/>
              <p:cNvSpPr>
                <a:spLocks/>
              </p:cNvSpPr>
              <p:nvPr/>
            </p:nvSpPr>
            <p:spPr bwMode="auto">
              <a:xfrm>
                <a:off x="2457" y="3126"/>
                <a:ext cx="10" cy="65"/>
              </a:xfrm>
              <a:custGeom>
                <a:avLst/>
                <a:gdLst>
                  <a:gd name="T0" fmla="*/ 1 w 17"/>
                  <a:gd name="T1" fmla="*/ 0 h 135"/>
                  <a:gd name="T2" fmla="*/ 1 w 17"/>
                  <a:gd name="T3" fmla="*/ 0 h 135"/>
                  <a:gd name="T4" fmla="*/ 0 w 17"/>
                  <a:gd name="T5" fmla="*/ 0 h 135"/>
                  <a:gd name="T6" fmla="*/ 0 w 17"/>
                  <a:gd name="T7" fmla="*/ 0 h 135"/>
                  <a:gd name="T8" fmla="*/ 0 w 17"/>
                  <a:gd name="T9" fmla="*/ 0 h 135"/>
                  <a:gd name="T10" fmla="*/ 0 w 17"/>
                  <a:gd name="T11" fmla="*/ 0 h 135"/>
                  <a:gd name="T12" fmla="*/ 0 w 17"/>
                  <a:gd name="T13" fmla="*/ 0 h 135"/>
                  <a:gd name="T14" fmla="*/ 0 w 17"/>
                  <a:gd name="T15" fmla="*/ 1 h 135"/>
                  <a:gd name="T16" fmla="*/ 0 w 17"/>
                  <a:gd name="T17" fmla="*/ 1 h 135"/>
                  <a:gd name="T18" fmla="*/ 0 w 17"/>
                  <a:gd name="T19" fmla="*/ 1 h 135"/>
                  <a:gd name="T20" fmla="*/ 0 w 17"/>
                  <a:gd name="T21" fmla="*/ 1 h 135"/>
                  <a:gd name="T22" fmla="*/ 0 w 17"/>
                  <a:gd name="T23" fmla="*/ 1 h 135"/>
                  <a:gd name="T24" fmla="*/ 1 w 17"/>
                  <a:gd name="T25" fmla="*/ 1 h 135"/>
                  <a:gd name="T26" fmla="*/ 1 w 17"/>
                  <a:gd name="T27" fmla="*/ 1 h 135"/>
                  <a:gd name="T28" fmla="*/ 1 w 17"/>
                  <a:gd name="T29" fmla="*/ 1 h 135"/>
                  <a:gd name="T30" fmla="*/ 1 w 17"/>
                  <a:gd name="T31" fmla="*/ 1 h 135"/>
                  <a:gd name="T32" fmla="*/ 1 w 17"/>
                  <a:gd name="T33" fmla="*/ 1 h 135"/>
                  <a:gd name="T34" fmla="*/ 1 w 17"/>
                  <a:gd name="T35" fmla="*/ 1 h 135"/>
                  <a:gd name="T36" fmla="*/ 1 w 17"/>
                  <a:gd name="T37" fmla="*/ 1 h 135"/>
                  <a:gd name="T38" fmla="*/ 1 w 17"/>
                  <a:gd name="T39" fmla="*/ 1 h 135"/>
                  <a:gd name="T40" fmla="*/ 1 w 17"/>
                  <a:gd name="T41" fmla="*/ 1 h 135"/>
                  <a:gd name="T42" fmla="*/ 1 w 17"/>
                  <a:gd name="T43" fmla="*/ 1 h 135"/>
                  <a:gd name="T44" fmla="*/ 1 w 17"/>
                  <a:gd name="T45" fmla="*/ 1 h 135"/>
                  <a:gd name="T46" fmla="*/ 1 w 17"/>
                  <a:gd name="T47" fmla="*/ 0 h 135"/>
                  <a:gd name="T48" fmla="*/ 1 w 17"/>
                  <a:gd name="T49" fmla="*/ 0 h 135"/>
                  <a:gd name="T50" fmla="*/ 1 w 17"/>
                  <a:gd name="T51" fmla="*/ 0 h 135"/>
                  <a:gd name="T52" fmla="*/ 1 w 17"/>
                  <a:gd name="T53" fmla="*/ 0 h 135"/>
                  <a:gd name="T54" fmla="*/ 1 w 17"/>
                  <a:gd name="T55" fmla="*/ 0 h 135"/>
                  <a:gd name="T56" fmla="*/ 1 w 17"/>
                  <a:gd name="T57" fmla="*/ 0 h 135"/>
                  <a:gd name="T58" fmla="*/ 1 w 17"/>
                  <a:gd name="T59" fmla="*/ 0 h 135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7"/>
                  <a:gd name="T91" fmla="*/ 0 h 135"/>
                  <a:gd name="T92" fmla="*/ 17 w 17"/>
                  <a:gd name="T93" fmla="*/ 135 h 135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7" h="135">
                    <a:moveTo>
                      <a:pt x="2" y="0"/>
                    </a:moveTo>
                    <a:lnTo>
                      <a:pt x="1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0" y="130"/>
                    </a:lnTo>
                    <a:lnTo>
                      <a:pt x="0" y="131"/>
                    </a:lnTo>
                    <a:lnTo>
                      <a:pt x="0" y="132"/>
                    </a:lnTo>
                    <a:lnTo>
                      <a:pt x="1" y="133"/>
                    </a:lnTo>
                    <a:lnTo>
                      <a:pt x="2" y="133"/>
                    </a:lnTo>
                    <a:lnTo>
                      <a:pt x="2" y="134"/>
                    </a:lnTo>
                    <a:lnTo>
                      <a:pt x="3" y="134"/>
                    </a:lnTo>
                    <a:lnTo>
                      <a:pt x="16" y="127"/>
                    </a:lnTo>
                    <a:lnTo>
                      <a:pt x="15" y="126"/>
                    </a:lnTo>
                    <a:lnTo>
                      <a:pt x="14" y="126"/>
                    </a:lnTo>
                    <a:lnTo>
                      <a:pt x="14" y="125"/>
                    </a:lnTo>
                    <a:lnTo>
                      <a:pt x="13" y="124"/>
                    </a:lnTo>
                    <a:lnTo>
                      <a:pt x="13" y="10"/>
                    </a:lnTo>
                    <a:lnTo>
                      <a:pt x="13" y="9"/>
                    </a:lnTo>
                    <a:lnTo>
                      <a:pt x="13" y="8"/>
                    </a:lnTo>
                    <a:lnTo>
                      <a:pt x="14" y="8"/>
                    </a:lnTo>
                    <a:lnTo>
                      <a:pt x="15" y="7"/>
                    </a:lnTo>
                    <a:lnTo>
                      <a:pt x="15" y="6"/>
                    </a:lnTo>
                    <a:lnTo>
                      <a:pt x="2" y="0"/>
                    </a:lnTo>
                  </a:path>
                </a:pathLst>
              </a:custGeom>
              <a:solidFill>
                <a:srgbClr val="666666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69" name="Freeform 911"/>
              <p:cNvSpPr>
                <a:spLocks/>
              </p:cNvSpPr>
              <p:nvPr/>
            </p:nvSpPr>
            <p:spPr bwMode="auto">
              <a:xfrm>
                <a:off x="2458" y="3126"/>
                <a:ext cx="91" cy="65"/>
              </a:xfrm>
              <a:custGeom>
                <a:avLst/>
                <a:gdLst>
                  <a:gd name="T0" fmla="*/ 0 w 155"/>
                  <a:gd name="T1" fmla="*/ 1 h 136"/>
                  <a:gd name="T2" fmla="*/ 0 w 155"/>
                  <a:gd name="T3" fmla="*/ 1 h 136"/>
                  <a:gd name="T4" fmla="*/ 0 w 155"/>
                  <a:gd name="T5" fmla="*/ 1 h 136"/>
                  <a:gd name="T6" fmla="*/ 1 w 155"/>
                  <a:gd name="T7" fmla="*/ 1 h 136"/>
                  <a:gd name="T8" fmla="*/ 1 w 155"/>
                  <a:gd name="T9" fmla="*/ 1 h 136"/>
                  <a:gd name="T10" fmla="*/ 1 w 155"/>
                  <a:gd name="T11" fmla="*/ 1 h 136"/>
                  <a:gd name="T12" fmla="*/ 1 w 155"/>
                  <a:gd name="T13" fmla="*/ 1 h 136"/>
                  <a:gd name="T14" fmla="*/ 1 w 155"/>
                  <a:gd name="T15" fmla="*/ 1 h 136"/>
                  <a:gd name="T16" fmla="*/ 6 w 155"/>
                  <a:gd name="T17" fmla="*/ 1 h 136"/>
                  <a:gd name="T18" fmla="*/ 6 w 155"/>
                  <a:gd name="T19" fmla="*/ 1 h 136"/>
                  <a:gd name="T20" fmla="*/ 6 w 155"/>
                  <a:gd name="T21" fmla="*/ 1 h 136"/>
                  <a:gd name="T22" fmla="*/ 6 w 155"/>
                  <a:gd name="T23" fmla="*/ 1 h 136"/>
                  <a:gd name="T24" fmla="*/ 6 w 155"/>
                  <a:gd name="T25" fmla="*/ 1 h 136"/>
                  <a:gd name="T26" fmla="*/ 6 w 155"/>
                  <a:gd name="T27" fmla="*/ 1 h 136"/>
                  <a:gd name="T28" fmla="*/ 6 w 155"/>
                  <a:gd name="T29" fmla="*/ 1 h 136"/>
                  <a:gd name="T30" fmla="*/ 6 w 155"/>
                  <a:gd name="T31" fmla="*/ 1 h 136"/>
                  <a:gd name="T32" fmla="*/ 6 w 155"/>
                  <a:gd name="T33" fmla="*/ 1 h 136"/>
                  <a:gd name="T34" fmla="*/ 6 w 155"/>
                  <a:gd name="T35" fmla="*/ 1 h 136"/>
                  <a:gd name="T36" fmla="*/ 6 w 155"/>
                  <a:gd name="T37" fmla="*/ 1 h 136"/>
                  <a:gd name="T38" fmla="*/ 6 w 155"/>
                  <a:gd name="T39" fmla="*/ 0 h 136"/>
                  <a:gd name="T40" fmla="*/ 6 w 155"/>
                  <a:gd name="T41" fmla="*/ 0 h 136"/>
                  <a:gd name="T42" fmla="*/ 6 w 155"/>
                  <a:gd name="T43" fmla="*/ 0 h 136"/>
                  <a:gd name="T44" fmla="*/ 6 w 155"/>
                  <a:gd name="T45" fmla="*/ 0 h 136"/>
                  <a:gd name="T46" fmla="*/ 6 w 155"/>
                  <a:gd name="T47" fmla="*/ 0 h 136"/>
                  <a:gd name="T48" fmla="*/ 6 w 155"/>
                  <a:gd name="T49" fmla="*/ 0 h 136"/>
                  <a:gd name="T50" fmla="*/ 6 w 155"/>
                  <a:gd name="T51" fmla="*/ 0 h 136"/>
                  <a:gd name="T52" fmla="*/ 6 w 155"/>
                  <a:gd name="T53" fmla="*/ 0 h 136"/>
                  <a:gd name="T54" fmla="*/ 6 w 155"/>
                  <a:gd name="T55" fmla="*/ 0 h 136"/>
                  <a:gd name="T56" fmla="*/ 6 w 155"/>
                  <a:gd name="T57" fmla="*/ 0 h 136"/>
                  <a:gd name="T58" fmla="*/ 6 w 155"/>
                  <a:gd name="T59" fmla="*/ 0 h 136"/>
                  <a:gd name="T60" fmla="*/ 6 w 155"/>
                  <a:gd name="T61" fmla="*/ 0 h 136"/>
                  <a:gd name="T62" fmla="*/ 6 w 155"/>
                  <a:gd name="T63" fmla="*/ 0 h 136"/>
                  <a:gd name="T64" fmla="*/ 6 w 155"/>
                  <a:gd name="T65" fmla="*/ 0 h 136"/>
                  <a:gd name="T66" fmla="*/ 6 w 155"/>
                  <a:gd name="T67" fmla="*/ 0 h 136"/>
                  <a:gd name="T68" fmla="*/ 6 w 155"/>
                  <a:gd name="T69" fmla="*/ 0 h 136"/>
                  <a:gd name="T70" fmla="*/ 6 w 155"/>
                  <a:gd name="T71" fmla="*/ 1 h 136"/>
                  <a:gd name="T72" fmla="*/ 6 w 155"/>
                  <a:gd name="T73" fmla="*/ 1 h 136"/>
                  <a:gd name="T74" fmla="*/ 6 w 155"/>
                  <a:gd name="T75" fmla="*/ 1 h 136"/>
                  <a:gd name="T76" fmla="*/ 6 w 155"/>
                  <a:gd name="T77" fmla="*/ 1 h 136"/>
                  <a:gd name="T78" fmla="*/ 6 w 155"/>
                  <a:gd name="T79" fmla="*/ 1 h 136"/>
                  <a:gd name="T80" fmla="*/ 6 w 155"/>
                  <a:gd name="T81" fmla="*/ 1 h 136"/>
                  <a:gd name="T82" fmla="*/ 6 w 155"/>
                  <a:gd name="T83" fmla="*/ 1 h 136"/>
                  <a:gd name="T84" fmla="*/ 6 w 155"/>
                  <a:gd name="T85" fmla="*/ 1 h 136"/>
                  <a:gd name="T86" fmla="*/ 6 w 155"/>
                  <a:gd name="T87" fmla="*/ 1 h 136"/>
                  <a:gd name="T88" fmla="*/ 6 w 155"/>
                  <a:gd name="T89" fmla="*/ 1 h 136"/>
                  <a:gd name="T90" fmla="*/ 6 w 155"/>
                  <a:gd name="T91" fmla="*/ 1 h 136"/>
                  <a:gd name="T92" fmla="*/ 6 w 155"/>
                  <a:gd name="T93" fmla="*/ 1 h 136"/>
                  <a:gd name="T94" fmla="*/ 1 w 155"/>
                  <a:gd name="T95" fmla="*/ 1 h 136"/>
                  <a:gd name="T96" fmla="*/ 1 w 155"/>
                  <a:gd name="T97" fmla="*/ 1 h 136"/>
                  <a:gd name="T98" fmla="*/ 1 w 155"/>
                  <a:gd name="T99" fmla="*/ 1 h 136"/>
                  <a:gd name="T100" fmla="*/ 1 w 155"/>
                  <a:gd name="T101" fmla="*/ 1 h 136"/>
                  <a:gd name="T102" fmla="*/ 1 w 155"/>
                  <a:gd name="T103" fmla="*/ 1 h 136"/>
                  <a:gd name="T104" fmla="*/ 1 w 155"/>
                  <a:gd name="T105" fmla="*/ 1 h 136"/>
                  <a:gd name="T106" fmla="*/ 1 w 155"/>
                  <a:gd name="T107" fmla="*/ 1 h 136"/>
                  <a:gd name="T108" fmla="*/ 1 w 155"/>
                  <a:gd name="T109" fmla="*/ 1 h 136"/>
                  <a:gd name="T110" fmla="*/ 0 w 155"/>
                  <a:gd name="T111" fmla="*/ 1 h 1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155"/>
                  <a:gd name="T169" fmla="*/ 0 h 136"/>
                  <a:gd name="T170" fmla="*/ 155 w 155"/>
                  <a:gd name="T171" fmla="*/ 136 h 1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155" h="136">
                    <a:moveTo>
                      <a:pt x="0" y="133"/>
                    </a:moveTo>
                    <a:lnTo>
                      <a:pt x="0" y="134"/>
                    </a:lnTo>
                    <a:lnTo>
                      <a:pt x="1" y="134"/>
                    </a:lnTo>
                    <a:lnTo>
                      <a:pt x="2" y="135"/>
                    </a:lnTo>
                    <a:lnTo>
                      <a:pt x="3" y="135"/>
                    </a:lnTo>
                    <a:lnTo>
                      <a:pt x="148" y="135"/>
                    </a:lnTo>
                    <a:lnTo>
                      <a:pt x="150" y="134"/>
                    </a:lnTo>
                    <a:lnTo>
                      <a:pt x="151" y="134"/>
                    </a:lnTo>
                    <a:lnTo>
                      <a:pt x="151" y="133"/>
                    </a:lnTo>
                    <a:lnTo>
                      <a:pt x="152" y="133"/>
                    </a:lnTo>
                    <a:lnTo>
                      <a:pt x="153" y="132"/>
                    </a:lnTo>
                    <a:lnTo>
                      <a:pt x="153" y="131"/>
                    </a:lnTo>
                    <a:lnTo>
                      <a:pt x="154" y="131"/>
                    </a:lnTo>
                    <a:lnTo>
                      <a:pt x="154" y="129"/>
                    </a:lnTo>
                    <a:lnTo>
                      <a:pt x="154" y="3"/>
                    </a:lnTo>
                    <a:lnTo>
                      <a:pt x="154" y="2"/>
                    </a:lnTo>
                    <a:lnTo>
                      <a:pt x="154" y="1"/>
                    </a:lnTo>
                    <a:lnTo>
                      <a:pt x="153" y="1"/>
                    </a:lnTo>
                    <a:lnTo>
                      <a:pt x="153" y="0"/>
                    </a:lnTo>
                    <a:lnTo>
                      <a:pt x="145" y="5"/>
                    </a:lnTo>
                    <a:lnTo>
                      <a:pt x="146" y="6"/>
                    </a:lnTo>
                    <a:lnTo>
                      <a:pt x="146" y="7"/>
                    </a:lnTo>
                    <a:lnTo>
                      <a:pt x="146" y="8"/>
                    </a:lnTo>
                    <a:lnTo>
                      <a:pt x="146" y="9"/>
                    </a:lnTo>
                    <a:lnTo>
                      <a:pt x="146" y="123"/>
                    </a:lnTo>
                    <a:lnTo>
                      <a:pt x="146" y="124"/>
                    </a:lnTo>
                    <a:lnTo>
                      <a:pt x="146" y="125"/>
                    </a:lnTo>
                    <a:lnTo>
                      <a:pt x="145" y="126"/>
                    </a:lnTo>
                    <a:lnTo>
                      <a:pt x="145" y="127"/>
                    </a:lnTo>
                    <a:lnTo>
                      <a:pt x="144" y="127"/>
                    </a:lnTo>
                    <a:lnTo>
                      <a:pt x="143" y="127"/>
                    </a:lnTo>
                    <a:lnTo>
                      <a:pt x="143" y="128"/>
                    </a:lnTo>
                    <a:lnTo>
                      <a:pt x="142" y="128"/>
                    </a:lnTo>
                    <a:lnTo>
                      <a:pt x="9" y="128"/>
                    </a:lnTo>
                    <a:lnTo>
                      <a:pt x="8" y="128"/>
                    </a:lnTo>
                    <a:lnTo>
                      <a:pt x="8" y="127"/>
                    </a:lnTo>
                    <a:lnTo>
                      <a:pt x="7" y="127"/>
                    </a:lnTo>
                    <a:lnTo>
                      <a:pt x="6" y="127"/>
                    </a:lnTo>
                    <a:lnTo>
                      <a:pt x="0" y="133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9999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70" name="Freeform 912"/>
              <p:cNvSpPr>
                <a:spLocks/>
              </p:cNvSpPr>
              <p:nvPr/>
            </p:nvSpPr>
            <p:spPr bwMode="auto">
              <a:xfrm>
                <a:off x="2458" y="3125"/>
                <a:ext cx="90" cy="8"/>
              </a:xfrm>
              <a:custGeom>
                <a:avLst/>
                <a:gdLst>
                  <a:gd name="T0" fmla="*/ 6 w 153"/>
                  <a:gd name="T1" fmla="*/ 0 h 17"/>
                  <a:gd name="T2" fmla="*/ 6 w 153"/>
                  <a:gd name="T3" fmla="*/ 0 h 17"/>
                  <a:gd name="T4" fmla="*/ 6 w 153"/>
                  <a:gd name="T5" fmla="*/ 0 h 17"/>
                  <a:gd name="T6" fmla="*/ 6 w 153"/>
                  <a:gd name="T7" fmla="*/ 0 h 17"/>
                  <a:gd name="T8" fmla="*/ 6 w 153"/>
                  <a:gd name="T9" fmla="*/ 0 h 17"/>
                  <a:gd name="T10" fmla="*/ 6 w 153"/>
                  <a:gd name="T11" fmla="*/ 0 h 17"/>
                  <a:gd name="T12" fmla="*/ 6 w 153"/>
                  <a:gd name="T13" fmla="*/ 0 h 17"/>
                  <a:gd name="T14" fmla="*/ 6 w 153"/>
                  <a:gd name="T15" fmla="*/ 0 h 17"/>
                  <a:gd name="T16" fmla="*/ 6 w 153"/>
                  <a:gd name="T17" fmla="*/ 0 h 17"/>
                  <a:gd name="T18" fmla="*/ 6 w 153"/>
                  <a:gd name="T19" fmla="*/ 0 h 17"/>
                  <a:gd name="T20" fmla="*/ 6 w 153"/>
                  <a:gd name="T21" fmla="*/ 0 h 17"/>
                  <a:gd name="T22" fmla="*/ 6 w 153"/>
                  <a:gd name="T23" fmla="*/ 0 h 17"/>
                  <a:gd name="T24" fmla="*/ 1 w 153"/>
                  <a:gd name="T25" fmla="*/ 0 h 17"/>
                  <a:gd name="T26" fmla="*/ 1 w 153"/>
                  <a:gd name="T27" fmla="*/ 0 h 17"/>
                  <a:gd name="T28" fmla="*/ 1 w 153"/>
                  <a:gd name="T29" fmla="*/ 0 h 17"/>
                  <a:gd name="T30" fmla="*/ 1 w 153"/>
                  <a:gd name="T31" fmla="*/ 0 h 17"/>
                  <a:gd name="T32" fmla="*/ 1 w 153"/>
                  <a:gd name="T33" fmla="*/ 0 h 17"/>
                  <a:gd name="T34" fmla="*/ 0 w 153"/>
                  <a:gd name="T35" fmla="*/ 0 h 17"/>
                  <a:gd name="T36" fmla="*/ 0 w 153"/>
                  <a:gd name="T37" fmla="*/ 0 h 17"/>
                  <a:gd name="T38" fmla="*/ 0 w 153"/>
                  <a:gd name="T39" fmla="*/ 0 h 1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53"/>
                  <a:gd name="T61" fmla="*/ 0 h 17"/>
                  <a:gd name="T62" fmla="*/ 153 w 153"/>
                  <a:gd name="T63" fmla="*/ 17 h 1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53" h="17">
                    <a:moveTo>
                      <a:pt x="152" y="16"/>
                    </a:moveTo>
                    <a:lnTo>
                      <a:pt x="151" y="16"/>
                    </a:lnTo>
                    <a:lnTo>
                      <a:pt x="151" y="10"/>
                    </a:lnTo>
                    <a:lnTo>
                      <a:pt x="150" y="10"/>
                    </a:lnTo>
                    <a:lnTo>
                      <a:pt x="150" y="5"/>
                    </a:lnTo>
                    <a:lnTo>
                      <a:pt x="149" y="5"/>
                    </a:lnTo>
                    <a:lnTo>
                      <a:pt x="148" y="0"/>
                    </a:lnTo>
                    <a:lnTo>
                      <a:pt x="147" y="0"/>
                    </a:lnTo>
                    <a:lnTo>
                      <a:pt x="146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5"/>
                    </a:lnTo>
                    <a:lnTo>
                      <a:pt x="0" y="10"/>
                    </a:lnTo>
                    <a:lnTo>
                      <a:pt x="0" y="16"/>
                    </a:lnTo>
                  </a:path>
                </a:pathLst>
              </a:custGeom>
              <a:noFill/>
              <a:ln w="12700" cap="rnd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71" name="Freeform 913"/>
              <p:cNvSpPr>
                <a:spLocks/>
              </p:cNvSpPr>
              <p:nvPr/>
            </p:nvSpPr>
            <p:spPr bwMode="auto">
              <a:xfrm>
                <a:off x="2441" y="3217"/>
                <a:ext cx="127" cy="35"/>
              </a:xfrm>
              <a:custGeom>
                <a:avLst/>
                <a:gdLst>
                  <a:gd name="T0" fmla="*/ 0 w 215"/>
                  <a:gd name="T1" fmla="*/ 1 h 72"/>
                  <a:gd name="T2" fmla="*/ 0 w 215"/>
                  <a:gd name="T3" fmla="*/ 0 h 72"/>
                  <a:gd name="T4" fmla="*/ 9 w 215"/>
                  <a:gd name="T5" fmla="*/ 0 h 72"/>
                  <a:gd name="T6" fmla="*/ 9 w 215"/>
                  <a:gd name="T7" fmla="*/ 1 h 72"/>
                  <a:gd name="T8" fmla="*/ 0 w 215"/>
                  <a:gd name="T9" fmla="*/ 1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5"/>
                  <a:gd name="T16" fmla="*/ 0 h 72"/>
                  <a:gd name="T17" fmla="*/ 215 w 215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5" h="72">
                    <a:moveTo>
                      <a:pt x="0" y="71"/>
                    </a:moveTo>
                    <a:lnTo>
                      <a:pt x="0" y="0"/>
                    </a:lnTo>
                    <a:lnTo>
                      <a:pt x="214" y="0"/>
                    </a:lnTo>
                    <a:lnTo>
                      <a:pt x="214" y="71"/>
                    </a:lnTo>
                    <a:lnTo>
                      <a:pt x="0" y="71"/>
                    </a:lnTo>
                  </a:path>
                </a:pathLst>
              </a:cu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72" name="Freeform 914"/>
              <p:cNvSpPr>
                <a:spLocks/>
              </p:cNvSpPr>
              <p:nvPr/>
            </p:nvSpPr>
            <p:spPr bwMode="auto">
              <a:xfrm>
                <a:off x="2440" y="3217"/>
                <a:ext cx="129" cy="11"/>
              </a:xfrm>
              <a:custGeom>
                <a:avLst/>
                <a:gdLst>
                  <a:gd name="T0" fmla="*/ 3 w 219"/>
                  <a:gd name="T1" fmla="*/ 0 h 23"/>
                  <a:gd name="T2" fmla="*/ 0 w 219"/>
                  <a:gd name="T3" fmla="*/ 0 h 23"/>
                  <a:gd name="T4" fmla="*/ 0 w 219"/>
                  <a:gd name="T5" fmla="*/ 0 h 23"/>
                  <a:gd name="T6" fmla="*/ 9 w 219"/>
                  <a:gd name="T7" fmla="*/ 0 h 23"/>
                  <a:gd name="T8" fmla="*/ 9 w 219"/>
                  <a:gd name="T9" fmla="*/ 0 h 23"/>
                  <a:gd name="T10" fmla="*/ 5 w 219"/>
                  <a:gd name="T11" fmla="*/ 0 h 23"/>
                  <a:gd name="T12" fmla="*/ 3 w 219"/>
                  <a:gd name="T13" fmla="*/ 0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19"/>
                  <a:gd name="T22" fmla="*/ 0 h 23"/>
                  <a:gd name="T23" fmla="*/ 219 w 219"/>
                  <a:gd name="T24" fmla="*/ 23 h 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19" h="23">
                    <a:moveTo>
                      <a:pt x="79" y="0"/>
                    </a:moveTo>
                    <a:lnTo>
                      <a:pt x="0" y="0"/>
                    </a:lnTo>
                    <a:lnTo>
                      <a:pt x="0" y="22"/>
                    </a:lnTo>
                    <a:lnTo>
                      <a:pt x="218" y="22"/>
                    </a:lnTo>
                    <a:lnTo>
                      <a:pt x="215" y="0"/>
                    </a:lnTo>
                    <a:lnTo>
                      <a:pt x="137" y="0"/>
                    </a:lnTo>
                    <a:lnTo>
                      <a:pt x="79" y="0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73" name="Freeform 915"/>
              <p:cNvSpPr>
                <a:spLocks/>
              </p:cNvSpPr>
              <p:nvPr/>
            </p:nvSpPr>
            <p:spPr bwMode="auto">
              <a:xfrm>
                <a:off x="2528" y="3220"/>
                <a:ext cx="33" cy="8"/>
              </a:xfrm>
              <a:custGeom>
                <a:avLst/>
                <a:gdLst>
                  <a:gd name="T0" fmla="*/ 0 w 56"/>
                  <a:gd name="T1" fmla="*/ 0 h 17"/>
                  <a:gd name="T2" fmla="*/ 1 w 56"/>
                  <a:gd name="T3" fmla="*/ 0 h 17"/>
                  <a:gd name="T4" fmla="*/ 1 w 56"/>
                  <a:gd name="T5" fmla="*/ 0 h 17"/>
                  <a:gd name="T6" fmla="*/ 1 w 56"/>
                  <a:gd name="T7" fmla="*/ 0 h 17"/>
                  <a:gd name="T8" fmla="*/ 1 w 56"/>
                  <a:gd name="T9" fmla="*/ 0 h 17"/>
                  <a:gd name="T10" fmla="*/ 2 w 56"/>
                  <a:gd name="T11" fmla="*/ 0 h 17"/>
                  <a:gd name="T12" fmla="*/ 2 w 56"/>
                  <a:gd name="T13" fmla="*/ 0 h 17"/>
                  <a:gd name="T14" fmla="*/ 1 w 56"/>
                  <a:gd name="T15" fmla="*/ 0 h 17"/>
                  <a:gd name="T16" fmla="*/ 1 w 56"/>
                  <a:gd name="T17" fmla="*/ 0 h 17"/>
                  <a:gd name="T18" fmla="*/ 1 w 56"/>
                  <a:gd name="T19" fmla="*/ 0 h 17"/>
                  <a:gd name="T20" fmla="*/ 1 w 56"/>
                  <a:gd name="T21" fmla="*/ 0 h 17"/>
                  <a:gd name="T22" fmla="*/ 0 w 56"/>
                  <a:gd name="T23" fmla="*/ 0 h 17"/>
                  <a:gd name="T24" fmla="*/ 0 w 56"/>
                  <a:gd name="T25" fmla="*/ 0 h 1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6"/>
                  <a:gd name="T40" fmla="*/ 0 h 17"/>
                  <a:gd name="T41" fmla="*/ 56 w 56"/>
                  <a:gd name="T42" fmla="*/ 17 h 1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6" h="17">
                    <a:moveTo>
                      <a:pt x="0" y="6"/>
                    </a:moveTo>
                    <a:lnTo>
                      <a:pt x="18" y="6"/>
                    </a:lnTo>
                    <a:lnTo>
                      <a:pt x="18" y="0"/>
                    </a:lnTo>
                    <a:lnTo>
                      <a:pt x="35" y="0"/>
                    </a:lnTo>
                    <a:lnTo>
                      <a:pt x="35" y="6"/>
                    </a:lnTo>
                    <a:lnTo>
                      <a:pt x="55" y="6"/>
                    </a:lnTo>
                    <a:lnTo>
                      <a:pt x="55" y="10"/>
                    </a:lnTo>
                    <a:lnTo>
                      <a:pt x="35" y="10"/>
                    </a:lnTo>
                    <a:lnTo>
                      <a:pt x="35" y="16"/>
                    </a:lnTo>
                    <a:lnTo>
                      <a:pt x="18" y="16"/>
                    </a:lnTo>
                    <a:lnTo>
                      <a:pt x="18" y="10"/>
                    </a:lnTo>
                    <a:lnTo>
                      <a:pt x="0" y="10"/>
                    </a:lnTo>
                    <a:lnTo>
                      <a:pt x="0" y="6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74" name="Freeform 916"/>
              <p:cNvSpPr>
                <a:spLocks/>
              </p:cNvSpPr>
              <p:nvPr/>
            </p:nvSpPr>
            <p:spPr bwMode="auto">
              <a:xfrm>
                <a:off x="2528" y="3223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1 w 17"/>
                  <a:gd name="T3" fmla="*/ 0 h 17"/>
                  <a:gd name="T4" fmla="*/ 1 w 17"/>
                  <a:gd name="T5" fmla="*/ 0 h 17"/>
                  <a:gd name="T6" fmla="*/ 0 w 17"/>
                  <a:gd name="T7" fmla="*/ 0 h 1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17"/>
                  <a:gd name="T14" fmla="*/ 17 w 17"/>
                  <a:gd name="T15" fmla="*/ 17 h 1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17">
                    <a:moveTo>
                      <a:pt x="0" y="16"/>
                    </a:moveTo>
                    <a:lnTo>
                      <a:pt x="16" y="10"/>
                    </a:lnTo>
                    <a:lnTo>
                      <a:pt x="16" y="5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rnd">
                <a:solidFill>
                  <a:srgbClr val="EFEFD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75" name="Freeform 917"/>
              <p:cNvSpPr>
                <a:spLocks/>
              </p:cNvSpPr>
              <p:nvPr/>
            </p:nvSpPr>
            <p:spPr bwMode="auto">
              <a:xfrm>
                <a:off x="2539" y="3220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1 w 17"/>
                  <a:gd name="T3" fmla="*/ 0 h 17"/>
                  <a:gd name="T4" fmla="*/ 0 w 17"/>
                  <a:gd name="T5" fmla="*/ 0 h 17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17"/>
                  <a:gd name="T11" fmla="*/ 17 w 17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17">
                    <a:moveTo>
                      <a:pt x="0" y="0"/>
                    </a:moveTo>
                    <a:lnTo>
                      <a:pt x="16" y="16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rnd">
                <a:solidFill>
                  <a:srgbClr val="EFE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76" name="Freeform 918"/>
              <p:cNvSpPr>
                <a:spLocks/>
              </p:cNvSpPr>
              <p:nvPr/>
            </p:nvSpPr>
            <p:spPr bwMode="auto">
              <a:xfrm>
                <a:off x="2561" y="3224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1 w 17"/>
                  <a:gd name="T3" fmla="*/ 0 h 17"/>
                  <a:gd name="T4" fmla="*/ 0 w 17"/>
                  <a:gd name="T5" fmla="*/ 0 h 17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17"/>
                  <a:gd name="T11" fmla="*/ 17 w 17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17">
                    <a:moveTo>
                      <a:pt x="0" y="0"/>
                    </a:moveTo>
                    <a:lnTo>
                      <a:pt x="16" y="16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rnd">
                <a:solidFill>
                  <a:srgbClr val="EFE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77" name="Freeform 919"/>
              <p:cNvSpPr>
                <a:spLocks/>
              </p:cNvSpPr>
              <p:nvPr/>
            </p:nvSpPr>
            <p:spPr bwMode="auto">
              <a:xfrm>
                <a:off x="2549" y="3220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1 w 17"/>
                  <a:gd name="T3" fmla="*/ 0 h 17"/>
                  <a:gd name="T4" fmla="*/ 0 w 17"/>
                  <a:gd name="T5" fmla="*/ 0 h 17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17"/>
                  <a:gd name="T11" fmla="*/ 17 w 17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17">
                    <a:moveTo>
                      <a:pt x="0" y="16"/>
                    </a:moveTo>
                    <a:lnTo>
                      <a:pt x="16" y="0"/>
                    </a:lnTo>
                    <a:lnTo>
                      <a:pt x="0" y="16"/>
                    </a:lnTo>
                  </a:path>
                </a:pathLst>
              </a:custGeom>
              <a:noFill/>
              <a:ln w="12700" cap="rnd">
                <a:solidFill>
                  <a:srgbClr val="EFE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78" name="Freeform 920"/>
              <p:cNvSpPr>
                <a:spLocks/>
              </p:cNvSpPr>
              <p:nvPr/>
            </p:nvSpPr>
            <p:spPr bwMode="auto">
              <a:xfrm>
                <a:off x="2540" y="3222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1 w 17"/>
                  <a:gd name="T3" fmla="*/ 0 h 17"/>
                  <a:gd name="T4" fmla="*/ 1 w 17"/>
                  <a:gd name="T5" fmla="*/ 0 h 17"/>
                  <a:gd name="T6" fmla="*/ 0 w 17"/>
                  <a:gd name="T7" fmla="*/ 0 h 17"/>
                  <a:gd name="T8" fmla="*/ 0 w 17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0" y="16"/>
                    </a:moveTo>
                    <a:lnTo>
                      <a:pt x="16" y="16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9F9FA2"/>
              </a:solidFill>
              <a:ln w="12700" cap="rnd">
                <a:solidFill>
                  <a:srgbClr val="9F9FA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79" name="Freeform 921"/>
              <p:cNvSpPr>
                <a:spLocks/>
              </p:cNvSpPr>
              <p:nvPr/>
            </p:nvSpPr>
            <p:spPr bwMode="auto">
              <a:xfrm>
                <a:off x="2529" y="3223"/>
                <a:ext cx="32" cy="8"/>
              </a:xfrm>
              <a:custGeom>
                <a:avLst/>
                <a:gdLst>
                  <a:gd name="T0" fmla="*/ 0 w 54"/>
                  <a:gd name="T1" fmla="*/ 0 h 17"/>
                  <a:gd name="T2" fmla="*/ 2 w 54"/>
                  <a:gd name="T3" fmla="*/ 0 h 17"/>
                  <a:gd name="T4" fmla="*/ 2 w 54"/>
                  <a:gd name="T5" fmla="*/ 0 h 17"/>
                  <a:gd name="T6" fmla="*/ 0 w 54"/>
                  <a:gd name="T7" fmla="*/ 0 h 17"/>
                  <a:gd name="T8" fmla="*/ 0 w 54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"/>
                  <a:gd name="T16" fmla="*/ 0 h 17"/>
                  <a:gd name="T17" fmla="*/ 54 w 5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" h="17">
                    <a:moveTo>
                      <a:pt x="0" y="0"/>
                    </a:moveTo>
                    <a:lnTo>
                      <a:pt x="53" y="0"/>
                    </a:lnTo>
                    <a:lnTo>
                      <a:pt x="53" y="16"/>
                    </a:lnTo>
                    <a:lnTo>
                      <a:pt x="0" y="1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80" name="Freeform 922"/>
              <p:cNvSpPr>
                <a:spLocks/>
              </p:cNvSpPr>
              <p:nvPr/>
            </p:nvSpPr>
            <p:spPr bwMode="auto">
              <a:xfrm>
                <a:off x="2539" y="3220"/>
                <a:ext cx="12" cy="8"/>
              </a:xfrm>
              <a:custGeom>
                <a:avLst/>
                <a:gdLst>
                  <a:gd name="T0" fmla="*/ 1 w 19"/>
                  <a:gd name="T1" fmla="*/ 0 h 17"/>
                  <a:gd name="T2" fmla="*/ 1 w 19"/>
                  <a:gd name="T3" fmla="*/ 0 h 17"/>
                  <a:gd name="T4" fmla="*/ 1 w 19"/>
                  <a:gd name="T5" fmla="*/ 0 h 17"/>
                  <a:gd name="T6" fmla="*/ 0 w 19"/>
                  <a:gd name="T7" fmla="*/ 0 h 17"/>
                  <a:gd name="T8" fmla="*/ 0 w 19"/>
                  <a:gd name="T9" fmla="*/ 0 h 17"/>
                  <a:gd name="T10" fmla="*/ 0 w 19"/>
                  <a:gd name="T11" fmla="*/ 0 h 1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"/>
                  <a:gd name="T19" fmla="*/ 0 h 17"/>
                  <a:gd name="T20" fmla="*/ 19 w 19"/>
                  <a:gd name="T21" fmla="*/ 17 h 1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" h="17">
                    <a:moveTo>
                      <a:pt x="18" y="12"/>
                    </a:moveTo>
                    <a:lnTo>
                      <a:pt x="17" y="16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0" y="12"/>
                    </a:lnTo>
                  </a:path>
                </a:pathLst>
              </a:custGeom>
              <a:noFill/>
              <a:ln w="12700" cap="rnd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81" name="Freeform 923"/>
              <p:cNvSpPr>
                <a:spLocks/>
              </p:cNvSpPr>
              <p:nvPr/>
            </p:nvSpPr>
            <p:spPr bwMode="auto">
              <a:xfrm>
                <a:off x="2501" y="3225"/>
                <a:ext cx="10" cy="8"/>
              </a:xfrm>
              <a:custGeom>
                <a:avLst/>
                <a:gdLst>
                  <a:gd name="T0" fmla="*/ 1 w 17"/>
                  <a:gd name="T1" fmla="*/ 0 h 17"/>
                  <a:gd name="T2" fmla="*/ 1 w 17"/>
                  <a:gd name="T3" fmla="*/ 0 h 17"/>
                  <a:gd name="T4" fmla="*/ 0 w 17"/>
                  <a:gd name="T5" fmla="*/ 0 h 17"/>
                  <a:gd name="T6" fmla="*/ 0 w 17"/>
                  <a:gd name="T7" fmla="*/ 0 h 17"/>
                  <a:gd name="T8" fmla="*/ 1 w 17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16" y="0"/>
                    </a:moveTo>
                    <a:lnTo>
                      <a:pt x="16" y="16"/>
                    </a:lnTo>
                    <a:lnTo>
                      <a:pt x="0" y="16"/>
                    </a:lnTo>
                    <a:lnTo>
                      <a:pt x="0" y="0"/>
                    </a:lnTo>
                    <a:lnTo>
                      <a:pt x="16" y="0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82" name="Freeform 924"/>
              <p:cNvSpPr>
                <a:spLocks/>
              </p:cNvSpPr>
              <p:nvPr/>
            </p:nvSpPr>
            <p:spPr bwMode="auto">
              <a:xfrm>
                <a:off x="2501" y="3225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1 w 17"/>
                  <a:gd name="T3" fmla="*/ 0 h 17"/>
                  <a:gd name="T4" fmla="*/ 1 w 17"/>
                  <a:gd name="T5" fmla="*/ 0 h 17"/>
                  <a:gd name="T6" fmla="*/ 0 w 17"/>
                  <a:gd name="T7" fmla="*/ 0 h 17"/>
                  <a:gd name="T8" fmla="*/ 0 w 17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0" y="0"/>
                    </a:moveTo>
                    <a:lnTo>
                      <a:pt x="16" y="0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83" name="Freeform 925"/>
              <p:cNvSpPr>
                <a:spLocks/>
              </p:cNvSpPr>
              <p:nvPr/>
            </p:nvSpPr>
            <p:spPr bwMode="auto">
              <a:xfrm>
                <a:off x="2492" y="3221"/>
                <a:ext cx="26" cy="8"/>
              </a:xfrm>
              <a:custGeom>
                <a:avLst/>
                <a:gdLst>
                  <a:gd name="T0" fmla="*/ 1 w 44"/>
                  <a:gd name="T1" fmla="*/ 0 h 17"/>
                  <a:gd name="T2" fmla="*/ 0 w 44"/>
                  <a:gd name="T3" fmla="*/ 0 h 17"/>
                  <a:gd name="T4" fmla="*/ 0 w 44"/>
                  <a:gd name="T5" fmla="*/ 0 h 17"/>
                  <a:gd name="T6" fmla="*/ 1 w 44"/>
                  <a:gd name="T7" fmla="*/ 0 h 17"/>
                  <a:gd name="T8" fmla="*/ 1 w 44"/>
                  <a:gd name="T9" fmla="*/ 0 h 17"/>
                  <a:gd name="T10" fmla="*/ 1 w 44"/>
                  <a:gd name="T11" fmla="*/ 0 h 17"/>
                  <a:gd name="T12" fmla="*/ 1 w 44"/>
                  <a:gd name="T13" fmla="*/ 0 h 17"/>
                  <a:gd name="T14" fmla="*/ 2 w 44"/>
                  <a:gd name="T15" fmla="*/ 0 h 17"/>
                  <a:gd name="T16" fmla="*/ 2 w 44"/>
                  <a:gd name="T17" fmla="*/ 0 h 17"/>
                  <a:gd name="T18" fmla="*/ 1 w 44"/>
                  <a:gd name="T19" fmla="*/ 0 h 17"/>
                  <a:gd name="T20" fmla="*/ 1 w 44"/>
                  <a:gd name="T21" fmla="*/ 0 h 1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4"/>
                  <a:gd name="T34" fmla="*/ 0 h 17"/>
                  <a:gd name="T35" fmla="*/ 44 w 44"/>
                  <a:gd name="T36" fmla="*/ 17 h 1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4" h="17">
                    <a:moveTo>
                      <a:pt x="14" y="16"/>
                    </a:moveTo>
                    <a:lnTo>
                      <a:pt x="0" y="16"/>
                    </a:lnTo>
                    <a:lnTo>
                      <a:pt x="0" y="8"/>
                    </a:lnTo>
                    <a:lnTo>
                      <a:pt x="14" y="8"/>
                    </a:lnTo>
                    <a:lnTo>
                      <a:pt x="14" y="0"/>
                    </a:lnTo>
                    <a:lnTo>
                      <a:pt x="28" y="0"/>
                    </a:lnTo>
                    <a:lnTo>
                      <a:pt x="28" y="8"/>
                    </a:lnTo>
                    <a:lnTo>
                      <a:pt x="43" y="8"/>
                    </a:lnTo>
                    <a:lnTo>
                      <a:pt x="43" y="16"/>
                    </a:lnTo>
                    <a:lnTo>
                      <a:pt x="28" y="16"/>
                    </a:lnTo>
                    <a:lnTo>
                      <a:pt x="14" y="16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84" name="Freeform 926"/>
              <p:cNvSpPr>
                <a:spLocks/>
              </p:cNvSpPr>
              <p:nvPr/>
            </p:nvSpPr>
            <p:spPr bwMode="auto">
              <a:xfrm>
                <a:off x="2501" y="3221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1 w 17"/>
                  <a:gd name="T3" fmla="*/ 0 h 17"/>
                  <a:gd name="T4" fmla="*/ 1 w 17"/>
                  <a:gd name="T5" fmla="*/ 0 h 17"/>
                  <a:gd name="T6" fmla="*/ 0 w 17"/>
                  <a:gd name="T7" fmla="*/ 0 h 17"/>
                  <a:gd name="T8" fmla="*/ 0 w 17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0" y="0"/>
                    </a:moveTo>
                    <a:lnTo>
                      <a:pt x="16" y="0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85" name="Freeform 927"/>
              <p:cNvSpPr>
                <a:spLocks/>
              </p:cNvSpPr>
              <p:nvPr/>
            </p:nvSpPr>
            <p:spPr bwMode="auto">
              <a:xfrm>
                <a:off x="2473" y="3219"/>
                <a:ext cx="11" cy="9"/>
              </a:xfrm>
              <a:custGeom>
                <a:avLst/>
                <a:gdLst>
                  <a:gd name="T0" fmla="*/ 1 w 20"/>
                  <a:gd name="T1" fmla="*/ 1 h 17"/>
                  <a:gd name="T2" fmla="*/ 1 w 20"/>
                  <a:gd name="T3" fmla="*/ 1 h 17"/>
                  <a:gd name="T4" fmla="*/ 1 w 20"/>
                  <a:gd name="T5" fmla="*/ 1 h 17"/>
                  <a:gd name="T6" fmla="*/ 1 w 20"/>
                  <a:gd name="T7" fmla="*/ 1 h 17"/>
                  <a:gd name="T8" fmla="*/ 1 w 20"/>
                  <a:gd name="T9" fmla="*/ 1 h 17"/>
                  <a:gd name="T10" fmla="*/ 0 w 20"/>
                  <a:gd name="T11" fmla="*/ 1 h 17"/>
                  <a:gd name="T12" fmla="*/ 0 w 20"/>
                  <a:gd name="T13" fmla="*/ 1 h 17"/>
                  <a:gd name="T14" fmla="*/ 0 w 20"/>
                  <a:gd name="T15" fmla="*/ 1 h 17"/>
                  <a:gd name="T16" fmla="*/ 0 w 20"/>
                  <a:gd name="T17" fmla="*/ 1 h 17"/>
                  <a:gd name="T18" fmla="*/ 0 w 20"/>
                  <a:gd name="T19" fmla="*/ 1 h 17"/>
                  <a:gd name="T20" fmla="*/ 0 w 20"/>
                  <a:gd name="T21" fmla="*/ 1 h 17"/>
                  <a:gd name="T22" fmla="*/ 1 w 20"/>
                  <a:gd name="T23" fmla="*/ 1 h 17"/>
                  <a:gd name="T24" fmla="*/ 1 w 20"/>
                  <a:gd name="T25" fmla="*/ 1 h 17"/>
                  <a:gd name="T26" fmla="*/ 1 w 20"/>
                  <a:gd name="T27" fmla="*/ 0 h 17"/>
                  <a:gd name="T28" fmla="*/ 1 w 20"/>
                  <a:gd name="T29" fmla="*/ 0 h 17"/>
                  <a:gd name="T30" fmla="*/ 1 w 20"/>
                  <a:gd name="T31" fmla="*/ 0 h 17"/>
                  <a:gd name="T32" fmla="*/ 1 w 20"/>
                  <a:gd name="T33" fmla="*/ 0 h 17"/>
                  <a:gd name="T34" fmla="*/ 1 w 20"/>
                  <a:gd name="T35" fmla="*/ 0 h 17"/>
                  <a:gd name="T36" fmla="*/ 1 w 20"/>
                  <a:gd name="T37" fmla="*/ 0 h 17"/>
                  <a:gd name="T38" fmla="*/ 1 w 20"/>
                  <a:gd name="T39" fmla="*/ 1 h 17"/>
                  <a:gd name="T40" fmla="*/ 1 w 20"/>
                  <a:gd name="T41" fmla="*/ 1 h 17"/>
                  <a:gd name="T42" fmla="*/ 1 w 20"/>
                  <a:gd name="T43" fmla="*/ 1 h 17"/>
                  <a:gd name="T44" fmla="*/ 1 w 20"/>
                  <a:gd name="T45" fmla="*/ 1 h 17"/>
                  <a:gd name="T46" fmla="*/ 1 w 20"/>
                  <a:gd name="T47" fmla="*/ 1 h 17"/>
                  <a:gd name="T48" fmla="*/ 1 w 20"/>
                  <a:gd name="T49" fmla="*/ 1 h 17"/>
                  <a:gd name="T50" fmla="*/ 1 w 20"/>
                  <a:gd name="T51" fmla="*/ 1 h 17"/>
                  <a:gd name="T52" fmla="*/ 1 w 20"/>
                  <a:gd name="T53" fmla="*/ 1 h 17"/>
                  <a:gd name="T54" fmla="*/ 1 w 20"/>
                  <a:gd name="T55" fmla="*/ 1 h 17"/>
                  <a:gd name="T56" fmla="*/ 1 w 20"/>
                  <a:gd name="T57" fmla="*/ 1 h 17"/>
                  <a:gd name="T58" fmla="*/ 1 w 20"/>
                  <a:gd name="T59" fmla="*/ 1 h 17"/>
                  <a:gd name="T60" fmla="*/ 1 w 20"/>
                  <a:gd name="T61" fmla="*/ 1 h 17"/>
                  <a:gd name="T62" fmla="*/ 1 w 20"/>
                  <a:gd name="T63" fmla="*/ 1 h 17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0"/>
                  <a:gd name="T97" fmla="*/ 0 h 17"/>
                  <a:gd name="T98" fmla="*/ 20 w 20"/>
                  <a:gd name="T99" fmla="*/ 17 h 17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0" h="17">
                    <a:moveTo>
                      <a:pt x="5" y="16"/>
                    </a:moveTo>
                    <a:lnTo>
                      <a:pt x="5" y="16"/>
                    </a:lnTo>
                    <a:lnTo>
                      <a:pt x="4" y="16"/>
                    </a:lnTo>
                    <a:lnTo>
                      <a:pt x="3" y="15"/>
                    </a:lnTo>
                    <a:lnTo>
                      <a:pt x="2" y="15"/>
                    </a:lnTo>
                    <a:lnTo>
                      <a:pt x="2" y="14"/>
                    </a:lnTo>
                    <a:lnTo>
                      <a:pt x="1" y="14"/>
                    </a:lnTo>
                    <a:lnTo>
                      <a:pt x="1" y="13"/>
                    </a:lnTo>
                    <a:lnTo>
                      <a:pt x="1" y="12"/>
                    </a:lnTo>
                    <a:lnTo>
                      <a:pt x="0" y="12"/>
                    </a:lnTo>
                    <a:lnTo>
                      <a:pt x="0" y="11"/>
                    </a:lnTo>
                    <a:lnTo>
                      <a:pt x="0" y="10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3"/>
                    </a:lnTo>
                    <a:lnTo>
                      <a:pt x="1" y="2"/>
                    </a:lnTo>
                    <a:lnTo>
                      <a:pt x="1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5" y="0"/>
                    </a:lnTo>
                    <a:lnTo>
                      <a:pt x="16" y="1"/>
                    </a:lnTo>
                    <a:lnTo>
                      <a:pt x="16" y="2"/>
                    </a:lnTo>
                    <a:lnTo>
                      <a:pt x="17" y="3"/>
                    </a:lnTo>
                    <a:lnTo>
                      <a:pt x="18" y="4"/>
                    </a:lnTo>
                    <a:lnTo>
                      <a:pt x="18" y="5"/>
                    </a:lnTo>
                    <a:lnTo>
                      <a:pt x="18" y="6"/>
                    </a:lnTo>
                    <a:lnTo>
                      <a:pt x="18" y="7"/>
                    </a:lnTo>
                    <a:lnTo>
                      <a:pt x="19" y="8"/>
                    </a:lnTo>
                    <a:lnTo>
                      <a:pt x="18" y="8"/>
                    </a:lnTo>
                    <a:lnTo>
                      <a:pt x="18" y="9"/>
                    </a:lnTo>
                    <a:lnTo>
                      <a:pt x="18" y="10"/>
                    </a:lnTo>
                    <a:lnTo>
                      <a:pt x="18" y="11"/>
                    </a:lnTo>
                    <a:lnTo>
                      <a:pt x="17" y="12"/>
                    </a:lnTo>
                    <a:lnTo>
                      <a:pt x="16" y="13"/>
                    </a:lnTo>
                    <a:lnTo>
                      <a:pt x="16" y="14"/>
                    </a:lnTo>
                    <a:lnTo>
                      <a:pt x="15" y="15"/>
                    </a:lnTo>
                    <a:lnTo>
                      <a:pt x="13" y="15"/>
                    </a:lnTo>
                    <a:lnTo>
                      <a:pt x="13" y="16"/>
                    </a:lnTo>
                    <a:lnTo>
                      <a:pt x="12" y="16"/>
                    </a:lnTo>
                    <a:lnTo>
                      <a:pt x="5" y="16"/>
                    </a:lnTo>
                  </a:path>
                </a:pathLst>
              </a:custGeom>
              <a:solidFill>
                <a:srgbClr val="666666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86" name="Freeform 928"/>
              <p:cNvSpPr>
                <a:spLocks/>
              </p:cNvSpPr>
              <p:nvPr/>
            </p:nvSpPr>
            <p:spPr bwMode="auto">
              <a:xfrm>
                <a:off x="2487" y="3217"/>
                <a:ext cx="10" cy="18"/>
              </a:xfrm>
              <a:custGeom>
                <a:avLst/>
                <a:gdLst>
                  <a:gd name="T0" fmla="*/ 1 w 17"/>
                  <a:gd name="T1" fmla="*/ 0 h 38"/>
                  <a:gd name="T2" fmla="*/ 0 w 17"/>
                  <a:gd name="T3" fmla="*/ 0 h 38"/>
                  <a:gd name="T4" fmla="*/ 1 w 17"/>
                  <a:gd name="T5" fmla="*/ 0 h 38"/>
                  <a:gd name="T6" fmla="*/ 1 w 17"/>
                  <a:gd name="T7" fmla="*/ 0 h 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38"/>
                  <a:gd name="T14" fmla="*/ 17 w 17"/>
                  <a:gd name="T15" fmla="*/ 38 h 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38">
                    <a:moveTo>
                      <a:pt x="8" y="0"/>
                    </a:moveTo>
                    <a:lnTo>
                      <a:pt x="0" y="22"/>
                    </a:lnTo>
                    <a:lnTo>
                      <a:pt x="16" y="22"/>
                    </a:lnTo>
                    <a:lnTo>
                      <a:pt x="16" y="37"/>
                    </a:lnTo>
                  </a:path>
                </a:pathLst>
              </a:custGeom>
              <a:noFill/>
              <a:ln w="12700" cap="rnd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87" name="Freeform 929"/>
              <p:cNvSpPr>
                <a:spLocks/>
              </p:cNvSpPr>
              <p:nvPr/>
            </p:nvSpPr>
            <p:spPr bwMode="auto">
              <a:xfrm>
                <a:off x="2521" y="3217"/>
                <a:ext cx="10" cy="35"/>
              </a:xfrm>
              <a:custGeom>
                <a:avLst/>
                <a:gdLst>
                  <a:gd name="T0" fmla="*/ 0 w 17"/>
                  <a:gd name="T1" fmla="*/ 0 h 72"/>
                  <a:gd name="T2" fmla="*/ 1 w 17"/>
                  <a:gd name="T3" fmla="*/ 0 h 72"/>
                  <a:gd name="T4" fmla="*/ 0 w 17"/>
                  <a:gd name="T5" fmla="*/ 0 h 72"/>
                  <a:gd name="T6" fmla="*/ 0 w 17"/>
                  <a:gd name="T7" fmla="*/ 1 h 7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72"/>
                  <a:gd name="T14" fmla="*/ 17 w 17"/>
                  <a:gd name="T15" fmla="*/ 72 h 7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72">
                    <a:moveTo>
                      <a:pt x="0" y="0"/>
                    </a:moveTo>
                    <a:lnTo>
                      <a:pt x="16" y="22"/>
                    </a:lnTo>
                    <a:lnTo>
                      <a:pt x="0" y="22"/>
                    </a:lnTo>
                    <a:lnTo>
                      <a:pt x="0" y="71"/>
                    </a:lnTo>
                  </a:path>
                </a:pathLst>
              </a:custGeom>
              <a:noFill/>
              <a:ln w="12700" cap="rnd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88" name="Freeform 930"/>
              <p:cNvSpPr>
                <a:spLocks/>
              </p:cNvSpPr>
              <p:nvPr/>
            </p:nvSpPr>
            <p:spPr bwMode="auto">
              <a:xfrm>
                <a:off x="2448" y="3238"/>
                <a:ext cx="147" cy="19"/>
              </a:xfrm>
              <a:custGeom>
                <a:avLst/>
                <a:gdLst>
                  <a:gd name="T0" fmla="*/ 0 w 250"/>
                  <a:gd name="T1" fmla="*/ 0 h 41"/>
                  <a:gd name="T2" fmla="*/ 11 w 250"/>
                  <a:gd name="T3" fmla="*/ 0 h 41"/>
                  <a:gd name="T4" fmla="*/ 10 w 250"/>
                  <a:gd name="T5" fmla="*/ 0 h 41"/>
                  <a:gd name="T6" fmla="*/ 1 w 250"/>
                  <a:gd name="T7" fmla="*/ 0 h 41"/>
                  <a:gd name="T8" fmla="*/ 0 w 250"/>
                  <a:gd name="T9" fmla="*/ 0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0"/>
                  <a:gd name="T16" fmla="*/ 0 h 41"/>
                  <a:gd name="T17" fmla="*/ 250 w 250"/>
                  <a:gd name="T18" fmla="*/ 41 h 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0" h="41">
                    <a:moveTo>
                      <a:pt x="0" y="40"/>
                    </a:moveTo>
                    <a:lnTo>
                      <a:pt x="249" y="40"/>
                    </a:lnTo>
                    <a:lnTo>
                      <a:pt x="240" y="0"/>
                    </a:lnTo>
                    <a:lnTo>
                      <a:pt x="10" y="0"/>
                    </a:lnTo>
                    <a:lnTo>
                      <a:pt x="0" y="40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89" name="Freeform 931"/>
              <p:cNvSpPr>
                <a:spLocks/>
              </p:cNvSpPr>
              <p:nvPr/>
            </p:nvSpPr>
            <p:spPr bwMode="auto">
              <a:xfrm>
                <a:off x="2448" y="3257"/>
                <a:ext cx="148" cy="8"/>
              </a:xfrm>
              <a:custGeom>
                <a:avLst/>
                <a:gdLst>
                  <a:gd name="T0" fmla="*/ 0 w 251"/>
                  <a:gd name="T1" fmla="*/ 0 h 17"/>
                  <a:gd name="T2" fmla="*/ 0 w 251"/>
                  <a:gd name="T3" fmla="*/ 0 h 17"/>
                  <a:gd name="T4" fmla="*/ 11 w 251"/>
                  <a:gd name="T5" fmla="*/ 0 h 17"/>
                  <a:gd name="T6" fmla="*/ 11 w 251"/>
                  <a:gd name="T7" fmla="*/ 0 h 17"/>
                  <a:gd name="T8" fmla="*/ 0 w 251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1"/>
                  <a:gd name="T16" fmla="*/ 0 h 17"/>
                  <a:gd name="T17" fmla="*/ 251 w 251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1" h="17">
                    <a:moveTo>
                      <a:pt x="0" y="16"/>
                    </a:moveTo>
                    <a:lnTo>
                      <a:pt x="0" y="0"/>
                    </a:lnTo>
                    <a:lnTo>
                      <a:pt x="249" y="0"/>
                    </a:lnTo>
                    <a:lnTo>
                      <a:pt x="250" y="16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CCCC6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90" name="Freeform 932"/>
              <p:cNvSpPr>
                <a:spLocks/>
              </p:cNvSpPr>
              <p:nvPr/>
            </p:nvSpPr>
            <p:spPr bwMode="auto">
              <a:xfrm>
                <a:off x="2458" y="3240"/>
                <a:ext cx="132" cy="14"/>
              </a:xfrm>
              <a:custGeom>
                <a:avLst/>
                <a:gdLst>
                  <a:gd name="T0" fmla="*/ 0 w 223"/>
                  <a:gd name="T1" fmla="*/ 1 h 28"/>
                  <a:gd name="T2" fmla="*/ 9 w 223"/>
                  <a:gd name="T3" fmla="*/ 1 h 28"/>
                  <a:gd name="T4" fmla="*/ 9 w 223"/>
                  <a:gd name="T5" fmla="*/ 0 h 28"/>
                  <a:gd name="T6" fmla="*/ 1 w 223"/>
                  <a:gd name="T7" fmla="*/ 0 h 28"/>
                  <a:gd name="T8" fmla="*/ 0 w 223"/>
                  <a:gd name="T9" fmla="*/ 1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3"/>
                  <a:gd name="T16" fmla="*/ 0 h 28"/>
                  <a:gd name="T17" fmla="*/ 223 w 223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3" h="28">
                    <a:moveTo>
                      <a:pt x="0" y="27"/>
                    </a:moveTo>
                    <a:lnTo>
                      <a:pt x="222" y="27"/>
                    </a:lnTo>
                    <a:lnTo>
                      <a:pt x="214" y="0"/>
                    </a:lnTo>
                    <a:lnTo>
                      <a:pt x="8" y="0"/>
                    </a:lnTo>
                    <a:lnTo>
                      <a:pt x="0" y="27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9F9FA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91" name="Freeform 934"/>
              <p:cNvSpPr>
                <a:spLocks/>
              </p:cNvSpPr>
              <p:nvPr/>
            </p:nvSpPr>
            <p:spPr bwMode="auto">
              <a:xfrm>
                <a:off x="2440" y="3465"/>
                <a:ext cx="121" cy="10"/>
              </a:xfrm>
              <a:custGeom>
                <a:avLst/>
                <a:gdLst>
                  <a:gd name="T0" fmla="*/ 0 w 206"/>
                  <a:gd name="T1" fmla="*/ 1 h 20"/>
                  <a:gd name="T2" fmla="*/ 0 w 206"/>
                  <a:gd name="T3" fmla="*/ 0 h 20"/>
                  <a:gd name="T4" fmla="*/ 8 w 206"/>
                  <a:gd name="T5" fmla="*/ 0 h 20"/>
                  <a:gd name="T6" fmla="*/ 8 w 206"/>
                  <a:gd name="T7" fmla="*/ 1 h 20"/>
                  <a:gd name="T8" fmla="*/ 0 w 206"/>
                  <a:gd name="T9" fmla="*/ 1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6"/>
                  <a:gd name="T16" fmla="*/ 0 h 20"/>
                  <a:gd name="T17" fmla="*/ 206 w 206"/>
                  <a:gd name="T18" fmla="*/ 20 h 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6" h="20">
                    <a:moveTo>
                      <a:pt x="0" y="19"/>
                    </a:moveTo>
                    <a:lnTo>
                      <a:pt x="0" y="0"/>
                    </a:lnTo>
                    <a:lnTo>
                      <a:pt x="205" y="0"/>
                    </a:lnTo>
                    <a:lnTo>
                      <a:pt x="205" y="19"/>
                    </a:lnTo>
                    <a:lnTo>
                      <a:pt x="0" y="19"/>
                    </a:lnTo>
                  </a:path>
                </a:pathLst>
              </a:custGeom>
              <a:solidFill>
                <a:srgbClr val="666666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92" name="Freeform 935"/>
              <p:cNvSpPr>
                <a:spLocks/>
              </p:cNvSpPr>
              <p:nvPr/>
            </p:nvSpPr>
            <p:spPr bwMode="auto">
              <a:xfrm>
                <a:off x="2435" y="3420"/>
                <a:ext cx="129" cy="16"/>
              </a:xfrm>
              <a:custGeom>
                <a:avLst/>
                <a:gdLst>
                  <a:gd name="T0" fmla="*/ 8 w 220"/>
                  <a:gd name="T1" fmla="*/ 0 h 34"/>
                  <a:gd name="T2" fmla="*/ 9 w 220"/>
                  <a:gd name="T3" fmla="*/ 0 h 34"/>
                  <a:gd name="T4" fmla="*/ 0 w 220"/>
                  <a:gd name="T5" fmla="*/ 0 h 34"/>
                  <a:gd name="T6" fmla="*/ 1 w 220"/>
                  <a:gd name="T7" fmla="*/ 0 h 34"/>
                  <a:gd name="T8" fmla="*/ 8 w 220"/>
                  <a:gd name="T9" fmla="*/ 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0"/>
                  <a:gd name="T16" fmla="*/ 0 h 34"/>
                  <a:gd name="T17" fmla="*/ 220 w 220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0" h="34">
                    <a:moveTo>
                      <a:pt x="189" y="0"/>
                    </a:moveTo>
                    <a:lnTo>
                      <a:pt x="219" y="33"/>
                    </a:lnTo>
                    <a:lnTo>
                      <a:pt x="0" y="33"/>
                    </a:lnTo>
                    <a:lnTo>
                      <a:pt x="29" y="0"/>
                    </a:lnTo>
                    <a:lnTo>
                      <a:pt x="189" y="0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93" name="Freeform 936"/>
              <p:cNvSpPr>
                <a:spLocks/>
              </p:cNvSpPr>
              <p:nvPr/>
            </p:nvSpPr>
            <p:spPr bwMode="auto">
              <a:xfrm>
                <a:off x="2468" y="3418"/>
                <a:ext cx="61" cy="11"/>
              </a:xfrm>
              <a:custGeom>
                <a:avLst/>
                <a:gdLst>
                  <a:gd name="T0" fmla="*/ 4 w 104"/>
                  <a:gd name="T1" fmla="*/ 0 h 24"/>
                  <a:gd name="T2" fmla="*/ 4 w 104"/>
                  <a:gd name="T3" fmla="*/ 0 h 24"/>
                  <a:gd name="T4" fmla="*/ 4 w 104"/>
                  <a:gd name="T5" fmla="*/ 0 h 24"/>
                  <a:gd name="T6" fmla="*/ 4 w 104"/>
                  <a:gd name="T7" fmla="*/ 0 h 24"/>
                  <a:gd name="T8" fmla="*/ 4 w 104"/>
                  <a:gd name="T9" fmla="*/ 0 h 24"/>
                  <a:gd name="T10" fmla="*/ 3 w 104"/>
                  <a:gd name="T11" fmla="*/ 0 h 24"/>
                  <a:gd name="T12" fmla="*/ 3 w 104"/>
                  <a:gd name="T13" fmla="*/ 0 h 24"/>
                  <a:gd name="T14" fmla="*/ 3 w 104"/>
                  <a:gd name="T15" fmla="*/ 0 h 24"/>
                  <a:gd name="T16" fmla="*/ 2 w 104"/>
                  <a:gd name="T17" fmla="*/ 0 h 24"/>
                  <a:gd name="T18" fmla="*/ 2 w 104"/>
                  <a:gd name="T19" fmla="*/ 0 h 24"/>
                  <a:gd name="T20" fmla="*/ 2 w 104"/>
                  <a:gd name="T21" fmla="*/ 0 h 24"/>
                  <a:gd name="T22" fmla="*/ 1 w 104"/>
                  <a:gd name="T23" fmla="*/ 0 h 24"/>
                  <a:gd name="T24" fmla="*/ 1 w 104"/>
                  <a:gd name="T25" fmla="*/ 0 h 24"/>
                  <a:gd name="T26" fmla="*/ 1 w 104"/>
                  <a:gd name="T27" fmla="*/ 0 h 24"/>
                  <a:gd name="T28" fmla="*/ 1 w 104"/>
                  <a:gd name="T29" fmla="*/ 0 h 24"/>
                  <a:gd name="T30" fmla="*/ 1 w 104"/>
                  <a:gd name="T31" fmla="*/ 0 h 24"/>
                  <a:gd name="T32" fmla="*/ 1 w 104"/>
                  <a:gd name="T33" fmla="*/ 0 h 24"/>
                  <a:gd name="T34" fmla="*/ 0 w 104"/>
                  <a:gd name="T35" fmla="*/ 0 h 24"/>
                  <a:gd name="T36" fmla="*/ 0 w 104"/>
                  <a:gd name="T37" fmla="*/ 0 h 24"/>
                  <a:gd name="T38" fmla="*/ 1 w 104"/>
                  <a:gd name="T39" fmla="*/ 0 h 24"/>
                  <a:gd name="T40" fmla="*/ 1 w 104"/>
                  <a:gd name="T41" fmla="*/ 0 h 24"/>
                  <a:gd name="T42" fmla="*/ 1 w 104"/>
                  <a:gd name="T43" fmla="*/ 0 h 24"/>
                  <a:gd name="T44" fmla="*/ 1 w 104"/>
                  <a:gd name="T45" fmla="*/ 0 h 24"/>
                  <a:gd name="T46" fmla="*/ 1 w 104"/>
                  <a:gd name="T47" fmla="*/ 0 h 24"/>
                  <a:gd name="T48" fmla="*/ 1 w 104"/>
                  <a:gd name="T49" fmla="*/ 0 h 24"/>
                  <a:gd name="T50" fmla="*/ 2 w 104"/>
                  <a:gd name="T51" fmla="*/ 0 h 24"/>
                  <a:gd name="T52" fmla="*/ 2 w 104"/>
                  <a:gd name="T53" fmla="*/ 0 h 24"/>
                  <a:gd name="T54" fmla="*/ 2 w 104"/>
                  <a:gd name="T55" fmla="*/ 0 h 24"/>
                  <a:gd name="T56" fmla="*/ 3 w 104"/>
                  <a:gd name="T57" fmla="*/ 0 h 24"/>
                  <a:gd name="T58" fmla="*/ 3 w 104"/>
                  <a:gd name="T59" fmla="*/ 0 h 24"/>
                  <a:gd name="T60" fmla="*/ 3 w 104"/>
                  <a:gd name="T61" fmla="*/ 0 h 24"/>
                  <a:gd name="T62" fmla="*/ 4 w 104"/>
                  <a:gd name="T63" fmla="*/ 0 h 24"/>
                  <a:gd name="T64" fmla="*/ 4 w 104"/>
                  <a:gd name="T65" fmla="*/ 0 h 24"/>
                  <a:gd name="T66" fmla="*/ 4 w 104"/>
                  <a:gd name="T67" fmla="*/ 0 h 24"/>
                  <a:gd name="T68" fmla="*/ 4 w 104"/>
                  <a:gd name="T69" fmla="*/ 0 h 24"/>
                  <a:gd name="T70" fmla="*/ 4 w 104"/>
                  <a:gd name="T71" fmla="*/ 0 h 2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04"/>
                  <a:gd name="T109" fmla="*/ 0 h 24"/>
                  <a:gd name="T110" fmla="*/ 104 w 104"/>
                  <a:gd name="T111" fmla="*/ 24 h 2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04" h="24">
                    <a:moveTo>
                      <a:pt x="103" y="11"/>
                    </a:moveTo>
                    <a:lnTo>
                      <a:pt x="102" y="10"/>
                    </a:lnTo>
                    <a:lnTo>
                      <a:pt x="102" y="9"/>
                    </a:lnTo>
                    <a:lnTo>
                      <a:pt x="101" y="8"/>
                    </a:lnTo>
                    <a:lnTo>
                      <a:pt x="99" y="7"/>
                    </a:lnTo>
                    <a:lnTo>
                      <a:pt x="97" y="6"/>
                    </a:lnTo>
                    <a:lnTo>
                      <a:pt x="95" y="6"/>
                    </a:lnTo>
                    <a:lnTo>
                      <a:pt x="93" y="4"/>
                    </a:lnTo>
                    <a:lnTo>
                      <a:pt x="90" y="4"/>
                    </a:lnTo>
                    <a:lnTo>
                      <a:pt x="87" y="3"/>
                    </a:lnTo>
                    <a:lnTo>
                      <a:pt x="84" y="2"/>
                    </a:lnTo>
                    <a:lnTo>
                      <a:pt x="80" y="2"/>
                    </a:lnTo>
                    <a:lnTo>
                      <a:pt x="76" y="1"/>
                    </a:lnTo>
                    <a:lnTo>
                      <a:pt x="72" y="1"/>
                    </a:lnTo>
                    <a:lnTo>
                      <a:pt x="69" y="0"/>
                    </a:lnTo>
                    <a:lnTo>
                      <a:pt x="64" y="0"/>
                    </a:lnTo>
                    <a:lnTo>
                      <a:pt x="60" y="0"/>
                    </a:lnTo>
                    <a:lnTo>
                      <a:pt x="55" y="0"/>
                    </a:lnTo>
                    <a:lnTo>
                      <a:pt x="51" y="0"/>
                    </a:lnTo>
                    <a:lnTo>
                      <a:pt x="46" y="0"/>
                    </a:lnTo>
                    <a:lnTo>
                      <a:pt x="42" y="0"/>
                    </a:lnTo>
                    <a:lnTo>
                      <a:pt x="37" y="0"/>
                    </a:lnTo>
                    <a:lnTo>
                      <a:pt x="33" y="0"/>
                    </a:lnTo>
                    <a:lnTo>
                      <a:pt x="29" y="1"/>
                    </a:lnTo>
                    <a:lnTo>
                      <a:pt x="25" y="1"/>
                    </a:lnTo>
                    <a:lnTo>
                      <a:pt x="21" y="2"/>
                    </a:lnTo>
                    <a:lnTo>
                      <a:pt x="17" y="2"/>
                    </a:lnTo>
                    <a:lnTo>
                      <a:pt x="14" y="3"/>
                    </a:lnTo>
                    <a:lnTo>
                      <a:pt x="12" y="4"/>
                    </a:lnTo>
                    <a:lnTo>
                      <a:pt x="8" y="4"/>
                    </a:lnTo>
                    <a:lnTo>
                      <a:pt x="6" y="6"/>
                    </a:lnTo>
                    <a:lnTo>
                      <a:pt x="4" y="6"/>
                    </a:lnTo>
                    <a:lnTo>
                      <a:pt x="3" y="7"/>
                    </a:lnTo>
                    <a:lnTo>
                      <a:pt x="1" y="8"/>
                    </a:lnTo>
                    <a:lnTo>
                      <a:pt x="0" y="9"/>
                    </a:lnTo>
                    <a:lnTo>
                      <a:pt x="0" y="10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3"/>
                    </a:lnTo>
                    <a:lnTo>
                      <a:pt x="1" y="14"/>
                    </a:lnTo>
                    <a:lnTo>
                      <a:pt x="3" y="15"/>
                    </a:lnTo>
                    <a:lnTo>
                      <a:pt x="4" y="16"/>
                    </a:lnTo>
                    <a:lnTo>
                      <a:pt x="6" y="17"/>
                    </a:lnTo>
                    <a:lnTo>
                      <a:pt x="8" y="17"/>
                    </a:lnTo>
                    <a:lnTo>
                      <a:pt x="12" y="18"/>
                    </a:lnTo>
                    <a:lnTo>
                      <a:pt x="14" y="19"/>
                    </a:lnTo>
                    <a:lnTo>
                      <a:pt x="17" y="20"/>
                    </a:lnTo>
                    <a:lnTo>
                      <a:pt x="21" y="20"/>
                    </a:lnTo>
                    <a:lnTo>
                      <a:pt x="25" y="21"/>
                    </a:lnTo>
                    <a:lnTo>
                      <a:pt x="29" y="21"/>
                    </a:lnTo>
                    <a:lnTo>
                      <a:pt x="33" y="22"/>
                    </a:lnTo>
                    <a:lnTo>
                      <a:pt x="37" y="22"/>
                    </a:lnTo>
                    <a:lnTo>
                      <a:pt x="42" y="22"/>
                    </a:lnTo>
                    <a:lnTo>
                      <a:pt x="46" y="23"/>
                    </a:lnTo>
                    <a:lnTo>
                      <a:pt x="51" y="23"/>
                    </a:lnTo>
                    <a:lnTo>
                      <a:pt x="55" y="23"/>
                    </a:lnTo>
                    <a:lnTo>
                      <a:pt x="60" y="22"/>
                    </a:lnTo>
                    <a:lnTo>
                      <a:pt x="64" y="22"/>
                    </a:lnTo>
                    <a:lnTo>
                      <a:pt x="69" y="22"/>
                    </a:lnTo>
                    <a:lnTo>
                      <a:pt x="72" y="21"/>
                    </a:lnTo>
                    <a:lnTo>
                      <a:pt x="76" y="21"/>
                    </a:lnTo>
                    <a:lnTo>
                      <a:pt x="80" y="20"/>
                    </a:lnTo>
                    <a:lnTo>
                      <a:pt x="84" y="20"/>
                    </a:lnTo>
                    <a:lnTo>
                      <a:pt x="87" y="19"/>
                    </a:lnTo>
                    <a:lnTo>
                      <a:pt x="90" y="18"/>
                    </a:lnTo>
                    <a:lnTo>
                      <a:pt x="93" y="17"/>
                    </a:lnTo>
                    <a:lnTo>
                      <a:pt x="95" y="17"/>
                    </a:lnTo>
                    <a:lnTo>
                      <a:pt x="97" y="16"/>
                    </a:lnTo>
                    <a:lnTo>
                      <a:pt x="99" y="15"/>
                    </a:lnTo>
                    <a:lnTo>
                      <a:pt x="101" y="14"/>
                    </a:lnTo>
                    <a:lnTo>
                      <a:pt x="102" y="13"/>
                    </a:lnTo>
                    <a:lnTo>
                      <a:pt x="102" y="12"/>
                    </a:lnTo>
                    <a:lnTo>
                      <a:pt x="103" y="11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94" name="Freeform 937"/>
              <p:cNvSpPr>
                <a:spLocks/>
              </p:cNvSpPr>
              <p:nvPr/>
            </p:nvSpPr>
            <p:spPr bwMode="auto">
              <a:xfrm>
                <a:off x="2468" y="3423"/>
                <a:ext cx="61" cy="9"/>
              </a:xfrm>
              <a:custGeom>
                <a:avLst/>
                <a:gdLst>
                  <a:gd name="T0" fmla="*/ 4 w 104"/>
                  <a:gd name="T1" fmla="*/ 1 h 17"/>
                  <a:gd name="T2" fmla="*/ 4 w 104"/>
                  <a:gd name="T3" fmla="*/ 1 h 17"/>
                  <a:gd name="T4" fmla="*/ 4 w 104"/>
                  <a:gd name="T5" fmla="*/ 1 h 17"/>
                  <a:gd name="T6" fmla="*/ 4 w 104"/>
                  <a:gd name="T7" fmla="*/ 1 h 17"/>
                  <a:gd name="T8" fmla="*/ 4 w 104"/>
                  <a:gd name="T9" fmla="*/ 1 h 17"/>
                  <a:gd name="T10" fmla="*/ 3 w 104"/>
                  <a:gd name="T11" fmla="*/ 1 h 17"/>
                  <a:gd name="T12" fmla="*/ 3 w 104"/>
                  <a:gd name="T13" fmla="*/ 1 h 17"/>
                  <a:gd name="T14" fmla="*/ 3 w 104"/>
                  <a:gd name="T15" fmla="*/ 1 h 17"/>
                  <a:gd name="T16" fmla="*/ 2 w 104"/>
                  <a:gd name="T17" fmla="*/ 1 h 17"/>
                  <a:gd name="T18" fmla="*/ 2 w 104"/>
                  <a:gd name="T19" fmla="*/ 1 h 17"/>
                  <a:gd name="T20" fmla="*/ 2 w 104"/>
                  <a:gd name="T21" fmla="*/ 1 h 17"/>
                  <a:gd name="T22" fmla="*/ 1 w 104"/>
                  <a:gd name="T23" fmla="*/ 1 h 17"/>
                  <a:gd name="T24" fmla="*/ 1 w 104"/>
                  <a:gd name="T25" fmla="*/ 1 h 17"/>
                  <a:gd name="T26" fmla="*/ 1 w 104"/>
                  <a:gd name="T27" fmla="*/ 1 h 17"/>
                  <a:gd name="T28" fmla="*/ 1 w 104"/>
                  <a:gd name="T29" fmla="*/ 1 h 17"/>
                  <a:gd name="T30" fmla="*/ 1 w 104"/>
                  <a:gd name="T31" fmla="*/ 1 h 17"/>
                  <a:gd name="T32" fmla="*/ 1 w 104"/>
                  <a:gd name="T33" fmla="*/ 1 h 17"/>
                  <a:gd name="T34" fmla="*/ 0 w 104"/>
                  <a:gd name="T35" fmla="*/ 1 h 17"/>
                  <a:gd name="T36" fmla="*/ 0 w 104"/>
                  <a:gd name="T37" fmla="*/ 0 h 17"/>
                  <a:gd name="T38" fmla="*/ 0 w 104"/>
                  <a:gd name="T39" fmla="*/ 1 h 17"/>
                  <a:gd name="T40" fmla="*/ 1 w 104"/>
                  <a:gd name="T41" fmla="*/ 1 h 17"/>
                  <a:gd name="T42" fmla="*/ 1 w 104"/>
                  <a:gd name="T43" fmla="*/ 1 h 17"/>
                  <a:gd name="T44" fmla="*/ 1 w 104"/>
                  <a:gd name="T45" fmla="*/ 1 h 17"/>
                  <a:gd name="T46" fmla="*/ 1 w 104"/>
                  <a:gd name="T47" fmla="*/ 1 h 17"/>
                  <a:gd name="T48" fmla="*/ 1 w 104"/>
                  <a:gd name="T49" fmla="*/ 1 h 17"/>
                  <a:gd name="T50" fmla="*/ 1 w 104"/>
                  <a:gd name="T51" fmla="*/ 1 h 17"/>
                  <a:gd name="T52" fmla="*/ 2 w 104"/>
                  <a:gd name="T53" fmla="*/ 1 h 17"/>
                  <a:gd name="T54" fmla="*/ 2 w 104"/>
                  <a:gd name="T55" fmla="*/ 1 h 17"/>
                  <a:gd name="T56" fmla="*/ 2 w 104"/>
                  <a:gd name="T57" fmla="*/ 1 h 17"/>
                  <a:gd name="T58" fmla="*/ 3 w 104"/>
                  <a:gd name="T59" fmla="*/ 1 h 17"/>
                  <a:gd name="T60" fmla="*/ 3 w 104"/>
                  <a:gd name="T61" fmla="*/ 1 h 17"/>
                  <a:gd name="T62" fmla="*/ 4 w 104"/>
                  <a:gd name="T63" fmla="*/ 1 h 17"/>
                  <a:gd name="T64" fmla="*/ 4 w 104"/>
                  <a:gd name="T65" fmla="*/ 1 h 17"/>
                  <a:gd name="T66" fmla="*/ 4 w 104"/>
                  <a:gd name="T67" fmla="*/ 1 h 17"/>
                  <a:gd name="T68" fmla="*/ 4 w 104"/>
                  <a:gd name="T69" fmla="*/ 1 h 17"/>
                  <a:gd name="T70" fmla="*/ 4 w 104"/>
                  <a:gd name="T71" fmla="*/ 1 h 17"/>
                  <a:gd name="T72" fmla="*/ 4 w 104"/>
                  <a:gd name="T73" fmla="*/ 0 h 1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04"/>
                  <a:gd name="T112" fmla="*/ 0 h 17"/>
                  <a:gd name="T113" fmla="*/ 104 w 104"/>
                  <a:gd name="T114" fmla="*/ 17 h 1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04" h="17">
                    <a:moveTo>
                      <a:pt x="103" y="5"/>
                    </a:moveTo>
                    <a:lnTo>
                      <a:pt x="102" y="6"/>
                    </a:lnTo>
                    <a:lnTo>
                      <a:pt x="102" y="7"/>
                    </a:lnTo>
                    <a:lnTo>
                      <a:pt x="101" y="8"/>
                    </a:lnTo>
                    <a:lnTo>
                      <a:pt x="99" y="8"/>
                    </a:lnTo>
                    <a:lnTo>
                      <a:pt x="97" y="10"/>
                    </a:lnTo>
                    <a:lnTo>
                      <a:pt x="95" y="10"/>
                    </a:lnTo>
                    <a:lnTo>
                      <a:pt x="93" y="11"/>
                    </a:lnTo>
                    <a:lnTo>
                      <a:pt x="90" y="12"/>
                    </a:lnTo>
                    <a:lnTo>
                      <a:pt x="87" y="12"/>
                    </a:lnTo>
                    <a:lnTo>
                      <a:pt x="84" y="13"/>
                    </a:lnTo>
                    <a:lnTo>
                      <a:pt x="80" y="14"/>
                    </a:lnTo>
                    <a:lnTo>
                      <a:pt x="76" y="14"/>
                    </a:lnTo>
                    <a:lnTo>
                      <a:pt x="72" y="14"/>
                    </a:lnTo>
                    <a:lnTo>
                      <a:pt x="69" y="15"/>
                    </a:lnTo>
                    <a:lnTo>
                      <a:pt x="64" y="15"/>
                    </a:lnTo>
                    <a:lnTo>
                      <a:pt x="60" y="16"/>
                    </a:lnTo>
                    <a:lnTo>
                      <a:pt x="55" y="16"/>
                    </a:lnTo>
                    <a:lnTo>
                      <a:pt x="51" y="16"/>
                    </a:lnTo>
                    <a:lnTo>
                      <a:pt x="46" y="16"/>
                    </a:lnTo>
                    <a:lnTo>
                      <a:pt x="42" y="16"/>
                    </a:lnTo>
                    <a:lnTo>
                      <a:pt x="37" y="15"/>
                    </a:lnTo>
                    <a:lnTo>
                      <a:pt x="33" y="15"/>
                    </a:lnTo>
                    <a:lnTo>
                      <a:pt x="29" y="14"/>
                    </a:lnTo>
                    <a:lnTo>
                      <a:pt x="25" y="14"/>
                    </a:lnTo>
                    <a:lnTo>
                      <a:pt x="21" y="14"/>
                    </a:lnTo>
                    <a:lnTo>
                      <a:pt x="17" y="13"/>
                    </a:lnTo>
                    <a:lnTo>
                      <a:pt x="14" y="12"/>
                    </a:lnTo>
                    <a:lnTo>
                      <a:pt x="12" y="12"/>
                    </a:lnTo>
                    <a:lnTo>
                      <a:pt x="8" y="11"/>
                    </a:lnTo>
                    <a:lnTo>
                      <a:pt x="6" y="10"/>
                    </a:lnTo>
                    <a:lnTo>
                      <a:pt x="4" y="10"/>
                    </a:lnTo>
                    <a:lnTo>
                      <a:pt x="3" y="8"/>
                    </a:lnTo>
                    <a:lnTo>
                      <a:pt x="1" y="8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1" y="2"/>
                    </a:lnTo>
                    <a:lnTo>
                      <a:pt x="3" y="4"/>
                    </a:lnTo>
                    <a:lnTo>
                      <a:pt x="4" y="4"/>
                    </a:lnTo>
                    <a:lnTo>
                      <a:pt x="6" y="5"/>
                    </a:lnTo>
                    <a:lnTo>
                      <a:pt x="8" y="6"/>
                    </a:lnTo>
                    <a:lnTo>
                      <a:pt x="12" y="6"/>
                    </a:lnTo>
                    <a:lnTo>
                      <a:pt x="14" y="7"/>
                    </a:lnTo>
                    <a:lnTo>
                      <a:pt x="17" y="8"/>
                    </a:lnTo>
                    <a:lnTo>
                      <a:pt x="21" y="8"/>
                    </a:lnTo>
                    <a:lnTo>
                      <a:pt x="25" y="9"/>
                    </a:lnTo>
                    <a:lnTo>
                      <a:pt x="29" y="10"/>
                    </a:lnTo>
                    <a:lnTo>
                      <a:pt x="33" y="10"/>
                    </a:lnTo>
                    <a:lnTo>
                      <a:pt x="37" y="10"/>
                    </a:lnTo>
                    <a:lnTo>
                      <a:pt x="42" y="10"/>
                    </a:lnTo>
                    <a:lnTo>
                      <a:pt x="46" y="10"/>
                    </a:lnTo>
                    <a:lnTo>
                      <a:pt x="51" y="10"/>
                    </a:lnTo>
                    <a:lnTo>
                      <a:pt x="55" y="10"/>
                    </a:lnTo>
                    <a:lnTo>
                      <a:pt x="60" y="10"/>
                    </a:lnTo>
                    <a:lnTo>
                      <a:pt x="64" y="10"/>
                    </a:lnTo>
                    <a:lnTo>
                      <a:pt x="69" y="10"/>
                    </a:lnTo>
                    <a:lnTo>
                      <a:pt x="72" y="10"/>
                    </a:lnTo>
                    <a:lnTo>
                      <a:pt x="76" y="9"/>
                    </a:lnTo>
                    <a:lnTo>
                      <a:pt x="80" y="8"/>
                    </a:lnTo>
                    <a:lnTo>
                      <a:pt x="84" y="8"/>
                    </a:lnTo>
                    <a:lnTo>
                      <a:pt x="87" y="7"/>
                    </a:lnTo>
                    <a:lnTo>
                      <a:pt x="90" y="6"/>
                    </a:lnTo>
                    <a:lnTo>
                      <a:pt x="93" y="6"/>
                    </a:lnTo>
                    <a:lnTo>
                      <a:pt x="95" y="5"/>
                    </a:lnTo>
                    <a:lnTo>
                      <a:pt x="97" y="4"/>
                    </a:lnTo>
                    <a:lnTo>
                      <a:pt x="99" y="4"/>
                    </a:lnTo>
                    <a:lnTo>
                      <a:pt x="101" y="2"/>
                    </a:lnTo>
                    <a:lnTo>
                      <a:pt x="102" y="2"/>
                    </a:lnTo>
                    <a:lnTo>
                      <a:pt x="102" y="1"/>
                    </a:lnTo>
                    <a:lnTo>
                      <a:pt x="103" y="0"/>
                    </a:lnTo>
                    <a:lnTo>
                      <a:pt x="103" y="5"/>
                    </a:lnTo>
                  </a:path>
                </a:pathLst>
              </a:custGeom>
              <a:solidFill>
                <a:srgbClr val="666666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95" name="Freeform 938"/>
              <p:cNvSpPr>
                <a:spLocks/>
              </p:cNvSpPr>
              <p:nvPr/>
            </p:nvSpPr>
            <p:spPr bwMode="auto">
              <a:xfrm>
                <a:off x="2435" y="3435"/>
                <a:ext cx="129" cy="38"/>
              </a:xfrm>
              <a:custGeom>
                <a:avLst/>
                <a:gdLst>
                  <a:gd name="T0" fmla="*/ 0 w 220"/>
                  <a:gd name="T1" fmla="*/ 1 h 77"/>
                  <a:gd name="T2" fmla="*/ 9 w 220"/>
                  <a:gd name="T3" fmla="*/ 1 h 77"/>
                  <a:gd name="T4" fmla="*/ 9 w 220"/>
                  <a:gd name="T5" fmla="*/ 0 h 77"/>
                  <a:gd name="T6" fmla="*/ 0 w 220"/>
                  <a:gd name="T7" fmla="*/ 0 h 77"/>
                  <a:gd name="T8" fmla="*/ 0 w 220"/>
                  <a:gd name="T9" fmla="*/ 1 h 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0"/>
                  <a:gd name="T16" fmla="*/ 0 h 77"/>
                  <a:gd name="T17" fmla="*/ 220 w 220"/>
                  <a:gd name="T18" fmla="*/ 77 h 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0" h="77">
                    <a:moveTo>
                      <a:pt x="0" y="76"/>
                    </a:moveTo>
                    <a:lnTo>
                      <a:pt x="219" y="76"/>
                    </a:lnTo>
                    <a:lnTo>
                      <a:pt x="219" y="0"/>
                    </a:lnTo>
                    <a:lnTo>
                      <a:pt x="0" y="0"/>
                    </a:lnTo>
                    <a:lnTo>
                      <a:pt x="0" y="76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96" name="Freeform 939"/>
              <p:cNvSpPr>
                <a:spLocks/>
              </p:cNvSpPr>
              <p:nvPr/>
            </p:nvSpPr>
            <p:spPr bwMode="auto">
              <a:xfrm>
                <a:off x="2456" y="3418"/>
                <a:ext cx="40" cy="8"/>
              </a:xfrm>
              <a:custGeom>
                <a:avLst/>
                <a:gdLst>
                  <a:gd name="T0" fmla="*/ 0 w 69"/>
                  <a:gd name="T1" fmla="*/ 0 h 17"/>
                  <a:gd name="T2" fmla="*/ 0 w 69"/>
                  <a:gd name="T3" fmla="*/ 0 h 17"/>
                  <a:gd name="T4" fmla="*/ 3 w 69"/>
                  <a:gd name="T5" fmla="*/ 0 h 17"/>
                  <a:gd name="T6" fmla="*/ 3 w 69"/>
                  <a:gd name="T7" fmla="*/ 0 h 17"/>
                  <a:gd name="T8" fmla="*/ 0 w 69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9"/>
                  <a:gd name="T16" fmla="*/ 0 h 17"/>
                  <a:gd name="T17" fmla="*/ 69 w 69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9" h="17">
                    <a:moveTo>
                      <a:pt x="0" y="16"/>
                    </a:moveTo>
                    <a:lnTo>
                      <a:pt x="0" y="0"/>
                    </a:lnTo>
                    <a:lnTo>
                      <a:pt x="68" y="0"/>
                    </a:lnTo>
                    <a:lnTo>
                      <a:pt x="68" y="16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97" name="Freeform 940"/>
              <p:cNvSpPr>
                <a:spLocks/>
              </p:cNvSpPr>
              <p:nvPr/>
            </p:nvSpPr>
            <p:spPr bwMode="auto">
              <a:xfrm>
                <a:off x="2488" y="3418"/>
                <a:ext cx="55" cy="8"/>
              </a:xfrm>
              <a:custGeom>
                <a:avLst/>
                <a:gdLst>
                  <a:gd name="T0" fmla="*/ 0 w 94"/>
                  <a:gd name="T1" fmla="*/ 0 h 17"/>
                  <a:gd name="T2" fmla="*/ 0 w 94"/>
                  <a:gd name="T3" fmla="*/ 0 h 17"/>
                  <a:gd name="T4" fmla="*/ 4 w 94"/>
                  <a:gd name="T5" fmla="*/ 0 h 17"/>
                  <a:gd name="T6" fmla="*/ 4 w 94"/>
                  <a:gd name="T7" fmla="*/ 0 h 17"/>
                  <a:gd name="T8" fmla="*/ 0 w 94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4"/>
                  <a:gd name="T16" fmla="*/ 0 h 17"/>
                  <a:gd name="T17" fmla="*/ 94 w 9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4" h="17">
                    <a:moveTo>
                      <a:pt x="0" y="16"/>
                    </a:moveTo>
                    <a:lnTo>
                      <a:pt x="0" y="0"/>
                    </a:lnTo>
                    <a:lnTo>
                      <a:pt x="93" y="0"/>
                    </a:lnTo>
                    <a:lnTo>
                      <a:pt x="93" y="16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98" name="Freeform 941"/>
              <p:cNvSpPr>
                <a:spLocks/>
              </p:cNvSpPr>
              <p:nvPr/>
            </p:nvSpPr>
            <p:spPr bwMode="auto">
              <a:xfrm>
                <a:off x="2457" y="341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99" name="Freeform 942"/>
              <p:cNvSpPr>
                <a:spLocks/>
              </p:cNvSpPr>
              <p:nvPr/>
            </p:nvSpPr>
            <p:spPr bwMode="auto">
              <a:xfrm>
                <a:off x="2458" y="341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1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4"/>
                    </a:lnTo>
                    <a:lnTo>
                      <a:pt x="4" y="16"/>
                    </a:lnTo>
                    <a:lnTo>
                      <a:pt x="8" y="16"/>
                    </a:lnTo>
                    <a:lnTo>
                      <a:pt x="12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00" name="Freeform 943"/>
              <p:cNvSpPr>
                <a:spLocks/>
              </p:cNvSpPr>
              <p:nvPr/>
            </p:nvSpPr>
            <p:spPr bwMode="auto">
              <a:xfrm>
                <a:off x="2460" y="341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01" name="Freeform 944"/>
              <p:cNvSpPr>
                <a:spLocks/>
              </p:cNvSpPr>
              <p:nvPr/>
            </p:nvSpPr>
            <p:spPr bwMode="auto">
              <a:xfrm>
                <a:off x="2461" y="341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02" name="Freeform 945"/>
              <p:cNvSpPr>
                <a:spLocks/>
              </p:cNvSpPr>
              <p:nvPr/>
            </p:nvSpPr>
            <p:spPr bwMode="auto">
              <a:xfrm>
                <a:off x="2463" y="341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1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03" name="Freeform 946"/>
              <p:cNvSpPr>
                <a:spLocks/>
              </p:cNvSpPr>
              <p:nvPr/>
            </p:nvSpPr>
            <p:spPr bwMode="auto">
              <a:xfrm>
                <a:off x="2464" y="341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04" name="Freeform 947"/>
              <p:cNvSpPr>
                <a:spLocks/>
              </p:cNvSpPr>
              <p:nvPr/>
            </p:nvSpPr>
            <p:spPr bwMode="auto">
              <a:xfrm>
                <a:off x="2466" y="341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05" name="Freeform 948"/>
              <p:cNvSpPr>
                <a:spLocks/>
              </p:cNvSpPr>
              <p:nvPr/>
            </p:nvSpPr>
            <p:spPr bwMode="auto">
              <a:xfrm>
                <a:off x="2467" y="341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1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4"/>
                    </a:lnTo>
                    <a:lnTo>
                      <a:pt x="8" y="16"/>
                    </a:lnTo>
                    <a:lnTo>
                      <a:pt x="12" y="16"/>
                    </a:lnTo>
                    <a:lnTo>
                      <a:pt x="12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06" name="Freeform 949"/>
              <p:cNvSpPr>
                <a:spLocks/>
              </p:cNvSpPr>
              <p:nvPr/>
            </p:nvSpPr>
            <p:spPr bwMode="auto">
              <a:xfrm>
                <a:off x="2469" y="341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07" name="Freeform 950"/>
              <p:cNvSpPr>
                <a:spLocks/>
              </p:cNvSpPr>
              <p:nvPr/>
            </p:nvSpPr>
            <p:spPr bwMode="auto">
              <a:xfrm>
                <a:off x="2470" y="341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08" name="Freeform 951"/>
              <p:cNvSpPr>
                <a:spLocks/>
              </p:cNvSpPr>
              <p:nvPr/>
            </p:nvSpPr>
            <p:spPr bwMode="auto">
              <a:xfrm>
                <a:off x="2471" y="341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0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0" y="16"/>
                    </a:lnTo>
                    <a:lnTo>
                      <a:pt x="8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09" name="Freeform 952"/>
              <p:cNvSpPr>
                <a:spLocks/>
              </p:cNvSpPr>
              <p:nvPr/>
            </p:nvSpPr>
            <p:spPr bwMode="auto">
              <a:xfrm>
                <a:off x="2473" y="341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6"/>
                    </a:lnTo>
                    <a:lnTo>
                      <a:pt x="8" y="16"/>
                    </a:lnTo>
                    <a:lnTo>
                      <a:pt x="12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10" name="Freeform 953"/>
              <p:cNvSpPr>
                <a:spLocks/>
              </p:cNvSpPr>
              <p:nvPr/>
            </p:nvSpPr>
            <p:spPr bwMode="auto">
              <a:xfrm>
                <a:off x="2475" y="341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11" name="Freeform 954"/>
              <p:cNvSpPr>
                <a:spLocks/>
              </p:cNvSpPr>
              <p:nvPr/>
            </p:nvSpPr>
            <p:spPr bwMode="auto">
              <a:xfrm>
                <a:off x="2476" y="341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0 w 17"/>
                  <a:gd name="T15" fmla="*/ 0 h 1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17"/>
                  <a:gd name="T26" fmla="*/ 17 w 17"/>
                  <a:gd name="T27" fmla="*/ 17 h 1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12" name="Freeform 955"/>
              <p:cNvSpPr>
                <a:spLocks/>
              </p:cNvSpPr>
              <p:nvPr/>
            </p:nvSpPr>
            <p:spPr bwMode="auto">
              <a:xfrm>
                <a:off x="2477" y="341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13" name="Freeform 956"/>
              <p:cNvSpPr>
                <a:spLocks/>
              </p:cNvSpPr>
              <p:nvPr/>
            </p:nvSpPr>
            <p:spPr bwMode="auto">
              <a:xfrm>
                <a:off x="2480" y="341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14" name="Freeform 957"/>
              <p:cNvSpPr>
                <a:spLocks/>
              </p:cNvSpPr>
              <p:nvPr/>
            </p:nvSpPr>
            <p:spPr bwMode="auto">
              <a:xfrm>
                <a:off x="2481" y="341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1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0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15" name="Freeform 958"/>
              <p:cNvSpPr>
                <a:spLocks/>
              </p:cNvSpPr>
              <p:nvPr/>
            </p:nvSpPr>
            <p:spPr bwMode="auto">
              <a:xfrm>
                <a:off x="2483" y="3419"/>
                <a:ext cx="9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16" name="Freeform 959"/>
              <p:cNvSpPr>
                <a:spLocks/>
              </p:cNvSpPr>
              <p:nvPr/>
            </p:nvSpPr>
            <p:spPr bwMode="auto">
              <a:xfrm>
                <a:off x="2484" y="341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0 w 17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"/>
                  <a:gd name="T22" fmla="*/ 0 h 17"/>
                  <a:gd name="T23" fmla="*/ 17 w 17"/>
                  <a:gd name="T24" fmla="*/ 17 h 1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5" y="16"/>
                    </a:lnTo>
                    <a:lnTo>
                      <a:pt x="10" y="16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17" name="Freeform 960"/>
              <p:cNvSpPr>
                <a:spLocks/>
              </p:cNvSpPr>
              <p:nvPr/>
            </p:nvSpPr>
            <p:spPr bwMode="auto">
              <a:xfrm>
                <a:off x="2485" y="3419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0 w 17"/>
                  <a:gd name="T3" fmla="*/ 0 h 17"/>
                  <a:gd name="T4" fmla="*/ 1 w 17"/>
                  <a:gd name="T5" fmla="*/ 0 h 17"/>
                  <a:gd name="T6" fmla="*/ 1 w 17"/>
                  <a:gd name="T7" fmla="*/ 0 h 17"/>
                  <a:gd name="T8" fmla="*/ 1 w 17"/>
                  <a:gd name="T9" fmla="*/ 0 h 17"/>
                  <a:gd name="T10" fmla="*/ 1 w 17"/>
                  <a:gd name="T11" fmla="*/ 0 h 17"/>
                  <a:gd name="T12" fmla="*/ 1 w 17"/>
                  <a:gd name="T13" fmla="*/ 0 h 17"/>
                  <a:gd name="T14" fmla="*/ 1 w 17"/>
                  <a:gd name="T15" fmla="*/ 0 h 17"/>
                  <a:gd name="T16" fmla="*/ 0 w 17"/>
                  <a:gd name="T17" fmla="*/ 0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"/>
                  <a:gd name="T28" fmla="*/ 0 h 17"/>
                  <a:gd name="T29" fmla="*/ 17 w 17"/>
                  <a:gd name="T30" fmla="*/ 17 h 1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" h="17">
                    <a:moveTo>
                      <a:pt x="0" y="0"/>
                    </a:moveTo>
                    <a:lnTo>
                      <a:pt x="0" y="14"/>
                    </a:lnTo>
                    <a:lnTo>
                      <a:pt x="4" y="14"/>
                    </a:lnTo>
                    <a:lnTo>
                      <a:pt x="8" y="16"/>
                    </a:lnTo>
                    <a:lnTo>
                      <a:pt x="12" y="16"/>
                    </a:lnTo>
                    <a:lnTo>
                      <a:pt x="12" y="14"/>
                    </a:lnTo>
                    <a:lnTo>
                      <a:pt x="16" y="14"/>
                    </a:lnTo>
                    <a:lnTo>
                      <a:pt x="1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18" name="Freeform 961"/>
              <p:cNvSpPr>
                <a:spLocks/>
              </p:cNvSpPr>
              <p:nvPr/>
            </p:nvSpPr>
            <p:spPr bwMode="auto">
              <a:xfrm>
                <a:off x="2444" y="3336"/>
                <a:ext cx="109" cy="84"/>
              </a:xfrm>
              <a:custGeom>
                <a:avLst/>
                <a:gdLst>
                  <a:gd name="T0" fmla="*/ 7 w 187"/>
                  <a:gd name="T1" fmla="*/ 2 h 174"/>
                  <a:gd name="T2" fmla="*/ 7 w 187"/>
                  <a:gd name="T3" fmla="*/ 2 h 174"/>
                  <a:gd name="T4" fmla="*/ 7 w 187"/>
                  <a:gd name="T5" fmla="*/ 2 h 174"/>
                  <a:gd name="T6" fmla="*/ 7 w 187"/>
                  <a:gd name="T7" fmla="*/ 2 h 174"/>
                  <a:gd name="T8" fmla="*/ 7 w 187"/>
                  <a:gd name="T9" fmla="*/ 2 h 174"/>
                  <a:gd name="T10" fmla="*/ 7 w 187"/>
                  <a:gd name="T11" fmla="*/ 2 h 174"/>
                  <a:gd name="T12" fmla="*/ 7 w 187"/>
                  <a:gd name="T13" fmla="*/ 2 h 174"/>
                  <a:gd name="T14" fmla="*/ 7 w 187"/>
                  <a:gd name="T15" fmla="*/ 2 h 174"/>
                  <a:gd name="T16" fmla="*/ 7 w 187"/>
                  <a:gd name="T17" fmla="*/ 2 h 174"/>
                  <a:gd name="T18" fmla="*/ 7 w 187"/>
                  <a:gd name="T19" fmla="*/ 2 h 174"/>
                  <a:gd name="T20" fmla="*/ 7 w 187"/>
                  <a:gd name="T21" fmla="*/ 2 h 174"/>
                  <a:gd name="T22" fmla="*/ 8 w 187"/>
                  <a:gd name="T23" fmla="*/ 2 h 174"/>
                  <a:gd name="T24" fmla="*/ 8 w 187"/>
                  <a:gd name="T25" fmla="*/ 2 h 174"/>
                  <a:gd name="T26" fmla="*/ 8 w 187"/>
                  <a:gd name="T27" fmla="*/ 2 h 174"/>
                  <a:gd name="T28" fmla="*/ 8 w 187"/>
                  <a:gd name="T29" fmla="*/ 2 h 174"/>
                  <a:gd name="T30" fmla="*/ 8 w 187"/>
                  <a:gd name="T31" fmla="*/ 0 h 174"/>
                  <a:gd name="T32" fmla="*/ 8 w 187"/>
                  <a:gd name="T33" fmla="*/ 0 h 174"/>
                  <a:gd name="T34" fmla="*/ 8 w 187"/>
                  <a:gd name="T35" fmla="*/ 0 h 174"/>
                  <a:gd name="T36" fmla="*/ 8 w 187"/>
                  <a:gd name="T37" fmla="*/ 0 h 174"/>
                  <a:gd name="T38" fmla="*/ 8 w 187"/>
                  <a:gd name="T39" fmla="*/ 0 h 174"/>
                  <a:gd name="T40" fmla="*/ 7 w 187"/>
                  <a:gd name="T41" fmla="*/ 0 h 174"/>
                  <a:gd name="T42" fmla="*/ 7 w 187"/>
                  <a:gd name="T43" fmla="*/ 0 h 174"/>
                  <a:gd name="T44" fmla="*/ 7 w 187"/>
                  <a:gd name="T45" fmla="*/ 0 h 174"/>
                  <a:gd name="T46" fmla="*/ 7 w 187"/>
                  <a:gd name="T47" fmla="*/ 0 h 174"/>
                  <a:gd name="T48" fmla="*/ 7 w 187"/>
                  <a:gd name="T49" fmla="*/ 0 h 174"/>
                  <a:gd name="T50" fmla="*/ 7 w 187"/>
                  <a:gd name="T51" fmla="*/ 0 h 174"/>
                  <a:gd name="T52" fmla="*/ 7 w 187"/>
                  <a:gd name="T53" fmla="*/ 0 h 174"/>
                  <a:gd name="T54" fmla="*/ 7 w 187"/>
                  <a:gd name="T55" fmla="*/ 0 h 174"/>
                  <a:gd name="T56" fmla="*/ 7 w 187"/>
                  <a:gd name="T57" fmla="*/ 0 h 174"/>
                  <a:gd name="T58" fmla="*/ 7 w 187"/>
                  <a:gd name="T59" fmla="*/ 0 h 174"/>
                  <a:gd name="T60" fmla="*/ 1 w 187"/>
                  <a:gd name="T61" fmla="*/ 0 h 174"/>
                  <a:gd name="T62" fmla="*/ 1 w 187"/>
                  <a:gd name="T63" fmla="*/ 0 h 174"/>
                  <a:gd name="T64" fmla="*/ 1 w 187"/>
                  <a:gd name="T65" fmla="*/ 0 h 174"/>
                  <a:gd name="T66" fmla="*/ 1 w 187"/>
                  <a:gd name="T67" fmla="*/ 0 h 174"/>
                  <a:gd name="T68" fmla="*/ 1 w 187"/>
                  <a:gd name="T69" fmla="*/ 0 h 174"/>
                  <a:gd name="T70" fmla="*/ 1 w 187"/>
                  <a:gd name="T71" fmla="*/ 0 h 174"/>
                  <a:gd name="T72" fmla="*/ 1 w 187"/>
                  <a:gd name="T73" fmla="*/ 0 h 174"/>
                  <a:gd name="T74" fmla="*/ 1 w 187"/>
                  <a:gd name="T75" fmla="*/ 0 h 174"/>
                  <a:gd name="T76" fmla="*/ 1 w 187"/>
                  <a:gd name="T77" fmla="*/ 0 h 174"/>
                  <a:gd name="T78" fmla="*/ 0 w 187"/>
                  <a:gd name="T79" fmla="*/ 0 h 174"/>
                  <a:gd name="T80" fmla="*/ 0 w 187"/>
                  <a:gd name="T81" fmla="*/ 0 h 174"/>
                  <a:gd name="T82" fmla="*/ 0 w 187"/>
                  <a:gd name="T83" fmla="*/ 0 h 174"/>
                  <a:gd name="T84" fmla="*/ 0 w 187"/>
                  <a:gd name="T85" fmla="*/ 0 h 174"/>
                  <a:gd name="T86" fmla="*/ 0 w 187"/>
                  <a:gd name="T87" fmla="*/ 0 h 174"/>
                  <a:gd name="T88" fmla="*/ 0 w 187"/>
                  <a:gd name="T89" fmla="*/ 0 h 174"/>
                  <a:gd name="T90" fmla="*/ 0 w 187"/>
                  <a:gd name="T91" fmla="*/ 2 h 174"/>
                  <a:gd name="T92" fmla="*/ 0 w 187"/>
                  <a:gd name="T93" fmla="*/ 2 h 174"/>
                  <a:gd name="T94" fmla="*/ 0 w 187"/>
                  <a:gd name="T95" fmla="*/ 2 h 174"/>
                  <a:gd name="T96" fmla="*/ 0 w 187"/>
                  <a:gd name="T97" fmla="*/ 2 h 174"/>
                  <a:gd name="T98" fmla="*/ 0 w 187"/>
                  <a:gd name="T99" fmla="*/ 2 h 174"/>
                  <a:gd name="T100" fmla="*/ 0 w 187"/>
                  <a:gd name="T101" fmla="*/ 2 h 174"/>
                  <a:gd name="T102" fmla="*/ 1 w 187"/>
                  <a:gd name="T103" fmla="*/ 2 h 174"/>
                  <a:gd name="T104" fmla="*/ 1 w 187"/>
                  <a:gd name="T105" fmla="*/ 2 h 174"/>
                  <a:gd name="T106" fmla="*/ 1 w 187"/>
                  <a:gd name="T107" fmla="*/ 2 h 174"/>
                  <a:gd name="T108" fmla="*/ 1 w 187"/>
                  <a:gd name="T109" fmla="*/ 2 h 174"/>
                  <a:gd name="T110" fmla="*/ 1 w 187"/>
                  <a:gd name="T111" fmla="*/ 2 h 174"/>
                  <a:gd name="T112" fmla="*/ 1 w 187"/>
                  <a:gd name="T113" fmla="*/ 2 h 174"/>
                  <a:gd name="T114" fmla="*/ 1 w 187"/>
                  <a:gd name="T115" fmla="*/ 2 h 174"/>
                  <a:gd name="T116" fmla="*/ 1 w 187"/>
                  <a:gd name="T117" fmla="*/ 2 h 174"/>
                  <a:gd name="T118" fmla="*/ 1 w 187"/>
                  <a:gd name="T119" fmla="*/ 2 h 174"/>
                  <a:gd name="T120" fmla="*/ 1 w 187"/>
                  <a:gd name="T121" fmla="*/ 2 h 174"/>
                  <a:gd name="T122" fmla="*/ 7 w 187"/>
                  <a:gd name="T123" fmla="*/ 2 h 174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187"/>
                  <a:gd name="T187" fmla="*/ 0 h 174"/>
                  <a:gd name="T188" fmla="*/ 187 w 187"/>
                  <a:gd name="T189" fmla="*/ 174 h 174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187" h="174">
                    <a:moveTo>
                      <a:pt x="180" y="173"/>
                    </a:moveTo>
                    <a:lnTo>
                      <a:pt x="180" y="173"/>
                    </a:lnTo>
                    <a:lnTo>
                      <a:pt x="180" y="172"/>
                    </a:lnTo>
                    <a:lnTo>
                      <a:pt x="182" y="172"/>
                    </a:lnTo>
                    <a:lnTo>
                      <a:pt x="183" y="171"/>
                    </a:lnTo>
                    <a:lnTo>
                      <a:pt x="184" y="171"/>
                    </a:lnTo>
                    <a:lnTo>
                      <a:pt x="184" y="170"/>
                    </a:lnTo>
                    <a:lnTo>
                      <a:pt x="184" y="169"/>
                    </a:lnTo>
                    <a:lnTo>
                      <a:pt x="185" y="169"/>
                    </a:lnTo>
                    <a:lnTo>
                      <a:pt x="185" y="168"/>
                    </a:lnTo>
                    <a:lnTo>
                      <a:pt x="186" y="167"/>
                    </a:lnTo>
                    <a:lnTo>
                      <a:pt x="186" y="6"/>
                    </a:lnTo>
                    <a:lnTo>
                      <a:pt x="186" y="5"/>
                    </a:lnTo>
                    <a:lnTo>
                      <a:pt x="185" y="5"/>
                    </a:lnTo>
                    <a:lnTo>
                      <a:pt x="185" y="3"/>
                    </a:lnTo>
                    <a:lnTo>
                      <a:pt x="184" y="3"/>
                    </a:lnTo>
                    <a:lnTo>
                      <a:pt x="184" y="2"/>
                    </a:lnTo>
                    <a:lnTo>
                      <a:pt x="184" y="1"/>
                    </a:lnTo>
                    <a:lnTo>
                      <a:pt x="183" y="1"/>
                    </a:lnTo>
                    <a:lnTo>
                      <a:pt x="182" y="1"/>
                    </a:lnTo>
                    <a:lnTo>
                      <a:pt x="182" y="0"/>
                    </a:lnTo>
                    <a:lnTo>
                      <a:pt x="180" y="0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1" y="1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0" y="167"/>
                    </a:lnTo>
                    <a:lnTo>
                      <a:pt x="0" y="168"/>
                    </a:lnTo>
                    <a:lnTo>
                      <a:pt x="0" y="169"/>
                    </a:lnTo>
                    <a:lnTo>
                      <a:pt x="0" y="170"/>
                    </a:lnTo>
                    <a:lnTo>
                      <a:pt x="1" y="170"/>
                    </a:lnTo>
                    <a:lnTo>
                      <a:pt x="1" y="171"/>
                    </a:lnTo>
                    <a:lnTo>
                      <a:pt x="2" y="171"/>
                    </a:lnTo>
                    <a:lnTo>
                      <a:pt x="2" y="172"/>
                    </a:lnTo>
                    <a:lnTo>
                      <a:pt x="3" y="172"/>
                    </a:lnTo>
                    <a:lnTo>
                      <a:pt x="4" y="173"/>
                    </a:lnTo>
                    <a:lnTo>
                      <a:pt x="5" y="173"/>
                    </a:lnTo>
                    <a:lnTo>
                      <a:pt x="180" y="173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19" name="Freeform 962"/>
              <p:cNvSpPr>
                <a:spLocks/>
              </p:cNvSpPr>
              <p:nvPr/>
            </p:nvSpPr>
            <p:spPr bwMode="auto">
              <a:xfrm>
                <a:off x="2444" y="3337"/>
                <a:ext cx="109" cy="83"/>
              </a:xfrm>
              <a:custGeom>
                <a:avLst/>
                <a:gdLst>
                  <a:gd name="T0" fmla="*/ 8 w 186"/>
                  <a:gd name="T1" fmla="*/ 2 h 172"/>
                  <a:gd name="T2" fmla="*/ 8 w 186"/>
                  <a:gd name="T3" fmla="*/ 2 h 172"/>
                  <a:gd name="T4" fmla="*/ 8 w 186"/>
                  <a:gd name="T5" fmla="*/ 2 h 172"/>
                  <a:gd name="T6" fmla="*/ 8 w 186"/>
                  <a:gd name="T7" fmla="*/ 2 h 172"/>
                  <a:gd name="T8" fmla="*/ 8 w 186"/>
                  <a:gd name="T9" fmla="*/ 2 h 172"/>
                  <a:gd name="T10" fmla="*/ 8 w 186"/>
                  <a:gd name="T11" fmla="*/ 2 h 172"/>
                  <a:gd name="T12" fmla="*/ 8 w 186"/>
                  <a:gd name="T13" fmla="*/ 2 h 172"/>
                  <a:gd name="T14" fmla="*/ 8 w 186"/>
                  <a:gd name="T15" fmla="*/ 2 h 172"/>
                  <a:gd name="T16" fmla="*/ 8 w 186"/>
                  <a:gd name="T17" fmla="*/ 2 h 172"/>
                  <a:gd name="T18" fmla="*/ 7 w 186"/>
                  <a:gd name="T19" fmla="*/ 2 h 172"/>
                  <a:gd name="T20" fmla="*/ 7 w 186"/>
                  <a:gd name="T21" fmla="*/ 2 h 172"/>
                  <a:gd name="T22" fmla="*/ 7 w 186"/>
                  <a:gd name="T23" fmla="*/ 2 h 172"/>
                  <a:gd name="T24" fmla="*/ 7 w 186"/>
                  <a:gd name="T25" fmla="*/ 2 h 172"/>
                  <a:gd name="T26" fmla="*/ 1 w 186"/>
                  <a:gd name="T27" fmla="*/ 2 h 172"/>
                  <a:gd name="T28" fmla="*/ 1 w 186"/>
                  <a:gd name="T29" fmla="*/ 2 h 172"/>
                  <a:gd name="T30" fmla="*/ 1 w 186"/>
                  <a:gd name="T31" fmla="*/ 2 h 172"/>
                  <a:gd name="T32" fmla="*/ 1 w 186"/>
                  <a:gd name="T33" fmla="*/ 2 h 172"/>
                  <a:gd name="T34" fmla="*/ 1 w 186"/>
                  <a:gd name="T35" fmla="*/ 2 h 172"/>
                  <a:gd name="T36" fmla="*/ 1 w 186"/>
                  <a:gd name="T37" fmla="*/ 2 h 172"/>
                  <a:gd name="T38" fmla="*/ 1 w 186"/>
                  <a:gd name="T39" fmla="*/ 2 h 172"/>
                  <a:gd name="T40" fmla="*/ 1 w 186"/>
                  <a:gd name="T41" fmla="*/ 2 h 172"/>
                  <a:gd name="T42" fmla="*/ 0 w 186"/>
                  <a:gd name="T43" fmla="*/ 2 h 172"/>
                  <a:gd name="T44" fmla="*/ 0 w 186"/>
                  <a:gd name="T45" fmla="*/ 2 h 172"/>
                  <a:gd name="T46" fmla="*/ 0 w 186"/>
                  <a:gd name="T47" fmla="*/ 2 h 172"/>
                  <a:gd name="T48" fmla="*/ 0 w 186"/>
                  <a:gd name="T49" fmla="*/ 2 h 172"/>
                  <a:gd name="T50" fmla="*/ 0 w 186"/>
                  <a:gd name="T51" fmla="*/ 2 h 172"/>
                  <a:gd name="T52" fmla="*/ 0 w 186"/>
                  <a:gd name="T53" fmla="*/ 2 h 172"/>
                  <a:gd name="T54" fmla="*/ 0 w 186"/>
                  <a:gd name="T55" fmla="*/ 0 h 172"/>
                  <a:gd name="T56" fmla="*/ 0 w 186"/>
                  <a:gd name="T57" fmla="*/ 0 h 172"/>
                  <a:gd name="T58" fmla="*/ 0 w 186"/>
                  <a:gd name="T59" fmla="*/ 0 h 172"/>
                  <a:gd name="T60" fmla="*/ 0 w 186"/>
                  <a:gd name="T61" fmla="*/ 0 h 172"/>
                  <a:gd name="T62" fmla="*/ 0 w 186"/>
                  <a:gd name="T63" fmla="*/ 0 h 172"/>
                  <a:gd name="T64" fmla="*/ 0 w 186"/>
                  <a:gd name="T65" fmla="*/ 0 h 172"/>
                  <a:gd name="T66" fmla="*/ 1 w 186"/>
                  <a:gd name="T67" fmla="*/ 0 h 172"/>
                  <a:gd name="T68" fmla="*/ 1 w 186"/>
                  <a:gd name="T69" fmla="*/ 0 h 172"/>
                  <a:gd name="T70" fmla="*/ 1 w 186"/>
                  <a:gd name="T71" fmla="*/ 0 h 172"/>
                  <a:gd name="T72" fmla="*/ 1 w 186"/>
                  <a:gd name="T73" fmla="*/ 0 h 172"/>
                  <a:gd name="T74" fmla="*/ 1 w 186"/>
                  <a:gd name="T75" fmla="*/ 0 h 172"/>
                  <a:gd name="T76" fmla="*/ 1 w 186"/>
                  <a:gd name="T77" fmla="*/ 0 h 172"/>
                  <a:gd name="T78" fmla="*/ 1 w 186"/>
                  <a:gd name="T79" fmla="*/ 0 h 172"/>
                  <a:gd name="T80" fmla="*/ 1 w 186"/>
                  <a:gd name="T81" fmla="*/ 0 h 172"/>
                  <a:gd name="T82" fmla="*/ 7 w 186"/>
                  <a:gd name="T83" fmla="*/ 0 h 172"/>
                  <a:gd name="T84" fmla="*/ 7 w 186"/>
                  <a:gd name="T85" fmla="*/ 0 h 172"/>
                  <a:gd name="T86" fmla="*/ 7 w 186"/>
                  <a:gd name="T87" fmla="*/ 0 h 172"/>
                  <a:gd name="T88" fmla="*/ 7 w 186"/>
                  <a:gd name="T89" fmla="*/ 0 h 172"/>
                  <a:gd name="T90" fmla="*/ 8 w 186"/>
                  <a:gd name="T91" fmla="*/ 0 h 172"/>
                  <a:gd name="T92" fmla="*/ 8 w 186"/>
                  <a:gd name="T93" fmla="*/ 0 h 172"/>
                  <a:gd name="T94" fmla="*/ 8 w 186"/>
                  <a:gd name="T95" fmla="*/ 0 h 172"/>
                  <a:gd name="T96" fmla="*/ 8 w 186"/>
                  <a:gd name="T97" fmla="*/ 0 h 172"/>
                  <a:gd name="T98" fmla="*/ 8 w 186"/>
                  <a:gd name="T99" fmla="*/ 0 h 172"/>
                  <a:gd name="T100" fmla="*/ 8 w 186"/>
                  <a:gd name="T101" fmla="*/ 0 h 172"/>
                  <a:gd name="T102" fmla="*/ 8 w 186"/>
                  <a:gd name="T103" fmla="*/ 0 h 172"/>
                  <a:gd name="T104" fmla="*/ 8 w 186"/>
                  <a:gd name="T105" fmla="*/ 0 h 172"/>
                  <a:gd name="T106" fmla="*/ 8 w 186"/>
                  <a:gd name="T107" fmla="*/ 0 h 172"/>
                  <a:gd name="T108" fmla="*/ 8 w 186"/>
                  <a:gd name="T109" fmla="*/ 0 h 172"/>
                  <a:gd name="T110" fmla="*/ 8 w 186"/>
                  <a:gd name="T111" fmla="*/ 2 h 172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186"/>
                  <a:gd name="T169" fmla="*/ 0 h 172"/>
                  <a:gd name="T170" fmla="*/ 186 w 186"/>
                  <a:gd name="T171" fmla="*/ 172 h 172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186" h="172">
                    <a:moveTo>
                      <a:pt x="185" y="165"/>
                    </a:moveTo>
                    <a:lnTo>
                      <a:pt x="185" y="166"/>
                    </a:lnTo>
                    <a:lnTo>
                      <a:pt x="185" y="167"/>
                    </a:lnTo>
                    <a:lnTo>
                      <a:pt x="184" y="167"/>
                    </a:lnTo>
                    <a:lnTo>
                      <a:pt x="184" y="168"/>
                    </a:lnTo>
                    <a:lnTo>
                      <a:pt x="183" y="169"/>
                    </a:lnTo>
                    <a:lnTo>
                      <a:pt x="182" y="170"/>
                    </a:lnTo>
                    <a:lnTo>
                      <a:pt x="181" y="170"/>
                    </a:lnTo>
                    <a:lnTo>
                      <a:pt x="181" y="171"/>
                    </a:lnTo>
                    <a:lnTo>
                      <a:pt x="180" y="171"/>
                    </a:lnTo>
                    <a:lnTo>
                      <a:pt x="179" y="171"/>
                    </a:lnTo>
                    <a:lnTo>
                      <a:pt x="4" y="171"/>
                    </a:lnTo>
                    <a:lnTo>
                      <a:pt x="3" y="171"/>
                    </a:lnTo>
                    <a:lnTo>
                      <a:pt x="3" y="170"/>
                    </a:lnTo>
                    <a:lnTo>
                      <a:pt x="2" y="170"/>
                    </a:lnTo>
                    <a:lnTo>
                      <a:pt x="1" y="169"/>
                    </a:lnTo>
                    <a:lnTo>
                      <a:pt x="0" y="169"/>
                    </a:lnTo>
                    <a:lnTo>
                      <a:pt x="0" y="168"/>
                    </a:lnTo>
                    <a:lnTo>
                      <a:pt x="0" y="167"/>
                    </a:lnTo>
                    <a:lnTo>
                      <a:pt x="0" y="166"/>
                    </a:lnTo>
                    <a:lnTo>
                      <a:pt x="0" y="165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179" y="0"/>
                    </a:lnTo>
                    <a:lnTo>
                      <a:pt x="180" y="0"/>
                    </a:lnTo>
                    <a:lnTo>
                      <a:pt x="181" y="0"/>
                    </a:lnTo>
                    <a:lnTo>
                      <a:pt x="182" y="0"/>
                    </a:lnTo>
                    <a:lnTo>
                      <a:pt x="182" y="1"/>
                    </a:lnTo>
                    <a:lnTo>
                      <a:pt x="183" y="1"/>
                    </a:lnTo>
                    <a:lnTo>
                      <a:pt x="183" y="2"/>
                    </a:lnTo>
                    <a:lnTo>
                      <a:pt x="184" y="2"/>
                    </a:lnTo>
                    <a:lnTo>
                      <a:pt x="184" y="3"/>
                    </a:lnTo>
                    <a:lnTo>
                      <a:pt x="185" y="3"/>
                    </a:lnTo>
                    <a:lnTo>
                      <a:pt x="185" y="4"/>
                    </a:lnTo>
                    <a:lnTo>
                      <a:pt x="185" y="5"/>
                    </a:lnTo>
                    <a:lnTo>
                      <a:pt x="185" y="165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20" name="Freeform 963"/>
              <p:cNvSpPr>
                <a:spLocks/>
              </p:cNvSpPr>
              <p:nvPr/>
            </p:nvSpPr>
            <p:spPr bwMode="auto">
              <a:xfrm>
                <a:off x="2445" y="3337"/>
                <a:ext cx="106" cy="82"/>
              </a:xfrm>
              <a:custGeom>
                <a:avLst/>
                <a:gdLst>
                  <a:gd name="T0" fmla="*/ 7 w 181"/>
                  <a:gd name="T1" fmla="*/ 0 h 171"/>
                  <a:gd name="T2" fmla="*/ 7 w 181"/>
                  <a:gd name="T3" fmla="*/ 0 h 171"/>
                  <a:gd name="T4" fmla="*/ 7 w 181"/>
                  <a:gd name="T5" fmla="*/ 0 h 171"/>
                  <a:gd name="T6" fmla="*/ 7 w 181"/>
                  <a:gd name="T7" fmla="*/ 0 h 171"/>
                  <a:gd name="T8" fmla="*/ 7 w 181"/>
                  <a:gd name="T9" fmla="*/ 0 h 171"/>
                  <a:gd name="T10" fmla="*/ 7 w 181"/>
                  <a:gd name="T11" fmla="*/ 0 h 171"/>
                  <a:gd name="T12" fmla="*/ 7 w 181"/>
                  <a:gd name="T13" fmla="*/ 0 h 171"/>
                  <a:gd name="T14" fmla="*/ 7 w 181"/>
                  <a:gd name="T15" fmla="*/ 0 h 171"/>
                  <a:gd name="T16" fmla="*/ 7 w 181"/>
                  <a:gd name="T17" fmla="*/ 0 h 171"/>
                  <a:gd name="T18" fmla="*/ 7 w 181"/>
                  <a:gd name="T19" fmla="*/ 0 h 171"/>
                  <a:gd name="T20" fmla="*/ 7 w 181"/>
                  <a:gd name="T21" fmla="*/ 0 h 171"/>
                  <a:gd name="T22" fmla="*/ 7 w 181"/>
                  <a:gd name="T23" fmla="*/ 0 h 171"/>
                  <a:gd name="T24" fmla="*/ 1 w 181"/>
                  <a:gd name="T25" fmla="*/ 0 h 171"/>
                  <a:gd name="T26" fmla="*/ 1 w 181"/>
                  <a:gd name="T27" fmla="*/ 0 h 171"/>
                  <a:gd name="T28" fmla="*/ 1 w 181"/>
                  <a:gd name="T29" fmla="*/ 0 h 171"/>
                  <a:gd name="T30" fmla="*/ 1 w 181"/>
                  <a:gd name="T31" fmla="*/ 0 h 171"/>
                  <a:gd name="T32" fmla="*/ 1 w 181"/>
                  <a:gd name="T33" fmla="*/ 0 h 171"/>
                  <a:gd name="T34" fmla="*/ 1 w 181"/>
                  <a:gd name="T35" fmla="*/ 0 h 171"/>
                  <a:gd name="T36" fmla="*/ 1 w 181"/>
                  <a:gd name="T37" fmla="*/ 0 h 171"/>
                  <a:gd name="T38" fmla="*/ 0 w 181"/>
                  <a:gd name="T39" fmla="*/ 0 h 171"/>
                  <a:gd name="T40" fmla="*/ 0 w 181"/>
                  <a:gd name="T41" fmla="*/ 0 h 171"/>
                  <a:gd name="T42" fmla="*/ 0 w 181"/>
                  <a:gd name="T43" fmla="*/ 0 h 171"/>
                  <a:gd name="T44" fmla="*/ 0 w 181"/>
                  <a:gd name="T45" fmla="*/ 0 h 171"/>
                  <a:gd name="T46" fmla="*/ 0 w 181"/>
                  <a:gd name="T47" fmla="*/ 0 h 171"/>
                  <a:gd name="T48" fmla="*/ 0 w 181"/>
                  <a:gd name="T49" fmla="*/ 2 h 171"/>
                  <a:gd name="T50" fmla="*/ 0 w 181"/>
                  <a:gd name="T51" fmla="*/ 2 h 171"/>
                  <a:gd name="T52" fmla="*/ 0 w 181"/>
                  <a:gd name="T53" fmla="*/ 2 h 171"/>
                  <a:gd name="T54" fmla="*/ 0 w 181"/>
                  <a:gd name="T55" fmla="*/ 2 h 171"/>
                  <a:gd name="T56" fmla="*/ 0 w 181"/>
                  <a:gd name="T57" fmla="*/ 2 h 171"/>
                  <a:gd name="T58" fmla="*/ 1 w 181"/>
                  <a:gd name="T59" fmla="*/ 2 h 171"/>
                  <a:gd name="T60" fmla="*/ 1 w 181"/>
                  <a:gd name="T61" fmla="*/ 2 h 171"/>
                  <a:gd name="T62" fmla="*/ 1 w 181"/>
                  <a:gd name="T63" fmla="*/ 2 h 171"/>
                  <a:gd name="T64" fmla="*/ 1 w 181"/>
                  <a:gd name="T65" fmla="*/ 2 h 171"/>
                  <a:gd name="T66" fmla="*/ 1 w 181"/>
                  <a:gd name="T67" fmla="*/ 2 h 171"/>
                  <a:gd name="T68" fmla="*/ 1 w 181"/>
                  <a:gd name="T69" fmla="*/ 2 h 171"/>
                  <a:gd name="T70" fmla="*/ 7 w 181"/>
                  <a:gd name="T71" fmla="*/ 2 h 171"/>
                  <a:gd name="T72" fmla="*/ 7 w 181"/>
                  <a:gd name="T73" fmla="*/ 2 h 171"/>
                  <a:gd name="T74" fmla="*/ 7 w 181"/>
                  <a:gd name="T75" fmla="*/ 2 h 171"/>
                  <a:gd name="T76" fmla="*/ 7 w 181"/>
                  <a:gd name="T77" fmla="*/ 2 h 171"/>
                  <a:gd name="T78" fmla="*/ 7 w 181"/>
                  <a:gd name="T79" fmla="*/ 2 h 171"/>
                  <a:gd name="T80" fmla="*/ 7 w 181"/>
                  <a:gd name="T81" fmla="*/ 2 h 171"/>
                  <a:gd name="T82" fmla="*/ 7 w 181"/>
                  <a:gd name="T83" fmla="*/ 2 h 171"/>
                  <a:gd name="T84" fmla="*/ 7 w 181"/>
                  <a:gd name="T85" fmla="*/ 2 h 171"/>
                  <a:gd name="T86" fmla="*/ 7 w 181"/>
                  <a:gd name="T87" fmla="*/ 2 h 171"/>
                  <a:gd name="T88" fmla="*/ 7 w 181"/>
                  <a:gd name="T89" fmla="*/ 2 h 171"/>
                  <a:gd name="T90" fmla="*/ 7 w 181"/>
                  <a:gd name="T91" fmla="*/ 2 h 171"/>
                  <a:gd name="T92" fmla="*/ 7 w 181"/>
                  <a:gd name="T93" fmla="*/ 0 h 171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181"/>
                  <a:gd name="T142" fmla="*/ 0 h 171"/>
                  <a:gd name="T143" fmla="*/ 181 w 181"/>
                  <a:gd name="T144" fmla="*/ 171 h 171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181" h="171">
                    <a:moveTo>
                      <a:pt x="180" y="3"/>
                    </a:moveTo>
                    <a:lnTo>
                      <a:pt x="180" y="3"/>
                    </a:lnTo>
                    <a:lnTo>
                      <a:pt x="180" y="2"/>
                    </a:lnTo>
                    <a:lnTo>
                      <a:pt x="179" y="2"/>
                    </a:lnTo>
                    <a:lnTo>
                      <a:pt x="179" y="1"/>
                    </a:lnTo>
                    <a:lnTo>
                      <a:pt x="178" y="1"/>
                    </a:lnTo>
                    <a:lnTo>
                      <a:pt x="178" y="0"/>
                    </a:lnTo>
                    <a:lnTo>
                      <a:pt x="177" y="0"/>
                    </a:lnTo>
                    <a:lnTo>
                      <a:pt x="176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166"/>
                    </a:lnTo>
                    <a:lnTo>
                      <a:pt x="0" y="167"/>
                    </a:lnTo>
                    <a:lnTo>
                      <a:pt x="0" y="168"/>
                    </a:lnTo>
                    <a:lnTo>
                      <a:pt x="1" y="168"/>
                    </a:lnTo>
                    <a:lnTo>
                      <a:pt x="1" y="169"/>
                    </a:lnTo>
                    <a:lnTo>
                      <a:pt x="2" y="169"/>
                    </a:lnTo>
                    <a:lnTo>
                      <a:pt x="3" y="170"/>
                    </a:lnTo>
                    <a:lnTo>
                      <a:pt x="176" y="170"/>
                    </a:lnTo>
                    <a:lnTo>
                      <a:pt x="176" y="169"/>
                    </a:lnTo>
                    <a:lnTo>
                      <a:pt x="177" y="169"/>
                    </a:lnTo>
                    <a:lnTo>
                      <a:pt x="178" y="169"/>
                    </a:lnTo>
                    <a:lnTo>
                      <a:pt x="178" y="168"/>
                    </a:lnTo>
                    <a:lnTo>
                      <a:pt x="179" y="168"/>
                    </a:lnTo>
                    <a:lnTo>
                      <a:pt x="179" y="167"/>
                    </a:lnTo>
                    <a:lnTo>
                      <a:pt x="180" y="166"/>
                    </a:lnTo>
                    <a:lnTo>
                      <a:pt x="180" y="3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9999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21" name="Freeform 964"/>
              <p:cNvSpPr>
                <a:spLocks/>
              </p:cNvSpPr>
              <p:nvPr/>
            </p:nvSpPr>
            <p:spPr bwMode="auto">
              <a:xfrm>
                <a:off x="2446" y="3337"/>
                <a:ext cx="105" cy="81"/>
              </a:xfrm>
              <a:custGeom>
                <a:avLst/>
                <a:gdLst>
                  <a:gd name="T0" fmla="*/ 7 w 180"/>
                  <a:gd name="T1" fmla="*/ 2 h 168"/>
                  <a:gd name="T2" fmla="*/ 7 w 180"/>
                  <a:gd name="T3" fmla="*/ 2 h 168"/>
                  <a:gd name="T4" fmla="*/ 7 w 180"/>
                  <a:gd name="T5" fmla="*/ 2 h 168"/>
                  <a:gd name="T6" fmla="*/ 7 w 180"/>
                  <a:gd name="T7" fmla="*/ 2 h 168"/>
                  <a:gd name="T8" fmla="*/ 7 w 180"/>
                  <a:gd name="T9" fmla="*/ 2 h 168"/>
                  <a:gd name="T10" fmla="*/ 7 w 180"/>
                  <a:gd name="T11" fmla="*/ 2 h 168"/>
                  <a:gd name="T12" fmla="*/ 7 w 180"/>
                  <a:gd name="T13" fmla="*/ 2 h 168"/>
                  <a:gd name="T14" fmla="*/ 7 w 180"/>
                  <a:gd name="T15" fmla="*/ 2 h 168"/>
                  <a:gd name="T16" fmla="*/ 1 w 180"/>
                  <a:gd name="T17" fmla="*/ 2 h 168"/>
                  <a:gd name="T18" fmla="*/ 1 w 180"/>
                  <a:gd name="T19" fmla="*/ 2 h 168"/>
                  <a:gd name="T20" fmla="*/ 1 w 180"/>
                  <a:gd name="T21" fmla="*/ 2 h 168"/>
                  <a:gd name="T22" fmla="*/ 1 w 180"/>
                  <a:gd name="T23" fmla="*/ 2 h 168"/>
                  <a:gd name="T24" fmla="*/ 1 w 180"/>
                  <a:gd name="T25" fmla="*/ 2 h 168"/>
                  <a:gd name="T26" fmla="*/ 0 w 180"/>
                  <a:gd name="T27" fmla="*/ 2 h 168"/>
                  <a:gd name="T28" fmla="*/ 0 w 180"/>
                  <a:gd name="T29" fmla="*/ 2 h 168"/>
                  <a:gd name="T30" fmla="*/ 0 w 180"/>
                  <a:gd name="T31" fmla="*/ 2 h 168"/>
                  <a:gd name="T32" fmla="*/ 0 w 180"/>
                  <a:gd name="T33" fmla="*/ 2 h 168"/>
                  <a:gd name="T34" fmla="*/ 0 w 180"/>
                  <a:gd name="T35" fmla="*/ 2 h 168"/>
                  <a:gd name="T36" fmla="*/ 0 w 180"/>
                  <a:gd name="T37" fmla="*/ 2 h 168"/>
                  <a:gd name="T38" fmla="*/ 0 w 180"/>
                  <a:gd name="T39" fmla="*/ 0 h 168"/>
                  <a:gd name="T40" fmla="*/ 0 w 180"/>
                  <a:gd name="T41" fmla="*/ 0 h 168"/>
                  <a:gd name="T42" fmla="*/ 0 w 180"/>
                  <a:gd name="T43" fmla="*/ 0 h 168"/>
                  <a:gd name="T44" fmla="*/ 0 w 180"/>
                  <a:gd name="T45" fmla="*/ 0 h 168"/>
                  <a:gd name="T46" fmla="*/ 0 w 180"/>
                  <a:gd name="T47" fmla="*/ 0 h 168"/>
                  <a:gd name="T48" fmla="*/ 1 w 180"/>
                  <a:gd name="T49" fmla="*/ 0 h 168"/>
                  <a:gd name="T50" fmla="*/ 1 w 180"/>
                  <a:gd name="T51" fmla="*/ 0 h 168"/>
                  <a:gd name="T52" fmla="*/ 1 w 180"/>
                  <a:gd name="T53" fmla="*/ 0 h 168"/>
                  <a:gd name="T54" fmla="*/ 1 w 180"/>
                  <a:gd name="T55" fmla="*/ 0 h 168"/>
                  <a:gd name="T56" fmla="*/ 7 w 180"/>
                  <a:gd name="T57" fmla="*/ 0 h 168"/>
                  <a:gd name="T58" fmla="*/ 7 w 180"/>
                  <a:gd name="T59" fmla="*/ 0 h 168"/>
                  <a:gd name="T60" fmla="*/ 7 w 180"/>
                  <a:gd name="T61" fmla="*/ 0 h 168"/>
                  <a:gd name="T62" fmla="*/ 7 w 180"/>
                  <a:gd name="T63" fmla="*/ 0 h 168"/>
                  <a:gd name="T64" fmla="*/ 7 w 180"/>
                  <a:gd name="T65" fmla="*/ 0 h 168"/>
                  <a:gd name="T66" fmla="*/ 7 w 180"/>
                  <a:gd name="T67" fmla="*/ 0 h 168"/>
                  <a:gd name="T68" fmla="*/ 7 w 180"/>
                  <a:gd name="T69" fmla="*/ 0 h 168"/>
                  <a:gd name="T70" fmla="*/ 7 w 180"/>
                  <a:gd name="T71" fmla="*/ 0 h 168"/>
                  <a:gd name="T72" fmla="*/ 7 w 180"/>
                  <a:gd name="T73" fmla="*/ 0 h 168"/>
                  <a:gd name="T74" fmla="*/ 7 w 180"/>
                  <a:gd name="T75" fmla="*/ 0 h 168"/>
                  <a:gd name="T76" fmla="*/ 7 w 180"/>
                  <a:gd name="T77" fmla="*/ 2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80"/>
                  <a:gd name="T118" fmla="*/ 0 h 168"/>
                  <a:gd name="T119" fmla="*/ 180 w 180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80" h="168">
                    <a:moveTo>
                      <a:pt x="179" y="163"/>
                    </a:moveTo>
                    <a:lnTo>
                      <a:pt x="179" y="164"/>
                    </a:lnTo>
                    <a:lnTo>
                      <a:pt x="178" y="165"/>
                    </a:lnTo>
                    <a:lnTo>
                      <a:pt x="177" y="166"/>
                    </a:lnTo>
                    <a:lnTo>
                      <a:pt x="176" y="167"/>
                    </a:lnTo>
                    <a:lnTo>
                      <a:pt x="2" y="167"/>
                    </a:lnTo>
                    <a:lnTo>
                      <a:pt x="1" y="167"/>
                    </a:lnTo>
                    <a:lnTo>
                      <a:pt x="1" y="166"/>
                    </a:lnTo>
                    <a:lnTo>
                      <a:pt x="0" y="166"/>
                    </a:lnTo>
                    <a:lnTo>
                      <a:pt x="0" y="165"/>
                    </a:lnTo>
                    <a:lnTo>
                      <a:pt x="0" y="164"/>
                    </a:lnTo>
                    <a:lnTo>
                      <a:pt x="0" y="163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176" y="0"/>
                    </a:lnTo>
                    <a:lnTo>
                      <a:pt x="177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2"/>
                    </a:lnTo>
                    <a:lnTo>
                      <a:pt x="179" y="3"/>
                    </a:lnTo>
                    <a:lnTo>
                      <a:pt x="179" y="163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22" name="Freeform 965"/>
              <p:cNvSpPr>
                <a:spLocks/>
              </p:cNvSpPr>
              <p:nvPr/>
            </p:nvSpPr>
            <p:spPr bwMode="auto">
              <a:xfrm>
                <a:off x="2457" y="3348"/>
                <a:ext cx="83" cy="60"/>
              </a:xfrm>
              <a:custGeom>
                <a:avLst/>
                <a:gdLst>
                  <a:gd name="T0" fmla="*/ 0 w 142"/>
                  <a:gd name="T1" fmla="*/ 0 h 124"/>
                  <a:gd name="T2" fmla="*/ 1 w 142"/>
                  <a:gd name="T3" fmla="*/ 0 h 124"/>
                  <a:gd name="T4" fmla="*/ 1 w 142"/>
                  <a:gd name="T5" fmla="*/ 0 h 124"/>
                  <a:gd name="T6" fmla="*/ 1 w 142"/>
                  <a:gd name="T7" fmla="*/ 0 h 124"/>
                  <a:gd name="T8" fmla="*/ 1 w 142"/>
                  <a:gd name="T9" fmla="*/ 0 h 124"/>
                  <a:gd name="T10" fmla="*/ 1 w 142"/>
                  <a:gd name="T11" fmla="*/ 0 h 124"/>
                  <a:gd name="T12" fmla="*/ 1 w 142"/>
                  <a:gd name="T13" fmla="*/ 0 h 124"/>
                  <a:gd name="T14" fmla="*/ 1 w 142"/>
                  <a:gd name="T15" fmla="*/ 0 h 124"/>
                  <a:gd name="T16" fmla="*/ 5 w 142"/>
                  <a:gd name="T17" fmla="*/ 0 h 124"/>
                  <a:gd name="T18" fmla="*/ 5 w 142"/>
                  <a:gd name="T19" fmla="*/ 0 h 124"/>
                  <a:gd name="T20" fmla="*/ 5 w 142"/>
                  <a:gd name="T21" fmla="*/ 0 h 124"/>
                  <a:gd name="T22" fmla="*/ 5 w 142"/>
                  <a:gd name="T23" fmla="*/ 0 h 124"/>
                  <a:gd name="T24" fmla="*/ 5 w 142"/>
                  <a:gd name="T25" fmla="*/ 0 h 124"/>
                  <a:gd name="T26" fmla="*/ 5 w 142"/>
                  <a:gd name="T27" fmla="*/ 0 h 124"/>
                  <a:gd name="T28" fmla="*/ 5 w 142"/>
                  <a:gd name="T29" fmla="*/ 0 h 124"/>
                  <a:gd name="T30" fmla="*/ 5 w 142"/>
                  <a:gd name="T31" fmla="*/ 0 h 124"/>
                  <a:gd name="T32" fmla="*/ 5 w 142"/>
                  <a:gd name="T33" fmla="*/ 0 h 124"/>
                  <a:gd name="T34" fmla="*/ 5 w 142"/>
                  <a:gd name="T35" fmla="*/ 0 h 124"/>
                  <a:gd name="T36" fmla="*/ 5 w 142"/>
                  <a:gd name="T37" fmla="*/ 0 h 124"/>
                  <a:gd name="T38" fmla="*/ 5 w 142"/>
                  <a:gd name="T39" fmla="*/ 0 h 124"/>
                  <a:gd name="T40" fmla="*/ 5 w 142"/>
                  <a:gd name="T41" fmla="*/ 0 h 124"/>
                  <a:gd name="T42" fmla="*/ 5 w 142"/>
                  <a:gd name="T43" fmla="*/ 1 h 124"/>
                  <a:gd name="T44" fmla="*/ 5 w 142"/>
                  <a:gd name="T45" fmla="*/ 1 h 124"/>
                  <a:gd name="T46" fmla="*/ 5 w 142"/>
                  <a:gd name="T47" fmla="*/ 1 h 124"/>
                  <a:gd name="T48" fmla="*/ 5 w 142"/>
                  <a:gd name="T49" fmla="*/ 1 h 124"/>
                  <a:gd name="T50" fmla="*/ 5 w 142"/>
                  <a:gd name="T51" fmla="*/ 1 h 124"/>
                  <a:gd name="T52" fmla="*/ 5 w 142"/>
                  <a:gd name="T53" fmla="*/ 1 h 124"/>
                  <a:gd name="T54" fmla="*/ 5 w 142"/>
                  <a:gd name="T55" fmla="*/ 1 h 124"/>
                  <a:gd name="T56" fmla="*/ 5 w 142"/>
                  <a:gd name="T57" fmla="*/ 1 h 124"/>
                  <a:gd name="T58" fmla="*/ 5 w 142"/>
                  <a:gd name="T59" fmla="*/ 1 h 124"/>
                  <a:gd name="T60" fmla="*/ 5 w 142"/>
                  <a:gd name="T61" fmla="*/ 1 h 124"/>
                  <a:gd name="T62" fmla="*/ 5 w 142"/>
                  <a:gd name="T63" fmla="*/ 1 h 124"/>
                  <a:gd name="T64" fmla="*/ 5 w 142"/>
                  <a:gd name="T65" fmla="*/ 1 h 124"/>
                  <a:gd name="T66" fmla="*/ 1 w 142"/>
                  <a:gd name="T67" fmla="*/ 1 h 124"/>
                  <a:gd name="T68" fmla="*/ 1 w 142"/>
                  <a:gd name="T69" fmla="*/ 1 h 124"/>
                  <a:gd name="T70" fmla="*/ 1 w 142"/>
                  <a:gd name="T71" fmla="*/ 1 h 124"/>
                  <a:gd name="T72" fmla="*/ 1 w 142"/>
                  <a:gd name="T73" fmla="*/ 1 h 124"/>
                  <a:gd name="T74" fmla="*/ 1 w 142"/>
                  <a:gd name="T75" fmla="*/ 1 h 124"/>
                  <a:gd name="T76" fmla="*/ 1 w 142"/>
                  <a:gd name="T77" fmla="*/ 1 h 124"/>
                  <a:gd name="T78" fmla="*/ 1 w 142"/>
                  <a:gd name="T79" fmla="*/ 1 h 124"/>
                  <a:gd name="T80" fmla="*/ 0 w 142"/>
                  <a:gd name="T81" fmla="*/ 1 h 124"/>
                  <a:gd name="T82" fmla="*/ 0 w 142"/>
                  <a:gd name="T83" fmla="*/ 1 h 124"/>
                  <a:gd name="T84" fmla="*/ 0 w 142"/>
                  <a:gd name="T85" fmla="*/ 1 h 124"/>
                  <a:gd name="T86" fmla="*/ 0 w 142"/>
                  <a:gd name="T87" fmla="*/ 1 h 124"/>
                  <a:gd name="T88" fmla="*/ 0 w 142"/>
                  <a:gd name="T89" fmla="*/ 1 h 124"/>
                  <a:gd name="T90" fmla="*/ 0 w 142"/>
                  <a:gd name="T91" fmla="*/ 0 h 124"/>
                  <a:gd name="T92" fmla="*/ 0 w 142"/>
                  <a:gd name="T93" fmla="*/ 0 h 124"/>
                  <a:gd name="T94" fmla="*/ 0 w 142"/>
                  <a:gd name="T95" fmla="*/ 0 h 124"/>
                  <a:gd name="T96" fmla="*/ 0 w 142"/>
                  <a:gd name="T97" fmla="*/ 0 h 124"/>
                  <a:gd name="T98" fmla="*/ 0 w 142"/>
                  <a:gd name="T99" fmla="*/ 0 h 124"/>
                  <a:gd name="T100" fmla="*/ 0 w 142"/>
                  <a:gd name="T101" fmla="*/ 0 h 124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42"/>
                  <a:gd name="T154" fmla="*/ 0 h 124"/>
                  <a:gd name="T155" fmla="*/ 142 w 142"/>
                  <a:gd name="T156" fmla="*/ 124 h 124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42" h="124">
                    <a:moveTo>
                      <a:pt x="0" y="1"/>
                    </a:moveTo>
                    <a:lnTo>
                      <a:pt x="1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8" y="1"/>
                    </a:lnTo>
                    <a:lnTo>
                      <a:pt x="139" y="1"/>
                    </a:lnTo>
                    <a:lnTo>
                      <a:pt x="140" y="2"/>
                    </a:lnTo>
                    <a:lnTo>
                      <a:pt x="140" y="3"/>
                    </a:lnTo>
                    <a:lnTo>
                      <a:pt x="141" y="3"/>
                    </a:lnTo>
                    <a:lnTo>
                      <a:pt x="141" y="4"/>
                    </a:lnTo>
                    <a:lnTo>
                      <a:pt x="141" y="5"/>
                    </a:lnTo>
                    <a:lnTo>
                      <a:pt x="141" y="117"/>
                    </a:lnTo>
                    <a:lnTo>
                      <a:pt x="141" y="119"/>
                    </a:lnTo>
                    <a:lnTo>
                      <a:pt x="140" y="119"/>
                    </a:lnTo>
                    <a:lnTo>
                      <a:pt x="140" y="120"/>
                    </a:lnTo>
                    <a:lnTo>
                      <a:pt x="139" y="121"/>
                    </a:lnTo>
                    <a:lnTo>
                      <a:pt x="138" y="122"/>
                    </a:lnTo>
                    <a:lnTo>
                      <a:pt x="137" y="122"/>
                    </a:lnTo>
                    <a:lnTo>
                      <a:pt x="137" y="123"/>
                    </a:lnTo>
                    <a:lnTo>
                      <a:pt x="136" y="123"/>
                    </a:lnTo>
                    <a:lnTo>
                      <a:pt x="135" y="123"/>
                    </a:lnTo>
                    <a:lnTo>
                      <a:pt x="4" y="123"/>
                    </a:lnTo>
                    <a:lnTo>
                      <a:pt x="3" y="123"/>
                    </a:lnTo>
                    <a:lnTo>
                      <a:pt x="2" y="122"/>
                    </a:lnTo>
                    <a:lnTo>
                      <a:pt x="1" y="122"/>
                    </a:lnTo>
                    <a:lnTo>
                      <a:pt x="1" y="121"/>
                    </a:lnTo>
                    <a:lnTo>
                      <a:pt x="0" y="121"/>
                    </a:lnTo>
                    <a:lnTo>
                      <a:pt x="0" y="120"/>
                    </a:lnTo>
                    <a:lnTo>
                      <a:pt x="0" y="119"/>
                    </a:lnTo>
                    <a:lnTo>
                      <a:pt x="0" y="117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0" y="1"/>
                    </a:lnTo>
                  </a:path>
                </a:pathLst>
              </a:custGeom>
              <a:gradFill rotWithShape="0">
                <a:gsLst>
                  <a:gs pos="0">
                    <a:srgbClr val="1D2B4B"/>
                  </a:gs>
                  <a:gs pos="50000">
                    <a:srgbClr val="618FFD"/>
                  </a:gs>
                  <a:gs pos="100000">
                    <a:srgbClr val="1D2B4B"/>
                  </a:gs>
                </a:gsLst>
                <a:lin ang="2700000" scaled="1"/>
              </a:gra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23" name="Freeform 966"/>
              <p:cNvSpPr>
                <a:spLocks/>
              </p:cNvSpPr>
              <p:nvPr/>
            </p:nvSpPr>
            <p:spPr bwMode="auto">
              <a:xfrm>
                <a:off x="2454" y="3345"/>
                <a:ext cx="89" cy="8"/>
              </a:xfrm>
              <a:custGeom>
                <a:avLst/>
                <a:gdLst>
                  <a:gd name="T0" fmla="*/ 6 w 153"/>
                  <a:gd name="T1" fmla="*/ 0 h 17"/>
                  <a:gd name="T2" fmla="*/ 6 w 153"/>
                  <a:gd name="T3" fmla="*/ 0 h 17"/>
                  <a:gd name="T4" fmla="*/ 6 w 153"/>
                  <a:gd name="T5" fmla="*/ 0 h 17"/>
                  <a:gd name="T6" fmla="*/ 6 w 153"/>
                  <a:gd name="T7" fmla="*/ 0 h 17"/>
                  <a:gd name="T8" fmla="*/ 6 w 153"/>
                  <a:gd name="T9" fmla="*/ 0 h 17"/>
                  <a:gd name="T10" fmla="*/ 6 w 153"/>
                  <a:gd name="T11" fmla="*/ 0 h 17"/>
                  <a:gd name="T12" fmla="*/ 6 w 153"/>
                  <a:gd name="T13" fmla="*/ 0 h 17"/>
                  <a:gd name="T14" fmla="*/ 6 w 153"/>
                  <a:gd name="T15" fmla="*/ 0 h 17"/>
                  <a:gd name="T16" fmla="*/ 6 w 153"/>
                  <a:gd name="T17" fmla="*/ 0 h 17"/>
                  <a:gd name="T18" fmla="*/ 6 w 153"/>
                  <a:gd name="T19" fmla="*/ 0 h 17"/>
                  <a:gd name="T20" fmla="*/ 6 w 153"/>
                  <a:gd name="T21" fmla="*/ 0 h 17"/>
                  <a:gd name="T22" fmla="*/ 6 w 153"/>
                  <a:gd name="T23" fmla="*/ 0 h 17"/>
                  <a:gd name="T24" fmla="*/ 1 w 153"/>
                  <a:gd name="T25" fmla="*/ 0 h 17"/>
                  <a:gd name="T26" fmla="*/ 1 w 153"/>
                  <a:gd name="T27" fmla="*/ 0 h 17"/>
                  <a:gd name="T28" fmla="*/ 1 w 153"/>
                  <a:gd name="T29" fmla="*/ 0 h 17"/>
                  <a:gd name="T30" fmla="*/ 1 w 153"/>
                  <a:gd name="T31" fmla="*/ 0 h 17"/>
                  <a:gd name="T32" fmla="*/ 1 w 153"/>
                  <a:gd name="T33" fmla="*/ 0 h 17"/>
                  <a:gd name="T34" fmla="*/ 0 w 153"/>
                  <a:gd name="T35" fmla="*/ 0 h 17"/>
                  <a:gd name="T36" fmla="*/ 0 w 153"/>
                  <a:gd name="T37" fmla="*/ 0 h 17"/>
                  <a:gd name="T38" fmla="*/ 0 w 153"/>
                  <a:gd name="T39" fmla="*/ 0 h 17"/>
                  <a:gd name="T40" fmla="*/ 1 w 153"/>
                  <a:gd name="T41" fmla="*/ 0 h 17"/>
                  <a:gd name="T42" fmla="*/ 1 w 153"/>
                  <a:gd name="T43" fmla="*/ 0 h 17"/>
                  <a:gd name="T44" fmla="*/ 1 w 153"/>
                  <a:gd name="T45" fmla="*/ 0 h 17"/>
                  <a:gd name="T46" fmla="*/ 1 w 153"/>
                  <a:gd name="T47" fmla="*/ 0 h 17"/>
                  <a:gd name="T48" fmla="*/ 1 w 153"/>
                  <a:gd name="T49" fmla="*/ 0 h 17"/>
                  <a:gd name="T50" fmla="*/ 1 w 153"/>
                  <a:gd name="T51" fmla="*/ 0 h 17"/>
                  <a:gd name="T52" fmla="*/ 1 w 153"/>
                  <a:gd name="T53" fmla="*/ 0 h 17"/>
                  <a:gd name="T54" fmla="*/ 1 w 153"/>
                  <a:gd name="T55" fmla="*/ 0 h 17"/>
                  <a:gd name="T56" fmla="*/ 5 w 153"/>
                  <a:gd name="T57" fmla="*/ 0 h 17"/>
                  <a:gd name="T58" fmla="*/ 5 w 153"/>
                  <a:gd name="T59" fmla="*/ 0 h 17"/>
                  <a:gd name="T60" fmla="*/ 5 w 153"/>
                  <a:gd name="T61" fmla="*/ 0 h 17"/>
                  <a:gd name="T62" fmla="*/ 5 w 153"/>
                  <a:gd name="T63" fmla="*/ 0 h 17"/>
                  <a:gd name="T64" fmla="*/ 5 w 153"/>
                  <a:gd name="T65" fmla="*/ 0 h 17"/>
                  <a:gd name="T66" fmla="*/ 5 w 153"/>
                  <a:gd name="T67" fmla="*/ 0 h 17"/>
                  <a:gd name="T68" fmla="*/ 5 w 153"/>
                  <a:gd name="T69" fmla="*/ 0 h 17"/>
                  <a:gd name="T70" fmla="*/ 6 w 153"/>
                  <a:gd name="T71" fmla="*/ 0 h 17"/>
                  <a:gd name="T72" fmla="*/ 6 w 153"/>
                  <a:gd name="T73" fmla="*/ 0 h 1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53"/>
                  <a:gd name="T112" fmla="*/ 0 h 17"/>
                  <a:gd name="T113" fmla="*/ 153 w 153"/>
                  <a:gd name="T114" fmla="*/ 17 h 1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53" h="17">
                    <a:moveTo>
                      <a:pt x="152" y="4"/>
                    </a:moveTo>
                    <a:lnTo>
                      <a:pt x="151" y="3"/>
                    </a:lnTo>
                    <a:lnTo>
                      <a:pt x="151" y="2"/>
                    </a:lnTo>
                    <a:lnTo>
                      <a:pt x="150" y="2"/>
                    </a:lnTo>
                    <a:lnTo>
                      <a:pt x="150" y="1"/>
                    </a:lnTo>
                    <a:lnTo>
                      <a:pt x="149" y="1"/>
                    </a:lnTo>
                    <a:lnTo>
                      <a:pt x="148" y="0"/>
                    </a:lnTo>
                    <a:lnTo>
                      <a:pt x="147" y="0"/>
                    </a:lnTo>
                    <a:lnTo>
                      <a:pt x="146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6" y="16"/>
                    </a:lnTo>
                    <a:lnTo>
                      <a:pt x="7" y="14"/>
                    </a:lnTo>
                    <a:lnTo>
                      <a:pt x="8" y="13"/>
                    </a:lnTo>
                    <a:lnTo>
                      <a:pt x="8" y="12"/>
                    </a:lnTo>
                    <a:lnTo>
                      <a:pt x="9" y="12"/>
                    </a:lnTo>
                    <a:lnTo>
                      <a:pt x="10" y="12"/>
                    </a:lnTo>
                    <a:lnTo>
                      <a:pt x="140" y="12"/>
                    </a:lnTo>
                    <a:lnTo>
                      <a:pt x="141" y="12"/>
                    </a:lnTo>
                    <a:lnTo>
                      <a:pt x="142" y="12"/>
                    </a:lnTo>
                    <a:lnTo>
                      <a:pt x="142" y="13"/>
                    </a:lnTo>
                    <a:lnTo>
                      <a:pt x="143" y="13"/>
                    </a:lnTo>
                    <a:lnTo>
                      <a:pt x="143" y="14"/>
                    </a:lnTo>
                    <a:lnTo>
                      <a:pt x="144" y="14"/>
                    </a:lnTo>
                    <a:lnTo>
                      <a:pt x="152" y="4"/>
                    </a:lnTo>
                  </a:path>
                </a:pathLst>
              </a:custGeom>
              <a:solidFill>
                <a:srgbClr val="9F9FA2"/>
              </a:solidFill>
              <a:ln w="12700" cap="rnd">
                <a:solidFill>
                  <a:srgbClr val="9F9FA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24" name="Freeform 967"/>
              <p:cNvSpPr>
                <a:spLocks/>
              </p:cNvSpPr>
              <p:nvPr/>
            </p:nvSpPr>
            <p:spPr bwMode="auto">
              <a:xfrm>
                <a:off x="2453" y="3346"/>
                <a:ext cx="10" cy="65"/>
              </a:xfrm>
              <a:custGeom>
                <a:avLst/>
                <a:gdLst>
                  <a:gd name="T0" fmla="*/ 1 w 17"/>
                  <a:gd name="T1" fmla="*/ 0 h 135"/>
                  <a:gd name="T2" fmla="*/ 1 w 17"/>
                  <a:gd name="T3" fmla="*/ 0 h 135"/>
                  <a:gd name="T4" fmla="*/ 0 w 17"/>
                  <a:gd name="T5" fmla="*/ 0 h 135"/>
                  <a:gd name="T6" fmla="*/ 0 w 17"/>
                  <a:gd name="T7" fmla="*/ 0 h 135"/>
                  <a:gd name="T8" fmla="*/ 0 w 17"/>
                  <a:gd name="T9" fmla="*/ 0 h 135"/>
                  <a:gd name="T10" fmla="*/ 0 w 17"/>
                  <a:gd name="T11" fmla="*/ 0 h 135"/>
                  <a:gd name="T12" fmla="*/ 0 w 17"/>
                  <a:gd name="T13" fmla="*/ 0 h 135"/>
                  <a:gd name="T14" fmla="*/ 0 w 17"/>
                  <a:gd name="T15" fmla="*/ 1 h 135"/>
                  <a:gd name="T16" fmla="*/ 0 w 17"/>
                  <a:gd name="T17" fmla="*/ 1 h 135"/>
                  <a:gd name="T18" fmla="*/ 0 w 17"/>
                  <a:gd name="T19" fmla="*/ 1 h 135"/>
                  <a:gd name="T20" fmla="*/ 0 w 17"/>
                  <a:gd name="T21" fmla="*/ 1 h 135"/>
                  <a:gd name="T22" fmla="*/ 0 w 17"/>
                  <a:gd name="T23" fmla="*/ 1 h 135"/>
                  <a:gd name="T24" fmla="*/ 1 w 17"/>
                  <a:gd name="T25" fmla="*/ 1 h 135"/>
                  <a:gd name="T26" fmla="*/ 1 w 17"/>
                  <a:gd name="T27" fmla="*/ 1 h 135"/>
                  <a:gd name="T28" fmla="*/ 1 w 17"/>
                  <a:gd name="T29" fmla="*/ 1 h 135"/>
                  <a:gd name="T30" fmla="*/ 1 w 17"/>
                  <a:gd name="T31" fmla="*/ 1 h 135"/>
                  <a:gd name="T32" fmla="*/ 1 w 17"/>
                  <a:gd name="T33" fmla="*/ 1 h 135"/>
                  <a:gd name="T34" fmla="*/ 1 w 17"/>
                  <a:gd name="T35" fmla="*/ 1 h 135"/>
                  <a:gd name="T36" fmla="*/ 1 w 17"/>
                  <a:gd name="T37" fmla="*/ 1 h 135"/>
                  <a:gd name="T38" fmla="*/ 1 w 17"/>
                  <a:gd name="T39" fmla="*/ 1 h 135"/>
                  <a:gd name="T40" fmla="*/ 1 w 17"/>
                  <a:gd name="T41" fmla="*/ 1 h 135"/>
                  <a:gd name="T42" fmla="*/ 1 w 17"/>
                  <a:gd name="T43" fmla="*/ 1 h 135"/>
                  <a:gd name="T44" fmla="*/ 1 w 17"/>
                  <a:gd name="T45" fmla="*/ 1 h 135"/>
                  <a:gd name="T46" fmla="*/ 1 w 17"/>
                  <a:gd name="T47" fmla="*/ 0 h 135"/>
                  <a:gd name="T48" fmla="*/ 1 w 17"/>
                  <a:gd name="T49" fmla="*/ 0 h 135"/>
                  <a:gd name="T50" fmla="*/ 1 w 17"/>
                  <a:gd name="T51" fmla="*/ 0 h 135"/>
                  <a:gd name="T52" fmla="*/ 1 w 17"/>
                  <a:gd name="T53" fmla="*/ 0 h 135"/>
                  <a:gd name="T54" fmla="*/ 1 w 17"/>
                  <a:gd name="T55" fmla="*/ 0 h 135"/>
                  <a:gd name="T56" fmla="*/ 1 w 17"/>
                  <a:gd name="T57" fmla="*/ 0 h 135"/>
                  <a:gd name="T58" fmla="*/ 1 w 17"/>
                  <a:gd name="T59" fmla="*/ 0 h 135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7"/>
                  <a:gd name="T91" fmla="*/ 0 h 135"/>
                  <a:gd name="T92" fmla="*/ 17 w 17"/>
                  <a:gd name="T93" fmla="*/ 135 h 135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7" h="135">
                    <a:moveTo>
                      <a:pt x="2" y="0"/>
                    </a:moveTo>
                    <a:lnTo>
                      <a:pt x="1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0" y="130"/>
                    </a:lnTo>
                    <a:lnTo>
                      <a:pt x="0" y="131"/>
                    </a:lnTo>
                    <a:lnTo>
                      <a:pt x="0" y="132"/>
                    </a:lnTo>
                    <a:lnTo>
                      <a:pt x="1" y="133"/>
                    </a:lnTo>
                    <a:lnTo>
                      <a:pt x="2" y="133"/>
                    </a:lnTo>
                    <a:lnTo>
                      <a:pt x="2" y="134"/>
                    </a:lnTo>
                    <a:lnTo>
                      <a:pt x="3" y="134"/>
                    </a:lnTo>
                    <a:lnTo>
                      <a:pt x="16" y="127"/>
                    </a:lnTo>
                    <a:lnTo>
                      <a:pt x="15" y="126"/>
                    </a:lnTo>
                    <a:lnTo>
                      <a:pt x="14" y="126"/>
                    </a:lnTo>
                    <a:lnTo>
                      <a:pt x="14" y="125"/>
                    </a:lnTo>
                    <a:lnTo>
                      <a:pt x="13" y="124"/>
                    </a:lnTo>
                    <a:lnTo>
                      <a:pt x="13" y="10"/>
                    </a:lnTo>
                    <a:lnTo>
                      <a:pt x="13" y="9"/>
                    </a:lnTo>
                    <a:lnTo>
                      <a:pt x="13" y="8"/>
                    </a:lnTo>
                    <a:lnTo>
                      <a:pt x="14" y="8"/>
                    </a:lnTo>
                    <a:lnTo>
                      <a:pt x="15" y="7"/>
                    </a:lnTo>
                    <a:lnTo>
                      <a:pt x="15" y="6"/>
                    </a:lnTo>
                    <a:lnTo>
                      <a:pt x="2" y="0"/>
                    </a:lnTo>
                  </a:path>
                </a:pathLst>
              </a:custGeom>
              <a:solidFill>
                <a:srgbClr val="666666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25" name="Freeform 968"/>
              <p:cNvSpPr>
                <a:spLocks/>
              </p:cNvSpPr>
              <p:nvPr/>
            </p:nvSpPr>
            <p:spPr bwMode="auto">
              <a:xfrm>
                <a:off x="2454" y="3346"/>
                <a:ext cx="91" cy="65"/>
              </a:xfrm>
              <a:custGeom>
                <a:avLst/>
                <a:gdLst>
                  <a:gd name="T0" fmla="*/ 0 w 155"/>
                  <a:gd name="T1" fmla="*/ 1 h 136"/>
                  <a:gd name="T2" fmla="*/ 0 w 155"/>
                  <a:gd name="T3" fmla="*/ 1 h 136"/>
                  <a:gd name="T4" fmla="*/ 0 w 155"/>
                  <a:gd name="T5" fmla="*/ 1 h 136"/>
                  <a:gd name="T6" fmla="*/ 1 w 155"/>
                  <a:gd name="T7" fmla="*/ 1 h 136"/>
                  <a:gd name="T8" fmla="*/ 1 w 155"/>
                  <a:gd name="T9" fmla="*/ 1 h 136"/>
                  <a:gd name="T10" fmla="*/ 1 w 155"/>
                  <a:gd name="T11" fmla="*/ 1 h 136"/>
                  <a:gd name="T12" fmla="*/ 1 w 155"/>
                  <a:gd name="T13" fmla="*/ 1 h 136"/>
                  <a:gd name="T14" fmla="*/ 1 w 155"/>
                  <a:gd name="T15" fmla="*/ 1 h 136"/>
                  <a:gd name="T16" fmla="*/ 6 w 155"/>
                  <a:gd name="T17" fmla="*/ 1 h 136"/>
                  <a:gd name="T18" fmla="*/ 6 w 155"/>
                  <a:gd name="T19" fmla="*/ 1 h 136"/>
                  <a:gd name="T20" fmla="*/ 6 w 155"/>
                  <a:gd name="T21" fmla="*/ 1 h 136"/>
                  <a:gd name="T22" fmla="*/ 6 w 155"/>
                  <a:gd name="T23" fmla="*/ 1 h 136"/>
                  <a:gd name="T24" fmla="*/ 6 w 155"/>
                  <a:gd name="T25" fmla="*/ 1 h 136"/>
                  <a:gd name="T26" fmla="*/ 6 w 155"/>
                  <a:gd name="T27" fmla="*/ 1 h 136"/>
                  <a:gd name="T28" fmla="*/ 6 w 155"/>
                  <a:gd name="T29" fmla="*/ 1 h 136"/>
                  <a:gd name="T30" fmla="*/ 6 w 155"/>
                  <a:gd name="T31" fmla="*/ 1 h 136"/>
                  <a:gd name="T32" fmla="*/ 6 w 155"/>
                  <a:gd name="T33" fmla="*/ 1 h 136"/>
                  <a:gd name="T34" fmla="*/ 6 w 155"/>
                  <a:gd name="T35" fmla="*/ 1 h 136"/>
                  <a:gd name="T36" fmla="*/ 6 w 155"/>
                  <a:gd name="T37" fmla="*/ 1 h 136"/>
                  <a:gd name="T38" fmla="*/ 6 w 155"/>
                  <a:gd name="T39" fmla="*/ 0 h 136"/>
                  <a:gd name="T40" fmla="*/ 6 w 155"/>
                  <a:gd name="T41" fmla="*/ 0 h 136"/>
                  <a:gd name="T42" fmla="*/ 6 w 155"/>
                  <a:gd name="T43" fmla="*/ 0 h 136"/>
                  <a:gd name="T44" fmla="*/ 6 w 155"/>
                  <a:gd name="T45" fmla="*/ 0 h 136"/>
                  <a:gd name="T46" fmla="*/ 6 w 155"/>
                  <a:gd name="T47" fmla="*/ 0 h 136"/>
                  <a:gd name="T48" fmla="*/ 6 w 155"/>
                  <a:gd name="T49" fmla="*/ 0 h 136"/>
                  <a:gd name="T50" fmla="*/ 6 w 155"/>
                  <a:gd name="T51" fmla="*/ 0 h 136"/>
                  <a:gd name="T52" fmla="*/ 6 w 155"/>
                  <a:gd name="T53" fmla="*/ 0 h 136"/>
                  <a:gd name="T54" fmla="*/ 6 w 155"/>
                  <a:gd name="T55" fmla="*/ 0 h 136"/>
                  <a:gd name="T56" fmla="*/ 6 w 155"/>
                  <a:gd name="T57" fmla="*/ 0 h 136"/>
                  <a:gd name="T58" fmla="*/ 6 w 155"/>
                  <a:gd name="T59" fmla="*/ 0 h 136"/>
                  <a:gd name="T60" fmla="*/ 6 w 155"/>
                  <a:gd name="T61" fmla="*/ 0 h 136"/>
                  <a:gd name="T62" fmla="*/ 6 w 155"/>
                  <a:gd name="T63" fmla="*/ 0 h 136"/>
                  <a:gd name="T64" fmla="*/ 6 w 155"/>
                  <a:gd name="T65" fmla="*/ 0 h 136"/>
                  <a:gd name="T66" fmla="*/ 6 w 155"/>
                  <a:gd name="T67" fmla="*/ 0 h 136"/>
                  <a:gd name="T68" fmla="*/ 6 w 155"/>
                  <a:gd name="T69" fmla="*/ 0 h 136"/>
                  <a:gd name="T70" fmla="*/ 6 w 155"/>
                  <a:gd name="T71" fmla="*/ 1 h 136"/>
                  <a:gd name="T72" fmla="*/ 6 w 155"/>
                  <a:gd name="T73" fmla="*/ 1 h 136"/>
                  <a:gd name="T74" fmla="*/ 6 w 155"/>
                  <a:gd name="T75" fmla="*/ 1 h 136"/>
                  <a:gd name="T76" fmla="*/ 6 w 155"/>
                  <a:gd name="T77" fmla="*/ 1 h 136"/>
                  <a:gd name="T78" fmla="*/ 6 w 155"/>
                  <a:gd name="T79" fmla="*/ 1 h 136"/>
                  <a:gd name="T80" fmla="*/ 6 w 155"/>
                  <a:gd name="T81" fmla="*/ 1 h 136"/>
                  <a:gd name="T82" fmla="*/ 6 w 155"/>
                  <a:gd name="T83" fmla="*/ 1 h 136"/>
                  <a:gd name="T84" fmla="*/ 6 w 155"/>
                  <a:gd name="T85" fmla="*/ 1 h 136"/>
                  <a:gd name="T86" fmla="*/ 6 w 155"/>
                  <a:gd name="T87" fmla="*/ 1 h 136"/>
                  <a:gd name="T88" fmla="*/ 6 w 155"/>
                  <a:gd name="T89" fmla="*/ 1 h 136"/>
                  <a:gd name="T90" fmla="*/ 6 w 155"/>
                  <a:gd name="T91" fmla="*/ 1 h 136"/>
                  <a:gd name="T92" fmla="*/ 6 w 155"/>
                  <a:gd name="T93" fmla="*/ 1 h 136"/>
                  <a:gd name="T94" fmla="*/ 1 w 155"/>
                  <a:gd name="T95" fmla="*/ 1 h 136"/>
                  <a:gd name="T96" fmla="*/ 1 w 155"/>
                  <a:gd name="T97" fmla="*/ 1 h 136"/>
                  <a:gd name="T98" fmla="*/ 1 w 155"/>
                  <a:gd name="T99" fmla="*/ 1 h 136"/>
                  <a:gd name="T100" fmla="*/ 1 w 155"/>
                  <a:gd name="T101" fmla="*/ 1 h 136"/>
                  <a:gd name="T102" fmla="*/ 1 w 155"/>
                  <a:gd name="T103" fmla="*/ 1 h 136"/>
                  <a:gd name="T104" fmla="*/ 1 w 155"/>
                  <a:gd name="T105" fmla="*/ 1 h 136"/>
                  <a:gd name="T106" fmla="*/ 1 w 155"/>
                  <a:gd name="T107" fmla="*/ 1 h 136"/>
                  <a:gd name="T108" fmla="*/ 1 w 155"/>
                  <a:gd name="T109" fmla="*/ 1 h 136"/>
                  <a:gd name="T110" fmla="*/ 0 w 155"/>
                  <a:gd name="T111" fmla="*/ 1 h 1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155"/>
                  <a:gd name="T169" fmla="*/ 0 h 136"/>
                  <a:gd name="T170" fmla="*/ 155 w 155"/>
                  <a:gd name="T171" fmla="*/ 136 h 1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155" h="136">
                    <a:moveTo>
                      <a:pt x="0" y="133"/>
                    </a:moveTo>
                    <a:lnTo>
                      <a:pt x="0" y="134"/>
                    </a:lnTo>
                    <a:lnTo>
                      <a:pt x="1" y="134"/>
                    </a:lnTo>
                    <a:lnTo>
                      <a:pt x="2" y="135"/>
                    </a:lnTo>
                    <a:lnTo>
                      <a:pt x="3" y="135"/>
                    </a:lnTo>
                    <a:lnTo>
                      <a:pt x="148" y="135"/>
                    </a:lnTo>
                    <a:lnTo>
                      <a:pt x="150" y="134"/>
                    </a:lnTo>
                    <a:lnTo>
                      <a:pt x="151" y="134"/>
                    </a:lnTo>
                    <a:lnTo>
                      <a:pt x="151" y="133"/>
                    </a:lnTo>
                    <a:lnTo>
                      <a:pt x="152" y="133"/>
                    </a:lnTo>
                    <a:lnTo>
                      <a:pt x="153" y="132"/>
                    </a:lnTo>
                    <a:lnTo>
                      <a:pt x="153" y="131"/>
                    </a:lnTo>
                    <a:lnTo>
                      <a:pt x="154" y="131"/>
                    </a:lnTo>
                    <a:lnTo>
                      <a:pt x="154" y="129"/>
                    </a:lnTo>
                    <a:lnTo>
                      <a:pt x="154" y="3"/>
                    </a:lnTo>
                    <a:lnTo>
                      <a:pt x="154" y="2"/>
                    </a:lnTo>
                    <a:lnTo>
                      <a:pt x="154" y="1"/>
                    </a:lnTo>
                    <a:lnTo>
                      <a:pt x="153" y="1"/>
                    </a:lnTo>
                    <a:lnTo>
                      <a:pt x="153" y="0"/>
                    </a:lnTo>
                    <a:lnTo>
                      <a:pt x="145" y="5"/>
                    </a:lnTo>
                    <a:lnTo>
                      <a:pt x="146" y="6"/>
                    </a:lnTo>
                    <a:lnTo>
                      <a:pt x="146" y="7"/>
                    </a:lnTo>
                    <a:lnTo>
                      <a:pt x="146" y="8"/>
                    </a:lnTo>
                    <a:lnTo>
                      <a:pt x="146" y="9"/>
                    </a:lnTo>
                    <a:lnTo>
                      <a:pt x="146" y="123"/>
                    </a:lnTo>
                    <a:lnTo>
                      <a:pt x="146" y="124"/>
                    </a:lnTo>
                    <a:lnTo>
                      <a:pt x="146" y="125"/>
                    </a:lnTo>
                    <a:lnTo>
                      <a:pt x="145" y="126"/>
                    </a:lnTo>
                    <a:lnTo>
                      <a:pt x="145" y="127"/>
                    </a:lnTo>
                    <a:lnTo>
                      <a:pt x="144" y="127"/>
                    </a:lnTo>
                    <a:lnTo>
                      <a:pt x="143" y="127"/>
                    </a:lnTo>
                    <a:lnTo>
                      <a:pt x="143" y="128"/>
                    </a:lnTo>
                    <a:lnTo>
                      <a:pt x="142" y="128"/>
                    </a:lnTo>
                    <a:lnTo>
                      <a:pt x="9" y="128"/>
                    </a:lnTo>
                    <a:lnTo>
                      <a:pt x="8" y="128"/>
                    </a:lnTo>
                    <a:lnTo>
                      <a:pt x="8" y="127"/>
                    </a:lnTo>
                    <a:lnTo>
                      <a:pt x="7" y="127"/>
                    </a:lnTo>
                    <a:lnTo>
                      <a:pt x="6" y="127"/>
                    </a:lnTo>
                    <a:lnTo>
                      <a:pt x="0" y="133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999999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26" name="Freeform 969"/>
              <p:cNvSpPr>
                <a:spLocks/>
              </p:cNvSpPr>
              <p:nvPr/>
            </p:nvSpPr>
            <p:spPr bwMode="auto">
              <a:xfrm>
                <a:off x="2454" y="3345"/>
                <a:ext cx="89" cy="8"/>
              </a:xfrm>
              <a:custGeom>
                <a:avLst/>
                <a:gdLst>
                  <a:gd name="T0" fmla="*/ 6 w 153"/>
                  <a:gd name="T1" fmla="*/ 0 h 17"/>
                  <a:gd name="T2" fmla="*/ 6 w 153"/>
                  <a:gd name="T3" fmla="*/ 0 h 17"/>
                  <a:gd name="T4" fmla="*/ 6 w 153"/>
                  <a:gd name="T5" fmla="*/ 0 h 17"/>
                  <a:gd name="T6" fmla="*/ 6 w 153"/>
                  <a:gd name="T7" fmla="*/ 0 h 17"/>
                  <a:gd name="T8" fmla="*/ 6 w 153"/>
                  <a:gd name="T9" fmla="*/ 0 h 17"/>
                  <a:gd name="T10" fmla="*/ 6 w 153"/>
                  <a:gd name="T11" fmla="*/ 0 h 17"/>
                  <a:gd name="T12" fmla="*/ 6 w 153"/>
                  <a:gd name="T13" fmla="*/ 0 h 17"/>
                  <a:gd name="T14" fmla="*/ 6 w 153"/>
                  <a:gd name="T15" fmla="*/ 0 h 17"/>
                  <a:gd name="T16" fmla="*/ 6 w 153"/>
                  <a:gd name="T17" fmla="*/ 0 h 17"/>
                  <a:gd name="T18" fmla="*/ 6 w 153"/>
                  <a:gd name="T19" fmla="*/ 0 h 17"/>
                  <a:gd name="T20" fmla="*/ 6 w 153"/>
                  <a:gd name="T21" fmla="*/ 0 h 17"/>
                  <a:gd name="T22" fmla="*/ 6 w 153"/>
                  <a:gd name="T23" fmla="*/ 0 h 17"/>
                  <a:gd name="T24" fmla="*/ 1 w 153"/>
                  <a:gd name="T25" fmla="*/ 0 h 17"/>
                  <a:gd name="T26" fmla="*/ 1 w 153"/>
                  <a:gd name="T27" fmla="*/ 0 h 17"/>
                  <a:gd name="T28" fmla="*/ 1 w 153"/>
                  <a:gd name="T29" fmla="*/ 0 h 17"/>
                  <a:gd name="T30" fmla="*/ 1 w 153"/>
                  <a:gd name="T31" fmla="*/ 0 h 17"/>
                  <a:gd name="T32" fmla="*/ 1 w 153"/>
                  <a:gd name="T33" fmla="*/ 0 h 17"/>
                  <a:gd name="T34" fmla="*/ 0 w 153"/>
                  <a:gd name="T35" fmla="*/ 0 h 17"/>
                  <a:gd name="T36" fmla="*/ 0 w 153"/>
                  <a:gd name="T37" fmla="*/ 0 h 17"/>
                  <a:gd name="T38" fmla="*/ 0 w 153"/>
                  <a:gd name="T39" fmla="*/ 0 h 1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53"/>
                  <a:gd name="T61" fmla="*/ 0 h 17"/>
                  <a:gd name="T62" fmla="*/ 153 w 153"/>
                  <a:gd name="T63" fmla="*/ 17 h 1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53" h="17">
                    <a:moveTo>
                      <a:pt x="152" y="16"/>
                    </a:moveTo>
                    <a:lnTo>
                      <a:pt x="151" y="16"/>
                    </a:lnTo>
                    <a:lnTo>
                      <a:pt x="151" y="10"/>
                    </a:lnTo>
                    <a:lnTo>
                      <a:pt x="150" y="10"/>
                    </a:lnTo>
                    <a:lnTo>
                      <a:pt x="150" y="5"/>
                    </a:lnTo>
                    <a:lnTo>
                      <a:pt x="149" y="5"/>
                    </a:lnTo>
                    <a:lnTo>
                      <a:pt x="148" y="0"/>
                    </a:lnTo>
                    <a:lnTo>
                      <a:pt x="147" y="0"/>
                    </a:lnTo>
                    <a:lnTo>
                      <a:pt x="146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1" y="5"/>
                    </a:lnTo>
                    <a:lnTo>
                      <a:pt x="0" y="10"/>
                    </a:lnTo>
                    <a:lnTo>
                      <a:pt x="0" y="16"/>
                    </a:lnTo>
                  </a:path>
                </a:pathLst>
              </a:custGeom>
              <a:noFill/>
              <a:ln w="12700" cap="rnd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27" name="Freeform 970"/>
              <p:cNvSpPr>
                <a:spLocks/>
              </p:cNvSpPr>
              <p:nvPr/>
            </p:nvSpPr>
            <p:spPr bwMode="auto">
              <a:xfrm>
                <a:off x="2437" y="3437"/>
                <a:ext cx="126" cy="35"/>
              </a:xfrm>
              <a:custGeom>
                <a:avLst/>
                <a:gdLst>
                  <a:gd name="T0" fmla="*/ 0 w 215"/>
                  <a:gd name="T1" fmla="*/ 1 h 72"/>
                  <a:gd name="T2" fmla="*/ 0 w 215"/>
                  <a:gd name="T3" fmla="*/ 0 h 72"/>
                  <a:gd name="T4" fmla="*/ 9 w 215"/>
                  <a:gd name="T5" fmla="*/ 0 h 72"/>
                  <a:gd name="T6" fmla="*/ 9 w 215"/>
                  <a:gd name="T7" fmla="*/ 1 h 72"/>
                  <a:gd name="T8" fmla="*/ 0 w 215"/>
                  <a:gd name="T9" fmla="*/ 1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5"/>
                  <a:gd name="T16" fmla="*/ 0 h 72"/>
                  <a:gd name="T17" fmla="*/ 215 w 215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5" h="72">
                    <a:moveTo>
                      <a:pt x="0" y="71"/>
                    </a:moveTo>
                    <a:lnTo>
                      <a:pt x="0" y="0"/>
                    </a:lnTo>
                    <a:lnTo>
                      <a:pt x="214" y="0"/>
                    </a:lnTo>
                    <a:lnTo>
                      <a:pt x="214" y="71"/>
                    </a:lnTo>
                    <a:lnTo>
                      <a:pt x="0" y="71"/>
                    </a:lnTo>
                  </a:path>
                </a:pathLst>
              </a:cu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28" name="Freeform 971"/>
              <p:cNvSpPr>
                <a:spLocks/>
              </p:cNvSpPr>
              <p:nvPr/>
            </p:nvSpPr>
            <p:spPr bwMode="auto">
              <a:xfrm>
                <a:off x="2436" y="3437"/>
                <a:ext cx="128" cy="11"/>
              </a:xfrm>
              <a:custGeom>
                <a:avLst/>
                <a:gdLst>
                  <a:gd name="T0" fmla="*/ 3 w 219"/>
                  <a:gd name="T1" fmla="*/ 0 h 23"/>
                  <a:gd name="T2" fmla="*/ 0 w 219"/>
                  <a:gd name="T3" fmla="*/ 0 h 23"/>
                  <a:gd name="T4" fmla="*/ 0 w 219"/>
                  <a:gd name="T5" fmla="*/ 0 h 23"/>
                  <a:gd name="T6" fmla="*/ 9 w 219"/>
                  <a:gd name="T7" fmla="*/ 0 h 23"/>
                  <a:gd name="T8" fmla="*/ 9 w 219"/>
                  <a:gd name="T9" fmla="*/ 0 h 23"/>
                  <a:gd name="T10" fmla="*/ 5 w 219"/>
                  <a:gd name="T11" fmla="*/ 0 h 23"/>
                  <a:gd name="T12" fmla="*/ 3 w 219"/>
                  <a:gd name="T13" fmla="*/ 0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19"/>
                  <a:gd name="T22" fmla="*/ 0 h 23"/>
                  <a:gd name="T23" fmla="*/ 219 w 219"/>
                  <a:gd name="T24" fmla="*/ 23 h 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19" h="23">
                    <a:moveTo>
                      <a:pt x="79" y="0"/>
                    </a:moveTo>
                    <a:lnTo>
                      <a:pt x="0" y="0"/>
                    </a:lnTo>
                    <a:lnTo>
                      <a:pt x="0" y="22"/>
                    </a:lnTo>
                    <a:lnTo>
                      <a:pt x="218" y="22"/>
                    </a:lnTo>
                    <a:lnTo>
                      <a:pt x="215" y="0"/>
                    </a:lnTo>
                    <a:lnTo>
                      <a:pt x="137" y="0"/>
                    </a:lnTo>
                    <a:lnTo>
                      <a:pt x="79" y="0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29" name="Freeform 972"/>
              <p:cNvSpPr>
                <a:spLocks/>
              </p:cNvSpPr>
              <p:nvPr/>
            </p:nvSpPr>
            <p:spPr bwMode="auto">
              <a:xfrm>
                <a:off x="2524" y="3440"/>
                <a:ext cx="32" cy="8"/>
              </a:xfrm>
              <a:custGeom>
                <a:avLst/>
                <a:gdLst>
                  <a:gd name="T0" fmla="*/ 0 w 56"/>
                  <a:gd name="T1" fmla="*/ 0 h 17"/>
                  <a:gd name="T2" fmla="*/ 1 w 56"/>
                  <a:gd name="T3" fmla="*/ 0 h 17"/>
                  <a:gd name="T4" fmla="*/ 1 w 56"/>
                  <a:gd name="T5" fmla="*/ 0 h 17"/>
                  <a:gd name="T6" fmla="*/ 1 w 56"/>
                  <a:gd name="T7" fmla="*/ 0 h 17"/>
                  <a:gd name="T8" fmla="*/ 1 w 56"/>
                  <a:gd name="T9" fmla="*/ 0 h 17"/>
                  <a:gd name="T10" fmla="*/ 2 w 56"/>
                  <a:gd name="T11" fmla="*/ 0 h 17"/>
                  <a:gd name="T12" fmla="*/ 2 w 56"/>
                  <a:gd name="T13" fmla="*/ 0 h 17"/>
                  <a:gd name="T14" fmla="*/ 1 w 56"/>
                  <a:gd name="T15" fmla="*/ 0 h 17"/>
                  <a:gd name="T16" fmla="*/ 1 w 56"/>
                  <a:gd name="T17" fmla="*/ 0 h 17"/>
                  <a:gd name="T18" fmla="*/ 1 w 56"/>
                  <a:gd name="T19" fmla="*/ 0 h 17"/>
                  <a:gd name="T20" fmla="*/ 1 w 56"/>
                  <a:gd name="T21" fmla="*/ 0 h 17"/>
                  <a:gd name="T22" fmla="*/ 0 w 56"/>
                  <a:gd name="T23" fmla="*/ 0 h 17"/>
                  <a:gd name="T24" fmla="*/ 0 w 56"/>
                  <a:gd name="T25" fmla="*/ 0 h 1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6"/>
                  <a:gd name="T40" fmla="*/ 0 h 17"/>
                  <a:gd name="T41" fmla="*/ 56 w 56"/>
                  <a:gd name="T42" fmla="*/ 17 h 1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6" h="17">
                    <a:moveTo>
                      <a:pt x="0" y="6"/>
                    </a:moveTo>
                    <a:lnTo>
                      <a:pt x="18" y="6"/>
                    </a:lnTo>
                    <a:lnTo>
                      <a:pt x="18" y="0"/>
                    </a:lnTo>
                    <a:lnTo>
                      <a:pt x="35" y="0"/>
                    </a:lnTo>
                    <a:lnTo>
                      <a:pt x="35" y="6"/>
                    </a:lnTo>
                    <a:lnTo>
                      <a:pt x="55" y="6"/>
                    </a:lnTo>
                    <a:lnTo>
                      <a:pt x="55" y="10"/>
                    </a:lnTo>
                    <a:lnTo>
                      <a:pt x="35" y="10"/>
                    </a:lnTo>
                    <a:lnTo>
                      <a:pt x="35" y="16"/>
                    </a:lnTo>
                    <a:lnTo>
                      <a:pt x="18" y="16"/>
                    </a:lnTo>
                    <a:lnTo>
                      <a:pt x="18" y="10"/>
                    </a:lnTo>
                    <a:lnTo>
                      <a:pt x="0" y="10"/>
                    </a:lnTo>
                    <a:lnTo>
                      <a:pt x="0" y="6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30" name="Freeform 973"/>
              <p:cNvSpPr>
                <a:spLocks/>
              </p:cNvSpPr>
              <p:nvPr/>
            </p:nvSpPr>
            <p:spPr bwMode="auto">
              <a:xfrm>
                <a:off x="2524" y="3443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1 w 17"/>
                  <a:gd name="T3" fmla="*/ 0 h 17"/>
                  <a:gd name="T4" fmla="*/ 1 w 17"/>
                  <a:gd name="T5" fmla="*/ 0 h 17"/>
                  <a:gd name="T6" fmla="*/ 0 w 17"/>
                  <a:gd name="T7" fmla="*/ 0 h 1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17"/>
                  <a:gd name="T14" fmla="*/ 17 w 17"/>
                  <a:gd name="T15" fmla="*/ 17 h 1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17">
                    <a:moveTo>
                      <a:pt x="0" y="16"/>
                    </a:moveTo>
                    <a:lnTo>
                      <a:pt x="16" y="10"/>
                    </a:lnTo>
                    <a:lnTo>
                      <a:pt x="16" y="5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rnd">
                <a:solidFill>
                  <a:srgbClr val="EFEFD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31" name="Freeform 974"/>
              <p:cNvSpPr>
                <a:spLocks/>
              </p:cNvSpPr>
              <p:nvPr/>
            </p:nvSpPr>
            <p:spPr bwMode="auto">
              <a:xfrm>
                <a:off x="2535" y="3440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1 w 17"/>
                  <a:gd name="T3" fmla="*/ 0 h 17"/>
                  <a:gd name="T4" fmla="*/ 0 w 17"/>
                  <a:gd name="T5" fmla="*/ 0 h 17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17"/>
                  <a:gd name="T11" fmla="*/ 17 w 17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17">
                    <a:moveTo>
                      <a:pt x="0" y="0"/>
                    </a:moveTo>
                    <a:lnTo>
                      <a:pt x="16" y="16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rnd">
                <a:solidFill>
                  <a:srgbClr val="EFE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32" name="Freeform 975"/>
              <p:cNvSpPr>
                <a:spLocks/>
              </p:cNvSpPr>
              <p:nvPr/>
            </p:nvSpPr>
            <p:spPr bwMode="auto">
              <a:xfrm>
                <a:off x="2556" y="3444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1 w 17"/>
                  <a:gd name="T3" fmla="*/ 0 h 17"/>
                  <a:gd name="T4" fmla="*/ 0 w 17"/>
                  <a:gd name="T5" fmla="*/ 0 h 17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17"/>
                  <a:gd name="T11" fmla="*/ 17 w 17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17">
                    <a:moveTo>
                      <a:pt x="0" y="0"/>
                    </a:moveTo>
                    <a:lnTo>
                      <a:pt x="16" y="16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rnd">
                <a:solidFill>
                  <a:srgbClr val="EFE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33" name="Freeform 976"/>
              <p:cNvSpPr>
                <a:spLocks/>
              </p:cNvSpPr>
              <p:nvPr/>
            </p:nvSpPr>
            <p:spPr bwMode="auto">
              <a:xfrm>
                <a:off x="2545" y="3440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1 w 17"/>
                  <a:gd name="T3" fmla="*/ 0 h 17"/>
                  <a:gd name="T4" fmla="*/ 0 w 17"/>
                  <a:gd name="T5" fmla="*/ 0 h 17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17"/>
                  <a:gd name="T11" fmla="*/ 17 w 17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17">
                    <a:moveTo>
                      <a:pt x="0" y="16"/>
                    </a:moveTo>
                    <a:lnTo>
                      <a:pt x="16" y="0"/>
                    </a:lnTo>
                    <a:lnTo>
                      <a:pt x="0" y="16"/>
                    </a:lnTo>
                  </a:path>
                </a:pathLst>
              </a:custGeom>
              <a:noFill/>
              <a:ln w="12700" cap="rnd">
                <a:solidFill>
                  <a:srgbClr val="EFEFD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34" name="Freeform 977"/>
              <p:cNvSpPr>
                <a:spLocks/>
              </p:cNvSpPr>
              <p:nvPr/>
            </p:nvSpPr>
            <p:spPr bwMode="auto">
              <a:xfrm>
                <a:off x="2535" y="3442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1 w 17"/>
                  <a:gd name="T3" fmla="*/ 0 h 17"/>
                  <a:gd name="T4" fmla="*/ 1 w 17"/>
                  <a:gd name="T5" fmla="*/ 0 h 17"/>
                  <a:gd name="T6" fmla="*/ 0 w 17"/>
                  <a:gd name="T7" fmla="*/ 0 h 17"/>
                  <a:gd name="T8" fmla="*/ 0 w 17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0" y="16"/>
                    </a:moveTo>
                    <a:lnTo>
                      <a:pt x="16" y="16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9F9FA2"/>
              </a:solidFill>
              <a:ln w="12700" cap="rnd">
                <a:solidFill>
                  <a:srgbClr val="9F9FA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35" name="Freeform 978"/>
              <p:cNvSpPr>
                <a:spLocks/>
              </p:cNvSpPr>
              <p:nvPr/>
            </p:nvSpPr>
            <p:spPr bwMode="auto">
              <a:xfrm>
                <a:off x="2525" y="3443"/>
                <a:ext cx="31" cy="8"/>
              </a:xfrm>
              <a:custGeom>
                <a:avLst/>
                <a:gdLst>
                  <a:gd name="T0" fmla="*/ 0 w 54"/>
                  <a:gd name="T1" fmla="*/ 0 h 17"/>
                  <a:gd name="T2" fmla="*/ 2 w 54"/>
                  <a:gd name="T3" fmla="*/ 0 h 17"/>
                  <a:gd name="T4" fmla="*/ 2 w 54"/>
                  <a:gd name="T5" fmla="*/ 0 h 17"/>
                  <a:gd name="T6" fmla="*/ 0 w 54"/>
                  <a:gd name="T7" fmla="*/ 0 h 17"/>
                  <a:gd name="T8" fmla="*/ 0 w 54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"/>
                  <a:gd name="T16" fmla="*/ 0 h 17"/>
                  <a:gd name="T17" fmla="*/ 54 w 54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" h="17">
                    <a:moveTo>
                      <a:pt x="0" y="0"/>
                    </a:moveTo>
                    <a:lnTo>
                      <a:pt x="53" y="0"/>
                    </a:lnTo>
                    <a:lnTo>
                      <a:pt x="53" y="16"/>
                    </a:lnTo>
                    <a:lnTo>
                      <a:pt x="0" y="1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36" name="Freeform 979"/>
              <p:cNvSpPr>
                <a:spLocks/>
              </p:cNvSpPr>
              <p:nvPr/>
            </p:nvSpPr>
            <p:spPr bwMode="auto">
              <a:xfrm>
                <a:off x="2535" y="3440"/>
                <a:ext cx="11" cy="8"/>
              </a:xfrm>
              <a:custGeom>
                <a:avLst/>
                <a:gdLst>
                  <a:gd name="T0" fmla="*/ 1 w 19"/>
                  <a:gd name="T1" fmla="*/ 0 h 17"/>
                  <a:gd name="T2" fmla="*/ 1 w 19"/>
                  <a:gd name="T3" fmla="*/ 0 h 17"/>
                  <a:gd name="T4" fmla="*/ 1 w 19"/>
                  <a:gd name="T5" fmla="*/ 0 h 17"/>
                  <a:gd name="T6" fmla="*/ 0 w 19"/>
                  <a:gd name="T7" fmla="*/ 0 h 17"/>
                  <a:gd name="T8" fmla="*/ 0 w 19"/>
                  <a:gd name="T9" fmla="*/ 0 h 17"/>
                  <a:gd name="T10" fmla="*/ 0 w 19"/>
                  <a:gd name="T11" fmla="*/ 0 h 1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"/>
                  <a:gd name="T19" fmla="*/ 0 h 17"/>
                  <a:gd name="T20" fmla="*/ 19 w 19"/>
                  <a:gd name="T21" fmla="*/ 17 h 1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" h="17">
                    <a:moveTo>
                      <a:pt x="18" y="12"/>
                    </a:moveTo>
                    <a:lnTo>
                      <a:pt x="17" y="16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0" y="12"/>
                    </a:lnTo>
                  </a:path>
                </a:pathLst>
              </a:custGeom>
              <a:noFill/>
              <a:ln w="12700" cap="rnd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37" name="Freeform 980"/>
              <p:cNvSpPr>
                <a:spLocks/>
              </p:cNvSpPr>
              <p:nvPr/>
            </p:nvSpPr>
            <p:spPr bwMode="auto">
              <a:xfrm>
                <a:off x="2497" y="3445"/>
                <a:ext cx="10" cy="8"/>
              </a:xfrm>
              <a:custGeom>
                <a:avLst/>
                <a:gdLst>
                  <a:gd name="T0" fmla="*/ 1 w 17"/>
                  <a:gd name="T1" fmla="*/ 0 h 17"/>
                  <a:gd name="T2" fmla="*/ 1 w 17"/>
                  <a:gd name="T3" fmla="*/ 0 h 17"/>
                  <a:gd name="T4" fmla="*/ 0 w 17"/>
                  <a:gd name="T5" fmla="*/ 0 h 17"/>
                  <a:gd name="T6" fmla="*/ 0 w 17"/>
                  <a:gd name="T7" fmla="*/ 0 h 17"/>
                  <a:gd name="T8" fmla="*/ 1 w 17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16" y="0"/>
                    </a:moveTo>
                    <a:lnTo>
                      <a:pt x="16" y="16"/>
                    </a:lnTo>
                    <a:lnTo>
                      <a:pt x="0" y="16"/>
                    </a:lnTo>
                    <a:lnTo>
                      <a:pt x="0" y="0"/>
                    </a:lnTo>
                    <a:lnTo>
                      <a:pt x="16" y="0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38" name="Freeform 981"/>
              <p:cNvSpPr>
                <a:spLocks/>
              </p:cNvSpPr>
              <p:nvPr/>
            </p:nvSpPr>
            <p:spPr bwMode="auto">
              <a:xfrm>
                <a:off x="2497" y="3445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1 w 17"/>
                  <a:gd name="T3" fmla="*/ 0 h 17"/>
                  <a:gd name="T4" fmla="*/ 1 w 17"/>
                  <a:gd name="T5" fmla="*/ 0 h 17"/>
                  <a:gd name="T6" fmla="*/ 0 w 17"/>
                  <a:gd name="T7" fmla="*/ 0 h 17"/>
                  <a:gd name="T8" fmla="*/ 0 w 17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0" y="0"/>
                    </a:moveTo>
                    <a:lnTo>
                      <a:pt x="16" y="0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39" name="Freeform 982"/>
              <p:cNvSpPr>
                <a:spLocks/>
              </p:cNvSpPr>
              <p:nvPr/>
            </p:nvSpPr>
            <p:spPr bwMode="auto">
              <a:xfrm>
                <a:off x="2488" y="3441"/>
                <a:ext cx="26" cy="8"/>
              </a:xfrm>
              <a:custGeom>
                <a:avLst/>
                <a:gdLst>
                  <a:gd name="T0" fmla="*/ 1 w 44"/>
                  <a:gd name="T1" fmla="*/ 0 h 17"/>
                  <a:gd name="T2" fmla="*/ 0 w 44"/>
                  <a:gd name="T3" fmla="*/ 0 h 17"/>
                  <a:gd name="T4" fmla="*/ 0 w 44"/>
                  <a:gd name="T5" fmla="*/ 0 h 17"/>
                  <a:gd name="T6" fmla="*/ 1 w 44"/>
                  <a:gd name="T7" fmla="*/ 0 h 17"/>
                  <a:gd name="T8" fmla="*/ 1 w 44"/>
                  <a:gd name="T9" fmla="*/ 0 h 17"/>
                  <a:gd name="T10" fmla="*/ 1 w 44"/>
                  <a:gd name="T11" fmla="*/ 0 h 17"/>
                  <a:gd name="T12" fmla="*/ 1 w 44"/>
                  <a:gd name="T13" fmla="*/ 0 h 17"/>
                  <a:gd name="T14" fmla="*/ 2 w 44"/>
                  <a:gd name="T15" fmla="*/ 0 h 17"/>
                  <a:gd name="T16" fmla="*/ 2 w 44"/>
                  <a:gd name="T17" fmla="*/ 0 h 17"/>
                  <a:gd name="T18" fmla="*/ 1 w 44"/>
                  <a:gd name="T19" fmla="*/ 0 h 17"/>
                  <a:gd name="T20" fmla="*/ 1 w 44"/>
                  <a:gd name="T21" fmla="*/ 0 h 1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4"/>
                  <a:gd name="T34" fmla="*/ 0 h 17"/>
                  <a:gd name="T35" fmla="*/ 44 w 44"/>
                  <a:gd name="T36" fmla="*/ 17 h 1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4" h="17">
                    <a:moveTo>
                      <a:pt x="14" y="16"/>
                    </a:moveTo>
                    <a:lnTo>
                      <a:pt x="0" y="16"/>
                    </a:lnTo>
                    <a:lnTo>
                      <a:pt x="0" y="8"/>
                    </a:lnTo>
                    <a:lnTo>
                      <a:pt x="14" y="8"/>
                    </a:lnTo>
                    <a:lnTo>
                      <a:pt x="14" y="0"/>
                    </a:lnTo>
                    <a:lnTo>
                      <a:pt x="28" y="0"/>
                    </a:lnTo>
                    <a:lnTo>
                      <a:pt x="28" y="8"/>
                    </a:lnTo>
                    <a:lnTo>
                      <a:pt x="43" y="8"/>
                    </a:lnTo>
                    <a:lnTo>
                      <a:pt x="43" y="16"/>
                    </a:lnTo>
                    <a:lnTo>
                      <a:pt x="28" y="16"/>
                    </a:lnTo>
                    <a:lnTo>
                      <a:pt x="14" y="16"/>
                    </a:lnTo>
                  </a:path>
                </a:pathLst>
              </a:custGeom>
              <a:solidFill>
                <a:srgbClr val="00000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40" name="Freeform 983"/>
              <p:cNvSpPr>
                <a:spLocks/>
              </p:cNvSpPr>
              <p:nvPr/>
            </p:nvSpPr>
            <p:spPr bwMode="auto">
              <a:xfrm>
                <a:off x="2497" y="3441"/>
                <a:ext cx="10" cy="8"/>
              </a:xfrm>
              <a:custGeom>
                <a:avLst/>
                <a:gdLst>
                  <a:gd name="T0" fmla="*/ 0 w 17"/>
                  <a:gd name="T1" fmla="*/ 0 h 17"/>
                  <a:gd name="T2" fmla="*/ 1 w 17"/>
                  <a:gd name="T3" fmla="*/ 0 h 17"/>
                  <a:gd name="T4" fmla="*/ 1 w 17"/>
                  <a:gd name="T5" fmla="*/ 0 h 17"/>
                  <a:gd name="T6" fmla="*/ 0 w 17"/>
                  <a:gd name="T7" fmla="*/ 0 h 17"/>
                  <a:gd name="T8" fmla="*/ 0 w 17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17"/>
                  <a:gd name="T17" fmla="*/ 17 w 17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17">
                    <a:moveTo>
                      <a:pt x="0" y="0"/>
                    </a:moveTo>
                    <a:lnTo>
                      <a:pt x="16" y="0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41" name="Freeform 984"/>
              <p:cNvSpPr>
                <a:spLocks/>
              </p:cNvSpPr>
              <p:nvPr/>
            </p:nvSpPr>
            <p:spPr bwMode="auto">
              <a:xfrm>
                <a:off x="2468" y="3439"/>
                <a:ext cx="12" cy="9"/>
              </a:xfrm>
              <a:custGeom>
                <a:avLst/>
                <a:gdLst>
                  <a:gd name="T0" fmla="*/ 1 w 20"/>
                  <a:gd name="T1" fmla="*/ 1 h 17"/>
                  <a:gd name="T2" fmla="*/ 1 w 20"/>
                  <a:gd name="T3" fmla="*/ 1 h 17"/>
                  <a:gd name="T4" fmla="*/ 1 w 20"/>
                  <a:gd name="T5" fmla="*/ 1 h 17"/>
                  <a:gd name="T6" fmla="*/ 1 w 20"/>
                  <a:gd name="T7" fmla="*/ 1 h 17"/>
                  <a:gd name="T8" fmla="*/ 1 w 20"/>
                  <a:gd name="T9" fmla="*/ 1 h 17"/>
                  <a:gd name="T10" fmla="*/ 0 w 20"/>
                  <a:gd name="T11" fmla="*/ 1 h 17"/>
                  <a:gd name="T12" fmla="*/ 0 w 20"/>
                  <a:gd name="T13" fmla="*/ 1 h 17"/>
                  <a:gd name="T14" fmla="*/ 0 w 20"/>
                  <a:gd name="T15" fmla="*/ 1 h 17"/>
                  <a:gd name="T16" fmla="*/ 0 w 20"/>
                  <a:gd name="T17" fmla="*/ 1 h 17"/>
                  <a:gd name="T18" fmla="*/ 0 w 20"/>
                  <a:gd name="T19" fmla="*/ 1 h 17"/>
                  <a:gd name="T20" fmla="*/ 0 w 20"/>
                  <a:gd name="T21" fmla="*/ 1 h 17"/>
                  <a:gd name="T22" fmla="*/ 1 w 20"/>
                  <a:gd name="T23" fmla="*/ 1 h 17"/>
                  <a:gd name="T24" fmla="*/ 1 w 20"/>
                  <a:gd name="T25" fmla="*/ 1 h 17"/>
                  <a:gd name="T26" fmla="*/ 1 w 20"/>
                  <a:gd name="T27" fmla="*/ 0 h 17"/>
                  <a:gd name="T28" fmla="*/ 1 w 20"/>
                  <a:gd name="T29" fmla="*/ 0 h 17"/>
                  <a:gd name="T30" fmla="*/ 1 w 20"/>
                  <a:gd name="T31" fmla="*/ 0 h 17"/>
                  <a:gd name="T32" fmla="*/ 1 w 20"/>
                  <a:gd name="T33" fmla="*/ 0 h 17"/>
                  <a:gd name="T34" fmla="*/ 1 w 20"/>
                  <a:gd name="T35" fmla="*/ 0 h 17"/>
                  <a:gd name="T36" fmla="*/ 1 w 20"/>
                  <a:gd name="T37" fmla="*/ 0 h 17"/>
                  <a:gd name="T38" fmla="*/ 1 w 20"/>
                  <a:gd name="T39" fmla="*/ 1 h 17"/>
                  <a:gd name="T40" fmla="*/ 1 w 20"/>
                  <a:gd name="T41" fmla="*/ 1 h 17"/>
                  <a:gd name="T42" fmla="*/ 1 w 20"/>
                  <a:gd name="T43" fmla="*/ 1 h 17"/>
                  <a:gd name="T44" fmla="*/ 1 w 20"/>
                  <a:gd name="T45" fmla="*/ 1 h 17"/>
                  <a:gd name="T46" fmla="*/ 1 w 20"/>
                  <a:gd name="T47" fmla="*/ 1 h 17"/>
                  <a:gd name="T48" fmla="*/ 1 w 20"/>
                  <a:gd name="T49" fmla="*/ 1 h 17"/>
                  <a:gd name="T50" fmla="*/ 1 w 20"/>
                  <a:gd name="T51" fmla="*/ 1 h 17"/>
                  <a:gd name="T52" fmla="*/ 1 w 20"/>
                  <a:gd name="T53" fmla="*/ 1 h 17"/>
                  <a:gd name="T54" fmla="*/ 1 w 20"/>
                  <a:gd name="T55" fmla="*/ 1 h 17"/>
                  <a:gd name="T56" fmla="*/ 1 w 20"/>
                  <a:gd name="T57" fmla="*/ 1 h 17"/>
                  <a:gd name="T58" fmla="*/ 1 w 20"/>
                  <a:gd name="T59" fmla="*/ 1 h 17"/>
                  <a:gd name="T60" fmla="*/ 1 w 20"/>
                  <a:gd name="T61" fmla="*/ 1 h 17"/>
                  <a:gd name="T62" fmla="*/ 1 w 20"/>
                  <a:gd name="T63" fmla="*/ 1 h 17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0"/>
                  <a:gd name="T97" fmla="*/ 0 h 17"/>
                  <a:gd name="T98" fmla="*/ 20 w 20"/>
                  <a:gd name="T99" fmla="*/ 17 h 17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0" h="17">
                    <a:moveTo>
                      <a:pt x="5" y="16"/>
                    </a:moveTo>
                    <a:lnTo>
                      <a:pt x="5" y="16"/>
                    </a:lnTo>
                    <a:lnTo>
                      <a:pt x="4" y="16"/>
                    </a:lnTo>
                    <a:lnTo>
                      <a:pt x="3" y="15"/>
                    </a:lnTo>
                    <a:lnTo>
                      <a:pt x="2" y="15"/>
                    </a:lnTo>
                    <a:lnTo>
                      <a:pt x="2" y="14"/>
                    </a:lnTo>
                    <a:lnTo>
                      <a:pt x="1" y="14"/>
                    </a:lnTo>
                    <a:lnTo>
                      <a:pt x="1" y="13"/>
                    </a:lnTo>
                    <a:lnTo>
                      <a:pt x="1" y="12"/>
                    </a:lnTo>
                    <a:lnTo>
                      <a:pt x="0" y="12"/>
                    </a:lnTo>
                    <a:lnTo>
                      <a:pt x="0" y="11"/>
                    </a:lnTo>
                    <a:lnTo>
                      <a:pt x="0" y="10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3"/>
                    </a:lnTo>
                    <a:lnTo>
                      <a:pt x="1" y="2"/>
                    </a:lnTo>
                    <a:lnTo>
                      <a:pt x="1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5" y="0"/>
                    </a:lnTo>
                    <a:lnTo>
                      <a:pt x="16" y="1"/>
                    </a:lnTo>
                    <a:lnTo>
                      <a:pt x="16" y="2"/>
                    </a:lnTo>
                    <a:lnTo>
                      <a:pt x="17" y="3"/>
                    </a:lnTo>
                    <a:lnTo>
                      <a:pt x="18" y="4"/>
                    </a:lnTo>
                    <a:lnTo>
                      <a:pt x="18" y="5"/>
                    </a:lnTo>
                    <a:lnTo>
                      <a:pt x="18" y="6"/>
                    </a:lnTo>
                    <a:lnTo>
                      <a:pt x="18" y="7"/>
                    </a:lnTo>
                    <a:lnTo>
                      <a:pt x="19" y="8"/>
                    </a:lnTo>
                    <a:lnTo>
                      <a:pt x="18" y="8"/>
                    </a:lnTo>
                    <a:lnTo>
                      <a:pt x="18" y="9"/>
                    </a:lnTo>
                    <a:lnTo>
                      <a:pt x="18" y="10"/>
                    </a:lnTo>
                    <a:lnTo>
                      <a:pt x="18" y="11"/>
                    </a:lnTo>
                    <a:lnTo>
                      <a:pt x="17" y="12"/>
                    </a:lnTo>
                    <a:lnTo>
                      <a:pt x="16" y="13"/>
                    </a:lnTo>
                    <a:lnTo>
                      <a:pt x="16" y="14"/>
                    </a:lnTo>
                    <a:lnTo>
                      <a:pt x="15" y="15"/>
                    </a:lnTo>
                    <a:lnTo>
                      <a:pt x="13" y="15"/>
                    </a:lnTo>
                    <a:lnTo>
                      <a:pt x="13" y="16"/>
                    </a:lnTo>
                    <a:lnTo>
                      <a:pt x="12" y="16"/>
                    </a:lnTo>
                    <a:lnTo>
                      <a:pt x="5" y="16"/>
                    </a:lnTo>
                  </a:path>
                </a:pathLst>
              </a:custGeom>
              <a:solidFill>
                <a:srgbClr val="666666"/>
              </a:solidFill>
              <a:ln w="12700" cap="rnd">
                <a:solidFill>
                  <a:srgbClr val="6666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42" name="Freeform 985"/>
              <p:cNvSpPr>
                <a:spLocks/>
              </p:cNvSpPr>
              <p:nvPr/>
            </p:nvSpPr>
            <p:spPr bwMode="auto">
              <a:xfrm>
                <a:off x="2483" y="3437"/>
                <a:ext cx="9" cy="18"/>
              </a:xfrm>
              <a:custGeom>
                <a:avLst/>
                <a:gdLst>
                  <a:gd name="T0" fmla="*/ 1 w 17"/>
                  <a:gd name="T1" fmla="*/ 0 h 38"/>
                  <a:gd name="T2" fmla="*/ 0 w 17"/>
                  <a:gd name="T3" fmla="*/ 0 h 38"/>
                  <a:gd name="T4" fmla="*/ 1 w 17"/>
                  <a:gd name="T5" fmla="*/ 0 h 38"/>
                  <a:gd name="T6" fmla="*/ 1 w 17"/>
                  <a:gd name="T7" fmla="*/ 0 h 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38"/>
                  <a:gd name="T14" fmla="*/ 17 w 17"/>
                  <a:gd name="T15" fmla="*/ 38 h 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38">
                    <a:moveTo>
                      <a:pt x="8" y="0"/>
                    </a:moveTo>
                    <a:lnTo>
                      <a:pt x="0" y="22"/>
                    </a:lnTo>
                    <a:lnTo>
                      <a:pt x="16" y="22"/>
                    </a:lnTo>
                    <a:lnTo>
                      <a:pt x="16" y="37"/>
                    </a:lnTo>
                  </a:path>
                </a:pathLst>
              </a:custGeom>
              <a:noFill/>
              <a:ln w="12700" cap="rnd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43" name="Freeform 986"/>
              <p:cNvSpPr>
                <a:spLocks/>
              </p:cNvSpPr>
              <p:nvPr/>
            </p:nvSpPr>
            <p:spPr bwMode="auto">
              <a:xfrm>
                <a:off x="2517" y="3437"/>
                <a:ext cx="9" cy="35"/>
              </a:xfrm>
              <a:custGeom>
                <a:avLst/>
                <a:gdLst>
                  <a:gd name="T0" fmla="*/ 0 w 17"/>
                  <a:gd name="T1" fmla="*/ 0 h 72"/>
                  <a:gd name="T2" fmla="*/ 1 w 17"/>
                  <a:gd name="T3" fmla="*/ 0 h 72"/>
                  <a:gd name="T4" fmla="*/ 0 w 17"/>
                  <a:gd name="T5" fmla="*/ 0 h 72"/>
                  <a:gd name="T6" fmla="*/ 0 w 17"/>
                  <a:gd name="T7" fmla="*/ 1 h 7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"/>
                  <a:gd name="T13" fmla="*/ 0 h 72"/>
                  <a:gd name="T14" fmla="*/ 17 w 17"/>
                  <a:gd name="T15" fmla="*/ 72 h 7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" h="72">
                    <a:moveTo>
                      <a:pt x="0" y="0"/>
                    </a:moveTo>
                    <a:lnTo>
                      <a:pt x="16" y="22"/>
                    </a:lnTo>
                    <a:lnTo>
                      <a:pt x="0" y="22"/>
                    </a:lnTo>
                    <a:lnTo>
                      <a:pt x="0" y="71"/>
                    </a:lnTo>
                  </a:path>
                </a:pathLst>
              </a:custGeom>
              <a:noFill/>
              <a:ln w="12700" cap="rnd">
                <a:solidFill>
                  <a:srgbClr val="9F9FA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44" name="Freeform 987"/>
              <p:cNvSpPr>
                <a:spLocks/>
              </p:cNvSpPr>
              <p:nvPr/>
            </p:nvSpPr>
            <p:spPr bwMode="auto">
              <a:xfrm>
                <a:off x="2444" y="3458"/>
                <a:ext cx="146" cy="19"/>
              </a:xfrm>
              <a:custGeom>
                <a:avLst/>
                <a:gdLst>
                  <a:gd name="T0" fmla="*/ 0 w 250"/>
                  <a:gd name="T1" fmla="*/ 0 h 41"/>
                  <a:gd name="T2" fmla="*/ 10 w 250"/>
                  <a:gd name="T3" fmla="*/ 0 h 41"/>
                  <a:gd name="T4" fmla="*/ 9 w 250"/>
                  <a:gd name="T5" fmla="*/ 0 h 41"/>
                  <a:gd name="T6" fmla="*/ 1 w 250"/>
                  <a:gd name="T7" fmla="*/ 0 h 41"/>
                  <a:gd name="T8" fmla="*/ 0 w 250"/>
                  <a:gd name="T9" fmla="*/ 0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0"/>
                  <a:gd name="T16" fmla="*/ 0 h 41"/>
                  <a:gd name="T17" fmla="*/ 250 w 250"/>
                  <a:gd name="T18" fmla="*/ 41 h 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0" h="41">
                    <a:moveTo>
                      <a:pt x="0" y="40"/>
                    </a:moveTo>
                    <a:lnTo>
                      <a:pt x="249" y="40"/>
                    </a:lnTo>
                    <a:lnTo>
                      <a:pt x="240" y="0"/>
                    </a:lnTo>
                    <a:lnTo>
                      <a:pt x="10" y="0"/>
                    </a:lnTo>
                    <a:lnTo>
                      <a:pt x="0" y="40"/>
                    </a:lnTo>
                  </a:path>
                </a:pathLst>
              </a:custGeom>
              <a:solidFill>
                <a:srgbClr val="EFEFD1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45" name="Freeform 988"/>
              <p:cNvSpPr>
                <a:spLocks/>
              </p:cNvSpPr>
              <p:nvPr/>
            </p:nvSpPr>
            <p:spPr bwMode="auto">
              <a:xfrm>
                <a:off x="2444" y="3477"/>
                <a:ext cx="147" cy="8"/>
              </a:xfrm>
              <a:custGeom>
                <a:avLst/>
                <a:gdLst>
                  <a:gd name="T0" fmla="*/ 0 w 251"/>
                  <a:gd name="T1" fmla="*/ 0 h 17"/>
                  <a:gd name="T2" fmla="*/ 0 w 251"/>
                  <a:gd name="T3" fmla="*/ 0 h 17"/>
                  <a:gd name="T4" fmla="*/ 10 w 251"/>
                  <a:gd name="T5" fmla="*/ 0 h 17"/>
                  <a:gd name="T6" fmla="*/ 10 w 251"/>
                  <a:gd name="T7" fmla="*/ 0 h 17"/>
                  <a:gd name="T8" fmla="*/ 0 w 251"/>
                  <a:gd name="T9" fmla="*/ 0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1"/>
                  <a:gd name="T16" fmla="*/ 0 h 17"/>
                  <a:gd name="T17" fmla="*/ 251 w 251"/>
                  <a:gd name="T18" fmla="*/ 17 h 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1" h="17">
                    <a:moveTo>
                      <a:pt x="0" y="16"/>
                    </a:moveTo>
                    <a:lnTo>
                      <a:pt x="0" y="0"/>
                    </a:lnTo>
                    <a:lnTo>
                      <a:pt x="249" y="0"/>
                    </a:lnTo>
                    <a:lnTo>
                      <a:pt x="250" y="16"/>
                    </a:lnTo>
                    <a:lnTo>
                      <a:pt x="0" y="16"/>
                    </a:lnTo>
                  </a:path>
                </a:pathLst>
              </a:custGeom>
              <a:solidFill>
                <a:srgbClr val="CCCC60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46" name="Freeform 989"/>
              <p:cNvSpPr>
                <a:spLocks/>
              </p:cNvSpPr>
              <p:nvPr/>
            </p:nvSpPr>
            <p:spPr bwMode="auto">
              <a:xfrm>
                <a:off x="2454" y="3460"/>
                <a:ext cx="131" cy="14"/>
              </a:xfrm>
              <a:custGeom>
                <a:avLst/>
                <a:gdLst>
                  <a:gd name="T0" fmla="*/ 0 w 223"/>
                  <a:gd name="T1" fmla="*/ 1 h 28"/>
                  <a:gd name="T2" fmla="*/ 9 w 223"/>
                  <a:gd name="T3" fmla="*/ 1 h 28"/>
                  <a:gd name="T4" fmla="*/ 9 w 223"/>
                  <a:gd name="T5" fmla="*/ 0 h 28"/>
                  <a:gd name="T6" fmla="*/ 1 w 223"/>
                  <a:gd name="T7" fmla="*/ 0 h 28"/>
                  <a:gd name="T8" fmla="*/ 0 w 223"/>
                  <a:gd name="T9" fmla="*/ 1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3"/>
                  <a:gd name="T16" fmla="*/ 0 h 28"/>
                  <a:gd name="T17" fmla="*/ 223 w 223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3" h="28">
                    <a:moveTo>
                      <a:pt x="0" y="27"/>
                    </a:moveTo>
                    <a:lnTo>
                      <a:pt x="222" y="27"/>
                    </a:lnTo>
                    <a:lnTo>
                      <a:pt x="214" y="0"/>
                    </a:lnTo>
                    <a:lnTo>
                      <a:pt x="8" y="0"/>
                    </a:lnTo>
                    <a:lnTo>
                      <a:pt x="0" y="27"/>
                    </a:lnTo>
                  </a:path>
                </a:pathLst>
              </a:custGeom>
              <a:solidFill>
                <a:srgbClr val="999999"/>
              </a:solidFill>
              <a:ln w="12700" cap="rnd">
                <a:solidFill>
                  <a:srgbClr val="9F9FA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47" name="Line 990"/>
              <p:cNvSpPr>
                <a:spLocks noChangeShapeType="1"/>
              </p:cNvSpPr>
              <p:nvPr/>
            </p:nvSpPr>
            <p:spPr bwMode="auto">
              <a:xfrm flipH="1">
                <a:off x="2122" y="3015"/>
                <a:ext cx="280" cy="1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848" name="Line 991"/>
              <p:cNvSpPr>
                <a:spLocks noChangeShapeType="1"/>
              </p:cNvSpPr>
              <p:nvPr/>
            </p:nvSpPr>
            <p:spPr bwMode="auto">
              <a:xfrm flipH="1">
                <a:off x="2110" y="3162"/>
                <a:ext cx="335" cy="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849" name="Line 992"/>
              <p:cNvSpPr>
                <a:spLocks noChangeShapeType="1"/>
              </p:cNvSpPr>
              <p:nvPr/>
            </p:nvSpPr>
            <p:spPr bwMode="auto">
              <a:xfrm flipH="1" flipV="1">
                <a:off x="2121" y="3309"/>
                <a:ext cx="294" cy="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850" name="Text Box 993"/>
              <p:cNvSpPr txBox="1">
                <a:spLocks noChangeArrowheads="1"/>
              </p:cNvSpPr>
              <p:nvPr/>
            </p:nvSpPr>
            <p:spPr bwMode="auto">
              <a:xfrm rot="5400000" flipH="1">
                <a:off x="2151" y="3192"/>
                <a:ext cx="2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200">
                    <a:cs typeface="Arial" charset="0"/>
                  </a:rPr>
                  <a:t>• </a:t>
                </a:r>
                <a:r>
                  <a:rPr lang="en-US" sz="1200"/>
                  <a:t>• •</a:t>
                </a:r>
              </a:p>
            </p:txBody>
          </p:sp>
        </p:grpSp>
        <p:grpSp>
          <p:nvGrpSpPr>
            <p:cNvPr id="26661" name="Group 1008"/>
            <p:cNvGrpSpPr>
              <a:grpSpLocks/>
            </p:cNvGrpSpPr>
            <p:nvPr/>
          </p:nvGrpSpPr>
          <p:grpSpPr bwMode="auto">
            <a:xfrm>
              <a:off x="4622" y="2203"/>
              <a:ext cx="558" cy="572"/>
              <a:chOff x="2130" y="1216"/>
              <a:chExt cx="1651" cy="1599"/>
            </a:xfrm>
          </p:grpSpPr>
          <p:sp>
            <p:nvSpPr>
              <p:cNvPr id="26662" name="Rectangle 1009"/>
              <p:cNvSpPr>
                <a:spLocks noChangeArrowheads="1"/>
              </p:cNvSpPr>
              <p:nvPr/>
            </p:nvSpPr>
            <p:spPr bwMode="auto">
              <a:xfrm>
                <a:off x="2130" y="1216"/>
                <a:ext cx="1651" cy="1599"/>
              </a:xfrm>
              <a:prstGeom prst="rect">
                <a:avLst/>
              </a:prstGeom>
              <a:solidFill>
                <a:schemeClr val="folHlink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63" name="AutoShape 1010"/>
              <p:cNvSpPr>
                <a:spLocks noChangeArrowheads="1"/>
              </p:cNvSpPr>
              <p:nvPr/>
            </p:nvSpPr>
            <p:spPr bwMode="auto">
              <a:xfrm rot="5400000" flipH="1" flipV="1">
                <a:off x="2147" y="2450"/>
                <a:ext cx="252" cy="15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381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64" name="AutoShape 1011"/>
              <p:cNvSpPr>
                <a:spLocks noChangeArrowheads="1"/>
              </p:cNvSpPr>
              <p:nvPr/>
            </p:nvSpPr>
            <p:spPr bwMode="auto">
              <a:xfrm rot="5400000" flipH="1" flipV="1">
                <a:off x="2133" y="1398"/>
                <a:ext cx="252" cy="151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381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65" name="AutoShape 1012"/>
              <p:cNvSpPr>
                <a:spLocks noChangeArrowheads="1"/>
              </p:cNvSpPr>
              <p:nvPr/>
            </p:nvSpPr>
            <p:spPr bwMode="auto">
              <a:xfrm rot="5400000">
                <a:off x="3560" y="2470"/>
                <a:ext cx="248" cy="15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381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66" name="AutoShape 1013"/>
              <p:cNvSpPr>
                <a:spLocks noChangeArrowheads="1"/>
              </p:cNvSpPr>
              <p:nvPr/>
            </p:nvSpPr>
            <p:spPr bwMode="auto">
              <a:xfrm rot="5400000">
                <a:off x="3552" y="1403"/>
                <a:ext cx="249" cy="151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381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67" name="Line 1014"/>
              <p:cNvSpPr>
                <a:spLocks noChangeShapeType="1"/>
              </p:cNvSpPr>
              <p:nvPr/>
            </p:nvSpPr>
            <p:spPr bwMode="auto">
              <a:xfrm>
                <a:off x="2335" y="1391"/>
                <a:ext cx="1240" cy="0"/>
              </a:xfrm>
              <a:prstGeom prst="line">
                <a:avLst/>
              </a:prstGeom>
              <a:noFill/>
              <a:ln w="12700" cap="rnd">
                <a:solidFill>
                  <a:schemeClr val="tx2"/>
                </a:solidFill>
                <a:prstDash val="sysDot"/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6668" name="Line 1015"/>
              <p:cNvSpPr>
                <a:spLocks noChangeShapeType="1"/>
              </p:cNvSpPr>
              <p:nvPr/>
            </p:nvSpPr>
            <p:spPr bwMode="auto">
              <a:xfrm>
                <a:off x="2356" y="1566"/>
                <a:ext cx="1240" cy="911"/>
              </a:xfrm>
              <a:prstGeom prst="line">
                <a:avLst/>
              </a:prstGeom>
              <a:noFill/>
              <a:ln w="12700" cap="rnd">
                <a:solidFill>
                  <a:schemeClr val="tx2"/>
                </a:solidFill>
                <a:prstDash val="sysDot"/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6669" name="Line 1016"/>
              <p:cNvSpPr>
                <a:spLocks noChangeShapeType="1"/>
              </p:cNvSpPr>
              <p:nvPr/>
            </p:nvSpPr>
            <p:spPr bwMode="auto">
              <a:xfrm>
                <a:off x="2383" y="2598"/>
                <a:ext cx="1240" cy="0"/>
              </a:xfrm>
              <a:prstGeom prst="line">
                <a:avLst/>
              </a:prstGeom>
              <a:noFill/>
              <a:ln w="12700" cap="rnd">
                <a:solidFill>
                  <a:schemeClr val="tx2"/>
                </a:solidFill>
                <a:prstDash val="sysDot"/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6670" name="Line 1017"/>
              <p:cNvSpPr>
                <a:spLocks noChangeShapeType="1"/>
              </p:cNvSpPr>
              <p:nvPr/>
            </p:nvSpPr>
            <p:spPr bwMode="auto">
              <a:xfrm flipV="1">
                <a:off x="2397" y="1560"/>
                <a:ext cx="1185" cy="899"/>
              </a:xfrm>
              <a:prstGeom prst="line">
                <a:avLst/>
              </a:prstGeom>
              <a:noFill/>
              <a:ln w="12700" cap="rnd">
                <a:solidFill>
                  <a:schemeClr val="tx2"/>
                </a:solidFill>
                <a:prstDash val="sysDot"/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6671" name="AutoShape 1018"/>
              <p:cNvSpPr>
                <a:spLocks noChangeArrowheads="1"/>
              </p:cNvSpPr>
              <p:nvPr/>
            </p:nvSpPr>
            <p:spPr bwMode="auto">
              <a:xfrm rot="5400000" flipH="1" flipV="1">
                <a:off x="2140" y="1737"/>
                <a:ext cx="252" cy="151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381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72" name="AutoShape 1019"/>
              <p:cNvSpPr>
                <a:spLocks noChangeArrowheads="1"/>
              </p:cNvSpPr>
              <p:nvPr/>
            </p:nvSpPr>
            <p:spPr bwMode="auto">
              <a:xfrm rot="5400000">
                <a:off x="3553" y="1757"/>
                <a:ext cx="248" cy="151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381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73" name="Line 1020"/>
              <p:cNvSpPr>
                <a:spLocks noChangeShapeType="1"/>
              </p:cNvSpPr>
              <p:nvPr/>
            </p:nvSpPr>
            <p:spPr bwMode="auto">
              <a:xfrm>
                <a:off x="2376" y="1795"/>
                <a:ext cx="1241" cy="0"/>
              </a:xfrm>
              <a:prstGeom prst="line">
                <a:avLst/>
              </a:prstGeom>
              <a:noFill/>
              <a:ln w="12700" cap="rnd">
                <a:solidFill>
                  <a:schemeClr val="tx2"/>
                </a:solidFill>
                <a:prstDash val="sysDot"/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6674" name="Line 1021"/>
              <p:cNvSpPr>
                <a:spLocks noChangeShapeType="1"/>
              </p:cNvSpPr>
              <p:nvPr/>
            </p:nvSpPr>
            <p:spPr bwMode="auto">
              <a:xfrm flipV="1">
                <a:off x="2370" y="1457"/>
                <a:ext cx="1219" cy="254"/>
              </a:xfrm>
              <a:prstGeom prst="line">
                <a:avLst/>
              </a:prstGeom>
              <a:noFill/>
              <a:ln w="12700" cap="rnd">
                <a:solidFill>
                  <a:schemeClr val="tx2"/>
                </a:solidFill>
                <a:prstDash val="sysDot"/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6675" name="Line 1022"/>
              <p:cNvSpPr>
                <a:spLocks noChangeShapeType="1"/>
              </p:cNvSpPr>
              <p:nvPr/>
            </p:nvSpPr>
            <p:spPr bwMode="auto">
              <a:xfrm>
                <a:off x="2383" y="1916"/>
                <a:ext cx="1199" cy="591"/>
              </a:xfrm>
              <a:prstGeom prst="line">
                <a:avLst/>
              </a:prstGeom>
              <a:noFill/>
              <a:ln w="12700" cap="rnd">
                <a:solidFill>
                  <a:schemeClr val="tx2"/>
                </a:solidFill>
                <a:prstDash val="sysDot"/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6676" name="Line 1023"/>
              <p:cNvSpPr>
                <a:spLocks noChangeShapeType="1"/>
              </p:cNvSpPr>
              <p:nvPr/>
            </p:nvSpPr>
            <p:spPr bwMode="auto">
              <a:xfrm>
                <a:off x="2362" y="1445"/>
                <a:ext cx="1234" cy="284"/>
              </a:xfrm>
              <a:prstGeom prst="line">
                <a:avLst/>
              </a:prstGeom>
              <a:noFill/>
              <a:ln w="12700" cap="rnd">
                <a:solidFill>
                  <a:schemeClr val="tx2"/>
                </a:solidFill>
                <a:prstDash val="sysDot"/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6677" name="Line 0"/>
              <p:cNvSpPr>
                <a:spLocks noChangeShapeType="1"/>
              </p:cNvSpPr>
              <p:nvPr/>
            </p:nvSpPr>
            <p:spPr bwMode="auto">
              <a:xfrm flipV="1">
                <a:off x="2383" y="1922"/>
                <a:ext cx="1192" cy="579"/>
              </a:xfrm>
              <a:prstGeom prst="line">
                <a:avLst/>
              </a:prstGeom>
              <a:noFill/>
              <a:ln w="12700" cap="rnd">
                <a:solidFill>
                  <a:schemeClr val="tx2"/>
                </a:solidFill>
                <a:prstDash val="sysDot"/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11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21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21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8117"/>
            <a:ext cx="9144000" cy="6467901"/>
          </a:xfrm>
        </p:spPr>
        <p:txBody>
          <a:bodyPr/>
          <a:lstStyle/>
          <a:p>
            <a:r>
              <a:rPr lang="en-IN" sz="2800" dirty="0" smtClean="0"/>
              <a:t>A packet switch performs routing and forwarding.</a:t>
            </a:r>
          </a:p>
          <a:p>
            <a:r>
              <a:rPr lang="en-IN" sz="2800" dirty="0" smtClean="0"/>
              <a:t>The routing function uses routing table to find </a:t>
            </a:r>
            <a:r>
              <a:rPr lang="en-IN" sz="2800" dirty="0" err="1" smtClean="0"/>
              <a:t>Dest</a:t>
            </a:r>
            <a:r>
              <a:rPr lang="en-IN" sz="2800" dirty="0" smtClean="0"/>
              <a:t> address.</a:t>
            </a:r>
          </a:p>
          <a:p>
            <a:r>
              <a:rPr lang="en-IN" sz="2800" dirty="0" smtClean="0"/>
              <a:t>A packet switch have input ports ,output ports, connection fabric, and  a switch controller.</a:t>
            </a:r>
          </a:p>
          <a:p>
            <a:r>
              <a:rPr lang="en-IN" sz="2800" dirty="0" smtClean="0"/>
              <a:t>Input and output ports are normally paired.</a:t>
            </a:r>
          </a:p>
          <a:p>
            <a:r>
              <a:rPr lang="en-IN" sz="2800" dirty="0" smtClean="0"/>
              <a:t>A line card contains several input and output ports that connects to the interconnection fabric.</a:t>
            </a:r>
          </a:p>
          <a:p>
            <a:r>
              <a:rPr lang="en-IN" sz="2800" dirty="0" smtClean="0"/>
              <a:t>Line card implements Physical ,</a:t>
            </a:r>
            <a:r>
              <a:rPr lang="en-IN" sz="2800" dirty="0" err="1" smtClean="0"/>
              <a:t>datalink</a:t>
            </a:r>
            <a:r>
              <a:rPr lang="en-IN" sz="2800" dirty="0" smtClean="0"/>
              <a:t> and certain network layer functions.</a:t>
            </a:r>
          </a:p>
          <a:p>
            <a:r>
              <a:rPr lang="en-IN" sz="2800" dirty="0" smtClean="0"/>
              <a:t>Line card –symbol </a:t>
            </a:r>
            <a:r>
              <a:rPr lang="en-IN" sz="2800" dirty="0" err="1" smtClean="0"/>
              <a:t>timing,line</a:t>
            </a:r>
            <a:r>
              <a:rPr lang="en-IN" sz="2800" dirty="0" err="1" smtClean="0"/>
              <a:t>c</a:t>
            </a:r>
            <a:r>
              <a:rPr lang="en-IN" sz="2800" dirty="0" err="1" smtClean="0"/>
              <a:t>oding,framing,PhyLayer</a:t>
            </a:r>
            <a:r>
              <a:rPr lang="en-IN" sz="2800" dirty="0" smtClean="0"/>
              <a:t>  addressing ,error checking.</a:t>
            </a:r>
            <a:endParaRPr lang="en-IN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1107"/>
          <p:cNvGrpSpPr>
            <a:grpSpLocks/>
          </p:cNvGrpSpPr>
          <p:nvPr/>
        </p:nvGrpSpPr>
        <p:grpSpPr bwMode="auto">
          <a:xfrm>
            <a:off x="0" y="831850"/>
            <a:ext cx="4437063" cy="5737225"/>
            <a:chOff x="-21" y="554"/>
            <a:chExt cx="2795" cy="3133"/>
          </a:xfrm>
        </p:grpSpPr>
        <p:sp>
          <p:nvSpPr>
            <p:cNvPr id="27653" name="Rectangle 1028"/>
            <p:cNvSpPr>
              <a:spLocks noChangeArrowheads="1"/>
            </p:cNvSpPr>
            <p:nvPr/>
          </p:nvSpPr>
          <p:spPr bwMode="auto">
            <a:xfrm>
              <a:off x="400" y="554"/>
              <a:ext cx="2024" cy="2356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7654" name="Group 1029"/>
            <p:cNvGrpSpPr>
              <a:grpSpLocks/>
            </p:cNvGrpSpPr>
            <p:nvPr/>
          </p:nvGrpSpPr>
          <p:grpSpPr bwMode="auto">
            <a:xfrm>
              <a:off x="236" y="1504"/>
              <a:ext cx="296" cy="1134"/>
              <a:chOff x="604" y="1632"/>
              <a:chExt cx="464" cy="1134"/>
            </a:xfrm>
          </p:grpSpPr>
          <p:sp>
            <p:nvSpPr>
              <p:cNvPr id="27702" name="Line 1030"/>
              <p:cNvSpPr>
                <a:spLocks noChangeShapeType="1"/>
              </p:cNvSpPr>
              <p:nvPr/>
            </p:nvSpPr>
            <p:spPr bwMode="auto">
              <a:xfrm>
                <a:off x="604" y="1632"/>
                <a:ext cx="46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7703" name="Line 1031"/>
              <p:cNvSpPr>
                <a:spLocks noChangeShapeType="1"/>
              </p:cNvSpPr>
              <p:nvPr/>
            </p:nvSpPr>
            <p:spPr bwMode="auto">
              <a:xfrm>
                <a:off x="604" y="1886"/>
                <a:ext cx="46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7704" name="Line 1032"/>
              <p:cNvSpPr>
                <a:spLocks noChangeShapeType="1"/>
              </p:cNvSpPr>
              <p:nvPr/>
            </p:nvSpPr>
            <p:spPr bwMode="auto">
              <a:xfrm>
                <a:off x="604" y="2130"/>
                <a:ext cx="46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7705" name="Line 1033"/>
              <p:cNvSpPr>
                <a:spLocks noChangeShapeType="1"/>
              </p:cNvSpPr>
              <p:nvPr/>
            </p:nvSpPr>
            <p:spPr bwMode="auto">
              <a:xfrm>
                <a:off x="604" y="2766"/>
                <a:ext cx="46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27655" name="Rectangle 1034"/>
            <p:cNvSpPr>
              <a:spLocks noChangeArrowheads="1"/>
            </p:cNvSpPr>
            <p:nvPr/>
          </p:nvSpPr>
          <p:spPr bwMode="auto">
            <a:xfrm>
              <a:off x="592" y="654"/>
              <a:ext cx="1656" cy="392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6" name="Rectangle 1035"/>
            <p:cNvSpPr>
              <a:spLocks noChangeArrowheads="1"/>
            </p:cNvSpPr>
            <p:nvPr/>
          </p:nvSpPr>
          <p:spPr bwMode="auto">
            <a:xfrm>
              <a:off x="1013" y="716"/>
              <a:ext cx="800" cy="2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Controller</a:t>
              </a:r>
            </a:p>
          </p:txBody>
        </p:sp>
        <p:sp>
          <p:nvSpPr>
            <p:cNvPr id="27657" name="Rectangle 1036"/>
            <p:cNvSpPr>
              <a:spLocks noChangeArrowheads="1"/>
            </p:cNvSpPr>
            <p:nvPr/>
          </p:nvSpPr>
          <p:spPr bwMode="auto">
            <a:xfrm>
              <a:off x="79" y="1384"/>
              <a:ext cx="185" cy="2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1</a:t>
              </a:r>
            </a:p>
          </p:txBody>
        </p:sp>
        <p:sp>
          <p:nvSpPr>
            <p:cNvPr id="27658" name="Rectangle 1037"/>
            <p:cNvSpPr>
              <a:spLocks noChangeArrowheads="1"/>
            </p:cNvSpPr>
            <p:nvPr/>
          </p:nvSpPr>
          <p:spPr bwMode="auto">
            <a:xfrm>
              <a:off x="79" y="1592"/>
              <a:ext cx="185" cy="2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2</a:t>
              </a:r>
            </a:p>
          </p:txBody>
        </p:sp>
        <p:sp>
          <p:nvSpPr>
            <p:cNvPr id="27659" name="Rectangle 1038"/>
            <p:cNvSpPr>
              <a:spLocks noChangeArrowheads="1"/>
            </p:cNvSpPr>
            <p:nvPr/>
          </p:nvSpPr>
          <p:spPr bwMode="auto">
            <a:xfrm>
              <a:off x="87" y="1864"/>
              <a:ext cx="185" cy="2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3</a:t>
              </a:r>
            </a:p>
          </p:txBody>
        </p:sp>
        <p:sp>
          <p:nvSpPr>
            <p:cNvPr id="27660" name="Rectangle 1039"/>
            <p:cNvSpPr>
              <a:spLocks noChangeArrowheads="1"/>
            </p:cNvSpPr>
            <p:nvPr/>
          </p:nvSpPr>
          <p:spPr bwMode="auto">
            <a:xfrm>
              <a:off x="79" y="2512"/>
              <a:ext cx="206" cy="2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 i="1"/>
                <a:t>N</a:t>
              </a:r>
              <a:endParaRPr lang="en-US" sz="1600"/>
            </a:p>
          </p:txBody>
        </p:sp>
        <p:sp>
          <p:nvSpPr>
            <p:cNvPr id="27661" name="Rectangle 1040"/>
            <p:cNvSpPr>
              <a:spLocks noChangeArrowheads="1"/>
            </p:cNvSpPr>
            <p:nvPr/>
          </p:nvSpPr>
          <p:spPr bwMode="auto">
            <a:xfrm>
              <a:off x="536" y="1398"/>
              <a:ext cx="576" cy="2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chemeClr val="tx2"/>
                  </a:solidFill>
                </a:rPr>
                <a:t>Line card</a:t>
              </a:r>
            </a:p>
          </p:txBody>
        </p:sp>
        <p:sp>
          <p:nvSpPr>
            <p:cNvPr id="27662" name="Rectangle 1041"/>
            <p:cNvSpPr>
              <a:spLocks noChangeArrowheads="1"/>
            </p:cNvSpPr>
            <p:nvPr/>
          </p:nvSpPr>
          <p:spPr bwMode="auto">
            <a:xfrm>
              <a:off x="536" y="1646"/>
              <a:ext cx="576" cy="2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chemeClr val="tx2"/>
                  </a:solidFill>
                </a:rPr>
                <a:t>Line card</a:t>
              </a:r>
            </a:p>
          </p:txBody>
        </p:sp>
        <p:sp>
          <p:nvSpPr>
            <p:cNvPr id="27663" name="Rectangle 1042"/>
            <p:cNvSpPr>
              <a:spLocks noChangeArrowheads="1"/>
            </p:cNvSpPr>
            <p:nvPr/>
          </p:nvSpPr>
          <p:spPr bwMode="auto">
            <a:xfrm>
              <a:off x="536" y="1894"/>
              <a:ext cx="576" cy="2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chemeClr val="tx2"/>
                  </a:solidFill>
                </a:rPr>
                <a:t>Line card</a:t>
              </a:r>
            </a:p>
          </p:txBody>
        </p:sp>
        <p:sp>
          <p:nvSpPr>
            <p:cNvPr id="27664" name="Rectangle 1043"/>
            <p:cNvSpPr>
              <a:spLocks noChangeArrowheads="1"/>
            </p:cNvSpPr>
            <p:nvPr/>
          </p:nvSpPr>
          <p:spPr bwMode="auto">
            <a:xfrm>
              <a:off x="536" y="2526"/>
              <a:ext cx="576" cy="2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chemeClr val="tx2"/>
                  </a:solidFill>
                </a:rPr>
                <a:t>Line card</a:t>
              </a:r>
            </a:p>
          </p:txBody>
        </p:sp>
        <p:sp>
          <p:nvSpPr>
            <p:cNvPr id="27665" name="Rectangle 1044"/>
            <p:cNvSpPr>
              <a:spLocks noChangeArrowheads="1"/>
            </p:cNvSpPr>
            <p:nvPr/>
          </p:nvSpPr>
          <p:spPr bwMode="auto">
            <a:xfrm>
              <a:off x="1248" y="1430"/>
              <a:ext cx="368" cy="1368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666" name="Text Box 1045"/>
            <p:cNvSpPr txBox="1">
              <a:spLocks noChangeArrowheads="1"/>
            </p:cNvSpPr>
            <p:nvPr/>
          </p:nvSpPr>
          <p:spPr bwMode="auto">
            <a:xfrm rot="-5400000">
              <a:off x="930" y="1932"/>
              <a:ext cx="991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chemeClr val="tx2"/>
                  </a:solidFill>
                </a:rPr>
                <a:t>Interconnection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chemeClr val="tx2"/>
                  </a:solidFill>
                </a:rPr>
                <a:t>fabric</a:t>
              </a:r>
            </a:p>
          </p:txBody>
        </p:sp>
        <p:grpSp>
          <p:nvGrpSpPr>
            <p:cNvPr id="27667" name="Group 1046"/>
            <p:cNvGrpSpPr>
              <a:grpSpLocks/>
            </p:cNvGrpSpPr>
            <p:nvPr/>
          </p:nvGrpSpPr>
          <p:grpSpPr bwMode="auto">
            <a:xfrm>
              <a:off x="1760" y="1398"/>
              <a:ext cx="568" cy="1360"/>
              <a:chOff x="2880" y="1526"/>
              <a:chExt cx="696" cy="1360"/>
            </a:xfrm>
          </p:grpSpPr>
          <p:sp>
            <p:nvSpPr>
              <p:cNvPr id="27698" name="Rectangle 1047"/>
              <p:cNvSpPr>
                <a:spLocks noChangeArrowheads="1"/>
              </p:cNvSpPr>
              <p:nvPr/>
            </p:nvSpPr>
            <p:spPr bwMode="auto">
              <a:xfrm>
                <a:off x="2880" y="1526"/>
                <a:ext cx="696" cy="23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600">
                    <a:solidFill>
                      <a:schemeClr val="tx2"/>
                    </a:solidFill>
                  </a:rPr>
                  <a:t>Line card</a:t>
                </a:r>
              </a:p>
            </p:txBody>
          </p:sp>
          <p:sp>
            <p:nvSpPr>
              <p:cNvPr id="27699" name="Rectangle 1048"/>
              <p:cNvSpPr>
                <a:spLocks noChangeArrowheads="1"/>
              </p:cNvSpPr>
              <p:nvPr/>
            </p:nvSpPr>
            <p:spPr bwMode="auto">
              <a:xfrm>
                <a:off x="2880" y="1774"/>
                <a:ext cx="696" cy="23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600">
                    <a:solidFill>
                      <a:schemeClr val="tx2"/>
                    </a:solidFill>
                  </a:rPr>
                  <a:t>Line card</a:t>
                </a:r>
              </a:p>
            </p:txBody>
          </p:sp>
          <p:sp>
            <p:nvSpPr>
              <p:cNvPr id="27700" name="Rectangle 1049"/>
              <p:cNvSpPr>
                <a:spLocks noChangeArrowheads="1"/>
              </p:cNvSpPr>
              <p:nvPr/>
            </p:nvSpPr>
            <p:spPr bwMode="auto">
              <a:xfrm>
                <a:off x="2880" y="2022"/>
                <a:ext cx="696" cy="23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600">
                    <a:solidFill>
                      <a:schemeClr val="tx2"/>
                    </a:solidFill>
                  </a:rPr>
                  <a:t>Line card</a:t>
                </a:r>
              </a:p>
            </p:txBody>
          </p:sp>
          <p:sp>
            <p:nvSpPr>
              <p:cNvPr id="27701" name="Rectangle 1050"/>
              <p:cNvSpPr>
                <a:spLocks noChangeArrowheads="1"/>
              </p:cNvSpPr>
              <p:nvPr/>
            </p:nvSpPr>
            <p:spPr bwMode="auto">
              <a:xfrm>
                <a:off x="2880" y="2654"/>
                <a:ext cx="696" cy="23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600">
                    <a:solidFill>
                      <a:schemeClr val="tx2"/>
                    </a:solidFill>
                  </a:rPr>
                  <a:t>Line card</a:t>
                </a:r>
              </a:p>
            </p:txBody>
          </p:sp>
        </p:grpSp>
        <p:grpSp>
          <p:nvGrpSpPr>
            <p:cNvPr id="27668" name="Group 1051"/>
            <p:cNvGrpSpPr>
              <a:grpSpLocks/>
            </p:cNvGrpSpPr>
            <p:nvPr/>
          </p:nvGrpSpPr>
          <p:grpSpPr bwMode="auto">
            <a:xfrm>
              <a:off x="2335" y="1504"/>
              <a:ext cx="248" cy="1134"/>
              <a:chOff x="3583" y="1632"/>
              <a:chExt cx="464" cy="1134"/>
            </a:xfrm>
          </p:grpSpPr>
          <p:sp>
            <p:nvSpPr>
              <p:cNvPr id="27694" name="Line 1052"/>
              <p:cNvSpPr>
                <a:spLocks noChangeShapeType="1"/>
              </p:cNvSpPr>
              <p:nvPr/>
            </p:nvSpPr>
            <p:spPr bwMode="auto">
              <a:xfrm>
                <a:off x="3583" y="1632"/>
                <a:ext cx="46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7695" name="Line 1053"/>
              <p:cNvSpPr>
                <a:spLocks noChangeShapeType="1"/>
              </p:cNvSpPr>
              <p:nvPr/>
            </p:nvSpPr>
            <p:spPr bwMode="auto">
              <a:xfrm>
                <a:off x="3583" y="1876"/>
                <a:ext cx="46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7696" name="Line 1054"/>
              <p:cNvSpPr>
                <a:spLocks noChangeShapeType="1"/>
              </p:cNvSpPr>
              <p:nvPr/>
            </p:nvSpPr>
            <p:spPr bwMode="auto">
              <a:xfrm>
                <a:off x="3583" y="2130"/>
                <a:ext cx="46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7697" name="Line 1055"/>
              <p:cNvSpPr>
                <a:spLocks noChangeShapeType="1"/>
              </p:cNvSpPr>
              <p:nvPr/>
            </p:nvSpPr>
            <p:spPr bwMode="auto">
              <a:xfrm>
                <a:off x="3583" y="2766"/>
                <a:ext cx="46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27669" name="Rectangle 1056"/>
            <p:cNvSpPr>
              <a:spLocks noChangeArrowheads="1"/>
            </p:cNvSpPr>
            <p:nvPr/>
          </p:nvSpPr>
          <p:spPr bwMode="auto">
            <a:xfrm>
              <a:off x="2543" y="1408"/>
              <a:ext cx="185" cy="2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1</a:t>
              </a:r>
            </a:p>
          </p:txBody>
        </p:sp>
        <p:sp>
          <p:nvSpPr>
            <p:cNvPr id="27670" name="Rectangle 1057"/>
            <p:cNvSpPr>
              <a:spLocks noChangeArrowheads="1"/>
            </p:cNvSpPr>
            <p:nvPr/>
          </p:nvSpPr>
          <p:spPr bwMode="auto">
            <a:xfrm>
              <a:off x="2543" y="1616"/>
              <a:ext cx="185" cy="2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2</a:t>
              </a:r>
            </a:p>
          </p:txBody>
        </p:sp>
        <p:sp>
          <p:nvSpPr>
            <p:cNvPr id="27671" name="Rectangle 1058"/>
            <p:cNvSpPr>
              <a:spLocks noChangeArrowheads="1"/>
            </p:cNvSpPr>
            <p:nvPr/>
          </p:nvSpPr>
          <p:spPr bwMode="auto">
            <a:xfrm>
              <a:off x="2551" y="1864"/>
              <a:ext cx="185" cy="2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3</a:t>
              </a:r>
            </a:p>
          </p:txBody>
        </p:sp>
        <p:sp>
          <p:nvSpPr>
            <p:cNvPr id="27672" name="Rectangle 1059"/>
            <p:cNvSpPr>
              <a:spLocks noChangeArrowheads="1"/>
            </p:cNvSpPr>
            <p:nvPr/>
          </p:nvSpPr>
          <p:spPr bwMode="auto">
            <a:xfrm>
              <a:off x="2543" y="2496"/>
              <a:ext cx="206" cy="2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 i="1"/>
                <a:t>N</a:t>
              </a:r>
            </a:p>
          </p:txBody>
        </p:sp>
        <p:sp>
          <p:nvSpPr>
            <p:cNvPr id="27673" name="Text Box 1060"/>
            <p:cNvSpPr txBox="1">
              <a:spLocks noChangeArrowheads="1"/>
            </p:cNvSpPr>
            <p:nvPr/>
          </p:nvSpPr>
          <p:spPr bwMode="auto">
            <a:xfrm>
              <a:off x="52" y="2982"/>
              <a:ext cx="72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Input ports</a:t>
              </a:r>
            </a:p>
          </p:txBody>
        </p:sp>
        <p:sp>
          <p:nvSpPr>
            <p:cNvPr id="27674" name="Text Box 1061"/>
            <p:cNvSpPr txBox="1">
              <a:spLocks noChangeArrowheads="1"/>
            </p:cNvSpPr>
            <p:nvPr/>
          </p:nvSpPr>
          <p:spPr bwMode="auto">
            <a:xfrm>
              <a:off x="1952" y="2982"/>
              <a:ext cx="82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Output ports</a:t>
              </a:r>
            </a:p>
          </p:txBody>
        </p:sp>
        <p:sp>
          <p:nvSpPr>
            <p:cNvPr id="27675" name="Line 1062"/>
            <p:cNvSpPr>
              <a:spLocks noChangeShapeType="1"/>
            </p:cNvSpPr>
            <p:nvPr/>
          </p:nvSpPr>
          <p:spPr bwMode="auto">
            <a:xfrm>
              <a:off x="1115" y="1504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676" name="Line 1063"/>
            <p:cNvSpPr>
              <a:spLocks noChangeShapeType="1"/>
            </p:cNvSpPr>
            <p:nvPr/>
          </p:nvSpPr>
          <p:spPr bwMode="auto">
            <a:xfrm>
              <a:off x="1115" y="1756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677" name="Line 1064"/>
            <p:cNvSpPr>
              <a:spLocks noChangeShapeType="1"/>
            </p:cNvSpPr>
            <p:nvPr/>
          </p:nvSpPr>
          <p:spPr bwMode="auto">
            <a:xfrm>
              <a:off x="1112" y="2002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678" name="Line 1065"/>
            <p:cNvSpPr>
              <a:spLocks noChangeShapeType="1"/>
            </p:cNvSpPr>
            <p:nvPr/>
          </p:nvSpPr>
          <p:spPr bwMode="auto">
            <a:xfrm>
              <a:off x="1115" y="2638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679" name="Line 1066"/>
            <p:cNvSpPr>
              <a:spLocks noChangeShapeType="1"/>
            </p:cNvSpPr>
            <p:nvPr/>
          </p:nvSpPr>
          <p:spPr bwMode="auto">
            <a:xfrm flipV="1">
              <a:off x="1420" y="1054"/>
              <a:ext cx="0" cy="3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680" name="Line 1067"/>
            <p:cNvSpPr>
              <a:spLocks noChangeShapeType="1"/>
            </p:cNvSpPr>
            <p:nvPr/>
          </p:nvSpPr>
          <p:spPr bwMode="auto">
            <a:xfrm flipV="1">
              <a:off x="832" y="1048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681" name="Line 1068"/>
            <p:cNvSpPr>
              <a:spLocks noChangeShapeType="1"/>
            </p:cNvSpPr>
            <p:nvPr/>
          </p:nvSpPr>
          <p:spPr bwMode="auto">
            <a:xfrm flipV="1">
              <a:off x="2030" y="1054"/>
              <a:ext cx="0" cy="3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682" name="Line 1069"/>
            <p:cNvSpPr>
              <a:spLocks noChangeShapeType="1"/>
            </p:cNvSpPr>
            <p:nvPr/>
          </p:nvSpPr>
          <p:spPr bwMode="auto">
            <a:xfrm>
              <a:off x="244" y="3440"/>
              <a:ext cx="3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683" name="Line 1070"/>
            <p:cNvSpPr>
              <a:spLocks noChangeShapeType="1"/>
            </p:cNvSpPr>
            <p:nvPr/>
          </p:nvSpPr>
          <p:spPr bwMode="auto">
            <a:xfrm>
              <a:off x="244" y="3584"/>
              <a:ext cx="3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684" name="Text Box 1071"/>
            <p:cNvSpPr txBox="1">
              <a:spLocks noChangeArrowheads="1"/>
            </p:cNvSpPr>
            <p:nvPr/>
          </p:nvSpPr>
          <p:spPr bwMode="auto">
            <a:xfrm>
              <a:off x="545" y="3321"/>
              <a:ext cx="903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Data path Control path</a:t>
              </a:r>
            </a:p>
          </p:txBody>
        </p:sp>
        <p:sp>
          <p:nvSpPr>
            <p:cNvPr id="27685" name="Line 1072"/>
            <p:cNvSpPr>
              <a:spLocks noChangeShapeType="1"/>
            </p:cNvSpPr>
            <p:nvPr/>
          </p:nvSpPr>
          <p:spPr bwMode="auto">
            <a:xfrm>
              <a:off x="1627" y="1504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686" name="Line 1073"/>
            <p:cNvSpPr>
              <a:spLocks noChangeShapeType="1"/>
            </p:cNvSpPr>
            <p:nvPr/>
          </p:nvSpPr>
          <p:spPr bwMode="auto">
            <a:xfrm>
              <a:off x="1627" y="1756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687" name="Line 1074"/>
            <p:cNvSpPr>
              <a:spLocks noChangeShapeType="1"/>
            </p:cNvSpPr>
            <p:nvPr/>
          </p:nvSpPr>
          <p:spPr bwMode="auto">
            <a:xfrm>
              <a:off x="1624" y="2002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688" name="Line 1075"/>
            <p:cNvSpPr>
              <a:spLocks noChangeShapeType="1"/>
            </p:cNvSpPr>
            <p:nvPr/>
          </p:nvSpPr>
          <p:spPr bwMode="auto">
            <a:xfrm>
              <a:off x="1627" y="2638"/>
              <a:ext cx="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689" name="Text Box 1076"/>
            <p:cNvSpPr txBox="1">
              <a:spLocks noChangeArrowheads="1"/>
            </p:cNvSpPr>
            <p:nvPr/>
          </p:nvSpPr>
          <p:spPr bwMode="auto">
            <a:xfrm>
              <a:off x="1617" y="3418"/>
              <a:ext cx="273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(a)</a:t>
              </a:r>
            </a:p>
          </p:txBody>
        </p:sp>
        <p:sp>
          <p:nvSpPr>
            <p:cNvPr id="27690" name="Text Box 1103"/>
            <p:cNvSpPr txBox="1">
              <a:spLocks noChangeArrowheads="1"/>
            </p:cNvSpPr>
            <p:nvPr/>
          </p:nvSpPr>
          <p:spPr bwMode="auto">
            <a:xfrm rot="-5400000">
              <a:off x="2384" y="2235"/>
              <a:ext cx="304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/>
                <a:t>…</a:t>
              </a:r>
            </a:p>
          </p:txBody>
        </p:sp>
        <p:sp>
          <p:nvSpPr>
            <p:cNvPr id="27691" name="Text Box 1104"/>
            <p:cNvSpPr txBox="1">
              <a:spLocks noChangeArrowheads="1"/>
            </p:cNvSpPr>
            <p:nvPr/>
          </p:nvSpPr>
          <p:spPr bwMode="auto">
            <a:xfrm rot="-5400000">
              <a:off x="1784" y="2283"/>
              <a:ext cx="304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/>
                <a:t>…</a:t>
              </a:r>
            </a:p>
          </p:txBody>
        </p:sp>
        <p:sp>
          <p:nvSpPr>
            <p:cNvPr id="27692" name="Text Box 1105"/>
            <p:cNvSpPr txBox="1">
              <a:spLocks noChangeArrowheads="1"/>
            </p:cNvSpPr>
            <p:nvPr/>
          </p:nvSpPr>
          <p:spPr bwMode="auto">
            <a:xfrm rot="-5400000">
              <a:off x="568" y="2275"/>
              <a:ext cx="304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/>
                <a:t>…</a:t>
              </a:r>
            </a:p>
          </p:txBody>
        </p:sp>
        <p:sp>
          <p:nvSpPr>
            <p:cNvPr id="27693" name="Text Box 1106"/>
            <p:cNvSpPr txBox="1">
              <a:spLocks noChangeArrowheads="1"/>
            </p:cNvSpPr>
            <p:nvPr/>
          </p:nvSpPr>
          <p:spPr bwMode="auto">
            <a:xfrm rot="-5400000">
              <a:off x="-48" y="2283"/>
              <a:ext cx="304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/>
                <a:t>…</a:t>
              </a:r>
            </a:p>
          </p:txBody>
        </p:sp>
      </p:grpSp>
      <p:sp>
        <p:nvSpPr>
          <p:cNvPr id="27651" name="Rectangle 1110"/>
          <p:cNvSpPr>
            <a:spLocks noGrp="1" noChangeArrowheads="1"/>
          </p:cNvSpPr>
          <p:nvPr>
            <p:ph type="title"/>
          </p:nvPr>
        </p:nvSpPr>
        <p:spPr>
          <a:xfrm>
            <a:off x="676275" y="0"/>
            <a:ext cx="7543800" cy="750888"/>
          </a:xfrm>
        </p:spPr>
        <p:txBody>
          <a:bodyPr/>
          <a:lstStyle/>
          <a:p>
            <a:pPr eaLnBrk="1" hangingPunct="1"/>
            <a:r>
              <a:rPr lang="en-US" smtClean="0"/>
              <a:t>Generic Packet Switch </a:t>
            </a:r>
          </a:p>
        </p:txBody>
      </p:sp>
      <p:sp>
        <p:nvSpPr>
          <p:cNvPr id="27652" name="Rectangle 1112"/>
          <p:cNvSpPr>
            <a:spLocks noGrp="1" noChangeArrowheads="1"/>
          </p:cNvSpPr>
          <p:nvPr>
            <p:ph type="body" sz="half" idx="2"/>
          </p:nvPr>
        </p:nvSpPr>
        <p:spPr>
          <a:xfrm>
            <a:off x="4476750" y="976313"/>
            <a:ext cx="4667250" cy="58816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200" dirty="0" smtClean="0"/>
              <a:t>“Unfolded” View of Switch</a:t>
            </a:r>
          </a:p>
          <a:p>
            <a:pPr eaLnBrk="1" hangingPunct="1">
              <a:lnSpc>
                <a:spcPct val="80000"/>
              </a:lnSpc>
            </a:pPr>
            <a:r>
              <a:rPr lang="en-US" sz="2200" dirty="0" smtClean="0"/>
              <a:t>Ingress Line Cards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/>
              <a:t>Header processing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err="1" smtClean="0"/>
              <a:t>Demultiplexing</a:t>
            </a:r>
            <a:endParaRPr lang="en-US" sz="2000" dirty="0" smtClean="0"/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/>
              <a:t>Routing in large switches</a:t>
            </a:r>
          </a:p>
          <a:p>
            <a:pPr eaLnBrk="1" hangingPunct="1">
              <a:lnSpc>
                <a:spcPct val="80000"/>
              </a:lnSpc>
            </a:pPr>
            <a:r>
              <a:rPr lang="en-US" sz="2200" dirty="0" smtClean="0"/>
              <a:t> Controller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/>
              <a:t>Routing in small switches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err="1" smtClean="0"/>
              <a:t>Signalling</a:t>
            </a:r>
            <a:r>
              <a:rPr lang="en-US" sz="2000" dirty="0" smtClean="0"/>
              <a:t> &amp; resource allocation</a:t>
            </a:r>
          </a:p>
          <a:p>
            <a:pPr eaLnBrk="1" hangingPunct="1">
              <a:lnSpc>
                <a:spcPct val="80000"/>
              </a:lnSpc>
            </a:pPr>
            <a:r>
              <a:rPr lang="en-US" sz="2200" dirty="0" smtClean="0"/>
              <a:t>Interconnection Fabric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/>
              <a:t>Transfer packets between line cards</a:t>
            </a:r>
          </a:p>
          <a:p>
            <a:pPr eaLnBrk="1" hangingPunct="1">
              <a:lnSpc>
                <a:spcPct val="80000"/>
              </a:lnSpc>
            </a:pPr>
            <a:r>
              <a:rPr lang="en-US" sz="2200" dirty="0" smtClean="0"/>
              <a:t>Egress Line Cards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/>
              <a:t>Scheduling &amp; priority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/>
              <a:t>Multiplexing</a:t>
            </a:r>
          </a:p>
          <a:p>
            <a:pPr lvl="1" eaLnBrk="1" hangingPunct="1">
              <a:lnSpc>
                <a:spcPct val="80000"/>
              </a:lnSpc>
            </a:pPr>
            <a:endParaRPr lang="en-US" sz="2000" dirty="0" smtClean="0"/>
          </a:p>
          <a:p>
            <a:pPr lvl="2" eaLnBrk="1" hangingPunct="1">
              <a:lnSpc>
                <a:spcPct val="80000"/>
              </a:lnSpc>
            </a:pPr>
            <a:endParaRPr lang="en-US" sz="19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Group 1115"/>
          <p:cNvGrpSpPr>
            <a:grpSpLocks/>
          </p:cNvGrpSpPr>
          <p:nvPr/>
        </p:nvGrpSpPr>
        <p:grpSpPr bwMode="auto">
          <a:xfrm>
            <a:off x="973138" y="1258888"/>
            <a:ext cx="7297737" cy="4552950"/>
            <a:chOff x="342" y="750"/>
            <a:chExt cx="4597" cy="2868"/>
          </a:xfrm>
        </p:grpSpPr>
        <p:sp>
          <p:nvSpPr>
            <p:cNvPr id="28685" name="Rectangle 1044"/>
            <p:cNvSpPr>
              <a:spLocks noChangeArrowheads="1"/>
            </p:cNvSpPr>
            <p:nvPr/>
          </p:nvSpPr>
          <p:spPr bwMode="auto">
            <a:xfrm>
              <a:off x="4245" y="1180"/>
              <a:ext cx="694" cy="2438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8686" name="Text Box 1045"/>
            <p:cNvSpPr txBox="1">
              <a:spLocks noChangeArrowheads="1"/>
            </p:cNvSpPr>
            <p:nvPr/>
          </p:nvSpPr>
          <p:spPr bwMode="auto">
            <a:xfrm rot="-5400000">
              <a:off x="3925" y="2216"/>
              <a:ext cx="990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chemeClr val="tx2"/>
                  </a:solidFill>
                </a:rPr>
                <a:t>Interconnection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chemeClr val="tx2"/>
                  </a:solidFill>
                </a:rPr>
                <a:t>fabric</a:t>
              </a:r>
            </a:p>
          </p:txBody>
        </p:sp>
        <p:sp>
          <p:nvSpPr>
            <p:cNvPr id="28687" name="Line 1073"/>
            <p:cNvSpPr>
              <a:spLocks noChangeShapeType="1"/>
            </p:cNvSpPr>
            <p:nvPr/>
          </p:nvSpPr>
          <p:spPr bwMode="auto">
            <a:xfrm>
              <a:off x="3980" y="1761"/>
              <a:ext cx="25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688" name="Line 1074"/>
            <p:cNvSpPr>
              <a:spLocks noChangeShapeType="1"/>
            </p:cNvSpPr>
            <p:nvPr/>
          </p:nvSpPr>
          <p:spPr bwMode="auto">
            <a:xfrm>
              <a:off x="3974" y="2199"/>
              <a:ext cx="25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689" name="Line 1075"/>
            <p:cNvSpPr>
              <a:spLocks noChangeShapeType="1"/>
            </p:cNvSpPr>
            <p:nvPr/>
          </p:nvSpPr>
          <p:spPr bwMode="auto">
            <a:xfrm>
              <a:off x="3980" y="3333"/>
              <a:ext cx="25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690" name="Rectangle 1077"/>
            <p:cNvSpPr>
              <a:spLocks noChangeArrowheads="1"/>
            </p:cNvSpPr>
            <p:nvPr/>
          </p:nvSpPr>
          <p:spPr bwMode="auto">
            <a:xfrm>
              <a:off x="497" y="750"/>
              <a:ext cx="2400" cy="1408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1" name="Rectangle 1078"/>
            <p:cNvSpPr>
              <a:spLocks noChangeArrowheads="1"/>
            </p:cNvSpPr>
            <p:nvPr/>
          </p:nvSpPr>
          <p:spPr bwMode="auto">
            <a:xfrm>
              <a:off x="1241" y="950"/>
              <a:ext cx="345" cy="42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2" name="Rectangle 1079"/>
            <p:cNvSpPr>
              <a:spLocks noChangeArrowheads="1"/>
            </p:cNvSpPr>
            <p:nvPr/>
          </p:nvSpPr>
          <p:spPr bwMode="auto">
            <a:xfrm>
              <a:off x="601" y="942"/>
              <a:ext cx="496" cy="42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3" name="Text Box 1080"/>
            <p:cNvSpPr txBox="1">
              <a:spLocks noChangeArrowheads="1"/>
            </p:cNvSpPr>
            <p:nvPr/>
          </p:nvSpPr>
          <p:spPr bwMode="auto">
            <a:xfrm>
              <a:off x="543" y="1071"/>
              <a:ext cx="61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200"/>
                <a:t>Transceiver</a:t>
              </a:r>
            </a:p>
          </p:txBody>
        </p:sp>
        <p:sp>
          <p:nvSpPr>
            <p:cNvPr id="28694" name="Rectangle 1081"/>
            <p:cNvSpPr>
              <a:spLocks noChangeArrowheads="1"/>
            </p:cNvSpPr>
            <p:nvPr/>
          </p:nvSpPr>
          <p:spPr bwMode="auto">
            <a:xfrm>
              <a:off x="609" y="1534"/>
              <a:ext cx="496" cy="42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5" name="Text Box 1082"/>
            <p:cNvSpPr txBox="1">
              <a:spLocks noChangeArrowheads="1"/>
            </p:cNvSpPr>
            <p:nvPr/>
          </p:nvSpPr>
          <p:spPr bwMode="auto">
            <a:xfrm>
              <a:off x="543" y="1663"/>
              <a:ext cx="61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200"/>
                <a:t>Transceiver</a:t>
              </a:r>
            </a:p>
          </p:txBody>
        </p:sp>
        <p:sp>
          <p:nvSpPr>
            <p:cNvPr id="28696" name="Text Box 1083"/>
            <p:cNvSpPr txBox="1">
              <a:spLocks noChangeArrowheads="1"/>
            </p:cNvSpPr>
            <p:nvPr/>
          </p:nvSpPr>
          <p:spPr bwMode="auto">
            <a:xfrm>
              <a:off x="1198" y="1079"/>
              <a:ext cx="425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200"/>
                <a:t>Framer</a:t>
              </a:r>
            </a:p>
          </p:txBody>
        </p:sp>
        <p:sp>
          <p:nvSpPr>
            <p:cNvPr id="28697" name="Rectangle 1084"/>
            <p:cNvSpPr>
              <a:spLocks noChangeArrowheads="1"/>
            </p:cNvSpPr>
            <p:nvPr/>
          </p:nvSpPr>
          <p:spPr bwMode="auto">
            <a:xfrm>
              <a:off x="1241" y="1518"/>
              <a:ext cx="344" cy="42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8" name="Text Box 1085"/>
            <p:cNvSpPr txBox="1">
              <a:spLocks noChangeArrowheads="1"/>
            </p:cNvSpPr>
            <p:nvPr/>
          </p:nvSpPr>
          <p:spPr bwMode="auto">
            <a:xfrm>
              <a:off x="1198" y="1647"/>
              <a:ext cx="425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200"/>
                <a:t>Framer</a:t>
              </a:r>
            </a:p>
          </p:txBody>
        </p:sp>
        <p:sp>
          <p:nvSpPr>
            <p:cNvPr id="28699" name="Rectangle 1086"/>
            <p:cNvSpPr>
              <a:spLocks noChangeArrowheads="1"/>
            </p:cNvSpPr>
            <p:nvPr/>
          </p:nvSpPr>
          <p:spPr bwMode="auto">
            <a:xfrm>
              <a:off x="1721" y="1110"/>
              <a:ext cx="424" cy="6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0" name="Text Box 1087"/>
            <p:cNvSpPr txBox="1">
              <a:spLocks noChangeArrowheads="1"/>
            </p:cNvSpPr>
            <p:nvPr/>
          </p:nvSpPr>
          <p:spPr bwMode="auto">
            <a:xfrm>
              <a:off x="1672" y="1314"/>
              <a:ext cx="5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200"/>
                <a:t>Network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200"/>
                <a:t>processor</a:t>
              </a:r>
            </a:p>
          </p:txBody>
        </p:sp>
        <p:sp>
          <p:nvSpPr>
            <p:cNvPr id="28701" name="Rectangle 1088"/>
            <p:cNvSpPr>
              <a:spLocks noChangeArrowheads="1"/>
            </p:cNvSpPr>
            <p:nvPr/>
          </p:nvSpPr>
          <p:spPr bwMode="auto">
            <a:xfrm>
              <a:off x="2273" y="1110"/>
              <a:ext cx="520" cy="6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2" name="Text Box 1089"/>
            <p:cNvSpPr txBox="1">
              <a:spLocks noChangeArrowheads="1"/>
            </p:cNvSpPr>
            <p:nvPr/>
          </p:nvSpPr>
          <p:spPr bwMode="auto">
            <a:xfrm>
              <a:off x="2215" y="1314"/>
              <a:ext cx="63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200"/>
                <a:t>Backplane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200"/>
                <a:t>transceivers</a:t>
              </a:r>
            </a:p>
          </p:txBody>
        </p:sp>
        <p:grpSp>
          <p:nvGrpSpPr>
            <p:cNvPr id="28703" name="Group 1090"/>
            <p:cNvGrpSpPr>
              <a:grpSpLocks/>
            </p:cNvGrpSpPr>
            <p:nvPr/>
          </p:nvGrpSpPr>
          <p:grpSpPr bwMode="auto">
            <a:xfrm>
              <a:off x="1577" y="1198"/>
              <a:ext cx="152" cy="504"/>
              <a:chOff x="2304" y="1760"/>
              <a:chExt cx="176" cy="504"/>
            </a:xfrm>
          </p:grpSpPr>
          <p:sp>
            <p:nvSpPr>
              <p:cNvPr id="28718" name="Line 1091"/>
              <p:cNvSpPr>
                <a:spLocks noChangeShapeType="1"/>
              </p:cNvSpPr>
              <p:nvPr/>
            </p:nvSpPr>
            <p:spPr bwMode="auto">
              <a:xfrm flipH="1">
                <a:off x="2304" y="1760"/>
                <a:ext cx="1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8719" name="Line 1092"/>
              <p:cNvSpPr>
                <a:spLocks noChangeShapeType="1"/>
              </p:cNvSpPr>
              <p:nvPr/>
            </p:nvSpPr>
            <p:spPr bwMode="auto">
              <a:xfrm flipH="1">
                <a:off x="2304" y="2264"/>
                <a:ext cx="1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28704" name="Group 1093"/>
            <p:cNvGrpSpPr>
              <a:grpSpLocks/>
            </p:cNvGrpSpPr>
            <p:nvPr/>
          </p:nvGrpSpPr>
          <p:grpSpPr bwMode="auto">
            <a:xfrm>
              <a:off x="1097" y="1174"/>
              <a:ext cx="152" cy="544"/>
              <a:chOff x="1784" y="1736"/>
              <a:chExt cx="184" cy="544"/>
            </a:xfrm>
          </p:grpSpPr>
          <p:sp>
            <p:nvSpPr>
              <p:cNvPr id="28716" name="Line 1094"/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8717" name="Line 1095"/>
              <p:cNvSpPr>
                <a:spLocks noChangeShapeType="1"/>
              </p:cNvSpPr>
              <p:nvPr/>
            </p:nvSpPr>
            <p:spPr bwMode="auto">
              <a:xfrm flipH="1">
                <a:off x="1808" y="2280"/>
                <a:ext cx="1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28705" name="Line 1096"/>
            <p:cNvSpPr>
              <a:spLocks noChangeShapeType="1"/>
            </p:cNvSpPr>
            <p:nvPr/>
          </p:nvSpPr>
          <p:spPr bwMode="auto">
            <a:xfrm flipH="1">
              <a:off x="385" y="1166"/>
              <a:ext cx="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706" name="Line 1097"/>
            <p:cNvSpPr>
              <a:spLocks noChangeShapeType="1"/>
            </p:cNvSpPr>
            <p:nvPr/>
          </p:nvSpPr>
          <p:spPr bwMode="auto">
            <a:xfrm flipH="1">
              <a:off x="385" y="1742"/>
              <a:ext cx="2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707" name="Line 1098"/>
            <p:cNvSpPr>
              <a:spLocks noChangeShapeType="1"/>
            </p:cNvSpPr>
            <p:nvPr/>
          </p:nvSpPr>
          <p:spPr bwMode="auto">
            <a:xfrm flipH="1">
              <a:off x="2145" y="1454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708" name="Text Box 1100"/>
            <p:cNvSpPr txBox="1">
              <a:spLocks noChangeArrowheads="1"/>
            </p:cNvSpPr>
            <p:nvPr/>
          </p:nvSpPr>
          <p:spPr bwMode="auto">
            <a:xfrm>
              <a:off x="342" y="2144"/>
              <a:ext cx="520" cy="4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To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physical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ports</a:t>
              </a:r>
            </a:p>
          </p:txBody>
        </p:sp>
        <p:sp>
          <p:nvSpPr>
            <p:cNvPr id="28709" name="Text Box 1101"/>
            <p:cNvSpPr txBox="1">
              <a:spLocks noChangeArrowheads="1"/>
            </p:cNvSpPr>
            <p:nvPr/>
          </p:nvSpPr>
          <p:spPr bwMode="auto">
            <a:xfrm>
              <a:off x="2574" y="2144"/>
              <a:ext cx="427" cy="4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To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switch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fabric</a:t>
              </a:r>
            </a:p>
          </p:txBody>
        </p:sp>
        <p:sp>
          <p:nvSpPr>
            <p:cNvPr id="28710" name="Line 1110"/>
            <p:cNvSpPr>
              <a:spLocks noChangeShapeType="1"/>
            </p:cNvSpPr>
            <p:nvPr/>
          </p:nvSpPr>
          <p:spPr bwMode="auto">
            <a:xfrm>
              <a:off x="2802" y="1426"/>
              <a:ext cx="1437" cy="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711" name="Line 1111"/>
            <p:cNvSpPr>
              <a:spLocks noChangeShapeType="1"/>
            </p:cNvSpPr>
            <p:nvPr/>
          </p:nvSpPr>
          <p:spPr bwMode="auto">
            <a:xfrm>
              <a:off x="3981" y="1857"/>
              <a:ext cx="25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712" name="Line 1112"/>
            <p:cNvSpPr>
              <a:spLocks noChangeShapeType="1"/>
            </p:cNvSpPr>
            <p:nvPr/>
          </p:nvSpPr>
          <p:spPr bwMode="auto">
            <a:xfrm>
              <a:off x="3975" y="2295"/>
              <a:ext cx="25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713" name="Line 1113"/>
            <p:cNvSpPr>
              <a:spLocks noChangeShapeType="1"/>
            </p:cNvSpPr>
            <p:nvPr/>
          </p:nvSpPr>
          <p:spPr bwMode="auto">
            <a:xfrm>
              <a:off x="3981" y="3429"/>
              <a:ext cx="25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714" name="Line 1072"/>
            <p:cNvSpPr>
              <a:spLocks noChangeShapeType="1"/>
            </p:cNvSpPr>
            <p:nvPr/>
          </p:nvSpPr>
          <p:spPr bwMode="auto">
            <a:xfrm>
              <a:off x="2796" y="1301"/>
              <a:ext cx="1442" cy="1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715" name="Text Box 1114"/>
            <p:cNvSpPr txBox="1">
              <a:spLocks noChangeArrowheads="1"/>
            </p:cNvSpPr>
            <p:nvPr/>
          </p:nvSpPr>
          <p:spPr bwMode="auto">
            <a:xfrm>
              <a:off x="3308" y="2097"/>
              <a:ext cx="507" cy="826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To</a:t>
              </a:r>
            </a:p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other</a:t>
              </a:r>
            </a:p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line</a:t>
              </a:r>
            </a:p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cards</a:t>
              </a:r>
            </a:p>
          </p:txBody>
        </p:sp>
      </p:grpSp>
      <p:sp>
        <p:nvSpPr>
          <p:cNvPr id="28675" name="Rectangle 11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Line Cards</a:t>
            </a:r>
          </a:p>
        </p:txBody>
      </p:sp>
      <p:sp>
        <p:nvSpPr>
          <p:cNvPr id="28676" name="Rectangle 1118"/>
          <p:cNvSpPr>
            <a:spLocks noGrp="1" noChangeArrowheads="1"/>
          </p:cNvSpPr>
          <p:nvPr>
            <p:ph type="body" sz="half" idx="1"/>
          </p:nvPr>
        </p:nvSpPr>
        <p:spPr>
          <a:xfrm>
            <a:off x="412750" y="4565650"/>
            <a:ext cx="5799138" cy="70643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200" smtClean="0"/>
              <a:t>Folded View</a:t>
            </a:r>
          </a:p>
          <a:p>
            <a:pPr eaLnBrk="1" hangingPunct="1">
              <a:lnSpc>
                <a:spcPct val="80000"/>
              </a:lnSpc>
            </a:pPr>
            <a:r>
              <a:rPr lang="en-US" sz="2200" smtClean="0"/>
              <a:t>1 circuit board is ingress/egress line card</a:t>
            </a:r>
          </a:p>
        </p:txBody>
      </p:sp>
      <p:sp>
        <p:nvSpPr>
          <p:cNvPr id="1215585" name="Oval 1121"/>
          <p:cNvSpPr>
            <a:spLocks noChangeArrowheads="1"/>
          </p:cNvSpPr>
          <p:nvPr/>
        </p:nvSpPr>
        <p:spPr bwMode="auto">
          <a:xfrm>
            <a:off x="1246188" y="1095375"/>
            <a:ext cx="1069975" cy="2700338"/>
          </a:xfrm>
          <a:prstGeom prst="ellipse">
            <a:avLst/>
          </a:prstGeom>
          <a:noFill/>
          <a:ln w="2540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5586" name="Oval 1122"/>
          <p:cNvSpPr>
            <a:spLocks noChangeArrowheads="1"/>
          </p:cNvSpPr>
          <p:nvPr/>
        </p:nvSpPr>
        <p:spPr bwMode="auto">
          <a:xfrm>
            <a:off x="2260600" y="1087438"/>
            <a:ext cx="862013" cy="2682875"/>
          </a:xfrm>
          <a:prstGeom prst="ellipse">
            <a:avLst/>
          </a:prstGeom>
          <a:noFill/>
          <a:ln w="2540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5590" name="Oval 1126"/>
          <p:cNvSpPr>
            <a:spLocks noChangeArrowheads="1"/>
          </p:cNvSpPr>
          <p:nvPr/>
        </p:nvSpPr>
        <p:spPr bwMode="auto">
          <a:xfrm>
            <a:off x="3071813" y="1519238"/>
            <a:ext cx="862012" cy="1863725"/>
          </a:xfrm>
          <a:prstGeom prst="ellipse">
            <a:avLst/>
          </a:prstGeom>
          <a:noFill/>
          <a:ln w="2540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5591" name="Oval 1127"/>
          <p:cNvSpPr>
            <a:spLocks noChangeArrowheads="1"/>
          </p:cNvSpPr>
          <p:nvPr/>
        </p:nvSpPr>
        <p:spPr bwMode="auto">
          <a:xfrm>
            <a:off x="4073525" y="1530350"/>
            <a:ext cx="862013" cy="1863725"/>
          </a:xfrm>
          <a:prstGeom prst="ellipse">
            <a:avLst/>
          </a:prstGeom>
          <a:noFill/>
          <a:ln w="2540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  <a:buSzTx/>
              <a:buFontTx/>
              <a:buNone/>
            </a:pPr>
            <a:endParaRPr lang="en-US"/>
          </a:p>
        </p:txBody>
      </p:sp>
      <p:sp>
        <p:nvSpPr>
          <p:cNvPr id="1215595" name="Rectangle 1131"/>
          <p:cNvSpPr>
            <a:spLocks noChangeArrowheads="1"/>
          </p:cNvSpPr>
          <p:nvPr/>
        </p:nvSpPr>
        <p:spPr bwMode="auto">
          <a:xfrm>
            <a:off x="420688" y="5243513"/>
            <a:ext cx="5799137" cy="42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l"/>
            </a:pPr>
            <a:r>
              <a:rPr lang="en-US" sz="2200"/>
              <a:t>Physical layer processing</a:t>
            </a:r>
          </a:p>
        </p:txBody>
      </p:sp>
      <p:sp>
        <p:nvSpPr>
          <p:cNvPr id="1215596" name="Rectangle 1132"/>
          <p:cNvSpPr>
            <a:spLocks noChangeArrowheads="1"/>
          </p:cNvSpPr>
          <p:nvPr/>
        </p:nvSpPr>
        <p:spPr bwMode="auto">
          <a:xfrm>
            <a:off x="417513" y="5554663"/>
            <a:ext cx="5799137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l"/>
            </a:pPr>
            <a:r>
              <a:rPr lang="en-US" sz="2200"/>
              <a:t>Data link layer processing</a:t>
            </a:r>
          </a:p>
        </p:txBody>
      </p:sp>
      <p:sp>
        <p:nvSpPr>
          <p:cNvPr id="1215597" name="Rectangle 1133"/>
          <p:cNvSpPr>
            <a:spLocks noChangeArrowheads="1"/>
          </p:cNvSpPr>
          <p:nvPr/>
        </p:nvSpPr>
        <p:spPr bwMode="auto">
          <a:xfrm>
            <a:off x="417513" y="5846763"/>
            <a:ext cx="5799137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l"/>
            </a:pPr>
            <a:r>
              <a:rPr lang="en-US" sz="2200"/>
              <a:t>Network header processing</a:t>
            </a:r>
          </a:p>
        </p:txBody>
      </p:sp>
      <p:sp>
        <p:nvSpPr>
          <p:cNvPr id="1215598" name="Rectangle 1134"/>
          <p:cNvSpPr>
            <a:spLocks noChangeArrowheads="1"/>
          </p:cNvSpPr>
          <p:nvPr/>
        </p:nvSpPr>
        <p:spPr bwMode="auto">
          <a:xfrm>
            <a:off x="423863" y="6207125"/>
            <a:ext cx="5799137" cy="41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l"/>
            </a:pPr>
            <a:r>
              <a:rPr lang="en-US" sz="2200"/>
              <a:t>Physical layer across fabric + framing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15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215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215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215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215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215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215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215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5585" grpId="0" animBg="1"/>
      <p:bldP spid="1215586" grpId="0" animBg="1"/>
      <p:bldP spid="1215590" grpId="0" animBg="1"/>
      <p:bldP spid="1215591" grpId="0" animBg="1"/>
      <p:bldP spid="1215595" grpId="0"/>
      <p:bldP spid="1215596" grpId="0"/>
      <p:bldP spid="1215597" grpId="0"/>
      <p:bldP spid="121559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26"/>
          <p:cNvSpPr>
            <a:spLocks noChangeArrowheads="1"/>
          </p:cNvSpPr>
          <p:nvPr/>
        </p:nvSpPr>
        <p:spPr bwMode="auto">
          <a:xfrm>
            <a:off x="2503488" y="1739900"/>
            <a:ext cx="4292600" cy="4056063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699" name="Line 1027"/>
          <p:cNvSpPr>
            <a:spLocks noChangeShapeType="1"/>
          </p:cNvSpPr>
          <p:nvPr/>
        </p:nvSpPr>
        <p:spPr bwMode="auto">
          <a:xfrm>
            <a:off x="1741488" y="2717800"/>
            <a:ext cx="736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9700" name="Line 1028"/>
          <p:cNvSpPr>
            <a:spLocks noChangeShapeType="1"/>
          </p:cNvSpPr>
          <p:nvPr/>
        </p:nvSpPr>
        <p:spPr bwMode="auto">
          <a:xfrm>
            <a:off x="1741488" y="3390900"/>
            <a:ext cx="736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9701" name="Line 1029"/>
          <p:cNvSpPr>
            <a:spLocks noChangeShapeType="1"/>
          </p:cNvSpPr>
          <p:nvPr/>
        </p:nvSpPr>
        <p:spPr bwMode="auto">
          <a:xfrm>
            <a:off x="1728788" y="3949700"/>
            <a:ext cx="736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9702" name="Line 1030"/>
          <p:cNvSpPr>
            <a:spLocks noChangeShapeType="1"/>
          </p:cNvSpPr>
          <p:nvPr/>
        </p:nvSpPr>
        <p:spPr bwMode="auto">
          <a:xfrm>
            <a:off x="1690688" y="5341938"/>
            <a:ext cx="736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9703" name="Line 1031"/>
          <p:cNvSpPr>
            <a:spLocks noChangeShapeType="1"/>
          </p:cNvSpPr>
          <p:nvPr/>
        </p:nvSpPr>
        <p:spPr bwMode="auto">
          <a:xfrm>
            <a:off x="6770688" y="27686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9704" name="Line 1032"/>
          <p:cNvSpPr>
            <a:spLocks noChangeShapeType="1"/>
          </p:cNvSpPr>
          <p:nvPr/>
        </p:nvSpPr>
        <p:spPr bwMode="auto">
          <a:xfrm>
            <a:off x="6745288" y="3390900"/>
            <a:ext cx="736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9705" name="Line 1033"/>
          <p:cNvSpPr>
            <a:spLocks noChangeShapeType="1"/>
          </p:cNvSpPr>
          <p:nvPr/>
        </p:nvSpPr>
        <p:spPr bwMode="auto">
          <a:xfrm>
            <a:off x="6745288" y="3987800"/>
            <a:ext cx="736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9706" name="Line 1034"/>
          <p:cNvSpPr>
            <a:spLocks noChangeShapeType="1"/>
          </p:cNvSpPr>
          <p:nvPr/>
        </p:nvSpPr>
        <p:spPr bwMode="auto">
          <a:xfrm>
            <a:off x="6732588" y="5387975"/>
            <a:ext cx="736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9707" name="Rectangle 1035"/>
          <p:cNvSpPr>
            <a:spLocks noChangeArrowheads="1"/>
          </p:cNvSpPr>
          <p:nvPr/>
        </p:nvSpPr>
        <p:spPr bwMode="auto">
          <a:xfrm>
            <a:off x="1346200" y="2543175"/>
            <a:ext cx="307975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1</a:t>
            </a:r>
          </a:p>
        </p:txBody>
      </p:sp>
      <p:sp>
        <p:nvSpPr>
          <p:cNvPr id="29708" name="Rectangle 1036"/>
          <p:cNvSpPr>
            <a:spLocks noChangeArrowheads="1"/>
          </p:cNvSpPr>
          <p:nvPr/>
        </p:nvSpPr>
        <p:spPr bwMode="auto">
          <a:xfrm>
            <a:off x="1333500" y="3178175"/>
            <a:ext cx="307975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2</a:t>
            </a:r>
          </a:p>
        </p:txBody>
      </p:sp>
      <p:sp>
        <p:nvSpPr>
          <p:cNvPr id="29709" name="Rectangle 1037"/>
          <p:cNvSpPr>
            <a:spLocks noChangeArrowheads="1"/>
          </p:cNvSpPr>
          <p:nvPr/>
        </p:nvSpPr>
        <p:spPr bwMode="auto">
          <a:xfrm>
            <a:off x="1346200" y="3698875"/>
            <a:ext cx="307975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3</a:t>
            </a:r>
          </a:p>
        </p:txBody>
      </p:sp>
      <p:sp>
        <p:nvSpPr>
          <p:cNvPr id="29710" name="Rectangle 1038"/>
          <p:cNvSpPr>
            <a:spLocks noChangeArrowheads="1"/>
          </p:cNvSpPr>
          <p:nvPr/>
        </p:nvSpPr>
        <p:spPr bwMode="auto">
          <a:xfrm>
            <a:off x="1333500" y="5141913"/>
            <a:ext cx="346075" cy="3635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 i="1"/>
              <a:t>N</a:t>
            </a:r>
          </a:p>
        </p:txBody>
      </p:sp>
      <p:sp>
        <p:nvSpPr>
          <p:cNvPr id="29711" name="Rectangle 1039"/>
          <p:cNvSpPr>
            <a:spLocks noChangeArrowheads="1"/>
          </p:cNvSpPr>
          <p:nvPr/>
        </p:nvSpPr>
        <p:spPr bwMode="auto">
          <a:xfrm>
            <a:off x="7594600" y="2581275"/>
            <a:ext cx="307975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1</a:t>
            </a:r>
          </a:p>
        </p:txBody>
      </p:sp>
      <p:sp>
        <p:nvSpPr>
          <p:cNvPr id="29712" name="Rectangle 1040"/>
          <p:cNvSpPr>
            <a:spLocks noChangeArrowheads="1"/>
          </p:cNvSpPr>
          <p:nvPr/>
        </p:nvSpPr>
        <p:spPr bwMode="auto">
          <a:xfrm>
            <a:off x="7696200" y="3228975"/>
            <a:ext cx="307975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2</a:t>
            </a:r>
          </a:p>
        </p:txBody>
      </p:sp>
      <p:sp>
        <p:nvSpPr>
          <p:cNvPr id="29713" name="Rectangle 1041"/>
          <p:cNvSpPr>
            <a:spLocks noChangeArrowheads="1"/>
          </p:cNvSpPr>
          <p:nvPr/>
        </p:nvSpPr>
        <p:spPr bwMode="auto">
          <a:xfrm>
            <a:off x="7696200" y="3813175"/>
            <a:ext cx="307975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3</a:t>
            </a:r>
          </a:p>
        </p:txBody>
      </p:sp>
      <p:sp>
        <p:nvSpPr>
          <p:cNvPr id="29714" name="Rectangle 1042"/>
          <p:cNvSpPr>
            <a:spLocks noChangeArrowheads="1"/>
          </p:cNvSpPr>
          <p:nvPr/>
        </p:nvSpPr>
        <p:spPr bwMode="auto">
          <a:xfrm>
            <a:off x="7656513" y="5233988"/>
            <a:ext cx="346075" cy="3635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 i="1"/>
              <a:t>N</a:t>
            </a:r>
          </a:p>
        </p:txBody>
      </p:sp>
      <p:sp>
        <p:nvSpPr>
          <p:cNvPr id="29715" name="Rectangle 1043"/>
          <p:cNvSpPr>
            <a:spLocks noChangeArrowheads="1"/>
          </p:cNvSpPr>
          <p:nvPr/>
        </p:nvSpPr>
        <p:spPr bwMode="auto">
          <a:xfrm rot="-5400000">
            <a:off x="1628775" y="4419600"/>
            <a:ext cx="48577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2400"/>
              <a:t>…</a:t>
            </a:r>
          </a:p>
        </p:txBody>
      </p:sp>
      <p:sp>
        <p:nvSpPr>
          <p:cNvPr id="29716" name="Rectangle 1044"/>
          <p:cNvSpPr>
            <a:spLocks noChangeArrowheads="1"/>
          </p:cNvSpPr>
          <p:nvPr/>
        </p:nvSpPr>
        <p:spPr bwMode="auto">
          <a:xfrm>
            <a:off x="4046538" y="4095750"/>
            <a:ext cx="1295400" cy="122396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17" name="Rectangle 1045"/>
          <p:cNvSpPr>
            <a:spLocks noChangeArrowheads="1"/>
          </p:cNvSpPr>
          <p:nvPr/>
        </p:nvSpPr>
        <p:spPr bwMode="auto">
          <a:xfrm>
            <a:off x="4184650" y="4232275"/>
            <a:ext cx="1006475" cy="638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Shared</a:t>
            </a:r>
          </a:p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Memory</a:t>
            </a:r>
          </a:p>
        </p:txBody>
      </p:sp>
      <p:sp>
        <p:nvSpPr>
          <p:cNvPr id="29718" name="Rectangle 1046"/>
          <p:cNvSpPr>
            <a:spLocks noChangeArrowheads="1"/>
          </p:cNvSpPr>
          <p:nvPr/>
        </p:nvSpPr>
        <p:spPr bwMode="auto">
          <a:xfrm>
            <a:off x="4097338" y="2813050"/>
            <a:ext cx="1079500" cy="660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19" name="Rectangle 1047"/>
          <p:cNvSpPr>
            <a:spLocks noChangeArrowheads="1"/>
          </p:cNvSpPr>
          <p:nvPr/>
        </p:nvSpPr>
        <p:spPr bwMode="auto">
          <a:xfrm>
            <a:off x="4171950" y="2886075"/>
            <a:ext cx="917575" cy="638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Queue</a:t>
            </a:r>
          </a:p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Control</a:t>
            </a:r>
          </a:p>
        </p:txBody>
      </p:sp>
      <p:sp>
        <p:nvSpPr>
          <p:cNvPr id="29720" name="Rectangle 1048"/>
          <p:cNvSpPr>
            <a:spLocks noChangeArrowheads="1"/>
          </p:cNvSpPr>
          <p:nvPr/>
        </p:nvSpPr>
        <p:spPr bwMode="auto">
          <a:xfrm>
            <a:off x="2509838" y="2457450"/>
            <a:ext cx="533400" cy="558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21" name="Line 1049"/>
          <p:cNvSpPr>
            <a:spLocks noChangeShapeType="1"/>
          </p:cNvSpPr>
          <p:nvPr/>
        </p:nvSpPr>
        <p:spPr bwMode="auto">
          <a:xfrm>
            <a:off x="1874838" y="1911350"/>
            <a:ext cx="876300" cy="787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9722" name="Rectangle 1050"/>
          <p:cNvSpPr>
            <a:spLocks noChangeArrowheads="1"/>
          </p:cNvSpPr>
          <p:nvPr/>
        </p:nvSpPr>
        <p:spPr bwMode="auto">
          <a:xfrm>
            <a:off x="2509838" y="3003550"/>
            <a:ext cx="533400" cy="558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23" name="Rectangle 1051"/>
          <p:cNvSpPr>
            <a:spLocks noChangeArrowheads="1"/>
          </p:cNvSpPr>
          <p:nvPr/>
        </p:nvSpPr>
        <p:spPr bwMode="auto">
          <a:xfrm>
            <a:off x="2509838" y="3562350"/>
            <a:ext cx="533400" cy="558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24" name="Rectangle 1052"/>
          <p:cNvSpPr>
            <a:spLocks noChangeArrowheads="1"/>
          </p:cNvSpPr>
          <p:nvPr/>
        </p:nvSpPr>
        <p:spPr bwMode="auto">
          <a:xfrm>
            <a:off x="2509838" y="5060950"/>
            <a:ext cx="533400" cy="558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25" name="Rectangle 1053"/>
          <p:cNvSpPr>
            <a:spLocks noChangeArrowheads="1"/>
          </p:cNvSpPr>
          <p:nvPr/>
        </p:nvSpPr>
        <p:spPr bwMode="auto">
          <a:xfrm>
            <a:off x="1065213" y="1436688"/>
            <a:ext cx="1311275" cy="63817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Ingress </a:t>
            </a:r>
          </a:p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Processing</a:t>
            </a:r>
          </a:p>
        </p:txBody>
      </p:sp>
      <p:sp>
        <p:nvSpPr>
          <p:cNvPr id="29726" name="Line 1054"/>
          <p:cNvSpPr>
            <a:spLocks noChangeShapeType="1"/>
          </p:cNvSpPr>
          <p:nvPr/>
        </p:nvSpPr>
        <p:spPr bwMode="auto">
          <a:xfrm>
            <a:off x="3055938" y="2762250"/>
            <a:ext cx="965200" cy="1930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9727" name="Line 1055"/>
          <p:cNvSpPr>
            <a:spLocks noChangeShapeType="1"/>
          </p:cNvSpPr>
          <p:nvPr/>
        </p:nvSpPr>
        <p:spPr bwMode="auto">
          <a:xfrm>
            <a:off x="3081338" y="3270250"/>
            <a:ext cx="939800" cy="149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9728" name="Line 1056"/>
          <p:cNvSpPr>
            <a:spLocks noChangeShapeType="1"/>
          </p:cNvSpPr>
          <p:nvPr/>
        </p:nvSpPr>
        <p:spPr bwMode="auto">
          <a:xfrm>
            <a:off x="3055938" y="3867150"/>
            <a:ext cx="952500" cy="977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9729" name="Line 1057"/>
          <p:cNvSpPr>
            <a:spLocks noChangeShapeType="1"/>
          </p:cNvSpPr>
          <p:nvPr/>
        </p:nvSpPr>
        <p:spPr bwMode="auto">
          <a:xfrm flipV="1">
            <a:off x="3055938" y="4870450"/>
            <a:ext cx="952500" cy="673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9730" name="Oval 1058"/>
          <p:cNvSpPr>
            <a:spLocks noChangeArrowheads="1"/>
          </p:cNvSpPr>
          <p:nvPr/>
        </p:nvSpPr>
        <p:spPr bwMode="auto">
          <a:xfrm>
            <a:off x="3665538" y="4070350"/>
            <a:ext cx="177800" cy="12573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31" name="Line 1059"/>
          <p:cNvSpPr>
            <a:spLocks noChangeShapeType="1"/>
          </p:cNvSpPr>
          <p:nvPr/>
        </p:nvSpPr>
        <p:spPr bwMode="auto">
          <a:xfrm>
            <a:off x="3055938" y="2686050"/>
            <a:ext cx="10541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9732" name="Line 1060"/>
          <p:cNvSpPr>
            <a:spLocks noChangeShapeType="1"/>
          </p:cNvSpPr>
          <p:nvPr/>
        </p:nvSpPr>
        <p:spPr bwMode="auto">
          <a:xfrm flipV="1">
            <a:off x="3055938" y="3079750"/>
            <a:ext cx="1028700" cy="127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9733" name="Line 1061"/>
          <p:cNvSpPr>
            <a:spLocks noChangeShapeType="1"/>
          </p:cNvSpPr>
          <p:nvPr/>
        </p:nvSpPr>
        <p:spPr bwMode="auto">
          <a:xfrm flipV="1">
            <a:off x="3068638" y="3105150"/>
            <a:ext cx="1016000" cy="673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9734" name="Line 1062"/>
          <p:cNvSpPr>
            <a:spLocks noChangeShapeType="1"/>
          </p:cNvSpPr>
          <p:nvPr/>
        </p:nvSpPr>
        <p:spPr bwMode="auto">
          <a:xfrm flipV="1">
            <a:off x="3055938" y="3155950"/>
            <a:ext cx="1016000" cy="2286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9735" name="Oval 1063"/>
          <p:cNvSpPr>
            <a:spLocks noChangeArrowheads="1"/>
          </p:cNvSpPr>
          <p:nvPr/>
        </p:nvSpPr>
        <p:spPr bwMode="auto">
          <a:xfrm>
            <a:off x="3754438" y="2825750"/>
            <a:ext cx="228600" cy="9271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36" name="Line 1064"/>
          <p:cNvSpPr>
            <a:spLocks noChangeShapeType="1"/>
          </p:cNvSpPr>
          <p:nvPr/>
        </p:nvSpPr>
        <p:spPr bwMode="auto">
          <a:xfrm>
            <a:off x="4611688" y="3505200"/>
            <a:ext cx="12700" cy="5461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9737" name="Rectangle 1065"/>
          <p:cNvSpPr>
            <a:spLocks noChangeArrowheads="1"/>
          </p:cNvSpPr>
          <p:nvPr/>
        </p:nvSpPr>
        <p:spPr bwMode="auto">
          <a:xfrm>
            <a:off x="6192838" y="2457450"/>
            <a:ext cx="533400" cy="558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38" name="Rectangle 1066"/>
          <p:cNvSpPr>
            <a:spLocks noChangeArrowheads="1"/>
          </p:cNvSpPr>
          <p:nvPr/>
        </p:nvSpPr>
        <p:spPr bwMode="auto">
          <a:xfrm>
            <a:off x="6192838" y="3003550"/>
            <a:ext cx="533400" cy="558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39" name="Rectangle 1067"/>
          <p:cNvSpPr>
            <a:spLocks noChangeArrowheads="1"/>
          </p:cNvSpPr>
          <p:nvPr/>
        </p:nvSpPr>
        <p:spPr bwMode="auto">
          <a:xfrm>
            <a:off x="6192838" y="3562350"/>
            <a:ext cx="533400" cy="558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40" name="Rectangle 1068"/>
          <p:cNvSpPr>
            <a:spLocks noChangeArrowheads="1"/>
          </p:cNvSpPr>
          <p:nvPr/>
        </p:nvSpPr>
        <p:spPr bwMode="auto">
          <a:xfrm>
            <a:off x="6232525" y="5076825"/>
            <a:ext cx="533400" cy="558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41" name="Line 1069"/>
          <p:cNvSpPr>
            <a:spLocks noChangeShapeType="1"/>
          </p:cNvSpPr>
          <p:nvPr/>
        </p:nvSpPr>
        <p:spPr bwMode="auto">
          <a:xfrm flipV="1">
            <a:off x="5354638" y="2736850"/>
            <a:ext cx="825500" cy="187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9742" name="Line 1070"/>
          <p:cNvSpPr>
            <a:spLocks noChangeShapeType="1"/>
          </p:cNvSpPr>
          <p:nvPr/>
        </p:nvSpPr>
        <p:spPr bwMode="auto">
          <a:xfrm flipV="1">
            <a:off x="5367338" y="3282950"/>
            <a:ext cx="812800" cy="132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9743" name="Line 1071"/>
          <p:cNvSpPr>
            <a:spLocks noChangeShapeType="1"/>
          </p:cNvSpPr>
          <p:nvPr/>
        </p:nvSpPr>
        <p:spPr bwMode="auto">
          <a:xfrm flipV="1">
            <a:off x="5354638" y="3829050"/>
            <a:ext cx="825500" cy="787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9744" name="Line 1072"/>
          <p:cNvSpPr>
            <a:spLocks noChangeShapeType="1"/>
          </p:cNvSpPr>
          <p:nvPr/>
        </p:nvSpPr>
        <p:spPr bwMode="auto">
          <a:xfrm>
            <a:off x="5354638" y="4616450"/>
            <a:ext cx="82550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9745" name="Oval 1073"/>
          <p:cNvSpPr>
            <a:spLocks noChangeArrowheads="1"/>
          </p:cNvSpPr>
          <p:nvPr/>
        </p:nvSpPr>
        <p:spPr bwMode="auto">
          <a:xfrm>
            <a:off x="5634038" y="3727450"/>
            <a:ext cx="127000" cy="14351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46" name="Line 1075"/>
          <p:cNvSpPr>
            <a:spLocks noChangeShapeType="1"/>
          </p:cNvSpPr>
          <p:nvPr/>
        </p:nvSpPr>
        <p:spPr bwMode="auto">
          <a:xfrm flipH="1">
            <a:off x="6434138" y="1606550"/>
            <a:ext cx="106680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9747" name="Rectangle 1076"/>
          <p:cNvSpPr>
            <a:spLocks noChangeArrowheads="1"/>
          </p:cNvSpPr>
          <p:nvPr/>
        </p:nvSpPr>
        <p:spPr bwMode="auto">
          <a:xfrm>
            <a:off x="3944938" y="1847850"/>
            <a:ext cx="1333500" cy="736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48" name="Rectangle 1077"/>
          <p:cNvSpPr>
            <a:spLocks noChangeArrowheads="1"/>
          </p:cNvSpPr>
          <p:nvPr/>
        </p:nvSpPr>
        <p:spPr bwMode="auto">
          <a:xfrm>
            <a:off x="3949700" y="1882775"/>
            <a:ext cx="1336675" cy="638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Connection</a:t>
            </a:r>
          </a:p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Control</a:t>
            </a:r>
          </a:p>
        </p:txBody>
      </p:sp>
      <p:sp>
        <p:nvSpPr>
          <p:cNvPr id="29749" name="Rectangle 1082"/>
          <p:cNvSpPr>
            <a:spLocks noChangeArrowheads="1"/>
          </p:cNvSpPr>
          <p:nvPr/>
        </p:nvSpPr>
        <p:spPr bwMode="auto">
          <a:xfrm rot="-5400000">
            <a:off x="6977063" y="4441825"/>
            <a:ext cx="485775" cy="454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2400"/>
              <a:t>…</a:t>
            </a:r>
          </a:p>
        </p:txBody>
      </p:sp>
      <p:sp>
        <p:nvSpPr>
          <p:cNvPr id="29750" name="Rectangle 108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Shared Memory Packet Switch</a:t>
            </a:r>
          </a:p>
        </p:txBody>
      </p:sp>
      <p:sp>
        <p:nvSpPr>
          <p:cNvPr id="29751" name="Rectangle 1074"/>
          <p:cNvSpPr>
            <a:spLocks noChangeArrowheads="1"/>
          </p:cNvSpPr>
          <p:nvPr/>
        </p:nvSpPr>
        <p:spPr bwMode="auto">
          <a:xfrm>
            <a:off x="6869113" y="1416050"/>
            <a:ext cx="1158875" cy="638175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Output</a:t>
            </a:r>
          </a:p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 Buffering</a:t>
            </a:r>
          </a:p>
        </p:txBody>
      </p:sp>
      <p:sp>
        <p:nvSpPr>
          <p:cNvPr id="29752" name="Text Box 1084"/>
          <p:cNvSpPr txBox="1">
            <a:spLocks noChangeArrowheads="1"/>
          </p:cNvSpPr>
          <p:nvPr/>
        </p:nvSpPr>
        <p:spPr bwMode="auto">
          <a:xfrm>
            <a:off x="800100" y="6157913"/>
            <a:ext cx="7605713" cy="3968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/>
              <a:t>Small switches can be built by reading/writing into shared memory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027"/>
          <p:cNvSpPr>
            <a:spLocks noChangeArrowheads="1"/>
          </p:cNvSpPr>
          <p:nvPr/>
        </p:nvSpPr>
        <p:spPr bwMode="auto">
          <a:xfrm>
            <a:off x="1552575" y="2489200"/>
            <a:ext cx="368300" cy="2032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3" name="Rectangle 1028"/>
          <p:cNvSpPr>
            <a:spLocks noChangeArrowheads="1"/>
          </p:cNvSpPr>
          <p:nvPr/>
        </p:nvSpPr>
        <p:spPr bwMode="auto">
          <a:xfrm>
            <a:off x="1527175" y="1828800"/>
            <a:ext cx="393700" cy="2032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4" name="Rectangle 1029"/>
          <p:cNvSpPr>
            <a:spLocks noChangeArrowheads="1"/>
          </p:cNvSpPr>
          <p:nvPr/>
        </p:nvSpPr>
        <p:spPr bwMode="auto">
          <a:xfrm>
            <a:off x="1552575" y="3467100"/>
            <a:ext cx="368300" cy="2032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5" name="Line 1030"/>
          <p:cNvSpPr>
            <a:spLocks noChangeShapeType="1"/>
          </p:cNvSpPr>
          <p:nvPr/>
        </p:nvSpPr>
        <p:spPr bwMode="auto">
          <a:xfrm>
            <a:off x="2085975" y="1960563"/>
            <a:ext cx="1679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30726" name="Line 1031"/>
          <p:cNvSpPr>
            <a:spLocks noChangeShapeType="1"/>
          </p:cNvSpPr>
          <p:nvPr/>
        </p:nvSpPr>
        <p:spPr bwMode="auto">
          <a:xfrm>
            <a:off x="2085975" y="2300288"/>
            <a:ext cx="1679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30727" name="Line 1032"/>
          <p:cNvSpPr>
            <a:spLocks noChangeShapeType="1"/>
          </p:cNvSpPr>
          <p:nvPr/>
        </p:nvSpPr>
        <p:spPr bwMode="auto">
          <a:xfrm>
            <a:off x="2085975" y="2641600"/>
            <a:ext cx="1679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30728" name="Line 1033"/>
          <p:cNvSpPr>
            <a:spLocks noChangeShapeType="1"/>
          </p:cNvSpPr>
          <p:nvPr/>
        </p:nvSpPr>
        <p:spPr bwMode="auto">
          <a:xfrm>
            <a:off x="2085975" y="3552825"/>
            <a:ext cx="1679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grpSp>
        <p:nvGrpSpPr>
          <p:cNvPr id="30729" name="Group 1034"/>
          <p:cNvGrpSpPr>
            <a:grpSpLocks/>
          </p:cNvGrpSpPr>
          <p:nvPr/>
        </p:nvGrpSpPr>
        <p:grpSpPr bwMode="auto">
          <a:xfrm>
            <a:off x="1560513" y="2482850"/>
            <a:ext cx="366712" cy="219075"/>
            <a:chOff x="660" y="840"/>
            <a:chExt cx="198" cy="108"/>
          </a:xfrm>
        </p:grpSpPr>
        <p:sp>
          <p:nvSpPr>
            <p:cNvPr id="30813" name="Freeform 1035"/>
            <p:cNvSpPr>
              <a:spLocks/>
            </p:cNvSpPr>
            <p:nvPr/>
          </p:nvSpPr>
          <p:spPr bwMode="auto">
            <a:xfrm>
              <a:off x="660" y="840"/>
              <a:ext cx="198" cy="108"/>
            </a:xfrm>
            <a:custGeom>
              <a:avLst/>
              <a:gdLst>
                <a:gd name="T0" fmla="*/ 0 w 198"/>
                <a:gd name="T1" fmla="*/ 0 h 108"/>
                <a:gd name="T2" fmla="*/ 198 w 198"/>
                <a:gd name="T3" fmla="*/ 0 h 108"/>
                <a:gd name="T4" fmla="*/ 198 w 198"/>
                <a:gd name="T5" fmla="*/ 108 h 108"/>
                <a:gd name="T6" fmla="*/ 0 w 198"/>
                <a:gd name="T7" fmla="*/ 108 h 1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8"/>
                <a:gd name="T13" fmla="*/ 0 h 108"/>
                <a:gd name="T14" fmla="*/ 198 w 198"/>
                <a:gd name="T15" fmla="*/ 108 h 1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8" h="108">
                  <a:moveTo>
                    <a:pt x="0" y="0"/>
                  </a:moveTo>
                  <a:lnTo>
                    <a:pt x="198" y="0"/>
                  </a:lnTo>
                  <a:lnTo>
                    <a:pt x="198" y="108"/>
                  </a:lnTo>
                  <a:lnTo>
                    <a:pt x="0" y="10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14" name="Line 1036"/>
            <p:cNvSpPr>
              <a:spLocks noChangeShapeType="1"/>
            </p:cNvSpPr>
            <p:nvPr/>
          </p:nvSpPr>
          <p:spPr bwMode="auto">
            <a:xfrm>
              <a:off x="810" y="864"/>
              <a:ext cx="0" cy="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15" name="Line 1037"/>
            <p:cNvSpPr>
              <a:spLocks noChangeShapeType="1"/>
            </p:cNvSpPr>
            <p:nvPr/>
          </p:nvSpPr>
          <p:spPr bwMode="auto">
            <a:xfrm>
              <a:off x="762" y="864"/>
              <a:ext cx="0" cy="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30730" name="Group 1038"/>
          <p:cNvGrpSpPr>
            <a:grpSpLocks/>
          </p:cNvGrpSpPr>
          <p:nvPr/>
        </p:nvGrpSpPr>
        <p:grpSpPr bwMode="auto">
          <a:xfrm>
            <a:off x="1560513" y="3455988"/>
            <a:ext cx="366712" cy="219075"/>
            <a:chOff x="660" y="840"/>
            <a:chExt cx="198" cy="108"/>
          </a:xfrm>
        </p:grpSpPr>
        <p:sp>
          <p:nvSpPr>
            <p:cNvPr id="30810" name="Freeform 1039"/>
            <p:cNvSpPr>
              <a:spLocks/>
            </p:cNvSpPr>
            <p:nvPr/>
          </p:nvSpPr>
          <p:spPr bwMode="auto">
            <a:xfrm>
              <a:off x="660" y="840"/>
              <a:ext cx="198" cy="108"/>
            </a:xfrm>
            <a:custGeom>
              <a:avLst/>
              <a:gdLst>
                <a:gd name="T0" fmla="*/ 0 w 198"/>
                <a:gd name="T1" fmla="*/ 0 h 108"/>
                <a:gd name="T2" fmla="*/ 198 w 198"/>
                <a:gd name="T3" fmla="*/ 0 h 108"/>
                <a:gd name="T4" fmla="*/ 198 w 198"/>
                <a:gd name="T5" fmla="*/ 108 h 108"/>
                <a:gd name="T6" fmla="*/ 0 w 198"/>
                <a:gd name="T7" fmla="*/ 108 h 1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8"/>
                <a:gd name="T13" fmla="*/ 0 h 108"/>
                <a:gd name="T14" fmla="*/ 198 w 198"/>
                <a:gd name="T15" fmla="*/ 108 h 1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8" h="108">
                  <a:moveTo>
                    <a:pt x="0" y="0"/>
                  </a:moveTo>
                  <a:lnTo>
                    <a:pt x="198" y="0"/>
                  </a:lnTo>
                  <a:lnTo>
                    <a:pt x="198" y="108"/>
                  </a:lnTo>
                  <a:lnTo>
                    <a:pt x="0" y="10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11" name="Line 1040"/>
            <p:cNvSpPr>
              <a:spLocks noChangeShapeType="1"/>
            </p:cNvSpPr>
            <p:nvPr/>
          </p:nvSpPr>
          <p:spPr bwMode="auto">
            <a:xfrm>
              <a:off x="810" y="864"/>
              <a:ext cx="0" cy="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12" name="Line 1041"/>
            <p:cNvSpPr>
              <a:spLocks noChangeShapeType="1"/>
            </p:cNvSpPr>
            <p:nvPr/>
          </p:nvSpPr>
          <p:spPr bwMode="auto">
            <a:xfrm>
              <a:off x="762" y="864"/>
              <a:ext cx="0" cy="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30731" name="Line 1042"/>
          <p:cNvSpPr>
            <a:spLocks noChangeShapeType="1"/>
          </p:cNvSpPr>
          <p:nvPr/>
        </p:nvSpPr>
        <p:spPr bwMode="auto">
          <a:xfrm rot="5400000">
            <a:off x="824707" y="3391694"/>
            <a:ext cx="285115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30732" name="Line 1043"/>
          <p:cNvSpPr>
            <a:spLocks noChangeShapeType="1"/>
          </p:cNvSpPr>
          <p:nvPr/>
        </p:nvSpPr>
        <p:spPr bwMode="auto">
          <a:xfrm rot="5400000">
            <a:off x="1134269" y="3391694"/>
            <a:ext cx="285115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30733" name="Line 1044"/>
          <p:cNvSpPr>
            <a:spLocks noChangeShapeType="1"/>
          </p:cNvSpPr>
          <p:nvPr/>
        </p:nvSpPr>
        <p:spPr bwMode="auto">
          <a:xfrm rot="5400000">
            <a:off x="1443038" y="3387725"/>
            <a:ext cx="285273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30734" name="Line 1045"/>
          <p:cNvSpPr>
            <a:spLocks noChangeShapeType="1"/>
          </p:cNvSpPr>
          <p:nvPr/>
        </p:nvSpPr>
        <p:spPr bwMode="auto">
          <a:xfrm rot="16200000" flipH="1">
            <a:off x="2344738" y="3382962"/>
            <a:ext cx="2852738" cy="11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30735" name="Text Box 1046"/>
          <p:cNvSpPr txBox="1">
            <a:spLocks noChangeArrowheads="1"/>
          </p:cNvSpPr>
          <p:nvPr/>
        </p:nvSpPr>
        <p:spPr bwMode="auto">
          <a:xfrm>
            <a:off x="600075" y="1793875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400"/>
              <a:t>1</a:t>
            </a:r>
          </a:p>
        </p:txBody>
      </p:sp>
      <p:sp>
        <p:nvSpPr>
          <p:cNvPr id="30736" name="Text Box 1047"/>
          <p:cNvSpPr txBox="1">
            <a:spLocks noChangeArrowheads="1"/>
          </p:cNvSpPr>
          <p:nvPr/>
        </p:nvSpPr>
        <p:spPr bwMode="auto">
          <a:xfrm>
            <a:off x="600075" y="214630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400"/>
              <a:t>2</a:t>
            </a:r>
          </a:p>
        </p:txBody>
      </p:sp>
      <p:sp>
        <p:nvSpPr>
          <p:cNvPr id="30737" name="Text Box 1048"/>
          <p:cNvSpPr txBox="1">
            <a:spLocks noChangeArrowheads="1"/>
          </p:cNvSpPr>
          <p:nvPr/>
        </p:nvSpPr>
        <p:spPr bwMode="auto">
          <a:xfrm>
            <a:off x="600075" y="2474913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400"/>
              <a:t>3</a:t>
            </a:r>
          </a:p>
        </p:txBody>
      </p:sp>
      <p:sp>
        <p:nvSpPr>
          <p:cNvPr id="30738" name="Text Box 1049"/>
          <p:cNvSpPr txBox="1">
            <a:spLocks noChangeArrowheads="1"/>
          </p:cNvSpPr>
          <p:nvPr/>
        </p:nvSpPr>
        <p:spPr bwMode="auto">
          <a:xfrm>
            <a:off x="585788" y="3386138"/>
            <a:ext cx="3127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400" i="1"/>
              <a:t>N</a:t>
            </a:r>
          </a:p>
        </p:txBody>
      </p:sp>
      <p:sp>
        <p:nvSpPr>
          <p:cNvPr id="30739" name="Text Box 1050"/>
          <p:cNvSpPr txBox="1">
            <a:spLocks noChangeArrowheads="1"/>
          </p:cNvSpPr>
          <p:nvPr/>
        </p:nvSpPr>
        <p:spPr bwMode="auto">
          <a:xfrm>
            <a:off x="2132013" y="4822825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400"/>
              <a:t>1</a:t>
            </a:r>
          </a:p>
        </p:txBody>
      </p:sp>
      <p:sp>
        <p:nvSpPr>
          <p:cNvPr id="30740" name="Text Box 1051"/>
          <p:cNvSpPr txBox="1">
            <a:spLocks noChangeArrowheads="1"/>
          </p:cNvSpPr>
          <p:nvPr/>
        </p:nvSpPr>
        <p:spPr bwMode="auto">
          <a:xfrm>
            <a:off x="2428875" y="4822825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400"/>
              <a:t>2</a:t>
            </a:r>
          </a:p>
        </p:txBody>
      </p:sp>
      <p:sp>
        <p:nvSpPr>
          <p:cNvPr id="30741" name="Text Box 1052"/>
          <p:cNvSpPr txBox="1">
            <a:spLocks noChangeArrowheads="1"/>
          </p:cNvSpPr>
          <p:nvPr/>
        </p:nvSpPr>
        <p:spPr bwMode="auto">
          <a:xfrm>
            <a:off x="2762250" y="4822825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400"/>
              <a:t>3</a:t>
            </a:r>
          </a:p>
        </p:txBody>
      </p:sp>
      <p:sp>
        <p:nvSpPr>
          <p:cNvPr id="30742" name="Text Box 1053"/>
          <p:cNvSpPr txBox="1">
            <a:spLocks noChangeArrowheads="1"/>
          </p:cNvSpPr>
          <p:nvPr/>
        </p:nvSpPr>
        <p:spPr bwMode="auto">
          <a:xfrm>
            <a:off x="3651250" y="4822825"/>
            <a:ext cx="3127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400" i="1"/>
              <a:t>N</a:t>
            </a:r>
          </a:p>
        </p:txBody>
      </p:sp>
      <p:sp>
        <p:nvSpPr>
          <p:cNvPr id="30743" name="Text Box 1054"/>
          <p:cNvSpPr txBox="1">
            <a:spLocks noChangeArrowheads="1"/>
          </p:cNvSpPr>
          <p:nvPr/>
        </p:nvSpPr>
        <p:spPr bwMode="auto">
          <a:xfrm>
            <a:off x="509588" y="1503363"/>
            <a:ext cx="6667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400"/>
              <a:t>Inputs</a:t>
            </a:r>
          </a:p>
        </p:txBody>
      </p:sp>
      <p:sp>
        <p:nvSpPr>
          <p:cNvPr id="30744" name="Text Box 1055"/>
          <p:cNvSpPr txBox="1">
            <a:spLocks noChangeArrowheads="1"/>
          </p:cNvSpPr>
          <p:nvPr/>
        </p:nvSpPr>
        <p:spPr bwMode="auto">
          <a:xfrm>
            <a:off x="2444750" y="5059363"/>
            <a:ext cx="8048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400"/>
              <a:t>Outputs</a:t>
            </a:r>
          </a:p>
        </p:txBody>
      </p:sp>
      <p:sp>
        <p:nvSpPr>
          <p:cNvPr id="30745" name="Line 1056"/>
          <p:cNvSpPr>
            <a:spLocks noChangeShapeType="1"/>
          </p:cNvSpPr>
          <p:nvPr/>
        </p:nvSpPr>
        <p:spPr bwMode="auto">
          <a:xfrm>
            <a:off x="836613" y="1960563"/>
            <a:ext cx="298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30746" name="Line 1057"/>
          <p:cNvSpPr>
            <a:spLocks noChangeShapeType="1"/>
          </p:cNvSpPr>
          <p:nvPr/>
        </p:nvSpPr>
        <p:spPr bwMode="auto">
          <a:xfrm>
            <a:off x="836613" y="2312988"/>
            <a:ext cx="298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30747" name="Line 1058"/>
          <p:cNvSpPr>
            <a:spLocks noChangeShapeType="1"/>
          </p:cNvSpPr>
          <p:nvPr/>
        </p:nvSpPr>
        <p:spPr bwMode="auto">
          <a:xfrm>
            <a:off x="836613" y="2641600"/>
            <a:ext cx="298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30748" name="Line 1059"/>
          <p:cNvSpPr>
            <a:spLocks noChangeShapeType="1"/>
          </p:cNvSpPr>
          <p:nvPr/>
        </p:nvSpPr>
        <p:spPr bwMode="auto">
          <a:xfrm>
            <a:off x="836613" y="3552825"/>
            <a:ext cx="298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30749" name="Text Box 1060"/>
          <p:cNvSpPr txBox="1">
            <a:spLocks noChangeArrowheads="1"/>
          </p:cNvSpPr>
          <p:nvPr/>
        </p:nvSpPr>
        <p:spPr bwMode="auto">
          <a:xfrm>
            <a:off x="1828800" y="1260475"/>
            <a:ext cx="15811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400"/>
              <a:t>(a) Input buffering</a:t>
            </a:r>
          </a:p>
        </p:txBody>
      </p:sp>
      <p:sp>
        <p:nvSpPr>
          <p:cNvPr id="30750" name="Rectangle 1061"/>
          <p:cNvSpPr>
            <a:spLocks noChangeArrowheads="1"/>
          </p:cNvSpPr>
          <p:nvPr/>
        </p:nvSpPr>
        <p:spPr bwMode="auto">
          <a:xfrm>
            <a:off x="1552575" y="2197100"/>
            <a:ext cx="368300" cy="2032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51" name="Freeform 1062"/>
          <p:cNvSpPr>
            <a:spLocks/>
          </p:cNvSpPr>
          <p:nvPr/>
        </p:nvSpPr>
        <p:spPr bwMode="auto">
          <a:xfrm>
            <a:off x="1562100" y="2184400"/>
            <a:ext cx="365125" cy="220663"/>
          </a:xfrm>
          <a:custGeom>
            <a:avLst/>
            <a:gdLst>
              <a:gd name="T0" fmla="*/ 0 w 198"/>
              <a:gd name="T1" fmla="*/ 0 h 108"/>
              <a:gd name="T2" fmla="*/ 2147483647 w 198"/>
              <a:gd name="T3" fmla="*/ 0 h 108"/>
              <a:gd name="T4" fmla="*/ 2147483647 w 198"/>
              <a:gd name="T5" fmla="*/ 2147483647 h 108"/>
              <a:gd name="T6" fmla="*/ 0 w 198"/>
              <a:gd name="T7" fmla="*/ 2147483647 h 108"/>
              <a:gd name="T8" fmla="*/ 0 60000 65536"/>
              <a:gd name="T9" fmla="*/ 0 60000 65536"/>
              <a:gd name="T10" fmla="*/ 0 60000 65536"/>
              <a:gd name="T11" fmla="*/ 0 60000 65536"/>
              <a:gd name="T12" fmla="*/ 0 w 198"/>
              <a:gd name="T13" fmla="*/ 0 h 108"/>
              <a:gd name="T14" fmla="*/ 198 w 198"/>
              <a:gd name="T15" fmla="*/ 108 h 1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8" h="108">
                <a:moveTo>
                  <a:pt x="0" y="0"/>
                </a:moveTo>
                <a:lnTo>
                  <a:pt x="198" y="0"/>
                </a:lnTo>
                <a:lnTo>
                  <a:pt x="198" y="108"/>
                </a:lnTo>
                <a:lnTo>
                  <a:pt x="0" y="10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52" name="Line 1063"/>
          <p:cNvSpPr>
            <a:spLocks noChangeShapeType="1"/>
          </p:cNvSpPr>
          <p:nvPr/>
        </p:nvSpPr>
        <p:spPr bwMode="auto">
          <a:xfrm>
            <a:off x="1779588" y="2184400"/>
            <a:ext cx="0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30753" name="Text Box 1064"/>
          <p:cNvSpPr txBox="1">
            <a:spLocks noChangeArrowheads="1"/>
          </p:cNvSpPr>
          <p:nvPr/>
        </p:nvSpPr>
        <p:spPr bwMode="auto">
          <a:xfrm>
            <a:off x="1701800" y="2138363"/>
            <a:ext cx="2968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600"/>
              <a:t>3</a:t>
            </a:r>
          </a:p>
        </p:txBody>
      </p:sp>
      <p:sp>
        <p:nvSpPr>
          <p:cNvPr id="30754" name="Line 1065"/>
          <p:cNvSpPr>
            <a:spLocks noChangeShapeType="1"/>
          </p:cNvSpPr>
          <p:nvPr/>
        </p:nvSpPr>
        <p:spPr bwMode="auto">
          <a:xfrm>
            <a:off x="1617663" y="2201863"/>
            <a:ext cx="0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30755" name="Text Box 1066"/>
          <p:cNvSpPr txBox="1">
            <a:spLocks noChangeArrowheads="1"/>
          </p:cNvSpPr>
          <p:nvPr/>
        </p:nvSpPr>
        <p:spPr bwMode="auto">
          <a:xfrm>
            <a:off x="1539875" y="2138363"/>
            <a:ext cx="2968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600"/>
              <a:t>8</a:t>
            </a:r>
          </a:p>
        </p:txBody>
      </p:sp>
      <p:sp>
        <p:nvSpPr>
          <p:cNvPr id="30756" name="Freeform 1067"/>
          <p:cNvSpPr>
            <a:spLocks/>
          </p:cNvSpPr>
          <p:nvPr/>
        </p:nvSpPr>
        <p:spPr bwMode="auto">
          <a:xfrm>
            <a:off x="1484313" y="1817688"/>
            <a:ext cx="442912" cy="220662"/>
          </a:xfrm>
          <a:custGeom>
            <a:avLst/>
            <a:gdLst>
              <a:gd name="T0" fmla="*/ 0 w 198"/>
              <a:gd name="T1" fmla="*/ 0 h 108"/>
              <a:gd name="T2" fmla="*/ 2147483647 w 198"/>
              <a:gd name="T3" fmla="*/ 0 h 108"/>
              <a:gd name="T4" fmla="*/ 2147483647 w 198"/>
              <a:gd name="T5" fmla="*/ 2147483647 h 108"/>
              <a:gd name="T6" fmla="*/ 0 w 198"/>
              <a:gd name="T7" fmla="*/ 2147483647 h 108"/>
              <a:gd name="T8" fmla="*/ 0 60000 65536"/>
              <a:gd name="T9" fmla="*/ 0 60000 65536"/>
              <a:gd name="T10" fmla="*/ 0 60000 65536"/>
              <a:gd name="T11" fmla="*/ 0 60000 65536"/>
              <a:gd name="T12" fmla="*/ 0 w 198"/>
              <a:gd name="T13" fmla="*/ 0 h 108"/>
              <a:gd name="T14" fmla="*/ 198 w 198"/>
              <a:gd name="T15" fmla="*/ 108 h 1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8" h="108">
                <a:moveTo>
                  <a:pt x="0" y="0"/>
                </a:moveTo>
                <a:lnTo>
                  <a:pt x="198" y="0"/>
                </a:lnTo>
                <a:lnTo>
                  <a:pt x="198" y="108"/>
                </a:lnTo>
                <a:lnTo>
                  <a:pt x="0" y="10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57" name="Line 1068"/>
          <p:cNvSpPr>
            <a:spLocks noChangeShapeType="1"/>
          </p:cNvSpPr>
          <p:nvPr/>
        </p:nvSpPr>
        <p:spPr bwMode="auto">
          <a:xfrm>
            <a:off x="1749425" y="1817688"/>
            <a:ext cx="0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30758" name="Text Box 1069"/>
          <p:cNvSpPr txBox="1">
            <a:spLocks noChangeArrowheads="1"/>
          </p:cNvSpPr>
          <p:nvPr/>
        </p:nvSpPr>
        <p:spPr bwMode="auto">
          <a:xfrm>
            <a:off x="1685925" y="1771650"/>
            <a:ext cx="2984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600"/>
              <a:t>3</a:t>
            </a:r>
          </a:p>
        </p:txBody>
      </p:sp>
      <p:sp>
        <p:nvSpPr>
          <p:cNvPr id="30759" name="Line 1070"/>
          <p:cNvSpPr>
            <a:spLocks noChangeShapeType="1"/>
          </p:cNvSpPr>
          <p:nvPr/>
        </p:nvSpPr>
        <p:spPr bwMode="auto">
          <a:xfrm>
            <a:off x="1622425" y="1835150"/>
            <a:ext cx="0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30760" name="Text Box 1071"/>
          <p:cNvSpPr txBox="1">
            <a:spLocks noChangeArrowheads="1"/>
          </p:cNvSpPr>
          <p:nvPr/>
        </p:nvSpPr>
        <p:spPr bwMode="auto">
          <a:xfrm rot="-5400000">
            <a:off x="1479550" y="2857500"/>
            <a:ext cx="482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  <a:buSzTx/>
              <a:buFontTx/>
              <a:buNone/>
            </a:pPr>
            <a:r>
              <a:rPr lang="en-US" sz="2400"/>
              <a:t>…</a:t>
            </a:r>
          </a:p>
        </p:txBody>
      </p:sp>
      <p:sp>
        <p:nvSpPr>
          <p:cNvPr id="30761" name="Text Box 1072"/>
          <p:cNvSpPr txBox="1">
            <a:spLocks noChangeArrowheads="1"/>
          </p:cNvSpPr>
          <p:nvPr/>
        </p:nvSpPr>
        <p:spPr bwMode="auto">
          <a:xfrm>
            <a:off x="3076575" y="3992563"/>
            <a:ext cx="482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  <a:buSzTx/>
              <a:buFontTx/>
              <a:buNone/>
            </a:pPr>
            <a:r>
              <a:rPr lang="en-US" sz="2400"/>
              <a:t>…</a:t>
            </a:r>
          </a:p>
        </p:txBody>
      </p:sp>
      <p:sp>
        <p:nvSpPr>
          <p:cNvPr id="30762" name="Rectangle 1074"/>
          <p:cNvSpPr>
            <a:spLocks noChangeArrowheads="1"/>
          </p:cNvSpPr>
          <p:nvPr/>
        </p:nvSpPr>
        <p:spPr bwMode="auto">
          <a:xfrm rot="5400000">
            <a:off x="6130925" y="4184650"/>
            <a:ext cx="368300" cy="1778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63" name="Rectangle 1075"/>
          <p:cNvSpPr>
            <a:spLocks noChangeArrowheads="1"/>
          </p:cNvSpPr>
          <p:nvPr/>
        </p:nvSpPr>
        <p:spPr bwMode="auto">
          <a:xfrm rot="5400000">
            <a:off x="6448425" y="4184650"/>
            <a:ext cx="368300" cy="1905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64" name="Rectangle 1076"/>
          <p:cNvSpPr>
            <a:spLocks noChangeArrowheads="1"/>
          </p:cNvSpPr>
          <p:nvPr/>
        </p:nvSpPr>
        <p:spPr bwMode="auto">
          <a:xfrm rot="5400000">
            <a:off x="7337425" y="4184650"/>
            <a:ext cx="368300" cy="1778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65" name="Rectangle 1077"/>
          <p:cNvSpPr>
            <a:spLocks noChangeArrowheads="1"/>
          </p:cNvSpPr>
          <p:nvPr/>
        </p:nvSpPr>
        <p:spPr bwMode="auto">
          <a:xfrm rot="5400000">
            <a:off x="5826125" y="4184650"/>
            <a:ext cx="368300" cy="1905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0766" name="Group 1078"/>
          <p:cNvGrpSpPr>
            <a:grpSpLocks/>
          </p:cNvGrpSpPr>
          <p:nvPr/>
        </p:nvGrpSpPr>
        <p:grpSpPr bwMode="auto">
          <a:xfrm>
            <a:off x="5168900" y="1936750"/>
            <a:ext cx="2344738" cy="1590675"/>
            <a:chOff x="3384" y="894"/>
            <a:chExt cx="1056" cy="786"/>
          </a:xfrm>
        </p:grpSpPr>
        <p:sp>
          <p:nvSpPr>
            <p:cNvPr id="30806" name="Line 1079"/>
            <p:cNvSpPr>
              <a:spLocks noChangeShapeType="1"/>
            </p:cNvSpPr>
            <p:nvPr/>
          </p:nvSpPr>
          <p:spPr bwMode="auto">
            <a:xfrm>
              <a:off x="3384" y="89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07" name="Line 1080"/>
            <p:cNvSpPr>
              <a:spLocks noChangeShapeType="1"/>
            </p:cNvSpPr>
            <p:nvPr/>
          </p:nvSpPr>
          <p:spPr bwMode="auto">
            <a:xfrm>
              <a:off x="3384" y="1062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08" name="Line 1081"/>
            <p:cNvSpPr>
              <a:spLocks noChangeShapeType="1"/>
            </p:cNvSpPr>
            <p:nvPr/>
          </p:nvSpPr>
          <p:spPr bwMode="auto">
            <a:xfrm>
              <a:off x="3384" y="1230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09" name="Line 1082"/>
            <p:cNvSpPr>
              <a:spLocks noChangeShapeType="1"/>
            </p:cNvSpPr>
            <p:nvPr/>
          </p:nvSpPr>
          <p:spPr bwMode="auto">
            <a:xfrm>
              <a:off x="3384" y="1680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30767" name="Line 1083"/>
          <p:cNvSpPr>
            <a:spLocks noChangeShapeType="1"/>
          </p:cNvSpPr>
          <p:nvPr/>
        </p:nvSpPr>
        <p:spPr bwMode="auto">
          <a:xfrm rot="5400000">
            <a:off x="4926807" y="3018631"/>
            <a:ext cx="213995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30768" name="Line 1084"/>
          <p:cNvSpPr>
            <a:spLocks noChangeShapeType="1"/>
          </p:cNvSpPr>
          <p:nvPr/>
        </p:nvSpPr>
        <p:spPr bwMode="auto">
          <a:xfrm rot="5400000">
            <a:off x="5237163" y="3017837"/>
            <a:ext cx="2139950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30769" name="Line 1085"/>
          <p:cNvSpPr>
            <a:spLocks noChangeShapeType="1"/>
          </p:cNvSpPr>
          <p:nvPr/>
        </p:nvSpPr>
        <p:spPr bwMode="auto">
          <a:xfrm rot="5400000">
            <a:off x="5548313" y="3006725"/>
            <a:ext cx="2138362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30770" name="Line 1086"/>
          <p:cNvSpPr>
            <a:spLocks noChangeShapeType="1"/>
          </p:cNvSpPr>
          <p:nvPr/>
        </p:nvSpPr>
        <p:spPr bwMode="auto">
          <a:xfrm rot="5400000">
            <a:off x="6443663" y="3006725"/>
            <a:ext cx="2138362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30771" name="Text Box 1087"/>
          <p:cNvSpPr txBox="1">
            <a:spLocks noChangeArrowheads="1"/>
          </p:cNvSpPr>
          <p:nvPr/>
        </p:nvSpPr>
        <p:spPr bwMode="auto">
          <a:xfrm>
            <a:off x="4881563" y="1771650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400"/>
              <a:t>1</a:t>
            </a:r>
          </a:p>
        </p:txBody>
      </p:sp>
      <p:sp>
        <p:nvSpPr>
          <p:cNvPr id="30772" name="Text Box 1088"/>
          <p:cNvSpPr txBox="1">
            <a:spLocks noChangeArrowheads="1"/>
          </p:cNvSpPr>
          <p:nvPr/>
        </p:nvSpPr>
        <p:spPr bwMode="auto">
          <a:xfrm>
            <a:off x="4881563" y="2124075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400"/>
              <a:t>2</a:t>
            </a:r>
          </a:p>
        </p:txBody>
      </p:sp>
      <p:sp>
        <p:nvSpPr>
          <p:cNvPr id="30773" name="Text Box 1089"/>
          <p:cNvSpPr txBox="1">
            <a:spLocks noChangeArrowheads="1"/>
          </p:cNvSpPr>
          <p:nvPr/>
        </p:nvSpPr>
        <p:spPr bwMode="auto">
          <a:xfrm>
            <a:off x="4881563" y="2452688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400"/>
              <a:t>3</a:t>
            </a:r>
          </a:p>
        </p:txBody>
      </p:sp>
      <p:sp>
        <p:nvSpPr>
          <p:cNvPr id="30774" name="Text Box 1090"/>
          <p:cNvSpPr txBox="1">
            <a:spLocks noChangeArrowheads="1"/>
          </p:cNvSpPr>
          <p:nvPr/>
        </p:nvSpPr>
        <p:spPr bwMode="auto">
          <a:xfrm>
            <a:off x="4865688" y="3363913"/>
            <a:ext cx="3127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400" i="1"/>
              <a:t>N</a:t>
            </a:r>
          </a:p>
        </p:txBody>
      </p:sp>
      <p:sp>
        <p:nvSpPr>
          <p:cNvPr id="30775" name="Text Box 1091"/>
          <p:cNvSpPr txBox="1">
            <a:spLocks noChangeArrowheads="1"/>
          </p:cNvSpPr>
          <p:nvPr/>
        </p:nvSpPr>
        <p:spPr bwMode="auto">
          <a:xfrm>
            <a:off x="5875338" y="4795838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400"/>
              <a:t>1</a:t>
            </a:r>
          </a:p>
        </p:txBody>
      </p:sp>
      <p:sp>
        <p:nvSpPr>
          <p:cNvPr id="30776" name="Text Box 1092"/>
          <p:cNvSpPr txBox="1">
            <a:spLocks noChangeArrowheads="1"/>
          </p:cNvSpPr>
          <p:nvPr/>
        </p:nvSpPr>
        <p:spPr bwMode="auto">
          <a:xfrm>
            <a:off x="6173788" y="4795838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400"/>
              <a:t>2</a:t>
            </a:r>
          </a:p>
        </p:txBody>
      </p:sp>
      <p:sp>
        <p:nvSpPr>
          <p:cNvPr id="30777" name="Text Box 1093"/>
          <p:cNvSpPr txBox="1">
            <a:spLocks noChangeArrowheads="1"/>
          </p:cNvSpPr>
          <p:nvPr/>
        </p:nvSpPr>
        <p:spPr bwMode="auto">
          <a:xfrm>
            <a:off x="6508750" y="4795838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400"/>
              <a:t>3</a:t>
            </a:r>
          </a:p>
        </p:txBody>
      </p:sp>
      <p:sp>
        <p:nvSpPr>
          <p:cNvPr id="30778" name="Text Box 1094"/>
          <p:cNvSpPr txBox="1">
            <a:spLocks noChangeArrowheads="1"/>
          </p:cNvSpPr>
          <p:nvPr/>
        </p:nvSpPr>
        <p:spPr bwMode="auto">
          <a:xfrm>
            <a:off x="7354888" y="4795838"/>
            <a:ext cx="3127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400" i="1"/>
              <a:t>N</a:t>
            </a:r>
          </a:p>
        </p:txBody>
      </p:sp>
      <p:sp>
        <p:nvSpPr>
          <p:cNvPr id="30779" name="Text Box 1095"/>
          <p:cNvSpPr txBox="1">
            <a:spLocks noChangeArrowheads="1"/>
          </p:cNvSpPr>
          <p:nvPr/>
        </p:nvSpPr>
        <p:spPr bwMode="auto">
          <a:xfrm>
            <a:off x="4857750" y="1477963"/>
            <a:ext cx="6667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400"/>
              <a:t>Inputs</a:t>
            </a:r>
          </a:p>
        </p:txBody>
      </p:sp>
      <p:sp>
        <p:nvSpPr>
          <p:cNvPr id="30780" name="Text Box 1096"/>
          <p:cNvSpPr txBox="1">
            <a:spLocks noChangeArrowheads="1"/>
          </p:cNvSpPr>
          <p:nvPr/>
        </p:nvSpPr>
        <p:spPr bwMode="auto">
          <a:xfrm>
            <a:off x="6235700" y="5035550"/>
            <a:ext cx="8048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400"/>
              <a:t>Outputs</a:t>
            </a:r>
          </a:p>
        </p:txBody>
      </p:sp>
      <p:grpSp>
        <p:nvGrpSpPr>
          <p:cNvPr id="30781" name="Group 1097"/>
          <p:cNvGrpSpPr>
            <a:grpSpLocks/>
          </p:cNvGrpSpPr>
          <p:nvPr/>
        </p:nvGrpSpPr>
        <p:grpSpPr bwMode="auto">
          <a:xfrm rot="5400000">
            <a:off x="5803107" y="4163219"/>
            <a:ext cx="401637" cy="200025"/>
            <a:chOff x="660" y="840"/>
            <a:chExt cx="198" cy="108"/>
          </a:xfrm>
        </p:grpSpPr>
        <p:sp>
          <p:nvSpPr>
            <p:cNvPr id="30803" name="Freeform 1098"/>
            <p:cNvSpPr>
              <a:spLocks/>
            </p:cNvSpPr>
            <p:nvPr/>
          </p:nvSpPr>
          <p:spPr bwMode="auto">
            <a:xfrm>
              <a:off x="660" y="840"/>
              <a:ext cx="198" cy="108"/>
            </a:xfrm>
            <a:custGeom>
              <a:avLst/>
              <a:gdLst>
                <a:gd name="T0" fmla="*/ 0 w 198"/>
                <a:gd name="T1" fmla="*/ 0 h 108"/>
                <a:gd name="T2" fmla="*/ 198 w 198"/>
                <a:gd name="T3" fmla="*/ 0 h 108"/>
                <a:gd name="T4" fmla="*/ 198 w 198"/>
                <a:gd name="T5" fmla="*/ 108 h 108"/>
                <a:gd name="T6" fmla="*/ 0 w 198"/>
                <a:gd name="T7" fmla="*/ 108 h 1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8"/>
                <a:gd name="T13" fmla="*/ 0 h 108"/>
                <a:gd name="T14" fmla="*/ 198 w 198"/>
                <a:gd name="T15" fmla="*/ 108 h 1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8" h="108">
                  <a:moveTo>
                    <a:pt x="0" y="0"/>
                  </a:moveTo>
                  <a:lnTo>
                    <a:pt x="198" y="0"/>
                  </a:lnTo>
                  <a:lnTo>
                    <a:pt x="198" y="108"/>
                  </a:lnTo>
                  <a:lnTo>
                    <a:pt x="0" y="10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04" name="Line 1099"/>
            <p:cNvSpPr>
              <a:spLocks noChangeShapeType="1"/>
            </p:cNvSpPr>
            <p:nvPr/>
          </p:nvSpPr>
          <p:spPr bwMode="auto">
            <a:xfrm>
              <a:off x="810" y="864"/>
              <a:ext cx="0" cy="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05" name="Line 1100"/>
            <p:cNvSpPr>
              <a:spLocks noChangeShapeType="1"/>
            </p:cNvSpPr>
            <p:nvPr/>
          </p:nvSpPr>
          <p:spPr bwMode="auto">
            <a:xfrm>
              <a:off x="762" y="864"/>
              <a:ext cx="0" cy="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30782" name="Line 1101"/>
          <p:cNvSpPr>
            <a:spLocks noChangeShapeType="1"/>
          </p:cNvSpPr>
          <p:nvPr/>
        </p:nvSpPr>
        <p:spPr bwMode="auto">
          <a:xfrm rot="5400000">
            <a:off x="5834062" y="4640263"/>
            <a:ext cx="327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IN"/>
          </a:p>
        </p:txBody>
      </p:sp>
      <p:grpSp>
        <p:nvGrpSpPr>
          <p:cNvPr id="30783" name="Group 1102"/>
          <p:cNvGrpSpPr>
            <a:grpSpLocks/>
          </p:cNvGrpSpPr>
          <p:nvPr/>
        </p:nvGrpSpPr>
        <p:grpSpPr bwMode="auto">
          <a:xfrm rot="5400000">
            <a:off x="6112669" y="4163219"/>
            <a:ext cx="401637" cy="200025"/>
            <a:chOff x="660" y="840"/>
            <a:chExt cx="198" cy="108"/>
          </a:xfrm>
        </p:grpSpPr>
        <p:sp>
          <p:nvSpPr>
            <p:cNvPr id="30800" name="Freeform 1103"/>
            <p:cNvSpPr>
              <a:spLocks/>
            </p:cNvSpPr>
            <p:nvPr/>
          </p:nvSpPr>
          <p:spPr bwMode="auto">
            <a:xfrm>
              <a:off x="660" y="840"/>
              <a:ext cx="198" cy="108"/>
            </a:xfrm>
            <a:custGeom>
              <a:avLst/>
              <a:gdLst>
                <a:gd name="T0" fmla="*/ 0 w 198"/>
                <a:gd name="T1" fmla="*/ 0 h 108"/>
                <a:gd name="T2" fmla="*/ 198 w 198"/>
                <a:gd name="T3" fmla="*/ 0 h 108"/>
                <a:gd name="T4" fmla="*/ 198 w 198"/>
                <a:gd name="T5" fmla="*/ 108 h 108"/>
                <a:gd name="T6" fmla="*/ 0 w 198"/>
                <a:gd name="T7" fmla="*/ 108 h 1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8"/>
                <a:gd name="T13" fmla="*/ 0 h 108"/>
                <a:gd name="T14" fmla="*/ 198 w 198"/>
                <a:gd name="T15" fmla="*/ 108 h 1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8" h="108">
                  <a:moveTo>
                    <a:pt x="0" y="0"/>
                  </a:moveTo>
                  <a:lnTo>
                    <a:pt x="198" y="0"/>
                  </a:lnTo>
                  <a:lnTo>
                    <a:pt x="198" y="108"/>
                  </a:lnTo>
                  <a:lnTo>
                    <a:pt x="0" y="10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01" name="Line 1104"/>
            <p:cNvSpPr>
              <a:spLocks noChangeShapeType="1"/>
            </p:cNvSpPr>
            <p:nvPr/>
          </p:nvSpPr>
          <p:spPr bwMode="auto">
            <a:xfrm>
              <a:off x="810" y="864"/>
              <a:ext cx="0" cy="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802" name="Line 1105"/>
            <p:cNvSpPr>
              <a:spLocks noChangeShapeType="1"/>
            </p:cNvSpPr>
            <p:nvPr/>
          </p:nvSpPr>
          <p:spPr bwMode="auto">
            <a:xfrm>
              <a:off x="762" y="864"/>
              <a:ext cx="0" cy="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30784" name="Line 1106"/>
          <p:cNvSpPr>
            <a:spLocks noChangeShapeType="1"/>
          </p:cNvSpPr>
          <p:nvPr/>
        </p:nvSpPr>
        <p:spPr bwMode="auto">
          <a:xfrm rot="5400000">
            <a:off x="6145212" y="4640263"/>
            <a:ext cx="327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IN"/>
          </a:p>
        </p:txBody>
      </p:sp>
      <p:grpSp>
        <p:nvGrpSpPr>
          <p:cNvPr id="30785" name="Group 1107"/>
          <p:cNvGrpSpPr>
            <a:grpSpLocks/>
          </p:cNvGrpSpPr>
          <p:nvPr/>
        </p:nvGrpSpPr>
        <p:grpSpPr bwMode="auto">
          <a:xfrm rot="5400000">
            <a:off x="6423025" y="4164013"/>
            <a:ext cx="401637" cy="198438"/>
            <a:chOff x="660" y="840"/>
            <a:chExt cx="198" cy="108"/>
          </a:xfrm>
        </p:grpSpPr>
        <p:sp>
          <p:nvSpPr>
            <p:cNvPr id="30797" name="Freeform 1108"/>
            <p:cNvSpPr>
              <a:spLocks/>
            </p:cNvSpPr>
            <p:nvPr/>
          </p:nvSpPr>
          <p:spPr bwMode="auto">
            <a:xfrm>
              <a:off x="660" y="840"/>
              <a:ext cx="198" cy="108"/>
            </a:xfrm>
            <a:custGeom>
              <a:avLst/>
              <a:gdLst>
                <a:gd name="T0" fmla="*/ 0 w 198"/>
                <a:gd name="T1" fmla="*/ 0 h 108"/>
                <a:gd name="T2" fmla="*/ 198 w 198"/>
                <a:gd name="T3" fmla="*/ 0 h 108"/>
                <a:gd name="T4" fmla="*/ 198 w 198"/>
                <a:gd name="T5" fmla="*/ 108 h 108"/>
                <a:gd name="T6" fmla="*/ 0 w 198"/>
                <a:gd name="T7" fmla="*/ 108 h 1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8"/>
                <a:gd name="T13" fmla="*/ 0 h 108"/>
                <a:gd name="T14" fmla="*/ 198 w 198"/>
                <a:gd name="T15" fmla="*/ 108 h 1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8" h="108">
                  <a:moveTo>
                    <a:pt x="0" y="0"/>
                  </a:moveTo>
                  <a:lnTo>
                    <a:pt x="198" y="0"/>
                  </a:lnTo>
                  <a:lnTo>
                    <a:pt x="198" y="108"/>
                  </a:lnTo>
                  <a:lnTo>
                    <a:pt x="0" y="10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98" name="Line 1109"/>
            <p:cNvSpPr>
              <a:spLocks noChangeShapeType="1"/>
            </p:cNvSpPr>
            <p:nvPr/>
          </p:nvSpPr>
          <p:spPr bwMode="auto">
            <a:xfrm>
              <a:off x="810" y="864"/>
              <a:ext cx="0" cy="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799" name="Line 1110"/>
            <p:cNvSpPr>
              <a:spLocks noChangeShapeType="1"/>
            </p:cNvSpPr>
            <p:nvPr/>
          </p:nvSpPr>
          <p:spPr bwMode="auto">
            <a:xfrm>
              <a:off x="762" y="864"/>
              <a:ext cx="0" cy="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30786" name="Line 1111"/>
          <p:cNvSpPr>
            <a:spLocks noChangeShapeType="1"/>
          </p:cNvSpPr>
          <p:nvPr/>
        </p:nvSpPr>
        <p:spPr bwMode="auto">
          <a:xfrm rot="5400000">
            <a:off x="6454775" y="4640263"/>
            <a:ext cx="327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IN"/>
          </a:p>
        </p:txBody>
      </p:sp>
      <p:grpSp>
        <p:nvGrpSpPr>
          <p:cNvPr id="30787" name="Group 1112"/>
          <p:cNvGrpSpPr>
            <a:grpSpLocks/>
          </p:cNvGrpSpPr>
          <p:nvPr/>
        </p:nvGrpSpPr>
        <p:grpSpPr bwMode="auto">
          <a:xfrm rot="5400000">
            <a:off x="7319169" y="4163219"/>
            <a:ext cx="401637" cy="200025"/>
            <a:chOff x="660" y="840"/>
            <a:chExt cx="198" cy="108"/>
          </a:xfrm>
        </p:grpSpPr>
        <p:sp>
          <p:nvSpPr>
            <p:cNvPr id="30794" name="Freeform 1113"/>
            <p:cNvSpPr>
              <a:spLocks/>
            </p:cNvSpPr>
            <p:nvPr/>
          </p:nvSpPr>
          <p:spPr bwMode="auto">
            <a:xfrm>
              <a:off x="660" y="840"/>
              <a:ext cx="198" cy="108"/>
            </a:xfrm>
            <a:custGeom>
              <a:avLst/>
              <a:gdLst>
                <a:gd name="T0" fmla="*/ 0 w 198"/>
                <a:gd name="T1" fmla="*/ 0 h 108"/>
                <a:gd name="T2" fmla="*/ 198 w 198"/>
                <a:gd name="T3" fmla="*/ 0 h 108"/>
                <a:gd name="T4" fmla="*/ 198 w 198"/>
                <a:gd name="T5" fmla="*/ 108 h 108"/>
                <a:gd name="T6" fmla="*/ 0 w 198"/>
                <a:gd name="T7" fmla="*/ 108 h 1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8"/>
                <a:gd name="T13" fmla="*/ 0 h 108"/>
                <a:gd name="T14" fmla="*/ 198 w 198"/>
                <a:gd name="T15" fmla="*/ 108 h 1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8" h="108">
                  <a:moveTo>
                    <a:pt x="0" y="0"/>
                  </a:moveTo>
                  <a:lnTo>
                    <a:pt x="198" y="0"/>
                  </a:lnTo>
                  <a:lnTo>
                    <a:pt x="198" y="108"/>
                  </a:lnTo>
                  <a:lnTo>
                    <a:pt x="0" y="10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95" name="Line 1114"/>
            <p:cNvSpPr>
              <a:spLocks noChangeShapeType="1"/>
            </p:cNvSpPr>
            <p:nvPr/>
          </p:nvSpPr>
          <p:spPr bwMode="auto">
            <a:xfrm>
              <a:off x="810" y="864"/>
              <a:ext cx="0" cy="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796" name="Line 1115"/>
            <p:cNvSpPr>
              <a:spLocks noChangeShapeType="1"/>
            </p:cNvSpPr>
            <p:nvPr/>
          </p:nvSpPr>
          <p:spPr bwMode="auto">
            <a:xfrm>
              <a:off x="762" y="864"/>
              <a:ext cx="0" cy="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30788" name="Line 1116"/>
          <p:cNvSpPr>
            <a:spLocks noChangeShapeType="1"/>
          </p:cNvSpPr>
          <p:nvPr/>
        </p:nvSpPr>
        <p:spPr bwMode="auto">
          <a:xfrm rot="5400000">
            <a:off x="7350125" y="4640263"/>
            <a:ext cx="327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30789" name="Text Box 1117"/>
          <p:cNvSpPr txBox="1">
            <a:spLocks noChangeArrowheads="1"/>
          </p:cNvSpPr>
          <p:nvPr/>
        </p:nvSpPr>
        <p:spPr bwMode="auto">
          <a:xfrm>
            <a:off x="5573713" y="1239838"/>
            <a:ext cx="17192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sz="1400"/>
              <a:t>(b) Output buffering</a:t>
            </a:r>
          </a:p>
        </p:txBody>
      </p:sp>
      <p:sp>
        <p:nvSpPr>
          <p:cNvPr id="30790" name="Text Box 1118"/>
          <p:cNvSpPr txBox="1">
            <a:spLocks noChangeArrowheads="1"/>
          </p:cNvSpPr>
          <p:nvPr/>
        </p:nvSpPr>
        <p:spPr bwMode="auto">
          <a:xfrm rot="-5400000">
            <a:off x="5151438" y="2817813"/>
            <a:ext cx="482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  <a:buSzTx/>
              <a:buFontTx/>
              <a:buNone/>
            </a:pPr>
            <a:r>
              <a:rPr lang="en-US" sz="2400"/>
              <a:t>…</a:t>
            </a:r>
          </a:p>
        </p:txBody>
      </p:sp>
      <p:sp>
        <p:nvSpPr>
          <p:cNvPr id="30791" name="Text Box 1119"/>
          <p:cNvSpPr txBox="1">
            <a:spLocks noChangeArrowheads="1"/>
          </p:cNvSpPr>
          <p:nvPr/>
        </p:nvSpPr>
        <p:spPr bwMode="auto">
          <a:xfrm>
            <a:off x="6861175" y="3992563"/>
            <a:ext cx="482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  <a:buSzTx/>
              <a:buFontTx/>
              <a:buNone/>
            </a:pPr>
            <a:r>
              <a:rPr lang="en-US" sz="2400"/>
              <a:t>…</a:t>
            </a:r>
          </a:p>
        </p:txBody>
      </p:sp>
      <p:sp>
        <p:nvSpPr>
          <p:cNvPr id="30792" name="Rectangle 112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Crossbar Switches</a:t>
            </a:r>
          </a:p>
        </p:txBody>
      </p:sp>
      <p:sp>
        <p:nvSpPr>
          <p:cNvPr id="30793" name="Text Box 1122"/>
          <p:cNvSpPr txBox="1">
            <a:spLocks noChangeArrowheads="1"/>
          </p:cNvSpPr>
          <p:nvPr/>
        </p:nvSpPr>
        <p:spPr bwMode="auto">
          <a:xfrm>
            <a:off x="292100" y="5348288"/>
            <a:ext cx="8423275" cy="822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l"/>
            </a:pPr>
            <a:r>
              <a:rPr lang="en-US" sz="2200"/>
              <a:t>Large switches built from crossbar &amp; multistage space switches</a:t>
            </a:r>
          </a:p>
          <a:p>
            <a:pPr marL="342900" indent="-342900" algn="l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l"/>
            </a:pPr>
            <a:r>
              <a:rPr lang="en-US" sz="2200"/>
              <a:t>Requires centralized controller/scheduler (who sends to whom when)</a:t>
            </a:r>
          </a:p>
          <a:p>
            <a:pPr marL="342900" indent="-342900" algn="l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l"/>
            </a:pPr>
            <a:r>
              <a:rPr lang="en-US" sz="2200"/>
              <a:t>Can buffer at input, output, or both (performance vs complexity)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1026"/>
          <p:cNvGrpSpPr>
            <a:grpSpLocks/>
          </p:cNvGrpSpPr>
          <p:nvPr/>
        </p:nvGrpSpPr>
        <p:grpSpPr bwMode="auto">
          <a:xfrm>
            <a:off x="1765300" y="1400175"/>
            <a:ext cx="5586413" cy="3741738"/>
            <a:chOff x="1024" y="1154"/>
            <a:chExt cx="3519" cy="2357"/>
          </a:xfrm>
        </p:grpSpPr>
        <p:sp>
          <p:nvSpPr>
            <p:cNvPr id="31749" name="Rectangle 1027"/>
            <p:cNvSpPr>
              <a:spLocks noChangeArrowheads="1"/>
            </p:cNvSpPr>
            <p:nvPr/>
          </p:nvSpPr>
          <p:spPr bwMode="auto">
            <a:xfrm>
              <a:off x="1836" y="1377"/>
              <a:ext cx="301" cy="329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0" name="Rectangle 1028"/>
            <p:cNvSpPr>
              <a:spLocks noChangeArrowheads="1"/>
            </p:cNvSpPr>
            <p:nvPr/>
          </p:nvSpPr>
          <p:spPr bwMode="auto">
            <a:xfrm>
              <a:off x="1836" y="1900"/>
              <a:ext cx="301" cy="329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1" name="Rectangle 1029"/>
            <p:cNvSpPr>
              <a:spLocks noChangeArrowheads="1"/>
            </p:cNvSpPr>
            <p:nvPr/>
          </p:nvSpPr>
          <p:spPr bwMode="auto">
            <a:xfrm>
              <a:off x="1836" y="2423"/>
              <a:ext cx="301" cy="329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2" name="Rectangle 1030"/>
            <p:cNvSpPr>
              <a:spLocks noChangeArrowheads="1"/>
            </p:cNvSpPr>
            <p:nvPr/>
          </p:nvSpPr>
          <p:spPr bwMode="auto">
            <a:xfrm>
              <a:off x="1836" y="2946"/>
              <a:ext cx="301" cy="329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3" name="Rectangle 1031"/>
            <p:cNvSpPr>
              <a:spLocks noChangeArrowheads="1"/>
            </p:cNvSpPr>
            <p:nvPr/>
          </p:nvSpPr>
          <p:spPr bwMode="auto">
            <a:xfrm>
              <a:off x="2761" y="1377"/>
              <a:ext cx="301" cy="329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4" name="Rectangle 1032"/>
            <p:cNvSpPr>
              <a:spLocks noChangeArrowheads="1"/>
            </p:cNvSpPr>
            <p:nvPr/>
          </p:nvSpPr>
          <p:spPr bwMode="auto">
            <a:xfrm>
              <a:off x="2761" y="1900"/>
              <a:ext cx="301" cy="329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5" name="Rectangle 1033"/>
            <p:cNvSpPr>
              <a:spLocks noChangeArrowheads="1"/>
            </p:cNvSpPr>
            <p:nvPr/>
          </p:nvSpPr>
          <p:spPr bwMode="auto">
            <a:xfrm>
              <a:off x="2761" y="2423"/>
              <a:ext cx="301" cy="329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6" name="Rectangle 1034"/>
            <p:cNvSpPr>
              <a:spLocks noChangeArrowheads="1"/>
            </p:cNvSpPr>
            <p:nvPr/>
          </p:nvSpPr>
          <p:spPr bwMode="auto">
            <a:xfrm>
              <a:off x="2761" y="2946"/>
              <a:ext cx="301" cy="329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7" name="Rectangle 1035"/>
            <p:cNvSpPr>
              <a:spLocks noChangeArrowheads="1"/>
            </p:cNvSpPr>
            <p:nvPr/>
          </p:nvSpPr>
          <p:spPr bwMode="auto">
            <a:xfrm>
              <a:off x="3685" y="1377"/>
              <a:ext cx="301" cy="329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8" name="Rectangle 1036"/>
            <p:cNvSpPr>
              <a:spLocks noChangeArrowheads="1"/>
            </p:cNvSpPr>
            <p:nvPr/>
          </p:nvSpPr>
          <p:spPr bwMode="auto">
            <a:xfrm>
              <a:off x="3685" y="1900"/>
              <a:ext cx="301" cy="329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9" name="Rectangle 1037"/>
            <p:cNvSpPr>
              <a:spLocks noChangeArrowheads="1"/>
            </p:cNvSpPr>
            <p:nvPr/>
          </p:nvSpPr>
          <p:spPr bwMode="auto">
            <a:xfrm>
              <a:off x="3685" y="2423"/>
              <a:ext cx="301" cy="329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0" name="Rectangle 1038"/>
            <p:cNvSpPr>
              <a:spLocks noChangeArrowheads="1"/>
            </p:cNvSpPr>
            <p:nvPr/>
          </p:nvSpPr>
          <p:spPr bwMode="auto">
            <a:xfrm>
              <a:off x="3685" y="2946"/>
              <a:ext cx="301" cy="329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1" name="Line 1039"/>
            <p:cNvSpPr>
              <a:spLocks noChangeShapeType="1"/>
            </p:cNvSpPr>
            <p:nvPr/>
          </p:nvSpPr>
          <p:spPr bwMode="auto">
            <a:xfrm>
              <a:off x="2137" y="1427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762" name="Line 1040"/>
            <p:cNvSpPr>
              <a:spLocks noChangeShapeType="1"/>
            </p:cNvSpPr>
            <p:nvPr/>
          </p:nvSpPr>
          <p:spPr bwMode="auto">
            <a:xfrm>
              <a:off x="2137" y="1663"/>
              <a:ext cx="624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763" name="Line 1041"/>
            <p:cNvSpPr>
              <a:spLocks noChangeShapeType="1"/>
            </p:cNvSpPr>
            <p:nvPr/>
          </p:nvSpPr>
          <p:spPr bwMode="auto">
            <a:xfrm>
              <a:off x="2137" y="1950"/>
              <a:ext cx="624" cy="5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764" name="Line 1042"/>
            <p:cNvSpPr>
              <a:spLocks noChangeShapeType="1"/>
            </p:cNvSpPr>
            <p:nvPr/>
          </p:nvSpPr>
          <p:spPr bwMode="auto">
            <a:xfrm>
              <a:off x="2144" y="2179"/>
              <a:ext cx="617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765" name="Line 1043"/>
            <p:cNvSpPr>
              <a:spLocks noChangeShapeType="1"/>
            </p:cNvSpPr>
            <p:nvPr/>
          </p:nvSpPr>
          <p:spPr bwMode="auto">
            <a:xfrm flipV="1">
              <a:off x="2137" y="1663"/>
              <a:ext cx="624" cy="8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766" name="Line 1044"/>
            <p:cNvSpPr>
              <a:spLocks noChangeShapeType="1"/>
            </p:cNvSpPr>
            <p:nvPr/>
          </p:nvSpPr>
          <p:spPr bwMode="auto">
            <a:xfrm flipV="1">
              <a:off x="2137" y="2179"/>
              <a:ext cx="624" cy="5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767" name="Line 1045"/>
            <p:cNvSpPr>
              <a:spLocks noChangeShapeType="1"/>
            </p:cNvSpPr>
            <p:nvPr/>
          </p:nvSpPr>
          <p:spPr bwMode="auto">
            <a:xfrm flipV="1">
              <a:off x="2137" y="2702"/>
              <a:ext cx="624" cy="2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768" name="Line 1046"/>
            <p:cNvSpPr>
              <a:spLocks noChangeShapeType="1"/>
            </p:cNvSpPr>
            <p:nvPr/>
          </p:nvSpPr>
          <p:spPr bwMode="auto">
            <a:xfrm>
              <a:off x="2137" y="323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769" name="Line 1047"/>
            <p:cNvSpPr>
              <a:spLocks noChangeShapeType="1"/>
            </p:cNvSpPr>
            <p:nvPr/>
          </p:nvSpPr>
          <p:spPr bwMode="auto">
            <a:xfrm>
              <a:off x="3062" y="1427"/>
              <a:ext cx="6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770" name="Line 1048"/>
            <p:cNvSpPr>
              <a:spLocks noChangeShapeType="1"/>
            </p:cNvSpPr>
            <p:nvPr/>
          </p:nvSpPr>
          <p:spPr bwMode="auto">
            <a:xfrm>
              <a:off x="3062" y="1663"/>
              <a:ext cx="623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771" name="Line 1049"/>
            <p:cNvSpPr>
              <a:spLocks noChangeShapeType="1"/>
            </p:cNvSpPr>
            <p:nvPr/>
          </p:nvSpPr>
          <p:spPr bwMode="auto">
            <a:xfrm>
              <a:off x="3062" y="1950"/>
              <a:ext cx="623" cy="5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772" name="Line 1050"/>
            <p:cNvSpPr>
              <a:spLocks noChangeShapeType="1"/>
            </p:cNvSpPr>
            <p:nvPr/>
          </p:nvSpPr>
          <p:spPr bwMode="auto">
            <a:xfrm>
              <a:off x="3069" y="2179"/>
              <a:ext cx="616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773" name="Line 1051"/>
            <p:cNvSpPr>
              <a:spLocks noChangeShapeType="1"/>
            </p:cNvSpPr>
            <p:nvPr/>
          </p:nvSpPr>
          <p:spPr bwMode="auto">
            <a:xfrm flipV="1">
              <a:off x="3062" y="1663"/>
              <a:ext cx="623" cy="8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774" name="Line 1052"/>
            <p:cNvSpPr>
              <a:spLocks noChangeShapeType="1"/>
            </p:cNvSpPr>
            <p:nvPr/>
          </p:nvSpPr>
          <p:spPr bwMode="auto">
            <a:xfrm flipV="1">
              <a:off x="3062" y="2179"/>
              <a:ext cx="623" cy="5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775" name="Line 1053"/>
            <p:cNvSpPr>
              <a:spLocks noChangeShapeType="1"/>
            </p:cNvSpPr>
            <p:nvPr/>
          </p:nvSpPr>
          <p:spPr bwMode="auto">
            <a:xfrm flipV="1">
              <a:off x="3062" y="2702"/>
              <a:ext cx="623" cy="2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776" name="Line 1054"/>
            <p:cNvSpPr>
              <a:spLocks noChangeShapeType="1"/>
            </p:cNvSpPr>
            <p:nvPr/>
          </p:nvSpPr>
          <p:spPr bwMode="auto">
            <a:xfrm>
              <a:off x="3062" y="3232"/>
              <a:ext cx="6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777" name="Line 1055"/>
            <p:cNvSpPr>
              <a:spLocks noChangeShapeType="1"/>
            </p:cNvSpPr>
            <p:nvPr/>
          </p:nvSpPr>
          <p:spPr bwMode="auto">
            <a:xfrm>
              <a:off x="3993" y="1427"/>
              <a:ext cx="2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778" name="Line 1056"/>
            <p:cNvSpPr>
              <a:spLocks noChangeShapeType="1"/>
            </p:cNvSpPr>
            <p:nvPr/>
          </p:nvSpPr>
          <p:spPr bwMode="auto">
            <a:xfrm>
              <a:off x="3993" y="1649"/>
              <a:ext cx="2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779" name="Line 1057"/>
            <p:cNvSpPr>
              <a:spLocks noChangeShapeType="1"/>
            </p:cNvSpPr>
            <p:nvPr/>
          </p:nvSpPr>
          <p:spPr bwMode="auto">
            <a:xfrm>
              <a:off x="3993" y="1957"/>
              <a:ext cx="2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780" name="Line 1058"/>
            <p:cNvSpPr>
              <a:spLocks noChangeShapeType="1"/>
            </p:cNvSpPr>
            <p:nvPr/>
          </p:nvSpPr>
          <p:spPr bwMode="auto">
            <a:xfrm>
              <a:off x="3993" y="2179"/>
              <a:ext cx="2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781" name="Line 1059"/>
            <p:cNvSpPr>
              <a:spLocks noChangeShapeType="1"/>
            </p:cNvSpPr>
            <p:nvPr/>
          </p:nvSpPr>
          <p:spPr bwMode="auto">
            <a:xfrm>
              <a:off x="3993" y="2473"/>
              <a:ext cx="2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782" name="Line 1060"/>
            <p:cNvSpPr>
              <a:spLocks noChangeShapeType="1"/>
            </p:cNvSpPr>
            <p:nvPr/>
          </p:nvSpPr>
          <p:spPr bwMode="auto">
            <a:xfrm>
              <a:off x="3993" y="2695"/>
              <a:ext cx="2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783" name="Line 1061"/>
            <p:cNvSpPr>
              <a:spLocks noChangeShapeType="1"/>
            </p:cNvSpPr>
            <p:nvPr/>
          </p:nvSpPr>
          <p:spPr bwMode="auto">
            <a:xfrm>
              <a:off x="3993" y="3003"/>
              <a:ext cx="2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784" name="Line 1062"/>
            <p:cNvSpPr>
              <a:spLocks noChangeShapeType="1"/>
            </p:cNvSpPr>
            <p:nvPr/>
          </p:nvSpPr>
          <p:spPr bwMode="auto">
            <a:xfrm>
              <a:off x="3993" y="3225"/>
              <a:ext cx="2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785" name="Text Box 1063"/>
            <p:cNvSpPr txBox="1">
              <a:spLocks noChangeArrowheads="1"/>
            </p:cNvSpPr>
            <p:nvPr/>
          </p:nvSpPr>
          <p:spPr bwMode="auto">
            <a:xfrm>
              <a:off x="1059" y="1331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0</a:t>
              </a:r>
            </a:p>
          </p:txBody>
        </p:sp>
        <p:sp>
          <p:nvSpPr>
            <p:cNvPr id="31786" name="Text Box 1064"/>
            <p:cNvSpPr txBox="1">
              <a:spLocks noChangeArrowheads="1"/>
            </p:cNvSpPr>
            <p:nvPr/>
          </p:nvSpPr>
          <p:spPr bwMode="auto">
            <a:xfrm>
              <a:off x="1059" y="1546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1</a:t>
              </a:r>
            </a:p>
          </p:txBody>
        </p:sp>
        <p:sp>
          <p:nvSpPr>
            <p:cNvPr id="31787" name="Text Box 1065"/>
            <p:cNvSpPr txBox="1">
              <a:spLocks noChangeArrowheads="1"/>
            </p:cNvSpPr>
            <p:nvPr/>
          </p:nvSpPr>
          <p:spPr bwMode="auto">
            <a:xfrm>
              <a:off x="1059" y="1853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2</a:t>
              </a:r>
            </a:p>
          </p:txBody>
        </p:sp>
        <p:sp>
          <p:nvSpPr>
            <p:cNvPr id="31788" name="Text Box 1066"/>
            <p:cNvSpPr txBox="1">
              <a:spLocks noChangeArrowheads="1"/>
            </p:cNvSpPr>
            <p:nvPr/>
          </p:nvSpPr>
          <p:spPr bwMode="auto">
            <a:xfrm>
              <a:off x="1024" y="1154"/>
              <a:ext cx="42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Inputs</a:t>
              </a:r>
            </a:p>
          </p:txBody>
        </p:sp>
        <p:sp>
          <p:nvSpPr>
            <p:cNvPr id="31789" name="Text Box 1067"/>
            <p:cNvSpPr txBox="1">
              <a:spLocks noChangeArrowheads="1"/>
            </p:cNvSpPr>
            <p:nvPr/>
          </p:nvSpPr>
          <p:spPr bwMode="auto">
            <a:xfrm>
              <a:off x="4036" y="1154"/>
              <a:ext cx="507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Outputs</a:t>
              </a:r>
            </a:p>
          </p:txBody>
        </p:sp>
        <p:sp>
          <p:nvSpPr>
            <p:cNvPr id="31790" name="Text Box 1068"/>
            <p:cNvSpPr txBox="1">
              <a:spLocks noChangeArrowheads="1"/>
            </p:cNvSpPr>
            <p:nvPr/>
          </p:nvSpPr>
          <p:spPr bwMode="auto">
            <a:xfrm>
              <a:off x="1059" y="2075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3</a:t>
              </a:r>
            </a:p>
          </p:txBody>
        </p:sp>
        <p:sp>
          <p:nvSpPr>
            <p:cNvPr id="31791" name="Text Box 1069"/>
            <p:cNvSpPr txBox="1">
              <a:spLocks noChangeArrowheads="1"/>
            </p:cNvSpPr>
            <p:nvPr/>
          </p:nvSpPr>
          <p:spPr bwMode="auto">
            <a:xfrm>
              <a:off x="1059" y="2370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4</a:t>
              </a:r>
            </a:p>
          </p:txBody>
        </p:sp>
        <p:sp>
          <p:nvSpPr>
            <p:cNvPr id="31792" name="Text Box 1070"/>
            <p:cNvSpPr txBox="1">
              <a:spLocks noChangeArrowheads="1"/>
            </p:cNvSpPr>
            <p:nvPr/>
          </p:nvSpPr>
          <p:spPr bwMode="auto">
            <a:xfrm>
              <a:off x="1059" y="2590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5</a:t>
              </a:r>
            </a:p>
          </p:txBody>
        </p:sp>
        <p:sp>
          <p:nvSpPr>
            <p:cNvPr id="31793" name="Text Box 1071"/>
            <p:cNvSpPr txBox="1">
              <a:spLocks noChangeArrowheads="1"/>
            </p:cNvSpPr>
            <p:nvPr/>
          </p:nvSpPr>
          <p:spPr bwMode="auto">
            <a:xfrm>
              <a:off x="1059" y="2893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6</a:t>
              </a:r>
            </a:p>
          </p:txBody>
        </p:sp>
        <p:sp>
          <p:nvSpPr>
            <p:cNvPr id="31794" name="Text Box 1072"/>
            <p:cNvSpPr txBox="1">
              <a:spLocks noChangeArrowheads="1"/>
            </p:cNvSpPr>
            <p:nvPr/>
          </p:nvSpPr>
          <p:spPr bwMode="auto">
            <a:xfrm>
              <a:off x="1059" y="3136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7</a:t>
              </a:r>
            </a:p>
          </p:txBody>
        </p:sp>
        <p:sp>
          <p:nvSpPr>
            <p:cNvPr id="31795" name="Text Box 1073"/>
            <p:cNvSpPr txBox="1">
              <a:spLocks noChangeArrowheads="1"/>
            </p:cNvSpPr>
            <p:nvPr/>
          </p:nvSpPr>
          <p:spPr bwMode="auto">
            <a:xfrm>
              <a:off x="4293" y="1330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0</a:t>
              </a:r>
            </a:p>
          </p:txBody>
        </p:sp>
        <p:sp>
          <p:nvSpPr>
            <p:cNvPr id="31796" name="Text Box 1074"/>
            <p:cNvSpPr txBox="1">
              <a:spLocks noChangeArrowheads="1"/>
            </p:cNvSpPr>
            <p:nvPr/>
          </p:nvSpPr>
          <p:spPr bwMode="auto">
            <a:xfrm>
              <a:off x="4293" y="1546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1</a:t>
              </a:r>
            </a:p>
          </p:txBody>
        </p:sp>
        <p:sp>
          <p:nvSpPr>
            <p:cNvPr id="31797" name="Text Box 1075"/>
            <p:cNvSpPr txBox="1">
              <a:spLocks noChangeArrowheads="1"/>
            </p:cNvSpPr>
            <p:nvPr/>
          </p:nvSpPr>
          <p:spPr bwMode="auto">
            <a:xfrm>
              <a:off x="4293" y="1853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2</a:t>
              </a:r>
            </a:p>
          </p:txBody>
        </p:sp>
        <p:sp>
          <p:nvSpPr>
            <p:cNvPr id="31798" name="Text Box 1076"/>
            <p:cNvSpPr txBox="1">
              <a:spLocks noChangeArrowheads="1"/>
            </p:cNvSpPr>
            <p:nvPr/>
          </p:nvSpPr>
          <p:spPr bwMode="auto">
            <a:xfrm>
              <a:off x="4293" y="2075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3</a:t>
              </a:r>
            </a:p>
          </p:txBody>
        </p:sp>
        <p:sp>
          <p:nvSpPr>
            <p:cNvPr id="31799" name="Text Box 1077"/>
            <p:cNvSpPr txBox="1">
              <a:spLocks noChangeArrowheads="1"/>
            </p:cNvSpPr>
            <p:nvPr/>
          </p:nvSpPr>
          <p:spPr bwMode="auto">
            <a:xfrm>
              <a:off x="4293" y="2370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4</a:t>
              </a:r>
            </a:p>
          </p:txBody>
        </p:sp>
        <p:sp>
          <p:nvSpPr>
            <p:cNvPr id="31800" name="Text Box 1078"/>
            <p:cNvSpPr txBox="1">
              <a:spLocks noChangeArrowheads="1"/>
            </p:cNvSpPr>
            <p:nvPr/>
          </p:nvSpPr>
          <p:spPr bwMode="auto">
            <a:xfrm>
              <a:off x="4293" y="2590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5</a:t>
              </a:r>
            </a:p>
          </p:txBody>
        </p:sp>
        <p:sp>
          <p:nvSpPr>
            <p:cNvPr id="31801" name="Text Box 1079"/>
            <p:cNvSpPr txBox="1">
              <a:spLocks noChangeArrowheads="1"/>
            </p:cNvSpPr>
            <p:nvPr/>
          </p:nvSpPr>
          <p:spPr bwMode="auto">
            <a:xfrm>
              <a:off x="4293" y="2893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6</a:t>
              </a:r>
            </a:p>
          </p:txBody>
        </p:sp>
        <p:sp>
          <p:nvSpPr>
            <p:cNvPr id="31802" name="Text Box 1080"/>
            <p:cNvSpPr txBox="1">
              <a:spLocks noChangeArrowheads="1"/>
            </p:cNvSpPr>
            <p:nvPr/>
          </p:nvSpPr>
          <p:spPr bwMode="auto">
            <a:xfrm>
              <a:off x="4293" y="3136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7</a:t>
              </a:r>
            </a:p>
          </p:txBody>
        </p:sp>
        <p:sp>
          <p:nvSpPr>
            <p:cNvPr id="31803" name="Text Box 1081"/>
            <p:cNvSpPr txBox="1">
              <a:spLocks noChangeArrowheads="1"/>
            </p:cNvSpPr>
            <p:nvPr/>
          </p:nvSpPr>
          <p:spPr bwMode="auto">
            <a:xfrm>
              <a:off x="1749" y="3319"/>
              <a:ext cx="50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Stage 1</a:t>
              </a:r>
            </a:p>
          </p:txBody>
        </p:sp>
        <p:sp>
          <p:nvSpPr>
            <p:cNvPr id="31804" name="Text Box 1082"/>
            <p:cNvSpPr txBox="1">
              <a:spLocks noChangeArrowheads="1"/>
            </p:cNvSpPr>
            <p:nvPr/>
          </p:nvSpPr>
          <p:spPr bwMode="auto">
            <a:xfrm>
              <a:off x="2666" y="3319"/>
              <a:ext cx="50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Stage 2</a:t>
              </a:r>
            </a:p>
          </p:txBody>
        </p:sp>
        <p:sp>
          <p:nvSpPr>
            <p:cNvPr id="31805" name="Text Box 1083"/>
            <p:cNvSpPr txBox="1">
              <a:spLocks noChangeArrowheads="1"/>
            </p:cNvSpPr>
            <p:nvPr/>
          </p:nvSpPr>
          <p:spPr bwMode="auto">
            <a:xfrm>
              <a:off x="3597" y="3319"/>
              <a:ext cx="50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Stage 3</a:t>
              </a:r>
            </a:p>
          </p:txBody>
        </p:sp>
        <p:sp>
          <p:nvSpPr>
            <p:cNvPr id="31806" name="Line 1084"/>
            <p:cNvSpPr>
              <a:spLocks noChangeShapeType="1"/>
            </p:cNvSpPr>
            <p:nvPr/>
          </p:nvSpPr>
          <p:spPr bwMode="auto">
            <a:xfrm>
              <a:off x="1213" y="1427"/>
              <a:ext cx="6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807" name="Line 1085"/>
            <p:cNvSpPr>
              <a:spLocks noChangeShapeType="1"/>
            </p:cNvSpPr>
            <p:nvPr/>
          </p:nvSpPr>
          <p:spPr bwMode="auto">
            <a:xfrm>
              <a:off x="1213" y="1663"/>
              <a:ext cx="623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808" name="Line 1086"/>
            <p:cNvSpPr>
              <a:spLocks noChangeShapeType="1"/>
            </p:cNvSpPr>
            <p:nvPr/>
          </p:nvSpPr>
          <p:spPr bwMode="auto">
            <a:xfrm>
              <a:off x="1213" y="1950"/>
              <a:ext cx="623" cy="5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809" name="Line 1087"/>
            <p:cNvSpPr>
              <a:spLocks noChangeShapeType="1"/>
            </p:cNvSpPr>
            <p:nvPr/>
          </p:nvSpPr>
          <p:spPr bwMode="auto">
            <a:xfrm>
              <a:off x="1220" y="2179"/>
              <a:ext cx="616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810" name="Line 1088"/>
            <p:cNvSpPr>
              <a:spLocks noChangeShapeType="1"/>
            </p:cNvSpPr>
            <p:nvPr/>
          </p:nvSpPr>
          <p:spPr bwMode="auto">
            <a:xfrm flipV="1">
              <a:off x="1213" y="1663"/>
              <a:ext cx="623" cy="8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811" name="Line 1089"/>
            <p:cNvSpPr>
              <a:spLocks noChangeShapeType="1"/>
            </p:cNvSpPr>
            <p:nvPr/>
          </p:nvSpPr>
          <p:spPr bwMode="auto">
            <a:xfrm flipV="1">
              <a:off x="1213" y="2179"/>
              <a:ext cx="623" cy="5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812" name="Line 1090"/>
            <p:cNvSpPr>
              <a:spLocks noChangeShapeType="1"/>
            </p:cNvSpPr>
            <p:nvPr/>
          </p:nvSpPr>
          <p:spPr bwMode="auto">
            <a:xfrm flipV="1">
              <a:off x="1213" y="2702"/>
              <a:ext cx="623" cy="2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813" name="Line 1091"/>
            <p:cNvSpPr>
              <a:spLocks noChangeShapeType="1"/>
            </p:cNvSpPr>
            <p:nvPr/>
          </p:nvSpPr>
          <p:spPr bwMode="auto">
            <a:xfrm>
              <a:off x="1213" y="3232"/>
              <a:ext cx="6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814" name="Freeform 1092"/>
            <p:cNvSpPr>
              <a:spLocks/>
            </p:cNvSpPr>
            <p:nvPr/>
          </p:nvSpPr>
          <p:spPr bwMode="auto">
            <a:xfrm>
              <a:off x="1290" y="1692"/>
              <a:ext cx="2948" cy="1304"/>
            </a:xfrm>
            <a:custGeom>
              <a:avLst/>
              <a:gdLst>
                <a:gd name="T0" fmla="*/ 0 w 2526"/>
                <a:gd name="T1" fmla="*/ 0 h 1092"/>
                <a:gd name="T2" fmla="*/ 1181 w 2526"/>
                <a:gd name="T3" fmla="*/ 590 h 1092"/>
                <a:gd name="T4" fmla="*/ 1818 w 2526"/>
                <a:gd name="T5" fmla="*/ 1165 h 1092"/>
                <a:gd name="T6" fmla="*/ 3185 w 2526"/>
                <a:gd name="T7" fmla="*/ 3166 h 1092"/>
                <a:gd name="T8" fmla="*/ 3851 w 2526"/>
                <a:gd name="T9" fmla="*/ 3166 h 1092"/>
                <a:gd name="T10" fmla="*/ 5185 w 2526"/>
                <a:gd name="T11" fmla="*/ 2453 h 1092"/>
                <a:gd name="T12" fmla="*/ 6384 w 2526"/>
                <a:gd name="T13" fmla="*/ 2437 h 10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526"/>
                <a:gd name="T22" fmla="*/ 0 h 1092"/>
                <a:gd name="T23" fmla="*/ 2526 w 2526"/>
                <a:gd name="T24" fmla="*/ 1092 h 109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526" h="1092">
                  <a:moveTo>
                    <a:pt x="0" y="0"/>
                  </a:moveTo>
                  <a:lnTo>
                    <a:pt x="468" y="204"/>
                  </a:lnTo>
                  <a:lnTo>
                    <a:pt x="720" y="402"/>
                  </a:lnTo>
                  <a:lnTo>
                    <a:pt x="1260" y="1092"/>
                  </a:lnTo>
                  <a:lnTo>
                    <a:pt x="1524" y="1092"/>
                  </a:lnTo>
                  <a:lnTo>
                    <a:pt x="2052" y="846"/>
                  </a:lnTo>
                  <a:lnTo>
                    <a:pt x="2526" y="84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747" name="Rectangle 109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Self-Routing Switches</a:t>
            </a:r>
          </a:p>
        </p:txBody>
      </p:sp>
      <p:sp>
        <p:nvSpPr>
          <p:cNvPr id="31748" name="Rectangle 1095"/>
          <p:cNvSpPr>
            <a:spLocks noGrp="1" noChangeArrowheads="1"/>
          </p:cNvSpPr>
          <p:nvPr>
            <p:ph type="body" idx="1"/>
          </p:nvPr>
        </p:nvSpPr>
        <p:spPr>
          <a:xfrm>
            <a:off x="457200" y="5330825"/>
            <a:ext cx="8229600" cy="13001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600" smtClean="0"/>
              <a:t>Self-routing switches do not require controller</a:t>
            </a:r>
          </a:p>
          <a:p>
            <a:pPr eaLnBrk="1" hangingPunct="1">
              <a:lnSpc>
                <a:spcPct val="80000"/>
              </a:lnSpc>
            </a:pPr>
            <a:r>
              <a:rPr lang="en-US" sz="2600" smtClean="0"/>
              <a:t>Output port number determines route</a:t>
            </a:r>
          </a:p>
          <a:p>
            <a:pPr eaLnBrk="1" hangingPunct="1">
              <a:lnSpc>
                <a:spcPct val="80000"/>
              </a:lnSpc>
            </a:pPr>
            <a:r>
              <a:rPr lang="en-US" sz="2600" smtClean="0"/>
              <a:t>101 </a:t>
            </a:r>
            <a:r>
              <a:rPr lang="en-US" sz="2600" smtClean="0">
                <a:cs typeface="Arial" charset="0"/>
              </a:rPr>
              <a:t>→ (1) lower port, (2) upper port, (3) lower port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4400" smtClean="0">
                <a:solidFill>
                  <a:schemeClr val="hlink"/>
                </a:solidFill>
              </a:rPr>
              <a:t>Chapter 7</a:t>
            </a:r>
            <a:r>
              <a:rPr lang="en-US" sz="4400" smtClean="0"/>
              <a:t/>
            </a:r>
            <a:br>
              <a:rPr lang="en-US" sz="4400" smtClean="0"/>
            </a:br>
            <a:r>
              <a:rPr lang="en-US" sz="4400" smtClean="0"/>
              <a:t>Packet-Switching Networks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3022600"/>
          </a:xfrm>
        </p:spPr>
        <p:txBody>
          <a:bodyPr/>
          <a:lstStyle/>
          <a:p>
            <a:pPr eaLnBrk="1" hangingPunct="1"/>
            <a:r>
              <a:rPr lang="en-US" b="1" i="1" smtClean="0"/>
              <a:t>Routing in Packet Networks</a:t>
            </a:r>
          </a:p>
          <a:p>
            <a:pPr eaLnBrk="1" hangingPunct="1"/>
            <a:endParaRPr lang="en-US" b="1" i="1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Group 1026"/>
          <p:cNvGrpSpPr>
            <a:grpSpLocks/>
          </p:cNvGrpSpPr>
          <p:nvPr/>
        </p:nvGrpSpPr>
        <p:grpSpPr bwMode="auto">
          <a:xfrm>
            <a:off x="2443163" y="1562100"/>
            <a:ext cx="3795712" cy="2254250"/>
            <a:chOff x="1613" y="1374"/>
            <a:chExt cx="2391" cy="1420"/>
          </a:xfrm>
        </p:grpSpPr>
        <p:sp>
          <p:nvSpPr>
            <p:cNvPr id="33797" name="Freeform 1027"/>
            <p:cNvSpPr>
              <a:spLocks/>
            </p:cNvSpPr>
            <p:nvPr/>
          </p:nvSpPr>
          <p:spPr bwMode="auto">
            <a:xfrm>
              <a:off x="1848" y="1566"/>
              <a:ext cx="1692" cy="948"/>
            </a:xfrm>
            <a:custGeom>
              <a:avLst/>
              <a:gdLst>
                <a:gd name="T0" fmla="*/ 0 w 1692"/>
                <a:gd name="T1" fmla="*/ 0 h 948"/>
                <a:gd name="T2" fmla="*/ 684 w 1692"/>
                <a:gd name="T3" fmla="*/ 444 h 948"/>
                <a:gd name="T4" fmla="*/ 846 w 1692"/>
                <a:gd name="T5" fmla="*/ 624 h 948"/>
                <a:gd name="T6" fmla="*/ 1044 w 1692"/>
                <a:gd name="T7" fmla="*/ 930 h 948"/>
                <a:gd name="T8" fmla="*/ 1104 w 1692"/>
                <a:gd name="T9" fmla="*/ 948 h 948"/>
                <a:gd name="T10" fmla="*/ 1146 w 1692"/>
                <a:gd name="T11" fmla="*/ 930 h 948"/>
                <a:gd name="T12" fmla="*/ 1692 w 1692"/>
                <a:gd name="T13" fmla="*/ 150 h 9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92"/>
                <a:gd name="T22" fmla="*/ 0 h 948"/>
                <a:gd name="T23" fmla="*/ 1692 w 1692"/>
                <a:gd name="T24" fmla="*/ 948 h 9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92" h="948">
                  <a:moveTo>
                    <a:pt x="0" y="0"/>
                  </a:moveTo>
                  <a:lnTo>
                    <a:pt x="684" y="444"/>
                  </a:lnTo>
                  <a:lnTo>
                    <a:pt x="846" y="624"/>
                  </a:lnTo>
                  <a:lnTo>
                    <a:pt x="1044" y="930"/>
                  </a:lnTo>
                  <a:lnTo>
                    <a:pt x="1104" y="948"/>
                  </a:lnTo>
                  <a:lnTo>
                    <a:pt x="1146" y="930"/>
                  </a:lnTo>
                  <a:lnTo>
                    <a:pt x="1692" y="150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798" name="Freeform 1028"/>
            <p:cNvSpPr>
              <a:spLocks/>
            </p:cNvSpPr>
            <p:nvPr/>
          </p:nvSpPr>
          <p:spPr bwMode="auto">
            <a:xfrm>
              <a:off x="1848" y="1428"/>
              <a:ext cx="1722" cy="156"/>
            </a:xfrm>
            <a:custGeom>
              <a:avLst/>
              <a:gdLst>
                <a:gd name="T0" fmla="*/ 0 w 1722"/>
                <a:gd name="T1" fmla="*/ 0 h 156"/>
                <a:gd name="T2" fmla="*/ 804 w 1722"/>
                <a:gd name="T3" fmla="*/ 18 h 156"/>
                <a:gd name="T4" fmla="*/ 1032 w 1722"/>
                <a:gd name="T5" fmla="*/ 30 h 156"/>
                <a:gd name="T6" fmla="*/ 1722 w 1722"/>
                <a:gd name="T7" fmla="*/ 156 h 1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22"/>
                <a:gd name="T13" fmla="*/ 0 h 156"/>
                <a:gd name="T14" fmla="*/ 1722 w 1722"/>
                <a:gd name="T15" fmla="*/ 156 h 1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22" h="156">
                  <a:moveTo>
                    <a:pt x="0" y="0"/>
                  </a:moveTo>
                  <a:lnTo>
                    <a:pt x="804" y="18"/>
                  </a:lnTo>
                  <a:lnTo>
                    <a:pt x="1032" y="30"/>
                  </a:lnTo>
                  <a:lnTo>
                    <a:pt x="1722" y="156"/>
                  </a:lnTo>
                </a:path>
              </a:pathLst>
            </a:custGeom>
            <a:noFill/>
            <a:ln w="28575" cap="rnd">
              <a:solidFill>
                <a:srgbClr val="FF33CC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799" name="Freeform 1029"/>
            <p:cNvSpPr>
              <a:spLocks/>
            </p:cNvSpPr>
            <p:nvPr/>
          </p:nvSpPr>
          <p:spPr bwMode="auto">
            <a:xfrm>
              <a:off x="1674" y="1626"/>
              <a:ext cx="1914" cy="1056"/>
            </a:xfrm>
            <a:custGeom>
              <a:avLst/>
              <a:gdLst>
                <a:gd name="T0" fmla="*/ 24 w 1914"/>
                <a:gd name="T1" fmla="*/ 0 h 1056"/>
                <a:gd name="T2" fmla="*/ 24 w 1914"/>
                <a:gd name="T3" fmla="*/ 762 h 1056"/>
                <a:gd name="T4" fmla="*/ 0 w 1914"/>
                <a:gd name="T5" fmla="*/ 918 h 1056"/>
                <a:gd name="T6" fmla="*/ 42 w 1914"/>
                <a:gd name="T7" fmla="*/ 972 h 1056"/>
                <a:gd name="T8" fmla="*/ 144 w 1914"/>
                <a:gd name="T9" fmla="*/ 984 h 1056"/>
                <a:gd name="T10" fmla="*/ 1164 w 1914"/>
                <a:gd name="T11" fmla="*/ 1044 h 1056"/>
                <a:gd name="T12" fmla="*/ 1284 w 1914"/>
                <a:gd name="T13" fmla="*/ 1056 h 1056"/>
                <a:gd name="T14" fmla="*/ 1356 w 1914"/>
                <a:gd name="T15" fmla="*/ 972 h 1056"/>
                <a:gd name="T16" fmla="*/ 1368 w 1914"/>
                <a:gd name="T17" fmla="*/ 924 h 1056"/>
                <a:gd name="T18" fmla="*/ 1914 w 1914"/>
                <a:gd name="T19" fmla="*/ 156 h 105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914"/>
                <a:gd name="T31" fmla="*/ 0 h 1056"/>
                <a:gd name="T32" fmla="*/ 1914 w 1914"/>
                <a:gd name="T33" fmla="*/ 1056 h 105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914" h="1056">
                  <a:moveTo>
                    <a:pt x="24" y="0"/>
                  </a:moveTo>
                  <a:lnTo>
                    <a:pt x="24" y="762"/>
                  </a:lnTo>
                  <a:lnTo>
                    <a:pt x="0" y="918"/>
                  </a:lnTo>
                  <a:lnTo>
                    <a:pt x="42" y="972"/>
                  </a:lnTo>
                  <a:lnTo>
                    <a:pt x="144" y="984"/>
                  </a:lnTo>
                  <a:lnTo>
                    <a:pt x="1164" y="1044"/>
                  </a:lnTo>
                  <a:lnTo>
                    <a:pt x="1284" y="1056"/>
                  </a:lnTo>
                  <a:lnTo>
                    <a:pt x="1356" y="972"/>
                  </a:lnTo>
                  <a:lnTo>
                    <a:pt x="1368" y="924"/>
                  </a:lnTo>
                  <a:lnTo>
                    <a:pt x="1914" y="156"/>
                  </a:lnTo>
                </a:path>
              </a:pathLst>
            </a:custGeom>
            <a:noFill/>
            <a:ln w="28575">
              <a:solidFill>
                <a:srgbClr val="FF99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0" name="Oval 1030"/>
            <p:cNvSpPr>
              <a:spLocks noChangeArrowheads="1"/>
            </p:cNvSpPr>
            <p:nvPr/>
          </p:nvSpPr>
          <p:spPr bwMode="auto">
            <a:xfrm>
              <a:off x="1613" y="2380"/>
              <a:ext cx="243" cy="257"/>
            </a:xfrm>
            <a:prstGeom prst="ellipse">
              <a:avLst/>
            </a:prstGeom>
            <a:solidFill>
              <a:schemeClr val="accent2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01" name="Oval 1031"/>
            <p:cNvSpPr>
              <a:spLocks noChangeArrowheads="1"/>
            </p:cNvSpPr>
            <p:nvPr/>
          </p:nvSpPr>
          <p:spPr bwMode="auto">
            <a:xfrm>
              <a:off x="3535" y="1545"/>
              <a:ext cx="243" cy="257"/>
            </a:xfrm>
            <a:prstGeom prst="ellipse">
              <a:avLst/>
            </a:prstGeom>
            <a:solidFill>
              <a:schemeClr val="accent2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02" name="Oval 1032"/>
            <p:cNvSpPr>
              <a:spLocks noChangeArrowheads="1"/>
            </p:cNvSpPr>
            <p:nvPr/>
          </p:nvSpPr>
          <p:spPr bwMode="auto">
            <a:xfrm>
              <a:off x="2488" y="1975"/>
              <a:ext cx="243" cy="257"/>
            </a:xfrm>
            <a:prstGeom prst="ellipse">
              <a:avLst/>
            </a:prstGeom>
            <a:solidFill>
              <a:schemeClr val="accent2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03" name="Oval 1033"/>
            <p:cNvSpPr>
              <a:spLocks noChangeArrowheads="1"/>
            </p:cNvSpPr>
            <p:nvPr/>
          </p:nvSpPr>
          <p:spPr bwMode="auto">
            <a:xfrm>
              <a:off x="1623" y="1374"/>
              <a:ext cx="243" cy="257"/>
            </a:xfrm>
            <a:prstGeom prst="ellipse">
              <a:avLst/>
            </a:prstGeom>
            <a:solidFill>
              <a:schemeClr val="accent2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04" name="Oval 1034"/>
            <p:cNvSpPr>
              <a:spLocks noChangeArrowheads="1"/>
            </p:cNvSpPr>
            <p:nvPr/>
          </p:nvSpPr>
          <p:spPr bwMode="auto">
            <a:xfrm>
              <a:off x="2636" y="1374"/>
              <a:ext cx="243" cy="257"/>
            </a:xfrm>
            <a:prstGeom prst="ellipse">
              <a:avLst/>
            </a:prstGeom>
            <a:solidFill>
              <a:schemeClr val="accent2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05" name="Oval 1035"/>
            <p:cNvSpPr>
              <a:spLocks noChangeArrowheads="1"/>
            </p:cNvSpPr>
            <p:nvPr/>
          </p:nvSpPr>
          <p:spPr bwMode="auto">
            <a:xfrm>
              <a:off x="2814" y="2471"/>
              <a:ext cx="243" cy="257"/>
            </a:xfrm>
            <a:prstGeom prst="ellipse">
              <a:avLst/>
            </a:prstGeom>
            <a:solidFill>
              <a:schemeClr val="accent2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06" name="Line 1036"/>
            <p:cNvSpPr>
              <a:spLocks noChangeShapeType="1"/>
            </p:cNvSpPr>
            <p:nvPr/>
          </p:nvSpPr>
          <p:spPr bwMode="auto">
            <a:xfrm>
              <a:off x="1870" y="1496"/>
              <a:ext cx="763" cy="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807" name="Line 1037"/>
            <p:cNvSpPr>
              <a:spLocks noChangeShapeType="1"/>
            </p:cNvSpPr>
            <p:nvPr/>
          </p:nvSpPr>
          <p:spPr bwMode="auto">
            <a:xfrm flipH="1">
              <a:off x="2641" y="1624"/>
              <a:ext cx="69" cy="35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808" name="Line 1038"/>
            <p:cNvSpPr>
              <a:spLocks noChangeShapeType="1"/>
            </p:cNvSpPr>
            <p:nvPr/>
          </p:nvSpPr>
          <p:spPr bwMode="auto">
            <a:xfrm>
              <a:off x="2650" y="2234"/>
              <a:ext cx="208" cy="276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809" name="Line 1039"/>
            <p:cNvSpPr>
              <a:spLocks noChangeShapeType="1"/>
            </p:cNvSpPr>
            <p:nvPr/>
          </p:nvSpPr>
          <p:spPr bwMode="auto">
            <a:xfrm>
              <a:off x="2868" y="1506"/>
              <a:ext cx="672" cy="128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810" name="Line 1040"/>
            <p:cNvSpPr>
              <a:spLocks noChangeShapeType="1"/>
            </p:cNvSpPr>
            <p:nvPr/>
          </p:nvSpPr>
          <p:spPr bwMode="auto">
            <a:xfrm flipV="1">
              <a:off x="3026" y="1752"/>
              <a:ext cx="533" cy="758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811" name="Line 1041"/>
            <p:cNvSpPr>
              <a:spLocks noChangeShapeType="1"/>
            </p:cNvSpPr>
            <p:nvPr/>
          </p:nvSpPr>
          <p:spPr bwMode="auto">
            <a:xfrm flipH="1" flipV="1">
              <a:off x="1840" y="2569"/>
              <a:ext cx="978" cy="59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812" name="Line 1042"/>
            <p:cNvSpPr>
              <a:spLocks noChangeShapeType="1"/>
            </p:cNvSpPr>
            <p:nvPr/>
          </p:nvSpPr>
          <p:spPr bwMode="auto">
            <a:xfrm>
              <a:off x="1732" y="1614"/>
              <a:ext cx="1" cy="771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813" name="Line 1043"/>
            <p:cNvSpPr>
              <a:spLocks noChangeShapeType="1"/>
            </p:cNvSpPr>
            <p:nvPr/>
          </p:nvSpPr>
          <p:spPr bwMode="auto">
            <a:xfrm>
              <a:off x="1811" y="1584"/>
              <a:ext cx="681" cy="453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814" name="Line 1044"/>
            <p:cNvSpPr>
              <a:spLocks noChangeShapeType="1"/>
            </p:cNvSpPr>
            <p:nvPr/>
          </p:nvSpPr>
          <p:spPr bwMode="auto">
            <a:xfrm flipH="1">
              <a:off x="1831" y="2156"/>
              <a:ext cx="652" cy="275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815" name="Rectangle 1045"/>
            <p:cNvSpPr>
              <a:spLocks noChangeArrowheads="1"/>
            </p:cNvSpPr>
            <p:nvPr/>
          </p:nvSpPr>
          <p:spPr bwMode="auto">
            <a:xfrm>
              <a:off x="1714" y="1431"/>
              <a:ext cx="67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500">
                  <a:solidFill>
                    <a:srgbClr val="000000"/>
                  </a:solidFill>
                </a:rPr>
                <a:t>1</a:t>
              </a:r>
              <a:endParaRPr lang="en-US" sz="1800"/>
            </a:p>
          </p:txBody>
        </p:sp>
        <p:sp>
          <p:nvSpPr>
            <p:cNvPr id="33816" name="Rectangle 1046"/>
            <p:cNvSpPr>
              <a:spLocks noChangeArrowheads="1"/>
            </p:cNvSpPr>
            <p:nvPr/>
          </p:nvSpPr>
          <p:spPr bwMode="auto">
            <a:xfrm>
              <a:off x="1702" y="2452"/>
              <a:ext cx="67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500">
                  <a:solidFill>
                    <a:srgbClr val="000000"/>
                  </a:solidFill>
                </a:rPr>
                <a:t>2</a:t>
              </a:r>
              <a:endParaRPr lang="en-US" sz="1800"/>
            </a:p>
          </p:txBody>
        </p:sp>
        <p:sp>
          <p:nvSpPr>
            <p:cNvPr id="33817" name="Rectangle 1047"/>
            <p:cNvSpPr>
              <a:spLocks noChangeArrowheads="1"/>
            </p:cNvSpPr>
            <p:nvPr/>
          </p:nvSpPr>
          <p:spPr bwMode="auto">
            <a:xfrm>
              <a:off x="2720" y="1448"/>
              <a:ext cx="67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500">
                  <a:solidFill>
                    <a:srgbClr val="000000"/>
                  </a:solidFill>
                </a:rPr>
                <a:t>3</a:t>
              </a:r>
              <a:endParaRPr lang="en-US" sz="1800"/>
            </a:p>
          </p:txBody>
        </p:sp>
        <p:sp>
          <p:nvSpPr>
            <p:cNvPr id="33818" name="Rectangle 1048"/>
            <p:cNvSpPr>
              <a:spLocks noChangeArrowheads="1"/>
            </p:cNvSpPr>
            <p:nvPr/>
          </p:nvSpPr>
          <p:spPr bwMode="auto">
            <a:xfrm>
              <a:off x="2581" y="2039"/>
              <a:ext cx="67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500">
                  <a:solidFill>
                    <a:srgbClr val="000000"/>
                  </a:solidFill>
                </a:rPr>
                <a:t>4</a:t>
              </a:r>
              <a:endParaRPr lang="en-US" sz="1800"/>
            </a:p>
          </p:txBody>
        </p:sp>
        <p:sp>
          <p:nvSpPr>
            <p:cNvPr id="33819" name="Rectangle 1049"/>
            <p:cNvSpPr>
              <a:spLocks noChangeArrowheads="1"/>
            </p:cNvSpPr>
            <p:nvPr/>
          </p:nvSpPr>
          <p:spPr bwMode="auto">
            <a:xfrm>
              <a:off x="2907" y="2541"/>
              <a:ext cx="67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500">
                  <a:solidFill>
                    <a:srgbClr val="000000"/>
                  </a:solidFill>
                </a:rPr>
                <a:t>5</a:t>
              </a:r>
              <a:endParaRPr lang="en-US" sz="1800"/>
            </a:p>
          </p:txBody>
        </p:sp>
        <p:sp>
          <p:nvSpPr>
            <p:cNvPr id="33820" name="Rectangle 1050"/>
            <p:cNvSpPr>
              <a:spLocks noChangeArrowheads="1"/>
            </p:cNvSpPr>
            <p:nvPr/>
          </p:nvSpPr>
          <p:spPr bwMode="auto">
            <a:xfrm>
              <a:off x="3619" y="1615"/>
              <a:ext cx="67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500">
                  <a:solidFill>
                    <a:srgbClr val="000000"/>
                  </a:solidFill>
                </a:rPr>
                <a:t>6</a:t>
              </a:r>
              <a:endParaRPr lang="en-US" sz="1800"/>
            </a:p>
          </p:txBody>
        </p:sp>
        <p:sp>
          <p:nvSpPr>
            <p:cNvPr id="33821" name="Rectangle 1051"/>
            <p:cNvSpPr>
              <a:spLocks noChangeArrowheads="1"/>
            </p:cNvSpPr>
            <p:nvPr/>
          </p:nvSpPr>
          <p:spPr bwMode="auto">
            <a:xfrm>
              <a:off x="3103" y="2506"/>
              <a:ext cx="9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500">
                  <a:solidFill>
                    <a:srgbClr val="000000"/>
                  </a:solidFill>
                </a:rPr>
                <a:t>Node 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500">
                  <a:solidFill>
                    <a:srgbClr val="000000"/>
                  </a:solidFill>
                </a:rPr>
                <a:t>(switch or router)</a:t>
              </a:r>
              <a:endParaRPr lang="en-US" sz="1800"/>
            </a:p>
          </p:txBody>
        </p:sp>
        <p:sp>
          <p:nvSpPr>
            <p:cNvPr id="33822" name="Line 1052"/>
            <p:cNvSpPr>
              <a:spLocks noChangeShapeType="1"/>
            </p:cNvSpPr>
            <p:nvPr/>
          </p:nvSpPr>
          <p:spPr bwMode="auto">
            <a:xfrm flipH="1">
              <a:off x="3060" y="2574"/>
              <a:ext cx="324" cy="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33795" name="Rectangle 105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Routing in Packet Networks</a:t>
            </a:r>
          </a:p>
        </p:txBody>
      </p:sp>
      <p:sp>
        <p:nvSpPr>
          <p:cNvPr id="33796" name="Rectangle 1054"/>
          <p:cNvSpPr>
            <a:spLocks noGrp="1" noChangeArrowheads="1"/>
          </p:cNvSpPr>
          <p:nvPr>
            <p:ph type="body" idx="1"/>
          </p:nvPr>
        </p:nvSpPr>
        <p:spPr>
          <a:xfrm>
            <a:off x="457200" y="4000500"/>
            <a:ext cx="8229600" cy="2493963"/>
          </a:xfrm>
        </p:spPr>
        <p:txBody>
          <a:bodyPr/>
          <a:lstStyle/>
          <a:p>
            <a:pPr eaLnBrk="1" hangingPunct="1"/>
            <a:r>
              <a:rPr lang="en-US" smtClean="0"/>
              <a:t>Three possible (loopfree) routes from 1 to 6:</a:t>
            </a:r>
          </a:p>
          <a:p>
            <a:pPr lvl="1" eaLnBrk="1" hangingPunct="1"/>
            <a:r>
              <a:rPr lang="en-US" smtClean="0"/>
              <a:t>1-3-6, 1-4-5-6, 1-2-5-6</a:t>
            </a:r>
          </a:p>
          <a:p>
            <a:pPr eaLnBrk="1" hangingPunct="1"/>
            <a:r>
              <a:rPr lang="en-US" smtClean="0"/>
              <a:t>Which is “best”?</a:t>
            </a:r>
          </a:p>
          <a:p>
            <a:pPr lvl="1" eaLnBrk="1" hangingPunct="1"/>
            <a:r>
              <a:rPr lang="en-US" smtClean="0"/>
              <a:t>Min delay?  Min hop? Max bandwidth? Min cost?  Max reliability?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Creating the Routing Tables</a:t>
            </a:r>
          </a:p>
        </p:txBody>
      </p:sp>
      <p:sp>
        <p:nvSpPr>
          <p:cNvPr id="3481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445500" cy="4683125"/>
          </a:xfrm>
        </p:spPr>
        <p:txBody>
          <a:bodyPr/>
          <a:lstStyle/>
          <a:p>
            <a:pPr eaLnBrk="1" hangingPunct="1"/>
            <a:r>
              <a:rPr lang="en-US" smtClean="0"/>
              <a:t>Need information on state of links</a:t>
            </a:r>
          </a:p>
          <a:p>
            <a:pPr lvl="1" eaLnBrk="1" hangingPunct="1"/>
            <a:r>
              <a:rPr lang="en-US" smtClean="0"/>
              <a:t>Link up/down; congested; delay or other metrics</a:t>
            </a:r>
          </a:p>
          <a:p>
            <a:pPr eaLnBrk="1" hangingPunct="1"/>
            <a:r>
              <a:rPr lang="en-US" smtClean="0"/>
              <a:t>Need to distribute link state information using a routing protocol</a:t>
            </a:r>
          </a:p>
          <a:p>
            <a:pPr lvl="1" eaLnBrk="1" hangingPunct="1"/>
            <a:r>
              <a:rPr lang="en-US" smtClean="0"/>
              <a:t>What information is exchanged? How often?</a:t>
            </a:r>
          </a:p>
          <a:p>
            <a:pPr lvl="1" eaLnBrk="1" hangingPunct="1"/>
            <a:r>
              <a:rPr lang="en-US" smtClean="0"/>
              <a:t>Exchange with neighbors; Broadcast or flood</a:t>
            </a:r>
          </a:p>
          <a:p>
            <a:pPr eaLnBrk="1" hangingPunct="1"/>
            <a:r>
              <a:rPr lang="en-US" smtClean="0"/>
              <a:t>Need to compute routes based on information</a:t>
            </a:r>
          </a:p>
          <a:p>
            <a:pPr lvl="1" eaLnBrk="1" hangingPunct="1"/>
            <a:r>
              <a:rPr lang="en-US" smtClean="0"/>
              <a:t>Single metric;  multiple metrics</a:t>
            </a:r>
          </a:p>
          <a:p>
            <a:pPr lvl="1" eaLnBrk="1" hangingPunct="1"/>
            <a:r>
              <a:rPr lang="en-US" smtClean="0"/>
              <a:t>Single route; alternate routes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493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sz="3500" smtClean="0"/>
              <a:t>Routing Algorithm Requirements </a:t>
            </a:r>
          </a:p>
        </p:txBody>
      </p:sp>
      <p:sp>
        <p:nvSpPr>
          <p:cNvPr id="3584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001000" cy="1905000"/>
          </a:xfrm>
          <a:noFill/>
        </p:spPr>
        <p:txBody>
          <a:bodyPr/>
          <a:lstStyle/>
          <a:p>
            <a:pPr eaLnBrk="1" hangingPunct="1"/>
            <a:r>
              <a:rPr lang="en-US" sz="2600" smtClean="0"/>
              <a:t>Responsiveness to changes</a:t>
            </a:r>
          </a:p>
          <a:p>
            <a:pPr lvl="1" eaLnBrk="1" hangingPunct="1"/>
            <a:r>
              <a:rPr lang="en-US" sz="2200" smtClean="0"/>
              <a:t>Topology or bandwidth changes, congestion </a:t>
            </a:r>
          </a:p>
          <a:p>
            <a:pPr lvl="1" eaLnBrk="1" hangingPunct="1"/>
            <a:r>
              <a:rPr lang="en-US" sz="2200" smtClean="0"/>
              <a:t>Rapid convergence of routers to consistent set of routes</a:t>
            </a:r>
          </a:p>
          <a:p>
            <a:pPr lvl="1" eaLnBrk="1" hangingPunct="1"/>
            <a:r>
              <a:rPr lang="en-US" sz="2200" smtClean="0"/>
              <a:t>Freedom from persistent loops</a:t>
            </a:r>
          </a:p>
          <a:p>
            <a:pPr eaLnBrk="1" hangingPunct="1"/>
            <a:r>
              <a:rPr lang="en-US" sz="2600" smtClean="0"/>
              <a:t>Optimality</a:t>
            </a:r>
          </a:p>
          <a:p>
            <a:pPr lvl="1" eaLnBrk="1" hangingPunct="1"/>
            <a:r>
              <a:rPr lang="en-US" sz="2200" smtClean="0"/>
              <a:t>Resource utilization, path length </a:t>
            </a:r>
          </a:p>
          <a:p>
            <a:pPr eaLnBrk="1" hangingPunct="1"/>
            <a:r>
              <a:rPr lang="en-US" sz="2600" smtClean="0"/>
              <a:t>Robustness</a:t>
            </a:r>
          </a:p>
          <a:p>
            <a:pPr lvl="1" eaLnBrk="1" hangingPunct="1"/>
            <a:r>
              <a:rPr lang="en-US" sz="2200" smtClean="0"/>
              <a:t>Continues working under high load, congestion, faults, equipment failures, incorrect implementations</a:t>
            </a:r>
          </a:p>
          <a:p>
            <a:pPr eaLnBrk="1" hangingPunct="1"/>
            <a:r>
              <a:rPr lang="en-US" sz="2600" smtClean="0"/>
              <a:t>Simplicity</a:t>
            </a:r>
          </a:p>
          <a:p>
            <a:pPr lvl="1" eaLnBrk="1" hangingPunct="1"/>
            <a:r>
              <a:rPr lang="en-US" sz="2200" smtClean="0"/>
              <a:t>Efficient software implementation, reasonable processing load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500" smtClean="0"/>
              <a:t>Centralized vs Distributed Routing</a:t>
            </a:r>
          </a:p>
        </p:txBody>
      </p:sp>
      <p:sp>
        <p:nvSpPr>
          <p:cNvPr id="3686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4213" y="1284288"/>
            <a:ext cx="7772400" cy="4114800"/>
          </a:xfrm>
        </p:spPr>
        <p:txBody>
          <a:bodyPr/>
          <a:lstStyle/>
          <a:p>
            <a:pPr eaLnBrk="1" hangingPunct="1"/>
            <a:r>
              <a:rPr lang="en-US" sz="2600" smtClean="0"/>
              <a:t>Centralized Routing</a:t>
            </a:r>
          </a:p>
          <a:p>
            <a:pPr marL="742950" lvl="1" indent="-285750" eaLnBrk="1" hangingPunct="1"/>
            <a:r>
              <a:rPr lang="en-US" sz="2200" smtClean="0"/>
              <a:t>All routes determined by a central node</a:t>
            </a:r>
          </a:p>
          <a:p>
            <a:pPr marL="742950" lvl="1" indent="-285750" eaLnBrk="1" hangingPunct="1"/>
            <a:r>
              <a:rPr lang="en-US" sz="2200" smtClean="0"/>
              <a:t>All state information sent to central node</a:t>
            </a:r>
          </a:p>
          <a:p>
            <a:pPr marL="742950" lvl="1" indent="-285750" eaLnBrk="1" hangingPunct="1"/>
            <a:r>
              <a:rPr lang="en-US" sz="2200" smtClean="0"/>
              <a:t>Problems adapting to frequent topology changes</a:t>
            </a:r>
          </a:p>
          <a:p>
            <a:pPr marL="742950" lvl="1" indent="-285750" eaLnBrk="1" hangingPunct="1"/>
            <a:r>
              <a:rPr lang="en-US" sz="2200" smtClean="0"/>
              <a:t>Does not scale</a:t>
            </a:r>
          </a:p>
          <a:p>
            <a:pPr eaLnBrk="1" hangingPunct="1"/>
            <a:r>
              <a:rPr lang="en-US" sz="2600" smtClean="0"/>
              <a:t>Distributed Routing</a:t>
            </a:r>
          </a:p>
          <a:p>
            <a:pPr marL="742950" lvl="1" indent="-285750" eaLnBrk="1" hangingPunct="1"/>
            <a:r>
              <a:rPr lang="en-US" sz="2200" smtClean="0"/>
              <a:t>Routes determined by routers using distributed algorithm</a:t>
            </a:r>
          </a:p>
          <a:p>
            <a:pPr marL="742950" lvl="1" indent="-285750" eaLnBrk="1" hangingPunct="1"/>
            <a:r>
              <a:rPr lang="en-US" sz="2200" smtClean="0"/>
              <a:t>State information exchanged by routers</a:t>
            </a:r>
          </a:p>
          <a:p>
            <a:pPr marL="742950" lvl="1" indent="-285750" eaLnBrk="1" hangingPunct="1"/>
            <a:r>
              <a:rPr lang="en-US" sz="2200" smtClean="0"/>
              <a:t>Adapts to topology and other changes</a:t>
            </a:r>
          </a:p>
          <a:p>
            <a:pPr marL="742950" lvl="1" indent="-285750" eaLnBrk="1" hangingPunct="1"/>
            <a:r>
              <a:rPr lang="en-US" sz="2200" smtClean="0"/>
              <a:t>Better scalability</a:t>
            </a:r>
          </a:p>
          <a:p>
            <a:pPr eaLnBrk="1" hangingPunct="1"/>
            <a:endParaRPr lang="en-US" sz="2600" smtClean="0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Static vs Dynamic Routing</a:t>
            </a:r>
          </a:p>
        </p:txBody>
      </p:sp>
      <p:sp>
        <p:nvSpPr>
          <p:cNvPr id="3789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600" smtClean="0"/>
              <a:t>Static Routing</a:t>
            </a:r>
          </a:p>
          <a:p>
            <a:pPr marL="742950" lvl="1" indent="-285750" eaLnBrk="1" hangingPunct="1"/>
            <a:r>
              <a:rPr lang="en-US" sz="2200" smtClean="0"/>
              <a:t>Set up manually, do not change;  requires administration</a:t>
            </a:r>
          </a:p>
          <a:p>
            <a:pPr marL="742950" lvl="1" indent="-285750" eaLnBrk="1" hangingPunct="1"/>
            <a:r>
              <a:rPr lang="en-US" sz="2200" smtClean="0"/>
              <a:t>Works when traffic predictable &amp; network is simple</a:t>
            </a:r>
          </a:p>
          <a:p>
            <a:pPr marL="742950" lvl="1" indent="-285750" eaLnBrk="1" hangingPunct="1"/>
            <a:r>
              <a:rPr lang="en-US" sz="2200" smtClean="0"/>
              <a:t>Used to override some routes set by dynamic algorithm</a:t>
            </a:r>
          </a:p>
          <a:p>
            <a:pPr marL="742950" lvl="1" indent="-285750" eaLnBrk="1" hangingPunct="1"/>
            <a:r>
              <a:rPr lang="en-US" sz="2200" smtClean="0"/>
              <a:t>Used to provide default router</a:t>
            </a:r>
          </a:p>
          <a:p>
            <a:pPr eaLnBrk="1" hangingPunct="1"/>
            <a:r>
              <a:rPr lang="en-US" sz="2600" smtClean="0"/>
              <a:t>Dynamic Routing</a:t>
            </a:r>
          </a:p>
          <a:p>
            <a:pPr marL="742950" lvl="1" indent="-285750" eaLnBrk="1" hangingPunct="1"/>
            <a:r>
              <a:rPr lang="en-US" sz="2200" smtClean="0"/>
              <a:t>Adapt to changes in network conditions</a:t>
            </a:r>
          </a:p>
          <a:p>
            <a:pPr marL="742950" lvl="1" indent="-285750" eaLnBrk="1" hangingPunct="1"/>
            <a:r>
              <a:rPr lang="en-US" sz="2200" smtClean="0"/>
              <a:t>Automated</a:t>
            </a:r>
          </a:p>
          <a:p>
            <a:pPr marL="742950" lvl="1" indent="-285750" eaLnBrk="1" hangingPunct="1"/>
            <a:r>
              <a:rPr lang="en-US" sz="2200" smtClean="0"/>
              <a:t>Calculates routes based on received updated network state information</a:t>
            </a:r>
          </a:p>
          <a:p>
            <a:pPr eaLnBrk="1" hangingPunct="1"/>
            <a:endParaRPr lang="en-US" sz="2600" smtClean="0"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1026"/>
          <p:cNvGrpSpPr>
            <a:grpSpLocks/>
          </p:cNvGrpSpPr>
          <p:nvPr/>
        </p:nvGrpSpPr>
        <p:grpSpPr bwMode="auto">
          <a:xfrm>
            <a:off x="1022350" y="1798638"/>
            <a:ext cx="7054850" cy="3073400"/>
            <a:chOff x="596" y="1253"/>
            <a:chExt cx="4444" cy="1936"/>
          </a:xfrm>
        </p:grpSpPr>
        <p:sp>
          <p:nvSpPr>
            <p:cNvPr id="38917" name="Freeform 1027"/>
            <p:cNvSpPr>
              <a:spLocks/>
            </p:cNvSpPr>
            <p:nvPr/>
          </p:nvSpPr>
          <p:spPr bwMode="auto">
            <a:xfrm>
              <a:off x="950" y="1551"/>
              <a:ext cx="3821" cy="1395"/>
            </a:xfrm>
            <a:custGeom>
              <a:avLst/>
              <a:gdLst>
                <a:gd name="T0" fmla="*/ 0 w 3416"/>
                <a:gd name="T1" fmla="*/ 3896 h 1136"/>
                <a:gd name="T2" fmla="*/ 956 w 3416"/>
                <a:gd name="T3" fmla="*/ 3592 h 1136"/>
                <a:gd name="T4" fmla="*/ 1474 w 3416"/>
                <a:gd name="T5" fmla="*/ 3209 h 1136"/>
                <a:gd name="T6" fmla="*/ 3025 w 3416"/>
                <a:gd name="T7" fmla="*/ 2223 h 1136"/>
                <a:gd name="T8" fmla="*/ 3481 w 3416"/>
                <a:gd name="T9" fmla="*/ 1702 h 1136"/>
                <a:gd name="T10" fmla="*/ 3682 w 3416"/>
                <a:gd name="T11" fmla="*/ 246 h 1136"/>
                <a:gd name="T12" fmla="*/ 3870 w 3416"/>
                <a:gd name="T13" fmla="*/ 27 h 1136"/>
                <a:gd name="T14" fmla="*/ 5437 w 3416"/>
                <a:gd name="T15" fmla="*/ 548 h 1136"/>
                <a:gd name="T16" fmla="*/ 5970 w 3416"/>
                <a:gd name="T17" fmla="*/ 602 h 1136"/>
                <a:gd name="T18" fmla="*/ 6691 w 3416"/>
                <a:gd name="T19" fmla="*/ 0 h 11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416"/>
                <a:gd name="T31" fmla="*/ 0 h 1136"/>
                <a:gd name="T32" fmla="*/ 3416 w 3416"/>
                <a:gd name="T33" fmla="*/ 1136 h 11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416" h="1136">
                  <a:moveTo>
                    <a:pt x="0" y="1136"/>
                  </a:moveTo>
                  <a:lnTo>
                    <a:pt x="488" y="1048"/>
                  </a:lnTo>
                  <a:lnTo>
                    <a:pt x="752" y="936"/>
                  </a:lnTo>
                  <a:lnTo>
                    <a:pt x="1544" y="648"/>
                  </a:lnTo>
                  <a:lnTo>
                    <a:pt x="1776" y="496"/>
                  </a:lnTo>
                  <a:lnTo>
                    <a:pt x="1880" y="72"/>
                  </a:lnTo>
                  <a:lnTo>
                    <a:pt x="1976" y="8"/>
                  </a:lnTo>
                  <a:lnTo>
                    <a:pt x="2776" y="160"/>
                  </a:lnTo>
                  <a:lnTo>
                    <a:pt x="3048" y="176"/>
                  </a:lnTo>
                  <a:lnTo>
                    <a:pt x="3416" y="0"/>
                  </a:lnTo>
                </a:path>
              </a:pathLst>
            </a:custGeom>
            <a:noFill/>
            <a:ln w="28575">
              <a:solidFill>
                <a:srgbClr val="FF9900"/>
              </a:solidFill>
              <a:prstDash val="lgDash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18" name="Freeform 1028"/>
            <p:cNvSpPr>
              <a:spLocks/>
            </p:cNvSpPr>
            <p:nvPr/>
          </p:nvSpPr>
          <p:spPr bwMode="auto">
            <a:xfrm>
              <a:off x="878" y="1561"/>
              <a:ext cx="3231" cy="1543"/>
            </a:xfrm>
            <a:custGeom>
              <a:avLst/>
              <a:gdLst>
                <a:gd name="T0" fmla="*/ 0 w 2888"/>
                <a:gd name="T1" fmla="*/ 495 h 1256"/>
                <a:gd name="T2" fmla="*/ 1098 w 2888"/>
                <a:gd name="T3" fmla="*/ 58 h 1256"/>
                <a:gd name="T4" fmla="*/ 1664 w 2888"/>
                <a:gd name="T5" fmla="*/ 0 h 1256"/>
                <a:gd name="T6" fmla="*/ 3482 w 2888"/>
                <a:gd name="T7" fmla="*/ 0 h 1256"/>
                <a:gd name="T8" fmla="*/ 3610 w 2888"/>
                <a:gd name="T9" fmla="*/ 246 h 1256"/>
                <a:gd name="T10" fmla="*/ 3389 w 2888"/>
                <a:gd name="T11" fmla="*/ 1539 h 1256"/>
                <a:gd name="T12" fmla="*/ 3467 w 2888"/>
                <a:gd name="T13" fmla="*/ 2337 h 1256"/>
                <a:gd name="T14" fmla="*/ 3891 w 2888"/>
                <a:gd name="T15" fmla="*/ 3328 h 1256"/>
                <a:gd name="T16" fmla="*/ 4361 w 2888"/>
                <a:gd name="T17" fmla="*/ 3905 h 1256"/>
                <a:gd name="T18" fmla="*/ 5662 w 2888"/>
                <a:gd name="T19" fmla="*/ 4318 h 125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88"/>
                <a:gd name="T31" fmla="*/ 0 h 1256"/>
                <a:gd name="T32" fmla="*/ 2888 w 2888"/>
                <a:gd name="T33" fmla="*/ 1256 h 125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88" h="1256">
                  <a:moveTo>
                    <a:pt x="0" y="144"/>
                  </a:moveTo>
                  <a:lnTo>
                    <a:pt x="560" y="16"/>
                  </a:lnTo>
                  <a:lnTo>
                    <a:pt x="848" y="0"/>
                  </a:lnTo>
                  <a:lnTo>
                    <a:pt x="1776" y="0"/>
                  </a:lnTo>
                  <a:lnTo>
                    <a:pt x="1840" y="72"/>
                  </a:lnTo>
                  <a:lnTo>
                    <a:pt x="1728" y="448"/>
                  </a:lnTo>
                  <a:lnTo>
                    <a:pt x="1768" y="680"/>
                  </a:lnTo>
                  <a:lnTo>
                    <a:pt x="1984" y="968"/>
                  </a:lnTo>
                  <a:lnTo>
                    <a:pt x="2224" y="1136"/>
                  </a:lnTo>
                  <a:lnTo>
                    <a:pt x="2888" y="1256"/>
                  </a:lnTo>
                </a:path>
              </a:pathLst>
            </a:custGeom>
            <a:noFill/>
            <a:ln w="28575">
              <a:solidFill>
                <a:srgbClr val="FF33CC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19" name="Freeform 1029"/>
            <p:cNvSpPr>
              <a:spLocks/>
            </p:cNvSpPr>
            <p:nvPr/>
          </p:nvSpPr>
          <p:spPr bwMode="auto">
            <a:xfrm>
              <a:off x="887" y="1414"/>
              <a:ext cx="3876" cy="216"/>
            </a:xfrm>
            <a:custGeom>
              <a:avLst/>
              <a:gdLst>
                <a:gd name="T0" fmla="*/ 0 w 3464"/>
                <a:gd name="T1" fmla="*/ 519 h 176"/>
                <a:gd name="T2" fmla="*/ 1117 w 3464"/>
                <a:gd name="T3" fmla="*/ 58 h 176"/>
                <a:gd name="T4" fmla="*/ 1602 w 3464"/>
                <a:gd name="T5" fmla="*/ 0 h 176"/>
                <a:gd name="T6" fmla="*/ 3468 w 3464"/>
                <a:gd name="T7" fmla="*/ 58 h 176"/>
                <a:gd name="T8" fmla="*/ 3971 w 3464"/>
                <a:gd name="T9" fmla="*/ 27 h 176"/>
                <a:gd name="T10" fmla="*/ 5622 w 3464"/>
                <a:gd name="T11" fmla="*/ 601 h 176"/>
                <a:gd name="T12" fmla="*/ 6061 w 3464"/>
                <a:gd name="T13" fmla="*/ 572 h 176"/>
                <a:gd name="T14" fmla="*/ 6799 w 3464"/>
                <a:gd name="T15" fmla="*/ 58 h 17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464"/>
                <a:gd name="T25" fmla="*/ 0 h 176"/>
                <a:gd name="T26" fmla="*/ 3464 w 3464"/>
                <a:gd name="T27" fmla="*/ 176 h 17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464" h="176">
                  <a:moveTo>
                    <a:pt x="0" y="152"/>
                  </a:moveTo>
                  <a:lnTo>
                    <a:pt x="568" y="16"/>
                  </a:lnTo>
                  <a:lnTo>
                    <a:pt x="816" y="0"/>
                  </a:lnTo>
                  <a:lnTo>
                    <a:pt x="1768" y="16"/>
                  </a:lnTo>
                  <a:lnTo>
                    <a:pt x="2024" y="8"/>
                  </a:lnTo>
                  <a:lnTo>
                    <a:pt x="2864" y="176"/>
                  </a:lnTo>
                  <a:lnTo>
                    <a:pt x="3088" y="168"/>
                  </a:lnTo>
                  <a:lnTo>
                    <a:pt x="3464" y="16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20" name="Oval 1030"/>
            <p:cNvSpPr>
              <a:spLocks noChangeArrowheads="1"/>
            </p:cNvSpPr>
            <p:nvPr/>
          </p:nvSpPr>
          <p:spPr bwMode="auto">
            <a:xfrm>
              <a:off x="1488" y="1355"/>
              <a:ext cx="325" cy="312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21" name="Oval 1031"/>
            <p:cNvSpPr>
              <a:spLocks noChangeArrowheads="1"/>
            </p:cNvSpPr>
            <p:nvPr/>
          </p:nvSpPr>
          <p:spPr bwMode="auto">
            <a:xfrm>
              <a:off x="1475" y="2589"/>
              <a:ext cx="325" cy="315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22" name="Oval 1032"/>
            <p:cNvSpPr>
              <a:spLocks noChangeArrowheads="1"/>
            </p:cNvSpPr>
            <p:nvPr/>
          </p:nvSpPr>
          <p:spPr bwMode="auto">
            <a:xfrm>
              <a:off x="2843" y="1355"/>
              <a:ext cx="325" cy="312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23" name="Oval 1033"/>
            <p:cNvSpPr>
              <a:spLocks noChangeArrowheads="1"/>
            </p:cNvSpPr>
            <p:nvPr/>
          </p:nvSpPr>
          <p:spPr bwMode="auto">
            <a:xfrm>
              <a:off x="3081" y="2702"/>
              <a:ext cx="326" cy="313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24" name="Oval 1034"/>
            <p:cNvSpPr>
              <a:spLocks noChangeArrowheads="1"/>
            </p:cNvSpPr>
            <p:nvPr/>
          </p:nvSpPr>
          <p:spPr bwMode="auto">
            <a:xfrm>
              <a:off x="2645" y="2093"/>
              <a:ext cx="325" cy="312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25" name="Oval 1035"/>
            <p:cNvSpPr>
              <a:spLocks noChangeArrowheads="1"/>
            </p:cNvSpPr>
            <p:nvPr/>
          </p:nvSpPr>
          <p:spPr bwMode="auto">
            <a:xfrm>
              <a:off x="4045" y="1564"/>
              <a:ext cx="326" cy="314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26" name="Rectangle 1036"/>
            <p:cNvSpPr>
              <a:spLocks noChangeArrowheads="1"/>
            </p:cNvSpPr>
            <p:nvPr/>
          </p:nvSpPr>
          <p:spPr bwMode="auto">
            <a:xfrm>
              <a:off x="1611" y="1422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1</a:t>
              </a:r>
              <a:endParaRPr lang="en-US"/>
            </a:p>
          </p:txBody>
        </p:sp>
        <p:sp>
          <p:nvSpPr>
            <p:cNvPr id="38927" name="Rectangle 1037"/>
            <p:cNvSpPr>
              <a:spLocks noChangeArrowheads="1"/>
            </p:cNvSpPr>
            <p:nvPr/>
          </p:nvSpPr>
          <p:spPr bwMode="auto">
            <a:xfrm>
              <a:off x="1594" y="2676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2</a:t>
              </a:r>
              <a:endParaRPr lang="en-US"/>
            </a:p>
          </p:txBody>
        </p:sp>
        <p:sp>
          <p:nvSpPr>
            <p:cNvPr id="38928" name="Rectangle 1038"/>
            <p:cNvSpPr>
              <a:spLocks noChangeArrowheads="1"/>
            </p:cNvSpPr>
            <p:nvPr/>
          </p:nvSpPr>
          <p:spPr bwMode="auto">
            <a:xfrm>
              <a:off x="2956" y="1443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3</a:t>
              </a:r>
              <a:endParaRPr lang="en-US"/>
            </a:p>
          </p:txBody>
        </p:sp>
        <p:sp>
          <p:nvSpPr>
            <p:cNvPr id="38929" name="Rectangle 1039"/>
            <p:cNvSpPr>
              <a:spLocks noChangeArrowheads="1"/>
            </p:cNvSpPr>
            <p:nvPr/>
          </p:nvSpPr>
          <p:spPr bwMode="auto">
            <a:xfrm>
              <a:off x="2770" y="2169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4</a:t>
              </a:r>
              <a:endParaRPr lang="en-US"/>
            </a:p>
          </p:txBody>
        </p:sp>
        <p:sp>
          <p:nvSpPr>
            <p:cNvPr id="38930" name="Rectangle 1040"/>
            <p:cNvSpPr>
              <a:spLocks noChangeArrowheads="1"/>
            </p:cNvSpPr>
            <p:nvPr/>
          </p:nvSpPr>
          <p:spPr bwMode="auto">
            <a:xfrm>
              <a:off x="3206" y="2784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5</a:t>
              </a:r>
              <a:endParaRPr lang="en-US"/>
            </a:p>
          </p:txBody>
        </p:sp>
        <p:sp>
          <p:nvSpPr>
            <p:cNvPr id="38931" name="Rectangle 1041"/>
            <p:cNvSpPr>
              <a:spLocks noChangeArrowheads="1"/>
            </p:cNvSpPr>
            <p:nvPr/>
          </p:nvSpPr>
          <p:spPr bwMode="auto">
            <a:xfrm>
              <a:off x="4158" y="1648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6</a:t>
              </a:r>
              <a:endParaRPr lang="en-US"/>
            </a:p>
          </p:txBody>
        </p:sp>
        <p:sp>
          <p:nvSpPr>
            <p:cNvPr id="38932" name="Rectangle 1042"/>
            <p:cNvSpPr>
              <a:spLocks noChangeArrowheads="1"/>
            </p:cNvSpPr>
            <p:nvPr/>
          </p:nvSpPr>
          <p:spPr bwMode="auto">
            <a:xfrm>
              <a:off x="596" y="1521"/>
              <a:ext cx="279" cy="251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33" name="Rectangle 1043"/>
            <p:cNvSpPr>
              <a:spLocks noChangeArrowheads="1"/>
            </p:cNvSpPr>
            <p:nvPr/>
          </p:nvSpPr>
          <p:spPr bwMode="auto">
            <a:xfrm>
              <a:off x="4761" y="1357"/>
              <a:ext cx="279" cy="253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34" name="Rectangle 1044"/>
            <p:cNvSpPr>
              <a:spLocks noChangeArrowheads="1"/>
            </p:cNvSpPr>
            <p:nvPr/>
          </p:nvSpPr>
          <p:spPr bwMode="auto">
            <a:xfrm>
              <a:off x="688" y="1569"/>
              <a:ext cx="8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A</a:t>
              </a:r>
              <a:endParaRPr lang="en-US"/>
            </a:p>
          </p:txBody>
        </p:sp>
        <p:sp>
          <p:nvSpPr>
            <p:cNvPr id="38935" name="Rectangle 1045"/>
            <p:cNvSpPr>
              <a:spLocks noChangeArrowheads="1"/>
            </p:cNvSpPr>
            <p:nvPr/>
          </p:nvSpPr>
          <p:spPr bwMode="auto">
            <a:xfrm>
              <a:off x="4846" y="1415"/>
              <a:ext cx="8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B</a:t>
              </a:r>
              <a:endParaRPr lang="en-US"/>
            </a:p>
          </p:txBody>
        </p:sp>
        <p:sp>
          <p:nvSpPr>
            <p:cNvPr id="38936" name="Rectangle 1046"/>
            <p:cNvSpPr>
              <a:spLocks noChangeArrowheads="1"/>
            </p:cNvSpPr>
            <p:nvPr/>
          </p:nvSpPr>
          <p:spPr bwMode="auto">
            <a:xfrm>
              <a:off x="665" y="2746"/>
              <a:ext cx="279" cy="252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37" name="Rectangle 1047"/>
            <p:cNvSpPr>
              <a:spLocks noChangeArrowheads="1"/>
            </p:cNvSpPr>
            <p:nvPr/>
          </p:nvSpPr>
          <p:spPr bwMode="auto">
            <a:xfrm>
              <a:off x="752" y="2803"/>
              <a:ext cx="9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C</a:t>
              </a:r>
              <a:endParaRPr lang="en-US"/>
            </a:p>
          </p:txBody>
        </p:sp>
        <p:sp>
          <p:nvSpPr>
            <p:cNvPr id="38938" name="Rectangle 1048"/>
            <p:cNvSpPr>
              <a:spLocks noChangeArrowheads="1"/>
            </p:cNvSpPr>
            <p:nvPr/>
          </p:nvSpPr>
          <p:spPr bwMode="auto">
            <a:xfrm>
              <a:off x="4096" y="2919"/>
              <a:ext cx="278" cy="251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39" name="Rectangle 1049"/>
            <p:cNvSpPr>
              <a:spLocks noChangeArrowheads="1"/>
            </p:cNvSpPr>
            <p:nvPr/>
          </p:nvSpPr>
          <p:spPr bwMode="auto">
            <a:xfrm>
              <a:off x="4177" y="2975"/>
              <a:ext cx="9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38940" name="Rectangle 1050"/>
            <p:cNvSpPr>
              <a:spLocks noChangeArrowheads="1"/>
            </p:cNvSpPr>
            <p:nvPr/>
          </p:nvSpPr>
          <p:spPr bwMode="auto">
            <a:xfrm>
              <a:off x="1174" y="1335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1</a:t>
              </a:r>
              <a:endParaRPr lang="en-US"/>
            </a:p>
          </p:txBody>
        </p:sp>
        <p:sp>
          <p:nvSpPr>
            <p:cNvPr id="38941" name="Rectangle 1051"/>
            <p:cNvSpPr>
              <a:spLocks noChangeArrowheads="1"/>
            </p:cNvSpPr>
            <p:nvPr/>
          </p:nvSpPr>
          <p:spPr bwMode="auto">
            <a:xfrm>
              <a:off x="1174" y="1673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5</a:t>
              </a:r>
              <a:endParaRPr lang="en-US"/>
            </a:p>
          </p:txBody>
        </p:sp>
        <p:sp>
          <p:nvSpPr>
            <p:cNvPr id="38942" name="Rectangle 1052"/>
            <p:cNvSpPr>
              <a:spLocks noChangeArrowheads="1"/>
            </p:cNvSpPr>
            <p:nvPr/>
          </p:nvSpPr>
          <p:spPr bwMode="auto">
            <a:xfrm>
              <a:off x="2264" y="1253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2</a:t>
              </a:r>
              <a:endParaRPr lang="en-US"/>
            </a:p>
          </p:txBody>
        </p:sp>
        <p:sp>
          <p:nvSpPr>
            <p:cNvPr id="38943" name="Rectangle 1053"/>
            <p:cNvSpPr>
              <a:spLocks noChangeArrowheads="1"/>
            </p:cNvSpPr>
            <p:nvPr/>
          </p:nvSpPr>
          <p:spPr bwMode="auto">
            <a:xfrm>
              <a:off x="2274" y="1566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3</a:t>
              </a:r>
              <a:endParaRPr lang="en-US"/>
            </a:p>
          </p:txBody>
        </p:sp>
        <p:sp>
          <p:nvSpPr>
            <p:cNvPr id="38944" name="Rectangle 1054"/>
            <p:cNvSpPr>
              <a:spLocks noChangeArrowheads="1"/>
            </p:cNvSpPr>
            <p:nvPr/>
          </p:nvSpPr>
          <p:spPr bwMode="auto">
            <a:xfrm>
              <a:off x="3672" y="1325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7</a:t>
              </a:r>
              <a:endParaRPr lang="en-US"/>
            </a:p>
          </p:txBody>
        </p:sp>
        <p:sp>
          <p:nvSpPr>
            <p:cNvPr id="38945" name="Rectangle 1055"/>
            <p:cNvSpPr>
              <a:spLocks noChangeArrowheads="1"/>
            </p:cNvSpPr>
            <p:nvPr/>
          </p:nvSpPr>
          <p:spPr bwMode="auto">
            <a:xfrm>
              <a:off x="3573" y="1657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1</a:t>
              </a:r>
              <a:endParaRPr lang="en-US"/>
            </a:p>
          </p:txBody>
        </p:sp>
        <p:sp>
          <p:nvSpPr>
            <p:cNvPr id="38946" name="Rectangle 1056"/>
            <p:cNvSpPr>
              <a:spLocks noChangeArrowheads="1"/>
            </p:cNvSpPr>
            <p:nvPr/>
          </p:nvSpPr>
          <p:spPr bwMode="auto">
            <a:xfrm>
              <a:off x="4514" y="1354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8</a:t>
              </a:r>
              <a:endParaRPr lang="en-US"/>
            </a:p>
          </p:txBody>
        </p:sp>
        <p:sp>
          <p:nvSpPr>
            <p:cNvPr id="38947" name="Rectangle 1057"/>
            <p:cNvSpPr>
              <a:spLocks noChangeArrowheads="1"/>
            </p:cNvSpPr>
            <p:nvPr/>
          </p:nvSpPr>
          <p:spPr bwMode="auto">
            <a:xfrm>
              <a:off x="4604" y="1656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5</a:t>
              </a:r>
              <a:endParaRPr lang="en-US"/>
            </a:p>
          </p:txBody>
        </p:sp>
        <p:sp>
          <p:nvSpPr>
            <p:cNvPr id="38948" name="Rectangle 1058"/>
            <p:cNvSpPr>
              <a:spLocks noChangeArrowheads="1"/>
            </p:cNvSpPr>
            <p:nvPr/>
          </p:nvSpPr>
          <p:spPr bwMode="auto">
            <a:xfrm>
              <a:off x="2764" y="1755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4</a:t>
              </a:r>
              <a:endParaRPr lang="en-US"/>
            </a:p>
          </p:txBody>
        </p:sp>
        <p:sp>
          <p:nvSpPr>
            <p:cNvPr id="38949" name="Rectangle 1059"/>
            <p:cNvSpPr>
              <a:spLocks noChangeArrowheads="1"/>
            </p:cNvSpPr>
            <p:nvPr/>
          </p:nvSpPr>
          <p:spPr bwMode="auto">
            <a:xfrm>
              <a:off x="3047" y="1819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2</a:t>
              </a:r>
              <a:endParaRPr lang="en-US"/>
            </a:p>
          </p:txBody>
        </p:sp>
        <p:sp>
          <p:nvSpPr>
            <p:cNvPr id="38950" name="Rectangle 1060"/>
            <p:cNvSpPr>
              <a:spLocks noChangeArrowheads="1"/>
            </p:cNvSpPr>
            <p:nvPr/>
          </p:nvSpPr>
          <p:spPr bwMode="auto">
            <a:xfrm>
              <a:off x="2284" y="2517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3</a:t>
              </a:r>
              <a:endParaRPr lang="en-US"/>
            </a:p>
          </p:txBody>
        </p:sp>
        <p:sp>
          <p:nvSpPr>
            <p:cNvPr id="38951" name="Rectangle 1061"/>
            <p:cNvSpPr>
              <a:spLocks noChangeArrowheads="1"/>
            </p:cNvSpPr>
            <p:nvPr/>
          </p:nvSpPr>
          <p:spPr bwMode="auto">
            <a:xfrm>
              <a:off x="1234" y="2890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6</a:t>
              </a:r>
              <a:endParaRPr lang="en-US"/>
            </a:p>
          </p:txBody>
        </p:sp>
        <p:sp>
          <p:nvSpPr>
            <p:cNvPr id="38952" name="Rectangle 1062"/>
            <p:cNvSpPr>
              <a:spLocks noChangeArrowheads="1"/>
            </p:cNvSpPr>
            <p:nvPr/>
          </p:nvSpPr>
          <p:spPr bwMode="auto">
            <a:xfrm>
              <a:off x="2880" y="2535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5</a:t>
              </a:r>
              <a:endParaRPr lang="en-US"/>
            </a:p>
          </p:txBody>
        </p:sp>
        <p:sp>
          <p:nvSpPr>
            <p:cNvPr id="38953" name="Rectangle 1063"/>
            <p:cNvSpPr>
              <a:spLocks noChangeArrowheads="1"/>
            </p:cNvSpPr>
            <p:nvPr/>
          </p:nvSpPr>
          <p:spPr bwMode="auto">
            <a:xfrm>
              <a:off x="3692" y="3035"/>
              <a:ext cx="7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2</a:t>
              </a:r>
              <a:endParaRPr lang="en-US"/>
            </a:p>
          </p:txBody>
        </p:sp>
        <p:sp>
          <p:nvSpPr>
            <p:cNvPr id="38954" name="Rectangle 1064"/>
            <p:cNvSpPr>
              <a:spLocks noChangeArrowheads="1"/>
            </p:cNvSpPr>
            <p:nvPr/>
          </p:nvSpPr>
          <p:spPr bwMode="auto">
            <a:xfrm>
              <a:off x="3889" y="2482"/>
              <a:ext cx="954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700">
                  <a:solidFill>
                    <a:srgbClr val="000000"/>
                  </a:solidFill>
                </a:rPr>
                <a:t>Switch or router</a:t>
              </a:r>
              <a:endParaRPr lang="en-US"/>
            </a:p>
          </p:txBody>
        </p:sp>
        <p:sp>
          <p:nvSpPr>
            <p:cNvPr id="38955" name="Rectangle 1065"/>
            <p:cNvSpPr>
              <a:spLocks noChangeArrowheads="1"/>
            </p:cNvSpPr>
            <p:nvPr/>
          </p:nvSpPr>
          <p:spPr bwMode="auto">
            <a:xfrm>
              <a:off x="704" y="2195"/>
              <a:ext cx="280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700">
                  <a:solidFill>
                    <a:srgbClr val="000000"/>
                  </a:solidFill>
                </a:rPr>
                <a:t>Host</a:t>
              </a:r>
              <a:endParaRPr lang="en-US"/>
            </a:p>
          </p:txBody>
        </p:sp>
        <p:sp>
          <p:nvSpPr>
            <p:cNvPr id="38956" name="Line 1066"/>
            <p:cNvSpPr>
              <a:spLocks noChangeShapeType="1"/>
            </p:cNvSpPr>
            <p:nvPr/>
          </p:nvSpPr>
          <p:spPr bwMode="auto">
            <a:xfrm flipH="1" flipV="1">
              <a:off x="717" y="1784"/>
              <a:ext cx="96" cy="3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957" name="Line 1067"/>
            <p:cNvSpPr>
              <a:spLocks noChangeShapeType="1"/>
            </p:cNvSpPr>
            <p:nvPr/>
          </p:nvSpPr>
          <p:spPr bwMode="auto">
            <a:xfrm flipH="1">
              <a:off x="3427" y="2567"/>
              <a:ext cx="432" cy="2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958" name="Line 1068"/>
            <p:cNvSpPr>
              <a:spLocks noChangeShapeType="1"/>
            </p:cNvSpPr>
            <p:nvPr/>
          </p:nvSpPr>
          <p:spPr bwMode="auto">
            <a:xfrm flipV="1">
              <a:off x="878" y="1522"/>
              <a:ext cx="609" cy="1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959" name="Line 1069"/>
            <p:cNvSpPr>
              <a:spLocks noChangeShapeType="1"/>
            </p:cNvSpPr>
            <p:nvPr/>
          </p:nvSpPr>
          <p:spPr bwMode="auto">
            <a:xfrm>
              <a:off x="1818" y="1502"/>
              <a:ext cx="1029" cy="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960" name="Line 1070"/>
            <p:cNvSpPr>
              <a:spLocks noChangeShapeType="1"/>
            </p:cNvSpPr>
            <p:nvPr/>
          </p:nvSpPr>
          <p:spPr bwMode="auto">
            <a:xfrm>
              <a:off x="3169" y="1502"/>
              <a:ext cx="886" cy="1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961" name="Line 1071"/>
            <p:cNvSpPr>
              <a:spLocks noChangeShapeType="1"/>
            </p:cNvSpPr>
            <p:nvPr/>
          </p:nvSpPr>
          <p:spPr bwMode="auto">
            <a:xfrm flipV="1">
              <a:off x="4369" y="1502"/>
              <a:ext cx="394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962" name="Line 1072"/>
            <p:cNvSpPr>
              <a:spLocks noChangeShapeType="1"/>
            </p:cNvSpPr>
            <p:nvPr/>
          </p:nvSpPr>
          <p:spPr bwMode="auto">
            <a:xfrm flipH="1">
              <a:off x="1648" y="1669"/>
              <a:ext cx="9" cy="9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963" name="Line 1073"/>
            <p:cNvSpPr>
              <a:spLocks noChangeShapeType="1"/>
            </p:cNvSpPr>
            <p:nvPr/>
          </p:nvSpPr>
          <p:spPr bwMode="auto">
            <a:xfrm>
              <a:off x="1791" y="1610"/>
              <a:ext cx="877" cy="5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964" name="Line 1074"/>
            <p:cNvSpPr>
              <a:spLocks noChangeShapeType="1"/>
            </p:cNvSpPr>
            <p:nvPr/>
          </p:nvSpPr>
          <p:spPr bwMode="auto">
            <a:xfrm flipH="1">
              <a:off x="2883" y="1669"/>
              <a:ext cx="116" cy="4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965" name="Line 1075"/>
            <p:cNvSpPr>
              <a:spLocks noChangeShapeType="1"/>
            </p:cNvSpPr>
            <p:nvPr/>
          </p:nvSpPr>
          <p:spPr bwMode="auto">
            <a:xfrm flipV="1">
              <a:off x="941" y="2789"/>
              <a:ext cx="546" cy="1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966" name="Line 1076"/>
            <p:cNvSpPr>
              <a:spLocks noChangeShapeType="1"/>
            </p:cNvSpPr>
            <p:nvPr/>
          </p:nvSpPr>
          <p:spPr bwMode="auto">
            <a:xfrm>
              <a:off x="1800" y="2789"/>
              <a:ext cx="1280" cy="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967" name="Line 1077"/>
            <p:cNvSpPr>
              <a:spLocks noChangeShapeType="1"/>
            </p:cNvSpPr>
            <p:nvPr/>
          </p:nvSpPr>
          <p:spPr bwMode="auto">
            <a:xfrm flipV="1">
              <a:off x="1755" y="2298"/>
              <a:ext cx="895" cy="3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968" name="Line 1078"/>
            <p:cNvSpPr>
              <a:spLocks noChangeShapeType="1"/>
            </p:cNvSpPr>
            <p:nvPr/>
          </p:nvSpPr>
          <p:spPr bwMode="auto">
            <a:xfrm>
              <a:off x="2928" y="2347"/>
              <a:ext cx="241" cy="3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969" name="Line 1079"/>
            <p:cNvSpPr>
              <a:spLocks noChangeShapeType="1"/>
            </p:cNvSpPr>
            <p:nvPr/>
          </p:nvSpPr>
          <p:spPr bwMode="auto">
            <a:xfrm flipH="1">
              <a:off x="3393" y="1866"/>
              <a:ext cx="761" cy="8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970" name="Line 1080"/>
            <p:cNvSpPr>
              <a:spLocks noChangeShapeType="1"/>
            </p:cNvSpPr>
            <p:nvPr/>
          </p:nvSpPr>
          <p:spPr bwMode="auto">
            <a:xfrm>
              <a:off x="3402" y="2917"/>
              <a:ext cx="698" cy="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971" name="Text Box 1081"/>
            <p:cNvSpPr txBox="1">
              <a:spLocks noChangeArrowheads="1"/>
            </p:cNvSpPr>
            <p:nvPr/>
          </p:nvSpPr>
          <p:spPr bwMode="auto">
            <a:xfrm>
              <a:off x="1198" y="2034"/>
              <a:ext cx="329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VCI</a:t>
              </a:r>
            </a:p>
          </p:txBody>
        </p:sp>
        <p:sp>
          <p:nvSpPr>
            <p:cNvPr id="38972" name="Line 1082"/>
            <p:cNvSpPr>
              <a:spLocks noChangeShapeType="1"/>
            </p:cNvSpPr>
            <p:nvPr/>
          </p:nvSpPr>
          <p:spPr bwMode="auto">
            <a:xfrm flipH="1" flipV="1">
              <a:off x="1227" y="1807"/>
              <a:ext cx="90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38915" name="Rectangle 108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500" smtClean="0"/>
              <a:t>Routing in Virtual-Circuit Packet Networks</a:t>
            </a:r>
          </a:p>
        </p:txBody>
      </p:sp>
      <p:sp>
        <p:nvSpPr>
          <p:cNvPr id="38916" name="Rectangle 1084"/>
          <p:cNvSpPr>
            <a:spLocks noGrp="1" noChangeArrowheads="1"/>
          </p:cNvSpPr>
          <p:nvPr>
            <p:ph type="body" idx="1"/>
          </p:nvPr>
        </p:nvSpPr>
        <p:spPr>
          <a:xfrm>
            <a:off x="457200" y="5268913"/>
            <a:ext cx="8229600" cy="13192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600" smtClean="0"/>
              <a:t>Route determined during connection setup</a:t>
            </a:r>
          </a:p>
          <a:p>
            <a:pPr eaLnBrk="1" hangingPunct="1">
              <a:lnSpc>
                <a:spcPct val="90000"/>
              </a:lnSpc>
            </a:pPr>
            <a:r>
              <a:rPr lang="en-US" sz="2600" smtClean="0"/>
              <a:t>Tables in switches implement forwarding that realizes selected route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38" name="Group 1026"/>
          <p:cNvGrpSpPr>
            <a:grpSpLocks/>
          </p:cNvGrpSpPr>
          <p:nvPr/>
        </p:nvGrpSpPr>
        <p:grpSpPr bwMode="auto">
          <a:xfrm>
            <a:off x="814388" y="1395413"/>
            <a:ext cx="7469187" cy="3887787"/>
            <a:chOff x="601" y="935"/>
            <a:chExt cx="4705" cy="2449"/>
          </a:xfrm>
        </p:grpSpPr>
        <p:sp>
          <p:nvSpPr>
            <p:cNvPr id="39953" name="Rectangle 1027"/>
            <p:cNvSpPr>
              <a:spLocks noChangeArrowheads="1"/>
            </p:cNvSpPr>
            <p:nvPr/>
          </p:nvSpPr>
          <p:spPr bwMode="auto">
            <a:xfrm>
              <a:off x="612" y="1630"/>
              <a:ext cx="1246" cy="498"/>
            </a:xfrm>
            <a:prstGeom prst="rect">
              <a:avLst/>
            </a:prstGeom>
            <a:solidFill>
              <a:schemeClr val="folHlink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4" name="Rectangle 1028"/>
            <p:cNvSpPr>
              <a:spLocks noChangeArrowheads="1"/>
            </p:cNvSpPr>
            <p:nvPr/>
          </p:nvSpPr>
          <p:spPr bwMode="auto">
            <a:xfrm>
              <a:off x="2234" y="1341"/>
              <a:ext cx="1246" cy="761"/>
            </a:xfrm>
            <a:prstGeom prst="rect">
              <a:avLst/>
            </a:prstGeom>
            <a:solidFill>
              <a:schemeClr val="folHlink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5" name="Rectangle 1029"/>
            <p:cNvSpPr>
              <a:spLocks noChangeArrowheads="1"/>
            </p:cNvSpPr>
            <p:nvPr/>
          </p:nvSpPr>
          <p:spPr bwMode="auto">
            <a:xfrm>
              <a:off x="4030" y="1595"/>
              <a:ext cx="1246" cy="498"/>
            </a:xfrm>
            <a:prstGeom prst="rect">
              <a:avLst/>
            </a:prstGeom>
            <a:solidFill>
              <a:schemeClr val="folHlink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6" name="Rectangle 1030"/>
            <p:cNvSpPr>
              <a:spLocks noChangeArrowheads="1"/>
            </p:cNvSpPr>
            <p:nvPr/>
          </p:nvSpPr>
          <p:spPr bwMode="auto">
            <a:xfrm>
              <a:off x="601" y="3090"/>
              <a:ext cx="1247" cy="262"/>
            </a:xfrm>
            <a:prstGeom prst="rect">
              <a:avLst/>
            </a:prstGeom>
            <a:solidFill>
              <a:schemeClr val="folHlink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7" name="Rectangle 1031"/>
            <p:cNvSpPr>
              <a:spLocks noChangeArrowheads="1"/>
            </p:cNvSpPr>
            <p:nvPr/>
          </p:nvSpPr>
          <p:spPr bwMode="auto">
            <a:xfrm>
              <a:off x="2234" y="2635"/>
              <a:ext cx="1246" cy="498"/>
            </a:xfrm>
            <a:prstGeom prst="rect">
              <a:avLst/>
            </a:prstGeom>
            <a:solidFill>
              <a:schemeClr val="folHlink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8" name="Rectangle 1032"/>
            <p:cNvSpPr>
              <a:spLocks noChangeArrowheads="1"/>
            </p:cNvSpPr>
            <p:nvPr/>
          </p:nvSpPr>
          <p:spPr bwMode="auto">
            <a:xfrm>
              <a:off x="4060" y="3116"/>
              <a:ext cx="1246" cy="262"/>
            </a:xfrm>
            <a:prstGeom prst="rect">
              <a:avLst/>
            </a:prstGeom>
            <a:solidFill>
              <a:schemeClr val="folHlink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59" name="Rectangle 1033"/>
            <p:cNvSpPr>
              <a:spLocks noChangeArrowheads="1"/>
            </p:cNvSpPr>
            <p:nvPr/>
          </p:nvSpPr>
          <p:spPr bwMode="auto">
            <a:xfrm>
              <a:off x="612" y="1358"/>
              <a:ext cx="1246" cy="271"/>
            </a:xfrm>
            <a:prstGeom prst="rect">
              <a:avLst/>
            </a:prstGeom>
            <a:solidFill>
              <a:srgbClr val="B1CCCB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60" name="Rectangle 1034"/>
            <p:cNvSpPr>
              <a:spLocks noChangeArrowheads="1"/>
            </p:cNvSpPr>
            <p:nvPr/>
          </p:nvSpPr>
          <p:spPr bwMode="auto">
            <a:xfrm>
              <a:off x="2234" y="1070"/>
              <a:ext cx="1246" cy="270"/>
            </a:xfrm>
            <a:prstGeom prst="rect">
              <a:avLst/>
            </a:prstGeom>
            <a:solidFill>
              <a:srgbClr val="B1CCCB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61" name="Rectangle 1035"/>
            <p:cNvSpPr>
              <a:spLocks noChangeArrowheads="1"/>
            </p:cNvSpPr>
            <p:nvPr/>
          </p:nvSpPr>
          <p:spPr bwMode="auto">
            <a:xfrm>
              <a:off x="4030" y="1331"/>
              <a:ext cx="1246" cy="271"/>
            </a:xfrm>
            <a:prstGeom prst="rect">
              <a:avLst/>
            </a:prstGeom>
            <a:solidFill>
              <a:srgbClr val="B1CCCB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62" name="Rectangle 1036"/>
            <p:cNvSpPr>
              <a:spLocks noChangeArrowheads="1"/>
            </p:cNvSpPr>
            <p:nvPr/>
          </p:nvSpPr>
          <p:spPr bwMode="auto">
            <a:xfrm>
              <a:off x="2234" y="2364"/>
              <a:ext cx="1246" cy="270"/>
            </a:xfrm>
            <a:prstGeom prst="rect">
              <a:avLst/>
            </a:prstGeom>
            <a:solidFill>
              <a:srgbClr val="B1CCCB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63" name="Rectangle 1037"/>
            <p:cNvSpPr>
              <a:spLocks noChangeArrowheads="1"/>
            </p:cNvSpPr>
            <p:nvPr/>
          </p:nvSpPr>
          <p:spPr bwMode="auto">
            <a:xfrm>
              <a:off x="4060" y="2844"/>
              <a:ext cx="1246" cy="271"/>
            </a:xfrm>
            <a:prstGeom prst="rect">
              <a:avLst/>
            </a:prstGeom>
            <a:solidFill>
              <a:srgbClr val="B1CCCB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64" name="Rectangle 1038"/>
            <p:cNvSpPr>
              <a:spLocks noChangeArrowheads="1"/>
            </p:cNvSpPr>
            <p:nvPr/>
          </p:nvSpPr>
          <p:spPr bwMode="auto">
            <a:xfrm>
              <a:off x="601" y="2818"/>
              <a:ext cx="1247" cy="271"/>
            </a:xfrm>
            <a:prstGeom prst="rect">
              <a:avLst/>
            </a:prstGeom>
            <a:solidFill>
              <a:srgbClr val="B1CCCB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965" name="Rectangle 1039"/>
            <p:cNvSpPr>
              <a:spLocks noChangeArrowheads="1"/>
            </p:cNvSpPr>
            <p:nvPr/>
          </p:nvSpPr>
          <p:spPr bwMode="auto">
            <a:xfrm>
              <a:off x="660" y="1389"/>
              <a:ext cx="1049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Incoming       Outgoing</a:t>
              </a:r>
              <a:endParaRPr lang="en-US" sz="1800"/>
            </a:p>
          </p:txBody>
        </p:sp>
        <p:sp>
          <p:nvSpPr>
            <p:cNvPr id="39966" name="Rectangle 1040"/>
            <p:cNvSpPr>
              <a:spLocks noChangeArrowheads="1"/>
            </p:cNvSpPr>
            <p:nvPr/>
          </p:nvSpPr>
          <p:spPr bwMode="auto">
            <a:xfrm>
              <a:off x="660" y="1515"/>
              <a:ext cx="110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Node  VCI     Node  VCI</a:t>
              </a:r>
              <a:endParaRPr lang="en-US" sz="1800"/>
            </a:p>
          </p:txBody>
        </p:sp>
        <p:sp>
          <p:nvSpPr>
            <p:cNvPr id="39967" name="Rectangle 1041"/>
            <p:cNvSpPr>
              <a:spLocks noChangeArrowheads="1"/>
            </p:cNvSpPr>
            <p:nvPr/>
          </p:nvSpPr>
          <p:spPr bwMode="auto">
            <a:xfrm>
              <a:off x="660" y="1633"/>
              <a:ext cx="997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A      1           3       2</a:t>
              </a:r>
              <a:endParaRPr lang="en-US" sz="1800"/>
            </a:p>
          </p:txBody>
        </p:sp>
        <p:sp>
          <p:nvSpPr>
            <p:cNvPr id="39968" name="Rectangle 1042"/>
            <p:cNvSpPr>
              <a:spLocks noChangeArrowheads="1"/>
            </p:cNvSpPr>
            <p:nvPr/>
          </p:nvSpPr>
          <p:spPr bwMode="auto">
            <a:xfrm>
              <a:off x="660" y="1758"/>
              <a:ext cx="997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A      5           3       3</a:t>
              </a:r>
              <a:endParaRPr lang="en-US" sz="1800"/>
            </a:p>
          </p:txBody>
        </p:sp>
        <p:sp>
          <p:nvSpPr>
            <p:cNvPr id="39969" name="Rectangle 1043"/>
            <p:cNvSpPr>
              <a:spLocks noChangeArrowheads="1"/>
            </p:cNvSpPr>
            <p:nvPr/>
          </p:nvSpPr>
          <p:spPr bwMode="auto">
            <a:xfrm>
              <a:off x="660" y="1884"/>
              <a:ext cx="997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3       2           A      1</a:t>
              </a:r>
              <a:endParaRPr lang="en-US" sz="1800"/>
            </a:p>
          </p:txBody>
        </p:sp>
        <p:sp>
          <p:nvSpPr>
            <p:cNvPr id="39970" name="Rectangle 1044"/>
            <p:cNvSpPr>
              <a:spLocks noChangeArrowheads="1"/>
            </p:cNvSpPr>
            <p:nvPr/>
          </p:nvSpPr>
          <p:spPr bwMode="auto">
            <a:xfrm>
              <a:off x="660" y="2010"/>
              <a:ext cx="997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3       3           A      5</a:t>
              </a:r>
              <a:endParaRPr lang="en-US" sz="1800"/>
            </a:p>
          </p:txBody>
        </p:sp>
        <p:sp>
          <p:nvSpPr>
            <p:cNvPr id="39971" name="Line 1045"/>
            <p:cNvSpPr>
              <a:spLocks noChangeShapeType="1"/>
            </p:cNvSpPr>
            <p:nvPr/>
          </p:nvSpPr>
          <p:spPr bwMode="auto">
            <a:xfrm>
              <a:off x="1219" y="1345"/>
              <a:ext cx="1" cy="789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972" name="Rectangle 1046"/>
            <p:cNvSpPr>
              <a:spLocks noChangeArrowheads="1"/>
            </p:cNvSpPr>
            <p:nvPr/>
          </p:nvSpPr>
          <p:spPr bwMode="auto">
            <a:xfrm>
              <a:off x="2282" y="1101"/>
              <a:ext cx="1049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Incoming       Outgoing</a:t>
              </a:r>
              <a:endParaRPr lang="en-US" sz="1800"/>
            </a:p>
          </p:txBody>
        </p:sp>
        <p:sp>
          <p:nvSpPr>
            <p:cNvPr id="39973" name="Rectangle 1047"/>
            <p:cNvSpPr>
              <a:spLocks noChangeArrowheads="1"/>
            </p:cNvSpPr>
            <p:nvPr/>
          </p:nvSpPr>
          <p:spPr bwMode="auto">
            <a:xfrm>
              <a:off x="2282" y="1226"/>
              <a:ext cx="110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Node  VCI     Node  VCI</a:t>
              </a:r>
              <a:endParaRPr lang="en-US" sz="1800"/>
            </a:p>
          </p:txBody>
        </p:sp>
        <p:sp>
          <p:nvSpPr>
            <p:cNvPr id="39974" name="Rectangle 1048"/>
            <p:cNvSpPr>
              <a:spLocks noChangeArrowheads="1"/>
            </p:cNvSpPr>
            <p:nvPr/>
          </p:nvSpPr>
          <p:spPr bwMode="auto">
            <a:xfrm>
              <a:off x="2282" y="1344"/>
              <a:ext cx="101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1       2           6       7</a:t>
              </a:r>
              <a:endParaRPr lang="en-US" sz="1800"/>
            </a:p>
          </p:txBody>
        </p:sp>
        <p:sp>
          <p:nvSpPr>
            <p:cNvPr id="39975" name="Rectangle 1049"/>
            <p:cNvSpPr>
              <a:spLocks noChangeArrowheads="1"/>
            </p:cNvSpPr>
            <p:nvPr/>
          </p:nvSpPr>
          <p:spPr bwMode="auto">
            <a:xfrm>
              <a:off x="2282" y="1470"/>
              <a:ext cx="101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1       3           4       4</a:t>
              </a:r>
              <a:endParaRPr lang="en-US" sz="1800"/>
            </a:p>
          </p:txBody>
        </p:sp>
        <p:sp>
          <p:nvSpPr>
            <p:cNvPr id="39976" name="Rectangle 1050"/>
            <p:cNvSpPr>
              <a:spLocks noChangeArrowheads="1"/>
            </p:cNvSpPr>
            <p:nvPr/>
          </p:nvSpPr>
          <p:spPr bwMode="auto">
            <a:xfrm>
              <a:off x="2282" y="1595"/>
              <a:ext cx="101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4       2           6       1</a:t>
              </a:r>
              <a:endParaRPr lang="en-US" sz="1800"/>
            </a:p>
          </p:txBody>
        </p:sp>
        <p:sp>
          <p:nvSpPr>
            <p:cNvPr id="39977" name="Rectangle 1051"/>
            <p:cNvSpPr>
              <a:spLocks noChangeArrowheads="1"/>
            </p:cNvSpPr>
            <p:nvPr/>
          </p:nvSpPr>
          <p:spPr bwMode="auto">
            <a:xfrm>
              <a:off x="2282" y="1721"/>
              <a:ext cx="101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6       7           1       2</a:t>
              </a:r>
              <a:endParaRPr lang="en-US" sz="1800"/>
            </a:p>
          </p:txBody>
        </p:sp>
        <p:sp>
          <p:nvSpPr>
            <p:cNvPr id="39978" name="Rectangle 1052"/>
            <p:cNvSpPr>
              <a:spLocks noChangeArrowheads="1"/>
            </p:cNvSpPr>
            <p:nvPr/>
          </p:nvSpPr>
          <p:spPr bwMode="auto">
            <a:xfrm>
              <a:off x="2282" y="1847"/>
              <a:ext cx="101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6       1           4       2</a:t>
              </a:r>
              <a:endParaRPr lang="en-US" sz="1800"/>
            </a:p>
          </p:txBody>
        </p:sp>
        <p:sp>
          <p:nvSpPr>
            <p:cNvPr id="39979" name="Rectangle 1053"/>
            <p:cNvSpPr>
              <a:spLocks noChangeArrowheads="1"/>
            </p:cNvSpPr>
            <p:nvPr/>
          </p:nvSpPr>
          <p:spPr bwMode="auto">
            <a:xfrm>
              <a:off x="2282" y="1972"/>
              <a:ext cx="101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4       4           1       3</a:t>
              </a:r>
              <a:endParaRPr lang="en-US" sz="1800"/>
            </a:p>
          </p:txBody>
        </p:sp>
        <p:sp>
          <p:nvSpPr>
            <p:cNvPr id="39980" name="Line 1054"/>
            <p:cNvSpPr>
              <a:spLocks noChangeShapeType="1"/>
            </p:cNvSpPr>
            <p:nvPr/>
          </p:nvSpPr>
          <p:spPr bwMode="auto">
            <a:xfrm>
              <a:off x="2841" y="1057"/>
              <a:ext cx="1" cy="105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981" name="Rectangle 1055"/>
            <p:cNvSpPr>
              <a:spLocks noChangeArrowheads="1"/>
            </p:cNvSpPr>
            <p:nvPr/>
          </p:nvSpPr>
          <p:spPr bwMode="auto">
            <a:xfrm>
              <a:off x="4078" y="1362"/>
              <a:ext cx="1049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Incoming       Outgoing</a:t>
              </a:r>
              <a:endParaRPr lang="en-US" sz="1800"/>
            </a:p>
          </p:txBody>
        </p:sp>
        <p:sp>
          <p:nvSpPr>
            <p:cNvPr id="39982" name="Rectangle 1056"/>
            <p:cNvSpPr>
              <a:spLocks noChangeArrowheads="1"/>
            </p:cNvSpPr>
            <p:nvPr/>
          </p:nvSpPr>
          <p:spPr bwMode="auto">
            <a:xfrm>
              <a:off x="4078" y="1488"/>
              <a:ext cx="110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Node  VCI     Node  VCI</a:t>
              </a:r>
              <a:endParaRPr lang="en-US" sz="1800"/>
            </a:p>
          </p:txBody>
        </p:sp>
        <p:sp>
          <p:nvSpPr>
            <p:cNvPr id="39983" name="Rectangle 1057"/>
            <p:cNvSpPr>
              <a:spLocks noChangeArrowheads="1"/>
            </p:cNvSpPr>
            <p:nvPr/>
          </p:nvSpPr>
          <p:spPr bwMode="auto">
            <a:xfrm>
              <a:off x="4078" y="1606"/>
              <a:ext cx="997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3       7           B      8</a:t>
              </a:r>
              <a:endParaRPr lang="en-US" sz="1800"/>
            </a:p>
          </p:txBody>
        </p:sp>
        <p:sp>
          <p:nvSpPr>
            <p:cNvPr id="39984" name="Rectangle 1058"/>
            <p:cNvSpPr>
              <a:spLocks noChangeArrowheads="1"/>
            </p:cNvSpPr>
            <p:nvPr/>
          </p:nvSpPr>
          <p:spPr bwMode="auto">
            <a:xfrm>
              <a:off x="4078" y="1723"/>
              <a:ext cx="997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3       1           B      5</a:t>
              </a:r>
              <a:endParaRPr lang="en-US" sz="1800"/>
            </a:p>
          </p:txBody>
        </p:sp>
        <p:sp>
          <p:nvSpPr>
            <p:cNvPr id="39985" name="Rectangle 1059"/>
            <p:cNvSpPr>
              <a:spLocks noChangeArrowheads="1"/>
            </p:cNvSpPr>
            <p:nvPr/>
          </p:nvSpPr>
          <p:spPr bwMode="auto">
            <a:xfrm>
              <a:off x="4078" y="1849"/>
              <a:ext cx="997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B      5            3      1</a:t>
              </a:r>
              <a:endParaRPr lang="en-US" sz="1800"/>
            </a:p>
          </p:txBody>
        </p:sp>
        <p:sp>
          <p:nvSpPr>
            <p:cNvPr id="39986" name="Rectangle 1060"/>
            <p:cNvSpPr>
              <a:spLocks noChangeArrowheads="1"/>
            </p:cNvSpPr>
            <p:nvPr/>
          </p:nvSpPr>
          <p:spPr bwMode="auto">
            <a:xfrm>
              <a:off x="4078" y="1975"/>
              <a:ext cx="997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B      8            3      7</a:t>
              </a:r>
              <a:endParaRPr lang="en-US" sz="1800"/>
            </a:p>
          </p:txBody>
        </p:sp>
        <p:sp>
          <p:nvSpPr>
            <p:cNvPr id="39987" name="Line 1061"/>
            <p:cNvSpPr>
              <a:spLocks noChangeShapeType="1"/>
            </p:cNvSpPr>
            <p:nvPr/>
          </p:nvSpPr>
          <p:spPr bwMode="auto">
            <a:xfrm>
              <a:off x="4637" y="1310"/>
              <a:ext cx="1" cy="789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988" name="Rectangle 1062"/>
            <p:cNvSpPr>
              <a:spLocks noChangeArrowheads="1"/>
            </p:cNvSpPr>
            <p:nvPr/>
          </p:nvSpPr>
          <p:spPr bwMode="auto">
            <a:xfrm>
              <a:off x="650" y="2849"/>
              <a:ext cx="1049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Incoming       Outgoing</a:t>
              </a:r>
              <a:endParaRPr lang="en-US" sz="1800"/>
            </a:p>
          </p:txBody>
        </p:sp>
        <p:sp>
          <p:nvSpPr>
            <p:cNvPr id="39989" name="Rectangle 1063"/>
            <p:cNvSpPr>
              <a:spLocks noChangeArrowheads="1"/>
            </p:cNvSpPr>
            <p:nvPr/>
          </p:nvSpPr>
          <p:spPr bwMode="auto">
            <a:xfrm>
              <a:off x="650" y="2975"/>
              <a:ext cx="110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Node  VCI     Node  VCI</a:t>
              </a:r>
              <a:endParaRPr lang="en-US" sz="1800"/>
            </a:p>
          </p:txBody>
        </p:sp>
        <p:sp>
          <p:nvSpPr>
            <p:cNvPr id="39990" name="Rectangle 1064"/>
            <p:cNvSpPr>
              <a:spLocks noChangeArrowheads="1"/>
            </p:cNvSpPr>
            <p:nvPr/>
          </p:nvSpPr>
          <p:spPr bwMode="auto">
            <a:xfrm>
              <a:off x="650" y="3093"/>
              <a:ext cx="1003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C      6           4       3</a:t>
              </a:r>
              <a:endParaRPr lang="en-US" sz="1800"/>
            </a:p>
          </p:txBody>
        </p:sp>
        <p:sp>
          <p:nvSpPr>
            <p:cNvPr id="39991" name="Rectangle 1065"/>
            <p:cNvSpPr>
              <a:spLocks noChangeArrowheads="1"/>
            </p:cNvSpPr>
            <p:nvPr/>
          </p:nvSpPr>
          <p:spPr bwMode="auto">
            <a:xfrm>
              <a:off x="650" y="3218"/>
              <a:ext cx="1003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4       3           C      6</a:t>
              </a:r>
              <a:endParaRPr lang="en-US" sz="1800"/>
            </a:p>
          </p:txBody>
        </p:sp>
        <p:sp>
          <p:nvSpPr>
            <p:cNvPr id="39992" name="Line 1066"/>
            <p:cNvSpPr>
              <a:spLocks noChangeShapeType="1"/>
            </p:cNvSpPr>
            <p:nvPr/>
          </p:nvSpPr>
          <p:spPr bwMode="auto">
            <a:xfrm>
              <a:off x="1209" y="2805"/>
              <a:ext cx="1" cy="55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993" name="Rectangle 1067"/>
            <p:cNvSpPr>
              <a:spLocks noChangeArrowheads="1"/>
            </p:cNvSpPr>
            <p:nvPr/>
          </p:nvSpPr>
          <p:spPr bwMode="auto">
            <a:xfrm>
              <a:off x="2282" y="2395"/>
              <a:ext cx="1049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Incoming       Outgoing</a:t>
              </a:r>
              <a:endParaRPr lang="en-US" sz="1800"/>
            </a:p>
          </p:txBody>
        </p:sp>
        <p:sp>
          <p:nvSpPr>
            <p:cNvPr id="39994" name="Rectangle 1068"/>
            <p:cNvSpPr>
              <a:spLocks noChangeArrowheads="1"/>
            </p:cNvSpPr>
            <p:nvPr/>
          </p:nvSpPr>
          <p:spPr bwMode="auto">
            <a:xfrm>
              <a:off x="2282" y="2520"/>
              <a:ext cx="110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Node  VCI     Node  VCI</a:t>
              </a:r>
              <a:endParaRPr lang="en-US" sz="1800"/>
            </a:p>
          </p:txBody>
        </p:sp>
        <p:sp>
          <p:nvSpPr>
            <p:cNvPr id="39995" name="Rectangle 1069"/>
            <p:cNvSpPr>
              <a:spLocks noChangeArrowheads="1"/>
            </p:cNvSpPr>
            <p:nvPr/>
          </p:nvSpPr>
          <p:spPr bwMode="auto">
            <a:xfrm>
              <a:off x="2282" y="2638"/>
              <a:ext cx="101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2       3           3       2</a:t>
              </a:r>
              <a:endParaRPr lang="en-US" sz="1800"/>
            </a:p>
          </p:txBody>
        </p:sp>
        <p:sp>
          <p:nvSpPr>
            <p:cNvPr id="39996" name="Rectangle 1070"/>
            <p:cNvSpPr>
              <a:spLocks noChangeArrowheads="1"/>
            </p:cNvSpPr>
            <p:nvPr/>
          </p:nvSpPr>
          <p:spPr bwMode="auto">
            <a:xfrm>
              <a:off x="2282" y="2764"/>
              <a:ext cx="101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3       4           5       5</a:t>
              </a:r>
              <a:endParaRPr lang="en-US" sz="1800"/>
            </a:p>
          </p:txBody>
        </p:sp>
        <p:sp>
          <p:nvSpPr>
            <p:cNvPr id="39997" name="Rectangle 1071"/>
            <p:cNvSpPr>
              <a:spLocks noChangeArrowheads="1"/>
            </p:cNvSpPr>
            <p:nvPr/>
          </p:nvSpPr>
          <p:spPr bwMode="auto">
            <a:xfrm>
              <a:off x="2282" y="2889"/>
              <a:ext cx="101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3       2           2       3</a:t>
              </a:r>
              <a:endParaRPr lang="en-US" sz="1800"/>
            </a:p>
          </p:txBody>
        </p:sp>
        <p:sp>
          <p:nvSpPr>
            <p:cNvPr id="39998" name="Rectangle 1072"/>
            <p:cNvSpPr>
              <a:spLocks noChangeArrowheads="1"/>
            </p:cNvSpPr>
            <p:nvPr/>
          </p:nvSpPr>
          <p:spPr bwMode="auto">
            <a:xfrm>
              <a:off x="2282" y="3015"/>
              <a:ext cx="101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5       5           3       4</a:t>
              </a:r>
              <a:endParaRPr lang="en-US" sz="1800"/>
            </a:p>
          </p:txBody>
        </p:sp>
        <p:sp>
          <p:nvSpPr>
            <p:cNvPr id="39999" name="Line 1073"/>
            <p:cNvSpPr>
              <a:spLocks noChangeShapeType="1"/>
            </p:cNvSpPr>
            <p:nvPr/>
          </p:nvSpPr>
          <p:spPr bwMode="auto">
            <a:xfrm>
              <a:off x="2841" y="2351"/>
              <a:ext cx="1" cy="789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000" name="Rectangle 1074"/>
            <p:cNvSpPr>
              <a:spLocks noChangeArrowheads="1"/>
            </p:cNvSpPr>
            <p:nvPr/>
          </p:nvSpPr>
          <p:spPr bwMode="auto">
            <a:xfrm>
              <a:off x="4109" y="2876"/>
              <a:ext cx="1049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Incoming       Outgoing</a:t>
              </a:r>
              <a:endParaRPr lang="en-US" sz="1800"/>
            </a:p>
          </p:txBody>
        </p:sp>
        <p:sp>
          <p:nvSpPr>
            <p:cNvPr id="40001" name="Rectangle 1075"/>
            <p:cNvSpPr>
              <a:spLocks noChangeArrowheads="1"/>
            </p:cNvSpPr>
            <p:nvPr/>
          </p:nvSpPr>
          <p:spPr bwMode="auto">
            <a:xfrm>
              <a:off x="4109" y="3001"/>
              <a:ext cx="110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Node  VCI     Node  VCI</a:t>
              </a:r>
              <a:endParaRPr lang="en-US" sz="1800"/>
            </a:p>
          </p:txBody>
        </p:sp>
        <p:sp>
          <p:nvSpPr>
            <p:cNvPr id="40002" name="Rectangle 1076"/>
            <p:cNvSpPr>
              <a:spLocks noChangeArrowheads="1"/>
            </p:cNvSpPr>
            <p:nvPr/>
          </p:nvSpPr>
          <p:spPr bwMode="auto">
            <a:xfrm>
              <a:off x="4109" y="3119"/>
              <a:ext cx="1003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4       5           D      2</a:t>
              </a:r>
              <a:endParaRPr lang="en-US" sz="1800"/>
            </a:p>
          </p:txBody>
        </p:sp>
        <p:sp>
          <p:nvSpPr>
            <p:cNvPr id="40003" name="Rectangle 1077"/>
            <p:cNvSpPr>
              <a:spLocks noChangeArrowheads="1"/>
            </p:cNvSpPr>
            <p:nvPr/>
          </p:nvSpPr>
          <p:spPr bwMode="auto">
            <a:xfrm>
              <a:off x="4109" y="3245"/>
              <a:ext cx="1003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D      2           4       5</a:t>
              </a:r>
              <a:endParaRPr lang="en-US" sz="1800"/>
            </a:p>
          </p:txBody>
        </p:sp>
        <p:sp>
          <p:nvSpPr>
            <p:cNvPr id="40004" name="Line 1078"/>
            <p:cNvSpPr>
              <a:spLocks noChangeShapeType="1"/>
            </p:cNvSpPr>
            <p:nvPr/>
          </p:nvSpPr>
          <p:spPr bwMode="auto">
            <a:xfrm>
              <a:off x="4667" y="2831"/>
              <a:ext cx="1" cy="55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005" name="Line 1079"/>
            <p:cNvSpPr>
              <a:spLocks noChangeShapeType="1"/>
            </p:cNvSpPr>
            <p:nvPr/>
          </p:nvSpPr>
          <p:spPr bwMode="auto">
            <a:xfrm flipV="1">
              <a:off x="1862" y="1669"/>
              <a:ext cx="367" cy="7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006" name="Line 1080"/>
            <p:cNvSpPr>
              <a:spLocks noChangeShapeType="1"/>
            </p:cNvSpPr>
            <p:nvPr/>
          </p:nvSpPr>
          <p:spPr bwMode="auto">
            <a:xfrm>
              <a:off x="3484" y="1607"/>
              <a:ext cx="541" cy="97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007" name="Line 1081"/>
            <p:cNvSpPr>
              <a:spLocks noChangeShapeType="1"/>
            </p:cNvSpPr>
            <p:nvPr/>
          </p:nvSpPr>
          <p:spPr bwMode="auto">
            <a:xfrm>
              <a:off x="1158" y="2132"/>
              <a:ext cx="1" cy="675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008" name="Line 1082"/>
            <p:cNvSpPr>
              <a:spLocks noChangeShapeType="1"/>
            </p:cNvSpPr>
            <p:nvPr/>
          </p:nvSpPr>
          <p:spPr bwMode="auto">
            <a:xfrm>
              <a:off x="1862" y="2036"/>
              <a:ext cx="357" cy="472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009" name="Line 1083"/>
            <p:cNvSpPr>
              <a:spLocks noChangeShapeType="1"/>
            </p:cNvSpPr>
            <p:nvPr/>
          </p:nvSpPr>
          <p:spPr bwMode="auto">
            <a:xfrm flipH="1">
              <a:off x="4576" y="2097"/>
              <a:ext cx="163" cy="73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010" name="Line 1084"/>
            <p:cNvSpPr>
              <a:spLocks noChangeShapeType="1"/>
            </p:cNvSpPr>
            <p:nvPr/>
          </p:nvSpPr>
          <p:spPr bwMode="auto">
            <a:xfrm>
              <a:off x="1851" y="3277"/>
              <a:ext cx="2204" cy="4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011" name="Line 1085"/>
            <p:cNvSpPr>
              <a:spLocks noChangeShapeType="1"/>
            </p:cNvSpPr>
            <p:nvPr/>
          </p:nvSpPr>
          <p:spPr bwMode="auto">
            <a:xfrm flipV="1">
              <a:off x="2739" y="2106"/>
              <a:ext cx="184" cy="245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012" name="Line 1086"/>
            <p:cNvSpPr>
              <a:spLocks noChangeShapeType="1"/>
            </p:cNvSpPr>
            <p:nvPr/>
          </p:nvSpPr>
          <p:spPr bwMode="auto">
            <a:xfrm flipV="1">
              <a:off x="1851" y="2770"/>
              <a:ext cx="378" cy="227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013" name="Line 1087"/>
            <p:cNvSpPr>
              <a:spLocks noChangeShapeType="1"/>
            </p:cNvSpPr>
            <p:nvPr/>
          </p:nvSpPr>
          <p:spPr bwMode="auto">
            <a:xfrm>
              <a:off x="3484" y="2726"/>
              <a:ext cx="571" cy="289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014" name="Rectangle 1088"/>
            <p:cNvSpPr>
              <a:spLocks noChangeArrowheads="1"/>
            </p:cNvSpPr>
            <p:nvPr/>
          </p:nvSpPr>
          <p:spPr bwMode="auto">
            <a:xfrm>
              <a:off x="1054" y="1214"/>
              <a:ext cx="33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Node 1</a:t>
              </a:r>
              <a:endParaRPr lang="en-US" sz="1800"/>
            </a:p>
          </p:txBody>
        </p:sp>
        <p:sp>
          <p:nvSpPr>
            <p:cNvPr id="40015" name="Rectangle 1089"/>
            <p:cNvSpPr>
              <a:spLocks noChangeArrowheads="1"/>
            </p:cNvSpPr>
            <p:nvPr/>
          </p:nvSpPr>
          <p:spPr bwMode="auto">
            <a:xfrm>
              <a:off x="1228" y="2683"/>
              <a:ext cx="33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Node 2</a:t>
              </a:r>
              <a:endParaRPr lang="en-US" sz="1800"/>
            </a:p>
          </p:txBody>
        </p:sp>
        <p:sp>
          <p:nvSpPr>
            <p:cNvPr id="40016" name="Rectangle 1090"/>
            <p:cNvSpPr>
              <a:spLocks noChangeArrowheads="1"/>
            </p:cNvSpPr>
            <p:nvPr/>
          </p:nvSpPr>
          <p:spPr bwMode="auto">
            <a:xfrm>
              <a:off x="2677" y="935"/>
              <a:ext cx="33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Node 3</a:t>
              </a:r>
              <a:endParaRPr lang="en-US" sz="1800"/>
            </a:p>
          </p:txBody>
        </p:sp>
        <p:sp>
          <p:nvSpPr>
            <p:cNvPr id="40017" name="Rectangle 1091"/>
            <p:cNvSpPr>
              <a:spLocks noChangeArrowheads="1"/>
            </p:cNvSpPr>
            <p:nvPr/>
          </p:nvSpPr>
          <p:spPr bwMode="auto">
            <a:xfrm>
              <a:off x="2870" y="2229"/>
              <a:ext cx="33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Node 4</a:t>
              </a:r>
              <a:endParaRPr lang="en-US" sz="1800"/>
            </a:p>
          </p:txBody>
        </p:sp>
        <p:sp>
          <p:nvSpPr>
            <p:cNvPr id="40018" name="Rectangle 1092"/>
            <p:cNvSpPr>
              <a:spLocks noChangeArrowheads="1"/>
            </p:cNvSpPr>
            <p:nvPr/>
          </p:nvSpPr>
          <p:spPr bwMode="auto">
            <a:xfrm>
              <a:off x="4472" y="1205"/>
              <a:ext cx="33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Node 6</a:t>
              </a:r>
              <a:endParaRPr lang="en-US" sz="1800"/>
            </a:p>
          </p:txBody>
        </p:sp>
        <p:sp>
          <p:nvSpPr>
            <p:cNvPr id="40019" name="Rectangle 1093"/>
            <p:cNvSpPr>
              <a:spLocks noChangeArrowheads="1"/>
            </p:cNvSpPr>
            <p:nvPr/>
          </p:nvSpPr>
          <p:spPr bwMode="auto">
            <a:xfrm>
              <a:off x="4697" y="2709"/>
              <a:ext cx="33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Node 5</a:t>
              </a:r>
              <a:endParaRPr lang="en-US" sz="1800"/>
            </a:p>
          </p:txBody>
        </p:sp>
      </p:grpSp>
      <p:sp>
        <p:nvSpPr>
          <p:cNvPr id="39939" name="Rectangle 109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500" smtClean="0"/>
              <a:t>Routing Tables in VC Packet Networks</a:t>
            </a:r>
          </a:p>
        </p:txBody>
      </p:sp>
      <p:sp>
        <p:nvSpPr>
          <p:cNvPr id="39940" name="Rectangle 1095"/>
          <p:cNvSpPr>
            <a:spLocks noChangeArrowheads="1"/>
          </p:cNvSpPr>
          <p:nvPr/>
        </p:nvSpPr>
        <p:spPr bwMode="auto">
          <a:xfrm>
            <a:off x="527050" y="5407025"/>
            <a:ext cx="8229600" cy="1319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l"/>
            </a:pPr>
            <a:r>
              <a:rPr lang="en-US" sz="2600"/>
              <a:t>Example:  VCI from A to D</a:t>
            </a:r>
          </a:p>
          <a:p>
            <a:pPr marL="692150" lvl="1" indent="-347663" algn="l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l"/>
            </a:pPr>
            <a:r>
              <a:rPr lang="en-US" sz="2200"/>
              <a:t>From A &amp; VCI 5 </a:t>
            </a:r>
            <a:r>
              <a:rPr lang="en-US" sz="2200">
                <a:cs typeface="Arial" charset="0"/>
              </a:rPr>
              <a:t>→ 3 &amp; VCI 3 → 4 &amp; VCI 4</a:t>
            </a:r>
          </a:p>
          <a:p>
            <a:pPr marL="692150" lvl="1" indent="-347663" algn="l">
              <a:lnSpc>
                <a:spcPct val="90000"/>
              </a:lnSpc>
              <a:buClr>
                <a:schemeClr val="accent2"/>
              </a:buClr>
              <a:buFont typeface="Wingdings" pitchFamily="2" charset="2"/>
              <a:buChar char="l"/>
            </a:pPr>
            <a:r>
              <a:rPr lang="en-US" sz="2200">
                <a:cs typeface="Arial" charset="0"/>
              </a:rPr>
              <a:t>→ 5 &amp; VCI 5 → D &amp; VCI 2</a:t>
            </a:r>
          </a:p>
        </p:txBody>
      </p:sp>
      <p:sp>
        <p:nvSpPr>
          <p:cNvPr id="944201" name="Rectangle 1097"/>
          <p:cNvSpPr>
            <a:spLocks noChangeArrowheads="1"/>
          </p:cNvSpPr>
          <p:nvPr/>
        </p:nvSpPr>
        <p:spPr bwMode="auto">
          <a:xfrm>
            <a:off x="2001838" y="5797550"/>
            <a:ext cx="1300162" cy="396875"/>
          </a:xfrm>
          <a:prstGeom prst="rect">
            <a:avLst/>
          </a:prstGeom>
          <a:noFill/>
          <a:ln w="25400" algn="ctr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4202" name="Rectangle 1098"/>
          <p:cNvSpPr>
            <a:spLocks noChangeArrowheads="1"/>
          </p:cNvSpPr>
          <p:nvPr/>
        </p:nvSpPr>
        <p:spPr bwMode="auto">
          <a:xfrm>
            <a:off x="808038" y="2682875"/>
            <a:ext cx="2035175" cy="268288"/>
          </a:xfrm>
          <a:prstGeom prst="rect">
            <a:avLst/>
          </a:prstGeom>
          <a:noFill/>
          <a:ln w="25400" algn="ctr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4203" name="Rectangle 1099"/>
          <p:cNvSpPr>
            <a:spLocks noChangeArrowheads="1"/>
          </p:cNvSpPr>
          <p:nvPr/>
        </p:nvSpPr>
        <p:spPr bwMode="auto">
          <a:xfrm>
            <a:off x="3394075" y="2197100"/>
            <a:ext cx="2035175" cy="268288"/>
          </a:xfrm>
          <a:prstGeom prst="rect">
            <a:avLst/>
          </a:prstGeom>
          <a:noFill/>
          <a:ln w="25400" algn="ctr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4204" name="Rectangle 1100"/>
          <p:cNvSpPr>
            <a:spLocks noChangeArrowheads="1"/>
          </p:cNvSpPr>
          <p:nvPr/>
        </p:nvSpPr>
        <p:spPr bwMode="auto">
          <a:xfrm>
            <a:off x="3381375" y="4273550"/>
            <a:ext cx="2035175" cy="268288"/>
          </a:xfrm>
          <a:prstGeom prst="rect">
            <a:avLst/>
          </a:prstGeom>
          <a:noFill/>
          <a:ln w="25400" algn="ctr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4205" name="Rectangle 1101"/>
          <p:cNvSpPr>
            <a:spLocks noChangeArrowheads="1"/>
          </p:cNvSpPr>
          <p:nvPr/>
        </p:nvSpPr>
        <p:spPr bwMode="auto">
          <a:xfrm>
            <a:off x="6251575" y="4822825"/>
            <a:ext cx="2120900" cy="268288"/>
          </a:xfrm>
          <a:prstGeom prst="rect">
            <a:avLst/>
          </a:prstGeom>
          <a:noFill/>
          <a:ln w="25400" algn="ctr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4208" name="Rectangle 1104"/>
          <p:cNvSpPr>
            <a:spLocks noChangeArrowheads="1"/>
          </p:cNvSpPr>
          <p:nvPr/>
        </p:nvSpPr>
        <p:spPr bwMode="auto">
          <a:xfrm>
            <a:off x="3622675" y="5799138"/>
            <a:ext cx="1300163" cy="396875"/>
          </a:xfrm>
          <a:prstGeom prst="rect">
            <a:avLst/>
          </a:prstGeom>
          <a:noFill/>
          <a:ln w="25400" algn="ctr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4209" name="Rectangle 1105"/>
          <p:cNvSpPr>
            <a:spLocks noChangeArrowheads="1"/>
          </p:cNvSpPr>
          <p:nvPr/>
        </p:nvSpPr>
        <p:spPr bwMode="auto">
          <a:xfrm>
            <a:off x="5267325" y="5800725"/>
            <a:ext cx="1300163" cy="396875"/>
          </a:xfrm>
          <a:prstGeom prst="rect">
            <a:avLst/>
          </a:prstGeom>
          <a:noFill/>
          <a:ln w="25400" algn="ctr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4210" name="Rectangle 1106"/>
          <p:cNvSpPr>
            <a:spLocks noChangeArrowheads="1"/>
          </p:cNvSpPr>
          <p:nvPr/>
        </p:nvSpPr>
        <p:spPr bwMode="auto">
          <a:xfrm>
            <a:off x="1597025" y="6207125"/>
            <a:ext cx="1300163" cy="396875"/>
          </a:xfrm>
          <a:prstGeom prst="rect">
            <a:avLst/>
          </a:prstGeom>
          <a:noFill/>
          <a:ln w="25400" algn="ctr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4211" name="Rectangle 1107"/>
          <p:cNvSpPr>
            <a:spLocks noChangeArrowheads="1"/>
          </p:cNvSpPr>
          <p:nvPr/>
        </p:nvSpPr>
        <p:spPr bwMode="auto">
          <a:xfrm>
            <a:off x="3292475" y="6203950"/>
            <a:ext cx="1300163" cy="396875"/>
          </a:xfrm>
          <a:prstGeom prst="rect">
            <a:avLst/>
          </a:prstGeom>
          <a:noFill/>
          <a:ln w="25400" algn="ctr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4212" name="Line 1108"/>
          <p:cNvSpPr>
            <a:spLocks noChangeShapeType="1"/>
          </p:cNvSpPr>
          <p:nvPr/>
        </p:nvSpPr>
        <p:spPr bwMode="auto">
          <a:xfrm flipV="1">
            <a:off x="2786063" y="2433638"/>
            <a:ext cx="665162" cy="3349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944213" name="Line 1109"/>
          <p:cNvSpPr>
            <a:spLocks noChangeShapeType="1"/>
          </p:cNvSpPr>
          <p:nvPr/>
        </p:nvSpPr>
        <p:spPr bwMode="auto">
          <a:xfrm>
            <a:off x="4210050" y="3268663"/>
            <a:ext cx="7938" cy="98425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944214" name="Line 1110"/>
          <p:cNvSpPr>
            <a:spLocks noChangeShapeType="1"/>
          </p:cNvSpPr>
          <p:nvPr/>
        </p:nvSpPr>
        <p:spPr bwMode="auto">
          <a:xfrm>
            <a:off x="5461000" y="4451350"/>
            <a:ext cx="706438" cy="431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44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44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944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944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944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944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944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944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94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94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944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94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4201" grpId="0" animBg="1"/>
      <p:bldP spid="944202" grpId="0" animBg="1"/>
      <p:bldP spid="944203" grpId="0" animBg="1"/>
      <p:bldP spid="944204" grpId="0" animBg="1"/>
      <p:bldP spid="944205" grpId="0" animBg="1"/>
      <p:bldP spid="944208" grpId="0" animBg="1"/>
      <p:bldP spid="944209" grpId="0" animBg="1"/>
      <p:bldP spid="944210" grpId="0" animBg="1"/>
      <p:bldP spid="944211" grpId="0" animBg="1"/>
      <p:bldP spid="944212" grpId="0" animBg="1"/>
      <p:bldP spid="944213" grpId="0" animBg="1"/>
      <p:bldP spid="94421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Group 1097"/>
          <p:cNvGrpSpPr>
            <a:grpSpLocks/>
          </p:cNvGrpSpPr>
          <p:nvPr/>
        </p:nvGrpSpPr>
        <p:grpSpPr bwMode="auto">
          <a:xfrm>
            <a:off x="282575" y="1490663"/>
            <a:ext cx="8542338" cy="4314825"/>
            <a:chOff x="178" y="822"/>
            <a:chExt cx="5381" cy="2718"/>
          </a:xfrm>
        </p:grpSpPr>
        <p:sp>
          <p:nvSpPr>
            <p:cNvPr id="40968" name="Rectangle 1027"/>
            <p:cNvSpPr>
              <a:spLocks noChangeArrowheads="1"/>
            </p:cNvSpPr>
            <p:nvPr/>
          </p:nvSpPr>
          <p:spPr bwMode="auto">
            <a:xfrm>
              <a:off x="178" y="2716"/>
              <a:ext cx="1426" cy="145"/>
            </a:xfrm>
            <a:prstGeom prst="rect">
              <a:avLst/>
            </a:prstGeom>
            <a:solidFill>
              <a:srgbClr val="B1CCCB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69" name="Rectangle 1028"/>
            <p:cNvSpPr>
              <a:spLocks noChangeArrowheads="1"/>
            </p:cNvSpPr>
            <p:nvPr/>
          </p:nvSpPr>
          <p:spPr bwMode="auto">
            <a:xfrm>
              <a:off x="190" y="1319"/>
              <a:ext cx="1425" cy="659"/>
            </a:xfrm>
            <a:prstGeom prst="rect">
              <a:avLst/>
            </a:prstGeom>
            <a:solidFill>
              <a:schemeClr val="folHlink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70" name="Rectangle 1029"/>
            <p:cNvSpPr>
              <a:spLocks noChangeArrowheads="1"/>
            </p:cNvSpPr>
            <p:nvPr/>
          </p:nvSpPr>
          <p:spPr bwMode="auto">
            <a:xfrm>
              <a:off x="2033" y="1137"/>
              <a:ext cx="1425" cy="657"/>
            </a:xfrm>
            <a:prstGeom prst="rect">
              <a:avLst/>
            </a:prstGeom>
            <a:solidFill>
              <a:schemeClr val="folHlink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71" name="Rectangle 1030"/>
            <p:cNvSpPr>
              <a:spLocks noChangeArrowheads="1"/>
            </p:cNvSpPr>
            <p:nvPr/>
          </p:nvSpPr>
          <p:spPr bwMode="auto">
            <a:xfrm>
              <a:off x="4098" y="1283"/>
              <a:ext cx="1426" cy="658"/>
            </a:xfrm>
            <a:prstGeom prst="rect">
              <a:avLst/>
            </a:prstGeom>
            <a:solidFill>
              <a:schemeClr val="folHlink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72" name="Rectangle 1031"/>
            <p:cNvSpPr>
              <a:spLocks noChangeArrowheads="1"/>
            </p:cNvSpPr>
            <p:nvPr/>
          </p:nvSpPr>
          <p:spPr bwMode="auto">
            <a:xfrm>
              <a:off x="178" y="2847"/>
              <a:ext cx="1426" cy="659"/>
            </a:xfrm>
            <a:prstGeom prst="rect">
              <a:avLst/>
            </a:prstGeom>
            <a:solidFill>
              <a:schemeClr val="folHlink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73" name="Rectangle 1032"/>
            <p:cNvSpPr>
              <a:spLocks noChangeArrowheads="1"/>
            </p:cNvSpPr>
            <p:nvPr/>
          </p:nvSpPr>
          <p:spPr bwMode="auto">
            <a:xfrm>
              <a:off x="4133" y="2875"/>
              <a:ext cx="1426" cy="658"/>
            </a:xfrm>
            <a:prstGeom prst="rect">
              <a:avLst/>
            </a:prstGeom>
            <a:solidFill>
              <a:schemeClr val="folHlink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74" name="Rectangle 1033"/>
            <p:cNvSpPr>
              <a:spLocks noChangeArrowheads="1"/>
            </p:cNvSpPr>
            <p:nvPr/>
          </p:nvSpPr>
          <p:spPr bwMode="auto">
            <a:xfrm>
              <a:off x="2045" y="2372"/>
              <a:ext cx="1425" cy="658"/>
            </a:xfrm>
            <a:prstGeom prst="rect">
              <a:avLst/>
            </a:prstGeom>
            <a:solidFill>
              <a:schemeClr val="folHlink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75" name="Rectangle 1034"/>
            <p:cNvSpPr>
              <a:spLocks noChangeArrowheads="1"/>
            </p:cNvSpPr>
            <p:nvPr/>
          </p:nvSpPr>
          <p:spPr bwMode="auto">
            <a:xfrm>
              <a:off x="246" y="1328"/>
              <a:ext cx="98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     2                       2</a:t>
              </a:r>
              <a:endParaRPr lang="en-US" sz="1800"/>
            </a:p>
          </p:txBody>
        </p:sp>
        <p:sp>
          <p:nvSpPr>
            <p:cNvPr id="40976" name="Rectangle 1035"/>
            <p:cNvSpPr>
              <a:spLocks noChangeArrowheads="1"/>
            </p:cNvSpPr>
            <p:nvPr/>
          </p:nvSpPr>
          <p:spPr bwMode="auto">
            <a:xfrm>
              <a:off x="246" y="1460"/>
              <a:ext cx="98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     3                       3</a:t>
              </a:r>
              <a:endParaRPr lang="en-US" sz="1800"/>
            </a:p>
          </p:txBody>
        </p:sp>
        <p:sp>
          <p:nvSpPr>
            <p:cNvPr id="40977" name="Rectangle 1036"/>
            <p:cNvSpPr>
              <a:spLocks noChangeArrowheads="1"/>
            </p:cNvSpPr>
            <p:nvPr/>
          </p:nvSpPr>
          <p:spPr bwMode="auto">
            <a:xfrm>
              <a:off x="246" y="1591"/>
              <a:ext cx="98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     4                       4</a:t>
              </a:r>
              <a:endParaRPr lang="en-US" sz="1800"/>
            </a:p>
          </p:txBody>
        </p:sp>
        <p:sp>
          <p:nvSpPr>
            <p:cNvPr id="40978" name="Rectangle 1037"/>
            <p:cNvSpPr>
              <a:spLocks noChangeArrowheads="1"/>
            </p:cNvSpPr>
            <p:nvPr/>
          </p:nvSpPr>
          <p:spPr bwMode="auto">
            <a:xfrm>
              <a:off x="246" y="1723"/>
              <a:ext cx="98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     5                       2</a:t>
              </a:r>
              <a:endParaRPr lang="en-US" sz="1800"/>
            </a:p>
          </p:txBody>
        </p:sp>
        <p:sp>
          <p:nvSpPr>
            <p:cNvPr id="40979" name="Rectangle 1038"/>
            <p:cNvSpPr>
              <a:spLocks noChangeArrowheads="1"/>
            </p:cNvSpPr>
            <p:nvPr/>
          </p:nvSpPr>
          <p:spPr bwMode="auto">
            <a:xfrm>
              <a:off x="246" y="1855"/>
              <a:ext cx="98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     6                       3</a:t>
              </a:r>
              <a:endParaRPr lang="en-US" sz="1800"/>
            </a:p>
          </p:txBody>
        </p:sp>
        <p:sp>
          <p:nvSpPr>
            <p:cNvPr id="40980" name="Rectangle 1039"/>
            <p:cNvSpPr>
              <a:spLocks noChangeArrowheads="1"/>
            </p:cNvSpPr>
            <p:nvPr/>
          </p:nvSpPr>
          <p:spPr bwMode="auto">
            <a:xfrm>
              <a:off x="190" y="1188"/>
              <a:ext cx="1425" cy="145"/>
            </a:xfrm>
            <a:prstGeom prst="rect">
              <a:avLst/>
            </a:prstGeom>
            <a:solidFill>
              <a:srgbClr val="B1CCCB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81" name="Line 1040"/>
            <p:cNvSpPr>
              <a:spLocks noChangeShapeType="1"/>
            </p:cNvSpPr>
            <p:nvPr/>
          </p:nvSpPr>
          <p:spPr bwMode="auto">
            <a:xfrm>
              <a:off x="931" y="1184"/>
              <a:ext cx="1" cy="793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982" name="Line 1041"/>
            <p:cNvSpPr>
              <a:spLocks noChangeShapeType="1"/>
            </p:cNvSpPr>
            <p:nvPr/>
          </p:nvSpPr>
          <p:spPr bwMode="auto">
            <a:xfrm flipV="1">
              <a:off x="1619" y="1497"/>
              <a:ext cx="420" cy="73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983" name="Line 1042"/>
            <p:cNvSpPr>
              <a:spLocks noChangeShapeType="1"/>
            </p:cNvSpPr>
            <p:nvPr/>
          </p:nvSpPr>
          <p:spPr bwMode="auto">
            <a:xfrm>
              <a:off x="3474" y="1432"/>
              <a:ext cx="618" cy="102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984" name="Line 1043"/>
            <p:cNvSpPr>
              <a:spLocks noChangeShapeType="1"/>
            </p:cNvSpPr>
            <p:nvPr/>
          </p:nvSpPr>
          <p:spPr bwMode="auto">
            <a:xfrm>
              <a:off x="814" y="1982"/>
              <a:ext cx="1" cy="707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985" name="Line 1044"/>
            <p:cNvSpPr>
              <a:spLocks noChangeShapeType="1"/>
            </p:cNvSpPr>
            <p:nvPr/>
          </p:nvSpPr>
          <p:spPr bwMode="auto">
            <a:xfrm>
              <a:off x="1619" y="1881"/>
              <a:ext cx="408" cy="494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986" name="Line 1045"/>
            <p:cNvSpPr>
              <a:spLocks noChangeShapeType="1"/>
            </p:cNvSpPr>
            <p:nvPr/>
          </p:nvSpPr>
          <p:spPr bwMode="auto">
            <a:xfrm flipH="1">
              <a:off x="4723" y="1945"/>
              <a:ext cx="186" cy="769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987" name="Line 1046"/>
            <p:cNvSpPr>
              <a:spLocks noChangeShapeType="1"/>
            </p:cNvSpPr>
            <p:nvPr/>
          </p:nvSpPr>
          <p:spPr bwMode="auto">
            <a:xfrm>
              <a:off x="1608" y="3364"/>
              <a:ext cx="2532" cy="12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988" name="Line 1047"/>
            <p:cNvSpPr>
              <a:spLocks noChangeShapeType="1"/>
            </p:cNvSpPr>
            <p:nvPr/>
          </p:nvSpPr>
          <p:spPr bwMode="auto">
            <a:xfrm flipV="1">
              <a:off x="2622" y="1799"/>
              <a:ext cx="281" cy="411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989" name="Line 1048"/>
            <p:cNvSpPr>
              <a:spLocks noChangeShapeType="1"/>
            </p:cNvSpPr>
            <p:nvPr/>
          </p:nvSpPr>
          <p:spPr bwMode="auto">
            <a:xfrm flipV="1">
              <a:off x="1608" y="2650"/>
              <a:ext cx="431" cy="238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990" name="Line 1049"/>
            <p:cNvSpPr>
              <a:spLocks noChangeShapeType="1"/>
            </p:cNvSpPr>
            <p:nvPr/>
          </p:nvSpPr>
          <p:spPr bwMode="auto">
            <a:xfrm>
              <a:off x="3474" y="2604"/>
              <a:ext cx="654" cy="302"/>
            </a:xfrm>
            <a:prstGeom prst="line">
              <a:avLst/>
            </a:prstGeom>
            <a:noFill/>
            <a:ln w="333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991" name="Rectangle 1050"/>
            <p:cNvSpPr>
              <a:spLocks noChangeArrowheads="1"/>
            </p:cNvSpPr>
            <p:nvPr/>
          </p:nvSpPr>
          <p:spPr bwMode="auto">
            <a:xfrm>
              <a:off x="696" y="1037"/>
              <a:ext cx="33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Node 1</a:t>
              </a:r>
              <a:endParaRPr lang="en-US" sz="1800"/>
            </a:p>
          </p:txBody>
        </p:sp>
        <p:sp>
          <p:nvSpPr>
            <p:cNvPr id="40992" name="Rectangle 1051"/>
            <p:cNvSpPr>
              <a:spLocks noChangeArrowheads="1"/>
            </p:cNvSpPr>
            <p:nvPr/>
          </p:nvSpPr>
          <p:spPr bwMode="auto">
            <a:xfrm>
              <a:off x="894" y="2575"/>
              <a:ext cx="336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Node 2</a:t>
              </a:r>
              <a:endParaRPr lang="en-US" sz="1800"/>
            </a:p>
          </p:txBody>
        </p:sp>
        <p:sp>
          <p:nvSpPr>
            <p:cNvPr id="40993" name="Rectangle 1052"/>
            <p:cNvSpPr>
              <a:spLocks noChangeArrowheads="1"/>
            </p:cNvSpPr>
            <p:nvPr/>
          </p:nvSpPr>
          <p:spPr bwMode="auto">
            <a:xfrm>
              <a:off x="2551" y="822"/>
              <a:ext cx="33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Node 3</a:t>
              </a:r>
              <a:endParaRPr lang="en-US" sz="1800"/>
            </a:p>
          </p:txBody>
        </p:sp>
        <p:sp>
          <p:nvSpPr>
            <p:cNvPr id="40994" name="Rectangle 1053"/>
            <p:cNvSpPr>
              <a:spLocks noChangeArrowheads="1"/>
            </p:cNvSpPr>
            <p:nvPr/>
          </p:nvSpPr>
          <p:spPr bwMode="auto">
            <a:xfrm>
              <a:off x="2773" y="2091"/>
              <a:ext cx="33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Node 4</a:t>
              </a:r>
              <a:endParaRPr lang="en-US" sz="1800"/>
            </a:p>
          </p:txBody>
        </p:sp>
        <p:sp>
          <p:nvSpPr>
            <p:cNvPr id="40995" name="Rectangle 1054"/>
            <p:cNvSpPr>
              <a:spLocks noChangeArrowheads="1"/>
            </p:cNvSpPr>
            <p:nvPr/>
          </p:nvSpPr>
          <p:spPr bwMode="auto">
            <a:xfrm>
              <a:off x="4605" y="993"/>
              <a:ext cx="337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Node 6</a:t>
              </a:r>
              <a:endParaRPr lang="en-US" sz="1800"/>
            </a:p>
          </p:txBody>
        </p:sp>
        <p:sp>
          <p:nvSpPr>
            <p:cNvPr id="40996" name="Rectangle 1055"/>
            <p:cNvSpPr>
              <a:spLocks noChangeArrowheads="1"/>
            </p:cNvSpPr>
            <p:nvPr/>
          </p:nvSpPr>
          <p:spPr bwMode="auto">
            <a:xfrm>
              <a:off x="4862" y="2595"/>
              <a:ext cx="33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Node 5</a:t>
              </a:r>
              <a:endParaRPr lang="en-US" sz="1800"/>
            </a:p>
          </p:txBody>
        </p:sp>
        <p:sp>
          <p:nvSpPr>
            <p:cNvPr id="40997" name="Rectangle 1056"/>
            <p:cNvSpPr>
              <a:spLocks noChangeArrowheads="1"/>
            </p:cNvSpPr>
            <p:nvPr/>
          </p:nvSpPr>
          <p:spPr bwMode="auto">
            <a:xfrm>
              <a:off x="2089" y="1145"/>
              <a:ext cx="98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     1                       1</a:t>
              </a:r>
              <a:endParaRPr lang="en-US" sz="1800"/>
            </a:p>
          </p:txBody>
        </p:sp>
        <p:sp>
          <p:nvSpPr>
            <p:cNvPr id="40998" name="Rectangle 1057"/>
            <p:cNvSpPr>
              <a:spLocks noChangeArrowheads="1"/>
            </p:cNvSpPr>
            <p:nvPr/>
          </p:nvSpPr>
          <p:spPr bwMode="auto">
            <a:xfrm>
              <a:off x="2089" y="1276"/>
              <a:ext cx="98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     2                       4</a:t>
              </a:r>
              <a:endParaRPr lang="en-US" sz="1800"/>
            </a:p>
          </p:txBody>
        </p:sp>
        <p:sp>
          <p:nvSpPr>
            <p:cNvPr id="40999" name="Rectangle 1058"/>
            <p:cNvSpPr>
              <a:spLocks noChangeArrowheads="1"/>
            </p:cNvSpPr>
            <p:nvPr/>
          </p:nvSpPr>
          <p:spPr bwMode="auto">
            <a:xfrm>
              <a:off x="2089" y="1408"/>
              <a:ext cx="98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     4                       4</a:t>
              </a:r>
              <a:endParaRPr lang="en-US" sz="1800"/>
            </a:p>
          </p:txBody>
        </p:sp>
        <p:sp>
          <p:nvSpPr>
            <p:cNvPr id="41000" name="Rectangle 1059"/>
            <p:cNvSpPr>
              <a:spLocks noChangeArrowheads="1"/>
            </p:cNvSpPr>
            <p:nvPr/>
          </p:nvSpPr>
          <p:spPr bwMode="auto">
            <a:xfrm>
              <a:off x="2089" y="1540"/>
              <a:ext cx="98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     5                       6</a:t>
              </a:r>
              <a:endParaRPr lang="en-US" sz="1800"/>
            </a:p>
          </p:txBody>
        </p:sp>
        <p:sp>
          <p:nvSpPr>
            <p:cNvPr id="41001" name="Rectangle 1060"/>
            <p:cNvSpPr>
              <a:spLocks noChangeArrowheads="1"/>
            </p:cNvSpPr>
            <p:nvPr/>
          </p:nvSpPr>
          <p:spPr bwMode="auto">
            <a:xfrm>
              <a:off x="2089" y="1671"/>
              <a:ext cx="98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     6                       6</a:t>
              </a:r>
              <a:endParaRPr lang="en-US" sz="1800"/>
            </a:p>
          </p:txBody>
        </p:sp>
        <p:sp>
          <p:nvSpPr>
            <p:cNvPr id="41002" name="Rectangle 1061"/>
            <p:cNvSpPr>
              <a:spLocks noChangeArrowheads="1"/>
            </p:cNvSpPr>
            <p:nvPr/>
          </p:nvSpPr>
          <p:spPr bwMode="auto">
            <a:xfrm>
              <a:off x="2033" y="996"/>
              <a:ext cx="1425" cy="147"/>
            </a:xfrm>
            <a:prstGeom prst="rect">
              <a:avLst/>
            </a:prstGeom>
            <a:solidFill>
              <a:srgbClr val="B1CCCB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03" name="Line 1062"/>
            <p:cNvSpPr>
              <a:spLocks noChangeShapeType="1"/>
            </p:cNvSpPr>
            <p:nvPr/>
          </p:nvSpPr>
          <p:spPr bwMode="auto">
            <a:xfrm>
              <a:off x="2766" y="999"/>
              <a:ext cx="1" cy="794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004" name="Rectangle 1063"/>
            <p:cNvSpPr>
              <a:spLocks noChangeArrowheads="1"/>
            </p:cNvSpPr>
            <p:nvPr/>
          </p:nvSpPr>
          <p:spPr bwMode="auto">
            <a:xfrm>
              <a:off x="4154" y="1292"/>
              <a:ext cx="101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     1                        3</a:t>
              </a:r>
              <a:endParaRPr lang="en-US" sz="1800"/>
            </a:p>
          </p:txBody>
        </p:sp>
        <p:sp>
          <p:nvSpPr>
            <p:cNvPr id="41005" name="Rectangle 1064"/>
            <p:cNvSpPr>
              <a:spLocks noChangeArrowheads="1"/>
            </p:cNvSpPr>
            <p:nvPr/>
          </p:nvSpPr>
          <p:spPr bwMode="auto">
            <a:xfrm>
              <a:off x="4154" y="1424"/>
              <a:ext cx="101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     2                        5</a:t>
              </a:r>
              <a:endParaRPr lang="en-US" sz="1800"/>
            </a:p>
          </p:txBody>
        </p:sp>
        <p:sp>
          <p:nvSpPr>
            <p:cNvPr id="41006" name="Rectangle 1065"/>
            <p:cNvSpPr>
              <a:spLocks noChangeArrowheads="1"/>
            </p:cNvSpPr>
            <p:nvPr/>
          </p:nvSpPr>
          <p:spPr bwMode="auto">
            <a:xfrm>
              <a:off x="4154" y="1555"/>
              <a:ext cx="101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     3                        3</a:t>
              </a:r>
              <a:endParaRPr lang="en-US" sz="1800"/>
            </a:p>
          </p:txBody>
        </p:sp>
        <p:sp>
          <p:nvSpPr>
            <p:cNvPr id="41007" name="Rectangle 1066"/>
            <p:cNvSpPr>
              <a:spLocks noChangeArrowheads="1"/>
            </p:cNvSpPr>
            <p:nvPr/>
          </p:nvSpPr>
          <p:spPr bwMode="auto">
            <a:xfrm>
              <a:off x="4154" y="1687"/>
              <a:ext cx="101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     4                        3</a:t>
              </a:r>
              <a:endParaRPr lang="en-US" sz="1800"/>
            </a:p>
          </p:txBody>
        </p:sp>
        <p:sp>
          <p:nvSpPr>
            <p:cNvPr id="41008" name="Rectangle 1067"/>
            <p:cNvSpPr>
              <a:spLocks noChangeArrowheads="1"/>
            </p:cNvSpPr>
            <p:nvPr/>
          </p:nvSpPr>
          <p:spPr bwMode="auto">
            <a:xfrm>
              <a:off x="4154" y="1817"/>
              <a:ext cx="101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     5                        5</a:t>
              </a:r>
              <a:endParaRPr lang="en-US" sz="1800"/>
            </a:p>
          </p:txBody>
        </p:sp>
        <p:sp>
          <p:nvSpPr>
            <p:cNvPr id="41009" name="Rectangle 1068"/>
            <p:cNvSpPr>
              <a:spLocks noChangeArrowheads="1"/>
            </p:cNvSpPr>
            <p:nvPr/>
          </p:nvSpPr>
          <p:spPr bwMode="auto">
            <a:xfrm>
              <a:off x="4098" y="1144"/>
              <a:ext cx="1426" cy="145"/>
            </a:xfrm>
            <a:prstGeom prst="rect">
              <a:avLst/>
            </a:prstGeom>
            <a:solidFill>
              <a:srgbClr val="B1CCCB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10" name="Line 1069"/>
            <p:cNvSpPr>
              <a:spLocks noChangeShapeType="1"/>
            </p:cNvSpPr>
            <p:nvPr/>
          </p:nvSpPr>
          <p:spPr bwMode="auto">
            <a:xfrm>
              <a:off x="4840" y="1139"/>
              <a:ext cx="1" cy="80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011" name="Rectangle 1070"/>
            <p:cNvSpPr>
              <a:spLocks noChangeArrowheads="1"/>
            </p:cNvSpPr>
            <p:nvPr/>
          </p:nvSpPr>
          <p:spPr bwMode="auto">
            <a:xfrm>
              <a:off x="256" y="2714"/>
              <a:ext cx="1199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Destination       Next node</a:t>
              </a:r>
              <a:endParaRPr lang="en-US" sz="1800"/>
            </a:p>
          </p:txBody>
        </p:sp>
        <p:sp>
          <p:nvSpPr>
            <p:cNvPr id="41012" name="Rectangle 1071"/>
            <p:cNvSpPr>
              <a:spLocks noChangeArrowheads="1"/>
            </p:cNvSpPr>
            <p:nvPr/>
          </p:nvSpPr>
          <p:spPr bwMode="auto">
            <a:xfrm>
              <a:off x="233" y="2856"/>
              <a:ext cx="101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     1                        1</a:t>
              </a:r>
              <a:endParaRPr lang="en-US" sz="1800"/>
            </a:p>
          </p:txBody>
        </p:sp>
        <p:sp>
          <p:nvSpPr>
            <p:cNvPr id="41013" name="Rectangle 1072"/>
            <p:cNvSpPr>
              <a:spLocks noChangeArrowheads="1"/>
            </p:cNvSpPr>
            <p:nvPr/>
          </p:nvSpPr>
          <p:spPr bwMode="auto">
            <a:xfrm>
              <a:off x="233" y="2988"/>
              <a:ext cx="1011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     3         	             1</a:t>
              </a:r>
              <a:endParaRPr lang="en-US" sz="1800"/>
            </a:p>
          </p:txBody>
        </p:sp>
        <p:sp>
          <p:nvSpPr>
            <p:cNvPr id="41014" name="Rectangle 1073"/>
            <p:cNvSpPr>
              <a:spLocks noChangeArrowheads="1"/>
            </p:cNvSpPr>
            <p:nvPr/>
          </p:nvSpPr>
          <p:spPr bwMode="auto">
            <a:xfrm>
              <a:off x="233" y="3120"/>
              <a:ext cx="101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     4                        4</a:t>
              </a:r>
              <a:endParaRPr lang="en-US" sz="1800"/>
            </a:p>
          </p:txBody>
        </p:sp>
        <p:sp>
          <p:nvSpPr>
            <p:cNvPr id="41015" name="Rectangle 1074"/>
            <p:cNvSpPr>
              <a:spLocks noChangeArrowheads="1"/>
            </p:cNvSpPr>
            <p:nvPr/>
          </p:nvSpPr>
          <p:spPr bwMode="auto">
            <a:xfrm>
              <a:off x="233" y="3251"/>
              <a:ext cx="101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     5                        5</a:t>
              </a:r>
              <a:endParaRPr lang="en-US" sz="1800"/>
            </a:p>
          </p:txBody>
        </p:sp>
        <p:sp>
          <p:nvSpPr>
            <p:cNvPr id="41016" name="Rectangle 1075"/>
            <p:cNvSpPr>
              <a:spLocks noChangeArrowheads="1"/>
            </p:cNvSpPr>
            <p:nvPr/>
          </p:nvSpPr>
          <p:spPr bwMode="auto">
            <a:xfrm>
              <a:off x="233" y="3383"/>
              <a:ext cx="1011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     6        	             5</a:t>
              </a:r>
              <a:endParaRPr lang="en-US" sz="1800"/>
            </a:p>
          </p:txBody>
        </p:sp>
        <p:sp>
          <p:nvSpPr>
            <p:cNvPr id="41017" name="Line 1076"/>
            <p:cNvSpPr>
              <a:spLocks noChangeShapeType="1"/>
            </p:cNvSpPr>
            <p:nvPr/>
          </p:nvSpPr>
          <p:spPr bwMode="auto">
            <a:xfrm>
              <a:off x="920" y="2711"/>
              <a:ext cx="1" cy="786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018" name="Rectangle 1077"/>
            <p:cNvSpPr>
              <a:spLocks noChangeArrowheads="1"/>
            </p:cNvSpPr>
            <p:nvPr/>
          </p:nvSpPr>
          <p:spPr bwMode="auto">
            <a:xfrm>
              <a:off x="4189" y="2884"/>
              <a:ext cx="98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     1                       4</a:t>
              </a:r>
              <a:endParaRPr lang="en-US" sz="1800"/>
            </a:p>
          </p:txBody>
        </p:sp>
        <p:sp>
          <p:nvSpPr>
            <p:cNvPr id="41019" name="Rectangle 1078"/>
            <p:cNvSpPr>
              <a:spLocks noChangeArrowheads="1"/>
            </p:cNvSpPr>
            <p:nvPr/>
          </p:nvSpPr>
          <p:spPr bwMode="auto">
            <a:xfrm>
              <a:off x="4189" y="3016"/>
              <a:ext cx="98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     2                       2</a:t>
              </a:r>
              <a:endParaRPr lang="en-US" sz="1800"/>
            </a:p>
          </p:txBody>
        </p:sp>
        <p:sp>
          <p:nvSpPr>
            <p:cNvPr id="41020" name="Rectangle 1079"/>
            <p:cNvSpPr>
              <a:spLocks noChangeArrowheads="1"/>
            </p:cNvSpPr>
            <p:nvPr/>
          </p:nvSpPr>
          <p:spPr bwMode="auto">
            <a:xfrm>
              <a:off x="4189" y="3146"/>
              <a:ext cx="98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     3                       4</a:t>
              </a:r>
              <a:endParaRPr lang="en-US" sz="1800"/>
            </a:p>
          </p:txBody>
        </p:sp>
        <p:sp>
          <p:nvSpPr>
            <p:cNvPr id="41021" name="Rectangle 1080"/>
            <p:cNvSpPr>
              <a:spLocks noChangeArrowheads="1"/>
            </p:cNvSpPr>
            <p:nvPr/>
          </p:nvSpPr>
          <p:spPr bwMode="auto">
            <a:xfrm>
              <a:off x="4189" y="3278"/>
              <a:ext cx="98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     4                       4</a:t>
              </a:r>
              <a:endParaRPr lang="en-US" sz="1800"/>
            </a:p>
          </p:txBody>
        </p:sp>
        <p:sp>
          <p:nvSpPr>
            <p:cNvPr id="41022" name="Rectangle 1081"/>
            <p:cNvSpPr>
              <a:spLocks noChangeArrowheads="1"/>
            </p:cNvSpPr>
            <p:nvPr/>
          </p:nvSpPr>
          <p:spPr bwMode="auto">
            <a:xfrm>
              <a:off x="4189" y="3410"/>
              <a:ext cx="986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     6                       6</a:t>
              </a:r>
              <a:endParaRPr lang="en-US" sz="1800"/>
            </a:p>
          </p:txBody>
        </p:sp>
        <p:sp>
          <p:nvSpPr>
            <p:cNvPr id="41023" name="Rectangle 1082"/>
            <p:cNvSpPr>
              <a:spLocks noChangeArrowheads="1"/>
            </p:cNvSpPr>
            <p:nvPr/>
          </p:nvSpPr>
          <p:spPr bwMode="auto">
            <a:xfrm>
              <a:off x="4133" y="2735"/>
              <a:ext cx="1426" cy="146"/>
            </a:xfrm>
            <a:prstGeom prst="rect">
              <a:avLst/>
            </a:prstGeom>
            <a:solidFill>
              <a:srgbClr val="B1CCCB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24" name="Line 1083"/>
            <p:cNvSpPr>
              <a:spLocks noChangeShapeType="1"/>
            </p:cNvSpPr>
            <p:nvPr/>
          </p:nvSpPr>
          <p:spPr bwMode="auto">
            <a:xfrm>
              <a:off x="4874" y="2739"/>
              <a:ext cx="1" cy="80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025" name="Rectangle 1084"/>
            <p:cNvSpPr>
              <a:spLocks noChangeArrowheads="1"/>
            </p:cNvSpPr>
            <p:nvPr/>
          </p:nvSpPr>
          <p:spPr bwMode="auto">
            <a:xfrm>
              <a:off x="2100" y="2381"/>
              <a:ext cx="101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     1                        1</a:t>
              </a:r>
              <a:endParaRPr lang="en-US" sz="1800"/>
            </a:p>
          </p:txBody>
        </p:sp>
        <p:sp>
          <p:nvSpPr>
            <p:cNvPr id="41026" name="Rectangle 1085"/>
            <p:cNvSpPr>
              <a:spLocks noChangeArrowheads="1"/>
            </p:cNvSpPr>
            <p:nvPr/>
          </p:nvSpPr>
          <p:spPr bwMode="auto">
            <a:xfrm>
              <a:off x="2100" y="2512"/>
              <a:ext cx="101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     2                        2</a:t>
              </a:r>
              <a:endParaRPr lang="en-US" sz="1800"/>
            </a:p>
          </p:txBody>
        </p:sp>
        <p:sp>
          <p:nvSpPr>
            <p:cNvPr id="41027" name="Rectangle 1086"/>
            <p:cNvSpPr>
              <a:spLocks noChangeArrowheads="1"/>
            </p:cNvSpPr>
            <p:nvPr/>
          </p:nvSpPr>
          <p:spPr bwMode="auto">
            <a:xfrm>
              <a:off x="2100" y="2644"/>
              <a:ext cx="101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     3                        3</a:t>
              </a:r>
              <a:endParaRPr lang="en-US" sz="1800"/>
            </a:p>
          </p:txBody>
        </p:sp>
        <p:sp>
          <p:nvSpPr>
            <p:cNvPr id="41028" name="Rectangle 1087"/>
            <p:cNvSpPr>
              <a:spLocks noChangeArrowheads="1"/>
            </p:cNvSpPr>
            <p:nvPr/>
          </p:nvSpPr>
          <p:spPr bwMode="auto">
            <a:xfrm>
              <a:off x="2100" y="2776"/>
              <a:ext cx="101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     5                        5</a:t>
              </a:r>
              <a:endParaRPr lang="en-US" sz="1800"/>
            </a:p>
          </p:txBody>
        </p:sp>
        <p:sp>
          <p:nvSpPr>
            <p:cNvPr id="41029" name="Rectangle 1088"/>
            <p:cNvSpPr>
              <a:spLocks noChangeArrowheads="1"/>
            </p:cNvSpPr>
            <p:nvPr/>
          </p:nvSpPr>
          <p:spPr bwMode="auto">
            <a:xfrm>
              <a:off x="2100" y="2906"/>
              <a:ext cx="1015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       6                        3</a:t>
              </a:r>
              <a:endParaRPr lang="en-US" sz="1800"/>
            </a:p>
          </p:txBody>
        </p:sp>
        <p:sp>
          <p:nvSpPr>
            <p:cNvPr id="41030" name="Rectangle 1089"/>
            <p:cNvSpPr>
              <a:spLocks noChangeArrowheads="1"/>
            </p:cNvSpPr>
            <p:nvPr/>
          </p:nvSpPr>
          <p:spPr bwMode="auto">
            <a:xfrm>
              <a:off x="2045" y="2232"/>
              <a:ext cx="1425" cy="146"/>
            </a:xfrm>
            <a:prstGeom prst="rect">
              <a:avLst/>
            </a:prstGeom>
            <a:solidFill>
              <a:srgbClr val="B1CCCB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31" name="Line 1090"/>
            <p:cNvSpPr>
              <a:spLocks noChangeShapeType="1"/>
            </p:cNvSpPr>
            <p:nvPr/>
          </p:nvSpPr>
          <p:spPr bwMode="auto">
            <a:xfrm flipH="1">
              <a:off x="2778" y="2240"/>
              <a:ext cx="4" cy="79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032" name="Rectangle 1091"/>
            <p:cNvSpPr>
              <a:spLocks noChangeArrowheads="1"/>
            </p:cNvSpPr>
            <p:nvPr/>
          </p:nvSpPr>
          <p:spPr bwMode="auto">
            <a:xfrm>
              <a:off x="309" y="1183"/>
              <a:ext cx="1199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Destination       Next node</a:t>
              </a:r>
              <a:endParaRPr lang="en-US" sz="1800"/>
            </a:p>
          </p:txBody>
        </p:sp>
        <p:sp>
          <p:nvSpPr>
            <p:cNvPr id="41033" name="Rectangle 1092"/>
            <p:cNvSpPr>
              <a:spLocks noChangeArrowheads="1"/>
            </p:cNvSpPr>
            <p:nvPr/>
          </p:nvSpPr>
          <p:spPr bwMode="auto">
            <a:xfrm>
              <a:off x="4246" y="2732"/>
              <a:ext cx="1199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Destination       Next node</a:t>
              </a:r>
              <a:endParaRPr lang="en-US" sz="1800"/>
            </a:p>
          </p:txBody>
        </p:sp>
        <p:sp>
          <p:nvSpPr>
            <p:cNvPr id="41034" name="Rectangle 1093"/>
            <p:cNvSpPr>
              <a:spLocks noChangeArrowheads="1"/>
            </p:cNvSpPr>
            <p:nvPr/>
          </p:nvSpPr>
          <p:spPr bwMode="auto">
            <a:xfrm>
              <a:off x="2127" y="2239"/>
              <a:ext cx="1199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Destination       Next node</a:t>
              </a:r>
              <a:endParaRPr lang="en-US" sz="1800"/>
            </a:p>
          </p:txBody>
        </p:sp>
        <p:sp>
          <p:nvSpPr>
            <p:cNvPr id="41035" name="Rectangle 1094"/>
            <p:cNvSpPr>
              <a:spLocks noChangeArrowheads="1"/>
            </p:cNvSpPr>
            <p:nvPr/>
          </p:nvSpPr>
          <p:spPr bwMode="auto">
            <a:xfrm>
              <a:off x="4176" y="1148"/>
              <a:ext cx="1199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Destination       Next node</a:t>
              </a:r>
              <a:endParaRPr lang="en-US" sz="1800"/>
            </a:p>
          </p:txBody>
        </p:sp>
        <p:sp>
          <p:nvSpPr>
            <p:cNvPr id="41036" name="Rectangle 1095"/>
            <p:cNvSpPr>
              <a:spLocks noChangeArrowheads="1"/>
            </p:cNvSpPr>
            <p:nvPr/>
          </p:nvSpPr>
          <p:spPr bwMode="auto">
            <a:xfrm>
              <a:off x="2109" y="990"/>
              <a:ext cx="1198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</a:rPr>
                <a:t>Destination       Next node</a:t>
              </a:r>
              <a:endParaRPr lang="en-US" sz="1800"/>
            </a:p>
          </p:txBody>
        </p:sp>
      </p:grpSp>
      <p:sp>
        <p:nvSpPr>
          <p:cNvPr id="40963" name="Rectangle 109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500" smtClean="0"/>
              <a:t>Routing Tables in Datagram Packet Networks</a:t>
            </a:r>
          </a:p>
        </p:txBody>
      </p:sp>
      <p:sp>
        <p:nvSpPr>
          <p:cNvPr id="942154" name="Rectangle 1098"/>
          <p:cNvSpPr>
            <a:spLocks noChangeArrowheads="1"/>
          </p:cNvSpPr>
          <p:nvPr/>
        </p:nvSpPr>
        <p:spPr bwMode="auto">
          <a:xfrm>
            <a:off x="338138" y="2892425"/>
            <a:ext cx="2276475" cy="268288"/>
          </a:xfrm>
          <a:prstGeom prst="rect">
            <a:avLst/>
          </a:prstGeom>
          <a:noFill/>
          <a:ln w="25400" algn="ctr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2155" name="Line 1099"/>
          <p:cNvSpPr>
            <a:spLocks noChangeShapeType="1"/>
          </p:cNvSpPr>
          <p:nvPr/>
        </p:nvSpPr>
        <p:spPr bwMode="auto">
          <a:xfrm>
            <a:off x="1371600" y="3148013"/>
            <a:ext cx="0" cy="1260475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942156" name="Rectangle 1100"/>
          <p:cNvSpPr>
            <a:spLocks noChangeArrowheads="1"/>
          </p:cNvSpPr>
          <p:nvPr/>
        </p:nvSpPr>
        <p:spPr bwMode="auto">
          <a:xfrm>
            <a:off x="292100" y="5305425"/>
            <a:ext cx="2276475" cy="268288"/>
          </a:xfrm>
          <a:prstGeom prst="rect">
            <a:avLst/>
          </a:prstGeom>
          <a:noFill/>
          <a:ln w="25400" algn="ctr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2157" name="Line 1101"/>
          <p:cNvSpPr>
            <a:spLocks noChangeShapeType="1"/>
          </p:cNvSpPr>
          <p:nvPr/>
        </p:nvSpPr>
        <p:spPr bwMode="auto">
          <a:xfrm flipV="1">
            <a:off x="2735263" y="5383213"/>
            <a:ext cx="3708400" cy="7937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42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942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942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942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54" grpId="0" animBg="1"/>
      <p:bldP spid="942155" grpId="0" animBg="1"/>
      <p:bldP spid="942156" grpId="0" animBg="1"/>
      <p:bldP spid="94215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Group 30"/>
          <p:cNvGrpSpPr>
            <a:grpSpLocks/>
          </p:cNvGrpSpPr>
          <p:nvPr/>
        </p:nvGrpSpPr>
        <p:grpSpPr bwMode="auto">
          <a:xfrm>
            <a:off x="769938" y="1331913"/>
            <a:ext cx="6896100" cy="2908300"/>
            <a:chOff x="688" y="1952"/>
            <a:chExt cx="4344" cy="1832"/>
          </a:xfrm>
        </p:grpSpPr>
        <p:sp>
          <p:nvSpPr>
            <p:cNvPr id="41989" name="Oval 31"/>
            <p:cNvSpPr>
              <a:spLocks noChangeArrowheads="1"/>
            </p:cNvSpPr>
            <p:nvPr/>
          </p:nvSpPr>
          <p:spPr bwMode="auto">
            <a:xfrm>
              <a:off x="1296" y="2104"/>
              <a:ext cx="688" cy="656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lIns="90488" tIns="44450" rIns="90488" bIns="44450" anchor="ctr">
              <a:spAutoFit/>
            </a:bodyPr>
            <a:lstStyle/>
            <a:p>
              <a:endParaRPr lang="en-US"/>
            </a:p>
          </p:txBody>
        </p:sp>
        <p:sp>
          <p:nvSpPr>
            <p:cNvPr id="41990" name="Text Box 32"/>
            <p:cNvSpPr txBox="1">
              <a:spLocks noChangeArrowheads="1"/>
            </p:cNvSpPr>
            <p:nvPr/>
          </p:nvSpPr>
          <p:spPr bwMode="auto">
            <a:xfrm>
              <a:off x="1424" y="2168"/>
              <a:ext cx="408" cy="51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200"/>
                <a:t>0000 0111 1010 1101</a:t>
              </a:r>
            </a:p>
          </p:txBody>
        </p:sp>
        <p:sp>
          <p:nvSpPr>
            <p:cNvPr id="41991" name="Oval 33"/>
            <p:cNvSpPr>
              <a:spLocks noChangeArrowheads="1"/>
            </p:cNvSpPr>
            <p:nvPr/>
          </p:nvSpPr>
          <p:spPr bwMode="auto">
            <a:xfrm>
              <a:off x="4280" y="2088"/>
              <a:ext cx="688" cy="656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lIns="90488" tIns="44450" rIns="90488" bIns="44450" anchor="ctr">
              <a:spAutoFit/>
            </a:bodyPr>
            <a:lstStyle/>
            <a:p>
              <a:endParaRPr lang="en-US"/>
            </a:p>
          </p:txBody>
        </p:sp>
        <p:sp>
          <p:nvSpPr>
            <p:cNvPr id="41992" name="Text Box 34"/>
            <p:cNvSpPr txBox="1">
              <a:spLocks noChangeArrowheads="1"/>
            </p:cNvSpPr>
            <p:nvPr/>
          </p:nvSpPr>
          <p:spPr bwMode="auto">
            <a:xfrm>
              <a:off x="4408" y="2152"/>
              <a:ext cx="408" cy="51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200"/>
                <a:t>0001 0100 1011 1110</a:t>
              </a:r>
            </a:p>
          </p:txBody>
        </p:sp>
        <p:sp>
          <p:nvSpPr>
            <p:cNvPr id="41993" name="Oval 35"/>
            <p:cNvSpPr>
              <a:spLocks noChangeArrowheads="1"/>
            </p:cNvSpPr>
            <p:nvPr/>
          </p:nvSpPr>
          <p:spPr bwMode="auto">
            <a:xfrm>
              <a:off x="4344" y="3000"/>
              <a:ext cx="688" cy="656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lIns="90488" tIns="44450" rIns="90488" bIns="44450" anchor="ctr">
              <a:spAutoFit/>
            </a:bodyPr>
            <a:lstStyle/>
            <a:p>
              <a:endParaRPr lang="en-US"/>
            </a:p>
          </p:txBody>
        </p:sp>
        <p:sp>
          <p:nvSpPr>
            <p:cNvPr id="41994" name="Text Box 36"/>
            <p:cNvSpPr txBox="1">
              <a:spLocks noChangeArrowheads="1"/>
            </p:cNvSpPr>
            <p:nvPr/>
          </p:nvSpPr>
          <p:spPr bwMode="auto">
            <a:xfrm>
              <a:off x="4472" y="3064"/>
              <a:ext cx="408" cy="51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200"/>
                <a:t>0011 0101 1000 1111</a:t>
              </a:r>
            </a:p>
          </p:txBody>
        </p:sp>
        <p:sp>
          <p:nvSpPr>
            <p:cNvPr id="41995" name="Oval 37"/>
            <p:cNvSpPr>
              <a:spLocks noChangeArrowheads="1"/>
            </p:cNvSpPr>
            <p:nvPr/>
          </p:nvSpPr>
          <p:spPr bwMode="auto">
            <a:xfrm>
              <a:off x="1304" y="3016"/>
              <a:ext cx="688" cy="656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lIns="90488" tIns="44450" rIns="90488" bIns="44450" anchor="ctr">
              <a:spAutoFit/>
            </a:bodyPr>
            <a:lstStyle/>
            <a:p>
              <a:endParaRPr lang="en-US"/>
            </a:p>
          </p:txBody>
        </p:sp>
        <p:sp>
          <p:nvSpPr>
            <p:cNvPr id="41996" name="Text Box 38"/>
            <p:cNvSpPr txBox="1">
              <a:spLocks noChangeArrowheads="1"/>
            </p:cNvSpPr>
            <p:nvPr/>
          </p:nvSpPr>
          <p:spPr bwMode="auto">
            <a:xfrm>
              <a:off x="1432" y="3080"/>
              <a:ext cx="408" cy="51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200"/>
                <a:t>0011 0110 1001 1100</a:t>
              </a:r>
            </a:p>
          </p:txBody>
        </p:sp>
        <p:sp>
          <p:nvSpPr>
            <p:cNvPr id="41997" name="Line 39"/>
            <p:cNvSpPr>
              <a:spLocks noChangeShapeType="1"/>
            </p:cNvSpPr>
            <p:nvPr/>
          </p:nvSpPr>
          <p:spPr bwMode="auto">
            <a:xfrm>
              <a:off x="1960" y="2488"/>
              <a:ext cx="640" cy="296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IN"/>
            </a:p>
          </p:txBody>
        </p:sp>
        <p:sp>
          <p:nvSpPr>
            <p:cNvPr id="41998" name="Line 40"/>
            <p:cNvSpPr>
              <a:spLocks noChangeShapeType="1"/>
            </p:cNvSpPr>
            <p:nvPr/>
          </p:nvSpPr>
          <p:spPr bwMode="auto">
            <a:xfrm>
              <a:off x="3720" y="2920"/>
              <a:ext cx="656" cy="288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IN"/>
            </a:p>
          </p:txBody>
        </p:sp>
        <p:sp>
          <p:nvSpPr>
            <p:cNvPr id="41999" name="Oval 41"/>
            <p:cNvSpPr>
              <a:spLocks noChangeArrowheads="1"/>
            </p:cNvSpPr>
            <p:nvPr/>
          </p:nvSpPr>
          <p:spPr bwMode="auto">
            <a:xfrm>
              <a:off x="2568" y="2664"/>
              <a:ext cx="392" cy="384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lIns="90488" tIns="44450" rIns="90488" bIns="44450" anchor="ctr">
              <a:spAutoFit/>
            </a:bodyPr>
            <a:lstStyle/>
            <a:p>
              <a:endParaRPr lang="en-US"/>
            </a:p>
          </p:txBody>
        </p:sp>
        <p:sp>
          <p:nvSpPr>
            <p:cNvPr id="42000" name="Text Box 42"/>
            <p:cNvSpPr txBox="1">
              <a:spLocks noChangeArrowheads="1"/>
            </p:cNvSpPr>
            <p:nvPr/>
          </p:nvSpPr>
          <p:spPr bwMode="auto">
            <a:xfrm>
              <a:off x="2560" y="2760"/>
              <a:ext cx="392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/>
                <a:t>R</a:t>
              </a:r>
              <a:r>
                <a:rPr lang="en-US" sz="1600" baseline="-25000"/>
                <a:t>1</a:t>
              </a:r>
              <a:endParaRPr lang="en-US" sz="1600" b="1"/>
            </a:p>
          </p:txBody>
        </p:sp>
        <p:sp>
          <p:nvSpPr>
            <p:cNvPr id="42001" name="Line 43"/>
            <p:cNvSpPr>
              <a:spLocks noChangeShapeType="1"/>
            </p:cNvSpPr>
            <p:nvPr/>
          </p:nvSpPr>
          <p:spPr bwMode="auto">
            <a:xfrm>
              <a:off x="2976" y="2872"/>
              <a:ext cx="400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IN"/>
            </a:p>
          </p:txBody>
        </p:sp>
        <p:sp>
          <p:nvSpPr>
            <p:cNvPr id="42002" name="Line 44"/>
            <p:cNvSpPr>
              <a:spLocks noChangeShapeType="1"/>
            </p:cNvSpPr>
            <p:nvPr/>
          </p:nvSpPr>
          <p:spPr bwMode="auto">
            <a:xfrm flipH="1">
              <a:off x="1976" y="2984"/>
              <a:ext cx="608" cy="288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IN"/>
            </a:p>
          </p:txBody>
        </p:sp>
        <p:sp>
          <p:nvSpPr>
            <p:cNvPr id="42003" name="Line 45"/>
            <p:cNvSpPr>
              <a:spLocks noChangeShapeType="1"/>
            </p:cNvSpPr>
            <p:nvPr/>
          </p:nvSpPr>
          <p:spPr bwMode="auto">
            <a:xfrm flipV="1">
              <a:off x="3744" y="2488"/>
              <a:ext cx="544" cy="30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IN"/>
            </a:p>
          </p:txBody>
        </p:sp>
        <p:sp>
          <p:nvSpPr>
            <p:cNvPr id="42004" name="Text Box 46"/>
            <p:cNvSpPr txBox="1">
              <a:spLocks noChangeArrowheads="1"/>
            </p:cNvSpPr>
            <p:nvPr/>
          </p:nvSpPr>
          <p:spPr bwMode="auto">
            <a:xfrm>
              <a:off x="2096" y="2328"/>
              <a:ext cx="280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/>
                <a:t>1</a:t>
              </a:r>
              <a:endParaRPr lang="en-US" sz="1600" b="1"/>
            </a:p>
          </p:txBody>
        </p:sp>
        <p:sp>
          <p:nvSpPr>
            <p:cNvPr id="42005" name="Text Box 47"/>
            <p:cNvSpPr txBox="1">
              <a:spLocks noChangeArrowheads="1"/>
            </p:cNvSpPr>
            <p:nvPr/>
          </p:nvSpPr>
          <p:spPr bwMode="auto">
            <a:xfrm>
              <a:off x="2104" y="2912"/>
              <a:ext cx="280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/>
                <a:t>2</a:t>
              </a:r>
              <a:endParaRPr lang="en-US" sz="1600" b="1"/>
            </a:p>
          </p:txBody>
        </p:sp>
        <p:sp>
          <p:nvSpPr>
            <p:cNvPr id="42006" name="Text Box 48"/>
            <p:cNvSpPr txBox="1">
              <a:spLocks noChangeArrowheads="1"/>
            </p:cNvSpPr>
            <p:nvPr/>
          </p:nvSpPr>
          <p:spPr bwMode="auto">
            <a:xfrm>
              <a:off x="4000" y="2904"/>
              <a:ext cx="280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/>
                <a:t>5</a:t>
              </a:r>
              <a:endParaRPr lang="en-US" sz="1600" b="1"/>
            </a:p>
          </p:txBody>
        </p:sp>
        <p:sp>
          <p:nvSpPr>
            <p:cNvPr id="42007" name="Text Box 49"/>
            <p:cNvSpPr txBox="1">
              <a:spLocks noChangeArrowheads="1"/>
            </p:cNvSpPr>
            <p:nvPr/>
          </p:nvSpPr>
          <p:spPr bwMode="auto">
            <a:xfrm>
              <a:off x="3864" y="2384"/>
              <a:ext cx="280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/>
                <a:t>4</a:t>
              </a:r>
              <a:endParaRPr lang="en-US" sz="1600" b="1"/>
            </a:p>
          </p:txBody>
        </p:sp>
        <p:sp>
          <p:nvSpPr>
            <p:cNvPr id="42008" name="Text Box 50"/>
            <p:cNvSpPr txBox="1">
              <a:spLocks noChangeArrowheads="1"/>
            </p:cNvSpPr>
            <p:nvPr/>
          </p:nvSpPr>
          <p:spPr bwMode="auto">
            <a:xfrm>
              <a:off x="3016" y="2616"/>
              <a:ext cx="280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/>
                <a:t>3</a:t>
              </a:r>
              <a:endParaRPr lang="en-US" sz="1600" b="1"/>
            </a:p>
          </p:txBody>
        </p:sp>
        <p:sp>
          <p:nvSpPr>
            <p:cNvPr id="42009" name="Text Box 51"/>
            <p:cNvSpPr txBox="1">
              <a:spLocks noChangeArrowheads="1"/>
            </p:cNvSpPr>
            <p:nvPr/>
          </p:nvSpPr>
          <p:spPr bwMode="auto">
            <a:xfrm>
              <a:off x="2480" y="3168"/>
              <a:ext cx="592" cy="600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400"/>
                <a:t>0000   1 0111   1 1010   1 </a:t>
              </a:r>
              <a:r>
                <a:rPr lang="en-US" sz="1400" b="1"/>
                <a:t>…       …</a:t>
              </a:r>
            </a:p>
          </p:txBody>
        </p:sp>
        <p:sp>
          <p:nvSpPr>
            <p:cNvPr id="42010" name="Line 52"/>
            <p:cNvSpPr>
              <a:spLocks noChangeShapeType="1"/>
            </p:cNvSpPr>
            <p:nvPr/>
          </p:nvSpPr>
          <p:spPr bwMode="auto">
            <a:xfrm>
              <a:off x="2832" y="3176"/>
              <a:ext cx="0" cy="608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IN"/>
            </a:p>
          </p:txBody>
        </p:sp>
        <p:sp>
          <p:nvSpPr>
            <p:cNvPr id="42011" name="Text Box 53"/>
            <p:cNvSpPr txBox="1">
              <a:spLocks noChangeArrowheads="1"/>
            </p:cNvSpPr>
            <p:nvPr/>
          </p:nvSpPr>
          <p:spPr bwMode="auto">
            <a:xfrm>
              <a:off x="3320" y="3160"/>
              <a:ext cx="568" cy="600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400"/>
                <a:t>0001   4 0100   4 1011   4 </a:t>
              </a:r>
              <a:r>
                <a:rPr lang="en-US" sz="1400" b="1"/>
                <a:t>…      …</a:t>
              </a:r>
              <a:endParaRPr lang="en-US" sz="1400"/>
            </a:p>
          </p:txBody>
        </p:sp>
        <p:sp>
          <p:nvSpPr>
            <p:cNvPr id="42012" name="Line 54"/>
            <p:cNvSpPr>
              <a:spLocks noChangeShapeType="1"/>
            </p:cNvSpPr>
            <p:nvPr/>
          </p:nvSpPr>
          <p:spPr bwMode="auto">
            <a:xfrm>
              <a:off x="3656" y="3168"/>
              <a:ext cx="0" cy="608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IN"/>
            </a:p>
          </p:txBody>
        </p:sp>
        <p:sp>
          <p:nvSpPr>
            <p:cNvPr id="42013" name="Text Box 55"/>
            <p:cNvSpPr txBox="1">
              <a:spLocks noChangeArrowheads="1"/>
            </p:cNvSpPr>
            <p:nvPr/>
          </p:nvSpPr>
          <p:spPr bwMode="auto">
            <a:xfrm>
              <a:off x="688" y="1952"/>
              <a:ext cx="320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endParaRPr lang="en-US" sz="1600"/>
            </a:p>
          </p:txBody>
        </p:sp>
        <p:sp>
          <p:nvSpPr>
            <p:cNvPr id="42014" name="Oval 56"/>
            <p:cNvSpPr>
              <a:spLocks noChangeArrowheads="1"/>
            </p:cNvSpPr>
            <p:nvPr/>
          </p:nvSpPr>
          <p:spPr bwMode="auto">
            <a:xfrm>
              <a:off x="3368" y="2656"/>
              <a:ext cx="392" cy="384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lIns="90488" tIns="44450" rIns="90488" bIns="44450" anchor="ctr">
              <a:spAutoFit/>
            </a:bodyPr>
            <a:lstStyle/>
            <a:p>
              <a:endParaRPr lang="en-US"/>
            </a:p>
          </p:txBody>
        </p:sp>
        <p:sp>
          <p:nvSpPr>
            <p:cNvPr id="42015" name="Text Box 57"/>
            <p:cNvSpPr txBox="1">
              <a:spLocks noChangeArrowheads="1"/>
            </p:cNvSpPr>
            <p:nvPr/>
          </p:nvSpPr>
          <p:spPr bwMode="auto">
            <a:xfrm>
              <a:off x="3368" y="2744"/>
              <a:ext cx="392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/>
                <a:t>R</a:t>
              </a:r>
              <a:r>
                <a:rPr lang="en-US" sz="1600" baseline="-25000"/>
                <a:t>2</a:t>
              </a:r>
              <a:endParaRPr lang="en-US" sz="1600" b="1"/>
            </a:p>
          </p:txBody>
        </p:sp>
      </p:grpSp>
      <p:sp>
        <p:nvSpPr>
          <p:cNvPr id="41987" name="Rectangle 5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500" smtClean="0"/>
              <a:t>Non-Hierarchical Addresses and Routing</a:t>
            </a:r>
          </a:p>
        </p:txBody>
      </p:sp>
      <p:sp>
        <p:nvSpPr>
          <p:cNvPr id="41988" name="Rectangle 59"/>
          <p:cNvSpPr>
            <a:spLocks noGrp="1" noChangeArrowheads="1"/>
          </p:cNvSpPr>
          <p:nvPr>
            <p:ph type="body" idx="1"/>
          </p:nvPr>
        </p:nvSpPr>
        <p:spPr>
          <a:xfrm>
            <a:off x="457200" y="4510088"/>
            <a:ext cx="8229600" cy="1844675"/>
          </a:xfrm>
        </p:spPr>
        <p:txBody>
          <a:bodyPr/>
          <a:lstStyle/>
          <a:p>
            <a:pPr eaLnBrk="1" hangingPunct="1"/>
            <a:r>
              <a:rPr lang="en-US" smtClean="0"/>
              <a:t>No relationship between addresses &amp; routing proximity</a:t>
            </a:r>
          </a:p>
          <a:p>
            <a:pPr eaLnBrk="1" hangingPunct="1"/>
            <a:r>
              <a:rPr lang="en-US" smtClean="0"/>
              <a:t>Routing tables require 16 entries each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"/>
          <p:cNvGrpSpPr>
            <a:grpSpLocks/>
          </p:cNvGrpSpPr>
          <p:nvPr/>
        </p:nvGrpSpPr>
        <p:grpSpPr bwMode="auto">
          <a:xfrm>
            <a:off x="774700" y="1023938"/>
            <a:ext cx="6896100" cy="2908300"/>
            <a:chOff x="688" y="168"/>
            <a:chExt cx="4344" cy="1832"/>
          </a:xfrm>
        </p:grpSpPr>
        <p:sp>
          <p:nvSpPr>
            <p:cNvPr id="43013" name="Oval 3"/>
            <p:cNvSpPr>
              <a:spLocks noChangeArrowheads="1"/>
            </p:cNvSpPr>
            <p:nvPr/>
          </p:nvSpPr>
          <p:spPr bwMode="auto">
            <a:xfrm>
              <a:off x="1296" y="320"/>
              <a:ext cx="688" cy="656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lIns="90488" tIns="44450" rIns="90488" bIns="44450" anchor="ctr">
              <a:spAutoFit/>
            </a:bodyPr>
            <a:lstStyle/>
            <a:p>
              <a:endParaRPr lang="en-US"/>
            </a:p>
          </p:txBody>
        </p:sp>
        <p:sp>
          <p:nvSpPr>
            <p:cNvPr id="43014" name="Text Box 4"/>
            <p:cNvSpPr txBox="1">
              <a:spLocks noChangeArrowheads="1"/>
            </p:cNvSpPr>
            <p:nvPr/>
          </p:nvSpPr>
          <p:spPr bwMode="auto">
            <a:xfrm>
              <a:off x="1424" y="384"/>
              <a:ext cx="408" cy="51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200"/>
                <a:t>0000 0001 0010 0011</a:t>
              </a:r>
            </a:p>
          </p:txBody>
        </p:sp>
        <p:sp>
          <p:nvSpPr>
            <p:cNvPr id="43015" name="Oval 5"/>
            <p:cNvSpPr>
              <a:spLocks noChangeArrowheads="1"/>
            </p:cNvSpPr>
            <p:nvPr/>
          </p:nvSpPr>
          <p:spPr bwMode="auto">
            <a:xfrm>
              <a:off x="4280" y="304"/>
              <a:ext cx="688" cy="656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lIns="90488" tIns="44450" rIns="90488" bIns="44450" anchor="ctr">
              <a:spAutoFit/>
            </a:bodyPr>
            <a:lstStyle/>
            <a:p>
              <a:endParaRPr lang="en-US"/>
            </a:p>
          </p:txBody>
        </p:sp>
        <p:sp>
          <p:nvSpPr>
            <p:cNvPr id="43016" name="Text Box 6"/>
            <p:cNvSpPr txBox="1">
              <a:spLocks noChangeArrowheads="1"/>
            </p:cNvSpPr>
            <p:nvPr/>
          </p:nvSpPr>
          <p:spPr bwMode="auto">
            <a:xfrm>
              <a:off x="4408" y="368"/>
              <a:ext cx="408" cy="51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200"/>
                <a:t>0100 0101 0110 0111</a:t>
              </a:r>
            </a:p>
          </p:txBody>
        </p:sp>
        <p:sp>
          <p:nvSpPr>
            <p:cNvPr id="43017" name="Oval 7"/>
            <p:cNvSpPr>
              <a:spLocks noChangeArrowheads="1"/>
            </p:cNvSpPr>
            <p:nvPr/>
          </p:nvSpPr>
          <p:spPr bwMode="auto">
            <a:xfrm>
              <a:off x="4344" y="1216"/>
              <a:ext cx="688" cy="656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lIns="90488" tIns="44450" rIns="90488" bIns="44450" anchor="ctr">
              <a:spAutoFit/>
            </a:bodyPr>
            <a:lstStyle/>
            <a:p>
              <a:endParaRPr lang="en-US"/>
            </a:p>
          </p:txBody>
        </p:sp>
        <p:sp>
          <p:nvSpPr>
            <p:cNvPr id="43018" name="Text Box 8"/>
            <p:cNvSpPr txBox="1">
              <a:spLocks noChangeArrowheads="1"/>
            </p:cNvSpPr>
            <p:nvPr/>
          </p:nvSpPr>
          <p:spPr bwMode="auto">
            <a:xfrm>
              <a:off x="4472" y="1280"/>
              <a:ext cx="408" cy="51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200"/>
                <a:t>1100 1101 1110 1111</a:t>
              </a:r>
            </a:p>
          </p:txBody>
        </p:sp>
        <p:sp>
          <p:nvSpPr>
            <p:cNvPr id="43019" name="Oval 9"/>
            <p:cNvSpPr>
              <a:spLocks noChangeArrowheads="1"/>
            </p:cNvSpPr>
            <p:nvPr/>
          </p:nvSpPr>
          <p:spPr bwMode="auto">
            <a:xfrm>
              <a:off x="1304" y="1232"/>
              <a:ext cx="688" cy="656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lIns="90488" tIns="44450" rIns="90488" bIns="44450" anchor="ctr">
              <a:spAutoFit/>
            </a:bodyPr>
            <a:lstStyle/>
            <a:p>
              <a:endParaRPr lang="en-US"/>
            </a:p>
          </p:txBody>
        </p:sp>
        <p:sp>
          <p:nvSpPr>
            <p:cNvPr id="43020" name="Text Box 10"/>
            <p:cNvSpPr txBox="1">
              <a:spLocks noChangeArrowheads="1"/>
            </p:cNvSpPr>
            <p:nvPr/>
          </p:nvSpPr>
          <p:spPr bwMode="auto">
            <a:xfrm>
              <a:off x="1432" y="1296"/>
              <a:ext cx="408" cy="51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200"/>
                <a:t>1000 1001 1010 1011</a:t>
              </a:r>
            </a:p>
          </p:txBody>
        </p:sp>
        <p:sp>
          <p:nvSpPr>
            <p:cNvPr id="43021" name="Line 11"/>
            <p:cNvSpPr>
              <a:spLocks noChangeShapeType="1"/>
            </p:cNvSpPr>
            <p:nvPr/>
          </p:nvSpPr>
          <p:spPr bwMode="auto">
            <a:xfrm>
              <a:off x="1960" y="704"/>
              <a:ext cx="640" cy="296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IN"/>
            </a:p>
          </p:txBody>
        </p:sp>
        <p:sp>
          <p:nvSpPr>
            <p:cNvPr id="43022" name="Line 12"/>
            <p:cNvSpPr>
              <a:spLocks noChangeShapeType="1"/>
            </p:cNvSpPr>
            <p:nvPr/>
          </p:nvSpPr>
          <p:spPr bwMode="auto">
            <a:xfrm>
              <a:off x="3720" y="1136"/>
              <a:ext cx="656" cy="288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IN"/>
            </a:p>
          </p:txBody>
        </p:sp>
        <p:sp>
          <p:nvSpPr>
            <p:cNvPr id="43023" name="Oval 13"/>
            <p:cNvSpPr>
              <a:spLocks noChangeArrowheads="1"/>
            </p:cNvSpPr>
            <p:nvPr/>
          </p:nvSpPr>
          <p:spPr bwMode="auto">
            <a:xfrm>
              <a:off x="2568" y="880"/>
              <a:ext cx="392" cy="384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lIns="90488" tIns="44450" rIns="90488" bIns="44450" anchor="ctr">
              <a:spAutoFit/>
            </a:bodyPr>
            <a:lstStyle/>
            <a:p>
              <a:endParaRPr lang="en-US"/>
            </a:p>
          </p:txBody>
        </p:sp>
        <p:sp>
          <p:nvSpPr>
            <p:cNvPr id="43024" name="Text Box 14"/>
            <p:cNvSpPr txBox="1">
              <a:spLocks noChangeArrowheads="1"/>
            </p:cNvSpPr>
            <p:nvPr/>
          </p:nvSpPr>
          <p:spPr bwMode="auto">
            <a:xfrm>
              <a:off x="2560" y="976"/>
              <a:ext cx="392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/>
                <a:t>R</a:t>
              </a:r>
              <a:r>
                <a:rPr lang="en-US" sz="1600" baseline="-25000"/>
                <a:t>1</a:t>
              </a:r>
              <a:endParaRPr lang="en-US" sz="1600" b="1"/>
            </a:p>
          </p:txBody>
        </p:sp>
        <p:sp>
          <p:nvSpPr>
            <p:cNvPr id="43025" name="Oval 15"/>
            <p:cNvSpPr>
              <a:spLocks noChangeArrowheads="1"/>
            </p:cNvSpPr>
            <p:nvPr/>
          </p:nvSpPr>
          <p:spPr bwMode="auto">
            <a:xfrm>
              <a:off x="3368" y="872"/>
              <a:ext cx="392" cy="384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lIns="90488" tIns="44450" rIns="90488" bIns="44450" anchor="ctr">
              <a:spAutoFit/>
            </a:bodyPr>
            <a:lstStyle/>
            <a:p>
              <a:endParaRPr lang="en-US"/>
            </a:p>
          </p:txBody>
        </p:sp>
        <p:sp>
          <p:nvSpPr>
            <p:cNvPr id="43026" name="Text Box 16"/>
            <p:cNvSpPr txBox="1">
              <a:spLocks noChangeArrowheads="1"/>
            </p:cNvSpPr>
            <p:nvPr/>
          </p:nvSpPr>
          <p:spPr bwMode="auto">
            <a:xfrm>
              <a:off x="3368" y="960"/>
              <a:ext cx="392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/>
                <a:t>R</a:t>
              </a:r>
              <a:r>
                <a:rPr lang="en-US" sz="1600" baseline="-25000"/>
                <a:t>2</a:t>
              </a:r>
              <a:endParaRPr lang="en-US" sz="1600" b="1"/>
            </a:p>
          </p:txBody>
        </p:sp>
        <p:sp>
          <p:nvSpPr>
            <p:cNvPr id="43027" name="Line 17"/>
            <p:cNvSpPr>
              <a:spLocks noChangeShapeType="1"/>
            </p:cNvSpPr>
            <p:nvPr/>
          </p:nvSpPr>
          <p:spPr bwMode="auto">
            <a:xfrm>
              <a:off x="2976" y="1088"/>
              <a:ext cx="400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IN"/>
            </a:p>
          </p:txBody>
        </p:sp>
        <p:sp>
          <p:nvSpPr>
            <p:cNvPr id="43028" name="Line 18"/>
            <p:cNvSpPr>
              <a:spLocks noChangeShapeType="1"/>
            </p:cNvSpPr>
            <p:nvPr/>
          </p:nvSpPr>
          <p:spPr bwMode="auto">
            <a:xfrm flipH="1">
              <a:off x="1976" y="1200"/>
              <a:ext cx="608" cy="288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IN"/>
            </a:p>
          </p:txBody>
        </p:sp>
        <p:sp>
          <p:nvSpPr>
            <p:cNvPr id="43029" name="Line 19"/>
            <p:cNvSpPr>
              <a:spLocks noChangeShapeType="1"/>
            </p:cNvSpPr>
            <p:nvPr/>
          </p:nvSpPr>
          <p:spPr bwMode="auto">
            <a:xfrm flipV="1">
              <a:off x="3744" y="704"/>
              <a:ext cx="544" cy="30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IN"/>
            </a:p>
          </p:txBody>
        </p:sp>
        <p:sp>
          <p:nvSpPr>
            <p:cNvPr id="43030" name="Text Box 20"/>
            <p:cNvSpPr txBox="1">
              <a:spLocks noChangeArrowheads="1"/>
            </p:cNvSpPr>
            <p:nvPr/>
          </p:nvSpPr>
          <p:spPr bwMode="auto">
            <a:xfrm>
              <a:off x="2096" y="544"/>
              <a:ext cx="280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/>
                <a:t>1</a:t>
              </a:r>
              <a:endParaRPr lang="en-US" sz="1600" b="1"/>
            </a:p>
          </p:txBody>
        </p:sp>
        <p:sp>
          <p:nvSpPr>
            <p:cNvPr id="43031" name="Text Box 21"/>
            <p:cNvSpPr txBox="1">
              <a:spLocks noChangeArrowheads="1"/>
            </p:cNvSpPr>
            <p:nvPr/>
          </p:nvSpPr>
          <p:spPr bwMode="auto">
            <a:xfrm>
              <a:off x="2104" y="1128"/>
              <a:ext cx="280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/>
                <a:t>2</a:t>
              </a:r>
              <a:endParaRPr lang="en-US" sz="1600" b="1"/>
            </a:p>
          </p:txBody>
        </p:sp>
        <p:sp>
          <p:nvSpPr>
            <p:cNvPr id="43032" name="Text Box 22"/>
            <p:cNvSpPr txBox="1">
              <a:spLocks noChangeArrowheads="1"/>
            </p:cNvSpPr>
            <p:nvPr/>
          </p:nvSpPr>
          <p:spPr bwMode="auto">
            <a:xfrm>
              <a:off x="4000" y="1120"/>
              <a:ext cx="280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/>
                <a:t>5</a:t>
              </a:r>
              <a:endParaRPr lang="en-US" sz="1600" b="1"/>
            </a:p>
          </p:txBody>
        </p:sp>
        <p:sp>
          <p:nvSpPr>
            <p:cNvPr id="43033" name="Text Box 23"/>
            <p:cNvSpPr txBox="1">
              <a:spLocks noChangeArrowheads="1"/>
            </p:cNvSpPr>
            <p:nvPr/>
          </p:nvSpPr>
          <p:spPr bwMode="auto">
            <a:xfrm>
              <a:off x="3864" y="600"/>
              <a:ext cx="280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/>
                <a:t>4</a:t>
              </a:r>
              <a:endParaRPr lang="en-US" sz="1600" b="1"/>
            </a:p>
          </p:txBody>
        </p:sp>
        <p:sp>
          <p:nvSpPr>
            <p:cNvPr id="43034" name="Text Box 24"/>
            <p:cNvSpPr txBox="1">
              <a:spLocks noChangeArrowheads="1"/>
            </p:cNvSpPr>
            <p:nvPr/>
          </p:nvSpPr>
          <p:spPr bwMode="auto">
            <a:xfrm>
              <a:off x="3016" y="832"/>
              <a:ext cx="280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/>
                <a:t>3</a:t>
              </a:r>
              <a:endParaRPr lang="en-US" sz="1600" b="1"/>
            </a:p>
          </p:txBody>
        </p:sp>
        <p:sp>
          <p:nvSpPr>
            <p:cNvPr id="43035" name="Text Box 25"/>
            <p:cNvSpPr txBox="1">
              <a:spLocks noChangeArrowheads="1"/>
            </p:cNvSpPr>
            <p:nvPr/>
          </p:nvSpPr>
          <p:spPr bwMode="auto">
            <a:xfrm>
              <a:off x="2600" y="1384"/>
              <a:ext cx="432" cy="600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400"/>
                <a:t>00   1 01   3 10   2 11   3</a:t>
              </a:r>
            </a:p>
          </p:txBody>
        </p:sp>
        <p:sp>
          <p:nvSpPr>
            <p:cNvPr id="43036" name="Line 26"/>
            <p:cNvSpPr>
              <a:spLocks noChangeShapeType="1"/>
            </p:cNvSpPr>
            <p:nvPr/>
          </p:nvSpPr>
          <p:spPr bwMode="auto">
            <a:xfrm>
              <a:off x="2832" y="1392"/>
              <a:ext cx="0" cy="608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IN"/>
            </a:p>
          </p:txBody>
        </p:sp>
        <p:sp>
          <p:nvSpPr>
            <p:cNvPr id="43037" name="Text Box 27"/>
            <p:cNvSpPr txBox="1">
              <a:spLocks noChangeArrowheads="1"/>
            </p:cNvSpPr>
            <p:nvPr/>
          </p:nvSpPr>
          <p:spPr bwMode="auto">
            <a:xfrm>
              <a:off x="3336" y="1384"/>
              <a:ext cx="432" cy="600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400"/>
                <a:t>00   3 01   4 10   3 11   5</a:t>
              </a:r>
            </a:p>
          </p:txBody>
        </p:sp>
        <p:sp>
          <p:nvSpPr>
            <p:cNvPr id="43038" name="Line 28"/>
            <p:cNvSpPr>
              <a:spLocks noChangeShapeType="1"/>
            </p:cNvSpPr>
            <p:nvPr/>
          </p:nvSpPr>
          <p:spPr bwMode="auto">
            <a:xfrm>
              <a:off x="3568" y="1392"/>
              <a:ext cx="0" cy="608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IN"/>
            </a:p>
          </p:txBody>
        </p:sp>
        <p:sp>
          <p:nvSpPr>
            <p:cNvPr id="43039" name="Text Box 29"/>
            <p:cNvSpPr txBox="1">
              <a:spLocks noChangeArrowheads="1"/>
            </p:cNvSpPr>
            <p:nvPr/>
          </p:nvSpPr>
          <p:spPr bwMode="auto">
            <a:xfrm>
              <a:off x="688" y="168"/>
              <a:ext cx="320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endParaRPr lang="en-US" sz="1600"/>
            </a:p>
          </p:txBody>
        </p:sp>
      </p:grpSp>
      <p:sp>
        <p:nvSpPr>
          <p:cNvPr id="43011" name="Rectangle 5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500" smtClean="0"/>
              <a:t>Hierarchical Addresses and Routing</a:t>
            </a:r>
          </a:p>
        </p:txBody>
      </p:sp>
      <p:sp>
        <p:nvSpPr>
          <p:cNvPr id="43012" name="Rectangle 60"/>
          <p:cNvSpPr>
            <a:spLocks noChangeArrowheads="1"/>
          </p:cNvSpPr>
          <p:nvPr/>
        </p:nvSpPr>
        <p:spPr bwMode="auto">
          <a:xfrm>
            <a:off x="457200" y="4510088"/>
            <a:ext cx="8229600" cy="184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buClr>
                <a:schemeClr val="tx2"/>
              </a:buClr>
              <a:buFont typeface="Wingdings" pitchFamily="2" charset="2"/>
              <a:buChar char="l"/>
            </a:pPr>
            <a:r>
              <a:rPr lang="en-US" sz="3000"/>
              <a:t>Prefix indicates network where host is attached</a:t>
            </a:r>
          </a:p>
          <a:p>
            <a:pPr marL="342900" indent="-342900" algn="l">
              <a:buClr>
                <a:schemeClr val="tx2"/>
              </a:buClr>
              <a:buFont typeface="Wingdings" pitchFamily="2" charset="2"/>
              <a:buChar char="l"/>
            </a:pPr>
            <a:r>
              <a:rPr lang="en-US" sz="3000"/>
              <a:t>Routing tables require 4 entries each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Flat vs Hierarchical Routing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600" smtClean="0"/>
              <a:t>Flat Routing</a:t>
            </a:r>
          </a:p>
          <a:p>
            <a:pPr marL="742950" lvl="1" indent="-285750" eaLnBrk="1" hangingPunct="1"/>
            <a:r>
              <a:rPr lang="en-US" sz="2200" smtClean="0"/>
              <a:t>All routers are peers</a:t>
            </a:r>
          </a:p>
          <a:p>
            <a:pPr marL="742950" lvl="1" indent="-285750" eaLnBrk="1" hangingPunct="1"/>
            <a:r>
              <a:rPr lang="en-US" sz="2200" smtClean="0"/>
              <a:t>Does not scale</a:t>
            </a:r>
          </a:p>
          <a:p>
            <a:pPr eaLnBrk="1" hangingPunct="1"/>
            <a:r>
              <a:rPr lang="en-US" sz="2600" smtClean="0"/>
              <a:t>Hierarchical Routing</a:t>
            </a:r>
          </a:p>
          <a:p>
            <a:pPr marL="742950" lvl="1" indent="-285750" eaLnBrk="1" hangingPunct="1"/>
            <a:r>
              <a:rPr lang="en-US" sz="2200" smtClean="0"/>
              <a:t>Partitioning:  Domains, autonomous systems, areas... </a:t>
            </a:r>
          </a:p>
          <a:p>
            <a:pPr marL="742950" lvl="1" indent="-285750" eaLnBrk="1" hangingPunct="1"/>
            <a:r>
              <a:rPr lang="en-US" sz="2200" smtClean="0"/>
              <a:t>Some routers part of routing backbone</a:t>
            </a:r>
          </a:p>
          <a:p>
            <a:pPr marL="742950" lvl="1" indent="-285750" eaLnBrk="1" hangingPunct="1"/>
            <a:r>
              <a:rPr lang="en-US" sz="2200" smtClean="0"/>
              <a:t>Some routers only communicate within an area</a:t>
            </a:r>
          </a:p>
          <a:p>
            <a:pPr marL="742950" lvl="1" indent="-285750" eaLnBrk="1" hangingPunct="1"/>
            <a:r>
              <a:rPr lang="en-US" sz="2200" smtClean="0"/>
              <a:t>Efficient because it matches typical traffic flow patterns</a:t>
            </a:r>
          </a:p>
          <a:p>
            <a:pPr marL="742950" lvl="1" indent="-285750" eaLnBrk="1" hangingPunct="1"/>
            <a:r>
              <a:rPr lang="en-US" sz="2200" smtClean="0"/>
              <a:t>Scales</a:t>
            </a:r>
          </a:p>
          <a:p>
            <a:pPr marL="742950" lvl="1" indent="-285750" eaLnBrk="1" hangingPunct="1"/>
            <a:endParaRPr lang="en-US" sz="2200" smtClean="0"/>
          </a:p>
          <a:p>
            <a:pPr eaLnBrk="1" hangingPunct="1"/>
            <a:endParaRPr lang="en-US" sz="2600" smtClean="0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Specialized Routing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Flooding</a:t>
            </a:r>
          </a:p>
          <a:p>
            <a:pPr lvl="1" eaLnBrk="1" hangingPunct="1"/>
            <a:r>
              <a:rPr lang="en-US" smtClean="0"/>
              <a:t>Useful in starting up network</a:t>
            </a:r>
          </a:p>
          <a:p>
            <a:pPr lvl="1" eaLnBrk="1" hangingPunct="1"/>
            <a:r>
              <a:rPr lang="en-US" smtClean="0"/>
              <a:t>Useful in propagating information to all nodes</a:t>
            </a:r>
          </a:p>
          <a:p>
            <a:pPr lvl="1" eaLnBrk="1" hangingPunct="1"/>
            <a:endParaRPr lang="en-US" smtClean="0"/>
          </a:p>
          <a:p>
            <a:pPr eaLnBrk="1" hangingPunct="1"/>
            <a:r>
              <a:rPr lang="en-US" smtClean="0"/>
              <a:t>Deflection Routing</a:t>
            </a:r>
          </a:p>
          <a:p>
            <a:pPr lvl="1" eaLnBrk="1" hangingPunct="1"/>
            <a:r>
              <a:rPr lang="en-US" smtClean="0"/>
              <a:t>Fixed, preset routing procedure</a:t>
            </a:r>
          </a:p>
          <a:p>
            <a:pPr lvl="1" eaLnBrk="1" hangingPunct="1"/>
            <a:r>
              <a:rPr lang="en-US" smtClean="0"/>
              <a:t>No route synthesis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Flooding</a:t>
            </a:r>
          </a:p>
        </p:txBody>
      </p:sp>
      <p:sp>
        <p:nvSpPr>
          <p:cNvPr id="4608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7388" y="1484313"/>
            <a:ext cx="8205787" cy="4114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mtClean="0"/>
              <a:t>Send a packet to all nodes in a network</a:t>
            </a:r>
          </a:p>
          <a:p>
            <a:pPr eaLnBrk="1" hangingPunct="1"/>
            <a:r>
              <a:rPr lang="en-US" smtClean="0"/>
              <a:t>No routing tables available</a:t>
            </a:r>
          </a:p>
          <a:p>
            <a:pPr eaLnBrk="1" hangingPunct="1"/>
            <a:r>
              <a:rPr lang="en-US" smtClean="0"/>
              <a:t>Need to broadcast packet to all nodes (e.g. to propagate link state information)</a:t>
            </a:r>
          </a:p>
          <a:p>
            <a:pPr eaLnBrk="1" hangingPunct="1"/>
            <a:endParaRPr lang="en-US" smtClean="0"/>
          </a:p>
          <a:p>
            <a:pPr eaLnBrk="1" hangingPunct="1">
              <a:buFont typeface="Wingdings" pitchFamily="2" charset="2"/>
              <a:buNone/>
            </a:pPr>
            <a:r>
              <a:rPr lang="en-US" smtClean="0"/>
              <a:t>Approach</a:t>
            </a:r>
          </a:p>
          <a:p>
            <a:pPr eaLnBrk="1" hangingPunct="1"/>
            <a:r>
              <a:rPr lang="en-US" smtClean="0"/>
              <a:t>Send packet on all ports except one where it arrived</a:t>
            </a:r>
          </a:p>
          <a:p>
            <a:pPr eaLnBrk="1" hangingPunct="1"/>
            <a:r>
              <a:rPr lang="en-US" smtClean="0"/>
              <a:t>Exponential growth in packet transmissions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06" name="Group 1061"/>
          <p:cNvGrpSpPr>
            <a:grpSpLocks/>
          </p:cNvGrpSpPr>
          <p:nvPr/>
        </p:nvGrpSpPr>
        <p:grpSpPr bwMode="auto">
          <a:xfrm>
            <a:off x="1741488" y="1492250"/>
            <a:ext cx="6469062" cy="3805238"/>
            <a:chOff x="1097" y="940"/>
            <a:chExt cx="4075" cy="2397"/>
          </a:xfrm>
        </p:grpSpPr>
        <p:sp>
          <p:nvSpPr>
            <p:cNvPr id="47108" name="Oval 1028"/>
            <p:cNvSpPr>
              <a:spLocks noChangeArrowheads="1"/>
            </p:cNvSpPr>
            <p:nvPr/>
          </p:nvSpPr>
          <p:spPr bwMode="auto">
            <a:xfrm>
              <a:off x="1130" y="940"/>
              <a:ext cx="456" cy="456"/>
            </a:xfrm>
            <a:prstGeom prst="ellipse">
              <a:avLst/>
            </a:prstGeom>
            <a:solidFill>
              <a:schemeClr val="accent2"/>
            </a:solidFill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09" name="Oval 1029"/>
            <p:cNvSpPr>
              <a:spLocks noChangeArrowheads="1"/>
            </p:cNvSpPr>
            <p:nvPr/>
          </p:nvSpPr>
          <p:spPr bwMode="auto">
            <a:xfrm>
              <a:off x="1110" y="2720"/>
              <a:ext cx="459" cy="458"/>
            </a:xfrm>
            <a:prstGeom prst="ellipse">
              <a:avLst/>
            </a:prstGeom>
            <a:solidFill>
              <a:schemeClr val="accent2"/>
            </a:solidFill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10" name="Oval 1030"/>
            <p:cNvSpPr>
              <a:spLocks noChangeArrowheads="1"/>
            </p:cNvSpPr>
            <p:nvPr/>
          </p:nvSpPr>
          <p:spPr bwMode="auto">
            <a:xfrm>
              <a:off x="3029" y="940"/>
              <a:ext cx="456" cy="456"/>
            </a:xfrm>
            <a:prstGeom prst="ellipse">
              <a:avLst/>
            </a:prstGeom>
            <a:solidFill>
              <a:schemeClr val="accent2"/>
            </a:solidFill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11" name="Oval 1031"/>
            <p:cNvSpPr>
              <a:spLocks noChangeArrowheads="1"/>
            </p:cNvSpPr>
            <p:nvPr/>
          </p:nvSpPr>
          <p:spPr bwMode="auto">
            <a:xfrm>
              <a:off x="3362" y="2881"/>
              <a:ext cx="458" cy="456"/>
            </a:xfrm>
            <a:prstGeom prst="ellipse">
              <a:avLst/>
            </a:prstGeom>
            <a:solidFill>
              <a:schemeClr val="accent2"/>
            </a:solidFill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12" name="Line 1032"/>
            <p:cNvSpPr>
              <a:spLocks noChangeShapeType="1"/>
            </p:cNvSpPr>
            <p:nvPr/>
          </p:nvSpPr>
          <p:spPr bwMode="auto">
            <a:xfrm>
              <a:off x="1593" y="1157"/>
              <a:ext cx="1432" cy="2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113" name="Oval 1033"/>
            <p:cNvSpPr>
              <a:spLocks noChangeArrowheads="1"/>
            </p:cNvSpPr>
            <p:nvPr/>
          </p:nvSpPr>
          <p:spPr bwMode="auto">
            <a:xfrm>
              <a:off x="2751" y="2003"/>
              <a:ext cx="456" cy="457"/>
            </a:xfrm>
            <a:prstGeom prst="ellipse">
              <a:avLst/>
            </a:prstGeom>
            <a:solidFill>
              <a:schemeClr val="accent2"/>
            </a:solidFill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14" name="Oval 1034"/>
            <p:cNvSpPr>
              <a:spLocks noChangeArrowheads="1"/>
            </p:cNvSpPr>
            <p:nvPr/>
          </p:nvSpPr>
          <p:spPr bwMode="auto">
            <a:xfrm>
              <a:off x="4713" y="1242"/>
              <a:ext cx="459" cy="458"/>
            </a:xfrm>
            <a:prstGeom prst="ellipse">
              <a:avLst/>
            </a:prstGeom>
            <a:solidFill>
              <a:schemeClr val="accent2"/>
            </a:solidFill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15" name="Line 1035"/>
            <p:cNvSpPr>
              <a:spLocks noChangeShapeType="1"/>
            </p:cNvSpPr>
            <p:nvPr/>
          </p:nvSpPr>
          <p:spPr bwMode="auto">
            <a:xfrm flipH="1">
              <a:off x="3038" y="1383"/>
              <a:ext cx="130" cy="628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116" name="Line 1036"/>
            <p:cNvSpPr>
              <a:spLocks noChangeShapeType="1"/>
            </p:cNvSpPr>
            <p:nvPr/>
          </p:nvSpPr>
          <p:spPr bwMode="auto">
            <a:xfrm>
              <a:off x="3057" y="2464"/>
              <a:ext cx="389" cy="48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117" name="Line 1037"/>
            <p:cNvSpPr>
              <a:spLocks noChangeShapeType="1"/>
            </p:cNvSpPr>
            <p:nvPr/>
          </p:nvSpPr>
          <p:spPr bwMode="auto">
            <a:xfrm>
              <a:off x="3492" y="1173"/>
              <a:ext cx="1232" cy="22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118" name="Line 1038"/>
            <p:cNvSpPr>
              <a:spLocks noChangeShapeType="1"/>
            </p:cNvSpPr>
            <p:nvPr/>
          </p:nvSpPr>
          <p:spPr bwMode="auto">
            <a:xfrm flipV="1">
              <a:off x="3762" y="1610"/>
              <a:ext cx="999" cy="134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119" name="Line 1039"/>
            <p:cNvSpPr>
              <a:spLocks noChangeShapeType="1"/>
            </p:cNvSpPr>
            <p:nvPr/>
          </p:nvSpPr>
          <p:spPr bwMode="auto">
            <a:xfrm flipH="1" flipV="1">
              <a:off x="1536" y="3057"/>
              <a:ext cx="1836" cy="104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120" name="Line 1040"/>
            <p:cNvSpPr>
              <a:spLocks noChangeShapeType="1"/>
            </p:cNvSpPr>
            <p:nvPr/>
          </p:nvSpPr>
          <p:spPr bwMode="auto">
            <a:xfrm>
              <a:off x="1334" y="1400"/>
              <a:ext cx="2" cy="133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121" name="Line 1041"/>
            <p:cNvSpPr>
              <a:spLocks noChangeShapeType="1"/>
            </p:cNvSpPr>
            <p:nvPr/>
          </p:nvSpPr>
          <p:spPr bwMode="auto">
            <a:xfrm>
              <a:off x="1510" y="1314"/>
              <a:ext cx="1250" cy="80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122" name="Line 1042"/>
            <p:cNvSpPr>
              <a:spLocks noChangeShapeType="1"/>
            </p:cNvSpPr>
            <p:nvPr/>
          </p:nvSpPr>
          <p:spPr bwMode="auto">
            <a:xfrm flipH="1">
              <a:off x="1519" y="2323"/>
              <a:ext cx="1223" cy="489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123" name="Rectangle 1043"/>
            <p:cNvSpPr>
              <a:spLocks noChangeArrowheads="1"/>
            </p:cNvSpPr>
            <p:nvPr/>
          </p:nvSpPr>
          <p:spPr bwMode="auto">
            <a:xfrm>
              <a:off x="1301" y="1040"/>
              <a:ext cx="85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900" b="1">
                  <a:solidFill>
                    <a:srgbClr val="000000"/>
                  </a:solidFill>
                </a:rPr>
                <a:t>1</a:t>
              </a:r>
              <a:endParaRPr lang="en-US" sz="2800" b="1"/>
            </a:p>
          </p:txBody>
        </p:sp>
        <p:sp>
          <p:nvSpPr>
            <p:cNvPr id="47124" name="Rectangle 1044"/>
            <p:cNvSpPr>
              <a:spLocks noChangeArrowheads="1"/>
            </p:cNvSpPr>
            <p:nvPr/>
          </p:nvSpPr>
          <p:spPr bwMode="auto">
            <a:xfrm>
              <a:off x="1277" y="2849"/>
              <a:ext cx="85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900">
                  <a:solidFill>
                    <a:srgbClr val="000000"/>
                  </a:solidFill>
                </a:rPr>
                <a:t>2</a:t>
              </a:r>
              <a:endParaRPr lang="en-US" sz="2800"/>
            </a:p>
          </p:txBody>
        </p:sp>
        <p:sp>
          <p:nvSpPr>
            <p:cNvPr id="47125" name="Rectangle 1045"/>
            <p:cNvSpPr>
              <a:spLocks noChangeArrowheads="1"/>
            </p:cNvSpPr>
            <p:nvPr/>
          </p:nvSpPr>
          <p:spPr bwMode="auto">
            <a:xfrm>
              <a:off x="3186" y="1071"/>
              <a:ext cx="85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900">
                  <a:solidFill>
                    <a:srgbClr val="000000"/>
                  </a:solidFill>
                </a:rPr>
                <a:t>3</a:t>
              </a:r>
              <a:endParaRPr lang="en-US" sz="2800"/>
            </a:p>
          </p:txBody>
        </p:sp>
        <p:sp>
          <p:nvSpPr>
            <p:cNvPr id="47126" name="Rectangle 1046"/>
            <p:cNvSpPr>
              <a:spLocks noChangeArrowheads="1"/>
            </p:cNvSpPr>
            <p:nvPr/>
          </p:nvSpPr>
          <p:spPr bwMode="auto">
            <a:xfrm>
              <a:off x="2927" y="2117"/>
              <a:ext cx="85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900">
                  <a:solidFill>
                    <a:srgbClr val="000000"/>
                  </a:solidFill>
                </a:rPr>
                <a:t>4</a:t>
              </a:r>
              <a:endParaRPr lang="en-US" sz="2800"/>
            </a:p>
          </p:txBody>
        </p:sp>
        <p:sp>
          <p:nvSpPr>
            <p:cNvPr id="47127" name="Rectangle 1047"/>
            <p:cNvSpPr>
              <a:spLocks noChangeArrowheads="1"/>
            </p:cNvSpPr>
            <p:nvPr/>
          </p:nvSpPr>
          <p:spPr bwMode="auto">
            <a:xfrm>
              <a:off x="3538" y="3006"/>
              <a:ext cx="85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900">
                  <a:solidFill>
                    <a:srgbClr val="000000"/>
                  </a:solidFill>
                </a:rPr>
                <a:t>5</a:t>
              </a:r>
              <a:endParaRPr lang="en-US" sz="2800"/>
            </a:p>
          </p:txBody>
        </p:sp>
        <p:sp>
          <p:nvSpPr>
            <p:cNvPr id="47128" name="Rectangle 1048"/>
            <p:cNvSpPr>
              <a:spLocks noChangeArrowheads="1"/>
            </p:cNvSpPr>
            <p:nvPr/>
          </p:nvSpPr>
          <p:spPr bwMode="auto">
            <a:xfrm>
              <a:off x="4872" y="1367"/>
              <a:ext cx="85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900">
                  <a:solidFill>
                    <a:srgbClr val="000000"/>
                  </a:solidFill>
                </a:rPr>
                <a:t>6</a:t>
              </a:r>
              <a:endParaRPr lang="en-US" sz="2800"/>
            </a:p>
          </p:txBody>
        </p:sp>
        <p:sp>
          <p:nvSpPr>
            <p:cNvPr id="47129" name="Rectangle 1049"/>
            <p:cNvSpPr>
              <a:spLocks noChangeArrowheads="1"/>
            </p:cNvSpPr>
            <p:nvPr/>
          </p:nvSpPr>
          <p:spPr bwMode="auto">
            <a:xfrm>
              <a:off x="1679" y="950"/>
              <a:ext cx="263" cy="117"/>
            </a:xfrm>
            <a:prstGeom prst="rect">
              <a:avLst/>
            </a:prstGeom>
            <a:solidFill>
              <a:schemeClr val="accent1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30" name="Rectangle 1050"/>
            <p:cNvSpPr>
              <a:spLocks noChangeArrowheads="1"/>
            </p:cNvSpPr>
            <p:nvPr/>
          </p:nvSpPr>
          <p:spPr bwMode="auto">
            <a:xfrm>
              <a:off x="1114" y="1443"/>
              <a:ext cx="124" cy="247"/>
            </a:xfrm>
            <a:prstGeom prst="rect">
              <a:avLst/>
            </a:prstGeom>
            <a:solidFill>
              <a:schemeClr val="tx2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31" name="Freeform 1051"/>
            <p:cNvSpPr>
              <a:spLocks/>
            </p:cNvSpPr>
            <p:nvPr/>
          </p:nvSpPr>
          <p:spPr bwMode="auto">
            <a:xfrm>
              <a:off x="1708" y="1261"/>
              <a:ext cx="287" cy="243"/>
            </a:xfrm>
            <a:custGeom>
              <a:avLst/>
              <a:gdLst>
                <a:gd name="T0" fmla="*/ 3692 w 132"/>
                <a:gd name="T1" fmla="*/ 0 h 119"/>
                <a:gd name="T2" fmla="*/ 0 w 132"/>
                <a:gd name="T3" fmla="*/ 3553 h 119"/>
                <a:gd name="T4" fmla="*/ 10258 w 132"/>
                <a:gd name="T5" fmla="*/ 8628 h 119"/>
                <a:gd name="T6" fmla="*/ 13946 w 132"/>
                <a:gd name="T7" fmla="*/ 5074 h 119"/>
                <a:gd name="T8" fmla="*/ 3692 w 132"/>
                <a:gd name="T9" fmla="*/ 0 h 1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2"/>
                <a:gd name="T16" fmla="*/ 0 h 119"/>
                <a:gd name="T17" fmla="*/ 132 w 132"/>
                <a:gd name="T18" fmla="*/ 119 h 1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2" h="119">
                  <a:moveTo>
                    <a:pt x="35" y="0"/>
                  </a:moveTo>
                  <a:lnTo>
                    <a:pt x="0" y="49"/>
                  </a:lnTo>
                  <a:lnTo>
                    <a:pt x="97" y="119"/>
                  </a:lnTo>
                  <a:lnTo>
                    <a:pt x="132" y="70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9900"/>
            </a:solidFill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32" name="Line 1052"/>
            <p:cNvSpPr>
              <a:spLocks noChangeShapeType="1"/>
            </p:cNvSpPr>
            <p:nvPr/>
          </p:nvSpPr>
          <p:spPr bwMode="auto">
            <a:xfrm>
              <a:off x="2010" y="999"/>
              <a:ext cx="195" cy="2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133" name="Freeform 1053"/>
            <p:cNvSpPr>
              <a:spLocks/>
            </p:cNvSpPr>
            <p:nvPr/>
          </p:nvSpPr>
          <p:spPr bwMode="auto">
            <a:xfrm>
              <a:off x="2166" y="942"/>
              <a:ext cx="139" cy="114"/>
            </a:xfrm>
            <a:custGeom>
              <a:avLst/>
              <a:gdLst>
                <a:gd name="T0" fmla="*/ 0 w 64"/>
                <a:gd name="T1" fmla="*/ 3982 h 56"/>
                <a:gd name="T2" fmla="*/ 1066 w 64"/>
                <a:gd name="T3" fmla="*/ 1989 h 56"/>
                <a:gd name="T4" fmla="*/ 0 w 64"/>
                <a:gd name="T5" fmla="*/ 0 h 56"/>
                <a:gd name="T6" fmla="*/ 6722 w 64"/>
                <a:gd name="T7" fmla="*/ 1989 h 56"/>
                <a:gd name="T8" fmla="*/ 0 w 64"/>
                <a:gd name="T9" fmla="*/ 3982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56"/>
                <a:gd name="T17" fmla="*/ 64 w 64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56">
                  <a:moveTo>
                    <a:pt x="0" y="56"/>
                  </a:moveTo>
                  <a:lnTo>
                    <a:pt x="10" y="28"/>
                  </a:lnTo>
                  <a:lnTo>
                    <a:pt x="0" y="0"/>
                  </a:lnTo>
                  <a:lnTo>
                    <a:pt x="64" y="28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34" name="Line 1054"/>
            <p:cNvSpPr>
              <a:spLocks noChangeShapeType="1"/>
            </p:cNvSpPr>
            <p:nvPr/>
          </p:nvSpPr>
          <p:spPr bwMode="auto">
            <a:xfrm>
              <a:off x="1990" y="1488"/>
              <a:ext cx="115" cy="69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135" name="Freeform 1055"/>
            <p:cNvSpPr>
              <a:spLocks/>
            </p:cNvSpPr>
            <p:nvPr/>
          </p:nvSpPr>
          <p:spPr bwMode="auto">
            <a:xfrm>
              <a:off x="2045" y="1492"/>
              <a:ext cx="150" cy="118"/>
            </a:xfrm>
            <a:custGeom>
              <a:avLst/>
              <a:gdLst>
                <a:gd name="T0" fmla="*/ 0 w 69"/>
                <a:gd name="T1" fmla="*/ 3345 h 58"/>
                <a:gd name="T2" fmla="*/ 2435 w 69"/>
                <a:gd name="T3" fmla="*/ 2053 h 58"/>
                <a:gd name="T4" fmla="*/ 3152 w 69"/>
                <a:gd name="T5" fmla="*/ 0 h 58"/>
                <a:gd name="T6" fmla="*/ 7283 w 69"/>
                <a:gd name="T7" fmla="*/ 4110 h 58"/>
                <a:gd name="T8" fmla="*/ 0 w 69"/>
                <a:gd name="T9" fmla="*/ 3345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58"/>
                <a:gd name="T17" fmla="*/ 69 w 69"/>
                <a:gd name="T18" fmla="*/ 58 h 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58">
                  <a:moveTo>
                    <a:pt x="0" y="47"/>
                  </a:moveTo>
                  <a:lnTo>
                    <a:pt x="23" y="29"/>
                  </a:lnTo>
                  <a:lnTo>
                    <a:pt x="30" y="0"/>
                  </a:lnTo>
                  <a:lnTo>
                    <a:pt x="69" y="58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136" name="Line 1056"/>
            <p:cNvSpPr>
              <a:spLocks noChangeShapeType="1"/>
            </p:cNvSpPr>
            <p:nvPr/>
          </p:nvSpPr>
          <p:spPr bwMode="auto">
            <a:xfrm>
              <a:off x="1158" y="1749"/>
              <a:ext cx="2" cy="186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137" name="Freeform 1057"/>
            <p:cNvSpPr>
              <a:spLocks/>
            </p:cNvSpPr>
            <p:nvPr/>
          </p:nvSpPr>
          <p:spPr bwMode="auto">
            <a:xfrm>
              <a:off x="1097" y="1896"/>
              <a:ext cx="120" cy="131"/>
            </a:xfrm>
            <a:custGeom>
              <a:avLst/>
              <a:gdLst>
                <a:gd name="T0" fmla="*/ 0 w 55"/>
                <a:gd name="T1" fmla="*/ 0 h 64"/>
                <a:gd name="T2" fmla="*/ 3013 w 55"/>
                <a:gd name="T3" fmla="*/ 720 h 64"/>
                <a:gd name="T4" fmla="*/ 5941 w 55"/>
                <a:gd name="T5" fmla="*/ 0 h 64"/>
                <a:gd name="T6" fmla="*/ 3013 w 55"/>
                <a:gd name="T7" fmla="*/ 4710 h 64"/>
                <a:gd name="T8" fmla="*/ 0 w 55"/>
                <a:gd name="T9" fmla="*/ 0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5"/>
                <a:gd name="T16" fmla="*/ 0 h 64"/>
                <a:gd name="T17" fmla="*/ 55 w 55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5" h="64">
                  <a:moveTo>
                    <a:pt x="0" y="0"/>
                  </a:moveTo>
                  <a:lnTo>
                    <a:pt x="28" y="10"/>
                  </a:lnTo>
                  <a:lnTo>
                    <a:pt x="55" y="0"/>
                  </a:lnTo>
                  <a:lnTo>
                    <a:pt x="28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107" name="Text Box 1059"/>
          <p:cNvSpPr txBox="1">
            <a:spLocks noChangeArrowheads="1"/>
          </p:cNvSpPr>
          <p:nvPr/>
        </p:nvSpPr>
        <p:spPr bwMode="auto">
          <a:xfrm>
            <a:off x="871538" y="5878513"/>
            <a:ext cx="61388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SzTx/>
              <a:buFontTx/>
              <a:buNone/>
            </a:pPr>
            <a:r>
              <a:rPr lang="en-US" sz="1800"/>
              <a:t>Flooding is initiated from Node 1:  Hop 1 transmissions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30" name="Group 1072"/>
          <p:cNvGrpSpPr>
            <a:grpSpLocks/>
          </p:cNvGrpSpPr>
          <p:nvPr/>
        </p:nvGrpSpPr>
        <p:grpSpPr bwMode="auto">
          <a:xfrm>
            <a:off x="1668463" y="1520825"/>
            <a:ext cx="6523037" cy="3806825"/>
            <a:chOff x="1051" y="958"/>
            <a:chExt cx="4109" cy="2398"/>
          </a:xfrm>
        </p:grpSpPr>
        <p:sp>
          <p:nvSpPr>
            <p:cNvPr id="48132" name="Oval 1027"/>
            <p:cNvSpPr>
              <a:spLocks noChangeArrowheads="1"/>
            </p:cNvSpPr>
            <p:nvPr/>
          </p:nvSpPr>
          <p:spPr bwMode="auto">
            <a:xfrm>
              <a:off x="1071" y="958"/>
              <a:ext cx="461" cy="458"/>
            </a:xfrm>
            <a:prstGeom prst="ellipse">
              <a:avLst/>
            </a:prstGeom>
            <a:solidFill>
              <a:schemeClr val="accent2"/>
            </a:solidFill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33" name="Oval 1028"/>
            <p:cNvSpPr>
              <a:spLocks noChangeArrowheads="1"/>
            </p:cNvSpPr>
            <p:nvPr/>
          </p:nvSpPr>
          <p:spPr bwMode="auto">
            <a:xfrm>
              <a:off x="1051" y="2737"/>
              <a:ext cx="464" cy="458"/>
            </a:xfrm>
            <a:prstGeom prst="ellipse">
              <a:avLst/>
            </a:prstGeom>
            <a:solidFill>
              <a:schemeClr val="accent2"/>
            </a:solidFill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34" name="Oval 1029"/>
            <p:cNvSpPr>
              <a:spLocks noChangeArrowheads="1"/>
            </p:cNvSpPr>
            <p:nvPr/>
          </p:nvSpPr>
          <p:spPr bwMode="auto">
            <a:xfrm>
              <a:off x="2992" y="958"/>
              <a:ext cx="462" cy="458"/>
            </a:xfrm>
            <a:prstGeom prst="ellipse">
              <a:avLst/>
            </a:prstGeom>
            <a:solidFill>
              <a:schemeClr val="accent2"/>
            </a:solidFill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35" name="Oval 1030"/>
            <p:cNvSpPr>
              <a:spLocks noChangeArrowheads="1"/>
            </p:cNvSpPr>
            <p:nvPr/>
          </p:nvSpPr>
          <p:spPr bwMode="auto">
            <a:xfrm>
              <a:off x="3329" y="2898"/>
              <a:ext cx="464" cy="458"/>
            </a:xfrm>
            <a:prstGeom prst="ellipse">
              <a:avLst/>
            </a:prstGeom>
            <a:solidFill>
              <a:schemeClr val="accent2"/>
            </a:solidFill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36" name="Line 1031"/>
            <p:cNvSpPr>
              <a:spLocks noChangeShapeType="1"/>
            </p:cNvSpPr>
            <p:nvPr/>
          </p:nvSpPr>
          <p:spPr bwMode="auto">
            <a:xfrm>
              <a:off x="1539" y="1175"/>
              <a:ext cx="1449" cy="2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137" name="Oval 1032"/>
            <p:cNvSpPr>
              <a:spLocks noChangeArrowheads="1"/>
            </p:cNvSpPr>
            <p:nvPr/>
          </p:nvSpPr>
          <p:spPr bwMode="auto">
            <a:xfrm>
              <a:off x="2711" y="2022"/>
              <a:ext cx="462" cy="456"/>
            </a:xfrm>
            <a:prstGeom prst="ellipse">
              <a:avLst/>
            </a:prstGeom>
            <a:solidFill>
              <a:schemeClr val="accent2"/>
            </a:solidFill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38" name="Oval 1033"/>
            <p:cNvSpPr>
              <a:spLocks noChangeArrowheads="1"/>
            </p:cNvSpPr>
            <p:nvPr/>
          </p:nvSpPr>
          <p:spPr bwMode="auto">
            <a:xfrm>
              <a:off x="4696" y="1260"/>
              <a:ext cx="464" cy="458"/>
            </a:xfrm>
            <a:prstGeom prst="ellipse">
              <a:avLst/>
            </a:prstGeom>
            <a:solidFill>
              <a:schemeClr val="accent2"/>
            </a:solidFill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39" name="Line 1034"/>
            <p:cNvSpPr>
              <a:spLocks noChangeShapeType="1"/>
            </p:cNvSpPr>
            <p:nvPr/>
          </p:nvSpPr>
          <p:spPr bwMode="auto">
            <a:xfrm flipH="1">
              <a:off x="3001" y="1401"/>
              <a:ext cx="132" cy="627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140" name="Line 1035"/>
            <p:cNvSpPr>
              <a:spLocks noChangeShapeType="1"/>
            </p:cNvSpPr>
            <p:nvPr/>
          </p:nvSpPr>
          <p:spPr bwMode="auto">
            <a:xfrm>
              <a:off x="3021" y="2482"/>
              <a:ext cx="393" cy="488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141" name="Line 1036"/>
            <p:cNvSpPr>
              <a:spLocks noChangeShapeType="1"/>
            </p:cNvSpPr>
            <p:nvPr/>
          </p:nvSpPr>
          <p:spPr bwMode="auto">
            <a:xfrm>
              <a:off x="3461" y="1209"/>
              <a:ext cx="1246" cy="209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142" name="Line 1037"/>
            <p:cNvSpPr>
              <a:spLocks noChangeShapeType="1"/>
            </p:cNvSpPr>
            <p:nvPr/>
          </p:nvSpPr>
          <p:spPr bwMode="auto">
            <a:xfrm flipV="1">
              <a:off x="3733" y="1628"/>
              <a:ext cx="1011" cy="1342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143" name="Line 1038"/>
            <p:cNvSpPr>
              <a:spLocks noChangeShapeType="1"/>
            </p:cNvSpPr>
            <p:nvPr/>
          </p:nvSpPr>
          <p:spPr bwMode="auto">
            <a:xfrm flipH="1" flipV="1">
              <a:off x="1482" y="3074"/>
              <a:ext cx="1858" cy="104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144" name="Line 1039"/>
            <p:cNvSpPr>
              <a:spLocks noChangeShapeType="1"/>
            </p:cNvSpPr>
            <p:nvPr/>
          </p:nvSpPr>
          <p:spPr bwMode="auto">
            <a:xfrm>
              <a:off x="1277" y="1424"/>
              <a:ext cx="3" cy="1323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145" name="Line 1040"/>
            <p:cNvSpPr>
              <a:spLocks noChangeShapeType="1"/>
            </p:cNvSpPr>
            <p:nvPr/>
          </p:nvSpPr>
          <p:spPr bwMode="auto">
            <a:xfrm>
              <a:off x="1447" y="1344"/>
              <a:ext cx="1273" cy="788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146" name="Line 1041"/>
            <p:cNvSpPr>
              <a:spLocks noChangeShapeType="1"/>
            </p:cNvSpPr>
            <p:nvPr/>
          </p:nvSpPr>
          <p:spPr bwMode="auto">
            <a:xfrm flipH="1">
              <a:off x="1464" y="2343"/>
              <a:ext cx="1238" cy="48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147" name="Rectangle 1042"/>
            <p:cNvSpPr>
              <a:spLocks noChangeArrowheads="1"/>
            </p:cNvSpPr>
            <p:nvPr/>
          </p:nvSpPr>
          <p:spPr bwMode="auto">
            <a:xfrm>
              <a:off x="1244" y="1058"/>
              <a:ext cx="85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900">
                  <a:solidFill>
                    <a:srgbClr val="000000"/>
                  </a:solidFill>
                </a:rPr>
                <a:t>1</a:t>
              </a:r>
              <a:endParaRPr lang="en-US" sz="2800"/>
            </a:p>
          </p:txBody>
        </p:sp>
        <p:sp>
          <p:nvSpPr>
            <p:cNvPr id="48148" name="Rectangle 1043"/>
            <p:cNvSpPr>
              <a:spLocks noChangeArrowheads="1"/>
            </p:cNvSpPr>
            <p:nvPr/>
          </p:nvSpPr>
          <p:spPr bwMode="auto">
            <a:xfrm>
              <a:off x="1220" y="2866"/>
              <a:ext cx="85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900" b="1">
                  <a:solidFill>
                    <a:srgbClr val="000000"/>
                  </a:solidFill>
                </a:rPr>
                <a:t>2</a:t>
              </a:r>
              <a:endParaRPr lang="en-US" sz="2800" b="1"/>
            </a:p>
          </p:txBody>
        </p:sp>
        <p:sp>
          <p:nvSpPr>
            <p:cNvPr id="48149" name="Rectangle 1044"/>
            <p:cNvSpPr>
              <a:spLocks noChangeArrowheads="1"/>
            </p:cNvSpPr>
            <p:nvPr/>
          </p:nvSpPr>
          <p:spPr bwMode="auto">
            <a:xfrm>
              <a:off x="3151" y="1089"/>
              <a:ext cx="85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900">
                  <a:solidFill>
                    <a:srgbClr val="000000"/>
                  </a:solidFill>
                </a:rPr>
                <a:t>3</a:t>
              </a:r>
              <a:endParaRPr lang="en-US" sz="2800"/>
            </a:p>
          </p:txBody>
        </p:sp>
        <p:sp>
          <p:nvSpPr>
            <p:cNvPr id="48150" name="Rectangle 1045"/>
            <p:cNvSpPr>
              <a:spLocks noChangeArrowheads="1"/>
            </p:cNvSpPr>
            <p:nvPr/>
          </p:nvSpPr>
          <p:spPr bwMode="auto">
            <a:xfrm>
              <a:off x="2889" y="2135"/>
              <a:ext cx="85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900">
                  <a:solidFill>
                    <a:srgbClr val="000000"/>
                  </a:solidFill>
                </a:rPr>
                <a:t>4</a:t>
              </a:r>
              <a:endParaRPr lang="en-US" sz="2800"/>
            </a:p>
          </p:txBody>
        </p:sp>
        <p:sp>
          <p:nvSpPr>
            <p:cNvPr id="48151" name="Rectangle 1046"/>
            <p:cNvSpPr>
              <a:spLocks noChangeArrowheads="1"/>
            </p:cNvSpPr>
            <p:nvPr/>
          </p:nvSpPr>
          <p:spPr bwMode="auto">
            <a:xfrm>
              <a:off x="3507" y="3023"/>
              <a:ext cx="85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900">
                  <a:solidFill>
                    <a:srgbClr val="000000"/>
                  </a:solidFill>
                </a:rPr>
                <a:t>5</a:t>
              </a:r>
              <a:endParaRPr lang="en-US" sz="2800"/>
            </a:p>
          </p:txBody>
        </p:sp>
        <p:sp>
          <p:nvSpPr>
            <p:cNvPr id="48152" name="Rectangle 1047"/>
            <p:cNvSpPr>
              <a:spLocks noChangeArrowheads="1"/>
            </p:cNvSpPr>
            <p:nvPr/>
          </p:nvSpPr>
          <p:spPr bwMode="auto">
            <a:xfrm>
              <a:off x="4857" y="1385"/>
              <a:ext cx="85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900">
                  <a:solidFill>
                    <a:srgbClr val="000000"/>
                  </a:solidFill>
                </a:rPr>
                <a:t>6</a:t>
              </a:r>
              <a:endParaRPr lang="en-US" sz="2800"/>
            </a:p>
          </p:txBody>
        </p:sp>
        <p:sp>
          <p:nvSpPr>
            <p:cNvPr id="48153" name="Rectangle 1048"/>
            <p:cNvSpPr>
              <a:spLocks noChangeArrowheads="1"/>
            </p:cNvSpPr>
            <p:nvPr/>
          </p:nvSpPr>
          <p:spPr bwMode="auto">
            <a:xfrm>
              <a:off x="1684" y="2894"/>
              <a:ext cx="266" cy="117"/>
            </a:xfrm>
            <a:prstGeom prst="rect">
              <a:avLst/>
            </a:prstGeom>
            <a:solidFill>
              <a:schemeClr val="tx2"/>
            </a:solidFill>
            <a:ln w="14288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54" name="Freeform 1049"/>
            <p:cNvSpPr>
              <a:spLocks/>
            </p:cNvSpPr>
            <p:nvPr/>
          </p:nvSpPr>
          <p:spPr bwMode="auto">
            <a:xfrm>
              <a:off x="3531" y="1023"/>
              <a:ext cx="281" cy="154"/>
            </a:xfrm>
            <a:custGeom>
              <a:avLst/>
              <a:gdLst>
                <a:gd name="T0" fmla="*/ 931 w 128"/>
                <a:gd name="T1" fmla="*/ 0 h 75"/>
                <a:gd name="T2" fmla="*/ 0 w 128"/>
                <a:gd name="T3" fmla="*/ 4267 h 75"/>
                <a:gd name="T4" fmla="*/ 13310 w 128"/>
                <a:gd name="T5" fmla="*/ 5620 h 75"/>
                <a:gd name="T6" fmla="*/ 14338 w 128"/>
                <a:gd name="T7" fmla="*/ 1421 h 75"/>
                <a:gd name="T8" fmla="*/ 931 w 128"/>
                <a:gd name="T9" fmla="*/ 0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8"/>
                <a:gd name="T16" fmla="*/ 0 h 75"/>
                <a:gd name="T17" fmla="*/ 128 w 128"/>
                <a:gd name="T18" fmla="*/ 75 h 7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8" h="75">
                  <a:moveTo>
                    <a:pt x="8" y="0"/>
                  </a:moveTo>
                  <a:lnTo>
                    <a:pt x="0" y="57"/>
                  </a:lnTo>
                  <a:lnTo>
                    <a:pt x="119" y="75"/>
                  </a:lnTo>
                  <a:lnTo>
                    <a:pt x="128" y="19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accent1"/>
            </a:solidFill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55" name="Freeform 1050"/>
            <p:cNvSpPr>
              <a:spLocks/>
            </p:cNvSpPr>
            <p:nvPr/>
          </p:nvSpPr>
          <p:spPr bwMode="auto">
            <a:xfrm>
              <a:off x="2898" y="1401"/>
              <a:ext cx="169" cy="262"/>
            </a:xfrm>
            <a:custGeom>
              <a:avLst/>
              <a:gdLst>
                <a:gd name="T0" fmla="*/ 8608 w 77"/>
                <a:gd name="T1" fmla="*/ 720 h 128"/>
                <a:gd name="T2" fmla="*/ 2250 w 77"/>
                <a:gd name="T3" fmla="*/ 0 h 128"/>
                <a:gd name="T4" fmla="*/ 0 w 77"/>
                <a:gd name="T5" fmla="*/ 8685 h 128"/>
                <a:gd name="T6" fmla="*/ 6354 w 77"/>
                <a:gd name="T7" fmla="*/ 9405 h 128"/>
                <a:gd name="T8" fmla="*/ 8608 w 77"/>
                <a:gd name="T9" fmla="*/ 720 h 1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7"/>
                <a:gd name="T16" fmla="*/ 0 h 128"/>
                <a:gd name="T17" fmla="*/ 77 w 77"/>
                <a:gd name="T18" fmla="*/ 128 h 1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7" h="128">
                  <a:moveTo>
                    <a:pt x="77" y="10"/>
                  </a:moveTo>
                  <a:lnTo>
                    <a:pt x="20" y="0"/>
                  </a:lnTo>
                  <a:lnTo>
                    <a:pt x="0" y="118"/>
                  </a:lnTo>
                  <a:lnTo>
                    <a:pt x="57" y="128"/>
                  </a:lnTo>
                  <a:lnTo>
                    <a:pt x="77" y="10"/>
                  </a:lnTo>
                  <a:close/>
                </a:path>
              </a:pathLst>
            </a:custGeom>
            <a:solidFill>
              <a:schemeClr val="accent1"/>
            </a:solidFill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56" name="Freeform 1051"/>
            <p:cNvSpPr>
              <a:spLocks/>
            </p:cNvSpPr>
            <p:nvPr/>
          </p:nvSpPr>
          <p:spPr bwMode="auto">
            <a:xfrm>
              <a:off x="3085" y="1751"/>
              <a:ext cx="169" cy="261"/>
            </a:xfrm>
            <a:custGeom>
              <a:avLst/>
              <a:gdLst>
                <a:gd name="T0" fmla="*/ 8608 w 77"/>
                <a:gd name="T1" fmla="*/ 636 h 128"/>
                <a:gd name="T2" fmla="*/ 2346 w 77"/>
                <a:gd name="T3" fmla="*/ 0 h 128"/>
                <a:gd name="T4" fmla="*/ 0 w 77"/>
                <a:gd name="T5" fmla="*/ 8487 h 128"/>
                <a:gd name="T6" fmla="*/ 6354 w 77"/>
                <a:gd name="T7" fmla="*/ 9196 h 128"/>
                <a:gd name="T8" fmla="*/ 8608 w 77"/>
                <a:gd name="T9" fmla="*/ 636 h 1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7"/>
                <a:gd name="T16" fmla="*/ 0 h 128"/>
                <a:gd name="T17" fmla="*/ 77 w 77"/>
                <a:gd name="T18" fmla="*/ 128 h 1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7" h="128">
                  <a:moveTo>
                    <a:pt x="77" y="9"/>
                  </a:moveTo>
                  <a:lnTo>
                    <a:pt x="21" y="0"/>
                  </a:lnTo>
                  <a:lnTo>
                    <a:pt x="0" y="118"/>
                  </a:lnTo>
                  <a:lnTo>
                    <a:pt x="57" y="128"/>
                  </a:lnTo>
                  <a:lnTo>
                    <a:pt x="77" y="9"/>
                  </a:lnTo>
                  <a:close/>
                </a:path>
              </a:pathLst>
            </a:custGeom>
            <a:solidFill>
              <a:srgbClr val="FF9900"/>
            </a:solidFill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57" name="Freeform 1052"/>
            <p:cNvSpPr>
              <a:spLocks/>
            </p:cNvSpPr>
            <p:nvPr/>
          </p:nvSpPr>
          <p:spPr bwMode="auto">
            <a:xfrm>
              <a:off x="3151" y="2406"/>
              <a:ext cx="252" cy="274"/>
            </a:xfrm>
            <a:custGeom>
              <a:avLst/>
              <a:gdLst>
                <a:gd name="T0" fmla="*/ 5651 w 115"/>
                <a:gd name="T1" fmla="*/ 0 h 134"/>
                <a:gd name="T2" fmla="*/ 0 w 115"/>
                <a:gd name="T3" fmla="*/ 2396 h 134"/>
                <a:gd name="T4" fmla="*/ 7082 w 115"/>
                <a:gd name="T5" fmla="*/ 9788 h 134"/>
                <a:gd name="T6" fmla="*/ 12729 w 115"/>
                <a:gd name="T7" fmla="*/ 7396 h 134"/>
                <a:gd name="T8" fmla="*/ 5651 w 115"/>
                <a:gd name="T9" fmla="*/ 0 h 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"/>
                <a:gd name="T16" fmla="*/ 0 h 134"/>
                <a:gd name="T17" fmla="*/ 115 w 115"/>
                <a:gd name="T18" fmla="*/ 134 h 1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" h="134">
                  <a:moveTo>
                    <a:pt x="51" y="0"/>
                  </a:moveTo>
                  <a:lnTo>
                    <a:pt x="0" y="33"/>
                  </a:lnTo>
                  <a:lnTo>
                    <a:pt x="64" y="134"/>
                  </a:lnTo>
                  <a:lnTo>
                    <a:pt x="115" y="101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F9900"/>
            </a:solidFill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58" name="Freeform 1053"/>
            <p:cNvSpPr>
              <a:spLocks/>
            </p:cNvSpPr>
            <p:nvPr/>
          </p:nvSpPr>
          <p:spPr bwMode="auto">
            <a:xfrm>
              <a:off x="2267" y="2171"/>
              <a:ext cx="297" cy="219"/>
            </a:xfrm>
            <a:custGeom>
              <a:avLst/>
              <a:gdLst>
                <a:gd name="T0" fmla="*/ 0 w 135"/>
                <a:gd name="T1" fmla="*/ 4055 h 107"/>
                <a:gd name="T2" fmla="*/ 3045 w 135"/>
                <a:gd name="T3" fmla="*/ 7864 h 107"/>
                <a:gd name="T4" fmla="*/ 15299 w 135"/>
                <a:gd name="T5" fmla="*/ 3874 h 107"/>
                <a:gd name="T6" fmla="*/ 12278 w 135"/>
                <a:gd name="T7" fmla="*/ 0 h 107"/>
                <a:gd name="T8" fmla="*/ 0 w 135"/>
                <a:gd name="T9" fmla="*/ 4055 h 1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5"/>
                <a:gd name="T16" fmla="*/ 0 h 107"/>
                <a:gd name="T17" fmla="*/ 135 w 135"/>
                <a:gd name="T18" fmla="*/ 107 h 1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5" h="107">
                  <a:moveTo>
                    <a:pt x="0" y="55"/>
                  </a:moveTo>
                  <a:lnTo>
                    <a:pt x="27" y="107"/>
                  </a:lnTo>
                  <a:lnTo>
                    <a:pt x="135" y="53"/>
                  </a:lnTo>
                  <a:lnTo>
                    <a:pt x="108" y="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FF9900"/>
            </a:solidFill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59" name="Freeform 1054"/>
            <p:cNvSpPr>
              <a:spLocks/>
            </p:cNvSpPr>
            <p:nvPr/>
          </p:nvSpPr>
          <p:spPr bwMode="auto">
            <a:xfrm>
              <a:off x="1480" y="2504"/>
              <a:ext cx="297" cy="217"/>
            </a:xfrm>
            <a:custGeom>
              <a:avLst/>
              <a:gdLst>
                <a:gd name="T0" fmla="*/ 0 w 135"/>
                <a:gd name="T1" fmla="*/ 3990 h 106"/>
                <a:gd name="T2" fmla="*/ 3045 w 135"/>
                <a:gd name="T3" fmla="*/ 7800 h 106"/>
                <a:gd name="T4" fmla="*/ 15299 w 135"/>
                <a:gd name="T5" fmla="*/ 3810 h 106"/>
                <a:gd name="T6" fmla="*/ 12278 w 135"/>
                <a:gd name="T7" fmla="*/ 0 h 106"/>
                <a:gd name="T8" fmla="*/ 0 w 135"/>
                <a:gd name="T9" fmla="*/ 3990 h 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5"/>
                <a:gd name="T16" fmla="*/ 0 h 106"/>
                <a:gd name="T17" fmla="*/ 135 w 135"/>
                <a:gd name="T18" fmla="*/ 106 h 1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5" h="106">
                  <a:moveTo>
                    <a:pt x="0" y="54"/>
                  </a:moveTo>
                  <a:lnTo>
                    <a:pt x="27" y="106"/>
                  </a:lnTo>
                  <a:lnTo>
                    <a:pt x="135" y="52"/>
                  </a:lnTo>
                  <a:lnTo>
                    <a:pt x="108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chemeClr val="tx2"/>
            </a:solidFill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60" name="Line 1055"/>
            <p:cNvSpPr>
              <a:spLocks noChangeShapeType="1"/>
            </p:cNvSpPr>
            <p:nvPr/>
          </p:nvSpPr>
          <p:spPr bwMode="auto">
            <a:xfrm>
              <a:off x="3817" y="1121"/>
              <a:ext cx="156" cy="3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161" name="Freeform 1056"/>
            <p:cNvSpPr>
              <a:spLocks/>
            </p:cNvSpPr>
            <p:nvPr/>
          </p:nvSpPr>
          <p:spPr bwMode="auto">
            <a:xfrm>
              <a:off x="3929" y="1093"/>
              <a:ext cx="149" cy="108"/>
            </a:xfrm>
            <a:custGeom>
              <a:avLst/>
              <a:gdLst>
                <a:gd name="T0" fmla="*/ 0 w 68"/>
                <a:gd name="T1" fmla="*/ 3790 h 53"/>
                <a:gd name="T2" fmla="*/ 1661 w 68"/>
                <a:gd name="T3" fmla="*/ 1997 h 53"/>
                <a:gd name="T4" fmla="*/ 1315 w 68"/>
                <a:gd name="T5" fmla="*/ 0 h 53"/>
                <a:gd name="T6" fmla="*/ 7509 w 68"/>
                <a:gd name="T7" fmla="*/ 2877 h 53"/>
                <a:gd name="T8" fmla="*/ 0 w 68"/>
                <a:gd name="T9" fmla="*/ 3790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8"/>
                <a:gd name="T16" fmla="*/ 0 h 53"/>
                <a:gd name="T17" fmla="*/ 68 w 68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8" h="53">
                  <a:moveTo>
                    <a:pt x="0" y="53"/>
                  </a:moveTo>
                  <a:lnTo>
                    <a:pt x="15" y="28"/>
                  </a:lnTo>
                  <a:lnTo>
                    <a:pt x="12" y="0"/>
                  </a:lnTo>
                  <a:lnTo>
                    <a:pt x="68" y="40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62" name="Line 1057"/>
            <p:cNvSpPr>
              <a:spLocks noChangeShapeType="1"/>
            </p:cNvSpPr>
            <p:nvPr/>
          </p:nvSpPr>
          <p:spPr bwMode="auto">
            <a:xfrm flipH="1">
              <a:off x="2893" y="1697"/>
              <a:ext cx="25" cy="129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163" name="Freeform 1058"/>
            <p:cNvSpPr>
              <a:spLocks/>
            </p:cNvSpPr>
            <p:nvPr/>
          </p:nvSpPr>
          <p:spPr bwMode="auto">
            <a:xfrm>
              <a:off x="2841" y="1787"/>
              <a:ext cx="120" cy="137"/>
            </a:xfrm>
            <a:custGeom>
              <a:avLst/>
              <a:gdLst>
                <a:gd name="T0" fmla="*/ 0 w 55"/>
                <a:gd name="T1" fmla="*/ 0 h 67"/>
                <a:gd name="T2" fmla="*/ 2812 w 55"/>
                <a:gd name="T3" fmla="*/ 1033 h 67"/>
                <a:gd name="T4" fmla="*/ 5941 w 55"/>
                <a:gd name="T5" fmla="*/ 573 h 67"/>
                <a:gd name="T6" fmla="*/ 1922 w 55"/>
                <a:gd name="T7" fmla="*/ 4899 h 67"/>
                <a:gd name="T8" fmla="*/ 0 w 55"/>
                <a:gd name="T9" fmla="*/ 0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5"/>
                <a:gd name="T16" fmla="*/ 0 h 67"/>
                <a:gd name="T17" fmla="*/ 55 w 55"/>
                <a:gd name="T18" fmla="*/ 67 h 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5" h="67">
                  <a:moveTo>
                    <a:pt x="0" y="0"/>
                  </a:moveTo>
                  <a:lnTo>
                    <a:pt x="26" y="14"/>
                  </a:lnTo>
                  <a:lnTo>
                    <a:pt x="55" y="8"/>
                  </a:lnTo>
                  <a:lnTo>
                    <a:pt x="18" y="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64" name="Line 1059"/>
            <p:cNvSpPr>
              <a:spLocks noChangeShapeType="1"/>
            </p:cNvSpPr>
            <p:nvPr/>
          </p:nvSpPr>
          <p:spPr bwMode="auto">
            <a:xfrm flipV="1">
              <a:off x="3179" y="1567"/>
              <a:ext cx="20" cy="112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165" name="Freeform 1060"/>
            <p:cNvSpPr>
              <a:spLocks/>
            </p:cNvSpPr>
            <p:nvPr/>
          </p:nvSpPr>
          <p:spPr bwMode="auto">
            <a:xfrm>
              <a:off x="3133" y="1471"/>
              <a:ext cx="121" cy="137"/>
            </a:xfrm>
            <a:custGeom>
              <a:avLst/>
              <a:gdLst>
                <a:gd name="T0" fmla="*/ 6228 w 55"/>
                <a:gd name="T1" fmla="*/ 4899 h 67"/>
                <a:gd name="T2" fmla="*/ 3300 w 55"/>
                <a:gd name="T3" fmla="*/ 3863 h 67"/>
                <a:gd name="T4" fmla="*/ 0 w 55"/>
                <a:gd name="T5" fmla="*/ 4319 h 67"/>
                <a:gd name="T6" fmla="*/ 4332 w 55"/>
                <a:gd name="T7" fmla="*/ 0 h 67"/>
                <a:gd name="T8" fmla="*/ 6228 w 55"/>
                <a:gd name="T9" fmla="*/ 4899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5"/>
                <a:gd name="T16" fmla="*/ 0 h 67"/>
                <a:gd name="T17" fmla="*/ 55 w 55"/>
                <a:gd name="T18" fmla="*/ 67 h 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5" h="67">
                  <a:moveTo>
                    <a:pt x="55" y="67"/>
                  </a:moveTo>
                  <a:lnTo>
                    <a:pt x="29" y="53"/>
                  </a:lnTo>
                  <a:lnTo>
                    <a:pt x="0" y="59"/>
                  </a:lnTo>
                  <a:lnTo>
                    <a:pt x="38" y="0"/>
                  </a:lnTo>
                  <a:lnTo>
                    <a:pt x="55" y="6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66" name="Line 1061"/>
            <p:cNvSpPr>
              <a:spLocks noChangeShapeType="1"/>
            </p:cNvSpPr>
            <p:nvPr/>
          </p:nvSpPr>
          <p:spPr bwMode="auto">
            <a:xfrm flipH="1">
              <a:off x="2166" y="2343"/>
              <a:ext cx="114" cy="55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167" name="Freeform 1062"/>
            <p:cNvSpPr>
              <a:spLocks/>
            </p:cNvSpPr>
            <p:nvPr/>
          </p:nvSpPr>
          <p:spPr bwMode="auto">
            <a:xfrm>
              <a:off x="2073" y="2333"/>
              <a:ext cx="152" cy="114"/>
            </a:xfrm>
            <a:custGeom>
              <a:avLst/>
              <a:gdLst>
                <a:gd name="T0" fmla="*/ 4917 w 69"/>
                <a:gd name="T1" fmla="*/ 0 h 56"/>
                <a:gd name="T2" fmla="*/ 5503 w 69"/>
                <a:gd name="T3" fmla="*/ 2125 h 56"/>
                <a:gd name="T4" fmla="*/ 7891 w 69"/>
                <a:gd name="T5" fmla="*/ 3501 h 56"/>
                <a:gd name="T6" fmla="*/ 0 w 69"/>
                <a:gd name="T7" fmla="*/ 3982 h 56"/>
                <a:gd name="T8" fmla="*/ 4917 w 69"/>
                <a:gd name="T9" fmla="*/ 0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56"/>
                <a:gd name="T17" fmla="*/ 69 w 69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56">
                  <a:moveTo>
                    <a:pt x="43" y="0"/>
                  </a:moveTo>
                  <a:lnTo>
                    <a:pt x="48" y="30"/>
                  </a:lnTo>
                  <a:lnTo>
                    <a:pt x="69" y="49"/>
                  </a:lnTo>
                  <a:lnTo>
                    <a:pt x="0" y="56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68" name="Line 1063"/>
            <p:cNvSpPr>
              <a:spLocks noChangeShapeType="1"/>
            </p:cNvSpPr>
            <p:nvPr/>
          </p:nvSpPr>
          <p:spPr bwMode="auto">
            <a:xfrm flipV="1">
              <a:off x="1585" y="2416"/>
              <a:ext cx="148" cy="66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169" name="Freeform 1064"/>
            <p:cNvSpPr>
              <a:spLocks/>
            </p:cNvSpPr>
            <p:nvPr/>
          </p:nvSpPr>
          <p:spPr bwMode="auto">
            <a:xfrm>
              <a:off x="1678" y="2378"/>
              <a:ext cx="151" cy="106"/>
            </a:xfrm>
            <a:custGeom>
              <a:avLst/>
              <a:gdLst>
                <a:gd name="T0" fmla="*/ 2409 w 69"/>
                <a:gd name="T1" fmla="*/ 3726 h 52"/>
                <a:gd name="T2" fmla="*/ 2204 w 69"/>
                <a:gd name="T3" fmla="*/ 1592 h 52"/>
                <a:gd name="T4" fmla="*/ 0 w 69"/>
                <a:gd name="T5" fmla="*/ 137 h 52"/>
                <a:gd name="T6" fmla="*/ 7568 w 69"/>
                <a:gd name="T7" fmla="*/ 0 h 52"/>
                <a:gd name="T8" fmla="*/ 2409 w 69"/>
                <a:gd name="T9" fmla="*/ 3726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"/>
                <a:gd name="T16" fmla="*/ 0 h 52"/>
                <a:gd name="T17" fmla="*/ 69 w 69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" h="52">
                  <a:moveTo>
                    <a:pt x="22" y="52"/>
                  </a:moveTo>
                  <a:lnTo>
                    <a:pt x="20" y="22"/>
                  </a:lnTo>
                  <a:lnTo>
                    <a:pt x="0" y="2"/>
                  </a:lnTo>
                  <a:lnTo>
                    <a:pt x="69" y="0"/>
                  </a:lnTo>
                  <a:lnTo>
                    <a:pt x="22" y="5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70" name="Line 1065"/>
            <p:cNvSpPr>
              <a:spLocks noChangeShapeType="1"/>
            </p:cNvSpPr>
            <p:nvPr/>
          </p:nvSpPr>
          <p:spPr bwMode="auto">
            <a:xfrm>
              <a:off x="2036" y="2970"/>
              <a:ext cx="193" cy="1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171" name="Freeform 1066"/>
            <p:cNvSpPr>
              <a:spLocks/>
            </p:cNvSpPr>
            <p:nvPr/>
          </p:nvSpPr>
          <p:spPr bwMode="auto">
            <a:xfrm>
              <a:off x="2190" y="2921"/>
              <a:ext cx="145" cy="114"/>
            </a:xfrm>
            <a:custGeom>
              <a:avLst/>
              <a:gdLst>
                <a:gd name="T0" fmla="*/ 0 w 66"/>
                <a:gd name="T1" fmla="*/ 3982 h 56"/>
                <a:gd name="T2" fmla="*/ 1327 w 66"/>
                <a:gd name="T3" fmla="*/ 2060 h 56"/>
                <a:gd name="T4" fmla="*/ 560 w 66"/>
                <a:gd name="T5" fmla="*/ 0 h 56"/>
                <a:gd name="T6" fmla="*/ 7432 w 66"/>
                <a:gd name="T7" fmla="*/ 2272 h 56"/>
                <a:gd name="T8" fmla="*/ 0 w 66"/>
                <a:gd name="T9" fmla="*/ 3982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56"/>
                <a:gd name="T17" fmla="*/ 66 w 66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56">
                  <a:moveTo>
                    <a:pt x="0" y="56"/>
                  </a:moveTo>
                  <a:lnTo>
                    <a:pt x="12" y="29"/>
                  </a:lnTo>
                  <a:lnTo>
                    <a:pt x="5" y="0"/>
                  </a:lnTo>
                  <a:lnTo>
                    <a:pt x="66" y="32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72" name="Line 1067"/>
            <p:cNvSpPr>
              <a:spLocks noChangeShapeType="1"/>
            </p:cNvSpPr>
            <p:nvPr/>
          </p:nvSpPr>
          <p:spPr bwMode="auto">
            <a:xfrm>
              <a:off x="3386" y="2429"/>
              <a:ext cx="112" cy="16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173" name="Freeform 1068"/>
            <p:cNvSpPr>
              <a:spLocks/>
            </p:cNvSpPr>
            <p:nvPr/>
          </p:nvSpPr>
          <p:spPr bwMode="auto">
            <a:xfrm>
              <a:off x="3428" y="2531"/>
              <a:ext cx="127" cy="143"/>
            </a:xfrm>
            <a:custGeom>
              <a:avLst/>
              <a:gdLst>
                <a:gd name="T0" fmla="*/ 0 w 58"/>
                <a:gd name="T1" fmla="*/ 2174 h 70"/>
                <a:gd name="T2" fmla="*/ 3221 w 58"/>
                <a:gd name="T3" fmla="*/ 1741 h 70"/>
                <a:gd name="T4" fmla="*/ 5198 w 58"/>
                <a:gd name="T5" fmla="*/ 0 h 70"/>
                <a:gd name="T6" fmla="*/ 6396 w 58"/>
                <a:gd name="T7" fmla="*/ 5091 h 70"/>
                <a:gd name="T8" fmla="*/ 0 w 58"/>
                <a:gd name="T9" fmla="*/ 2174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8"/>
                <a:gd name="T16" fmla="*/ 0 h 70"/>
                <a:gd name="T17" fmla="*/ 58 w 58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8" h="70">
                  <a:moveTo>
                    <a:pt x="0" y="30"/>
                  </a:moveTo>
                  <a:lnTo>
                    <a:pt x="29" y="24"/>
                  </a:lnTo>
                  <a:lnTo>
                    <a:pt x="47" y="0"/>
                  </a:lnTo>
                  <a:lnTo>
                    <a:pt x="58" y="7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131" name="Text Box 1071"/>
          <p:cNvSpPr txBox="1">
            <a:spLocks noChangeArrowheads="1"/>
          </p:cNvSpPr>
          <p:nvPr/>
        </p:nvSpPr>
        <p:spPr bwMode="auto">
          <a:xfrm>
            <a:off x="1023938" y="6030913"/>
            <a:ext cx="61388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SzTx/>
              <a:buFontTx/>
              <a:buNone/>
            </a:pPr>
            <a:r>
              <a:rPr lang="en-US" sz="1800"/>
              <a:t>Flooding is initiated from Node 1:  Hop 2 transmissions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Oval 1027"/>
          <p:cNvSpPr>
            <a:spLocks noChangeArrowheads="1"/>
          </p:cNvSpPr>
          <p:nvPr/>
        </p:nvSpPr>
        <p:spPr bwMode="auto">
          <a:xfrm>
            <a:off x="1744663" y="1444625"/>
            <a:ext cx="723900" cy="731838"/>
          </a:xfrm>
          <a:prstGeom prst="ellipse">
            <a:avLst/>
          </a:prstGeom>
          <a:solidFill>
            <a:schemeClr val="accent2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55" name="Oval 1028"/>
          <p:cNvSpPr>
            <a:spLocks noChangeArrowheads="1"/>
          </p:cNvSpPr>
          <p:nvPr/>
        </p:nvSpPr>
        <p:spPr bwMode="auto">
          <a:xfrm>
            <a:off x="1712913" y="4295775"/>
            <a:ext cx="727075" cy="728663"/>
          </a:xfrm>
          <a:prstGeom prst="ellipse">
            <a:avLst/>
          </a:prstGeom>
          <a:solidFill>
            <a:schemeClr val="accent2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56" name="Oval 1029"/>
          <p:cNvSpPr>
            <a:spLocks noChangeArrowheads="1"/>
          </p:cNvSpPr>
          <p:nvPr/>
        </p:nvSpPr>
        <p:spPr bwMode="auto">
          <a:xfrm>
            <a:off x="4759325" y="1444625"/>
            <a:ext cx="723900" cy="731838"/>
          </a:xfrm>
          <a:prstGeom prst="ellipse">
            <a:avLst/>
          </a:prstGeom>
          <a:solidFill>
            <a:schemeClr val="accent2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57" name="Oval 1030"/>
          <p:cNvSpPr>
            <a:spLocks noChangeArrowheads="1"/>
          </p:cNvSpPr>
          <p:nvPr/>
        </p:nvSpPr>
        <p:spPr bwMode="auto">
          <a:xfrm>
            <a:off x="5286375" y="4551363"/>
            <a:ext cx="728663" cy="731837"/>
          </a:xfrm>
          <a:prstGeom prst="ellipse">
            <a:avLst/>
          </a:prstGeom>
          <a:solidFill>
            <a:schemeClr val="accent2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58" name="Line 1031"/>
          <p:cNvSpPr>
            <a:spLocks noChangeShapeType="1"/>
          </p:cNvSpPr>
          <p:nvPr/>
        </p:nvSpPr>
        <p:spPr bwMode="auto">
          <a:xfrm>
            <a:off x="2478088" y="1790700"/>
            <a:ext cx="2273300" cy="3175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9159" name="Oval 1032"/>
          <p:cNvSpPr>
            <a:spLocks noChangeArrowheads="1"/>
          </p:cNvSpPr>
          <p:nvPr/>
        </p:nvSpPr>
        <p:spPr bwMode="auto">
          <a:xfrm>
            <a:off x="4316413" y="3148013"/>
            <a:ext cx="725487" cy="728662"/>
          </a:xfrm>
          <a:prstGeom prst="ellipse">
            <a:avLst/>
          </a:prstGeom>
          <a:solidFill>
            <a:schemeClr val="accent2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60" name="Oval 1033"/>
          <p:cNvSpPr>
            <a:spLocks noChangeArrowheads="1"/>
          </p:cNvSpPr>
          <p:nvPr/>
        </p:nvSpPr>
        <p:spPr bwMode="auto">
          <a:xfrm>
            <a:off x="7432675" y="1931988"/>
            <a:ext cx="727075" cy="728662"/>
          </a:xfrm>
          <a:prstGeom prst="ellipse">
            <a:avLst/>
          </a:prstGeom>
          <a:solidFill>
            <a:schemeClr val="accent2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61" name="Line 1034"/>
          <p:cNvSpPr>
            <a:spLocks noChangeShapeType="1"/>
          </p:cNvSpPr>
          <p:nvPr/>
        </p:nvSpPr>
        <p:spPr bwMode="auto">
          <a:xfrm flipH="1">
            <a:off x="4772025" y="2154238"/>
            <a:ext cx="207963" cy="1003300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9162" name="Line 1035"/>
          <p:cNvSpPr>
            <a:spLocks noChangeShapeType="1"/>
          </p:cNvSpPr>
          <p:nvPr/>
        </p:nvSpPr>
        <p:spPr bwMode="auto">
          <a:xfrm>
            <a:off x="4803775" y="3883025"/>
            <a:ext cx="617538" cy="782638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9163" name="Line 1036"/>
          <p:cNvSpPr>
            <a:spLocks noChangeShapeType="1"/>
          </p:cNvSpPr>
          <p:nvPr/>
        </p:nvSpPr>
        <p:spPr bwMode="auto">
          <a:xfrm>
            <a:off x="5448300" y="1820863"/>
            <a:ext cx="2000250" cy="361950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9164" name="Line 1037"/>
          <p:cNvSpPr>
            <a:spLocks noChangeShapeType="1"/>
          </p:cNvSpPr>
          <p:nvPr/>
        </p:nvSpPr>
        <p:spPr bwMode="auto">
          <a:xfrm flipV="1">
            <a:off x="5921375" y="2517775"/>
            <a:ext cx="1585913" cy="2147888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9165" name="Line 1038"/>
          <p:cNvSpPr>
            <a:spLocks noChangeShapeType="1"/>
          </p:cNvSpPr>
          <p:nvPr/>
        </p:nvSpPr>
        <p:spPr bwMode="auto">
          <a:xfrm flipH="1" flipV="1">
            <a:off x="2389188" y="4832350"/>
            <a:ext cx="2914650" cy="166688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9166" name="Line 1039"/>
          <p:cNvSpPr>
            <a:spLocks noChangeShapeType="1"/>
          </p:cNvSpPr>
          <p:nvPr/>
        </p:nvSpPr>
        <p:spPr bwMode="auto">
          <a:xfrm>
            <a:off x="2068513" y="2127250"/>
            <a:ext cx="3175" cy="2181225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9167" name="Line 1040"/>
          <p:cNvSpPr>
            <a:spLocks noChangeShapeType="1"/>
          </p:cNvSpPr>
          <p:nvPr/>
        </p:nvSpPr>
        <p:spPr bwMode="auto">
          <a:xfrm>
            <a:off x="2303463" y="2043113"/>
            <a:ext cx="2027237" cy="1281112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9168" name="Line 1041"/>
          <p:cNvSpPr>
            <a:spLocks noChangeShapeType="1"/>
          </p:cNvSpPr>
          <p:nvPr/>
        </p:nvSpPr>
        <p:spPr bwMode="auto">
          <a:xfrm flipH="1">
            <a:off x="2360613" y="3660775"/>
            <a:ext cx="1943100" cy="782638"/>
          </a:xfrm>
          <a:prstGeom prst="line">
            <a:avLst/>
          </a:prstGeom>
          <a:noFill/>
          <a:ln w="269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9169" name="Rectangle 1042"/>
          <p:cNvSpPr>
            <a:spLocks noChangeArrowheads="1"/>
          </p:cNvSpPr>
          <p:nvPr/>
        </p:nvSpPr>
        <p:spPr bwMode="auto">
          <a:xfrm>
            <a:off x="2016125" y="1604963"/>
            <a:ext cx="134938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900">
                <a:solidFill>
                  <a:srgbClr val="000000"/>
                </a:solidFill>
              </a:rPr>
              <a:t>1</a:t>
            </a:r>
            <a:endParaRPr lang="en-US" sz="2800"/>
          </a:p>
        </p:txBody>
      </p:sp>
      <p:sp>
        <p:nvSpPr>
          <p:cNvPr id="49170" name="Rectangle 1043"/>
          <p:cNvSpPr>
            <a:spLocks noChangeArrowheads="1"/>
          </p:cNvSpPr>
          <p:nvPr/>
        </p:nvSpPr>
        <p:spPr bwMode="auto">
          <a:xfrm>
            <a:off x="1978025" y="4498975"/>
            <a:ext cx="134938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900">
                <a:solidFill>
                  <a:srgbClr val="000000"/>
                </a:solidFill>
              </a:rPr>
              <a:t>2</a:t>
            </a:r>
            <a:endParaRPr lang="en-US" sz="2800"/>
          </a:p>
        </p:txBody>
      </p:sp>
      <p:sp>
        <p:nvSpPr>
          <p:cNvPr id="49171" name="Rectangle 1044"/>
          <p:cNvSpPr>
            <a:spLocks noChangeArrowheads="1"/>
          </p:cNvSpPr>
          <p:nvPr/>
        </p:nvSpPr>
        <p:spPr bwMode="auto">
          <a:xfrm>
            <a:off x="5006975" y="1654175"/>
            <a:ext cx="134938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900" b="1">
                <a:solidFill>
                  <a:srgbClr val="000000"/>
                </a:solidFill>
              </a:rPr>
              <a:t>3</a:t>
            </a:r>
            <a:endParaRPr lang="en-US" sz="2800" b="1"/>
          </a:p>
        </p:txBody>
      </p:sp>
      <p:sp>
        <p:nvSpPr>
          <p:cNvPr id="49172" name="Rectangle 1045"/>
          <p:cNvSpPr>
            <a:spLocks noChangeArrowheads="1"/>
          </p:cNvSpPr>
          <p:nvPr/>
        </p:nvSpPr>
        <p:spPr bwMode="auto">
          <a:xfrm>
            <a:off x="4595813" y="3327400"/>
            <a:ext cx="13493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900">
                <a:solidFill>
                  <a:srgbClr val="000000"/>
                </a:solidFill>
              </a:rPr>
              <a:t>4</a:t>
            </a:r>
            <a:endParaRPr lang="en-US" sz="2800"/>
          </a:p>
        </p:txBody>
      </p:sp>
      <p:sp>
        <p:nvSpPr>
          <p:cNvPr id="49173" name="Rectangle 1046"/>
          <p:cNvSpPr>
            <a:spLocks noChangeArrowheads="1"/>
          </p:cNvSpPr>
          <p:nvPr/>
        </p:nvSpPr>
        <p:spPr bwMode="auto">
          <a:xfrm>
            <a:off x="5565775" y="4749800"/>
            <a:ext cx="134938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900">
                <a:solidFill>
                  <a:srgbClr val="000000"/>
                </a:solidFill>
              </a:rPr>
              <a:t>5</a:t>
            </a:r>
            <a:endParaRPr lang="en-US" sz="2800"/>
          </a:p>
        </p:txBody>
      </p:sp>
      <p:sp>
        <p:nvSpPr>
          <p:cNvPr id="49174" name="Rectangle 1047"/>
          <p:cNvSpPr>
            <a:spLocks noChangeArrowheads="1"/>
          </p:cNvSpPr>
          <p:nvPr/>
        </p:nvSpPr>
        <p:spPr bwMode="auto">
          <a:xfrm>
            <a:off x="7683500" y="2127250"/>
            <a:ext cx="134938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900">
                <a:solidFill>
                  <a:srgbClr val="000000"/>
                </a:solidFill>
              </a:rPr>
              <a:t>6</a:t>
            </a:r>
            <a:endParaRPr lang="en-US" sz="2800"/>
          </a:p>
        </p:txBody>
      </p:sp>
      <p:sp>
        <p:nvSpPr>
          <p:cNvPr id="49175" name="Rectangle 1048"/>
          <p:cNvSpPr>
            <a:spLocks noChangeArrowheads="1"/>
          </p:cNvSpPr>
          <p:nvPr/>
        </p:nvSpPr>
        <p:spPr bwMode="auto">
          <a:xfrm>
            <a:off x="4265613" y="1490663"/>
            <a:ext cx="417512" cy="185737"/>
          </a:xfrm>
          <a:prstGeom prst="rect">
            <a:avLst/>
          </a:prstGeom>
          <a:solidFill>
            <a:srgbClr val="FF9900"/>
          </a:solidFill>
          <a:ln w="14288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76" name="Freeform 1049"/>
          <p:cNvSpPr>
            <a:spLocks/>
          </p:cNvSpPr>
          <p:nvPr/>
        </p:nvSpPr>
        <p:spPr bwMode="auto">
          <a:xfrm>
            <a:off x="5603875" y="1552575"/>
            <a:ext cx="441325" cy="241300"/>
          </a:xfrm>
          <a:custGeom>
            <a:avLst/>
            <a:gdLst>
              <a:gd name="T0" fmla="*/ 2147483647 w 128"/>
              <a:gd name="T1" fmla="*/ 0 h 74"/>
              <a:gd name="T2" fmla="*/ 0 w 128"/>
              <a:gd name="T3" fmla="*/ 2147483647 h 74"/>
              <a:gd name="T4" fmla="*/ 2147483647 w 128"/>
              <a:gd name="T5" fmla="*/ 2147483647 h 74"/>
              <a:gd name="T6" fmla="*/ 2147483647 w 128"/>
              <a:gd name="T7" fmla="*/ 2147483647 h 74"/>
              <a:gd name="T8" fmla="*/ 2147483647 w 128"/>
              <a:gd name="T9" fmla="*/ 0 h 7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8"/>
              <a:gd name="T16" fmla="*/ 0 h 74"/>
              <a:gd name="T17" fmla="*/ 128 w 128"/>
              <a:gd name="T18" fmla="*/ 74 h 7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8" h="74">
                <a:moveTo>
                  <a:pt x="8" y="0"/>
                </a:moveTo>
                <a:lnTo>
                  <a:pt x="0" y="56"/>
                </a:lnTo>
                <a:lnTo>
                  <a:pt x="119" y="74"/>
                </a:lnTo>
                <a:lnTo>
                  <a:pt x="128" y="18"/>
                </a:lnTo>
                <a:lnTo>
                  <a:pt x="8" y="0"/>
                </a:lnTo>
                <a:close/>
              </a:path>
            </a:pathLst>
          </a:custGeom>
          <a:solidFill>
            <a:srgbClr val="FF9900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77" name="Rectangle 1050"/>
          <p:cNvSpPr>
            <a:spLocks noChangeArrowheads="1"/>
          </p:cNvSpPr>
          <p:nvPr/>
        </p:nvSpPr>
        <p:spPr bwMode="auto">
          <a:xfrm>
            <a:off x="1719263" y="3786188"/>
            <a:ext cx="196850" cy="395287"/>
          </a:xfrm>
          <a:prstGeom prst="rect">
            <a:avLst/>
          </a:prstGeom>
          <a:solidFill>
            <a:srgbClr val="FF9900"/>
          </a:solidFill>
          <a:ln w="14288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78" name="Freeform 1051"/>
          <p:cNvSpPr>
            <a:spLocks/>
          </p:cNvSpPr>
          <p:nvPr/>
        </p:nvSpPr>
        <p:spPr bwMode="auto">
          <a:xfrm>
            <a:off x="3662363" y="3157538"/>
            <a:ext cx="454025" cy="392112"/>
          </a:xfrm>
          <a:custGeom>
            <a:avLst/>
            <a:gdLst>
              <a:gd name="T0" fmla="*/ 2147483647 w 132"/>
              <a:gd name="T1" fmla="*/ 0 h 120"/>
              <a:gd name="T2" fmla="*/ 0 w 132"/>
              <a:gd name="T3" fmla="*/ 2147483647 h 120"/>
              <a:gd name="T4" fmla="*/ 2147483647 w 132"/>
              <a:gd name="T5" fmla="*/ 2147483647 h 120"/>
              <a:gd name="T6" fmla="*/ 2147483647 w 132"/>
              <a:gd name="T7" fmla="*/ 2147483647 h 120"/>
              <a:gd name="T8" fmla="*/ 2147483647 w 132"/>
              <a:gd name="T9" fmla="*/ 0 h 1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2"/>
              <a:gd name="T16" fmla="*/ 0 h 120"/>
              <a:gd name="T17" fmla="*/ 132 w 132"/>
              <a:gd name="T18" fmla="*/ 120 h 1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2" h="120">
                <a:moveTo>
                  <a:pt x="35" y="0"/>
                </a:moveTo>
                <a:lnTo>
                  <a:pt x="0" y="49"/>
                </a:lnTo>
                <a:lnTo>
                  <a:pt x="97" y="120"/>
                </a:lnTo>
                <a:lnTo>
                  <a:pt x="132" y="71"/>
                </a:lnTo>
                <a:lnTo>
                  <a:pt x="35" y="0"/>
                </a:lnTo>
                <a:close/>
              </a:path>
            </a:pathLst>
          </a:custGeom>
          <a:solidFill>
            <a:schemeClr val="tx2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79" name="Freeform 1052"/>
          <p:cNvSpPr>
            <a:spLocks/>
          </p:cNvSpPr>
          <p:nvPr/>
        </p:nvSpPr>
        <p:spPr bwMode="auto">
          <a:xfrm>
            <a:off x="4875213" y="2740025"/>
            <a:ext cx="266700" cy="417513"/>
          </a:xfrm>
          <a:custGeom>
            <a:avLst/>
            <a:gdLst>
              <a:gd name="T0" fmla="*/ 2147483647 w 77"/>
              <a:gd name="T1" fmla="*/ 2147483647 h 128"/>
              <a:gd name="T2" fmla="*/ 2147483647 w 77"/>
              <a:gd name="T3" fmla="*/ 0 h 128"/>
              <a:gd name="T4" fmla="*/ 0 w 77"/>
              <a:gd name="T5" fmla="*/ 2147483647 h 128"/>
              <a:gd name="T6" fmla="*/ 2147483647 w 77"/>
              <a:gd name="T7" fmla="*/ 2147483647 h 128"/>
              <a:gd name="T8" fmla="*/ 2147483647 w 77"/>
              <a:gd name="T9" fmla="*/ 2147483647 h 1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7"/>
              <a:gd name="T16" fmla="*/ 0 h 128"/>
              <a:gd name="T17" fmla="*/ 77 w 77"/>
              <a:gd name="T18" fmla="*/ 128 h 12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7" h="128">
                <a:moveTo>
                  <a:pt x="77" y="10"/>
                </a:moveTo>
                <a:lnTo>
                  <a:pt x="20" y="0"/>
                </a:lnTo>
                <a:lnTo>
                  <a:pt x="0" y="119"/>
                </a:lnTo>
                <a:lnTo>
                  <a:pt x="56" y="128"/>
                </a:lnTo>
                <a:lnTo>
                  <a:pt x="77" y="10"/>
                </a:lnTo>
                <a:close/>
              </a:path>
            </a:pathLst>
          </a:custGeom>
          <a:solidFill>
            <a:schemeClr val="tx2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80" name="Line 1053"/>
          <p:cNvSpPr>
            <a:spLocks noChangeShapeType="1"/>
          </p:cNvSpPr>
          <p:nvPr/>
        </p:nvSpPr>
        <p:spPr bwMode="auto">
          <a:xfrm>
            <a:off x="6142038" y="1735138"/>
            <a:ext cx="244475" cy="49212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9181" name="Freeform 1054"/>
          <p:cNvSpPr>
            <a:spLocks/>
          </p:cNvSpPr>
          <p:nvPr/>
        </p:nvSpPr>
        <p:spPr bwMode="auto">
          <a:xfrm>
            <a:off x="6318250" y="1685925"/>
            <a:ext cx="233363" cy="174625"/>
          </a:xfrm>
          <a:custGeom>
            <a:avLst/>
            <a:gdLst>
              <a:gd name="T0" fmla="*/ 0 w 68"/>
              <a:gd name="T1" fmla="*/ 2147483647 h 53"/>
              <a:gd name="T2" fmla="*/ 2147483647 w 68"/>
              <a:gd name="T3" fmla="*/ 2147483647 h 53"/>
              <a:gd name="T4" fmla="*/ 2147483647 w 68"/>
              <a:gd name="T5" fmla="*/ 0 h 53"/>
              <a:gd name="T6" fmla="*/ 2147483647 w 68"/>
              <a:gd name="T7" fmla="*/ 2147483647 h 53"/>
              <a:gd name="T8" fmla="*/ 0 w 68"/>
              <a:gd name="T9" fmla="*/ 2147483647 h 5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8"/>
              <a:gd name="T16" fmla="*/ 0 h 53"/>
              <a:gd name="T17" fmla="*/ 68 w 68"/>
              <a:gd name="T18" fmla="*/ 53 h 5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8" h="53">
                <a:moveTo>
                  <a:pt x="0" y="53"/>
                </a:moveTo>
                <a:lnTo>
                  <a:pt x="15" y="29"/>
                </a:lnTo>
                <a:lnTo>
                  <a:pt x="11" y="0"/>
                </a:lnTo>
                <a:lnTo>
                  <a:pt x="68" y="41"/>
                </a:lnTo>
                <a:lnTo>
                  <a:pt x="0" y="53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82" name="Line 1055"/>
          <p:cNvSpPr>
            <a:spLocks noChangeShapeType="1"/>
          </p:cNvSpPr>
          <p:nvPr/>
        </p:nvSpPr>
        <p:spPr bwMode="auto">
          <a:xfrm flipH="1">
            <a:off x="4010025" y="1568450"/>
            <a:ext cx="196850" cy="3175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9183" name="Freeform 1056"/>
          <p:cNvSpPr>
            <a:spLocks/>
          </p:cNvSpPr>
          <p:nvPr/>
        </p:nvSpPr>
        <p:spPr bwMode="auto">
          <a:xfrm>
            <a:off x="3844925" y="1477963"/>
            <a:ext cx="220663" cy="182562"/>
          </a:xfrm>
          <a:custGeom>
            <a:avLst/>
            <a:gdLst>
              <a:gd name="T0" fmla="*/ 2147483647 w 64"/>
              <a:gd name="T1" fmla="*/ 0 h 56"/>
              <a:gd name="T2" fmla="*/ 2147483647 w 64"/>
              <a:gd name="T3" fmla="*/ 2147483647 h 56"/>
              <a:gd name="T4" fmla="*/ 2147483647 w 64"/>
              <a:gd name="T5" fmla="*/ 2147483647 h 56"/>
              <a:gd name="T6" fmla="*/ 0 w 64"/>
              <a:gd name="T7" fmla="*/ 2147483647 h 56"/>
              <a:gd name="T8" fmla="*/ 2147483647 w 64"/>
              <a:gd name="T9" fmla="*/ 0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56"/>
              <a:gd name="T17" fmla="*/ 64 w 64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56">
                <a:moveTo>
                  <a:pt x="64" y="0"/>
                </a:moveTo>
                <a:lnTo>
                  <a:pt x="55" y="28"/>
                </a:lnTo>
                <a:lnTo>
                  <a:pt x="64" y="56"/>
                </a:lnTo>
                <a:lnTo>
                  <a:pt x="0" y="28"/>
                </a:lnTo>
                <a:lnTo>
                  <a:pt x="64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84" name="Freeform 1057"/>
          <p:cNvSpPr>
            <a:spLocks/>
          </p:cNvSpPr>
          <p:nvPr/>
        </p:nvSpPr>
        <p:spPr bwMode="auto">
          <a:xfrm>
            <a:off x="4862513" y="4429125"/>
            <a:ext cx="396875" cy="441325"/>
          </a:xfrm>
          <a:custGeom>
            <a:avLst/>
            <a:gdLst>
              <a:gd name="T0" fmla="*/ 2147483647 w 115"/>
              <a:gd name="T1" fmla="*/ 0 h 135"/>
              <a:gd name="T2" fmla="*/ 0 w 115"/>
              <a:gd name="T3" fmla="*/ 2147483647 h 135"/>
              <a:gd name="T4" fmla="*/ 2147483647 w 115"/>
              <a:gd name="T5" fmla="*/ 2147483647 h 135"/>
              <a:gd name="T6" fmla="*/ 2147483647 w 115"/>
              <a:gd name="T7" fmla="*/ 2147483647 h 135"/>
              <a:gd name="T8" fmla="*/ 2147483647 w 115"/>
              <a:gd name="T9" fmla="*/ 0 h 1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"/>
              <a:gd name="T16" fmla="*/ 0 h 135"/>
              <a:gd name="T17" fmla="*/ 115 w 115"/>
              <a:gd name="T18" fmla="*/ 135 h 1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" h="135">
                <a:moveTo>
                  <a:pt x="51" y="0"/>
                </a:moveTo>
                <a:lnTo>
                  <a:pt x="0" y="33"/>
                </a:lnTo>
                <a:lnTo>
                  <a:pt x="64" y="135"/>
                </a:lnTo>
                <a:lnTo>
                  <a:pt x="115" y="102"/>
                </a:lnTo>
                <a:lnTo>
                  <a:pt x="51" y="0"/>
                </a:lnTo>
                <a:close/>
              </a:path>
            </a:pathLst>
          </a:custGeom>
          <a:solidFill>
            <a:schemeClr val="tx2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85" name="Freeform 1058"/>
          <p:cNvSpPr>
            <a:spLocks/>
          </p:cNvSpPr>
          <p:nvPr/>
        </p:nvSpPr>
        <p:spPr bwMode="auto">
          <a:xfrm>
            <a:off x="6086475" y="4321175"/>
            <a:ext cx="417513" cy="434975"/>
          </a:xfrm>
          <a:custGeom>
            <a:avLst/>
            <a:gdLst>
              <a:gd name="T0" fmla="*/ 0 w 121"/>
              <a:gd name="T1" fmla="*/ 2147483647 h 133"/>
              <a:gd name="T2" fmla="*/ 2147483647 w 121"/>
              <a:gd name="T3" fmla="*/ 2147483647 h 133"/>
              <a:gd name="T4" fmla="*/ 2147483647 w 121"/>
              <a:gd name="T5" fmla="*/ 2147483647 h 133"/>
              <a:gd name="T6" fmla="*/ 2147483647 w 121"/>
              <a:gd name="T7" fmla="*/ 0 h 133"/>
              <a:gd name="T8" fmla="*/ 0 w 121"/>
              <a:gd name="T9" fmla="*/ 2147483647 h 13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1"/>
              <a:gd name="T16" fmla="*/ 0 h 133"/>
              <a:gd name="T17" fmla="*/ 121 w 121"/>
              <a:gd name="T18" fmla="*/ 133 h 13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1" h="133">
                <a:moveTo>
                  <a:pt x="0" y="94"/>
                </a:moveTo>
                <a:lnTo>
                  <a:pt x="46" y="133"/>
                </a:lnTo>
                <a:lnTo>
                  <a:pt x="121" y="39"/>
                </a:lnTo>
                <a:lnTo>
                  <a:pt x="74" y="0"/>
                </a:lnTo>
                <a:lnTo>
                  <a:pt x="0" y="94"/>
                </a:lnTo>
                <a:close/>
              </a:path>
            </a:pathLst>
          </a:custGeom>
          <a:solidFill>
            <a:schemeClr val="tx2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86" name="Line 1059"/>
          <p:cNvSpPr>
            <a:spLocks noChangeShapeType="1"/>
          </p:cNvSpPr>
          <p:nvPr/>
        </p:nvSpPr>
        <p:spPr bwMode="auto">
          <a:xfrm flipV="1">
            <a:off x="6462713" y="4119563"/>
            <a:ext cx="111125" cy="152400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9187" name="Freeform 1060"/>
          <p:cNvSpPr>
            <a:spLocks/>
          </p:cNvSpPr>
          <p:nvPr/>
        </p:nvSpPr>
        <p:spPr bwMode="auto">
          <a:xfrm>
            <a:off x="6462713" y="3994150"/>
            <a:ext cx="206375" cy="222250"/>
          </a:xfrm>
          <a:custGeom>
            <a:avLst/>
            <a:gdLst>
              <a:gd name="T0" fmla="*/ 2147483647 w 60"/>
              <a:gd name="T1" fmla="*/ 2147483647 h 68"/>
              <a:gd name="T2" fmla="*/ 2147483647 w 60"/>
              <a:gd name="T3" fmla="*/ 2147483647 h 68"/>
              <a:gd name="T4" fmla="*/ 0 w 60"/>
              <a:gd name="T5" fmla="*/ 2147483647 h 68"/>
              <a:gd name="T6" fmla="*/ 2147483647 w 60"/>
              <a:gd name="T7" fmla="*/ 0 h 68"/>
              <a:gd name="T8" fmla="*/ 2147483647 w 60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"/>
              <a:gd name="T16" fmla="*/ 0 h 68"/>
              <a:gd name="T17" fmla="*/ 60 w 60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" h="68">
                <a:moveTo>
                  <a:pt x="46" y="68"/>
                </a:moveTo>
                <a:lnTo>
                  <a:pt x="29" y="45"/>
                </a:lnTo>
                <a:lnTo>
                  <a:pt x="0" y="36"/>
                </a:lnTo>
                <a:lnTo>
                  <a:pt x="60" y="0"/>
                </a:lnTo>
                <a:lnTo>
                  <a:pt x="46" y="68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88" name="Line 1061"/>
          <p:cNvSpPr>
            <a:spLocks noChangeShapeType="1"/>
          </p:cNvSpPr>
          <p:nvPr/>
        </p:nvSpPr>
        <p:spPr bwMode="auto">
          <a:xfrm flipH="1" flipV="1">
            <a:off x="4695825" y="4487863"/>
            <a:ext cx="149225" cy="233362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9189" name="Freeform 1062"/>
          <p:cNvSpPr>
            <a:spLocks/>
          </p:cNvSpPr>
          <p:nvPr/>
        </p:nvSpPr>
        <p:spPr bwMode="auto">
          <a:xfrm>
            <a:off x="4610100" y="4357688"/>
            <a:ext cx="196850" cy="225425"/>
          </a:xfrm>
          <a:custGeom>
            <a:avLst/>
            <a:gdLst>
              <a:gd name="T0" fmla="*/ 2147483647 w 57"/>
              <a:gd name="T1" fmla="*/ 2147483647 h 69"/>
              <a:gd name="T2" fmla="*/ 2147483647 w 57"/>
              <a:gd name="T3" fmla="*/ 2147483647 h 69"/>
              <a:gd name="T4" fmla="*/ 2147483647 w 57"/>
              <a:gd name="T5" fmla="*/ 2147483647 h 69"/>
              <a:gd name="T6" fmla="*/ 0 w 57"/>
              <a:gd name="T7" fmla="*/ 0 h 69"/>
              <a:gd name="T8" fmla="*/ 2147483647 w 57"/>
              <a:gd name="T9" fmla="*/ 2147483647 h 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"/>
              <a:gd name="T16" fmla="*/ 0 h 69"/>
              <a:gd name="T17" fmla="*/ 57 w 57"/>
              <a:gd name="T18" fmla="*/ 69 h 6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" h="69">
                <a:moveTo>
                  <a:pt x="57" y="40"/>
                </a:moveTo>
                <a:lnTo>
                  <a:pt x="29" y="47"/>
                </a:lnTo>
                <a:lnTo>
                  <a:pt x="10" y="69"/>
                </a:lnTo>
                <a:lnTo>
                  <a:pt x="0" y="0"/>
                </a:lnTo>
                <a:lnTo>
                  <a:pt x="57" y="4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90" name="Freeform 1063"/>
          <p:cNvSpPr>
            <a:spLocks/>
          </p:cNvSpPr>
          <p:nvPr/>
        </p:nvSpPr>
        <p:spPr bwMode="auto">
          <a:xfrm>
            <a:off x="4979988" y="3762375"/>
            <a:ext cx="396875" cy="438150"/>
          </a:xfrm>
          <a:custGeom>
            <a:avLst/>
            <a:gdLst>
              <a:gd name="T0" fmla="*/ 2147483647 w 115"/>
              <a:gd name="T1" fmla="*/ 0 h 134"/>
              <a:gd name="T2" fmla="*/ 0 w 115"/>
              <a:gd name="T3" fmla="*/ 2147483647 h 134"/>
              <a:gd name="T4" fmla="*/ 2147483647 w 115"/>
              <a:gd name="T5" fmla="*/ 2147483647 h 134"/>
              <a:gd name="T6" fmla="*/ 2147483647 w 115"/>
              <a:gd name="T7" fmla="*/ 2147483647 h 134"/>
              <a:gd name="T8" fmla="*/ 2147483647 w 115"/>
              <a:gd name="T9" fmla="*/ 0 h 13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"/>
              <a:gd name="T16" fmla="*/ 0 h 134"/>
              <a:gd name="T17" fmla="*/ 115 w 115"/>
              <a:gd name="T18" fmla="*/ 134 h 13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" h="134">
                <a:moveTo>
                  <a:pt x="51" y="0"/>
                </a:moveTo>
                <a:lnTo>
                  <a:pt x="0" y="33"/>
                </a:lnTo>
                <a:lnTo>
                  <a:pt x="64" y="134"/>
                </a:lnTo>
                <a:lnTo>
                  <a:pt x="115" y="101"/>
                </a:lnTo>
                <a:lnTo>
                  <a:pt x="51" y="0"/>
                </a:lnTo>
                <a:close/>
              </a:path>
            </a:pathLst>
          </a:custGeom>
          <a:solidFill>
            <a:schemeClr val="tx2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91" name="Line 1064"/>
          <p:cNvSpPr>
            <a:spLocks noChangeShapeType="1"/>
          </p:cNvSpPr>
          <p:nvPr/>
        </p:nvSpPr>
        <p:spPr bwMode="auto">
          <a:xfrm>
            <a:off x="5286375" y="4135438"/>
            <a:ext cx="176213" cy="258762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9192" name="Freeform 1065"/>
          <p:cNvSpPr>
            <a:spLocks/>
          </p:cNvSpPr>
          <p:nvPr/>
        </p:nvSpPr>
        <p:spPr bwMode="auto">
          <a:xfrm>
            <a:off x="5351463" y="4298950"/>
            <a:ext cx="200025" cy="225425"/>
          </a:xfrm>
          <a:custGeom>
            <a:avLst/>
            <a:gdLst>
              <a:gd name="T0" fmla="*/ 0 w 58"/>
              <a:gd name="T1" fmla="*/ 2147483647 h 69"/>
              <a:gd name="T2" fmla="*/ 2147483647 w 58"/>
              <a:gd name="T3" fmla="*/ 2147483647 h 69"/>
              <a:gd name="T4" fmla="*/ 2147483647 w 58"/>
              <a:gd name="T5" fmla="*/ 0 h 69"/>
              <a:gd name="T6" fmla="*/ 2147483647 w 58"/>
              <a:gd name="T7" fmla="*/ 2147483647 h 69"/>
              <a:gd name="T8" fmla="*/ 0 w 58"/>
              <a:gd name="T9" fmla="*/ 2147483647 h 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8"/>
              <a:gd name="T16" fmla="*/ 0 h 69"/>
              <a:gd name="T17" fmla="*/ 58 w 58"/>
              <a:gd name="T18" fmla="*/ 69 h 6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8" h="69">
                <a:moveTo>
                  <a:pt x="0" y="30"/>
                </a:moveTo>
                <a:lnTo>
                  <a:pt x="29" y="23"/>
                </a:lnTo>
                <a:lnTo>
                  <a:pt x="47" y="0"/>
                </a:lnTo>
                <a:lnTo>
                  <a:pt x="58" y="69"/>
                </a:lnTo>
                <a:lnTo>
                  <a:pt x="0" y="3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93" name="Line 1066"/>
          <p:cNvSpPr>
            <a:spLocks noChangeShapeType="1"/>
          </p:cNvSpPr>
          <p:nvPr/>
        </p:nvSpPr>
        <p:spPr bwMode="auto">
          <a:xfrm flipH="1" flipV="1">
            <a:off x="3454400" y="3076575"/>
            <a:ext cx="187325" cy="111125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9194" name="Freeform 1067"/>
          <p:cNvSpPr>
            <a:spLocks/>
          </p:cNvSpPr>
          <p:nvPr/>
        </p:nvSpPr>
        <p:spPr bwMode="auto">
          <a:xfrm>
            <a:off x="3316288" y="2990850"/>
            <a:ext cx="238125" cy="190500"/>
          </a:xfrm>
          <a:custGeom>
            <a:avLst/>
            <a:gdLst>
              <a:gd name="T0" fmla="*/ 2147483647 w 69"/>
              <a:gd name="T1" fmla="*/ 2147483647 h 58"/>
              <a:gd name="T2" fmla="*/ 2147483647 w 69"/>
              <a:gd name="T3" fmla="*/ 2147483647 h 58"/>
              <a:gd name="T4" fmla="*/ 2147483647 w 69"/>
              <a:gd name="T5" fmla="*/ 2147483647 h 58"/>
              <a:gd name="T6" fmla="*/ 0 w 69"/>
              <a:gd name="T7" fmla="*/ 0 h 58"/>
              <a:gd name="T8" fmla="*/ 2147483647 w 69"/>
              <a:gd name="T9" fmla="*/ 2147483647 h 5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9"/>
              <a:gd name="T16" fmla="*/ 0 h 58"/>
              <a:gd name="T17" fmla="*/ 69 w 69"/>
              <a:gd name="T18" fmla="*/ 58 h 5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9" h="58">
                <a:moveTo>
                  <a:pt x="69" y="11"/>
                </a:moveTo>
                <a:lnTo>
                  <a:pt x="46" y="29"/>
                </a:lnTo>
                <a:lnTo>
                  <a:pt x="39" y="58"/>
                </a:lnTo>
                <a:lnTo>
                  <a:pt x="0" y="0"/>
                </a:lnTo>
                <a:lnTo>
                  <a:pt x="69" y="11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95" name="Freeform 1068"/>
          <p:cNvSpPr>
            <a:spLocks/>
          </p:cNvSpPr>
          <p:nvPr/>
        </p:nvSpPr>
        <p:spPr bwMode="auto">
          <a:xfrm>
            <a:off x="6262688" y="4602163"/>
            <a:ext cx="417512" cy="431800"/>
          </a:xfrm>
          <a:custGeom>
            <a:avLst/>
            <a:gdLst>
              <a:gd name="T0" fmla="*/ 0 w 121"/>
              <a:gd name="T1" fmla="*/ 2147483647 h 132"/>
              <a:gd name="T2" fmla="*/ 2147483647 w 121"/>
              <a:gd name="T3" fmla="*/ 2147483647 h 132"/>
              <a:gd name="T4" fmla="*/ 2147483647 w 121"/>
              <a:gd name="T5" fmla="*/ 2147483647 h 132"/>
              <a:gd name="T6" fmla="*/ 2147483647 w 121"/>
              <a:gd name="T7" fmla="*/ 0 h 132"/>
              <a:gd name="T8" fmla="*/ 0 w 121"/>
              <a:gd name="T9" fmla="*/ 2147483647 h 1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1"/>
              <a:gd name="T16" fmla="*/ 0 h 132"/>
              <a:gd name="T17" fmla="*/ 121 w 121"/>
              <a:gd name="T18" fmla="*/ 132 h 1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1" h="132">
                <a:moveTo>
                  <a:pt x="0" y="93"/>
                </a:moveTo>
                <a:lnTo>
                  <a:pt x="47" y="132"/>
                </a:lnTo>
                <a:lnTo>
                  <a:pt x="121" y="38"/>
                </a:lnTo>
                <a:lnTo>
                  <a:pt x="74" y="0"/>
                </a:lnTo>
                <a:lnTo>
                  <a:pt x="0" y="93"/>
                </a:lnTo>
                <a:close/>
              </a:path>
            </a:pathLst>
          </a:custGeom>
          <a:solidFill>
            <a:srgbClr val="FF9900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96" name="Line 1069"/>
          <p:cNvSpPr>
            <a:spLocks noChangeShapeType="1"/>
          </p:cNvSpPr>
          <p:nvPr/>
        </p:nvSpPr>
        <p:spPr bwMode="auto">
          <a:xfrm flipV="1">
            <a:off x="6642100" y="4400550"/>
            <a:ext cx="109538" cy="153988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9197" name="Freeform 1070"/>
          <p:cNvSpPr>
            <a:spLocks/>
          </p:cNvSpPr>
          <p:nvPr/>
        </p:nvSpPr>
        <p:spPr bwMode="auto">
          <a:xfrm>
            <a:off x="6642100" y="4271963"/>
            <a:ext cx="203200" cy="227012"/>
          </a:xfrm>
          <a:custGeom>
            <a:avLst/>
            <a:gdLst>
              <a:gd name="T0" fmla="*/ 2147483647 w 59"/>
              <a:gd name="T1" fmla="*/ 2147483647 h 69"/>
              <a:gd name="T2" fmla="*/ 2147483647 w 59"/>
              <a:gd name="T3" fmla="*/ 2147483647 h 69"/>
              <a:gd name="T4" fmla="*/ 0 w 59"/>
              <a:gd name="T5" fmla="*/ 2147483647 h 69"/>
              <a:gd name="T6" fmla="*/ 2147483647 w 59"/>
              <a:gd name="T7" fmla="*/ 0 h 69"/>
              <a:gd name="T8" fmla="*/ 2147483647 w 59"/>
              <a:gd name="T9" fmla="*/ 2147483647 h 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9"/>
              <a:gd name="T16" fmla="*/ 0 h 69"/>
              <a:gd name="T17" fmla="*/ 59 w 59"/>
              <a:gd name="T18" fmla="*/ 69 h 6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9" h="69">
                <a:moveTo>
                  <a:pt x="45" y="69"/>
                </a:moveTo>
                <a:lnTo>
                  <a:pt x="28" y="45"/>
                </a:lnTo>
                <a:lnTo>
                  <a:pt x="0" y="37"/>
                </a:lnTo>
                <a:lnTo>
                  <a:pt x="59" y="0"/>
                </a:lnTo>
                <a:lnTo>
                  <a:pt x="45" y="6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98" name="Rectangle 1071"/>
          <p:cNvSpPr>
            <a:spLocks noChangeArrowheads="1"/>
          </p:cNvSpPr>
          <p:nvPr/>
        </p:nvSpPr>
        <p:spPr bwMode="auto">
          <a:xfrm>
            <a:off x="4765675" y="5159375"/>
            <a:ext cx="417513" cy="185738"/>
          </a:xfrm>
          <a:prstGeom prst="rect">
            <a:avLst/>
          </a:prstGeom>
          <a:solidFill>
            <a:srgbClr val="FF9900"/>
          </a:solidFill>
          <a:ln w="1428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199" name="Line 1072"/>
          <p:cNvSpPr>
            <a:spLocks noChangeShapeType="1"/>
          </p:cNvSpPr>
          <p:nvPr/>
        </p:nvSpPr>
        <p:spPr bwMode="auto">
          <a:xfrm flipH="1">
            <a:off x="4306888" y="5221288"/>
            <a:ext cx="400050" cy="3175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9200" name="Freeform 1073"/>
          <p:cNvSpPr>
            <a:spLocks/>
          </p:cNvSpPr>
          <p:nvPr/>
        </p:nvSpPr>
        <p:spPr bwMode="auto">
          <a:xfrm>
            <a:off x="4141788" y="5132388"/>
            <a:ext cx="220662" cy="179387"/>
          </a:xfrm>
          <a:custGeom>
            <a:avLst/>
            <a:gdLst>
              <a:gd name="T0" fmla="*/ 2147483647 w 64"/>
              <a:gd name="T1" fmla="*/ 0 h 55"/>
              <a:gd name="T2" fmla="*/ 2147483647 w 64"/>
              <a:gd name="T3" fmla="*/ 2147483647 h 55"/>
              <a:gd name="T4" fmla="*/ 2147483647 w 64"/>
              <a:gd name="T5" fmla="*/ 2147483647 h 55"/>
              <a:gd name="T6" fmla="*/ 0 w 64"/>
              <a:gd name="T7" fmla="*/ 2147483647 h 55"/>
              <a:gd name="T8" fmla="*/ 2147483647 w 64"/>
              <a:gd name="T9" fmla="*/ 0 h 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4"/>
              <a:gd name="T16" fmla="*/ 0 h 55"/>
              <a:gd name="T17" fmla="*/ 64 w 64"/>
              <a:gd name="T18" fmla="*/ 55 h 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4" h="55">
                <a:moveTo>
                  <a:pt x="64" y="0"/>
                </a:moveTo>
                <a:lnTo>
                  <a:pt x="54" y="27"/>
                </a:lnTo>
                <a:lnTo>
                  <a:pt x="64" y="55"/>
                </a:lnTo>
                <a:lnTo>
                  <a:pt x="0" y="27"/>
                </a:lnTo>
                <a:lnTo>
                  <a:pt x="64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201" name="Rectangle 1074"/>
          <p:cNvSpPr>
            <a:spLocks noChangeArrowheads="1"/>
          </p:cNvSpPr>
          <p:nvPr/>
        </p:nvSpPr>
        <p:spPr bwMode="auto">
          <a:xfrm>
            <a:off x="2589213" y="4543425"/>
            <a:ext cx="417512" cy="187325"/>
          </a:xfrm>
          <a:prstGeom prst="rect">
            <a:avLst/>
          </a:prstGeom>
          <a:solidFill>
            <a:srgbClr val="FF9900"/>
          </a:solidFill>
          <a:ln w="14288" algn="ctr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202" name="Line 1075"/>
          <p:cNvSpPr>
            <a:spLocks noChangeShapeType="1"/>
          </p:cNvSpPr>
          <p:nvPr/>
        </p:nvSpPr>
        <p:spPr bwMode="auto">
          <a:xfrm>
            <a:off x="3141663" y="4665663"/>
            <a:ext cx="303212" cy="15875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9203" name="Freeform 1076"/>
          <p:cNvSpPr>
            <a:spLocks/>
          </p:cNvSpPr>
          <p:nvPr/>
        </p:nvSpPr>
        <p:spPr bwMode="auto">
          <a:xfrm>
            <a:off x="3382963" y="4586288"/>
            <a:ext cx="227012" cy="184150"/>
          </a:xfrm>
          <a:custGeom>
            <a:avLst/>
            <a:gdLst>
              <a:gd name="T0" fmla="*/ 0 w 66"/>
              <a:gd name="T1" fmla="*/ 2147483647 h 56"/>
              <a:gd name="T2" fmla="*/ 2147483647 w 66"/>
              <a:gd name="T3" fmla="*/ 2147483647 h 56"/>
              <a:gd name="T4" fmla="*/ 2147483647 w 66"/>
              <a:gd name="T5" fmla="*/ 0 h 56"/>
              <a:gd name="T6" fmla="*/ 2147483647 w 66"/>
              <a:gd name="T7" fmla="*/ 2147483647 h 56"/>
              <a:gd name="T8" fmla="*/ 0 w 66"/>
              <a:gd name="T9" fmla="*/ 2147483647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6"/>
              <a:gd name="T16" fmla="*/ 0 h 56"/>
              <a:gd name="T17" fmla="*/ 66 w 66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6" h="56">
                <a:moveTo>
                  <a:pt x="0" y="56"/>
                </a:moveTo>
                <a:lnTo>
                  <a:pt x="12" y="29"/>
                </a:lnTo>
                <a:lnTo>
                  <a:pt x="4" y="0"/>
                </a:lnTo>
                <a:lnTo>
                  <a:pt x="66" y="32"/>
                </a:lnTo>
                <a:lnTo>
                  <a:pt x="0" y="56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204" name="Line 1077"/>
          <p:cNvSpPr>
            <a:spLocks noChangeShapeType="1"/>
          </p:cNvSpPr>
          <p:nvPr/>
        </p:nvSpPr>
        <p:spPr bwMode="auto">
          <a:xfrm flipV="1">
            <a:off x="1816100" y="3481388"/>
            <a:ext cx="3175" cy="212725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9205" name="Freeform 1078"/>
          <p:cNvSpPr>
            <a:spLocks/>
          </p:cNvSpPr>
          <p:nvPr/>
        </p:nvSpPr>
        <p:spPr bwMode="auto">
          <a:xfrm>
            <a:off x="1719263" y="3324225"/>
            <a:ext cx="193675" cy="209550"/>
          </a:xfrm>
          <a:custGeom>
            <a:avLst/>
            <a:gdLst>
              <a:gd name="T0" fmla="*/ 2147483647 w 56"/>
              <a:gd name="T1" fmla="*/ 2147483647 h 64"/>
              <a:gd name="T2" fmla="*/ 2147483647 w 56"/>
              <a:gd name="T3" fmla="*/ 2147483647 h 64"/>
              <a:gd name="T4" fmla="*/ 0 w 56"/>
              <a:gd name="T5" fmla="*/ 2147483647 h 64"/>
              <a:gd name="T6" fmla="*/ 2147483647 w 56"/>
              <a:gd name="T7" fmla="*/ 0 h 64"/>
              <a:gd name="T8" fmla="*/ 2147483647 w 56"/>
              <a:gd name="T9" fmla="*/ 2147483647 h 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64"/>
              <a:gd name="T17" fmla="*/ 56 w 56"/>
              <a:gd name="T18" fmla="*/ 64 h 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64">
                <a:moveTo>
                  <a:pt x="56" y="64"/>
                </a:moveTo>
                <a:lnTo>
                  <a:pt x="28" y="55"/>
                </a:lnTo>
                <a:lnTo>
                  <a:pt x="0" y="64"/>
                </a:lnTo>
                <a:lnTo>
                  <a:pt x="28" y="0"/>
                </a:lnTo>
                <a:lnTo>
                  <a:pt x="56" y="64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206" name="Freeform 1079"/>
          <p:cNvSpPr>
            <a:spLocks/>
          </p:cNvSpPr>
          <p:nvPr/>
        </p:nvSpPr>
        <p:spPr bwMode="auto">
          <a:xfrm>
            <a:off x="3886200" y="3835400"/>
            <a:ext cx="461963" cy="349250"/>
          </a:xfrm>
          <a:custGeom>
            <a:avLst/>
            <a:gdLst>
              <a:gd name="T0" fmla="*/ 0 w 134"/>
              <a:gd name="T1" fmla="*/ 2147483647 h 107"/>
              <a:gd name="T2" fmla="*/ 2147483647 w 134"/>
              <a:gd name="T3" fmla="*/ 2147483647 h 107"/>
              <a:gd name="T4" fmla="*/ 2147483647 w 134"/>
              <a:gd name="T5" fmla="*/ 2147483647 h 107"/>
              <a:gd name="T6" fmla="*/ 2147483647 w 134"/>
              <a:gd name="T7" fmla="*/ 0 h 107"/>
              <a:gd name="T8" fmla="*/ 0 w 134"/>
              <a:gd name="T9" fmla="*/ 2147483647 h 10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4"/>
              <a:gd name="T16" fmla="*/ 0 h 107"/>
              <a:gd name="T17" fmla="*/ 134 w 134"/>
              <a:gd name="T18" fmla="*/ 107 h 10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4" h="107">
                <a:moveTo>
                  <a:pt x="0" y="54"/>
                </a:moveTo>
                <a:lnTo>
                  <a:pt x="27" y="107"/>
                </a:lnTo>
                <a:lnTo>
                  <a:pt x="134" y="52"/>
                </a:lnTo>
                <a:lnTo>
                  <a:pt x="108" y="0"/>
                </a:lnTo>
                <a:lnTo>
                  <a:pt x="0" y="54"/>
                </a:lnTo>
                <a:close/>
              </a:path>
            </a:pathLst>
          </a:custGeom>
          <a:solidFill>
            <a:schemeClr val="accent1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207" name="Line 1080"/>
          <p:cNvSpPr>
            <a:spLocks noChangeShapeType="1"/>
          </p:cNvSpPr>
          <p:nvPr/>
        </p:nvSpPr>
        <p:spPr bwMode="auto">
          <a:xfrm flipH="1">
            <a:off x="3724275" y="4105275"/>
            <a:ext cx="182563" cy="92075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9208" name="Freeform 1081"/>
          <p:cNvSpPr>
            <a:spLocks/>
          </p:cNvSpPr>
          <p:nvPr/>
        </p:nvSpPr>
        <p:spPr bwMode="auto">
          <a:xfrm>
            <a:off x="3582988" y="4092575"/>
            <a:ext cx="238125" cy="179388"/>
          </a:xfrm>
          <a:custGeom>
            <a:avLst/>
            <a:gdLst>
              <a:gd name="T0" fmla="*/ 2147483647 w 69"/>
              <a:gd name="T1" fmla="*/ 0 h 55"/>
              <a:gd name="T2" fmla="*/ 2147483647 w 69"/>
              <a:gd name="T3" fmla="*/ 2147483647 h 55"/>
              <a:gd name="T4" fmla="*/ 2147483647 w 69"/>
              <a:gd name="T5" fmla="*/ 2147483647 h 55"/>
              <a:gd name="T6" fmla="*/ 0 w 69"/>
              <a:gd name="T7" fmla="*/ 2147483647 h 55"/>
              <a:gd name="T8" fmla="*/ 2147483647 w 69"/>
              <a:gd name="T9" fmla="*/ 0 h 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9"/>
              <a:gd name="T16" fmla="*/ 0 h 55"/>
              <a:gd name="T17" fmla="*/ 69 w 69"/>
              <a:gd name="T18" fmla="*/ 55 h 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9" h="55">
                <a:moveTo>
                  <a:pt x="42" y="0"/>
                </a:moveTo>
                <a:lnTo>
                  <a:pt x="48" y="30"/>
                </a:lnTo>
                <a:lnTo>
                  <a:pt x="69" y="49"/>
                </a:lnTo>
                <a:lnTo>
                  <a:pt x="0" y="55"/>
                </a:lnTo>
                <a:lnTo>
                  <a:pt x="42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209" name="Freeform 1082"/>
          <p:cNvSpPr>
            <a:spLocks/>
          </p:cNvSpPr>
          <p:nvPr/>
        </p:nvSpPr>
        <p:spPr bwMode="auto">
          <a:xfrm>
            <a:off x="3868738" y="2768600"/>
            <a:ext cx="455612" cy="388938"/>
          </a:xfrm>
          <a:custGeom>
            <a:avLst/>
            <a:gdLst>
              <a:gd name="T0" fmla="*/ 2147483647 w 132"/>
              <a:gd name="T1" fmla="*/ 0 h 119"/>
              <a:gd name="T2" fmla="*/ 0 w 132"/>
              <a:gd name="T3" fmla="*/ 2147483647 h 119"/>
              <a:gd name="T4" fmla="*/ 2147483647 w 132"/>
              <a:gd name="T5" fmla="*/ 2147483647 h 119"/>
              <a:gd name="T6" fmla="*/ 2147483647 w 132"/>
              <a:gd name="T7" fmla="*/ 2147483647 h 119"/>
              <a:gd name="T8" fmla="*/ 2147483647 w 132"/>
              <a:gd name="T9" fmla="*/ 0 h 11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2"/>
              <a:gd name="T16" fmla="*/ 0 h 119"/>
              <a:gd name="T17" fmla="*/ 132 w 132"/>
              <a:gd name="T18" fmla="*/ 119 h 11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2" h="119">
                <a:moveTo>
                  <a:pt x="35" y="0"/>
                </a:moveTo>
                <a:lnTo>
                  <a:pt x="0" y="49"/>
                </a:lnTo>
                <a:lnTo>
                  <a:pt x="97" y="119"/>
                </a:lnTo>
                <a:lnTo>
                  <a:pt x="132" y="70"/>
                </a:lnTo>
                <a:lnTo>
                  <a:pt x="35" y="0"/>
                </a:lnTo>
                <a:close/>
              </a:path>
            </a:pathLst>
          </a:custGeom>
          <a:solidFill>
            <a:schemeClr val="accent1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210" name="Line 1083"/>
          <p:cNvSpPr>
            <a:spLocks noChangeShapeType="1"/>
          </p:cNvSpPr>
          <p:nvPr/>
        </p:nvSpPr>
        <p:spPr bwMode="auto">
          <a:xfrm flipH="1" flipV="1">
            <a:off x="3662363" y="2684463"/>
            <a:ext cx="182562" cy="111125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9211" name="Freeform 1084"/>
          <p:cNvSpPr>
            <a:spLocks/>
          </p:cNvSpPr>
          <p:nvPr/>
        </p:nvSpPr>
        <p:spPr bwMode="auto">
          <a:xfrm>
            <a:off x="3524250" y="2601913"/>
            <a:ext cx="238125" cy="185737"/>
          </a:xfrm>
          <a:custGeom>
            <a:avLst/>
            <a:gdLst>
              <a:gd name="T0" fmla="*/ 2147483647 w 69"/>
              <a:gd name="T1" fmla="*/ 2147483647 h 57"/>
              <a:gd name="T2" fmla="*/ 2147483647 w 69"/>
              <a:gd name="T3" fmla="*/ 2147483647 h 57"/>
              <a:gd name="T4" fmla="*/ 2147483647 w 69"/>
              <a:gd name="T5" fmla="*/ 2147483647 h 57"/>
              <a:gd name="T6" fmla="*/ 0 w 69"/>
              <a:gd name="T7" fmla="*/ 0 h 57"/>
              <a:gd name="T8" fmla="*/ 2147483647 w 69"/>
              <a:gd name="T9" fmla="*/ 2147483647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9"/>
              <a:gd name="T16" fmla="*/ 0 h 57"/>
              <a:gd name="T17" fmla="*/ 69 w 69"/>
              <a:gd name="T18" fmla="*/ 57 h 5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9" h="57">
                <a:moveTo>
                  <a:pt x="69" y="10"/>
                </a:moveTo>
                <a:lnTo>
                  <a:pt x="46" y="28"/>
                </a:lnTo>
                <a:lnTo>
                  <a:pt x="39" y="57"/>
                </a:lnTo>
                <a:lnTo>
                  <a:pt x="0" y="0"/>
                </a:lnTo>
                <a:lnTo>
                  <a:pt x="69" y="1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212" name="Freeform 1085"/>
          <p:cNvSpPr>
            <a:spLocks/>
          </p:cNvSpPr>
          <p:nvPr/>
        </p:nvSpPr>
        <p:spPr bwMode="auto">
          <a:xfrm>
            <a:off x="5154613" y="3481388"/>
            <a:ext cx="396875" cy="441325"/>
          </a:xfrm>
          <a:custGeom>
            <a:avLst/>
            <a:gdLst>
              <a:gd name="T0" fmla="*/ 2147483647 w 115"/>
              <a:gd name="T1" fmla="*/ 0 h 135"/>
              <a:gd name="T2" fmla="*/ 0 w 115"/>
              <a:gd name="T3" fmla="*/ 2147483647 h 135"/>
              <a:gd name="T4" fmla="*/ 2147483647 w 115"/>
              <a:gd name="T5" fmla="*/ 2147483647 h 135"/>
              <a:gd name="T6" fmla="*/ 2147483647 w 115"/>
              <a:gd name="T7" fmla="*/ 2147483647 h 135"/>
              <a:gd name="T8" fmla="*/ 2147483647 w 115"/>
              <a:gd name="T9" fmla="*/ 0 h 1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"/>
              <a:gd name="T16" fmla="*/ 0 h 135"/>
              <a:gd name="T17" fmla="*/ 115 w 115"/>
              <a:gd name="T18" fmla="*/ 135 h 1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" h="135">
                <a:moveTo>
                  <a:pt x="51" y="0"/>
                </a:moveTo>
                <a:lnTo>
                  <a:pt x="0" y="33"/>
                </a:lnTo>
                <a:lnTo>
                  <a:pt x="64" y="135"/>
                </a:lnTo>
                <a:lnTo>
                  <a:pt x="115" y="102"/>
                </a:lnTo>
                <a:lnTo>
                  <a:pt x="51" y="0"/>
                </a:lnTo>
                <a:close/>
              </a:path>
            </a:pathLst>
          </a:custGeom>
          <a:solidFill>
            <a:schemeClr val="accent1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213" name="Line 1086"/>
          <p:cNvSpPr>
            <a:spLocks noChangeShapeType="1"/>
          </p:cNvSpPr>
          <p:nvPr/>
        </p:nvSpPr>
        <p:spPr bwMode="auto">
          <a:xfrm>
            <a:off x="5462588" y="3854450"/>
            <a:ext cx="179387" cy="258763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9214" name="Freeform 1087"/>
          <p:cNvSpPr>
            <a:spLocks/>
          </p:cNvSpPr>
          <p:nvPr/>
        </p:nvSpPr>
        <p:spPr bwMode="auto">
          <a:xfrm>
            <a:off x="5530850" y="4021138"/>
            <a:ext cx="196850" cy="225425"/>
          </a:xfrm>
          <a:custGeom>
            <a:avLst/>
            <a:gdLst>
              <a:gd name="T0" fmla="*/ 0 w 57"/>
              <a:gd name="T1" fmla="*/ 2147483647 h 69"/>
              <a:gd name="T2" fmla="*/ 2147483647 w 57"/>
              <a:gd name="T3" fmla="*/ 2147483647 h 69"/>
              <a:gd name="T4" fmla="*/ 2147483647 w 57"/>
              <a:gd name="T5" fmla="*/ 0 h 69"/>
              <a:gd name="T6" fmla="*/ 2147483647 w 57"/>
              <a:gd name="T7" fmla="*/ 2147483647 h 69"/>
              <a:gd name="T8" fmla="*/ 0 w 57"/>
              <a:gd name="T9" fmla="*/ 2147483647 h 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"/>
              <a:gd name="T16" fmla="*/ 0 h 69"/>
              <a:gd name="T17" fmla="*/ 57 w 57"/>
              <a:gd name="T18" fmla="*/ 69 h 6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" h="69">
                <a:moveTo>
                  <a:pt x="0" y="29"/>
                </a:moveTo>
                <a:lnTo>
                  <a:pt x="28" y="23"/>
                </a:lnTo>
                <a:lnTo>
                  <a:pt x="47" y="0"/>
                </a:lnTo>
                <a:lnTo>
                  <a:pt x="57" y="69"/>
                </a:lnTo>
                <a:lnTo>
                  <a:pt x="0" y="2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215" name="Freeform 1088"/>
          <p:cNvSpPr>
            <a:spLocks/>
          </p:cNvSpPr>
          <p:nvPr/>
        </p:nvSpPr>
        <p:spPr bwMode="auto">
          <a:xfrm>
            <a:off x="6880225" y="2425700"/>
            <a:ext cx="417513" cy="431800"/>
          </a:xfrm>
          <a:custGeom>
            <a:avLst/>
            <a:gdLst>
              <a:gd name="T0" fmla="*/ 0 w 121"/>
              <a:gd name="T1" fmla="*/ 2147483647 h 132"/>
              <a:gd name="T2" fmla="*/ 2147483647 w 121"/>
              <a:gd name="T3" fmla="*/ 2147483647 h 132"/>
              <a:gd name="T4" fmla="*/ 2147483647 w 121"/>
              <a:gd name="T5" fmla="*/ 2147483647 h 132"/>
              <a:gd name="T6" fmla="*/ 2147483647 w 121"/>
              <a:gd name="T7" fmla="*/ 0 h 132"/>
              <a:gd name="T8" fmla="*/ 0 w 121"/>
              <a:gd name="T9" fmla="*/ 2147483647 h 1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1"/>
              <a:gd name="T16" fmla="*/ 0 h 132"/>
              <a:gd name="T17" fmla="*/ 121 w 121"/>
              <a:gd name="T18" fmla="*/ 132 h 1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1" h="132">
                <a:moveTo>
                  <a:pt x="0" y="94"/>
                </a:moveTo>
                <a:lnTo>
                  <a:pt x="47" y="132"/>
                </a:lnTo>
                <a:lnTo>
                  <a:pt x="121" y="39"/>
                </a:lnTo>
                <a:lnTo>
                  <a:pt x="74" y="0"/>
                </a:lnTo>
                <a:lnTo>
                  <a:pt x="0" y="94"/>
                </a:lnTo>
                <a:close/>
              </a:path>
            </a:pathLst>
          </a:custGeom>
          <a:solidFill>
            <a:schemeClr val="accent1"/>
          </a:solidFill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216" name="Line 1089"/>
          <p:cNvSpPr>
            <a:spLocks noChangeShapeType="1"/>
          </p:cNvSpPr>
          <p:nvPr/>
        </p:nvSpPr>
        <p:spPr bwMode="auto">
          <a:xfrm flipH="1">
            <a:off x="6877050" y="2795588"/>
            <a:ext cx="58738" cy="133350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9217" name="Freeform 1090"/>
          <p:cNvSpPr>
            <a:spLocks/>
          </p:cNvSpPr>
          <p:nvPr/>
        </p:nvSpPr>
        <p:spPr bwMode="auto">
          <a:xfrm>
            <a:off x="6810375" y="2847975"/>
            <a:ext cx="176213" cy="228600"/>
          </a:xfrm>
          <a:custGeom>
            <a:avLst/>
            <a:gdLst>
              <a:gd name="T0" fmla="*/ 0 w 51"/>
              <a:gd name="T1" fmla="*/ 0 h 70"/>
              <a:gd name="T2" fmla="*/ 2147483647 w 51"/>
              <a:gd name="T3" fmla="*/ 2147483647 h 70"/>
              <a:gd name="T4" fmla="*/ 2147483647 w 51"/>
              <a:gd name="T5" fmla="*/ 2147483647 h 70"/>
              <a:gd name="T6" fmla="*/ 2147483647 w 51"/>
              <a:gd name="T7" fmla="*/ 2147483647 h 70"/>
              <a:gd name="T8" fmla="*/ 0 w 51"/>
              <a:gd name="T9" fmla="*/ 0 h 7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"/>
              <a:gd name="T16" fmla="*/ 0 h 70"/>
              <a:gd name="T17" fmla="*/ 51 w 51"/>
              <a:gd name="T18" fmla="*/ 70 h 7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" h="70">
                <a:moveTo>
                  <a:pt x="0" y="0"/>
                </a:moveTo>
                <a:lnTo>
                  <a:pt x="22" y="19"/>
                </a:lnTo>
                <a:lnTo>
                  <a:pt x="51" y="20"/>
                </a:lnTo>
                <a:lnTo>
                  <a:pt x="2" y="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218" name="Line 1091"/>
          <p:cNvSpPr>
            <a:spLocks noChangeShapeType="1"/>
          </p:cNvSpPr>
          <p:nvPr/>
        </p:nvSpPr>
        <p:spPr bwMode="auto">
          <a:xfrm flipV="1">
            <a:off x="5024438" y="2530475"/>
            <a:ext cx="26987" cy="182563"/>
          </a:xfrm>
          <a:prstGeom prst="line">
            <a:avLst/>
          </a:prstGeom>
          <a:noFill/>
          <a:ln w="1428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9219" name="Freeform 1092"/>
          <p:cNvSpPr>
            <a:spLocks/>
          </p:cNvSpPr>
          <p:nvPr/>
        </p:nvSpPr>
        <p:spPr bwMode="auto">
          <a:xfrm>
            <a:off x="4948238" y="2376488"/>
            <a:ext cx="193675" cy="219075"/>
          </a:xfrm>
          <a:custGeom>
            <a:avLst/>
            <a:gdLst>
              <a:gd name="T0" fmla="*/ 2147483647 w 56"/>
              <a:gd name="T1" fmla="*/ 2147483647 h 67"/>
              <a:gd name="T2" fmla="*/ 2147483647 w 56"/>
              <a:gd name="T3" fmla="*/ 2147483647 h 67"/>
              <a:gd name="T4" fmla="*/ 0 w 56"/>
              <a:gd name="T5" fmla="*/ 2147483647 h 67"/>
              <a:gd name="T6" fmla="*/ 2147483647 w 56"/>
              <a:gd name="T7" fmla="*/ 0 h 67"/>
              <a:gd name="T8" fmla="*/ 2147483647 w 56"/>
              <a:gd name="T9" fmla="*/ 2147483647 h 6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67"/>
              <a:gd name="T17" fmla="*/ 56 w 56"/>
              <a:gd name="T18" fmla="*/ 67 h 6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67">
                <a:moveTo>
                  <a:pt x="56" y="67"/>
                </a:moveTo>
                <a:lnTo>
                  <a:pt x="29" y="54"/>
                </a:lnTo>
                <a:lnTo>
                  <a:pt x="0" y="59"/>
                </a:lnTo>
                <a:lnTo>
                  <a:pt x="39" y="0"/>
                </a:lnTo>
                <a:lnTo>
                  <a:pt x="56" y="67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220" name="Text Box 1095"/>
          <p:cNvSpPr txBox="1">
            <a:spLocks noChangeArrowheads="1"/>
          </p:cNvSpPr>
          <p:nvPr/>
        </p:nvSpPr>
        <p:spPr bwMode="auto">
          <a:xfrm>
            <a:off x="1023938" y="6030913"/>
            <a:ext cx="61388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SzTx/>
              <a:buFontTx/>
              <a:buNone/>
            </a:pPr>
            <a:r>
              <a:rPr lang="en-US" sz="1800"/>
              <a:t>Flooding is initiated from Node 1:  Hop 3 transmissions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Limited Flooding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Time-to-Live field in each packet limits number of hops to certain diameter</a:t>
            </a:r>
          </a:p>
          <a:p>
            <a:pPr eaLnBrk="1" hangingPunct="1"/>
            <a:r>
              <a:rPr lang="en-US" smtClean="0"/>
              <a:t>Each switch adds its ID before flooding; discards repeats</a:t>
            </a:r>
          </a:p>
          <a:p>
            <a:pPr eaLnBrk="1" hangingPunct="1"/>
            <a:r>
              <a:rPr lang="en-US" smtClean="0"/>
              <a:t>Source puts sequence number in each packet; switches records source address and sequence number and discards repeats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Deflection Routing</a:t>
            </a:r>
          </a:p>
        </p:txBody>
      </p:sp>
      <p:sp>
        <p:nvSpPr>
          <p:cNvPr id="5120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600" smtClean="0"/>
              <a:t>Network nodes forward packets to preferred port</a:t>
            </a:r>
          </a:p>
          <a:p>
            <a:pPr eaLnBrk="1" hangingPunct="1">
              <a:lnSpc>
                <a:spcPct val="90000"/>
              </a:lnSpc>
            </a:pPr>
            <a:r>
              <a:rPr lang="en-US" sz="2600" smtClean="0"/>
              <a:t>If preferred port busy, deflect packet to another port</a:t>
            </a:r>
          </a:p>
          <a:p>
            <a:pPr eaLnBrk="1" hangingPunct="1">
              <a:lnSpc>
                <a:spcPct val="90000"/>
              </a:lnSpc>
            </a:pPr>
            <a:r>
              <a:rPr lang="en-US" sz="2600" smtClean="0"/>
              <a:t>Works well with regular topologies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smtClean="0"/>
              <a:t>Manhattan street network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smtClean="0"/>
              <a:t>Rectangular array of nodes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smtClean="0"/>
              <a:t>Nodes designated (i,j)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smtClean="0"/>
              <a:t>Rows alternate as one-way streets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smtClean="0"/>
              <a:t>Columns alternate as one-way avenues</a:t>
            </a:r>
          </a:p>
          <a:p>
            <a:pPr eaLnBrk="1" hangingPunct="1">
              <a:lnSpc>
                <a:spcPct val="90000"/>
              </a:lnSpc>
            </a:pPr>
            <a:r>
              <a:rPr lang="en-US" sz="2600" smtClean="0"/>
              <a:t>Bufferless operation is possible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smtClean="0"/>
              <a:t>Proposed for optical packet networks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smtClean="0"/>
              <a:t>All-optical buffering currently not viable</a:t>
            </a:r>
          </a:p>
          <a:p>
            <a:pPr eaLnBrk="1" hangingPunct="1">
              <a:lnSpc>
                <a:spcPct val="90000"/>
              </a:lnSpc>
            </a:pPr>
            <a:endParaRPr lang="en-US" sz="26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26" name="Group 2"/>
          <p:cNvGrpSpPr>
            <a:grpSpLocks/>
          </p:cNvGrpSpPr>
          <p:nvPr/>
        </p:nvGrpSpPr>
        <p:grpSpPr bwMode="auto">
          <a:xfrm>
            <a:off x="1604963" y="944563"/>
            <a:ext cx="5072062" cy="5235575"/>
            <a:chOff x="1237" y="455"/>
            <a:chExt cx="3195" cy="3298"/>
          </a:xfrm>
        </p:grpSpPr>
        <p:sp>
          <p:nvSpPr>
            <p:cNvPr id="52228" name="Oval 3"/>
            <p:cNvSpPr>
              <a:spLocks noChangeArrowheads="1"/>
            </p:cNvSpPr>
            <p:nvPr/>
          </p:nvSpPr>
          <p:spPr bwMode="auto">
            <a:xfrm>
              <a:off x="1441" y="756"/>
              <a:ext cx="295" cy="314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29" name="Rectangle 4"/>
            <p:cNvSpPr>
              <a:spLocks noChangeArrowheads="1"/>
            </p:cNvSpPr>
            <p:nvPr/>
          </p:nvSpPr>
          <p:spPr bwMode="auto">
            <a:xfrm>
              <a:off x="1510" y="826"/>
              <a:ext cx="20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0,0</a:t>
              </a:r>
              <a:endParaRPr lang="en-US" sz="1800"/>
            </a:p>
          </p:txBody>
        </p:sp>
        <p:sp>
          <p:nvSpPr>
            <p:cNvPr id="52230" name="Oval 5"/>
            <p:cNvSpPr>
              <a:spLocks noChangeArrowheads="1"/>
            </p:cNvSpPr>
            <p:nvPr/>
          </p:nvSpPr>
          <p:spPr bwMode="auto">
            <a:xfrm>
              <a:off x="2233" y="756"/>
              <a:ext cx="295" cy="314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31" name="Rectangle 6"/>
            <p:cNvSpPr>
              <a:spLocks noChangeArrowheads="1"/>
            </p:cNvSpPr>
            <p:nvPr/>
          </p:nvSpPr>
          <p:spPr bwMode="auto">
            <a:xfrm>
              <a:off x="2302" y="826"/>
              <a:ext cx="20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0,1</a:t>
              </a:r>
              <a:endParaRPr lang="en-US" sz="1800"/>
            </a:p>
          </p:txBody>
        </p:sp>
        <p:sp>
          <p:nvSpPr>
            <p:cNvPr id="52232" name="Oval 7"/>
            <p:cNvSpPr>
              <a:spLocks noChangeArrowheads="1"/>
            </p:cNvSpPr>
            <p:nvPr/>
          </p:nvSpPr>
          <p:spPr bwMode="auto">
            <a:xfrm>
              <a:off x="3034" y="756"/>
              <a:ext cx="295" cy="314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33" name="Rectangle 8"/>
            <p:cNvSpPr>
              <a:spLocks noChangeArrowheads="1"/>
            </p:cNvSpPr>
            <p:nvPr/>
          </p:nvSpPr>
          <p:spPr bwMode="auto">
            <a:xfrm>
              <a:off x="3103" y="826"/>
              <a:ext cx="20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0,2</a:t>
              </a:r>
              <a:endParaRPr lang="en-US" sz="1800"/>
            </a:p>
          </p:txBody>
        </p:sp>
        <p:sp>
          <p:nvSpPr>
            <p:cNvPr id="52234" name="Oval 9"/>
            <p:cNvSpPr>
              <a:spLocks noChangeArrowheads="1"/>
            </p:cNvSpPr>
            <p:nvPr/>
          </p:nvSpPr>
          <p:spPr bwMode="auto">
            <a:xfrm>
              <a:off x="3835" y="756"/>
              <a:ext cx="295" cy="314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35" name="Rectangle 10"/>
            <p:cNvSpPr>
              <a:spLocks noChangeArrowheads="1"/>
            </p:cNvSpPr>
            <p:nvPr/>
          </p:nvSpPr>
          <p:spPr bwMode="auto">
            <a:xfrm>
              <a:off x="3904" y="826"/>
              <a:ext cx="20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0,3</a:t>
              </a:r>
              <a:endParaRPr lang="en-US" sz="1800"/>
            </a:p>
          </p:txBody>
        </p:sp>
        <p:sp>
          <p:nvSpPr>
            <p:cNvPr id="52236" name="Oval 11"/>
            <p:cNvSpPr>
              <a:spLocks noChangeArrowheads="1"/>
            </p:cNvSpPr>
            <p:nvPr/>
          </p:nvSpPr>
          <p:spPr bwMode="auto">
            <a:xfrm>
              <a:off x="1441" y="1575"/>
              <a:ext cx="295" cy="313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37" name="Rectangle 12"/>
            <p:cNvSpPr>
              <a:spLocks noChangeArrowheads="1"/>
            </p:cNvSpPr>
            <p:nvPr/>
          </p:nvSpPr>
          <p:spPr bwMode="auto">
            <a:xfrm>
              <a:off x="1510" y="1644"/>
              <a:ext cx="20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1,0</a:t>
              </a:r>
              <a:endParaRPr lang="en-US" sz="1800"/>
            </a:p>
          </p:txBody>
        </p:sp>
        <p:sp>
          <p:nvSpPr>
            <p:cNvPr id="52238" name="Oval 13"/>
            <p:cNvSpPr>
              <a:spLocks noChangeArrowheads="1"/>
            </p:cNvSpPr>
            <p:nvPr/>
          </p:nvSpPr>
          <p:spPr bwMode="auto">
            <a:xfrm>
              <a:off x="2233" y="1575"/>
              <a:ext cx="295" cy="313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39" name="Rectangle 14"/>
            <p:cNvSpPr>
              <a:spLocks noChangeArrowheads="1"/>
            </p:cNvSpPr>
            <p:nvPr/>
          </p:nvSpPr>
          <p:spPr bwMode="auto">
            <a:xfrm>
              <a:off x="2302" y="1644"/>
              <a:ext cx="20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1,1</a:t>
              </a:r>
              <a:endParaRPr lang="en-US" sz="1800"/>
            </a:p>
          </p:txBody>
        </p:sp>
        <p:sp>
          <p:nvSpPr>
            <p:cNvPr id="52240" name="Oval 15"/>
            <p:cNvSpPr>
              <a:spLocks noChangeArrowheads="1"/>
            </p:cNvSpPr>
            <p:nvPr/>
          </p:nvSpPr>
          <p:spPr bwMode="auto">
            <a:xfrm>
              <a:off x="3034" y="1575"/>
              <a:ext cx="295" cy="313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41" name="Rectangle 16"/>
            <p:cNvSpPr>
              <a:spLocks noChangeArrowheads="1"/>
            </p:cNvSpPr>
            <p:nvPr/>
          </p:nvSpPr>
          <p:spPr bwMode="auto">
            <a:xfrm>
              <a:off x="3103" y="1644"/>
              <a:ext cx="20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1,2</a:t>
              </a:r>
              <a:endParaRPr lang="en-US" sz="1800"/>
            </a:p>
          </p:txBody>
        </p:sp>
        <p:sp>
          <p:nvSpPr>
            <p:cNvPr id="52242" name="Oval 17"/>
            <p:cNvSpPr>
              <a:spLocks noChangeArrowheads="1"/>
            </p:cNvSpPr>
            <p:nvPr/>
          </p:nvSpPr>
          <p:spPr bwMode="auto">
            <a:xfrm>
              <a:off x="3835" y="1575"/>
              <a:ext cx="295" cy="313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43" name="Rectangle 18"/>
            <p:cNvSpPr>
              <a:spLocks noChangeArrowheads="1"/>
            </p:cNvSpPr>
            <p:nvPr/>
          </p:nvSpPr>
          <p:spPr bwMode="auto">
            <a:xfrm>
              <a:off x="3904" y="1644"/>
              <a:ext cx="20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1,3</a:t>
              </a:r>
              <a:endParaRPr lang="en-US" sz="1800"/>
            </a:p>
          </p:txBody>
        </p:sp>
        <p:sp>
          <p:nvSpPr>
            <p:cNvPr id="52244" name="Oval 19"/>
            <p:cNvSpPr>
              <a:spLocks noChangeArrowheads="1"/>
            </p:cNvSpPr>
            <p:nvPr/>
          </p:nvSpPr>
          <p:spPr bwMode="auto">
            <a:xfrm>
              <a:off x="1441" y="2390"/>
              <a:ext cx="295" cy="313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45" name="Rectangle 20"/>
            <p:cNvSpPr>
              <a:spLocks noChangeArrowheads="1"/>
            </p:cNvSpPr>
            <p:nvPr/>
          </p:nvSpPr>
          <p:spPr bwMode="auto">
            <a:xfrm>
              <a:off x="1510" y="2459"/>
              <a:ext cx="20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2,0</a:t>
              </a:r>
              <a:endParaRPr lang="en-US" sz="1800"/>
            </a:p>
          </p:txBody>
        </p:sp>
        <p:sp>
          <p:nvSpPr>
            <p:cNvPr id="52246" name="Oval 21"/>
            <p:cNvSpPr>
              <a:spLocks noChangeArrowheads="1"/>
            </p:cNvSpPr>
            <p:nvPr/>
          </p:nvSpPr>
          <p:spPr bwMode="auto">
            <a:xfrm>
              <a:off x="2233" y="2390"/>
              <a:ext cx="295" cy="313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47" name="Rectangle 22"/>
            <p:cNvSpPr>
              <a:spLocks noChangeArrowheads="1"/>
            </p:cNvSpPr>
            <p:nvPr/>
          </p:nvSpPr>
          <p:spPr bwMode="auto">
            <a:xfrm>
              <a:off x="2302" y="2459"/>
              <a:ext cx="20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2,1</a:t>
              </a:r>
              <a:endParaRPr lang="en-US" sz="1800"/>
            </a:p>
          </p:txBody>
        </p:sp>
        <p:sp>
          <p:nvSpPr>
            <p:cNvPr id="52248" name="Oval 23"/>
            <p:cNvSpPr>
              <a:spLocks noChangeArrowheads="1"/>
            </p:cNvSpPr>
            <p:nvPr/>
          </p:nvSpPr>
          <p:spPr bwMode="auto">
            <a:xfrm>
              <a:off x="3034" y="2390"/>
              <a:ext cx="295" cy="313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49" name="Rectangle 24"/>
            <p:cNvSpPr>
              <a:spLocks noChangeArrowheads="1"/>
            </p:cNvSpPr>
            <p:nvPr/>
          </p:nvSpPr>
          <p:spPr bwMode="auto">
            <a:xfrm>
              <a:off x="3103" y="2459"/>
              <a:ext cx="20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2,2</a:t>
              </a:r>
              <a:endParaRPr lang="en-US" sz="1800"/>
            </a:p>
          </p:txBody>
        </p:sp>
        <p:sp>
          <p:nvSpPr>
            <p:cNvPr id="52250" name="Oval 25"/>
            <p:cNvSpPr>
              <a:spLocks noChangeArrowheads="1"/>
            </p:cNvSpPr>
            <p:nvPr/>
          </p:nvSpPr>
          <p:spPr bwMode="auto">
            <a:xfrm>
              <a:off x="3835" y="2390"/>
              <a:ext cx="295" cy="313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51" name="Rectangle 26"/>
            <p:cNvSpPr>
              <a:spLocks noChangeArrowheads="1"/>
            </p:cNvSpPr>
            <p:nvPr/>
          </p:nvSpPr>
          <p:spPr bwMode="auto">
            <a:xfrm>
              <a:off x="3904" y="2459"/>
              <a:ext cx="20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2,3</a:t>
              </a:r>
              <a:endParaRPr lang="en-US" sz="1800"/>
            </a:p>
          </p:txBody>
        </p:sp>
        <p:sp>
          <p:nvSpPr>
            <p:cNvPr id="52252" name="Oval 27"/>
            <p:cNvSpPr>
              <a:spLocks noChangeArrowheads="1"/>
            </p:cNvSpPr>
            <p:nvPr/>
          </p:nvSpPr>
          <p:spPr bwMode="auto">
            <a:xfrm>
              <a:off x="1441" y="3217"/>
              <a:ext cx="295" cy="314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53" name="Rectangle 28"/>
            <p:cNvSpPr>
              <a:spLocks noChangeArrowheads="1"/>
            </p:cNvSpPr>
            <p:nvPr/>
          </p:nvSpPr>
          <p:spPr bwMode="auto">
            <a:xfrm>
              <a:off x="1510" y="3287"/>
              <a:ext cx="20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3,0</a:t>
              </a:r>
              <a:endParaRPr lang="en-US" sz="1800"/>
            </a:p>
          </p:txBody>
        </p:sp>
        <p:sp>
          <p:nvSpPr>
            <p:cNvPr id="52254" name="Oval 29"/>
            <p:cNvSpPr>
              <a:spLocks noChangeArrowheads="1"/>
            </p:cNvSpPr>
            <p:nvPr/>
          </p:nvSpPr>
          <p:spPr bwMode="auto">
            <a:xfrm>
              <a:off x="2233" y="3217"/>
              <a:ext cx="295" cy="314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55" name="Rectangle 30"/>
            <p:cNvSpPr>
              <a:spLocks noChangeArrowheads="1"/>
            </p:cNvSpPr>
            <p:nvPr/>
          </p:nvSpPr>
          <p:spPr bwMode="auto">
            <a:xfrm>
              <a:off x="2302" y="3287"/>
              <a:ext cx="20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3,1</a:t>
              </a:r>
              <a:endParaRPr lang="en-US" sz="1800"/>
            </a:p>
          </p:txBody>
        </p:sp>
        <p:sp>
          <p:nvSpPr>
            <p:cNvPr id="52256" name="Oval 31"/>
            <p:cNvSpPr>
              <a:spLocks noChangeArrowheads="1"/>
            </p:cNvSpPr>
            <p:nvPr/>
          </p:nvSpPr>
          <p:spPr bwMode="auto">
            <a:xfrm>
              <a:off x="3034" y="3217"/>
              <a:ext cx="295" cy="314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57" name="Rectangle 32"/>
            <p:cNvSpPr>
              <a:spLocks noChangeArrowheads="1"/>
            </p:cNvSpPr>
            <p:nvPr/>
          </p:nvSpPr>
          <p:spPr bwMode="auto">
            <a:xfrm>
              <a:off x="3103" y="3287"/>
              <a:ext cx="20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3,2</a:t>
              </a:r>
              <a:endParaRPr lang="en-US" sz="1800"/>
            </a:p>
          </p:txBody>
        </p:sp>
        <p:sp>
          <p:nvSpPr>
            <p:cNvPr id="52258" name="Oval 33"/>
            <p:cNvSpPr>
              <a:spLocks noChangeArrowheads="1"/>
            </p:cNvSpPr>
            <p:nvPr/>
          </p:nvSpPr>
          <p:spPr bwMode="auto">
            <a:xfrm>
              <a:off x="3835" y="3217"/>
              <a:ext cx="295" cy="314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59" name="Rectangle 34"/>
            <p:cNvSpPr>
              <a:spLocks noChangeArrowheads="1"/>
            </p:cNvSpPr>
            <p:nvPr/>
          </p:nvSpPr>
          <p:spPr bwMode="auto">
            <a:xfrm>
              <a:off x="3904" y="3287"/>
              <a:ext cx="20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3,3</a:t>
              </a:r>
              <a:endParaRPr lang="en-US" sz="1800"/>
            </a:p>
          </p:txBody>
        </p:sp>
        <p:sp>
          <p:nvSpPr>
            <p:cNvPr id="52260" name="Line 35"/>
            <p:cNvSpPr>
              <a:spLocks noChangeShapeType="1"/>
            </p:cNvSpPr>
            <p:nvPr/>
          </p:nvSpPr>
          <p:spPr bwMode="auto">
            <a:xfrm>
              <a:off x="1807" y="912"/>
              <a:ext cx="423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261" name="Freeform 36"/>
            <p:cNvSpPr>
              <a:spLocks/>
            </p:cNvSpPr>
            <p:nvPr/>
          </p:nvSpPr>
          <p:spPr bwMode="auto">
            <a:xfrm>
              <a:off x="1741" y="873"/>
              <a:ext cx="90" cy="78"/>
            </a:xfrm>
            <a:custGeom>
              <a:avLst/>
              <a:gdLst>
                <a:gd name="T0" fmla="*/ 90 w 90"/>
                <a:gd name="T1" fmla="*/ 0 h 78"/>
                <a:gd name="T2" fmla="*/ 76 w 90"/>
                <a:gd name="T3" fmla="*/ 39 h 78"/>
                <a:gd name="T4" fmla="*/ 90 w 90"/>
                <a:gd name="T5" fmla="*/ 78 h 78"/>
                <a:gd name="T6" fmla="*/ 0 w 90"/>
                <a:gd name="T7" fmla="*/ 39 h 78"/>
                <a:gd name="T8" fmla="*/ 90 w 90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"/>
                <a:gd name="T16" fmla="*/ 0 h 78"/>
                <a:gd name="T17" fmla="*/ 90 w 90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" h="78">
                  <a:moveTo>
                    <a:pt x="90" y="0"/>
                  </a:moveTo>
                  <a:lnTo>
                    <a:pt x="76" y="39"/>
                  </a:lnTo>
                  <a:lnTo>
                    <a:pt x="90" y="78"/>
                  </a:lnTo>
                  <a:lnTo>
                    <a:pt x="0" y="39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62" name="Line 37"/>
            <p:cNvSpPr>
              <a:spLocks noChangeShapeType="1"/>
            </p:cNvSpPr>
            <p:nvPr/>
          </p:nvSpPr>
          <p:spPr bwMode="auto">
            <a:xfrm>
              <a:off x="2608" y="912"/>
              <a:ext cx="423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263" name="Freeform 38"/>
            <p:cNvSpPr>
              <a:spLocks/>
            </p:cNvSpPr>
            <p:nvPr/>
          </p:nvSpPr>
          <p:spPr bwMode="auto">
            <a:xfrm>
              <a:off x="2542" y="873"/>
              <a:ext cx="90" cy="78"/>
            </a:xfrm>
            <a:custGeom>
              <a:avLst/>
              <a:gdLst>
                <a:gd name="T0" fmla="*/ 90 w 90"/>
                <a:gd name="T1" fmla="*/ 0 h 78"/>
                <a:gd name="T2" fmla="*/ 76 w 90"/>
                <a:gd name="T3" fmla="*/ 39 h 78"/>
                <a:gd name="T4" fmla="*/ 90 w 90"/>
                <a:gd name="T5" fmla="*/ 78 h 78"/>
                <a:gd name="T6" fmla="*/ 0 w 90"/>
                <a:gd name="T7" fmla="*/ 39 h 78"/>
                <a:gd name="T8" fmla="*/ 90 w 90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"/>
                <a:gd name="T16" fmla="*/ 0 h 78"/>
                <a:gd name="T17" fmla="*/ 90 w 90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" h="78">
                  <a:moveTo>
                    <a:pt x="90" y="0"/>
                  </a:moveTo>
                  <a:lnTo>
                    <a:pt x="76" y="39"/>
                  </a:lnTo>
                  <a:lnTo>
                    <a:pt x="90" y="78"/>
                  </a:lnTo>
                  <a:lnTo>
                    <a:pt x="0" y="39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64" name="Line 39"/>
            <p:cNvSpPr>
              <a:spLocks noChangeShapeType="1"/>
            </p:cNvSpPr>
            <p:nvPr/>
          </p:nvSpPr>
          <p:spPr bwMode="auto">
            <a:xfrm>
              <a:off x="3417" y="912"/>
              <a:ext cx="41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265" name="Freeform 40"/>
            <p:cNvSpPr>
              <a:spLocks/>
            </p:cNvSpPr>
            <p:nvPr/>
          </p:nvSpPr>
          <p:spPr bwMode="auto">
            <a:xfrm>
              <a:off x="3343" y="873"/>
              <a:ext cx="90" cy="78"/>
            </a:xfrm>
            <a:custGeom>
              <a:avLst/>
              <a:gdLst>
                <a:gd name="T0" fmla="*/ 90 w 90"/>
                <a:gd name="T1" fmla="*/ 0 h 78"/>
                <a:gd name="T2" fmla="*/ 76 w 90"/>
                <a:gd name="T3" fmla="*/ 39 h 78"/>
                <a:gd name="T4" fmla="*/ 90 w 90"/>
                <a:gd name="T5" fmla="*/ 78 h 78"/>
                <a:gd name="T6" fmla="*/ 0 w 90"/>
                <a:gd name="T7" fmla="*/ 39 h 78"/>
                <a:gd name="T8" fmla="*/ 90 w 90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"/>
                <a:gd name="T16" fmla="*/ 0 h 78"/>
                <a:gd name="T17" fmla="*/ 90 w 90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" h="78">
                  <a:moveTo>
                    <a:pt x="90" y="0"/>
                  </a:moveTo>
                  <a:lnTo>
                    <a:pt x="76" y="39"/>
                  </a:lnTo>
                  <a:lnTo>
                    <a:pt x="90" y="78"/>
                  </a:lnTo>
                  <a:lnTo>
                    <a:pt x="0" y="39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66" name="Line 41"/>
            <p:cNvSpPr>
              <a:spLocks noChangeShapeType="1"/>
            </p:cNvSpPr>
            <p:nvPr/>
          </p:nvSpPr>
          <p:spPr bwMode="auto">
            <a:xfrm>
              <a:off x="1588" y="1083"/>
              <a:ext cx="1" cy="42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267" name="Freeform 42"/>
            <p:cNvSpPr>
              <a:spLocks/>
            </p:cNvSpPr>
            <p:nvPr/>
          </p:nvSpPr>
          <p:spPr bwMode="auto">
            <a:xfrm>
              <a:off x="1549" y="1479"/>
              <a:ext cx="78" cy="90"/>
            </a:xfrm>
            <a:custGeom>
              <a:avLst/>
              <a:gdLst>
                <a:gd name="T0" fmla="*/ 0 w 78"/>
                <a:gd name="T1" fmla="*/ 0 h 90"/>
                <a:gd name="T2" fmla="*/ 39 w 78"/>
                <a:gd name="T3" fmla="*/ 13 h 90"/>
                <a:gd name="T4" fmla="*/ 78 w 78"/>
                <a:gd name="T5" fmla="*/ 0 h 90"/>
                <a:gd name="T6" fmla="*/ 39 w 78"/>
                <a:gd name="T7" fmla="*/ 90 h 90"/>
                <a:gd name="T8" fmla="*/ 0 w 78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90"/>
                <a:gd name="T17" fmla="*/ 78 w 78"/>
                <a:gd name="T18" fmla="*/ 90 h 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90">
                  <a:moveTo>
                    <a:pt x="0" y="0"/>
                  </a:moveTo>
                  <a:lnTo>
                    <a:pt x="39" y="13"/>
                  </a:lnTo>
                  <a:lnTo>
                    <a:pt x="78" y="0"/>
                  </a:lnTo>
                  <a:lnTo>
                    <a:pt x="39" y="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68" name="Line 43"/>
            <p:cNvSpPr>
              <a:spLocks noChangeShapeType="1"/>
            </p:cNvSpPr>
            <p:nvPr/>
          </p:nvSpPr>
          <p:spPr bwMode="auto">
            <a:xfrm>
              <a:off x="2380" y="1122"/>
              <a:ext cx="1" cy="4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269" name="Freeform 44"/>
            <p:cNvSpPr>
              <a:spLocks/>
            </p:cNvSpPr>
            <p:nvPr/>
          </p:nvSpPr>
          <p:spPr bwMode="auto">
            <a:xfrm>
              <a:off x="2341" y="1055"/>
              <a:ext cx="78" cy="89"/>
            </a:xfrm>
            <a:custGeom>
              <a:avLst/>
              <a:gdLst>
                <a:gd name="T0" fmla="*/ 78 w 78"/>
                <a:gd name="T1" fmla="*/ 89 h 89"/>
                <a:gd name="T2" fmla="*/ 39 w 78"/>
                <a:gd name="T3" fmla="*/ 76 h 89"/>
                <a:gd name="T4" fmla="*/ 0 w 78"/>
                <a:gd name="T5" fmla="*/ 89 h 89"/>
                <a:gd name="T6" fmla="*/ 39 w 78"/>
                <a:gd name="T7" fmla="*/ 0 h 89"/>
                <a:gd name="T8" fmla="*/ 78 w 78"/>
                <a:gd name="T9" fmla="*/ 89 h 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89"/>
                <a:gd name="T17" fmla="*/ 78 w 78"/>
                <a:gd name="T18" fmla="*/ 89 h 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89">
                  <a:moveTo>
                    <a:pt x="78" y="89"/>
                  </a:moveTo>
                  <a:lnTo>
                    <a:pt x="39" y="76"/>
                  </a:lnTo>
                  <a:lnTo>
                    <a:pt x="0" y="89"/>
                  </a:lnTo>
                  <a:lnTo>
                    <a:pt x="39" y="0"/>
                  </a:lnTo>
                  <a:lnTo>
                    <a:pt x="78" y="8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70" name="Line 45"/>
            <p:cNvSpPr>
              <a:spLocks noChangeShapeType="1"/>
            </p:cNvSpPr>
            <p:nvPr/>
          </p:nvSpPr>
          <p:spPr bwMode="auto">
            <a:xfrm>
              <a:off x="3181" y="1083"/>
              <a:ext cx="1" cy="42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271" name="Freeform 46"/>
            <p:cNvSpPr>
              <a:spLocks/>
            </p:cNvSpPr>
            <p:nvPr/>
          </p:nvSpPr>
          <p:spPr bwMode="auto">
            <a:xfrm>
              <a:off x="3142" y="1479"/>
              <a:ext cx="78" cy="90"/>
            </a:xfrm>
            <a:custGeom>
              <a:avLst/>
              <a:gdLst>
                <a:gd name="T0" fmla="*/ 0 w 78"/>
                <a:gd name="T1" fmla="*/ 0 h 90"/>
                <a:gd name="T2" fmla="*/ 39 w 78"/>
                <a:gd name="T3" fmla="*/ 13 h 90"/>
                <a:gd name="T4" fmla="*/ 78 w 78"/>
                <a:gd name="T5" fmla="*/ 0 h 90"/>
                <a:gd name="T6" fmla="*/ 39 w 78"/>
                <a:gd name="T7" fmla="*/ 90 h 90"/>
                <a:gd name="T8" fmla="*/ 0 w 78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90"/>
                <a:gd name="T17" fmla="*/ 78 w 78"/>
                <a:gd name="T18" fmla="*/ 90 h 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90">
                  <a:moveTo>
                    <a:pt x="0" y="0"/>
                  </a:moveTo>
                  <a:lnTo>
                    <a:pt x="39" y="13"/>
                  </a:lnTo>
                  <a:lnTo>
                    <a:pt x="78" y="0"/>
                  </a:lnTo>
                  <a:lnTo>
                    <a:pt x="39" y="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72" name="Line 47"/>
            <p:cNvSpPr>
              <a:spLocks noChangeShapeType="1"/>
            </p:cNvSpPr>
            <p:nvPr/>
          </p:nvSpPr>
          <p:spPr bwMode="auto">
            <a:xfrm>
              <a:off x="3982" y="1134"/>
              <a:ext cx="1" cy="43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273" name="Freeform 48"/>
            <p:cNvSpPr>
              <a:spLocks/>
            </p:cNvSpPr>
            <p:nvPr/>
          </p:nvSpPr>
          <p:spPr bwMode="auto">
            <a:xfrm>
              <a:off x="3943" y="1067"/>
              <a:ext cx="78" cy="89"/>
            </a:xfrm>
            <a:custGeom>
              <a:avLst/>
              <a:gdLst>
                <a:gd name="T0" fmla="*/ 78 w 78"/>
                <a:gd name="T1" fmla="*/ 89 h 89"/>
                <a:gd name="T2" fmla="*/ 39 w 78"/>
                <a:gd name="T3" fmla="*/ 76 h 89"/>
                <a:gd name="T4" fmla="*/ 0 w 78"/>
                <a:gd name="T5" fmla="*/ 89 h 89"/>
                <a:gd name="T6" fmla="*/ 39 w 78"/>
                <a:gd name="T7" fmla="*/ 0 h 89"/>
                <a:gd name="T8" fmla="*/ 78 w 78"/>
                <a:gd name="T9" fmla="*/ 89 h 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89"/>
                <a:gd name="T17" fmla="*/ 78 w 78"/>
                <a:gd name="T18" fmla="*/ 89 h 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89">
                  <a:moveTo>
                    <a:pt x="78" y="89"/>
                  </a:moveTo>
                  <a:lnTo>
                    <a:pt x="39" y="76"/>
                  </a:lnTo>
                  <a:lnTo>
                    <a:pt x="0" y="89"/>
                  </a:lnTo>
                  <a:lnTo>
                    <a:pt x="39" y="0"/>
                  </a:lnTo>
                  <a:lnTo>
                    <a:pt x="78" y="8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74" name="Line 49"/>
            <p:cNvSpPr>
              <a:spLocks noChangeShapeType="1"/>
            </p:cNvSpPr>
            <p:nvPr/>
          </p:nvSpPr>
          <p:spPr bwMode="auto">
            <a:xfrm>
              <a:off x="1741" y="1722"/>
              <a:ext cx="42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275" name="Freeform 50"/>
            <p:cNvSpPr>
              <a:spLocks/>
            </p:cNvSpPr>
            <p:nvPr/>
          </p:nvSpPr>
          <p:spPr bwMode="auto">
            <a:xfrm>
              <a:off x="2137" y="1683"/>
              <a:ext cx="90" cy="78"/>
            </a:xfrm>
            <a:custGeom>
              <a:avLst/>
              <a:gdLst>
                <a:gd name="T0" fmla="*/ 0 w 90"/>
                <a:gd name="T1" fmla="*/ 78 h 78"/>
                <a:gd name="T2" fmla="*/ 13 w 90"/>
                <a:gd name="T3" fmla="*/ 39 h 78"/>
                <a:gd name="T4" fmla="*/ 0 w 90"/>
                <a:gd name="T5" fmla="*/ 0 h 78"/>
                <a:gd name="T6" fmla="*/ 90 w 90"/>
                <a:gd name="T7" fmla="*/ 39 h 78"/>
                <a:gd name="T8" fmla="*/ 0 w 90"/>
                <a:gd name="T9" fmla="*/ 78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"/>
                <a:gd name="T16" fmla="*/ 0 h 78"/>
                <a:gd name="T17" fmla="*/ 90 w 90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" h="78">
                  <a:moveTo>
                    <a:pt x="0" y="78"/>
                  </a:moveTo>
                  <a:lnTo>
                    <a:pt x="13" y="39"/>
                  </a:lnTo>
                  <a:lnTo>
                    <a:pt x="0" y="0"/>
                  </a:lnTo>
                  <a:lnTo>
                    <a:pt x="90" y="39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76" name="Line 51"/>
            <p:cNvSpPr>
              <a:spLocks noChangeShapeType="1"/>
            </p:cNvSpPr>
            <p:nvPr/>
          </p:nvSpPr>
          <p:spPr bwMode="auto">
            <a:xfrm>
              <a:off x="2542" y="1722"/>
              <a:ext cx="42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277" name="Freeform 52"/>
            <p:cNvSpPr>
              <a:spLocks/>
            </p:cNvSpPr>
            <p:nvPr/>
          </p:nvSpPr>
          <p:spPr bwMode="auto">
            <a:xfrm>
              <a:off x="2938" y="1683"/>
              <a:ext cx="90" cy="78"/>
            </a:xfrm>
            <a:custGeom>
              <a:avLst/>
              <a:gdLst>
                <a:gd name="T0" fmla="*/ 0 w 90"/>
                <a:gd name="T1" fmla="*/ 78 h 78"/>
                <a:gd name="T2" fmla="*/ 13 w 90"/>
                <a:gd name="T3" fmla="*/ 39 h 78"/>
                <a:gd name="T4" fmla="*/ 0 w 90"/>
                <a:gd name="T5" fmla="*/ 0 h 78"/>
                <a:gd name="T6" fmla="*/ 90 w 90"/>
                <a:gd name="T7" fmla="*/ 39 h 78"/>
                <a:gd name="T8" fmla="*/ 0 w 90"/>
                <a:gd name="T9" fmla="*/ 78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"/>
                <a:gd name="T16" fmla="*/ 0 h 78"/>
                <a:gd name="T17" fmla="*/ 90 w 90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" h="78">
                  <a:moveTo>
                    <a:pt x="0" y="78"/>
                  </a:moveTo>
                  <a:lnTo>
                    <a:pt x="13" y="39"/>
                  </a:lnTo>
                  <a:lnTo>
                    <a:pt x="0" y="0"/>
                  </a:lnTo>
                  <a:lnTo>
                    <a:pt x="90" y="39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78" name="Line 53"/>
            <p:cNvSpPr>
              <a:spLocks noChangeShapeType="1"/>
            </p:cNvSpPr>
            <p:nvPr/>
          </p:nvSpPr>
          <p:spPr bwMode="auto">
            <a:xfrm>
              <a:off x="3343" y="1722"/>
              <a:ext cx="42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279" name="Freeform 54"/>
            <p:cNvSpPr>
              <a:spLocks/>
            </p:cNvSpPr>
            <p:nvPr/>
          </p:nvSpPr>
          <p:spPr bwMode="auto">
            <a:xfrm>
              <a:off x="3739" y="1683"/>
              <a:ext cx="90" cy="78"/>
            </a:xfrm>
            <a:custGeom>
              <a:avLst/>
              <a:gdLst>
                <a:gd name="T0" fmla="*/ 0 w 90"/>
                <a:gd name="T1" fmla="*/ 78 h 78"/>
                <a:gd name="T2" fmla="*/ 13 w 90"/>
                <a:gd name="T3" fmla="*/ 39 h 78"/>
                <a:gd name="T4" fmla="*/ 0 w 90"/>
                <a:gd name="T5" fmla="*/ 0 h 78"/>
                <a:gd name="T6" fmla="*/ 90 w 90"/>
                <a:gd name="T7" fmla="*/ 39 h 78"/>
                <a:gd name="T8" fmla="*/ 0 w 90"/>
                <a:gd name="T9" fmla="*/ 78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"/>
                <a:gd name="T16" fmla="*/ 0 h 78"/>
                <a:gd name="T17" fmla="*/ 90 w 90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" h="78">
                  <a:moveTo>
                    <a:pt x="0" y="78"/>
                  </a:moveTo>
                  <a:lnTo>
                    <a:pt x="13" y="39"/>
                  </a:lnTo>
                  <a:lnTo>
                    <a:pt x="0" y="0"/>
                  </a:lnTo>
                  <a:lnTo>
                    <a:pt x="90" y="39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80" name="Line 55"/>
            <p:cNvSpPr>
              <a:spLocks noChangeShapeType="1"/>
            </p:cNvSpPr>
            <p:nvPr/>
          </p:nvSpPr>
          <p:spPr bwMode="auto">
            <a:xfrm>
              <a:off x="1807" y="2549"/>
              <a:ext cx="423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281" name="Freeform 56"/>
            <p:cNvSpPr>
              <a:spLocks/>
            </p:cNvSpPr>
            <p:nvPr/>
          </p:nvSpPr>
          <p:spPr bwMode="auto">
            <a:xfrm>
              <a:off x="1741" y="2510"/>
              <a:ext cx="90" cy="78"/>
            </a:xfrm>
            <a:custGeom>
              <a:avLst/>
              <a:gdLst>
                <a:gd name="T0" fmla="*/ 90 w 90"/>
                <a:gd name="T1" fmla="*/ 0 h 78"/>
                <a:gd name="T2" fmla="*/ 76 w 90"/>
                <a:gd name="T3" fmla="*/ 39 h 78"/>
                <a:gd name="T4" fmla="*/ 90 w 90"/>
                <a:gd name="T5" fmla="*/ 78 h 78"/>
                <a:gd name="T6" fmla="*/ 0 w 90"/>
                <a:gd name="T7" fmla="*/ 39 h 78"/>
                <a:gd name="T8" fmla="*/ 90 w 90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"/>
                <a:gd name="T16" fmla="*/ 0 h 78"/>
                <a:gd name="T17" fmla="*/ 90 w 90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" h="78">
                  <a:moveTo>
                    <a:pt x="90" y="0"/>
                  </a:moveTo>
                  <a:lnTo>
                    <a:pt x="76" y="39"/>
                  </a:lnTo>
                  <a:lnTo>
                    <a:pt x="90" y="78"/>
                  </a:lnTo>
                  <a:lnTo>
                    <a:pt x="0" y="39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82" name="Line 57"/>
            <p:cNvSpPr>
              <a:spLocks noChangeShapeType="1"/>
            </p:cNvSpPr>
            <p:nvPr/>
          </p:nvSpPr>
          <p:spPr bwMode="auto">
            <a:xfrm>
              <a:off x="2608" y="2549"/>
              <a:ext cx="423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283" name="Freeform 58"/>
            <p:cNvSpPr>
              <a:spLocks/>
            </p:cNvSpPr>
            <p:nvPr/>
          </p:nvSpPr>
          <p:spPr bwMode="auto">
            <a:xfrm>
              <a:off x="2542" y="2510"/>
              <a:ext cx="90" cy="78"/>
            </a:xfrm>
            <a:custGeom>
              <a:avLst/>
              <a:gdLst>
                <a:gd name="T0" fmla="*/ 90 w 90"/>
                <a:gd name="T1" fmla="*/ 0 h 78"/>
                <a:gd name="T2" fmla="*/ 76 w 90"/>
                <a:gd name="T3" fmla="*/ 39 h 78"/>
                <a:gd name="T4" fmla="*/ 90 w 90"/>
                <a:gd name="T5" fmla="*/ 78 h 78"/>
                <a:gd name="T6" fmla="*/ 0 w 90"/>
                <a:gd name="T7" fmla="*/ 39 h 78"/>
                <a:gd name="T8" fmla="*/ 90 w 90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"/>
                <a:gd name="T16" fmla="*/ 0 h 78"/>
                <a:gd name="T17" fmla="*/ 90 w 90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" h="78">
                  <a:moveTo>
                    <a:pt x="90" y="0"/>
                  </a:moveTo>
                  <a:lnTo>
                    <a:pt x="76" y="39"/>
                  </a:lnTo>
                  <a:lnTo>
                    <a:pt x="90" y="78"/>
                  </a:lnTo>
                  <a:lnTo>
                    <a:pt x="0" y="39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84" name="Line 59"/>
            <p:cNvSpPr>
              <a:spLocks noChangeShapeType="1"/>
            </p:cNvSpPr>
            <p:nvPr/>
          </p:nvSpPr>
          <p:spPr bwMode="auto">
            <a:xfrm>
              <a:off x="3409" y="2549"/>
              <a:ext cx="423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285" name="Freeform 60"/>
            <p:cNvSpPr>
              <a:spLocks/>
            </p:cNvSpPr>
            <p:nvPr/>
          </p:nvSpPr>
          <p:spPr bwMode="auto">
            <a:xfrm>
              <a:off x="3343" y="2510"/>
              <a:ext cx="90" cy="78"/>
            </a:xfrm>
            <a:custGeom>
              <a:avLst/>
              <a:gdLst>
                <a:gd name="T0" fmla="*/ 90 w 90"/>
                <a:gd name="T1" fmla="*/ 0 h 78"/>
                <a:gd name="T2" fmla="*/ 76 w 90"/>
                <a:gd name="T3" fmla="*/ 39 h 78"/>
                <a:gd name="T4" fmla="*/ 90 w 90"/>
                <a:gd name="T5" fmla="*/ 78 h 78"/>
                <a:gd name="T6" fmla="*/ 0 w 90"/>
                <a:gd name="T7" fmla="*/ 39 h 78"/>
                <a:gd name="T8" fmla="*/ 90 w 90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"/>
                <a:gd name="T16" fmla="*/ 0 h 78"/>
                <a:gd name="T17" fmla="*/ 90 w 90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" h="78">
                  <a:moveTo>
                    <a:pt x="90" y="0"/>
                  </a:moveTo>
                  <a:lnTo>
                    <a:pt x="76" y="39"/>
                  </a:lnTo>
                  <a:lnTo>
                    <a:pt x="90" y="78"/>
                  </a:lnTo>
                  <a:lnTo>
                    <a:pt x="0" y="39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86" name="Line 61"/>
            <p:cNvSpPr>
              <a:spLocks noChangeShapeType="1"/>
            </p:cNvSpPr>
            <p:nvPr/>
          </p:nvSpPr>
          <p:spPr bwMode="auto">
            <a:xfrm>
              <a:off x="1741" y="3376"/>
              <a:ext cx="48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287" name="Line 62"/>
            <p:cNvSpPr>
              <a:spLocks noChangeShapeType="1"/>
            </p:cNvSpPr>
            <p:nvPr/>
          </p:nvSpPr>
          <p:spPr bwMode="auto">
            <a:xfrm>
              <a:off x="2542" y="3376"/>
              <a:ext cx="48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288" name="Line 63"/>
            <p:cNvSpPr>
              <a:spLocks noChangeShapeType="1"/>
            </p:cNvSpPr>
            <p:nvPr/>
          </p:nvSpPr>
          <p:spPr bwMode="auto">
            <a:xfrm>
              <a:off x="3343" y="3376"/>
              <a:ext cx="48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289" name="Line 64"/>
            <p:cNvSpPr>
              <a:spLocks noChangeShapeType="1"/>
            </p:cNvSpPr>
            <p:nvPr/>
          </p:nvSpPr>
          <p:spPr bwMode="auto">
            <a:xfrm>
              <a:off x="1588" y="1901"/>
              <a:ext cx="1" cy="33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290" name="Freeform 65"/>
            <p:cNvSpPr>
              <a:spLocks/>
            </p:cNvSpPr>
            <p:nvPr/>
          </p:nvSpPr>
          <p:spPr bwMode="auto">
            <a:xfrm>
              <a:off x="1549" y="2297"/>
              <a:ext cx="78" cy="90"/>
            </a:xfrm>
            <a:custGeom>
              <a:avLst/>
              <a:gdLst>
                <a:gd name="T0" fmla="*/ 0 w 78"/>
                <a:gd name="T1" fmla="*/ 0 h 90"/>
                <a:gd name="T2" fmla="*/ 39 w 78"/>
                <a:gd name="T3" fmla="*/ 14 h 90"/>
                <a:gd name="T4" fmla="*/ 78 w 78"/>
                <a:gd name="T5" fmla="*/ 0 h 90"/>
                <a:gd name="T6" fmla="*/ 39 w 78"/>
                <a:gd name="T7" fmla="*/ 90 h 90"/>
                <a:gd name="T8" fmla="*/ 0 w 78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90"/>
                <a:gd name="T17" fmla="*/ 78 w 78"/>
                <a:gd name="T18" fmla="*/ 90 h 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90">
                  <a:moveTo>
                    <a:pt x="0" y="0"/>
                  </a:moveTo>
                  <a:lnTo>
                    <a:pt x="39" y="14"/>
                  </a:lnTo>
                  <a:lnTo>
                    <a:pt x="78" y="0"/>
                  </a:lnTo>
                  <a:lnTo>
                    <a:pt x="39" y="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91" name="Line 66"/>
            <p:cNvSpPr>
              <a:spLocks noChangeShapeType="1"/>
            </p:cNvSpPr>
            <p:nvPr/>
          </p:nvSpPr>
          <p:spPr bwMode="auto">
            <a:xfrm>
              <a:off x="2380" y="1949"/>
              <a:ext cx="1" cy="44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292" name="Freeform 67"/>
            <p:cNvSpPr>
              <a:spLocks/>
            </p:cNvSpPr>
            <p:nvPr/>
          </p:nvSpPr>
          <p:spPr bwMode="auto">
            <a:xfrm>
              <a:off x="2341" y="1882"/>
              <a:ext cx="78" cy="90"/>
            </a:xfrm>
            <a:custGeom>
              <a:avLst/>
              <a:gdLst>
                <a:gd name="T0" fmla="*/ 78 w 78"/>
                <a:gd name="T1" fmla="*/ 90 h 90"/>
                <a:gd name="T2" fmla="*/ 39 w 78"/>
                <a:gd name="T3" fmla="*/ 76 h 90"/>
                <a:gd name="T4" fmla="*/ 0 w 78"/>
                <a:gd name="T5" fmla="*/ 90 h 90"/>
                <a:gd name="T6" fmla="*/ 39 w 78"/>
                <a:gd name="T7" fmla="*/ 0 h 90"/>
                <a:gd name="T8" fmla="*/ 78 w 78"/>
                <a:gd name="T9" fmla="*/ 9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90"/>
                <a:gd name="T17" fmla="*/ 78 w 78"/>
                <a:gd name="T18" fmla="*/ 90 h 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90">
                  <a:moveTo>
                    <a:pt x="78" y="90"/>
                  </a:moveTo>
                  <a:lnTo>
                    <a:pt x="39" y="76"/>
                  </a:lnTo>
                  <a:lnTo>
                    <a:pt x="0" y="90"/>
                  </a:lnTo>
                  <a:lnTo>
                    <a:pt x="39" y="0"/>
                  </a:lnTo>
                  <a:lnTo>
                    <a:pt x="78" y="9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93" name="Line 68"/>
            <p:cNvSpPr>
              <a:spLocks noChangeShapeType="1"/>
            </p:cNvSpPr>
            <p:nvPr/>
          </p:nvSpPr>
          <p:spPr bwMode="auto">
            <a:xfrm>
              <a:off x="3181" y="1901"/>
              <a:ext cx="1" cy="42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294" name="Freeform 69"/>
            <p:cNvSpPr>
              <a:spLocks/>
            </p:cNvSpPr>
            <p:nvPr/>
          </p:nvSpPr>
          <p:spPr bwMode="auto">
            <a:xfrm>
              <a:off x="3142" y="2297"/>
              <a:ext cx="78" cy="90"/>
            </a:xfrm>
            <a:custGeom>
              <a:avLst/>
              <a:gdLst>
                <a:gd name="T0" fmla="*/ 0 w 78"/>
                <a:gd name="T1" fmla="*/ 0 h 90"/>
                <a:gd name="T2" fmla="*/ 39 w 78"/>
                <a:gd name="T3" fmla="*/ 14 h 90"/>
                <a:gd name="T4" fmla="*/ 78 w 78"/>
                <a:gd name="T5" fmla="*/ 0 h 90"/>
                <a:gd name="T6" fmla="*/ 39 w 78"/>
                <a:gd name="T7" fmla="*/ 90 h 90"/>
                <a:gd name="T8" fmla="*/ 0 w 78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90"/>
                <a:gd name="T17" fmla="*/ 78 w 78"/>
                <a:gd name="T18" fmla="*/ 90 h 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90">
                  <a:moveTo>
                    <a:pt x="0" y="0"/>
                  </a:moveTo>
                  <a:lnTo>
                    <a:pt x="39" y="14"/>
                  </a:lnTo>
                  <a:lnTo>
                    <a:pt x="78" y="0"/>
                  </a:lnTo>
                  <a:lnTo>
                    <a:pt x="39" y="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95" name="Line 70"/>
            <p:cNvSpPr>
              <a:spLocks noChangeShapeType="1"/>
            </p:cNvSpPr>
            <p:nvPr/>
          </p:nvSpPr>
          <p:spPr bwMode="auto">
            <a:xfrm>
              <a:off x="3982" y="1949"/>
              <a:ext cx="1" cy="44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296" name="Freeform 71"/>
            <p:cNvSpPr>
              <a:spLocks/>
            </p:cNvSpPr>
            <p:nvPr/>
          </p:nvSpPr>
          <p:spPr bwMode="auto">
            <a:xfrm>
              <a:off x="3943" y="1882"/>
              <a:ext cx="78" cy="90"/>
            </a:xfrm>
            <a:custGeom>
              <a:avLst/>
              <a:gdLst>
                <a:gd name="T0" fmla="*/ 78 w 78"/>
                <a:gd name="T1" fmla="*/ 90 h 90"/>
                <a:gd name="T2" fmla="*/ 39 w 78"/>
                <a:gd name="T3" fmla="*/ 76 h 90"/>
                <a:gd name="T4" fmla="*/ 0 w 78"/>
                <a:gd name="T5" fmla="*/ 90 h 90"/>
                <a:gd name="T6" fmla="*/ 39 w 78"/>
                <a:gd name="T7" fmla="*/ 0 h 90"/>
                <a:gd name="T8" fmla="*/ 78 w 78"/>
                <a:gd name="T9" fmla="*/ 9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90"/>
                <a:gd name="T17" fmla="*/ 78 w 78"/>
                <a:gd name="T18" fmla="*/ 90 h 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90">
                  <a:moveTo>
                    <a:pt x="78" y="90"/>
                  </a:moveTo>
                  <a:lnTo>
                    <a:pt x="39" y="76"/>
                  </a:lnTo>
                  <a:lnTo>
                    <a:pt x="0" y="90"/>
                  </a:lnTo>
                  <a:lnTo>
                    <a:pt x="39" y="0"/>
                  </a:lnTo>
                  <a:lnTo>
                    <a:pt x="78" y="9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97" name="Line 72"/>
            <p:cNvSpPr>
              <a:spLocks noChangeShapeType="1"/>
            </p:cNvSpPr>
            <p:nvPr/>
          </p:nvSpPr>
          <p:spPr bwMode="auto">
            <a:xfrm>
              <a:off x="1588" y="2720"/>
              <a:ext cx="1" cy="42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298" name="Freeform 73"/>
            <p:cNvSpPr>
              <a:spLocks/>
            </p:cNvSpPr>
            <p:nvPr/>
          </p:nvSpPr>
          <p:spPr bwMode="auto">
            <a:xfrm>
              <a:off x="1549" y="3115"/>
              <a:ext cx="78" cy="90"/>
            </a:xfrm>
            <a:custGeom>
              <a:avLst/>
              <a:gdLst>
                <a:gd name="T0" fmla="*/ 0 w 78"/>
                <a:gd name="T1" fmla="*/ 0 h 90"/>
                <a:gd name="T2" fmla="*/ 39 w 78"/>
                <a:gd name="T3" fmla="*/ 14 h 90"/>
                <a:gd name="T4" fmla="*/ 78 w 78"/>
                <a:gd name="T5" fmla="*/ 0 h 90"/>
                <a:gd name="T6" fmla="*/ 39 w 78"/>
                <a:gd name="T7" fmla="*/ 90 h 90"/>
                <a:gd name="T8" fmla="*/ 0 w 78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90"/>
                <a:gd name="T17" fmla="*/ 78 w 78"/>
                <a:gd name="T18" fmla="*/ 90 h 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90">
                  <a:moveTo>
                    <a:pt x="0" y="0"/>
                  </a:moveTo>
                  <a:lnTo>
                    <a:pt x="39" y="14"/>
                  </a:lnTo>
                  <a:lnTo>
                    <a:pt x="78" y="0"/>
                  </a:lnTo>
                  <a:lnTo>
                    <a:pt x="39" y="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299" name="Line 74"/>
            <p:cNvSpPr>
              <a:spLocks noChangeShapeType="1"/>
            </p:cNvSpPr>
            <p:nvPr/>
          </p:nvSpPr>
          <p:spPr bwMode="auto">
            <a:xfrm>
              <a:off x="2380" y="2753"/>
              <a:ext cx="1" cy="45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300" name="Freeform 75"/>
            <p:cNvSpPr>
              <a:spLocks/>
            </p:cNvSpPr>
            <p:nvPr/>
          </p:nvSpPr>
          <p:spPr bwMode="auto">
            <a:xfrm>
              <a:off x="2341" y="2685"/>
              <a:ext cx="78" cy="90"/>
            </a:xfrm>
            <a:custGeom>
              <a:avLst/>
              <a:gdLst>
                <a:gd name="T0" fmla="*/ 78 w 78"/>
                <a:gd name="T1" fmla="*/ 90 h 90"/>
                <a:gd name="T2" fmla="*/ 39 w 78"/>
                <a:gd name="T3" fmla="*/ 77 h 90"/>
                <a:gd name="T4" fmla="*/ 0 w 78"/>
                <a:gd name="T5" fmla="*/ 90 h 90"/>
                <a:gd name="T6" fmla="*/ 39 w 78"/>
                <a:gd name="T7" fmla="*/ 0 h 90"/>
                <a:gd name="T8" fmla="*/ 78 w 78"/>
                <a:gd name="T9" fmla="*/ 9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90"/>
                <a:gd name="T17" fmla="*/ 78 w 78"/>
                <a:gd name="T18" fmla="*/ 90 h 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90">
                  <a:moveTo>
                    <a:pt x="78" y="90"/>
                  </a:moveTo>
                  <a:lnTo>
                    <a:pt x="39" y="77"/>
                  </a:lnTo>
                  <a:lnTo>
                    <a:pt x="0" y="90"/>
                  </a:lnTo>
                  <a:lnTo>
                    <a:pt x="39" y="0"/>
                  </a:lnTo>
                  <a:lnTo>
                    <a:pt x="78" y="9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301" name="Line 76"/>
            <p:cNvSpPr>
              <a:spLocks noChangeShapeType="1"/>
            </p:cNvSpPr>
            <p:nvPr/>
          </p:nvSpPr>
          <p:spPr bwMode="auto">
            <a:xfrm>
              <a:off x="3181" y="2720"/>
              <a:ext cx="1" cy="42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302" name="Freeform 77"/>
            <p:cNvSpPr>
              <a:spLocks/>
            </p:cNvSpPr>
            <p:nvPr/>
          </p:nvSpPr>
          <p:spPr bwMode="auto">
            <a:xfrm>
              <a:off x="3142" y="3115"/>
              <a:ext cx="78" cy="90"/>
            </a:xfrm>
            <a:custGeom>
              <a:avLst/>
              <a:gdLst>
                <a:gd name="T0" fmla="*/ 0 w 78"/>
                <a:gd name="T1" fmla="*/ 0 h 90"/>
                <a:gd name="T2" fmla="*/ 39 w 78"/>
                <a:gd name="T3" fmla="*/ 14 h 90"/>
                <a:gd name="T4" fmla="*/ 78 w 78"/>
                <a:gd name="T5" fmla="*/ 0 h 90"/>
                <a:gd name="T6" fmla="*/ 39 w 78"/>
                <a:gd name="T7" fmla="*/ 90 h 90"/>
                <a:gd name="T8" fmla="*/ 0 w 78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90"/>
                <a:gd name="T17" fmla="*/ 78 w 78"/>
                <a:gd name="T18" fmla="*/ 90 h 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90">
                  <a:moveTo>
                    <a:pt x="0" y="0"/>
                  </a:moveTo>
                  <a:lnTo>
                    <a:pt x="39" y="14"/>
                  </a:lnTo>
                  <a:lnTo>
                    <a:pt x="78" y="0"/>
                  </a:lnTo>
                  <a:lnTo>
                    <a:pt x="39" y="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303" name="Line 78"/>
            <p:cNvSpPr>
              <a:spLocks noChangeShapeType="1"/>
            </p:cNvSpPr>
            <p:nvPr/>
          </p:nvSpPr>
          <p:spPr bwMode="auto">
            <a:xfrm>
              <a:off x="3982" y="2775"/>
              <a:ext cx="1" cy="43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304" name="Freeform 79"/>
            <p:cNvSpPr>
              <a:spLocks/>
            </p:cNvSpPr>
            <p:nvPr/>
          </p:nvSpPr>
          <p:spPr bwMode="auto">
            <a:xfrm>
              <a:off x="3943" y="2709"/>
              <a:ext cx="78" cy="90"/>
            </a:xfrm>
            <a:custGeom>
              <a:avLst/>
              <a:gdLst>
                <a:gd name="T0" fmla="*/ 78 w 78"/>
                <a:gd name="T1" fmla="*/ 90 h 90"/>
                <a:gd name="T2" fmla="*/ 39 w 78"/>
                <a:gd name="T3" fmla="*/ 77 h 90"/>
                <a:gd name="T4" fmla="*/ 0 w 78"/>
                <a:gd name="T5" fmla="*/ 90 h 90"/>
                <a:gd name="T6" fmla="*/ 39 w 78"/>
                <a:gd name="T7" fmla="*/ 0 h 90"/>
                <a:gd name="T8" fmla="*/ 78 w 78"/>
                <a:gd name="T9" fmla="*/ 9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90"/>
                <a:gd name="T17" fmla="*/ 78 w 78"/>
                <a:gd name="T18" fmla="*/ 90 h 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90">
                  <a:moveTo>
                    <a:pt x="78" y="90"/>
                  </a:moveTo>
                  <a:lnTo>
                    <a:pt x="39" y="77"/>
                  </a:lnTo>
                  <a:lnTo>
                    <a:pt x="0" y="90"/>
                  </a:lnTo>
                  <a:lnTo>
                    <a:pt x="39" y="0"/>
                  </a:lnTo>
                  <a:lnTo>
                    <a:pt x="78" y="9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305" name="Freeform 80"/>
            <p:cNvSpPr>
              <a:spLocks/>
            </p:cNvSpPr>
            <p:nvPr/>
          </p:nvSpPr>
          <p:spPr bwMode="auto">
            <a:xfrm>
              <a:off x="1237" y="905"/>
              <a:ext cx="3195" cy="278"/>
            </a:xfrm>
            <a:custGeom>
              <a:avLst/>
              <a:gdLst>
                <a:gd name="T0" fmla="*/ 198 w 3195"/>
                <a:gd name="T1" fmla="*/ 9 h 278"/>
                <a:gd name="T2" fmla="*/ 0 w 3195"/>
                <a:gd name="T3" fmla="*/ 9 h 278"/>
                <a:gd name="T4" fmla="*/ 0 w 3195"/>
                <a:gd name="T5" fmla="*/ 278 h 278"/>
                <a:gd name="T6" fmla="*/ 3195 w 3195"/>
                <a:gd name="T7" fmla="*/ 278 h 278"/>
                <a:gd name="T8" fmla="*/ 3195 w 3195"/>
                <a:gd name="T9" fmla="*/ 0 h 278"/>
                <a:gd name="T10" fmla="*/ 2965 w 3195"/>
                <a:gd name="T11" fmla="*/ 0 h 2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95"/>
                <a:gd name="T19" fmla="*/ 0 h 278"/>
                <a:gd name="T20" fmla="*/ 3195 w 3195"/>
                <a:gd name="T21" fmla="*/ 278 h 27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95" h="278">
                  <a:moveTo>
                    <a:pt x="198" y="9"/>
                  </a:moveTo>
                  <a:lnTo>
                    <a:pt x="0" y="9"/>
                  </a:lnTo>
                  <a:lnTo>
                    <a:pt x="0" y="278"/>
                  </a:lnTo>
                  <a:lnTo>
                    <a:pt x="3195" y="278"/>
                  </a:lnTo>
                  <a:lnTo>
                    <a:pt x="3195" y="0"/>
                  </a:lnTo>
                  <a:lnTo>
                    <a:pt x="296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306" name="Freeform 81"/>
            <p:cNvSpPr>
              <a:spLocks/>
            </p:cNvSpPr>
            <p:nvPr/>
          </p:nvSpPr>
          <p:spPr bwMode="auto">
            <a:xfrm>
              <a:off x="4135" y="866"/>
              <a:ext cx="90" cy="78"/>
            </a:xfrm>
            <a:custGeom>
              <a:avLst/>
              <a:gdLst>
                <a:gd name="T0" fmla="*/ 90 w 90"/>
                <a:gd name="T1" fmla="*/ 0 h 78"/>
                <a:gd name="T2" fmla="*/ 76 w 90"/>
                <a:gd name="T3" fmla="*/ 39 h 78"/>
                <a:gd name="T4" fmla="*/ 90 w 90"/>
                <a:gd name="T5" fmla="*/ 78 h 78"/>
                <a:gd name="T6" fmla="*/ 0 w 90"/>
                <a:gd name="T7" fmla="*/ 39 h 78"/>
                <a:gd name="T8" fmla="*/ 90 w 90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"/>
                <a:gd name="T16" fmla="*/ 0 h 78"/>
                <a:gd name="T17" fmla="*/ 90 w 90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" h="78">
                  <a:moveTo>
                    <a:pt x="90" y="0"/>
                  </a:moveTo>
                  <a:lnTo>
                    <a:pt x="76" y="39"/>
                  </a:lnTo>
                  <a:lnTo>
                    <a:pt x="90" y="78"/>
                  </a:lnTo>
                  <a:lnTo>
                    <a:pt x="0" y="39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307" name="Freeform 82"/>
            <p:cNvSpPr>
              <a:spLocks/>
            </p:cNvSpPr>
            <p:nvPr/>
          </p:nvSpPr>
          <p:spPr bwMode="auto">
            <a:xfrm>
              <a:off x="1237" y="1705"/>
              <a:ext cx="3195" cy="279"/>
            </a:xfrm>
            <a:custGeom>
              <a:avLst/>
              <a:gdLst>
                <a:gd name="T0" fmla="*/ 130 w 3195"/>
                <a:gd name="T1" fmla="*/ 9 h 279"/>
                <a:gd name="T2" fmla="*/ 0 w 3195"/>
                <a:gd name="T3" fmla="*/ 9 h 279"/>
                <a:gd name="T4" fmla="*/ 0 w 3195"/>
                <a:gd name="T5" fmla="*/ 279 h 279"/>
                <a:gd name="T6" fmla="*/ 3195 w 3195"/>
                <a:gd name="T7" fmla="*/ 279 h 279"/>
                <a:gd name="T8" fmla="*/ 3195 w 3195"/>
                <a:gd name="T9" fmla="*/ 0 h 279"/>
                <a:gd name="T10" fmla="*/ 2898 w 3195"/>
                <a:gd name="T11" fmla="*/ 0 h 27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95"/>
                <a:gd name="T19" fmla="*/ 0 h 279"/>
                <a:gd name="T20" fmla="*/ 3195 w 3195"/>
                <a:gd name="T21" fmla="*/ 279 h 27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95" h="279">
                  <a:moveTo>
                    <a:pt x="130" y="9"/>
                  </a:moveTo>
                  <a:lnTo>
                    <a:pt x="0" y="9"/>
                  </a:lnTo>
                  <a:lnTo>
                    <a:pt x="0" y="279"/>
                  </a:lnTo>
                  <a:lnTo>
                    <a:pt x="3195" y="279"/>
                  </a:lnTo>
                  <a:lnTo>
                    <a:pt x="3195" y="0"/>
                  </a:lnTo>
                  <a:lnTo>
                    <a:pt x="289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308" name="Freeform 83"/>
            <p:cNvSpPr>
              <a:spLocks/>
            </p:cNvSpPr>
            <p:nvPr/>
          </p:nvSpPr>
          <p:spPr bwMode="auto">
            <a:xfrm>
              <a:off x="1345" y="1675"/>
              <a:ext cx="90" cy="78"/>
            </a:xfrm>
            <a:custGeom>
              <a:avLst/>
              <a:gdLst>
                <a:gd name="T0" fmla="*/ 0 w 90"/>
                <a:gd name="T1" fmla="*/ 78 h 78"/>
                <a:gd name="T2" fmla="*/ 13 w 90"/>
                <a:gd name="T3" fmla="*/ 39 h 78"/>
                <a:gd name="T4" fmla="*/ 0 w 90"/>
                <a:gd name="T5" fmla="*/ 0 h 78"/>
                <a:gd name="T6" fmla="*/ 90 w 90"/>
                <a:gd name="T7" fmla="*/ 39 h 78"/>
                <a:gd name="T8" fmla="*/ 0 w 90"/>
                <a:gd name="T9" fmla="*/ 78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"/>
                <a:gd name="T16" fmla="*/ 0 h 78"/>
                <a:gd name="T17" fmla="*/ 90 w 90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" h="78">
                  <a:moveTo>
                    <a:pt x="0" y="78"/>
                  </a:moveTo>
                  <a:lnTo>
                    <a:pt x="13" y="39"/>
                  </a:lnTo>
                  <a:lnTo>
                    <a:pt x="0" y="0"/>
                  </a:lnTo>
                  <a:lnTo>
                    <a:pt x="90" y="39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309" name="Freeform 84"/>
            <p:cNvSpPr>
              <a:spLocks/>
            </p:cNvSpPr>
            <p:nvPr/>
          </p:nvSpPr>
          <p:spPr bwMode="auto">
            <a:xfrm>
              <a:off x="1237" y="2541"/>
              <a:ext cx="3195" cy="279"/>
            </a:xfrm>
            <a:custGeom>
              <a:avLst/>
              <a:gdLst>
                <a:gd name="T0" fmla="*/ 198 w 3195"/>
                <a:gd name="T1" fmla="*/ 9 h 279"/>
                <a:gd name="T2" fmla="*/ 0 w 3195"/>
                <a:gd name="T3" fmla="*/ 9 h 279"/>
                <a:gd name="T4" fmla="*/ 0 w 3195"/>
                <a:gd name="T5" fmla="*/ 279 h 279"/>
                <a:gd name="T6" fmla="*/ 3195 w 3195"/>
                <a:gd name="T7" fmla="*/ 279 h 279"/>
                <a:gd name="T8" fmla="*/ 3195 w 3195"/>
                <a:gd name="T9" fmla="*/ 0 h 279"/>
                <a:gd name="T10" fmla="*/ 2965 w 3195"/>
                <a:gd name="T11" fmla="*/ 0 h 27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95"/>
                <a:gd name="T19" fmla="*/ 0 h 279"/>
                <a:gd name="T20" fmla="*/ 3195 w 3195"/>
                <a:gd name="T21" fmla="*/ 279 h 27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95" h="279">
                  <a:moveTo>
                    <a:pt x="198" y="9"/>
                  </a:moveTo>
                  <a:lnTo>
                    <a:pt x="0" y="9"/>
                  </a:lnTo>
                  <a:lnTo>
                    <a:pt x="0" y="279"/>
                  </a:lnTo>
                  <a:lnTo>
                    <a:pt x="3195" y="279"/>
                  </a:lnTo>
                  <a:lnTo>
                    <a:pt x="3195" y="0"/>
                  </a:lnTo>
                  <a:lnTo>
                    <a:pt x="2965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310" name="Freeform 85"/>
            <p:cNvSpPr>
              <a:spLocks/>
            </p:cNvSpPr>
            <p:nvPr/>
          </p:nvSpPr>
          <p:spPr bwMode="auto">
            <a:xfrm>
              <a:off x="4135" y="2502"/>
              <a:ext cx="90" cy="78"/>
            </a:xfrm>
            <a:custGeom>
              <a:avLst/>
              <a:gdLst>
                <a:gd name="T0" fmla="*/ 90 w 90"/>
                <a:gd name="T1" fmla="*/ 0 h 78"/>
                <a:gd name="T2" fmla="*/ 76 w 90"/>
                <a:gd name="T3" fmla="*/ 39 h 78"/>
                <a:gd name="T4" fmla="*/ 90 w 90"/>
                <a:gd name="T5" fmla="*/ 78 h 78"/>
                <a:gd name="T6" fmla="*/ 0 w 90"/>
                <a:gd name="T7" fmla="*/ 39 h 78"/>
                <a:gd name="T8" fmla="*/ 90 w 90"/>
                <a:gd name="T9" fmla="*/ 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"/>
                <a:gd name="T16" fmla="*/ 0 h 78"/>
                <a:gd name="T17" fmla="*/ 90 w 90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" h="78">
                  <a:moveTo>
                    <a:pt x="90" y="0"/>
                  </a:moveTo>
                  <a:lnTo>
                    <a:pt x="76" y="39"/>
                  </a:lnTo>
                  <a:lnTo>
                    <a:pt x="90" y="78"/>
                  </a:lnTo>
                  <a:lnTo>
                    <a:pt x="0" y="39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311" name="Freeform 86"/>
            <p:cNvSpPr>
              <a:spLocks/>
            </p:cNvSpPr>
            <p:nvPr/>
          </p:nvSpPr>
          <p:spPr bwMode="auto">
            <a:xfrm>
              <a:off x="1237" y="3369"/>
              <a:ext cx="3195" cy="279"/>
            </a:xfrm>
            <a:custGeom>
              <a:avLst/>
              <a:gdLst>
                <a:gd name="T0" fmla="*/ 130 w 3195"/>
                <a:gd name="T1" fmla="*/ 9 h 279"/>
                <a:gd name="T2" fmla="*/ 0 w 3195"/>
                <a:gd name="T3" fmla="*/ 9 h 279"/>
                <a:gd name="T4" fmla="*/ 0 w 3195"/>
                <a:gd name="T5" fmla="*/ 279 h 279"/>
                <a:gd name="T6" fmla="*/ 3195 w 3195"/>
                <a:gd name="T7" fmla="*/ 279 h 279"/>
                <a:gd name="T8" fmla="*/ 3195 w 3195"/>
                <a:gd name="T9" fmla="*/ 0 h 279"/>
                <a:gd name="T10" fmla="*/ 2898 w 3195"/>
                <a:gd name="T11" fmla="*/ 0 h 27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95"/>
                <a:gd name="T19" fmla="*/ 0 h 279"/>
                <a:gd name="T20" fmla="*/ 3195 w 3195"/>
                <a:gd name="T21" fmla="*/ 279 h 27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95" h="279">
                  <a:moveTo>
                    <a:pt x="130" y="9"/>
                  </a:moveTo>
                  <a:lnTo>
                    <a:pt x="0" y="9"/>
                  </a:lnTo>
                  <a:lnTo>
                    <a:pt x="0" y="279"/>
                  </a:lnTo>
                  <a:lnTo>
                    <a:pt x="3195" y="279"/>
                  </a:lnTo>
                  <a:lnTo>
                    <a:pt x="3195" y="0"/>
                  </a:lnTo>
                  <a:lnTo>
                    <a:pt x="289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312" name="Freeform 87"/>
            <p:cNvSpPr>
              <a:spLocks/>
            </p:cNvSpPr>
            <p:nvPr/>
          </p:nvSpPr>
          <p:spPr bwMode="auto">
            <a:xfrm>
              <a:off x="1345" y="3339"/>
              <a:ext cx="90" cy="78"/>
            </a:xfrm>
            <a:custGeom>
              <a:avLst/>
              <a:gdLst>
                <a:gd name="T0" fmla="*/ 0 w 90"/>
                <a:gd name="T1" fmla="*/ 78 h 78"/>
                <a:gd name="T2" fmla="*/ 13 w 90"/>
                <a:gd name="T3" fmla="*/ 39 h 78"/>
                <a:gd name="T4" fmla="*/ 0 w 90"/>
                <a:gd name="T5" fmla="*/ 0 h 78"/>
                <a:gd name="T6" fmla="*/ 90 w 90"/>
                <a:gd name="T7" fmla="*/ 39 h 78"/>
                <a:gd name="T8" fmla="*/ 0 w 90"/>
                <a:gd name="T9" fmla="*/ 78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"/>
                <a:gd name="T16" fmla="*/ 0 h 78"/>
                <a:gd name="T17" fmla="*/ 90 w 90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" h="78">
                  <a:moveTo>
                    <a:pt x="0" y="78"/>
                  </a:moveTo>
                  <a:lnTo>
                    <a:pt x="13" y="39"/>
                  </a:lnTo>
                  <a:lnTo>
                    <a:pt x="0" y="0"/>
                  </a:lnTo>
                  <a:lnTo>
                    <a:pt x="90" y="39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313" name="Freeform 88"/>
            <p:cNvSpPr>
              <a:spLocks/>
            </p:cNvSpPr>
            <p:nvPr/>
          </p:nvSpPr>
          <p:spPr bwMode="auto">
            <a:xfrm>
              <a:off x="1585" y="455"/>
              <a:ext cx="276" cy="3298"/>
            </a:xfrm>
            <a:custGeom>
              <a:avLst/>
              <a:gdLst>
                <a:gd name="T0" fmla="*/ 9 w 276"/>
                <a:gd name="T1" fmla="*/ 3094 h 3298"/>
                <a:gd name="T2" fmla="*/ 9 w 276"/>
                <a:gd name="T3" fmla="*/ 3298 h 3298"/>
                <a:gd name="T4" fmla="*/ 276 w 276"/>
                <a:gd name="T5" fmla="*/ 3298 h 3298"/>
                <a:gd name="T6" fmla="*/ 276 w 276"/>
                <a:gd name="T7" fmla="*/ 0 h 3298"/>
                <a:gd name="T8" fmla="*/ 0 w 276"/>
                <a:gd name="T9" fmla="*/ 0 h 3298"/>
                <a:gd name="T10" fmla="*/ 0 w 276"/>
                <a:gd name="T11" fmla="*/ 240 h 32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6"/>
                <a:gd name="T19" fmla="*/ 0 h 3298"/>
                <a:gd name="T20" fmla="*/ 276 w 276"/>
                <a:gd name="T21" fmla="*/ 3298 h 329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6" h="3298">
                  <a:moveTo>
                    <a:pt x="9" y="3094"/>
                  </a:moveTo>
                  <a:lnTo>
                    <a:pt x="9" y="3298"/>
                  </a:lnTo>
                  <a:lnTo>
                    <a:pt x="276" y="3298"/>
                  </a:lnTo>
                  <a:lnTo>
                    <a:pt x="276" y="0"/>
                  </a:lnTo>
                  <a:lnTo>
                    <a:pt x="0" y="0"/>
                  </a:lnTo>
                  <a:lnTo>
                    <a:pt x="0" y="24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314" name="Freeform 89"/>
            <p:cNvSpPr>
              <a:spLocks/>
            </p:cNvSpPr>
            <p:nvPr/>
          </p:nvSpPr>
          <p:spPr bwMode="auto">
            <a:xfrm>
              <a:off x="1546" y="672"/>
              <a:ext cx="78" cy="90"/>
            </a:xfrm>
            <a:custGeom>
              <a:avLst/>
              <a:gdLst>
                <a:gd name="T0" fmla="*/ 0 w 78"/>
                <a:gd name="T1" fmla="*/ 0 h 90"/>
                <a:gd name="T2" fmla="*/ 39 w 78"/>
                <a:gd name="T3" fmla="*/ 14 h 90"/>
                <a:gd name="T4" fmla="*/ 78 w 78"/>
                <a:gd name="T5" fmla="*/ 0 h 90"/>
                <a:gd name="T6" fmla="*/ 39 w 78"/>
                <a:gd name="T7" fmla="*/ 90 h 90"/>
                <a:gd name="T8" fmla="*/ 0 w 78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90"/>
                <a:gd name="T17" fmla="*/ 78 w 78"/>
                <a:gd name="T18" fmla="*/ 90 h 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90">
                  <a:moveTo>
                    <a:pt x="0" y="0"/>
                  </a:moveTo>
                  <a:lnTo>
                    <a:pt x="39" y="14"/>
                  </a:lnTo>
                  <a:lnTo>
                    <a:pt x="78" y="0"/>
                  </a:lnTo>
                  <a:lnTo>
                    <a:pt x="39" y="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315" name="Freeform 90"/>
            <p:cNvSpPr>
              <a:spLocks/>
            </p:cNvSpPr>
            <p:nvPr/>
          </p:nvSpPr>
          <p:spPr bwMode="auto">
            <a:xfrm>
              <a:off x="2377" y="455"/>
              <a:ext cx="276" cy="3298"/>
            </a:xfrm>
            <a:custGeom>
              <a:avLst/>
              <a:gdLst>
                <a:gd name="T0" fmla="*/ 9 w 276"/>
                <a:gd name="T1" fmla="*/ 3161 h 3298"/>
                <a:gd name="T2" fmla="*/ 9 w 276"/>
                <a:gd name="T3" fmla="*/ 3298 h 3298"/>
                <a:gd name="T4" fmla="*/ 276 w 276"/>
                <a:gd name="T5" fmla="*/ 3298 h 3298"/>
                <a:gd name="T6" fmla="*/ 276 w 276"/>
                <a:gd name="T7" fmla="*/ 0 h 3298"/>
                <a:gd name="T8" fmla="*/ 0 w 276"/>
                <a:gd name="T9" fmla="*/ 0 h 3298"/>
                <a:gd name="T10" fmla="*/ 0 w 276"/>
                <a:gd name="T11" fmla="*/ 307 h 32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6"/>
                <a:gd name="T19" fmla="*/ 0 h 3298"/>
                <a:gd name="T20" fmla="*/ 276 w 276"/>
                <a:gd name="T21" fmla="*/ 3298 h 329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6" h="3298">
                  <a:moveTo>
                    <a:pt x="9" y="3161"/>
                  </a:moveTo>
                  <a:lnTo>
                    <a:pt x="9" y="3298"/>
                  </a:lnTo>
                  <a:lnTo>
                    <a:pt x="276" y="3298"/>
                  </a:lnTo>
                  <a:lnTo>
                    <a:pt x="276" y="0"/>
                  </a:lnTo>
                  <a:lnTo>
                    <a:pt x="0" y="0"/>
                  </a:lnTo>
                  <a:lnTo>
                    <a:pt x="0" y="30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316" name="Freeform 91"/>
            <p:cNvSpPr>
              <a:spLocks/>
            </p:cNvSpPr>
            <p:nvPr/>
          </p:nvSpPr>
          <p:spPr bwMode="auto">
            <a:xfrm>
              <a:off x="2347" y="3549"/>
              <a:ext cx="78" cy="90"/>
            </a:xfrm>
            <a:custGeom>
              <a:avLst/>
              <a:gdLst>
                <a:gd name="T0" fmla="*/ 78 w 78"/>
                <a:gd name="T1" fmla="*/ 90 h 90"/>
                <a:gd name="T2" fmla="*/ 39 w 78"/>
                <a:gd name="T3" fmla="*/ 76 h 90"/>
                <a:gd name="T4" fmla="*/ 0 w 78"/>
                <a:gd name="T5" fmla="*/ 90 h 90"/>
                <a:gd name="T6" fmla="*/ 39 w 78"/>
                <a:gd name="T7" fmla="*/ 0 h 90"/>
                <a:gd name="T8" fmla="*/ 78 w 78"/>
                <a:gd name="T9" fmla="*/ 9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90"/>
                <a:gd name="T17" fmla="*/ 78 w 78"/>
                <a:gd name="T18" fmla="*/ 90 h 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90">
                  <a:moveTo>
                    <a:pt x="78" y="90"/>
                  </a:moveTo>
                  <a:lnTo>
                    <a:pt x="39" y="76"/>
                  </a:lnTo>
                  <a:lnTo>
                    <a:pt x="0" y="90"/>
                  </a:lnTo>
                  <a:lnTo>
                    <a:pt x="39" y="0"/>
                  </a:lnTo>
                  <a:lnTo>
                    <a:pt x="78" y="9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317" name="Freeform 92"/>
            <p:cNvSpPr>
              <a:spLocks/>
            </p:cNvSpPr>
            <p:nvPr/>
          </p:nvSpPr>
          <p:spPr bwMode="auto">
            <a:xfrm>
              <a:off x="3181" y="455"/>
              <a:ext cx="276" cy="3298"/>
            </a:xfrm>
            <a:custGeom>
              <a:avLst/>
              <a:gdLst>
                <a:gd name="T0" fmla="*/ 9 w 276"/>
                <a:gd name="T1" fmla="*/ 3094 h 3298"/>
                <a:gd name="T2" fmla="*/ 9 w 276"/>
                <a:gd name="T3" fmla="*/ 3298 h 3298"/>
                <a:gd name="T4" fmla="*/ 276 w 276"/>
                <a:gd name="T5" fmla="*/ 3298 h 3298"/>
                <a:gd name="T6" fmla="*/ 276 w 276"/>
                <a:gd name="T7" fmla="*/ 0 h 3298"/>
                <a:gd name="T8" fmla="*/ 0 w 276"/>
                <a:gd name="T9" fmla="*/ 0 h 3298"/>
                <a:gd name="T10" fmla="*/ 0 w 276"/>
                <a:gd name="T11" fmla="*/ 240 h 32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6"/>
                <a:gd name="T19" fmla="*/ 0 h 3298"/>
                <a:gd name="T20" fmla="*/ 276 w 276"/>
                <a:gd name="T21" fmla="*/ 3298 h 329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6" h="3298">
                  <a:moveTo>
                    <a:pt x="9" y="3094"/>
                  </a:moveTo>
                  <a:lnTo>
                    <a:pt x="9" y="3298"/>
                  </a:lnTo>
                  <a:lnTo>
                    <a:pt x="276" y="3298"/>
                  </a:lnTo>
                  <a:lnTo>
                    <a:pt x="276" y="0"/>
                  </a:lnTo>
                  <a:lnTo>
                    <a:pt x="0" y="0"/>
                  </a:lnTo>
                  <a:lnTo>
                    <a:pt x="0" y="24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318" name="Freeform 93"/>
            <p:cNvSpPr>
              <a:spLocks/>
            </p:cNvSpPr>
            <p:nvPr/>
          </p:nvSpPr>
          <p:spPr bwMode="auto">
            <a:xfrm>
              <a:off x="3142" y="672"/>
              <a:ext cx="78" cy="90"/>
            </a:xfrm>
            <a:custGeom>
              <a:avLst/>
              <a:gdLst>
                <a:gd name="T0" fmla="*/ 0 w 78"/>
                <a:gd name="T1" fmla="*/ 0 h 90"/>
                <a:gd name="T2" fmla="*/ 39 w 78"/>
                <a:gd name="T3" fmla="*/ 14 h 90"/>
                <a:gd name="T4" fmla="*/ 78 w 78"/>
                <a:gd name="T5" fmla="*/ 0 h 90"/>
                <a:gd name="T6" fmla="*/ 39 w 78"/>
                <a:gd name="T7" fmla="*/ 90 h 90"/>
                <a:gd name="T8" fmla="*/ 0 w 78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90"/>
                <a:gd name="T17" fmla="*/ 78 w 78"/>
                <a:gd name="T18" fmla="*/ 90 h 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90">
                  <a:moveTo>
                    <a:pt x="0" y="0"/>
                  </a:moveTo>
                  <a:lnTo>
                    <a:pt x="39" y="14"/>
                  </a:lnTo>
                  <a:lnTo>
                    <a:pt x="78" y="0"/>
                  </a:lnTo>
                  <a:lnTo>
                    <a:pt x="39" y="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319" name="Freeform 94"/>
            <p:cNvSpPr>
              <a:spLocks/>
            </p:cNvSpPr>
            <p:nvPr/>
          </p:nvSpPr>
          <p:spPr bwMode="auto">
            <a:xfrm>
              <a:off x="3985" y="455"/>
              <a:ext cx="276" cy="3298"/>
            </a:xfrm>
            <a:custGeom>
              <a:avLst/>
              <a:gdLst>
                <a:gd name="T0" fmla="*/ 9 w 276"/>
                <a:gd name="T1" fmla="*/ 3161 h 3298"/>
                <a:gd name="T2" fmla="*/ 9 w 276"/>
                <a:gd name="T3" fmla="*/ 3298 h 3298"/>
                <a:gd name="T4" fmla="*/ 276 w 276"/>
                <a:gd name="T5" fmla="*/ 3298 h 3298"/>
                <a:gd name="T6" fmla="*/ 276 w 276"/>
                <a:gd name="T7" fmla="*/ 0 h 3298"/>
                <a:gd name="T8" fmla="*/ 0 w 276"/>
                <a:gd name="T9" fmla="*/ 0 h 3298"/>
                <a:gd name="T10" fmla="*/ 0 w 276"/>
                <a:gd name="T11" fmla="*/ 307 h 32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6"/>
                <a:gd name="T19" fmla="*/ 0 h 3298"/>
                <a:gd name="T20" fmla="*/ 276 w 276"/>
                <a:gd name="T21" fmla="*/ 3298 h 329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6" h="3298">
                  <a:moveTo>
                    <a:pt x="9" y="3161"/>
                  </a:moveTo>
                  <a:lnTo>
                    <a:pt x="9" y="3298"/>
                  </a:lnTo>
                  <a:lnTo>
                    <a:pt x="276" y="3298"/>
                  </a:lnTo>
                  <a:lnTo>
                    <a:pt x="276" y="0"/>
                  </a:lnTo>
                  <a:lnTo>
                    <a:pt x="0" y="0"/>
                  </a:lnTo>
                  <a:lnTo>
                    <a:pt x="0" y="30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320" name="Freeform 95"/>
            <p:cNvSpPr>
              <a:spLocks/>
            </p:cNvSpPr>
            <p:nvPr/>
          </p:nvSpPr>
          <p:spPr bwMode="auto">
            <a:xfrm>
              <a:off x="3955" y="3549"/>
              <a:ext cx="78" cy="90"/>
            </a:xfrm>
            <a:custGeom>
              <a:avLst/>
              <a:gdLst>
                <a:gd name="T0" fmla="*/ 78 w 78"/>
                <a:gd name="T1" fmla="*/ 90 h 90"/>
                <a:gd name="T2" fmla="*/ 39 w 78"/>
                <a:gd name="T3" fmla="*/ 76 h 90"/>
                <a:gd name="T4" fmla="*/ 0 w 78"/>
                <a:gd name="T5" fmla="*/ 90 h 90"/>
                <a:gd name="T6" fmla="*/ 39 w 78"/>
                <a:gd name="T7" fmla="*/ 0 h 90"/>
                <a:gd name="T8" fmla="*/ 78 w 78"/>
                <a:gd name="T9" fmla="*/ 9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90"/>
                <a:gd name="T17" fmla="*/ 78 w 78"/>
                <a:gd name="T18" fmla="*/ 90 h 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90">
                  <a:moveTo>
                    <a:pt x="78" y="90"/>
                  </a:moveTo>
                  <a:lnTo>
                    <a:pt x="39" y="76"/>
                  </a:lnTo>
                  <a:lnTo>
                    <a:pt x="0" y="90"/>
                  </a:lnTo>
                  <a:lnTo>
                    <a:pt x="39" y="0"/>
                  </a:lnTo>
                  <a:lnTo>
                    <a:pt x="78" y="9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2227" name="Text Box 97"/>
          <p:cNvSpPr txBox="1">
            <a:spLocks noChangeArrowheads="1"/>
          </p:cNvSpPr>
          <p:nvPr/>
        </p:nvSpPr>
        <p:spPr bwMode="auto">
          <a:xfrm>
            <a:off x="6810375" y="3062288"/>
            <a:ext cx="1917700" cy="131127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SzTx/>
              <a:buFontTx/>
              <a:buNone/>
            </a:pPr>
            <a:r>
              <a:rPr lang="en-US"/>
              <a:t>Tunnel from last column to first column or vice versa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Oval 3"/>
          <p:cNvSpPr>
            <a:spLocks noChangeArrowheads="1"/>
          </p:cNvSpPr>
          <p:nvPr/>
        </p:nvSpPr>
        <p:spPr bwMode="auto">
          <a:xfrm>
            <a:off x="2257425" y="1917700"/>
            <a:ext cx="449263" cy="474663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251" name="Rectangle 4"/>
          <p:cNvSpPr>
            <a:spLocks noChangeArrowheads="1"/>
          </p:cNvSpPr>
          <p:nvPr/>
        </p:nvSpPr>
        <p:spPr bwMode="auto">
          <a:xfrm>
            <a:off x="2362200" y="2022475"/>
            <a:ext cx="301625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700">
                <a:solidFill>
                  <a:srgbClr val="000000"/>
                </a:solidFill>
              </a:rPr>
              <a:t>0,0</a:t>
            </a:r>
            <a:endParaRPr lang="en-US" sz="1800"/>
          </a:p>
        </p:txBody>
      </p:sp>
      <p:sp>
        <p:nvSpPr>
          <p:cNvPr id="53252" name="Oval 5"/>
          <p:cNvSpPr>
            <a:spLocks noChangeArrowheads="1"/>
          </p:cNvSpPr>
          <p:nvPr/>
        </p:nvSpPr>
        <p:spPr bwMode="auto">
          <a:xfrm>
            <a:off x="3465513" y="1917700"/>
            <a:ext cx="449262" cy="474663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253" name="Rectangle 6"/>
          <p:cNvSpPr>
            <a:spLocks noChangeArrowheads="1"/>
          </p:cNvSpPr>
          <p:nvPr/>
        </p:nvSpPr>
        <p:spPr bwMode="auto">
          <a:xfrm>
            <a:off x="3570288" y="2022475"/>
            <a:ext cx="301625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700">
                <a:solidFill>
                  <a:srgbClr val="000000"/>
                </a:solidFill>
              </a:rPr>
              <a:t>0,1</a:t>
            </a:r>
            <a:endParaRPr lang="en-US" sz="1800"/>
          </a:p>
        </p:txBody>
      </p:sp>
      <p:sp>
        <p:nvSpPr>
          <p:cNvPr id="53254" name="Oval 7"/>
          <p:cNvSpPr>
            <a:spLocks noChangeArrowheads="1"/>
          </p:cNvSpPr>
          <p:nvPr/>
        </p:nvSpPr>
        <p:spPr bwMode="auto">
          <a:xfrm>
            <a:off x="4686300" y="1917700"/>
            <a:ext cx="449263" cy="474663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255" name="Rectangle 8"/>
          <p:cNvSpPr>
            <a:spLocks noChangeArrowheads="1"/>
          </p:cNvSpPr>
          <p:nvPr/>
        </p:nvSpPr>
        <p:spPr bwMode="auto">
          <a:xfrm>
            <a:off x="4791075" y="2022475"/>
            <a:ext cx="301625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700">
                <a:solidFill>
                  <a:srgbClr val="000000"/>
                </a:solidFill>
              </a:rPr>
              <a:t>0,2</a:t>
            </a:r>
            <a:endParaRPr lang="en-US" sz="1800"/>
          </a:p>
        </p:txBody>
      </p:sp>
      <p:sp>
        <p:nvSpPr>
          <p:cNvPr id="53256" name="Oval 9"/>
          <p:cNvSpPr>
            <a:spLocks noChangeArrowheads="1"/>
          </p:cNvSpPr>
          <p:nvPr/>
        </p:nvSpPr>
        <p:spPr bwMode="auto">
          <a:xfrm>
            <a:off x="5907088" y="1917700"/>
            <a:ext cx="450850" cy="474663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257" name="Rectangle 10"/>
          <p:cNvSpPr>
            <a:spLocks noChangeArrowheads="1"/>
          </p:cNvSpPr>
          <p:nvPr/>
        </p:nvSpPr>
        <p:spPr bwMode="auto">
          <a:xfrm>
            <a:off x="6011863" y="2022475"/>
            <a:ext cx="301625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700">
                <a:solidFill>
                  <a:srgbClr val="000000"/>
                </a:solidFill>
              </a:rPr>
              <a:t>0,3</a:t>
            </a:r>
            <a:endParaRPr lang="en-US" sz="1800"/>
          </a:p>
        </p:txBody>
      </p:sp>
      <p:sp>
        <p:nvSpPr>
          <p:cNvPr id="53258" name="Oval 11"/>
          <p:cNvSpPr>
            <a:spLocks noChangeArrowheads="1"/>
          </p:cNvSpPr>
          <p:nvPr/>
        </p:nvSpPr>
        <p:spPr bwMode="auto">
          <a:xfrm>
            <a:off x="2257425" y="3160713"/>
            <a:ext cx="449263" cy="474662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259" name="Rectangle 12"/>
          <p:cNvSpPr>
            <a:spLocks noChangeArrowheads="1"/>
          </p:cNvSpPr>
          <p:nvPr/>
        </p:nvSpPr>
        <p:spPr bwMode="auto">
          <a:xfrm>
            <a:off x="2362200" y="3263900"/>
            <a:ext cx="301625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700">
                <a:solidFill>
                  <a:srgbClr val="000000"/>
                </a:solidFill>
              </a:rPr>
              <a:t>1,0</a:t>
            </a:r>
            <a:endParaRPr lang="en-US" sz="1800"/>
          </a:p>
        </p:txBody>
      </p:sp>
      <p:sp>
        <p:nvSpPr>
          <p:cNvPr id="53260" name="Oval 13"/>
          <p:cNvSpPr>
            <a:spLocks noChangeArrowheads="1"/>
          </p:cNvSpPr>
          <p:nvPr/>
        </p:nvSpPr>
        <p:spPr bwMode="auto">
          <a:xfrm>
            <a:off x="3465513" y="3160713"/>
            <a:ext cx="449262" cy="474662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261" name="Rectangle 14"/>
          <p:cNvSpPr>
            <a:spLocks noChangeArrowheads="1"/>
          </p:cNvSpPr>
          <p:nvPr/>
        </p:nvSpPr>
        <p:spPr bwMode="auto">
          <a:xfrm>
            <a:off x="3570288" y="3263900"/>
            <a:ext cx="301625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700">
                <a:solidFill>
                  <a:srgbClr val="000000"/>
                </a:solidFill>
              </a:rPr>
              <a:t>1,1</a:t>
            </a:r>
            <a:endParaRPr lang="en-US" sz="1800"/>
          </a:p>
        </p:txBody>
      </p:sp>
      <p:sp>
        <p:nvSpPr>
          <p:cNvPr id="53262" name="Oval 15"/>
          <p:cNvSpPr>
            <a:spLocks noChangeArrowheads="1"/>
          </p:cNvSpPr>
          <p:nvPr/>
        </p:nvSpPr>
        <p:spPr bwMode="auto">
          <a:xfrm>
            <a:off x="4686300" y="3160713"/>
            <a:ext cx="449263" cy="474662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263" name="Rectangle 16"/>
          <p:cNvSpPr>
            <a:spLocks noChangeArrowheads="1"/>
          </p:cNvSpPr>
          <p:nvPr/>
        </p:nvSpPr>
        <p:spPr bwMode="auto">
          <a:xfrm>
            <a:off x="4791075" y="3263900"/>
            <a:ext cx="301625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700">
                <a:solidFill>
                  <a:srgbClr val="000000"/>
                </a:solidFill>
              </a:rPr>
              <a:t>1,2</a:t>
            </a:r>
            <a:endParaRPr lang="en-US" sz="1800"/>
          </a:p>
        </p:txBody>
      </p:sp>
      <p:sp>
        <p:nvSpPr>
          <p:cNvPr id="53264" name="Oval 17"/>
          <p:cNvSpPr>
            <a:spLocks noChangeArrowheads="1"/>
          </p:cNvSpPr>
          <p:nvPr/>
        </p:nvSpPr>
        <p:spPr bwMode="auto">
          <a:xfrm>
            <a:off x="5907088" y="3160713"/>
            <a:ext cx="450850" cy="474662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265" name="Rectangle 18"/>
          <p:cNvSpPr>
            <a:spLocks noChangeArrowheads="1"/>
          </p:cNvSpPr>
          <p:nvPr/>
        </p:nvSpPr>
        <p:spPr bwMode="auto">
          <a:xfrm>
            <a:off x="6011863" y="3263900"/>
            <a:ext cx="301625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700">
                <a:solidFill>
                  <a:srgbClr val="000000"/>
                </a:solidFill>
              </a:rPr>
              <a:t>1,3</a:t>
            </a:r>
            <a:endParaRPr lang="en-US" sz="1800"/>
          </a:p>
        </p:txBody>
      </p:sp>
      <p:sp>
        <p:nvSpPr>
          <p:cNvPr id="53266" name="Oval 19"/>
          <p:cNvSpPr>
            <a:spLocks noChangeArrowheads="1"/>
          </p:cNvSpPr>
          <p:nvPr/>
        </p:nvSpPr>
        <p:spPr bwMode="auto">
          <a:xfrm>
            <a:off x="2257425" y="4397375"/>
            <a:ext cx="449263" cy="474663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267" name="Rectangle 20"/>
          <p:cNvSpPr>
            <a:spLocks noChangeArrowheads="1"/>
          </p:cNvSpPr>
          <p:nvPr/>
        </p:nvSpPr>
        <p:spPr bwMode="auto">
          <a:xfrm>
            <a:off x="2362200" y="4502150"/>
            <a:ext cx="301625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700">
                <a:solidFill>
                  <a:srgbClr val="000000"/>
                </a:solidFill>
              </a:rPr>
              <a:t>2,0</a:t>
            </a:r>
            <a:endParaRPr lang="en-US" sz="1800"/>
          </a:p>
        </p:txBody>
      </p:sp>
      <p:sp>
        <p:nvSpPr>
          <p:cNvPr id="53268" name="Oval 21"/>
          <p:cNvSpPr>
            <a:spLocks noChangeArrowheads="1"/>
          </p:cNvSpPr>
          <p:nvPr/>
        </p:nvSpPr>
        <p:spPr bwMode="auto">
          <a:xfrm>
            <a:off x="3465513" y="4397375"/>
            <a:ext cx="449262" cy="474663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269" name="Rectangle 22"/>
          <p:cNvSpPr>
            <a:spLocks noChangeArrowheads="1"/>
          </p:cNvSpPr>
          <p:nvPr/>
        </p:nvSpPr>
        <p:spPr bwMode="auto">
          <a:xfrm>
            <a:off x="3570288" y="4502150"/>
            <a:ext cx="301625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700">
                <a:solidFill>
                  <a:srgbClr val="000000"/>
                </a:solidFill>
              </a:rPr>
              <a:t>2,1</a:t>
            </a:r>
            <a:endParaRPr lang="en-US" sz="1800"/>
          </a:p>
        </p:txBody>
      </p:sp>
      <p:sp>
        <p:nvSpPr>
          <p:cNvPr id="53270" name="Oval 23"/>
          <p:cNvSpPr>
            <a:spLocks noChangeArrowheads="1"/>
          </p:cNvSpPr>
          <p:nvPr/>
        </p:nvSpPr>
        <p:spPr bwMode="auto">
          <a:xfrm>
            <a:off x="4686300" y="4397375"/>
            <a:ext cx="449263" cy="474663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271" name="Rectangle 24"/>
          <p:cNvSpPr>
            <a:spLocks noChangeArrowheads="1"/>
          </p:cNvSpPr>
          <p:nvPr/>
        </p:nvSpPr>
        <p:spPr bwMode="auto">
          <a:xfrm>
            <a:off x="4791075" y="4502150"/>
            <a:ext cx="301625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700">
                <a:solidFill>
                  <a:srgbClr val="000000"/>
                </a:solidFill>
              </a:rPr>
              <a:t>2,2</a:t>
            </a:r>
            <a:endParaRPr lang="en-US" sz="1800"/>
          </a:p>
        </p:txBody>
      </p:sp>
      <p:sp>
        <p:nvSpPr>
          <p:cNvPr id="53272" name="Oval 25"/>
          <p:cNvSpPr>
            <a:spLocks noChangeArrowheads="1"/>
          </p:cNvSpPr>
          <p:nvPr/>
        </p:nvSpPr>
        <p:spPr bwMode="auto">
          <a:xfrm>
            <a:off x="5907088" y="4397375"/>
            <a:ext cx="450850" cy="474663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273" name="Rectangle 26"/>
          <p:cNvSpPr>
            <a:spLocks noChangeArrowheads="1"/>
          </p:cNvSpPr>
          <p:nvPr/>
        </p:nvSpPr>
        <p:spPr bwMode="auto">
          <a:xfrm>
            <a:off x="6011863" y="4502150"/>
            <a:ext cx="301625" cy="25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700">
                <a:solidFill>
                  <a:srgbClr val="000000"/>
                </a:solidFill>
              </a:rPr>
              <a:t>2,3</a:t>
            </a:r>
            <a:endParaRPr lang="en-US" sz="1800"/>
          </a:p>
        </p:txBody>
      </p:sp>
      <p:sp>
        <p:nvSpPr>
          <p:cNvPr id="53274" name="Oval 27"/>
          <p:cNvSpPr>
            <a:spLocks noChangeArrowheads="1"/>
          </p:cNvSpPr>
          <p:nvPr/>
        </p:nvSpPr>
        <p:spPr bwMode="auto">
          <a:xfrm>
            <a:off x="2257425" y="5653088"/>
            <a:ext cx="449263" cy="474662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275" name="Rectangle 28"/>
          <p:cNvSpPr>
            <a:spLocks noChangeArrowheads="1"/>
          </p:cNvSpPr>
          <p:nvPr/>
        </p:nvSpPr>
        <p:spPr bwMode="auto">
          <a:xfrm>
            <a:off x="2362200" y="5757863"/>
            <a:ext cx="301625" cy="25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700">
                <a:solidFill>
                  <a:srgbClr val="000000"/>
                </a:solidFill>
              </a:rPr>
              <a:t>3,0</a:t>
            </a:r>
            <a:endParaRPr lang="en-US" sz="1800"/>
          </a:p>
        </p:txBody>
      </p:sp>
      <p:sp>
        <p:nvSpPr>
          <p:cNvPr id="53276" name="Oval 29"/>
          <p:cNvSpPr>
            <a:spLocks noChangeArrowheads="1"/>
          </p:cNvSpPr>
          <p:nvPr/>
        </p:nvSpPr>
        <p:spPr bwMode="auto">
          <a:xfrm>
            <a:off x="3465513" y="5653088"/>
            <a:ext cx="449262" cy="474662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277" name="Rectangle 30"/>
          <p:cNvSpPr>
            <a:spLocks noChangeArrowheads="1"/>
          </p:cNvSpPr>
          <p:nvPr/>
        </p:nvSpPr>
        <p:spPr bwMode="auto">
          <a:xfrm>
            <a:off x="3570288" y="5757863"/>
            <a:ext cx="301625" cy="25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700">
                <a:solidFill>
                  <a:srgbClr val="000000"/>
                </a:solidFill>
              </a:rPr>
              <a:t>3,1</a:t>
            </a:r>
            <a:endParaRPr lang="en-US" sz="1800"/>
          </a:p>
        </p:txBody>
      </p:sp>
      <p:sp>
        <p:nvSpPr>
          <p:cNvPr id="53278" name="Oval 31"/>
          <p:cNvSpPr>
            <a:spLocks noChangeArrowheads="1"/>
          </p:cNvSpPr>
          <p:nvPr/>
        </p:nvSpPr>
        <p:spPr bwMode="auto">
          <a:xfrm>
            <a:off x="4686300" y="5653088"/>
            <a:ext cx="449263" cy="474662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279" name="Rectangle 32"/>
          <p:cNvSpPr>
            <a:spLocks noChangeArrowheads="1"/>
          </p:cNvSpPr>
          <p:nvPr/>
        </p:nvSpPr>
        <p:spPr bwMode="auto">
          <a:xfrm>
            <a:off x="4791075" y="5757863"/>
            <a:ext cx="301625" cy="25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700">
                <a:solidFill>
                  <a:srgbClr val="000000"/>
                </a:solidFill>
              </a:rPr>
              <a:t>3,2</a:t>
            </a:r>
            <a:endParaRPr lang="en-US" sz="1800"/>
          </a:p>
        </p:txBody>
      </p:sp>
      <p:sp>
        <p:nvSpPr>
          <p:cNvPr id="53280" name="Oval 33"/>
          <p:cNvSpPr>
            <a:spLocks noChangeArrowheads="1"/>
          </p:cNvSpPr>
          <p:nvPr/>
        </p:nvSpPr>
        <p:spPr bwMode="auto">
          <a:xfrm>
            <a:off x="5907088" y="5653088"/>
            <a:ext cx="450850" cy="474662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281" name="Rectangle 34"/>
          <p:cNvSpPr>
            <a:spLocks noChangeArrowheads="1"/>
          </p:cNvSpPr>
          <p:nvPr/>
        </p:nvSpPr>
        <p:spPr bwMode="auto">
          <a:xfrm>
            <a:off x="6011863" y="5757863"/>
            <a:ext cx="301625" cy="25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700">
                <a:solidFill>
                  <a:srgbClr val="000000"/>
                </a:solidFill>
              </a:rPr>
              <a:t>3,3</a:t>
            </a:r>
            <a:endParaRPr lang="en-US" sz="1800"/>
          </a:p>
        </p:txBody>
      </p:sp>
      <p:sp>
        <p:nvSpPr>
          <p:cNvPr id="53282" name="Line 35"/>
          <p:cNvSpPr>
            <a:spLocks noChangeShapeType="1"/>
          </p:cNvSpPr>
          <p:nvPr/>
        </p:nvSpPr>
        <p:spPr bwMode="auto">
          <a:xfrm>
            <a:off x="2814638" y="2154238"/>
            <a:ext cx="646112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3283" name="Freeform 36"/>
          <p:cNvSpPr>
            <a:spLocks/>
          </p:cNvSpPr>
          <p:nvPr/>
        </p:nvSpPr>
        <p:spPr bwMode="auto">
          <a:xfrm>
            <a:off x="2714625" y="2095500"/>
            <a:ext cx="136525" cy="117475"/>
          </a:xfrm>
          <a:custGeom>
            <a:avLst/>
            <a:gdLst>
              <a:gd name="T0" fmla="*/ 2147483647 w 86"/>
              <a:gd name="T1" fmla="*/ 0 h 74"/>
              <a:gd name="T2" fmla="*/ 2147483647 w 86"/>
              <a:gd name="T3" fmla="*/ 2147483647 h 74"/>
              <a:gd name="T4" fmla="*/ 2147483647 w 86"/>
              <a:gd name="T5" fmla="*/ 2147483647 h 74"/>
              <a:gd name="T6" fmla="*/ 0 w 86"/>
              <a:gd name="T7" fmla="*/ 2147483647 h 74"/>
              <a:gd name="T8" fmla="*/ 2147483647 w 86"/>
              <a:gd name="T9" fmla="*/ 0 h 7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6"/>
              <a:gd name="T16" fmla="*/ 0 h 74"/>
              <a:gd name="T17" fmla="*/ 86 w 86"/>
              <a:gd name="T18" fmla="*/ 74 h 7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6" h="74">
                <a:moveTo>
                  <a:pt x="86" y="0"/>
                </a:moveTo>
                <a:lnTo>
                  <a:pt x="73" y="37"/>
                </a:lnTo>
                <a:lnTo>
                  <a:pt x="86" y="74"/>
                </a:lnTo>
                <a:lnTo>
                  <a:pt x="0" y="37"/>
                </a:lnTo>
                <a:lnTo>
                  <a:pt x="86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284" name="Line 37"/>
          <p:cNvSpPr>
            <a:spLocks noChangeShapeType="1"/>
          </p:cNvSpPr>
          <p:nvPr/>
        </p:nvSpPr>
        <p:spPr bwMode="auto">
          <a:xfrm>
            <a:off x="4060825" y="2154238"/>
            <a:ext cx="608013" cy="1587"/>
          </a:xfrm>
          <a:prstGeom prst="line">
            <a:avLst/>
          </a:prstGeom>
          <a:noFill/>
          <a:ln w="36513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3285" name="Freeform 38"/>
          <p:cNvSpPr>
            <a:spLocks/>
          </p:cNvSpPr>
          <p:nvPr/>
        </p:nvSpPr>
        <p:spPr bwMode="auto">
          <a:xfrm>
            <a:off x="3910013" y="2076450"/>
            <a:ext cx="184150" cy="155575"/>
          </a:xfrm>
          <a:custGeom>
            <a:avLst/>
            <a:gdLst>
              <a:gd name="T0" fmla="*/ 2147483647 w 116"/>
              <a:gd name="T1" fmla="*/ 0 h 98"/>
              <a:gd name="T2" fmla="*/ 2147483647 w 116"/>
              <a:gd name="T3" fmla="*/ 2147483647 h 98"/>
              <a:gd name="T4" fmla="*/ 2147483647 w 116"/>
              <a:gd name="T5" fmla="*/ 2147483647 h 98"/>
              <a:gd name="T6" fmla="*/ 0 w 116"/>
              <a:gd name="T7" fmla="*/ 2147483647 h 98"/>
              <a:gd name="T8" fmla="*/ 2147483647 w 116"/>
              <a:gd name="T9" fmla="*/ 0 h 9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6"/>
              <a:gd name="T16" fmla="*/ 0 h 98"/>
              <a:gd name="T17" fmla="*/ 116 w 116"/>
              <a:gd name="T18" fmla="*/ 98 h 9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6" h="98">
                <a:moveTo>
                  <a:pt x="116" y="0"/>
                </a:moveTo>
                <a:lnTo>
                  <a:pt x="100" y="49"/>
                </a:lnTo>
                <a:lnTo>
                  <a:pt x="116" y="98"/>
                </a:lnTo>
                <a:lnTo>
                  <a:pt x="0" y="49"/>
                </a:lnTo>
                <a:lnTo>
                  <a:pt x="116" y="0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286" name="Line 39"/>
          <p:cNvSpPr>
            <a:spLocks noChangeShapeType="1"/>
          </p:cNvSpPr>
          <p:nvPr/>
        </p:nvSpPr>
        <p:spPr bwMode="auto">
          <a:xfrm>
            <a:off x="5257800" y="2154238"/>
            <a:ext cx="64452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3287" name="Freeform 40"/>
          <p:cNvSpPr>
            <a:spLocks/>
          </p:cNvSpPr>
          <p:nvPr/>
        </p:nvSpPr>
        <p:spPr bwMode="auto">
          <a:xfrm>
            <a:off x="5157788" y="2095500"/>
            <a:ext cx="136525" cy="117475"/>
          </a:xfrm>
          <a:custGeom>
            <a:avLst/>
            <a:gdLst>
              <a:gd name="T0" fmla="*/ 2147483647 w 86"/>
              <a:gd name="T1" fmla="*/ 0 h 74"/>
              <a:gd name="T2" fmla="*/ 2147483647 w 86"/>
              <a:gd name="T3" fmla="*/ 2147483647 h 74"/>
              <a:gd name="T4" fmla="*/ 2147483647 w 86"/>
              <a:gd name="T5" fmla="*/ 2147483647 h 74"/>
              <a:gd name="T6" fmla="*/ 0 w 86"/>
              <a:gd name="T7" fmla="*/ 2147483647 h 74"/>
              <a:gd name="T8" fmla="*/ 2147483647 w 86"/>
              <a:gd name="T9" fmla="*/ 0 h 7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6"/>
              <a:gd name="T16" fmla="*/ 0 h 74"/>
              <a:gd name="T17" fmla="*/ 86 w 86"/>
              <a:gd name="T18" fmla="*/ 74 h 7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6" h="74">
                <a:moveTo>
                  <a:pt x="86" y="0"/>
                </a:moveTo>
                <a:lnTo>
                  <a:pt x="73" y="37"/>
                </a:lnTo>
                <a:lnTo>
                  <a:pt x="86" y="74"/>
                </a:lnTo>
                <a:lnTo>
                  <a:pt x="0" y="37"/>
                </a:lnTo>
                <a:lnTo>
                  <a:pt x="86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288" name="Line 41"/>
          <p:cNvSpPr>
            <a:spLocks noChangeShapeType="1"/>
          </p:cNvSpPr>
          <p:nvPr/>
        </p:nvSpPr>
        <p:spPr bwMode="auto">
          <a:xfrm>
            <a:off x="2481263" y="2413000"/>
            <a:ext cx="1587" cy="6397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3289" name="Freeform 42"/>
          <p:cNvSpPr>
            <a:spLocks/>
          </p:cNvSpPr>
          <p:nvPr/>
        </p:nvSpPr>
        <p:spPr bwMode="auto">
          <a:xfrm>
            <a:off x="2422525" y="3014663"/>
            <a:ext cx="119063" cy="136525"/>
          </a:xfrm>
          <a:custGeom>
            <a:avLst/>
            <a:gdLst>
              <a:gd name="T0" fmla="*/ 0 w 75"/>
              <a:gd name="T1" fmla="*/ 0 h 86"/>
              <a:gd name="T2" fmla="*/ 2147483647 w 75"/>
              <a:gd name="T3" fmla="*/ 2147483647 h 86"/>
              <a:gd name="T4" fmla="*/ 2147483647 w 75"/>
              <a:gd name="T5" fmla="*/ 0 h 86"/>
              <a:gd name="T6" fmla="*/ 2147483647 w 75"/>
              <a:gd name="T7" fmla="*/ 2147483647 h 86"/>
              <a:gd name="T8" fmla="*/ 0 w 75"/>
              <a:gd name="T9" fmla="*/ 0 h 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"/>
              <a:gd name="T16" fmla="*/ 0 h 86"/>
              <a:gd name="T17" fmla="*/ 75 w 75"/>
              <a:gd name="T18" fmla="*/ 86 h 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" h="86">
                <a:moveTo>
                  <a:pt x="0" y="0"/>
                </a:moveTo>
                <a:lnTo>
                  <a:pt x="37" y="13"/>
                </a:lnTo>
                <a:lnTo>
                  <a:pt x="75" y="0"/>
                </a:lnTo>
                <a:lnTo>
                  <a:pt x="37" y="8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290" name="Line 43"/>
          <p:cNvSpPr>
            <a:spLocks noChangeShapeType="1"/>
          </p:cNvSpPr>
          <p:nvPr/>
        </p:nvSpPr>
        <p:spPr bwMode="auto">
          <a:xfrm>
            <a:off x="3689350" y="2473325"/>
            <a:ext cx="1588" cy="6826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3291" name="Freeform 44"/>
          <p:cNvSpPr>
            <a:spLocks/>
          </p:cNvSpPr>
          <p:nvPr/>
        </p:nvSpPr>
        <p:spPr bwMode="auto">
          <a:xfrm>
            <a:off x="3629025" y="2370138"/>
            <a:ext cx="119063" cy="136525"/>
          </a:xfrm>
          <a:custGeom>
            <a:avLst/>
            <a:gdLst>
              <a:gd name="T0" fmla="*/ 2147483647 w 75"/>
              <a:gd name="T1" fmla="*/ 2147483647 h 86"/>
              <a:gd name="T2" fmla="*/ 2147483647 w 75"/>
              <a:gd name="T3" fmla="*/ 2147483647 h 86"/>
              <a:gd name="T4" fmla="*/ 0 w 75"/>
              <a:gd name="T5" fmla="*/ 2147483647 h 86"/>
              <a:gd name="T6" fmla="*/ 2147483647 w 75"/>
              <a:gd name="T7" fmla="*/ 0 h 86"/>
              <a:gd name="T8" fmla="*/ 2147483647 w 75"/>
              <a:gd name="T9" fmla="*/ 2147483647 h 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"/>
              <a:gd name="T16" fmla="*/ 0 h 86"/>
              <a:gd name="T17" fmla="*/ 75 w 75"/>
              <a:gd name="T18" fmla="*/ 86 h 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" h="86">
                <a:moveTo>
                  <a:pt x="75" y="86"/>
                </a:moveTo>
                <a:lnTo>
                  <a:pt x="38" y="73"/>
                </a:lnTo>
                <a:lnTo>
                  <a:pt x="0" y="86"/>
                </a:lnTo>
                <a:lnTo>
                  <a:pt x="38" y="0"/>
                </a:lnTo>
                <a:lnTo>
                  <a:pt x="75" y="86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292" name="Line 45"/>
          <p:cNvSpPr>
            <a:spLocks noChangeShapeType="1"/>
          </p:cNvSpPr>
          <p:nvPr/>
        </p:nvSpPr>
        <p:spPr bwMode="auto">
          <a:xfrm>
            <a:off x="4910138" y="2413000"/>
            <a:ext cx="1587" cy="6397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3293" name="Freeform 46"/>
          <p:cNvSpPr>
            <a:spLocks/>
          </p:cNvSpPr>
          <p:nvPr/>
        </p:nvSpPr>
        <p:spPr bwMode="auto">
          <a:xfrm>
            <a:off x="4851400" y="3014663"/>
            <a:ext cx="117475" cy="136525"/>
          </a:xfrm>
          <a:custGeom>
            <a:avLst/>
            <a:gdLst>
              <a:gd name="T0" fmla="*/ 0 w 74"/>
              <a:gd name="T1" fmla="*/ 0 h 86"/>
              <a:gd name="T2" fmla="*/ 2147483647 w 74"/>
              <a:gd name="T3" fmla="*/ 2147483647 h 86"/>
              <a:gd name="T4" fmla="*/ 2147483647 w 74"/>
              <a:gd name="T5" fmla="*/ 0 h 86"/>
              <a:gd name="T6" fmla="*/ 2147483647 w 74"/>
              <a:gd name="T7" fmla="*/ 2147483647 h 86"/>
              <a:gd name="T8" fmla="*/ 0 w 74"/>
              <a:gd name="T9" fmla="*/ 0 h 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4"/>
              <a:gd name="T16" fmla="*/ 0 h 86"/>
              <a:gd name="T17" fmla="*/ 74 w 74"/>
              <a:gd name="T18" fmla="*/ 86 h 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4" h="86">
                <a:moveTo>
                  <a:pt x="0" y="0"/>
                </a:moveTo>
                <a:lnTo>
                  <a:pt x="37" y="13"/>
                </a:lnTo>
                <a:lnTo>
                  <a:pt x="74" y="0"/>
                </a:lnTo>
                <a:lnTo>
                  <a:pt x="37" y="8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294" name="Line 47"/>
          <p:cNvSpPr>
            <a:spLocks noChangeShapeType="1"/>
          </p:cNvSpPr>
          <p:nvPr/>
        </p:nvSpPr>
        <p:spPr bwMode="auto">
          <a:xfrm>
            <a:off x="6130925" y="2490788"/>
            <a:ext cx="1588" cy="6651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3295" name="Freeform 48"/>
          <p:cNvSpPr>
            <a:spLocks/>
          </p:cNvSpPr>
          <p:nvPr/>
        </p:nvSpPr>
        <p:spPr bwMode="auto">
          <a:xfrm>
            <a:off x="6072188" y="2389188"/>
            <a:ext cx="119062" cy="136525"/>
          </a:xfrm>
          <a:custGeom>
            <a:avLst/>
            <a:gdLst>
              <a:gd name="T0" fmla="*/ 2147483647 w 75"/>
              <a:gd name="T1" fmla="*/ 2147483647 h 86"/>
              <a:gd name="T2" fmla="*/ 2147483647 w 75"/>
              <a:gd name="T3" fmla="*/ 2147483647 h 86"/>
              <a:gd name="T4" fmla="*/ 0 w 75"/>
              <a:gd name="T5" fmla="*/ 2147483647 h 86"/>
              <a:gd name="T6" fmla="*/ 2147483647 w 75"/>
              <a:gd name="T7" fmla="*/ 0 h 86"/>
              <a:gd name="T8" fmla="*/ 2147483647 w 75"/>
              <a:gd name="T9" fmla="*/ 2147483647 h 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"/>
              <a:gd name="T16" fmla="*/ 0 h 86"/>
              <a:gd name="T17" fmla="*/ 75 w 75"/>
              <a:gd name="T18" fmla="*/ 86 h 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" h="86">
                <a:moveTo>
                  <a:pt x="75" y="86"/>
                </a:moveTo>
                <a:lnTo>
                  <a:pt x="37" y="73"/>
                </a:lnTo>
                <a:lnTo>
                  <a:pt x="0" y="86"/>
                </a:lnTo>
                <a:lnTo>
                  <a:pt x="37" y="0"/>
                </a:lnTo>
                <a:lnTo>
                  <a:pt x="75" y="86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296" name="Line 49"/>
          <p:cNvSpPr>
            <a:spLocks noChangeShapeType="1"/>
          </p:cNvSpPr>
          <p:nvPr/>
        </p:nvSpPr>
        <p:spPr bwMode="auto">
          <a:xfrm>
            <a:off x="2714625" y="3382963"/>
            <a:ext cx="642938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3297" name="Freeform 50"/>
          <p:cNvSpPr>
            <a:spLocks/>
          </p:cNvSpPr>
          <p:nvPr/>
        </p:nvSpPr>
        <p:spPr bwMode="auto">
          <a:xfrm>
            <a:off x="3317875" y="3324225"/>
            <a:ext cx="138113" cy="117475"/>
          </a:xfrm>
          <a:custGeom>
            <a:avLst/>
            <a:gdLst>
              <a:gd name="T0" fmla="*/ 0 w 87"/>
              <a:gd name="T1" fmla="*/ 2147483647 h 74"/>
              <a:gd name="T2" fmla="*/ 2147483647 w 87"/>
              <a:gd name="T3" fmla="*/ 2147483647 h 74"/>
              <a:gd name="T4" fmla="*/ 0 w 87"/>
              <a:gd name="T5" fmla="*/ 0 h 74"/>
              <a:gd name="T6" fmla="*/ 2147483647 w 87"/>
              <a:gd name="T7" fmla="*/ 2147483647 h 74"/>
              <a:gd name="T8" fmla="*/ 0 w 87"/>
              <a:gd name="T9" fmla="*/ 2147483647 h 7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7"/>
              <a:gd name="T16" fmla="*/ 0 h 74"/>
              <a:gd name="T17" fmla="*/ 87 w 87"/>
              <a:gd name="T18" fmla="*/ 74 h 7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7" h="74">
                <a:moveTo>
                  <a:pt x="0" y="74"/>
                </a:moveTo>
                <a:lnTo>
                  <a:pt x="13" y="37"/>
                </a:lnTo>
                <a:lnTo>
                  <a:pt x="0" y="0"/>
                </a:lnTo>
                <a:lnTo>
                  <a:pt x="87" y="37"/>
                </a:lnTo>
                <a:lnTo>
                  <a:pt x="0" y="74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298" name="Line 51"/>
          <p:cNvSpPr>
            <a:spLocks noChangeShapeType="1"/>
          </p:cNvSpPr>
          <p:nvPr/>
        </p:nvSpPr>
        <p:spPr bwMode="auto">
          <a:xfrm>
            <a:off x="3935413" y="3382963"/>
            <a:ext cx="608012" cy="1587"/>
          </a:xfrm>
          <a:prstGeom prst="line">
            <a:avLst/>
          </a:prstGeom>
          <a:noFill/>
          <a:ln w="36513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3299" name="Freeform 52"/>
          <p:cNvSpPr>
            <a:spLocks/>
          </p:cNvSpPr>
          <p:nvPr/>
        </p:nvSpPr>
        <p:spPr bwMode="auto">
          <a:xfrm>
            <a:off x="4494213" y="3305175"/>
            <a:ext cx="182562" cy="155575"/>
          </a:xfrm>
          <a:custGeom>
            <a:avLst/>
            <a:gdLst>
              <a:gd name="T0" fmla="*/ 0 w 115"/>
              <a:gd name="T1" fmla="*/ 2147483647 h 98"/>
              <a:gd name="T2" fmla="*/ 2147483647 w 115"/>
              <a:gd name="T3" fmla="*/ 2147483647 h 98"/>
              <a:gd name="T4" fmla="*/ 0 w 115"/>
              <a:gd name="T5" fmla="*/ 0 h 98"/>
              <a:gd name="T6" fmla="*/ 2147483647 w 115"/>
              <a:gd name="T7" fmla="*/ 2147483647 h 98"/>
              <a:gd name="T8" fmla="*/ 0 w 115"/>
              <a:gd name="T9" fmla="*/ 2147483647 h 9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"/>
              <a:gd name="T16" fmla="*/ 0 h 98"/>
              <a:gd name="T17" fmla="*/ 115 w 115"/>
              <a:gd name="T18" fmla="*/ 98 h 9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" h="98">
                <a:moveTo>
                  <a:pt x="0" y="98"/>
                </a:moveTo>
                <a:lnTo>
                  <a:pt x="16" y="49"/>
                </a:lnTo>
                <a:lnTo>
                  <a:pt x="0" y="0"/>
                </a:lnTo>
                <a:lnTo>
                  <a:pt x="115" y="49"/>
                </a:lnTo>
                <a:lnTo>
                  <a:pt x="0" y="98"/>
                </a:lnTo>
                <a:close/>
              </a:path>
            </a:pathLst>
          </a:custGeom>
          <a:solidFill>
            <a:srgbClr val="FF99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300" name="Line 53"/>
          <p:cNvSpPr>
            <a:spLocks noChangeShapeType="1"/>
          </p:cNvSpPr>
          <p:nvPr/>
        </p:nvSpPr>
        <p:spPr bwMode="auto">
          <a:xfrm>
            <a:off x="5157788" y="3382963"/>
            <a:ext cx="608012" cy="1587"/>
          </a:xfrm>
          <a:prstGeom prst="line">
            <a:avLst/>
          </a:prstGeom>
          <a:noFill/>
          <a:ln w="36513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3301" name="Freeform 54"/>
          <p:cNvSpPr>
            <a:spLocks/>
          </p:cNvSpPr>
          <p:nvPr/>
        </p:nvSpPr>
        <p:spPr bwMode="auto">
          <a:xfrm>
            <a:off x="5715000" y="3305175"/>
            <a:ext cx="182563" cy="155575"/>
          </a:xfrm>
          <a:custGeom>
            <a:avLst/>
            <a:gdLst>
              <a:gd name="T0" fmla="*/ 0 w 115"/>
              <a:gd name="T1" fmla="*/ 2147483647 h 98"/>
              <a:gd name="T2" fmla="*/ 2147483647 w 115"/>
              <a:gd name="T3" fmla="*/ 2147483647 h 98"/>
              <a:gd name="T4" fmla="*/ 0 w 115"/>
              <a:gd name="T5" fmla="*/ 0 h 98"/>
              <a:gd name="T6" fmla="*/ 2147483647 w 115"/>
              <a:gd name="T7" fmla="*/ 2147483647 h 98"/>
              <a:gd name="T8" fmla="*/ 0 w 115"/>
              <a:gd name="T9" fmla="*/ 2147483647 h 9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"/>
              <a:gd name="T16" fmla="*/ 0 h 98"/>
              <a:gd name="T17" fmla="*/ 115 w 115"/>
              <a:gd name="T18" fmla="*/ 98 h 9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" h="98">
                <a:moveTo>
                  <a:pt x="0" y="98"/>
                </a:moveTo>
                <a:lnTo>
                  <a:pt x="16" y="49"/>
                </a:lnTo>
                <a:lnTo>
                  <a:pt x="0" y="0"/>
                </a:lnTo>
                <a:lnTo>
                  <a:pt x="115" y="49"/>
                </a:lnTo>
                <a:lnTo>
                  <a:pt x="0" y="98"/>
                </a:lnTo>
                <a:close/>
              </a:path>
            </a:pathLst>
          </a:custGeom>
          <a:solidFill>
            <a:srgbClr val="FF99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302" name="Line 55"/>
          <p:cNvSpPr>
            <a:spLocks noChangeShapeType="1"/>
          </p:cNvSpPr>
          <p:nvPr/>
        </p:nvSpPr>
        <p:spPr bwMode="auto">
          <a:xfrm>
            <a:off x="2814638" y="4638675"/>
            <a:ext cx="646112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3303" name="Freeform 56"/>
          <p:cNvSpPr>
            <a:spLocks/>
          </p:cNvSpPr>
          <p:nvPr/>
        </p:nvSpPr>
        <p:spPr bwMode="auto">
          <a:xfrm>
            <a:off x="2714625" y="4579938"/>
            <a:ext cx="136525" cy="117475"/>
          </a:xfrm>
          <a:custGeom>
            <a:avLst/>
            <a:gdLst>
              <a:gd name="T0" fmla="*/ 2147483647 w 86"/>
              <a:gd name="T1" fmla="*/ 0 h 74"/>
              <a:gd name="T2" fmla="*/ 2147483647 w 86"/>
              <a:gd name="T3" fmla="*/ 2147483647 h 74"/>
              <a:gd name="T4" fmla="*/ 2147483647 w 86"/>
              <a:gd name="T5" fmla="*/ 2147483647 h 74"/>
              <a:gd name="T6" fmla="*/ 0 w 86"/>
              <a:gd name="T7" fmla="*/ 2147483647 h 74"/>
              <a:gd name="T8" fmla="*/ 2147483647 w 86"/>
              <a:gd name="T9" fmla="*/ 0 h 7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6"/>
              <a:gd name="T16" fmla="*/ 0 h 74"/>
              <a:gd name="T17" fmla="*/ 86 w 86"/>
              <a:gd name="T18" fmla="*/ 74 h 7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6" h="74">
                <a:moveTo>
                  <a:pt x="86" y="0"/>
                </a:moveTo>
                <a:lnTo>
                  <a:pt x="73" y="37"/>
                </a:lnTo>
                <a:lnTo>
                  <a:pt x="86" y="74"/>
                </a:lnTo>
                <a:lnTo>
                  <a:pt x="0" y="37"/>
                </a:lnTo>
                <a:lnTo>
                  <a:pt x="86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304" name="Line 57"/>
          <p:cNvSpPr>
            <a:spLocks noChangeShapeType="1"/>
          </p:cNvSpPr>
          <p:nvPr/>
        </p:nvSpPr>
        <p:spPr bwMode="auto">
          <a:xfrm>
            <a:off x="4037013" y="4638675"/>
            <a:ext cx="644525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3305" name="Freeform 58"/>
          <p:cNvSpPr>
            <a:spLocks/>
          </p:cNvSpPr>
          <p:nvPr/>
        </p:nvSpPr>
        <p:spPr bwMode="auto">
          <a:xfrm>
            <a:off x="3935413" y="4579938"/>
            <a:ext cx="138112" cy="117475"/>
          </a:xfrm>
          <a:custGeom>
            <a:avLst/>
            <a:gdLst>
              <a:gd name="T0" fmla="*/ 2147483647 w 87"/>
              <a:gd name="T1" fmla="*/ 0 h 74"/>
              <a:gd name="T2" fmla="*/ 2147483647 w 87"/>
              <a:gd name="T3" fmla="*/ 2147483647 h 74"/>
              <a:gd name="T4" fmla="*/ 2147483647 w 87"/>
              <a:gd name="T5" fmla="*/ 2147483647 h 74"/>
              <a:gd name="T6" fmla="*/ 0 w 87"/>
              <a:gd name="T7" fmla="*/ 2147483647 h 74"/>
              <a:gd name="T8" fmla="*/ 2147483647 w 87"/>
              <a:gd name="T9" fmla="*/ 0 h 7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7"/>
              <a:gd name="T16" fmla="*/ 0 h 74"/>
              <a:gd name="T17" fmla="*/ 87 w 87"/>
              <a:gd name="T18" fmla="*/ 74 h 7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7" h="74">
                <a:moveTo>
                  <a:pt x="87" y="0"/>
                </a:moveTo>
                <a:lnTo>
                  <a:pt x="74" y="37"/>
                </a:lnTo>
                <a:lnTo>
                  <a:pt x="87" y="74"/>
                </a:lnTo>
                <a:lnTo>
                  <a:pt x="0" y="37"/>
                </a:lnTo>
                <a:lnTo>
                  <a:pt x="87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306" name="Line 59"/>
          <p:cNvSpPr>
            <a:spLocks noChangeShapeType="1"/>
          </p:cNvSpPr>
          <p:nvPr/>
        </p:nvSpPr>
        <p:spPr bwMode="auto">
          <a:xfrm>
            <a:off x="5257800" y="4638675"/>
            <a:ext cx="644525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3307" name="Freeform 60"/>
          <p:cNvSpPr>
            <a:spLocks/>
          </p:cNvSpPr>
          <p:nvPr/>
        </p:nvSpPr>
        <p:spPr bwMode="auto">
          <a:xfrm>
            <a:off x="5157788" y="4579938"/>
            <a:ext cx="136525" cy="117475"/>
          </a:xfrm>
          <a:custGeom>
            <a:avLst/>
            <a:gdLst>
              <a:gd name="T0" fmla="*/ 2147483647 w 86"/>
              <a:gd name="T1" fmla="*/ 0 h 74"/>
              <a:gd name="T2" fmla="*/ 2147483647 w 86"/>
              <a:gd name="T3" fmla="*/ 2147483647 h 74"/>
              <a:gd name="T4" fmla="*/ 2147483647 w 86"/>
              <a:gd name="T5" fmla="*/ 2147483647 h 74"/>
              <a:gd name="T6" fmla="*/ 0 w 86"/>
              <a:gd name="T7" fmla="*/ 2147483647 h 74"/>
              <a:gd name="T8" fmla="*/ 2147483647 w 86"/>
              <a:gd name="T9" fmla="*/ 0 h 7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6"/>
              <a:gd name="T16" fmla="*/ 0 h 74"/>
              <a:gd name="T17" fmla="*/ 86 w 86"/>
              <a:gd name="T18" fmla="*/ 74 h 7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6" h="74">
                <a:moveTo>
                  <a:pt x="86" y="0"/>
                </a:moveTo>
                <a:lnTo>
                  <a:pt x="73" y="37"/>
                </a:lnTo>
                <a:lnTo>
                  <a:pt x="86" y="74"/>
                </a:lnTo>
                <a:lnTo>
                  <a:pt x="0" y="37"/>
                </a:lnTo>
                <a:lnTo>
                  <a:pt x="86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308" name="Line 61"/>
          <p:cNvSpPr>
            <a:spLocks noChangeShapeType="1"/>
          </p:cNvSpPr>
          <p:nvPr/>
        </p:nvSpPr>
        <p:spPr bwMode="auto">
          <a:xfrm>
            <a:off x="2714625" y="5894388"/>
            <a:ext cx="74612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3309" name="Line 62"/>
          <p:cNvSpPr>
            <a:spLocks noChangeShapeType="1"/>
          </p:cNvSpPr>
          <p:nvPr/>
        </p:nvSpPr>
        <p:spPr bwMode="auto">
          <a:xfrm>
            <a:off x="3935413" y="5894388"/>
            <a:ext cx="74612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3310" name="Line 63"/>
          <p:cNvSpPr>
            <a:spLocks noChangeShapeType="1"/>
          </p:cNvSpPr>
          <p:nvPr/>
        </p:nvSpPr>
        <p:spPr bwMode="auto">
          <a:xfrm>
            <a:off x="5157788" y="5894388"/>
            <a:ext cx="744537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3311" name="Line 64"/>
          <p:cNvSpPr>
            <a:spLocks noChangeShapeType="1"/>
          </p:cNvSpPr>
          <p:nvPr/>
        </p:nvSpPr>
        <p:spPr bwMode="auto">
          <a:xfrm>
            <a:off x="2481263" y="3656013"/>
            <a:ext cx="1587" cy="6397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3312" name="Freeform 65"/>
          <p:cNvSpPr>
            <a:spLocks/>
          </p:cNvSpPr>
          <p:nvPr/>
        </p:nvSpPr>
        <p:spPr bwMode="auto">
          <a:xfrm>
            <a:off x="2422525" y="4256088"/>
            <a:ext cx="119063" cy="136525"/>
          </a:xfrm>
          <a:custGeom>
            <a:avLst/>
            <a:gdLst>
              <a:gd name="T0" fmla="*/ 0 w 75"/>
              <a:gd name="T1" fmla="*/ 0 h 86"/>
              <a:gd name="T2" fmla="*/ 2147483647 w 75"/>
              <a:gd name="T3" fmla="*/ 2147483647 h 86"/>
              <a:gd name="T4" fmla="*/ 2147483647 w 75"/>
              <a:gd name="T5" fmla="*/ 0 h 86"/>
              <a:gd name="T6" fmla="*/ 2147483647 w 75"/>
              <a:gd name="T7" fmla="*/ 2147483647 h 86"/>
              <a:gd name="T8" fmla="*/ 0 w 75"/>
              <a:gd name="T9" fmla="*/ 0 h 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"/>
              <a:gd name="T16" fmla="*/ 0 h 86"/>
              <a:gd name="T17" fmla="*/ 75 w 75"/>
              <a:gd name="T18" fmla="*/ 86 h 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" h="86">
                <a:moveTo>
                  <a:pt x="0" y="0"/>
                </a:moveTo>
                <a:lnTo>
                  <a:pt x="37" y="13"/>
                </a:lnTo>
                <a:lnTo>
                  <a:pt x="75" y="0"/>
                </a:lnTo>
                <a:lnTo>
                  <a:pt x="37" y="8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313" name="Line 66"/>
          <p:cNvSpPr>
            <a:spLocks noChangeShapeType="1"/>
          </p:cNvSpPr>
          <p:nvPr/>
        </p:nvSpPr>
        <p:spPr bwMode="auto">
          <a:xfrm>
            <a:off x="3689350" y="3760788"/>
            <a:ext cx="1588" cy="636587"/>
          </a:xfrm>
          <a:prstGeom prst="line">
            <a:avLst/>
          </a:prstGeom>
          <a:noFill/>
          <a:ln w="36513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3314" name="Freeform 67"/>
          <p:cNvSpPr>
            <a:spLocks/>
          </p:cNvSpPr>
          <p:nvPr/>
        </p:nvSpPr>
        <p:spPr bwMode="auto">
          <a:xfrm>
            <a:off x="3611563" y="3625850"/>
            <a:ext cx="155575" cy="182563"/>
          </a:xfrm>
          <a:custGeom>
            <a:avLst/>
            <a:gdLst>
              <a:gd name="T0" fmla="*/ 2147483647 w 98"/>
              <a:gd name="T1" fmla="*/ 2147483647 h 115"/>
              <a:gd name="T2" fmla="*/ 2147483647 w 98"/>
              <a:gd name="T3" fmla="*/ 2147483647 h 115"/>
              <a:gd name="T4" fmla="*/ 0 w 98"/>
              <a:gd name="T5" fmla="*/ 2147483647 h 115"/>
              <a:gd name="T6" fmla="*/ 2147483647 w 98"/>
              <a:gd name="T7" fmla="*/ 0 h 115"/>
              <a:gd name="T8" fmla="*/ 2147483647 w 98"/>
              <a:gd name="T9" fmla="*/ 2147483647 h 1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8"/>
              <a:gd name="T16" fmla="*/ 0 h 115"/>
              <a:gd name="T17" fmla="*/ 98 w 98"/>
              <a:gd name="T18" fmla="*/ 115 h 11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8" h="115">
                <a:moveTo>
                  <a:pt x="98" y="115"/>
                </a:moveTo>
                <a:lnTo>
                  <a:pt x="49" y="99"/>
                </a:lnTo>
                <a:lnTo>
                  <a:pt x="0" y="115"/>
                </a:lnTo>
                <a:lnTo>
                  <a:pt x="49" y="0"/>
                </a:lnTo>
                <a:lnTo>
                  <a:pt x="98" y="115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315" name="Line 68"/>
          <p:cNvSpPr>
            <a:spLocks noChangeShapeType="1"/>
          </p:cNvSpPr>
          <p:nvPr/>
        </p:nvSpPr>
        <p:spPr bwMode="auto">
          <a:xfrm>
            <a:off x="4910138" y="3656013"/>
            <a:ext cx="1587" cy="6397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3316" name="Freeform 69"/>
          <p:cNvSpPr>
            <a:spLocks/>
          </p:cNvSpPr>
          <p:nvPr/>
        </p:nvSpPr>
        <p:spPr bwMode="auto">
          <a:xfrm>
            <a:off x="4851400" y="4256088"/>
            <a:ext cx="117475" cy="136525"/>
          </a:xfrm>
          <a:custGeom>
            <a:avLst/>
            <a:gdLst>
              <a:gd name="T0" fmla="*/ 0 w 74"/>
              <a:gd name="T1" fmla="*/ 0 h 86"/>
              <a:gd name="T2" fmla="*/ 2147483647 w 74"/>
              <a:gd name="T3" fmla="*/ 2147483647 h 86"/>
              <a:gd name="T4" fmla="*/ 2147483647 w 74"/>
              <a:gd name="T5" fmla="*/ 0 h 86"/>
              <a:gd name="T6" fmla="*/ 2147483647 w 74"/>
              <a:gd name="T7" fmla="*/ 2147483647 h 86"/>
              <a:gd name="T8" fmla="*/ 0 w 74"/>
              <a:gd name="T9" fmla="*/ 0 h 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4"/>
              <a:gd name="T16" fmla="*/ 0 h 86"/>
              <a:gd name="T17" fmla="*/ 74 w 74"/>
              <a:gd name="T18" fmla="*/ 86 h 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4" h="86">
                <a:moveTo>
                  <a:pt x="0" y="0"/>
                </a:moveTo>
                <a:lnTo>
                  <a:pt x="37" y="13"/>
                </a:lnTo>
                <a:lnTo>
                  <a:pt x="74" y="0"/>
                </a:lnTo>
                <a:lnTo>
                  <a:pt x="37" y="8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317" name="Line 70"/>
          <p:cNvSpPr>
            <a:spLocks noChangeShapeType="1"/>
          </p:cNvSpPr>
          <p:nvPr/>
        </p:nvSpPr>
        <p:spPr bwMode="auto">
          <a:xfrm>
            <a:off x="6130925" y="3729038"/>
            <a:ext cx="1588" cy="66833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3318" name="Freeform 71"/>
          <p:cNvSpPr>
            <a:spLocks/>
          </p:cNvSpPr>
          <p:nvPr/>
        </p:nvSpPr>
        <p:spPr bwMode="auto">
          <a:xfrm>
            <a:off x="6072188" y="3625850"/>
            <a:ext cx="119062" cy="136525"/>
          </a:xfrm>
          <a:custGeom>
            <a:avLst/>
            <a:gdLst>
              <a:gd name="T0" fmla="*/ 2147483647 w 75"/>
              <a:gd name="T1" fmla="*/ 2147483647 h 86"/>
              <a:gd name="T2" fmla="*/ 2147483647 w 75"/>
              <a:gd name="T3" fmla="*/ 2147483647 h 86"/>
              <a:gd name="T4" fmla="*/ 0 w 75"/>
              <a:gd name="T5" fmla="*/ 2147483647 h 86"/>
              <a:gd name="T6" fmla="*/ 2147483647 w 75"/>
              <a:gd name="T7" fmla="*/ 0 h 86"/>
              <a:gd name="T8" fmla="*/ 2147483647 w 75"/>
              <a:gd name="T9" fmla="*/ 2147483647 h 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"/>
              <a:gd name="T16" fmla="*/ 0 h 86"/>
              <a:gd name="T17" fmla="*/ 75 w 75"/>
              <a:gd name="T18" fmla="*/ 86 h 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" h="86">
                <a:moveTo>
                  <a:pt x="75" y="86"/>
                </a:moveTo>
                <a:lnTo>
                  <a:pt x="37" y="73"/>
                </a:lnTo>
                <a:lnTo>
                  <a:pt x="0" y="86"/>
                </a:lnTo>
                <a:lnTo>
                  <a:pt x="37" y="0"/>
                </a:lnTo>
                <a:lnTo>
                  <a:pt x="75" y="86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319" name="Line 72"/>
          <p:cNvSpPr>
            <a:spLocks noChangeShapeType="1"/>
          </p:cNvSpPr>
          <p:nvPr/>
        </p:nvSpPr>
        <p:spPr bwMode="auto">
          <a:xfrm>
            <a:off x="2481263" y="4897438"/>
            <a:ext cx="1587" cy="6397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3320" name="Freeform 73"/>
          <p:cNvSpPr>
            <a:spLocks/>
          </p:cNvSpPr>
          <p:nvPr/>
        </p:nvSpPr>
        <p:spPr bwMode="auto">
          <a:xfrm>
            <a:off x="2422525" y="5499100"/>
            <a:ext cx="119063" cy="136525"/>
          </a:xfrm>
          <a:custGeom>
            <a:avLst/>
            <a:gdLst>
              <a:gd name="T0" fmla="*/ 0 w 75"/>
              <a:gd name="T1" fmla="*/ 0 h 86"/>
              <a:gd name="T2" fmla="*/ 2147483647 w 75"/>
              <a:gd name="T3" fmla="*/ 2147483647 h 86"/>
              <a:gd name="T4" fmla="*/ 2147483647 w 75"/>
              <a:gd name="T5" fmla="*/ 0 h 86"/>
              <a:gd name="T6" fmla="*/ 2147483647 w 75"/>
              <a:gd name="T7" fmla="*/ 2147483647 h 86"/>
              <a:gd name="T8" fmla="*/ 0 w 75"/>
              <a:gd name="T9" fmla="*/ 0 h 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"/>
              <a:gd name="T16" fmla="*/ 0 h 86"/>
              <a:gd name="T17" fmla="*/ 75 w 75"/>
              <a:gd name="T18" fmla="*/ 86 h 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" h="86">
                <a:moveTo>
                  <a:pt x="0" y="0"/>
                </a:moveTo>
                <a:lnTo>
                  <a:pt x="37" y="13"/>
                </a:lnTo>
                <a:lnTo>
                  <a:pt x="75" y="0"/>
                </a:lnTo>
                <a:lnTo>
                  <a:pt x="37" y="8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321" name="Line 74"/>
          <p:cNvSpPr>
            <a:spLocks noChangeShapeType="1"/>
          </p:cNvSpPr>
          <p:nvPr/>
        </p:nvSpPr>
        <p:spPr bwMode="auto">
          <a:xfrm>
            <a:off x="3689350" y="4981575"/>
            <a:ext cx="1588" cy="657225"/>
          </a:xfrm>
          <a:prstGeom prst="line">
            <a:avLst/>
          </a:prstGeom>
          <a:noFill/>
          <a:ln w="36513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3322" name="Freeform 75"/>
          <p:cNvSpPr>
            <a:spLocks/>
          </p:cNvSpPr>
          <p:nvPr/>
        </p:nvSpPr>
        <p:spPr bwMode="auto">
          <a:xfrm>
            <a:off x="3611563" y="4845050"/>
            <a:ext cx="155575" cy="182563"/>
          </a:xfrm>
          <a:custGeom>
            <a:avLst/>
            <a:gdLst>
              <a:gd name="T0" fmla="*/ 2147483647 w 98"/>
              <a:gd name="T1" fmla="*/ 2147483647 h 115"/>
              <a:gd name="T2" fmla="*/ 2147483647 w 98"/>
              <a:gd name="T3" fmla="*/ 2147483647 h 115"/>
              <a:gd name="T4" fmla="*/ 0 w 98"/>
              <a:gd name="T5" fmla="*/ 2147483647 h 115"/>
              <a:gd name="T6" fmla="*/ 2147483647 w 98"/>
              <a:gd name="T7" fmla="*/ 0 h 115"/>
              <a:gd name="T8" fmla="*/ 2147483647 w 98"/>
              <a:gd name="T9" fmla="*/ 2147483647 h 1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8"/>
              <a:gd name="T16" fmla="*/ 0 h 115"/>
              <a:gd name="T17" fmla="*/ 98 w 98"/>
              <a:gd name="T18" fmla="*/ 115 h 11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8" h="115">
                <a:moveTo>
                  <a:pt x="98" y="115"/>
                </a:moveTo>
                <a:lnTo>
                  <a:pt x="49" y="99"/>
                </a:lnTo>
                <a:lnTo>
                  <a:pt x="0" y="115"/>
                </a:lnTo>
                <a:lnTo>
                  <a:pt x="49" y="0"/>
                </a:lnTo>
                <a:lnTo>
                  <a:pt x="98" y="115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323" name="Line 76"/>
          <p:cNvSpPr>
            <a:spLocks noChangeShapeType="1"/>
          </p:cNvSpPr>
          <p:nvPr/>
        </p:nvSpPr>
        <p:spPr bwMode="auto">
          <a:xfrm>
            <a:off x="4910138" y="4897438"/>
            <a:ext cx="1587" cy="6397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3324" name="Freeform 77"/>
          <p:cNvSpPr>
            <a:spLocks/>
          </p:cNvSpPr>
          <p:nvPr/>
        </p:nvSpPr>
        <p:spPr bwMode="auto">
          <a:xfrm>
            <a:off x="4851400" y="5499100"/>
            <a:ext cx="117475" cy="136525"/>
          </a:xfrm>
          <a:custGeom>
            <a:avLst/>
            <a:gdLst>
              <a:gd name="T0" fmla="*/ 0 w 74"/>
              <a:gd name="T1" fmla="*/ 0 h 86"/>
              <a:gd name="T2" fmla="*/ 2147483647 w 74"/>
              <a:gd name="T3" fmla="*/ 2147483647 h 86"/>
              <a:gd name="T4" fmla="*/ 2147483647 w 74"/>
              <a:gd name="T5" fmla="*/ 0 h 86"/>
              <a:gd name="T6" fmla="*/ 2147483647 w 74"/>
              <a:gd name="T7" fmla="*/ 2147483647 h 86"/>
              <a:gd name="T8" fmla="*/ 0 w 74"/>
              <a:gd name="T9" fmla="*/ 0 h 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4"/>
              <a:gd name="T16" fmla="*/ 0 h 86"/>
              <a:gd name="T17" fmla="*/ 74 w 74"/>
              <a:gd name="T18" fmla="*/ 86 h 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4" h="86">
                <a:moveTo>
                  <a:pt x="0" y="0"/>
                </a:moveTo>
                <a:lnTo>
                  <a:pt x="37" y="13"/>
                </a:lnTo>
                <a:lnTo>
                  <a:pt x="74" y="0"/>
                </a:lnTo>
                <a:lnTo>
                  <a:pt x="37" y="8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325" name="Line 78"/>
          <p:cNvSpPr>
            <a:spLocks noChangeShapeType="1"/>
          </p:cNvSpPr>
          <p:nvPr/>
        </p:nvSpPr>
        <p:spPr bwMode="auto">
          <a:xfrm>
            <a:off x="6130925" y="4981575"/>
            <a:ext cx="1588" cy="6572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3326" name="Freeform 79"/>
          <p:cNvSpPr>
            <a:spLocks/>
          </p:cNvSpPr>
          <p:nvPr/>
        </p:nvSpPr>
        <p:spPr bwMode="auto">
          <a:xfrm>
            <a:off x="6072188" y="4881563"/>
            <a:ext cx="119062" cy="136525"/>
          </a:xfrm>
          <a:custGeom>
            <a:avLst/>
            <a:gdLst>
              <a:gd name="T0" fmla="*/ 2147483647 w 75"/>
              <a:gd name="T1" fmla="*/ 2147483647 h 86"/>
              <a:gd name="T2" fmla="*/ 2147483647 w 75"/>
              <a:gd name="T3" fmla="*/ 2147483647 h 86"/>
              <a:gd name="T4" fmla="*/ 0 w 75"/>
              <a:gd name="T5" fmla="*/ 2147483647 h 86"/>
              <a:gd name="T6" fmla="*/ 2147483647 w 75"/>
              <a:gd name="T7" fmla="*/ 0 h 86"/>
              <a:gd name="T8" fmla="*/ 2147483647 w 75"/>
              <a:gd name="T9" fmla="*/ 2147483647 h 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"/>
              <a:gd name="T16" fmla="*/ 0 h 86"/>
              <a:gd name="T17" fmla="*/ 75 w 75"/>
              <a:gd name="T18" fmla="*/ 86 h 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" h="86">
                <a:moveTo>
                  <a:pt x="75" y="86"/>
                </a:moveTo>
                <a:lnTo>
                  <a:pt x="37" y="73"/>
                </a:lnTo>
                <a:lnTo>
                  <a:pt x="0" y="86"/>
                </a:lnTo>
                <a:lnTo>
                  <a:pt x="37" y="0"/>
                </a:lnTo>
                <a:lnTo>
                  <a:pt x="75" y="86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327" name="Freeform 80"/>
          <p:cNvSpPr>
            <a:spLocks/>
          </p:cNvSpPr>
          <p:nvPr/>
        </p:nvSpPr>
        <p:spPr bwMode="auto">
          <a:xfrm>
            <a:off x="1946275" y="2143125"/>
            <a:ext cx="4870450" cy="422275"/>
          </a:xfrm>
          <a:custGeom>
            <a:avLst/>
            <a:gdLst>
              <a:gd name="T0" fmla="*/ 2147483647 w 3068"/>
              <a:gd name="T1" fmla="*/ 2147483647 h 266"/>
              <a:gd name="T2" fmla="*/ 0 w 3068"/>
              <a:gd name="T3" fmla="*/ 2147483647 h 266"/>
              <a:gd name="T4" fmla="*/ 0 w 3068"/>
              <a:gd name="T5" fmla="*/ 2147483647 h 266"/>
              <a:gd name="T6" fmla="*/ 2147483647 w 3068"/>
              <a:gd name="T7" fmla="*/ 2147483647 h 266"/>
              <a:gd name="T8" fmla="*/ 2147483647 w 3068"/>
              <a:gd name="T9" fmla="*/ 0 h 266"/>
              <a:gd name="T10" fmla="*/ 2147483647 w 3068"/>
              <a:gd name="T11" fmla="*/ 0 h 26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068"/>
              <a:gd name="T19" fmla="*/ 0 h 266"/>
              <a:gd name="T20" fmla="*/ 3068 w 3068"/>
              <a:gd name="T21" fmla="*/ 266 h 26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068" h="266">
                <a:moveTo>
                  <a:pt x="190" y="9"/>
                </a:moveTo>
                <a:lnTo>
                  <a:pt x="0" y="9"/>
                </a:lnTo>
                <a:lnTo>
                  <a:pt x="0" y="266"/>
                </a:lnTo>
                <a:lnTo>
                  <a:pt x="3068" y="266"/>
                </a:lnTo>
                <a:lnTo>
                  <a:pt x="3068" y="0"/>
                </a:lnTo>
                <a:lnTo>
                  <a:pt x="2848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328" name="Freeform 81"/>
          <p:cNvSpPr>
            <a:spLocks/>
          </p:cNvSpPr>
          <p:nvPr/>
        </p:nvSpPr>
        <p:spPr bwMode="auto">
          <a:xfrm>
            <a:off x="6364288" y="2084388"/>
            <a:ext cx="138112" cy="117475"/>
          </a:xfrm>
          <a:custGeom>
            <a:avLst/>
            <a:gdLst>
              <a:gd name="T0" fmla="*/ 2147483647 w 87"/>
              <a:gd name="T1" fmla="*/ 0 h 74"/>
              <a:gd name="T2" fmla="*/ 2147483647 w 87"/>
              <a:gd name="T3" fmla="*/ 2147483647 h 74"/>
              <a:gd name="T4" fmla="*/ 2147483647 w 87"/>
              <a:gd name="T5" fmla="*/ 2147483647 h 74"/>
              <a:gd name="T6" fmla="*/ 0 w 87"/>
              <a:gd name="T7" fmla="*/ 2147483647 h 74"/>
              <a:gd name="T8" fmla="*/ 2147483647 w 87"/>
              <a:gd name="T9" fmla="*/ 0 h 7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7"/>
              <a:gd name="T16" fmla="*/ 0 h 74"/>
              <a:gd name="T17" fmla="*/ 87 w 87"/>
              <a:gd name="T18" fmla="*/ 74 h 7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7" h="74">
                <a:moveTo>
                  <a:pt x="87" y="0"/>
                </a:moveTo>
                <a:lnTo>
                  <a:pt x="74" y="37"/>
                </a:lnTo>
                <a:lnTo>
                  <a:pt x="87" y="74"/>
                </a:lnTo>
                <a:lnTo>
                  <a:pt x="0" y="37"/>
                </a:lnTo>
                <a:lnTo>
                  <a:pt x="87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329" name="Freeform 82"/>
          <p:cNvSpPr>
            <a:spLocks/>
          </p:cNvSpPr>
          <p:nvPr/>
        </p:nvSpPr>
        <p:spPr bwMode="auto">
          <a:xfrm>
            <a:off x="1946275" y="3357563"/>
            <a:ext cx="4870450" cy="423862"/>
          </a:xfrm>
          <a:custGeom>
            <a:avLst/>
            <a:gdLst>
              <a:gd name="T0" fmla="*/ 2147483647 w 3068"/>
              <a:gd name="T1" fmla="*/ 2147483647 h 267"/>
              <a:gd name="T2" fmla="*/ 0 w 3068"/>
              <a:gd name="T3" fmla="*/ 2147483647 h 267"/>
              <a:gd name="T4" fmla="*/ 0 w 3068"/>
              <a:gd name="T5" fmla="*/ 2147483647 h 267"/>
              <a:gd name="T6" fmla="*/ 2147483647 w 3068"/>
              <a:gd name="T7" fmla="*/ 2147483647 h 267"/>
              <a:gd name="T8" fmla="*/ 2147483647 w 3068"/>
              <a:gd name="T9" fmla="*/ 0 h 267"/>
              <a:gd name="T10" fmla="*/ 2147483647 w 3068"/>
              <a:gd name="T11" fmla="*/ 0 h 26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068"/>
              <a:gd name="T19" fmla="*/ 0 h 267"/>
              <a:gd name="T20" fmla="*/ 3068 w 3068"/>
              <a:gd name="T21" fmla="*/ 267 h 26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068" h="267">
                <a:moveTo>
                  <a:pt x="104" y="9"/>
                </a:moveTo>
                <a:lnTo>
                  <a:pt x="0" y="9"/>
                </a:lnTo>
                <a:lnTo>
                  <a:pt x="0" y="267"/>
                </a:lnTo>
                <a:lnTo>
                  <a:pt x="3068" y="267"/>
                </a:lnTo>
                <a:lnTo>
                  <a:pt x="3068" y="0"/>
                </a:lnTo>
                <a:lnTo>
                  <a:pt x="2783" y="0"/>
                </a:lnTo>
              </a:path>
            </a:pathLst>
          </a:custGeom>
          <a:noFill/>
          <a:ln w="36513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330" name="Freeform 83"/>
          <p:cNvSpPr>
            <a:spLocks/>
          </p:cNvSpPr>
          <p:nvPr/>
        </p:nvSpPr>
        <p:spPr bwMode="auto">
          <a:xfrm>
            <a:off x="2065338" y="3294063"/>
            <a:ext cx="182562" cy="153987"/>
          </a:xfrm>
          <a:custGeom>
            <a:avLst/>
            <a:gdLst>
              <a:gd name="T0" fmla="*/ 0 w 115"/>
              <a:gd name="T1" fmla="*/ 2147483647 h 97"/>
              <a:gd name="T2" fmla="*/ 2147483647 w 115"/>
              <a:gd name="T3" fmla="*/ 2147483647 h 97"/>
              <a:gd name="T4" fmla="*/ 0 w 115"/>
              <a:gd name="T5" fmla="*/ 0 h 97"/>
              <a:gd name="T6" fmla="*/ 2147483647 w 115"/>
              <a:gd name="T7" fmla="*/ 2147483647 h 97"/>
              <a:gd name="T8" fmla="*/ 0 w 115"/>
              <a:gd name="T9" fmla="*/ 2147483647 h 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"/>
              <a:gd name="T16" fmla="*/ 0 h 97"/>
              <a:gd name="T17" fmla="*/ 115 w 115"/>
              <a:gd name="T18" fmla="*/ 97 h 9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" h="97">
                <a:moveTo>
                  <a:pt x="0" y="97"/>
                </a:moveTo>
                <a:lnTo>
                  <a:pt x="16" y="49"/>
                </a:lnTo>
                <a:lnTo>
                  <a:pt x="0" y="0"/>
                </a:lnTo>
                <a:lnTo>
                  <a:pt x="115" y="49"/>
                </a:lnTo>
                <a:lnTo>
                  <a:pt x="0" y="97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331" name="Freeform 84"/>
          <p:cNvSpPr>
            <a:spLocks/>
          </p:cNvSpPr>
          <p:nvPr/>
        </p:nvSpPr>
        <p:spPr bwMode="auto">
          <a:xfrm>
            <a:off x="1946275" y="4627563"/>
            <a:ext cx="4870450" cy="422275"/>
          </a:xfrm>
          <a:custGeom>
            <a:avLst/>
            <a:gdLst>
              <a:gd name="T0" fmla="*/ 2147483647 w 3068"/>
              <a:gd name="T1" fmla="*/ 2147483647 h 266"/>
              <a:gd name="T2" fmla="*/ 0 w 3068"/>
              <a:gd name="T3" fmla="*/ 2147483647 h 266"/>
              <a:gd name="T4" fmla="*/ 0 w 3068"/>
              <a:gd name="T5" fmla="*/ 2147483647 h 266"/>
              <a:gd name="T6" fmla="*/ 2147483647 w 3068"/>
              <a:gd name="T7" fmla="*/ 2147483647 h 266"/>
              <a:gd name="T8" fmla="*/ 2147483647 w 3068"/>
              <a:gd name="T9" fmla="*/ 0 h 266"/>
              <a:gd name="T10" fmla="*/ 2147483647 w 3068"/>
              <a:gd name="T11" fmla="*/ 0 h 26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068"/>
              <a:gd name="T19" fmla="*/ 0 h 266"/>
              <a:gd name="T20" fmla="*/ 3068 w 3068"/>
              <a:gd name="T21" fmla="*/ 266 h 26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068" h="266">
                <a:moveTo>
                  <a:pt x="190" y="8"/>
                </a:moveTo>
                <a:lnTo>
                  <a:pt x="0" y="8"/>
                </a:lnTo>
                <a:lnTo>
                  <a:pt x="0" y="266"/>
                </a:lnTo>
                <a:lnTo>
                  <a:pt x="3068" y="266"/>
                </a:lnTo>
                <a:lnTo>
                  <a:pt x="3068" y="0"/>
                </a:lnTo>
                <a:lnTo>
                  <a:pt x="2848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332" name="Freeform 85"/>
          <p:cNvSpPr>
            <a:spLocks/>
          </p:cNvSpPr>
          <p:nvPr/>
        </p:nvSpPr>
        <p:spPr bwMode="auto">
          <a:xfrm>
            <a:off x="6364288" y="4568825"/>
            <a:ext cx="138112" cy="117475"/>
          </a:xfrm>
          <a:custGeom>
            <a:avLst/>
            <a:gdLst>
              <a:gd name="T0" fmla="*/ 2147483647 w 87"/>
              <a:gd name="T1" fmla="*/ 0 h 74"/>
              <a:gd name="T2" fmla="*/ 2147483647 w 87"/>
              <a:gd name="T3" fmla="*/ 2147483647 h 74"/>
              <a:gd name="T4" fmla="*/ 2147483647 w 87"/>
              <a:gd name="T5" fmla="*/ 2147483647 h 74"/>
              <a:gd name="T6" fmla="*/ 0 w 87"/>
              <a:gd name="T7" fmla="*/ 2147483647 h 74"/>
              <a:gd name="T8" fmla="*/ 2147483647 w 87"/>
              <a:gd name="T9" fmla="*/ 0 h 7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7"/>
              <a:gd name="T16" fmla="*/ 0 h 74"/>
              <a:gd name="T17" fmla="*/ 87 w 87"/>
              <a:gd name="T18" fmla="*/ 74 h 7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7" h="74">
                <a:moveTo>
                  <a:pt x="87" y="0"/>
                </a:moveTo>
                <a:lnTo>
                  <a:pt x="74" y="37"/>
                </a:lnTo>
                <a:lnTo>
                  <a:pt x="87" y="74"/>
                </a:lnTo>
                <a:lnTo>
                  <a:pt x="0" y="37"/>
                </a:lnTo>
                <a:lnTo>
                  <a:pt x="87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333" name="Freeform 86"/>
          <p:cNvSpPr>
            <a:spLocks/>
          </p:cNvSpPr>
          <p:nvPr/>
        </p:nvSpPr>
        <p:spPr bwMode="auto">
          <a:xfrm>
            <a:off x="1946275" y="5883275"/>
            <a:ext cx="4870450" cy="422275"/>
          </a:xfrm>
          <a:custGeom>
            <a:avLst/>
            <a:gdLst>
              <a:gd name="T0" fmla="*/ 2147483647 w 3068"/>
              <a:gd name="T1" fmla="*/ 2147483647 h 266"/>
              <a:gd name="T2" fmla="*/ 0 w 3068"/>
              <a:gd name="T3" fmla="*/ 2147483647 h 266"/>
              <a:gd name="T4" fmla="*/ 0 w 3068"/>
              <a:gd name="T5" fmla="*/ 2147483647 h 266"/>
              <a:gd name="T6" fmla="*/ 2147483647 w 3068"/>
              <a:gd name="T7" fmla="*/ 2147483647 h 266"/>
              <a:gd name="T8" fmla="*/ 2147483647 w 3068"/>
              <a:gd name="T9" fmla="*/ 0 h 266"/>
              <a:gd name="T10" fmla="*/ 2147483647 w 3068"/>
              <a:gd name="T11" fmla="*/ 0 h 26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068"/>
              <a:gd name="T19" fmla="*/ 0 h 266"/>
              <a:gd name="T20" fmla="*/ 3068 w 3068"/>
              <a:gd name="T21" fmla="*/ 266 h 26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068" h="266">
                <a:moveTo>
                  <a:pt x="125" y="8"/>
                </a:moveTo>
                <a:lnTo>
                  <a:pt x="0" y="8"/>
                </a:lnTo>
                <a:lnTo>
                  <a:pt x="0" y="266"/>
                </a:lnTo>
                <a:lnTo>
                  <a:pt x="3068" y="266"/>
                </a:lnTo>
                <a:lnTo>
                  <a:pt x="3068" y="0"/>
                </a:lnTo>
                <a:lnTo>
                  <a:pt x="2783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334" name="Freeform 87"/>
          <p:cNvSpPr>
            <a:spLocks/>
          </p:cNvSpPr>
          <p:nvPr/>
        </p:nvSpPr>
        <p:spPr bwMode="auto">
          <a:xfrm>
            <a:off x="2111375" y="5837238"/>
            <a:ext cx="136525" cy="119062"/>
          </a:xfrm>
          <a:custGeom>
            <a:avLst/>
            <a:gdLst>
              <a:gd name="T0" fmla="*/ 0 w 86"/>
              <a:gd name="T1" fmla="*/ 2147483647 h 75"/>
              <a:gd name="T2" fmla="*/ 2147483647 w 86"/>
              <a:gd name="T3" fmla="*/ 2147483647 h 75"/>
              <a:gd name="T4" fmla="*/ 0 w 86"/>
              <a:gd name="T5" fmla="*/ 0 h 75"/>
              <a:gd name="T6" fmla="*/ 2147483647 w 86"/>
              <a:gd name="T7" fmla="*/ 2147483647 h 75"/>
              <a:gd name="T8" fmla="*/ 0 w 86"/>
              <a:gd name="T9" fmla="*/ 2147483647 h 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6"/>
              <a:gd name="T16" fmla="*/ 0 h 75"/>
              <a:gd name="T17" fmla="*/ 86 w 86"/>
              <a:gd name="T18" fmla="*/ 75 h 7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6" h="75">
                <a:moveTo>
                  <a:pt x="0" y="75"/>
                </a:moveTo>
                <a:lnTo>
                  <a:pt x="13" y="37"/>
                </a:lnTo>
                <a:lnTo>
                  <a:pt x="0" y="0"/>
                </a:lnTo>
                <a:lnTo>
                  <a:pt x="86" y="37"/>
                </a:lnTo>
                <a:lnTo>
                  <a:pt x="0" y="75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335" name="Freeform 88"/>
          <p:cNvSpPr>
            <a:spLocks/>
          </p:cNvSpPr>
          <p:nvPr/>
        </p:nvSpPr>
        <p:spPr bwMode="auto">
          <a:xfrm>
            <a:off x="2476500" y="1460500"/>
            <a:ext cx="420688" cy="5005388"/>
          </a:xfrm>
          <a:custGeom>
            <a:avLst/>
            <a:gdLst>
              <a:gd name="T0" fmla="*/ 2147483647 w 265"/>
              <a:gd name="T1" fmla="*/ 2147483647 h 3153"/>
              <a:gd name="T2" fmla="*/ 2147483647 w 265"/>
              <a:gd name="T3" fmla="*/ 2147483647 h 3153"/>
              <a:gd name="T4" fmla="*/ 2147483647 w 265"/>
              <a:gd name="T5" fmla="*/ 2147483647 h 3153"/>
              <a:gd name="T6" fmla="*/ 2147483647 w 265"/>
              <a:gd name="T7" fmla="*/ 0 h 3153"/>
              <a:gd name="T8" fmla="*/ 0 w 265"/>
              <a:gd name="T9" fmla="*/ 0 h 3153"/>
              <a:gd name="T10" fmla="*/ 0 w 265"/>
              <a:gd name="T11" fmla="*/ 2147483647 h 315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65"/>
              <a:gd name="T19" fmla="*/ 0 h 3153"/>
              <a:gd name="T20" fmla="*/ 265 w 265"/>
              <a:gd name="T21" fmla="*/ 3153 h 315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65" h="3153">
                <a:moveTo>
                  <a:pt x="9" y="2958"/>
                </a:moveTo>
                <a:lnTo>
                  <a:pt x="9" y="3153"/>
                </a:lnTo>
                <a:lnTo>
                  <a:pt x="265" y="3153"/>
                </a:lnTo>
                <a:lnTo>
                  <a:pt x="265" y="0"/>
                </a:lnTo>
                <a:lnTo>
                  <a:pt x="0" y="0"/>
                </a:lnTo>
                <a:lnTo>
                  <a:pt x="0" y="229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336" name="Freeform 89"/>
          <p:cNvSpPr>
            <a:spLocks/>
          </p:cNvSpPr>
          <p:nvPr/>
        </p:nvSpPr>
        <p:spPr bwMode="auto">
          <a:xfrm>
            <a:off x="2417763" y="1790700"/>
            <a:ext cx="119062" cy="136525"/>
          </a:xfrm>
          <a:custGeom>
            <a:avLst/>
            <a:gdLst>
              <a:gd name="T0" fmla="*/ 0 w 75"/>
              <a:gd name="T1" fmla="*/ 0 h 86"/>
              <a:gd name="T2" fmla="*/ 2147483647 w 75"/>
              <a:gd name="T3" fmla="*/ 2147483647 h 86"/>
              <a:gd name="T4" fmla="*/ 2147483647 w 75"/>
              <a:gd name="T5" fmla="*/ 0 h 86"/>
              <a:gd name="T6" fmla="*/ 2147483647 w 75"/>
              <a:gd name="T7" fmla="*/ 2147483647 h 86"/>
              <a:gd name="T8" fmla="*/ 0 w 75"/>
              <a:gd name="T9" fmla="*/ 0 h 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"/>
              <a:gd name="T16" fmla="*/ 0 h 86"/>
              <a:gd name="T17" fmla="*/ 75 w 75"/>
              <a:gd name="T18" fmla="*/ 86 h 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" h="86">
                <a:moveTo>
                  <a:pt x="0" y="0"/>
                </a:moveTo>
                <a:lnTo>
                  <a:pt x="37" y="13"/>
                </a:lnTo>
                <a:lnTo>
                  <a:pt x="75" y="0"/>
                </a:lnTo>
                <a:lnTo>
                  <a:pt x="37" y="8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337" name="Freeform 90"/>
          <p:cNvSpPr>
            <a:spLocks/>
          </p:cNvSpPr>
          <p:nvPr/>
        </p:nvSpPr>
        <p:spPr bwMode="auto">
          <a:xfrm>
            <a:off x="3709988" y="1460500"/>
            <a:ext cx="420687" cy="5005388"/>
          </a:xfrm>
          <a:custGeom>
            <a:avLst/>
            <a:gdLst>
              <a:gd name="T0" fmla="*/ 2147483647 w 265"/>
              <a:gd name="T1" fmla="*/ 2147483647 h 3153"/>
              <a:gd name="T2" fmla="*/ 2147483647 w 265"/>
              <a:gd name="T3" fmla="*/ 2147483647 h 3153"/>
              <a:gd name="T4" fmla="*/ 2147483647 w 265"/>
              <a:gd name="T5" fmla="*/ 2147483647 h 3153"/>
              <a:gd name="T6" fmla="*/ 2147483647 w 265"/>
              <a:gd name="T7" fmla="*/ 0 h 3153"/>
              <a:gd name="T8" fmla="*/ 0 w 265"/>
              <a:gd name="T9" fmla="*/ 0 h 3153"/>
              <a:gd name="T10" fmla="*/ 0 w 265"/>
              <a:gd name="T11" fmla="*/ 2147483647 h 315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65"/>
              <a:gd name="T19" fmla="*/ 0 h 3153"/>
              <a:gd name="T20" fmla="*/ 265 w 265"/>
              <a:gd name="T21" fmla="*/ 3153 h 315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65" h="3153">
                <a:moveTo>
                  <a:pt x="8" y="3044"/>
                </a:moveTo>
                <a:lnTo>
                  <a:pt x="8" y="3153"/>
                </a:lnTo>
                <a:lnTo>
                  <a:pt x="265" y="3153"/>
                </a:lnTo>
                <a:lnTo>
                  <a:pt x="265" y="0"/>
                </a:lnTo>
                <a:lnTo>
                  <a:pt x="0" y="0"/>
                </a:lnTo>
                <a:lnTo>
                  <a:pt x="0" y="294"/>
                </a:lnTo>
              </a:path>
            </a:pathLst>
          </a:custGeom>
          <a:noFill/>
          <a:ln w="36513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338" name="Freeform 91"/>
          <p:cNvSpPr>
            <a:spLocks/>
          </p:cNvSpPr>
          <p:nvPr/>
        </p:nvSpPr>
        <p:spPr bwMode="auto">
          <a:xfrm>
            <a:off x="3644900" y="6156325"/>
            <a:ext cx="155575" cy="180975"/>
          </a:xfrm>
          <a:custGeom>
            <a:avLst/>
            <a:gdLst>
              <a:gd name="T0" fmla="*/ 2147483647 w 98"/>
              <a:gd name="T1" fmla="*/ 2147483647 h 114"/>
              <a:gd name="T2" fmla="*/ 2147483647 w 98"/>
              <a:gd name="T3" fmla="*/ 2147483647 h 114"/>
              <a:gd name="T4" fmla="*/ 0 w 98"/>
              <a:gd name="T5" fmla="*/ 2147483647 h 114"/>
              <a:gd name="T6" fmla="*/ 2147483647 w 98"/>
              <a:gd name="T7" fmla="*/ 0 h 114"/>
              <a:gd name="T8" fmla="*/ 2147483647 w 98"/>
              <a:gd name="T9" fmla="*/ 2147483647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8"/>
              <a:gd name="T16" fmla="*/ 0 h 114"/>
              <a:gd name="T17" fmla="*/ 98 w 98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8" h="114">
                <a:moveTo>
                  <a:pt x="98" y="114"/>
                </a:moveTo>
                <a:lnTo>
                  <a:pt x="49" y="99"/>
                </a:lnTo>
                <a:lnTo>
                  <a:pt x="0" y="114"/>
                </a:lnTo>
                <a:lnTo>
                  <a:pt x="49" y="0"/>
                </a:lnTo>
                <a:lnTo>
                  <a:pt x="98" y="114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rgbClr val="FF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339" name="Freeform 92"/>
          <p:cNvSpPr>
            <a:spLocks/>
          </p:cNvSpPr>
          <p:nvPr/>
        </p:nvSpPr>
        <p:spPr bwMode="auto">
          <a:xfrm>
            <a:off x="4910138" y="1460500"/>
            <a:ext cx="420687" cy="5005388"/>
          </a:xfrm>
          <a:custGeom>
            <a:avLst/>
            <a:gdLst>
              <a:gd name="T0" fmla="*/ 2147483647 w 265"/>
              <a:gd name="T1" fmla="*/ 2147483647 h 3153"/>
              <a:gd name="T2" fmla="*/ 2147483647 w 265"/>
              <a:gd name="T3" fmla="*/ 2147483647 h 3153"/>
              <a:gd name="T4" fmla="*/ 2147483647 w 265"/>
              <a:gd name="T5" fmla="*/ 2147483647 h 3153"/>
              <a:gd name="T6" fmla="*/ 2147483647 w 265"/>
              <a:gd name="T7" fmla="*/ 0 h 3153"/>
              <a:gd name="T8" fmla="*/ 0 w 265"/>
              <a:gd name="T9" fmla="*/ 0 h 3153"/>
              <a:gd name="T10" fmla="*/ 0 w 265"/>
              <a:gd name="T11" fmla="*/ 2147483647 h 315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65"/>
              <a:gd name="T19" fmla="*/ 0 h 3153"/>
              <a:gd name="T20" fmla="*/ 265 w 265"/>
              <a:gd name="T21" fmla="*/ 3153 h 315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65" h="3153">
                <a:moveTo>
                  <a:pt x="9" y="2958"/>
                </a:moveTo>
                <a:lnTo>
                  <a:pt x="9" y="3153"/>
                </a:lnTo>
                <a:lnTo>
                  <a:pt x="265" y="3153"/>
                </a:lnTo>
                <a:lnTo>
                  <a:pt x="265" y="0"/>
                </a:lnTo>
                <a:lnTo>
                  <a:pt x="0" y="0"/>
                </a:lnTo>
                <a:lnTo>
                  <a:pt x="0" y="229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340" name="Freeform 93"/>
          <p:cNvSpPr>
            <a:spLocks/>
          </p:cNvSpPr>
          <p:nvPr/>
        </p:nvSpPr>
        <p:spPr bwMode="auto">
          <a:xfrm>
            <a:off x="4851400" y="1790700"/>
            <a:ext cx="117475" cy="136525"/>
          </a:xfrm>
          <a:custGeom>
            <a:avLst/>
            <a:gdLst>
              <a:gd name="T0" fmla="*/ 0 w 74"/>
              <a:gd name="T1" fmla="*/ 0 h 86"/>
              <a:gd name="T2" fmla="*/ 2147483647 w 74"/>
              <a:gd name="T3" fmla="*/ 2147483647 h 86"/>
              <a:gd name="T4" fmla="*/ 2147483647 w 74"/>
              <a:gd name="T5" fmla="*/ 0 h 86"/>
              <a:gd name="T6" fmla="*/ 2147483647 w 74"/>
              <a:gd name="T7" fmla="*/ 2147483647 h 86"/>
              <a:gd name="T8" fmla="*/ 0 w 74"/>
              <a:gd name="T9" fmla="*/ 0 h 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4"/>
              <a:gd name="T16" fmla="*/ 0 h 86"/>
              <a:gd name="T17" fmla="*/ 74 w 74"/>
              <a:gd name="T18" fmla="*/ 86 h 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4" h="86">
                <a:moveTo>
                  <a:pt x="0" y="0"/>
                </a:moveTo>
                <a:lnTo>
                  <a:pt x="37" y="13"/>
                </a:lnTo>
                <a:lnTo>
                  <a:pt x="74" y="0"/>
                </a:lnTo>
                <a:lnTo>
                  <a:pt x="37" y="8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341" name="Freeform 94"/>
          <p:cNvSpPr>
            <a:spLocks/>
          </p:cNvSpPr>
          <p:nvPr/>
        </p:nvSpPr>
        <p:spPr bwMode="auto">
          <a:xfrm>
            <a:off x="6135688" y="1460500"/>
            <a:ext cx="420687" cy="5005388"/>
          </a:xfrm>
          <a:custGeom>
            <a:avLst/>
            <a:gdLst>
              <a:gd name="T0" fmla="*/ 2147483647 w 265"/>
              <a:gd name="T1" fmla="*/ 2147483647 h 3153"/>
              <a:gd name="T2" fmla="*/ 2147483647 w 265"/>
              <a:gd name="T3" fmla="*/ 2147483647 h 3153"/>
              <a:gd name="T4" fmla="*/ 2147483647 w 265"/>
              <a:gd name="T5" fmla="*/ 2147483647 h 3153"/>
              <a:gd name="T6" fmla="*/ 2147483647 w 265"/>
              <a:gd name="T7" fmla="*/ 0 h 3153"/>
              <a:gd name="T8" fmla="*/ 0 w 265"/>
              <a:gd name="T9" fmla="*/ 0 h 3153"/>
              <a:gd name="T10" fmla="*/ 0 w 265"/>
              <a:gd name="T11" fmla="*/ 2147483647 h 315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65"/>
              <a:gd name="T19" fmla="*/ 0 h 3153"/>
              <a:gd name="T20" fmla="*/ 265 w 265"/>
              <a:gd name="T21" fmla="*/ 3153 h 315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65" h="3153">
                <a:moveTo>
                  <a:pt x="9" y="3022"/>
                </a:moveTo>
                <a:lnTo>
                  <a:pt x="9" y="3153"/>
                </a:lnTo>
                <a:lnTo>
                  <a:pt x="265" y="3153"/>
                </a:lnTo>
                <a:lnTo>
                  <a:pt x="265" y="0"/>
                </a:lnTo>
                <a:lnTo>
                  <a:pt x="0" y="0"/>
                </a:lnTo>
                <a:lnTo>
                  <a:pt x="0" y="294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342" name="Freeform 95"/>
          <p:cNvSpPr>
            <a:spLocks/>
          </p:cNvSpPr>
          <p:nvPr/>
        </p:nvSpPr>
        <p:spPr bwMode="auto">
          <a:xfrm>
            <a:off x="6089650" y="6156325"/>
            <a:ext cx="119063" cy="136525"/>
          </a:xfrm>
          <a:custGeom>
            <a:avLst/>
            <a:gdLst>
              <a:gd name="T0" fmla="*/ 2147483647 w 75"/>
              <a:gd name="T1" fmla="*/ 2147483647 h 86"/>
              <a:gd name="T2" fmla="*/ 2147483647 w 75"/>
              <a:gd name="T3" fmla="*/ 2147483647 h 86"/>
              <a:gd name="T4" fmla="*/ 0 w 75"/>
              <a:gd name="T5" fmla="*/ 2147483647 h 86"/>
              <a:gd name="T6" fmla="*/ 2147483647 w 75"/>
              <a:gd name="T7" fmla="*/ 0 h 86"/>
              <a:gd name="T8" fmla="*/ 2147483647 w 75"/>
              <a:gd name="T9" fmla="*/ 2147483647 h 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5"/>
              <a:gd name="T16" fmla="*/ 0 h 86"/>
              <a:gd name="T17" fmla="*/ 75 w 75"/>
              <a:gd name="T18" fmla="*/ 86 h 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5" h="86">
                <a:moveTo>
                  <a:pt x="75" y="86"/>
                </a:moveTo>
                <a:lnTo>
                  <a:pt x="38" y="73"/>
                </a:lnTo>
                <a:lnTo>
                  <a:pt x="0" y="86"/>
                </a:lnTo>
                <a:lnTo>
                  <a:pt x="38" y="0"/>
                </a:lnTo>
                <a:lnTo>
                  <a:pt x="75" y="86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109"/>
          <p:cNvGrpSpPr>
            <a:grpSpLocks/>
          </p:cNvGrpSpPr>
          <p:nvPr/>
        </p:nvGrpSpPr>
        <p:grpSpPr bwMode="auto">
          <a:xfrm>
            <a:off x="3057525" y="1552575"/>
            <a:ext cx="466725" cy="531813"/>
            <a:chOff x="1926" y="978"/>
            <a:chExt cx="294" cy="335"/>
          </a:xfrm>
        </p:grpSpPr>
        <p:sp>
          <p:nvSpPr>
            <p:cNvPr id="53354" name="Rectangle 96"/>
            <p:cNvSpPr>
              <a:spLocks noChangeArrowheads="1"/>
            </p:cNvSpPr>
            <p:nvPr/>
          </p:nvSpPr>
          <p:spPr bwMode="auto">
            <a:xfrm>
              <a:off x="1926" y="978"/>
              <a:ext cx="294" cy="169"/>
            </a:xfrm>
            <a:prstGeom prst="rect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700">
                  <a:solidFill>
                    <a:srgbClr val="FF3300"/>
                  </a:solidFill>
                </a:rPr>
                <a:t>busy</a:t>
              </a:r>
              <a:endParaRPr lang="en-US" sz="1800">
                <a:solidFill>
                  <a:srgbClr val="FF3300"/>
                </a:solidFill>
              </a:endParaRPr>
            </a:p>
          </p:txBody>
        </p:sp>
        <p:sp>
          <p:nvSpPr>
            <p:cNvPr id="53355" name="Line 97"/>
            <p:cNvSpPr>
              <a:spLocks noChangeShapeType="1"/>
            </p:cNvSpPr>
            <p:nvPr/>
          </p:nvSpPr>
          <p:spPr bwMode="auto">
            <a:xfrm>
              <a:off x="2044" y="1126"/>
              <a:ext cx="63" cy="187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3344" name="Freeform 98"/>
          <p:cNvSpPr>
            <a:spLocks/>
          </p:cNvSpPr>
          <p:nvPr/>
        </p:nvSpPr>
        <p:spPr bwMode="auto">
          <a:xfrm>
            <a:off x="3295650" y="1968500"/>
            <a:ext cx="114300" cy="147638"/>
          </a:xfrm>
          <a:custGeom>
            <a:avLst/>
            <a:gdLst>
              <a:gd name="T0" fmla="*/ 0 w 72"/>
              <a:gd name="T1" fmla="*/ 2147483647 h 93"/>
              <a:gd name="T2" fmla="*/ 2147483647 w 72"/>
              <a:gd name="T3" fmla="*/ 2147483647 h 93"/>
              <a:gd name="T4" fmla="*/ 2147483647 w 72"/>
              <a:gd name="T5" fmla="*/ 0 h 93"/>
              <a:gd name="T6" fmla="*/ 2147483647 w 72"/>
              <a:gd name="T7" fmla="*/ 2147483647 h 93"/>
              <a:gd name="T8" fmla="*/ 0 w 72"/>
              <a:gd name="T9" fmla="*/ 2147483647 h 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93"/>
              <a:gd name="T17" fmla="*/ 72 w 72"/>
              <a:gd name="T18" fmla="*/ 93 h 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93">
                <a:moveTo>
                  <a:pt x="0" y="33"/>
                </a:moveTo>
                <a:lnTo>
                  <a:pt x="39" y="28"/>
                </a:lnTo>
                <a:lnTo>
                  <a:pt x="66" y="0"/>
                </a:lnTo>
                <a:lnTo>
                  <a:pt x="72" y="93"/>
                </a:lnTo>
                <a:lnTo>
                  <a:pt x="0" y="33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345" name="Rectangle 10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Example: Node (0,2)</a:t>
            </a:r>
            <a:r>
              <a:rPr lang="en-US" smtClean="0">
                <a:cs typeface="Arial" charset="0"/>
              </a:rPr>
              <a:t>→(1,0)</a:t>
            </a:r>
          </a:p>
        </p:txBody>
      </p:sp>
      <p:sp>
        <p:nvSpPr>
          <p:cNvPr id="1006693" name="Rectangle 101"/>
          <p:cNvSpPr>
            <a:spLocks noChangeArrowheads="1"/>
          </p:cNvSpPr>
          <p:nvPr/>
        </p:nvSpPr>
        <p:spPr bwMode="auto">
          <a:xfrm>
            <a:off x="4641850" y="1871663"/>
            <a:ext cx="560388" cy="544512"/>
          </a:xfrm>
          <a:prstGeom prst="rect">
            <a:avLst/>
          </a:prstGeom>
          <a:noFill/>
          <a:ln w="25400" algn="ctr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06694" name="Rectangle 102"/>
          <p:cNvSpPr>
            <a:spLocks noChangeArrowheads="1"/>
          </p:cNvSpPr>
          <p:nvPr/>
        </p:nvSpPr>
        <p:spPr bwMode="auto">
          <a:xfrm>
            <a:off x="3397250" y="1870075"/>
            <a:ext cx="560388" cy="544513"/>
          </a:xfrm>
          <a:prstGeom prst="rect">
            <a:avLst/>
          </a:prstGeom>
          <a:noFill/>
          <a:ln w="25400" algn="ctr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06695" name="Rectangle 103"/>
          <p:cNvSpPr>
            <a:spLocks noChangeArrowheads="1"/>
          </p:cNvSpPr>
          <p:nvPr/>
        </p:nvSpPr>
        <p:spPr bwMode="auto">
          <a:xfrm>
            <a:off x="3421063" y="5629275"/>
            <a:ext cx="560387" cy="544513"/>
          </a:xfrm>
          <a:prstGeom prst="rect">
            <a:avLst/>
          </a:prstGeom>
          <a:noFill/>
          <a:ln w="25400" algn="ctr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06696" name="Rectangle 104"/>
          <p:cNvSpPr>
            <a:spLocks noChangeArrowheads="1"/>
          </p:cNvSpPr>
          <p:nvPr/>
        </p:nvSpPr>
        <p:spPr bwMode="auto">
          <a:xfrm>
            <a:off x="3402013" y="4359275"/>
            <a:ext cx="560387" cy="544513"/>
          </a:xfrm>
          <a:prstGeom prst="rect">
            <a:avLst/>
          </a:prstGeom>
          <a:noFill/>
          <a:ln w="25400" algn="ctr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06697" name="Rectangle 105"/>
          <p:cNvSpPr>
            <a:spLocks noChangeArrowheads="1"/>
          </p:cNvSpPr>
          <p:nvPr/>
        </p:nvSpPr>
        <p:spPr bwMode="auto">
          <a:xfrm>
            <a:off x="3398838" y="3105150"/>
            <a:ext cx="560387" cy="544513"/>
          </a:xfrm>
          <a:prstGeom prst="rect">
            <a:avLst/>
          </a:prstGeom>
          <a:noFill/>
          <a:ln w="25400" algn="ctr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06698" name="Rectangle 106"/>
          <p:cNvSpPr>
            <a:spLocks noChangeArrowheads="1"/>
          </p:cNvSpPr>
          <p:nvPr/>
        </p:nvSpPr>
        <p:spPr bwMode="auto">
          <a:xfrm>
            <a:off x="4621213" y="3119438"/>
            <a:ext cx="560387" cy="544512"/>
          </a:xfrm>
          <a:prstGeom prst="rect">
            <a:avLst/>
          </a:prstGeom>
          <a:noFill/>
          <a:ln w="25400" algn="ctr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06699" name="Rectangle 107"/>
          <p:cNvSpPr>
            <a:spLocks noChangeArrowheads="1"/>
          </p:cNvSpPr>
          <p:nvPr/>
        </p:nvSpPr>
        <p:spPr bwMode="auto">
          <a:xfrm>
            <a:off x="5843588" y="3133725"/>
            <a:ext cx="560387" cy="544513"/>
          </a:xfrm>
          <a:prstGeom prst="rect">
            <a:avLst/>
          </a:prstGeom>
          <a:noFill/>
          <a:ln w="25400" algn="ctr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06700" name="Rectangle 108"/>
          <p:cNvSpPr>
            <a:spLocks noChangeArrowheads="1"/>
          </p:cNvSpPr>
          <p:nvPr/>
        </p:nvSpPr>
        <p:spPr bwMode="auto">
          <a:xfrm>
            <a:off x="2192338" y="3113088"/>
            <a:ext cx="560387" cy="544512"/>
          </a:xfrm>
          <a:prstGeom prst="rect">
            <a:avLst/>
          </a:prstGeom>
          <a:noFill/>
          <a:ln w="25400" algn="ctr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06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06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006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006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006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006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006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006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6693" grpId="0" animBg="1"/>
      <p:bldP spid="1006694" grpId="0" animBg="1"/>
      <p:bldP spid="1006695" grpId="0" animBg="1"/>
      <p:bldP spid="1006696" grpId="0" animBg="1"/>
      <p:bldP spid="1006697" grpId="0" animBg="1"/>
      <p:bldP spid="1006698" grpId="0" animBg="1"/>
      <p:bldP spid="1006699" grpId="0" animBg="1"/>
      <p:bldP spid="100670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4400" smtClean="0">
                <a:solidFill>
                  <a:schemeClr val="hlink"/>
                </a:solidFill>
              </a:rPr>
              <a:t>Chapter 7</a:t>
            </a:r>
            <a:r>
              <a:rPr lang="en-US" sz="4400" smtClean="0"/>
              <a:t/>
            </a:r>
            <a:br>
              <a:rPr lang="en-US" sz="4400" smtClean="0"/>
            </a:br>
            <a:r>
              <a:rPr lang="en-US" sz="4400" smtClean="0"/>
              <a:t>Packet-Switching Networks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3022600"/>
          </a:xfrm>
        </p:spPr>
        <p:txBody>
          <a:bodyPr/>
          <a:lstStyle/>
          <a:p>
            <a:pPr eaLnBrk="1" hangingPunct="1"/>
            <a:r>
              <a:rPr lang="en-US" b="1" i="1" smtClean="0"/>
              <a:t>Shortest Path Routing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Shortest Paths &amp; Routing</a:t>
            </a:r>
          </a:p>
        </p:txBody>
      </p:sp>
      <p:sp>
        <p:nvSpPr>
          <p:cNvPr id="5529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Many possible paths connect any given source and to any given destination</a:t>
            </a:r>
          </a:p>
          <a:p>
            <a:pPr eaLnBrk="1" hangingPunct="1"/>
            <a:r>
              <a:rPr lang="en-US" smtClean="0"/>
              <a:t>Routing involves the selection of the path to be used to accomplish a given transfer</a:t>
            </a:r>
          </a:p>
          <a:p>
            <a:pPr eaLnBrk="1" hangingPunct="1"/>
            <a:r>
              <a:rPr lang="en-US" smtClean="0"/>
              <a:t>Typically it is possible to attach a cost or distance to a link connecting two nodes</a:t>
            </a:r>
          </a:p>
          <a:p>
            <a:pPr eaLnBrk="1" hangingPunct="1"/>
            <a:r>
              <a:rPr lang="en-US" smtClean="0"/>
              <a:t>Routing can then be posed as a shortest path problem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Routing Metrics</a:t>
            </a:r>
            <a:endParaRPr lang="en-US" i="1" smtClean="0"/>
          </a:p>
        </p:txBody>
      </p:sp>
      <p:sp>
        <p:nvSpPr>
          <p:cNvPr id="5632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600" smtClean="0"/>
              <a:t>Means for measuring desirability of a path</a:t>
            </a:r>
          </a:p>
          <a:p>
            <a:pPr eaLnBrk="1" hangingPunct="1"/>
            <a:r>
              <a:rPr lang="en-US" sz="2600" smtClean="0"/>
              <a:t>Path Length = sum of costs or distances</a:t>
            </a:r>
          </a:p>
          <a:p>
            <a:pPr eaLnBrk="1" hangingPunct="1"/>
            <a:r>
              <a:rPr lang="en-US" sz="2600" smtClean="0"/>
              <a:t>Possible metrics</a:t>
            </a:r>
          </a:p>
          <a:p>
            <a:pPr lvl="1" eaLnBrk="1" hangingPunct="1"/>
            <a:r>
              <a:rPr lang="en-US" sz="2200" smtClean="0"/>
              <a:t>Hop count:  rough measure of resources used</a:t>
            </a:r>
          </a:p>
          <a:p>
            <a:pPr lvl="1" eaLnBrk="1" hangingPunct="1"/>
            <a:r>
              <a:rPr lang="en-US" sz="2200" smtClean="0"/>
              <a:t>Reliability:  link availability; BER</a:t>
            </a:r>
          </a:p>
          <a:p>
            <a:pPr lvl="1" eaLnBrk="1" hangingPunct="1"/>
            <a:r>
              <a:rPr lang="en-US" sz="2200" smtClean="0"/>
              <a:t>Delay:  sum of delays along path;  complex &amp; dynamic</a:t>
            </a:r>
          </a:p>
          <a:p>
            <a:pPr lvl="1" eaLnBrk="1" hangingPunct="1"/>
            <a:r>
              <a:rPr lang="en-US" sz="2200" smtClean="0"/>
              <a:t>Bandwidth:  “available capacity” in a path</a:t>
            </a:r>
          </a:p>
          <a:p>
            <a:pPr lvl="1" eaLnBrk="1" hangingPunct="1"/>
            <a:r>
              <a:rPr lang="en-US" sz="2200" smtClean="0"/>
              <a:t>Load:  Link &amp; router utilization along path</a:t>
            </a:r>
          </a:p>
          <a:p>
            <a:pPr lvl="1" eaLnBrk="1" hangingPunct="1"/>
            <a:r>
              <a:rPr lang="en-US" sz="2200" smtClean="0"/>
              <a:t>Cost:  $$$</a:t>
            </a:r>
          </a:p>
          <a:p>
            <a:pPr eaLnBrk="1" hangingPunct="1"/>
            <a:endParaRPr lang="en-US" sz="22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/>
              <a:t>Shortest Path Approaches</a:t>
            </a:r>
          </a:p>
        </p:txBody>
      </p:sp>
      <p:sp>
        <p:nvSpPr>
          <p:cNvPr id="573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712913"/>
            <a:ext cx="8153400" cy="4114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600" b="1" smtClean="0"/>
              <a:t>Distance Vector Protocols</a:t>
            </a:r>
          </a:p>
          <a:p>
            <a:pPr eaLnBrk="1" hangingPunct="1"/>
            <a:r>
              <a:rPr lang="en-US" sz="2600" smtClean="0"/>
              <a:t>Neighbors exchange list of distances to destinations</a:t>
            </a:r>
          </a:p>
          <a:p>
            <a:pPr eaLnBrk="1" hangingPunct="1"/>
            <a:r>
              <a:rPr lang="en-US" sz="2600" smtClean="0"/>
              <a:t>Best next-hop determined for each destination</a:t>
            </a:r>
          </a:p>
          <a:p>
            <a:pPr eaLnBrk="1" hangingPunct="1"/>
            <a:r>
              <a:rPr lang="en-US" sz="2600" smtClean="0"/>
              <a:t>Ford-Fulkerson (distributed) shortest path algorithm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600" b="1" smtClean="0"/>
              <a:t>Link State Protocols</a:t>
            </a:r>
          </a:p>
          <a:p>
            <a:pPr eaLnBrk="1" hangingPunct="1"/>
            <a:r>
              <a:rPr lang="en-US" sz="2600" smtClean="0"/>
              <a:t>Link state information flooded to all routers</a:t>
            </a:r>
          </a:p>
          <a:p>
            <a:pPr eaLnBrk="1" hangingPunct="1"/>
            <a:r>
              <a:rPr lang="en-US" sz="2600" smtClean="0"/>
              <a:t>Routers have complete topology information</a:t>
            </a:r>
          </a:p>
          <a:p>
            <a:pPr eaLnBrk="1" hangingPunct="1"/>
            <a:r>
              <a:rPr lang="en-US" sz="2600" smtClean="0"/>
              <a:t>Shortest path (&amp; hence next hop) calculated </a:t>
            </a:r>
          </a:p>
          <a:p>
            <a:pPr eaLnBrk="1" hangingPunct="1"/>
            <a:r>
              <a:rPr lang="en-US" sz="2600" smtClean="0"/>
              <a:t>Dijkstra (centralized) shortest path algorithm</a:t>
            </a:r>
          </a:p>
          <a:p>
            <a:pPr eaLnBrk="1" hangingPunct="1"/>
            <a:endParaRPr lang="en-US" sz="26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AutoShape 3"/>
          <p:cNvSpPr>
            <a:spLocks noChangeArrowheads="1"/>
          </p:cNvSpPr>
          <p:nvPr/>
        </p:nvSpPr>
        <p:spPr bwMode="auto">
          <a:xfrm>
            <a:off x="6629400" y="1676400"/>
            <a:ext cx="1981200" cy="1295400"/>
          </a:xfrm>
          <a:prstGeom prst="rightArrow">
            <a:avLst>
              <a:gd name="adj1" fmla="val 50000"/>
              <a:gd name="adj2" fmla="val 3823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  <a:buSzTx/>
              <a:buFontTx/>
              <a:buNone/>
            </a:pPr>
            <a:r>
              <a:rPr lang="en-US" sz="1800"/>
              <a:t>San Jose  392</a:t>
            </a:r>
          </a:p>
        </p:txBody>
      </p:sp>
      <p:sp>
        <p:nvSpPr>
          <p:cNvPr id="58371" name="AutoShape 4"/>
          <p:cNvSpPr>
            <a:spLocks noChangeArrowheads="1"/>
          </p:cNvSpPr>
          <p:nvPr/>
        </p:nvSpPr>
        <p:spPr bwMode="auto">
          <a:xfrm>
            <a:off x="762000" y="4267200"/>
            <a:ext cx="2119313" cy="1323975"/>
          </a:xfrm>
          <a:prstGeom prst="leftArrow">
            <a:avLst>
              <a:gd name="adj1" fmla="val 50000"/>
              <a:gd name="adj2" fmla="val 4001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0"/>
              </a:spcBef>
              <a:buSzTx/>
              <a:buFontTx/>
              <a:buNone/>
            </a:pPr>
            <a:r>
              <a:rPr lang="en-US" sz="1800"/>
              <a:t>San Jose  596</a:t>
            </a:r>
          </a:p>
        </p:txBody>
      </p:sp>
      <p:sp>
        <p:nvSpPr>
          <p:cNvPr id="58372" name="AutoShape 5"/>
          <p:cNvSpPr>
            <a:spLocks noChangeArrowheads="1"/>
          </p:cNvSpPr>
          <p:nvPr/>
        </p:nvSpPr>
        <p:spPr bwMode="auto">
          <a:xfrm rot="-3475431">
            <a:off x="914400" y="1524000"/>
            <a:ext cx="1295400" cy="1905000"/>
          </a:xfrm>
          <a:prstGeom prst="upArrow">
            <a:avLst>
              <a:gd name="adj1" fmla="val 50000"/>
              <a:gd name="adj2" fmla="val 3676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>
              <a:spcBef>
                <a:spcPct val="0"/>
              </a:spcBef>
              <a:buSzTx/>
              <a:buFontTx/>
              <a:buNone/>
            </a:pPr>
            <a:r>
              <a:rPr lang="en-US" sz="1800"/>
              <a:t>San Jose  294</a:t>
            </a:r>
          </a:p>
        </p:txBody>
      </p:sp>
      <p:sp>
        <p:nvSpPr>
          <p:cNvPr id="58373" name="AutoShape 6"/>
          <p:cNvSpPr>
            <a:spLocks noChangeArrowheads="1"/>
          </p:cNvSpPr>
          <p:nvPr/>
        </p:nvSpPr>
        <p:spPr bwMode="auto">
          <a:xfrm rot="-2269146">
            <a:off x="7010400" y="4648200"/>
            <a:ext cx="1371600" cy="1828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>
              <a:spcBef>
                <a:spcPct val="0"/>
              </a:spcBef>
              <a:buSzTx/>
              <a:buFontTx/>
              <a:buNone/>
            </a:pPr>
            <a:r>
              <a:rPr lang="en-US" sz="1800"/>
              <a:t>San Jose  250</a:t>
            </a:r>
          </a:p>
        </p:txBody>
      </p:sp>
      <p:pic>
        <p:nvPicPr>
          <p:cNvPr id="58374" name="Picture 7" descr="TN01292_[1]"/>
          <p:cNvPicPr>
            <a:picLocks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878138" y="2882900"/>
            <a:ext cx="3997325" cy="2628900"/>
          </a:xfrm>
          <a:noFill/>
        </p:spPr>
      </p:pic>
      <p:sp>
        <p:nvSpPr>
          <p:cNvPr id="58375" name="Rectangle 9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sz="3400" smtClean="0"/>
              <a:t>Distance Vector</a:t>
            </a:r>
            <a:br>
              <a:rPr lang="en-US" sz="3400" smtClean="0"/>
            </a:br>
            <a:r>
              <a:rPr lang="en-US" sz="3400" i="1" smtClean="0"/>
              <a:t>Do you know the way to San Jose?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Distance Vector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3921125" cy="382905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600" i="1" smtClean="0"/>
              <a:t>Local Signpost</a:t>
            </a:r>
          </a:p>
          <a:p>
            <a:pPr eaLnBrk="1" hangingPunct="1"/>
            <a:r>
              <a:rPr lang="en-US" sz="2600" smtClean="0"/>
              <a:t>Direction</a:t>
            </a:r>
          </a:p>
          <a:p>
            <a:pPr eaLnBrk="1" hangingPunct="1"/>
            <a:r>
              <a:rPr lang="en-US" sz="2600" smtClean="0"/>
              <a:t>Distance</a:t>
            </a:r>
          </a:p>
          <a:p>
            <a:pPr eaLnBrk="1" hangingPunct="1"/>
            <a:endParaRPr lang="en-US" sz="2600" i="1" smtClean="0"/>
          </a:p>
          <a:p>
            <a:pPr eaLnBrk="1" hangingPunct="1">
              <a:buFont typeface="Wingdings" pitchFamily="2" charset="2"/>
              <a:buNone/>
            </a:pPr>
            <a:r>
              <a:rPr lang="en-US" sz="2600" i="1" smtClean="0"/>
              <a:t>Routing Table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600" smtClean="0"/>
              <a:t>For each destination list:</a:t>
            </a:r>
          </a:p>
          <a:p>
            <a:pPr eaLnBrk="1" hangingPunct="1"/>
            <a:r>
              <a:rPr lang="en-US" sz="2600" smtClean="0"/>
              <a:t>Next Node</a:t>
            </a:r>
          </a:p>
          <a:p>
            <a:pPr eaLnBrk="1" hangingPunct="1"/>
            <a:r>
              <a:rPr lang="en-US" sz="2600" smtClean="0"/>
              <a:t>Distance</a:t>
            </a:r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954588" y="1495425"/>
            <a:ext cx="4033837" cy="46831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600" i="1" smtClean="0"/>
              <a:t>Table Synthesis</a:t>
            </a:r>
          </a:p>
          <a:p>
            <a:pPr eaLnBrk="1" hangingPunct="1"/>
            <a:r>
              <a:rPr lang="en-US" sz="2600" smtClean="0"/>
              <a:t>Neighbors exchange table entries</a:t>
            </a:r>
          </a:p>
          <a:p>
            <a:pPr eaLnBrk="1" hangingPunct="1"/>
            <a:r>
              <a:rPr lang="en-US" sz="2600" smtClean="0"/>
              <a:t>Determine current best next hop</a:t>
            </a:r>
          </a:p>
          <a:p>
            <a:pPr eaLnBrk="1" hangingPunct="1"/>
            <a:r>
              <a:rPr lang="en-US" sz="2600" smtClean="0"/>
              <a:t>Inform neighbors</a:t>
            </a:r>
          </a:p>
          <a:p>
            <a:pPr marL="742950" lvl="1" indent="-285750" eaLnBrk="1" hangingPunct="1"/>
            <a:r>
              <a:rPr lang="en-US" sz="2200" smtClean="0"/>
              <a:t>Periodically</a:t>
            </a:r>
          </a:p>
          <a:p>
            <a:pPr marL="742950" lvl="1" indent="-285750" eaLnBrk="1" hangingPunct="1"/>
            <a:r>
              <a:rPr lang="en-US" sz="2200" smtClean="0"/>
              <a:t>After changes</a:t>
            </a:r>
          </a:p>
        </p:txBody>
      </p:sp>
      <p:sp>
        <p:nvSpPr>
          <p:cNvPr id="59397" name="Rectangle 5"/>
          <p:cNvSpPr>
            <a:spLocks noChangeArrowheads="1"/>
          </p:cNvSpPr>
          <p:nvPr/>
        </p:nvSpPr>
        <p:spPr bwMode="auto">
          <a:xfrm>
            <a:off x="3484563" y="6254750"/>
            <a:ext cx="914400" cy="914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9398" name="Group 16"/>
          <p:cNvGrpSpPr>
            <a:grpSpLocks/>
          </p:cNvGrpSpPr>
          <p:nvPr/>
        </p:nvGrpSpPr>
        <p:grpSpPr bwMode="auto">
          <a:xfrm>
            <a:off x="2646363" y="4800600"/>
            <a:ext cx="2100262" cy="1714500"/>
            <a:chOff x="1862" y="3128"/>
            <a:chExt cx="1323" cy="1080"/>
          </a:xfrm>
        </p:grpSpPr>
        <p:sp>
          <p:nvSpPr>
            <p:cNvPr id="59399" name="Rectangle 6"/>
            <p:cNvSpPr>
              <a:spLocks noChangeArrowheads="1"/>
            </p:cNvSpPr>
            <p:nvPr/>
          </p:nvSpPr>
          <p:spPr bwMode="auto">
            <a:xfrm>
              <a:off x="1864" y="3157"/>
              <a:ext cx="1320" cy="1049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0" name="Rectangle 7"/>
            <p:cNvSpPr>
              <a:spLocks noChangeArrowheads="1"/>
            </p:cNvSpPr>
            <p:nvPr/>
          </p:nvSpPr>
          <p:spPr bwMode="auto">
            <a:xfrm>
              <a:off x="1862" y="3345"/>
              <a:ext cx="1320" cy="173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1" name="Rectangle 8"/>
            <p:cNvSpPr>
              <a:spLocks noChangeArrowheads="1"/>
            </p:cNvSpPr>
            <p:nvPr/>
          </p:nvSpPr>
          <p:spPr bwMode="auto">
            <a:xfrm>
              <a:off x="2301" y="3159"/>
              <a:ext cx="385" cy="1049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2" name="Rectangle 10"/>
            <p:cNvSpPr>
              <a:spLocks noChangeArrowheads="1"/>
            </p:cNvSpPr>
            <p:nvPr/>
          </p:nvSpPr>
          <p:spPr bwMode="auto">
            <a:xfrm>
              <a:off x="1863" y="3516"/>
              <a:ext cx="1320" cy="173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3" name="Rectangle 11"/>
            <p:cNvSpPr>
              <a:spLocks noChangeArrowheads="1"/>
            </p:cNvSpPr>
            <p:nvPr/>
          </p:nvSpPr>
          <p:spPr bwMode="auto">
            <a:xfrm>
              <a:off x="1864" y="3687"/>
              <a:ext cx="1320" cy="173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4" name="Rectangle 12"/>
            <p:cNvSpPr>
              <a:spLocks noChangeArrowheads="1"/>
            </p:cNvSpPr>
            <p:nvPr/>
          </p:nvSpPr>
          <p:spPr bwMode="auto">
            <a:xfrm>
              <a:off x="1865" y="3858"/>
              <a:ext cx="1320" cy="173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5" name="Text Box 13"/>
            <p:cNvSpPr txBox="1">
              <a:spLocks noChangeArrowheads="1"/>
            </p:cNvSpPr>
            <p:nvPr/>
          </p:nvSpPr>
          <p:spPr bwMode="auto">
            <a:xfrm>
              <a:off x="1887" y="3128"/>
              <a:ext cx="388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buClr>
                  <a:schemeClr val="bg1"/>
                </a:buClr>
              </a:pPr>
              <a:r>
                <a:rPr lang="en-US" sz="1800"/>
                <a:t>dest</a:t>
              </a:r>
            </a:p>
          </p:txBody>
        </p:sp>
        <p:sp>
          <p:nvSpPr>
            <p:cNvPr id="59406" name="Text Box 14"/>
            <p:cNvSpPr txBox="1">
              <a:spLocks noChangeArrowheads="1"/>
            </p:cNvSpPr>
            <p:nvPr/>
          </p:nvSpPr>
          <p:spPr bwMode="auto">
            <a:xfrm>
              <a:off x="2283" y="3134"/>
              <a:ext cx="388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buClr>
                  <a:schemeClr val="bg1"/>
                </a:buClr>
              </a:pPr>
              <a:r>
                <a:rPr lang="en-US" sz="1800"/>
                <a:t>next</a:t>
              </a:r>
            </a:p>
          </p:txBody>
        </p:sp>
        <p:sp>
          <p:nvSpPr>
            <p:cNvPr id="59407" name="Text Box 15"/>
            <p:cNvSpPr txBox="1">
              <a:spLocks noChangeArrowheads="1"/>
            </p:cNvSpPr>
            <p:nvPr/>
          </p:nvSpPr>
          <p:spPr bwMode="auto">
            <a:xfrm>
              <a:off x="2714" y="3135"/>
              <a:ext cx="340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buClr>
                  <a:schemeClr val="bg1"/>
                </a:buClr>
              </a:pPr>
              <a:r>
                <a:rPr lang="en-US" sz="1800"/>
                <a:t>dist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Shortest Path to SJ</a:t>
            </a:r>
          </a:p>
        </p:txBody>
      </p:sp>
      <p:grpSp>
        <p:nvGrpSpPr>
          <p:cNvPr id="60419" name="Group 3"/>
          <p:cNvGrpSpPr>
            <a:grpSpLocks/>
          </p:cNvGrpSpPr>
          <p:nvPr/>
        </p:nvGrpSpPr>
        <p:grpSpPr bwMode="auto">
          <a:xfrm>
            <a:off x="838200" y="4343400"/>
            <a:ext cx="914400" cy="838200"/>
            <a:chOff x="576" y="2256"/>
            <a:chExt cx="576" cy="528"/>
          </a:xfrm>
        </p:grpSpPr>
        <p:sp>
          <p:nvSpPr>
            <p:cNvPr id="60432" name="Oval 4"/>
            <p:cNvSpPr>
              <a:spLocks noChangeArrowheads="1"/>
            </p:cNvSpPr>
            <p:nvPr/>
          </p:nvSpPr>
          <p:spPr bwMode="auto">
            <a:xfrm>
              <a:off x="576" y="2256"/>
              <a:ext cx="576" cy="52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33" name="Text Box 5"/>
            <p:cNvSpPr txBox="1">
              <a:spLocks noChangeArrowheads="1"/>
            </p:cNvSpPr>
            <p:nvPr/>
          </p:nvSpPr>
          <p:spPr bwMode="auto">
            <a:xfrm>
              <a:off x="720" y="2283"/>
              <a:ext cx="298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  <a:buSzTx/>
                <a:buFontTx/>
                <a:buNone/>
              </a:pPr>
              <a:r>
                <a:rPr lang="en-US" sz="3600" i="1">
                  <a:ea typeface="MS Mincho" pitchFamily="49" charset="-128"/>
                </a:rPr>
                <a:t>i</a:t>
              </a:r>
            </a:p>
          </p:txBody>
        </p:sp>
      </p:grpSp>
      <p:grpSp>
        <p:nvGrpSpPr>
          <p:cNvPr id="60420" name="Group 6"/>
          <p:cNvGrpSpPr>
            <a:grpSpLocks/>
          </p:cNvGrpSpPr>
          <p:nvPr/>
        </p:nvGrpSpPr>
        <p:grpSpPr bwMode="auto">
          <a:xfrm>
            <a:off x="2971800" y="3962400"/>
            <a:ext cx="914400" cy="838200"/>
            <a:chOff x="1920" y="2016"/>
            <a:chExt cx="576" cy="528"/>
          </a:xfrm>
        </p:grpSpPr>
        <p:sp>
          <p:nvSpPr>
            <p:cNvPr id="60430" name="Oval 7"/>
            <p:cNvSpPr>
              <a:spLocks noChangeArrowheads="1"/>
            </p:cNvSpPr>
            <p:nvPr/>
          </p:nvSpPr>
          <p:spPr bwMode="auto">
            <a:xfrm>
              <a:off x="1920" y="2016"/>
              <a:ext cx="576" cy="52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31" name="Text Box 8"/>
            <p:cNvSpPr txBox="1">
              <a:spLocks noChangeArrowheads="1"/>
            </p:cNvSpPr>
            <p:nvPr/>
          </p:nvSpPr>
          <p:spPr bwMode="auto">
            <a:xfrm>
              <a:off x="2054" y="2043"/>
              <a:ext cx="298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  <a:buSzTx/>
                <a:buFontTx/>
                <a:buNone/>
              </a:pPr>
              <a:r>
                <a:rPr lang="en-US" sz="3600" i="1">
                  <a:ea typeface="MS Mincho" pitchFamily="49" charset="-128"/>
                </a:rPr>
                <a:t>j</a:t>
              </a:r>
            </a:p>
          </p:txBody>
        </p:sp>
      </p:grpSp>
      <p:sp>
        <p:nvSpPr>
          <p:cNvPr id="60421" name="Oval 9"/>
          <p:cNvSpPr>
            <a:spLocks noChangeArrowheads="1"/>
          </p:cNvSpPr>
          <p:nvPr/>
        </p:nvSpPr>
        <p:spPr bwMode="auto">
          <a:xfrm>
            <a:off x="7162800" y="1600200"/>
            <a:ext cx="1752600" cy="152241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0422" name="Text Box 10"/>
          <p:cNvSpPr txBox="1">
            <a:spLocks noChangeArrowheads="1"/>
          </p:cNvSpPr>
          <p:nvPr/>
        </p:nvSpPr>
        <p:spPr bwMode="auto">
          <a:xfrm>
            <a:off x="7551738" y="1677988"/>
            <a:ext cx="906462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3600" b="1" i="1">
                <a:latin typeface="Monotype Corsiva" pitchFamily="66" charset="0"/>
                <a:ea typeface="MS Mincho" pitchFamily="49" charset="-128"/>
              </a:rPr>
              <a:t>San</a:t>
            </a:r>
          </a:p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3600" b="1" i="1">
                <a:latin typeface="Monotype Corsiva" pitchFamily="66" charset="0"/>
                <a:ea typeface="MS Mincho" pitchFamily="49" charset="-128"/>
              </a:rPr>
              <a:t>Jose</a:t>
            </a:r>
          </a:p>
        </p:txBody>
      </p:sp>
      <p:sp>
        <p:nvSpPr>
          <p:cNvPr id="60423" name="Line 11"/>
          <p:cNvSpPr>
            <a:spLocks noChangeShapeType="1"/>
          </p:cNvSpPr>
          <p:nvPr/>
        </p:nvSpPr>
        <p:spPr bwMode="auto">
          <a:xfrm flipV="1">
            <a:off x="1752600" y="4495800"/>
            <a:ext cx="12192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0424" name="Freeform 12"/>
          <p:cNvSpPr>
            <a:spLocks/>
          </p:cNvSpPr>
          <p:nvPr/>
        </p:nvSpPr>
        <p:spPr bwMode="auto">
          <a:xfrm>
            <a:off x="3886200" y="2362200"/>
            <a:ext cx="3276600" cy="2070100"/>
          </a:xfrm>
          <a:custGeom>
            <a:avLst/>
            <a:gdLst>
              <a:gd name="T0" fmla="*/ 0 w 2064"/>
              <a:gd name="T1" fmla="*/ 2147483647 h 1304"/>
              <a:gd name="T2" fmla="*/ 2147483647 w 2064"/>
              <a:gd name="T3" fmla="*/ 2147483647 h 1304"/>
              <a:gd name="T4" fmla="*/ 2147483647 w 2064"/>
              <a:gd name="T5" fmla="*/ 2147483647 h 1304"/>
              <a:gd name="T6" fmla="*/ 2147483647 w 2064"/>
              <a:gd name="T7" fmla="*/ 2147483647 h 1304"/>
              <a:gd name="T8" fmla="*/ 2147483647 w 2064"/>
              <a:gd name="T9" fmla="*/ 2147483647 h 1304"/>
              <a:gd name="T10" fmla="*/ 2147483647 w 2064"/>
              <a:gd name="T11" fmla="*/ 0 h 13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064"/>
              <a:gd name="T19" fmla="*/ 0 h 1304"/>
              <a:gd name="T20" fmla="*/ 2064 w 2064"/>
              <a:gd name="T21" fmla="*/ 1304 h 13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064" h="1304">
                <a:moveTo>
                  <a:pt x="0" y="1248"/>
                </a:moveTo>
                <a:cubicBezTo>
                  <a:pt x="196" y="1276"/>
                  <a:pt x="392" y="1304"/>
                  <a:pt x="528" y="1296"/>
                </a:cubicBezTo>
                <a:cubicBezTo>
                  <a:pt x="664" y="1288"/>
                  <a:pt x="736" y="1280"/>
                  <a:pt x="816" y="1200"/>
                </a:cubicBezTo>
                <a:cubicBezTo>
                  <a:pt x="896" y="1120"/>
                  <a:pt x="936" y="976"/>
                  <a:pt x="1008" y="816"/>
                </a:cubicBezTo>
                <a:cubicBezTo>
                  <a:pt x="1080" y="656"/>
                  <a:pt x="1072" y="376"/>
                  <a:pt x="1248" y="240"/>
                </a:cubicBezTo>
                <a:cubicBezTo>
                  <a:pt x="1424" y="104"/>
                  <a:pt x="1744" y="52"/>
                  <a:pt x="2064" y="0"/>
                </a:cubicBezTo>
              </a:path>
            </a:pathLst>
          </a:custGeom>
          <a:noFill/>
          <a:ln w="38100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0425" name="Text Box 13"/>
          <p:cNvSpPr txBox="1">
            <a:spLocks noChangeArrowheads="1"/>
          </p:cNvSpPr>
          <p:nvPr/>
        </p:nvSpPr>
        <p:spPr bwMode="auto">
          <a:xfrm>
            <a:off x="1676400" y="3924300"/>
            <a:ext cx="5556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2800" i="1"/>
              <a:t>C</a:t>
            </a:r>
            <a:r>
              <a:rPr lang="en-US" sz="2800" i="1" baseline="-25000"/>
              <a:t>ij</a:t>
            </a:r>
          </a:p>
        </p:txBody>
      </p:sp>
      <p:sp>
        <p:nvSpPr>
          <p:cNvPr id="60426" name="Text Box 14"/>
          <p:cNvSpPr txBox="1">
            <a:spLocks noChangeArrowheads="1"/>
          </p:cNvSpPr>
          <p:nvPr/>
        </p:nvSpPr>
        <p:spPr bwMode="auto">
          <a:xfrm>
            <a:off x="3192463" y="3260725"/>
            <a:ext cx="6746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3200" i="1"/>
              <a:t>D</a:t>
            </a:r>
            <a:r>
              <a:rPr lang="en-US" sz="3200" i="1" baseline="-25000"/>
              <a:t>j</a:t>
            </a:r>
          </a:p>
        </p:txBody>
      </p:sp>
      <p:sp>
        <p:nvSpPr>
          <p:cNvPr id="60427" name="Text Box 15"/>
          <p:cNvSpPr txBox="1">
            <a:spLocks noChangeArrowheads="1"/>
          </p:cNvSpPr>
          <p:nvPr/>
        </p:nvSpPr>
        <p:spPr bwMode="auto">
          <a:xfrm>
            <a:off x="427038" y="5103813"/>
            <a:ext cx="73818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3200" i="1"/>
              <a:t>D</a:t>
            </a:r>
            <a:r>
              <a:rPr lang="en-US" sz="3200" i="1" baseline="-25000"/>
              <a:t>i</a:t>
            </a:r>
          </a:p>
        </p:txBody>
      </p:sp>
      <p:sp>
        <p:nvSpPr>
          <p:cNvPr id="60428" name="Text Box 16"/>
          <p:cNvSpPr txBox="1">
            <a:spLocks noChangeArrowheads="1"/>
          </p:cNvSpPr>
          <p:nvPr/>
        </p:nvSpPr>
        <p:spPr bwMode="auto">
          <a:xfrm>
            <a:off x="2012950" y="5103813"/>
            <a:ext cx="6965950" cy="137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2800"/>
              <a:t>If </a:t>
            </a:r>
            <a:r>
              <a:rPr lang="en-US" sz="2800" i="1"/>
              <a:t>D</a:t>
            </a:r>
            <a:r>
              <a:rPr lang="en-US" sz="2800" i="1" baseline="-25000"/>
              <a:t>i</a:t>
            </a:r>
            <a:r>
              <a:rPr lang="en-US" sz="2800" i="1"/>
              <a:t> </a:t>
            </a:r>
            <a:r>
              <a:rPr lang="en-US" sz="2800"/>
              <a:t>is the shortest distance to SJ from </a:t>
            </a:r>
            <a:r>
              <a:rPr lang="en-US" sz="2800" i="1"/>
              <a:t>i</a:t>
            </a:r>
          </a:p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2800"/>
              <a:t>and if </a:t>
            </a:r>
            <a:r>
              <a:rPr lang="en-US" sz="2800" i="1"/>
              <a:t>j </a:t>
            </a:r>
            <a:r>
              <a:rPr lang="en-US" sz="2800"/>
              <a:t>is a neighbor on the shortest path, then  </a:t>
            </a:r>
            <a:r>
              <a:rPr lang="en-US" sz="2800" i="1"/>
              <a:t>D</a:t>
            </a:r>
            <a:r>
              <a:rPr lang="en-US" sz="2800" i="1" baseline="-25000"/>
              <a:t>i</a:t>
            </a:r>
            <a:r>
              <a:rPr lang="en-US" sz="2800" i="1"/>
              <a:t> = C</a:t>
            </a:r>
            <a:r>
              <a:rPr lang="en-US" sz="2800" i="1" baseline="-25000"/>
              <a:t>ij</a:t>
            </a:r>
            <a:r>
              <a:rPr lang="en-US" sz="2800" i="1"/>
              <a:t> + D</a:t>
            </a:r>
            <a:r>
              <a:rPr lang="en-US" sz="2800" i="1" baseline="-25000"/>
              <a:t>j</a:t>
            </a:r>
          </a:p>
        </p:txBody>
      </p:sp>
      <p:sp>
        <p:nvSpPr>
          <p:cNvPr id="60429" name="Text Box 17"/>
          <p:cNvSpPr txBox="1">
            <a:spLocks noChangeArrowheads="1"/>
          </p:cNvSpPr>
          <p:nvPr/>
        </p:nvSpPr>
        <p:spPr bwMode="auto">
          <a:xfrm>
            <a:off x="241300" y="1287463"/>
            <a:ext cx="696595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2800"/>
              <a:t>Focus on how nodes find their shortest path to a given destination node, i.e.  SJ</a:t>
            </a:r>
            <a:endParaRPr lang="en-US" sz="2800">
              <a:latin typeface="Monotype Corsiva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1"/>
          <p:cNvSpPr txBox="1">
            <a:spLocks noChangeArrowheads="1"/>
          </p:cNvSpPr>
          <p:nvPr/>
        </p:nvSpPr>
        <p:spPr bwMode="auto">
          <a:xfrm>
            <a:off x="41275" y="1481138"/>
            <a:ext cx="36195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SzTx/>
              <a:buFontTx/>
              <a:buNone/>
            </a:pPr>
            <a:r>
              <a:rPr lang="en-US" sz="3200">
                <a:latin typeface="Monotype Corsiva" pitchFamily="66" charset="0"/>
              </a:rPr>
              <a:t>i</a:t>
            </a:r>
            <a:r>
              <a:rPr lang="en-US" sz="3200"/>
              <a:t> only has local info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sz="3200"/>
              <a:t>from neighbors </a:t>
            </a:r>
            <a:endParaRPr lang="en-US" sz="3200">
              <a:latin typeface="Monotype Corsiva" pitchFamily="66" charset="0"/>
            </a:endParaRPr>
          </a:p>
        </p:txBody>
      </p:sp>
      <p:sp>
        <p:nvSpPr>
          <p:cNvPr id="61443" name="Text Box 4"/>
          <p:cNvSpPr txBox="1">
            <a:spLocks noChangeArrowheads="1"/>
          </p:cNvSpPr>
          <p:nvPr/>
        </p:nvSpPr>
        <p:spPr bwMode="auto">
          <a:xfrm>
            <a:off x="4106863" y="5822950"/>
            <a:ext cx="6318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3200" i="1"/>
              <a:t>D</a:t>
            </a:r>
            <a:r>
              <a:rPr lang="en-US" sz="3200" i="1" baseline="-25000"/>
              <a:t>j"</a:t>
            </a:r>
          </a:p>
        </p:txBody>
      </p:sp>
      <p:sp>
        <p:nvSpPr>
          <p:cNvPr id="61444" name="Line 2"/>
          <p:cNvSpPr>
            <a:spLocks noChangeShapeType="1"/>
          </p:cNvSpPr>
          <p:nvPr/>
        </p:nvSpPr>
        <p:spPr bwMode="auto">
          <a:xfrm>
            <a:off x="1600200" y="5391150"/>
            <a:ext cx="15240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1445" name="Text Box 3"/>
          <p:cNvSpPr txBox="1">
            <a:spLocks noChangeArrowheads="1"/>
          </p:cNvSpPr>
          <p:nvPr/>
        </p:nvSpPr>
        <p:spPr bwMode="auto">
          <a:xfrm>
            <a:off x="2384425" y="5245100"/>
            <a:ext cx="6302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2800" i="1"/>
              <a:t>C</a:t>
            </a:r>
            <a:r>
              <a:rPr lang="en-US" sz="2800" i="1" baseline="-25000"/>
              <a:t>ij”</a:t>
            </a:r>
          </a:p>
        </p:txBody>
      </p:sp>
      <p:sp>
        <p:nvSpPr>
          <p:cNvPr id="61446" name="Freeform 5"/>
          <p:cNvSpPr>
            <a:spLocks/>
          </p:cNvSpPr>
          <p:nvPr/>
        </p:nvSpPr>
        <p:spPr bwMode="auto">
          <a:xfrm>
            <a:off x="4038600" y="3440113"/>
            <a:ext cx="3886200" cy="2468562"/>
          </a:xfrm>
          <a:custGeom>
            <a:avLst/>
            <a:gdLst>
              <a:gd name="T0" fmla="*/ 0 w 2448"/>
              <a:gd name="T1" fmla="*/ 2147483647 h 1555"/>
              <a:gd name="T2" fmla="*/ 2147483647 w 2448"/>
              <a:gd name="T3" fmla="*/ 2147483647 h 1555"/>
              <a:gd name="T4" fmla="*/ 2147483647 w 2448"/>
              <a:gd name="T5" fmla="*/ 2147483647 h 1555"/>
              <a:gd name="T6" fmla="*/ 2147483647 w 2448"/>
              <a:gd name="T7" fmla="*/ 2147483647 h 1555"/>
              <a:gd name="T8" fmla="*/ 2147483647 w 2448"/>
              <a:gd name="T9" fmla="*/ 2147483647 h 1555"/>
              <a:gd name="T10" fmla="*/ 2147483647 w 2448"/>
              <a:gd name="T11" fmla="*/ 2147483647 h 1555"/>
              <a:gd name="T12" fmla="*/ 2147483647 w 2448"/>
              <a:gd name="T13" fmla="*/ 2147483647 h 1555"/>
              <a:gd name="T14" fmla="*/ 2147483647 w 2448"/>
              <a:gd name="T15" fmla="*/ 0 h 155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448"/>
              <a:gd name="T25" fmla="*/ 0 h 1555"/>
              <a:gd name="T26" fmla="*/ 2448 w 2448"/>
              <a:gd name="T27" fmla="*/ 1555 h 1555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448" h="1555">
                <a:moveTo>
                  <a:pt x="0" y="1555"/>
                </a:moveTo>
                <a:cubicBezTo>
                  <a:pt x="98" y="1496"/>
                  <a:pt x="425" y="1208"/>
                  <a:pt x="586" y="1200"/>
                </a:cubicBezTo>
                <a:cubicBezTo>
                  <a:pt x="747" y="1192"/>
                  <a:pt x="866" y="1521"/>
                  <a:pt x="968" y="1506"/>
                </a:cubicBezTo>
                <a:cubicBezTo>
                  <a:pt x="1070" y="1491"/>
                  <a:pt x="1073" y="1186"/>
                  <a:pt x="1196" y="1110"/>
                </a:cubicBezTo>
                <a:cubicBezTo>
                  <a:pt x="1319" y="1034"/>
                  <a:pt x="1662" y="1146"/>
                  <a:pt x="1709" y="1047"/>
                </a:cubicBezTo>
                <a:cubicBezTo>
                  <a:pt x="1756" y="948"/>
                  <a:pt x="1392" y="583"/>
                  <a:pt x="1480" y="516"/>
                </a:cubicBezTo>
                <a:cubicBezTo>
                  <a:pt x="1568" y="449"/>
                  <a:pt x="2076" y="729"/>
                  <a:pt x="2237" y="643"/>
                </a:cubicBezTo>
                <a:cubicBezTo>
                  <a:pt x="2398" y="557"/>
                  <a:pt x="2404" y="134"/>
                  <a:pt x="2448" y="0"/>
                </a:cubicBezTo>
              </a:path>
            </a:pathLst>
          </a:custGeom>
          <a:noFill/>
          <a:ln w="38100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61447" name="Group 7"/>
          <p:cNvGrpSpPr>
            <a:grpSpLocks/>
          </p:cNvGrpSpPr>
          <p:nvPr/>
        </p:nvGrpSpPr>
        <p:grpSpPr bwMode="auto">
          <a:xfrm>
            <a:off x="838200" y="4629150"/>
            <a:ext cx="914400" cy="838200"/>
            <a:chOff x="576" y="2256"/>
            <a:chExt cx="576" cy="528"/>
          </a:xfrm>
        </p:grpSpPr>
        <p:sp>
          <p:nvSpPr>
            <p:cNvPr id="61471" name="Oval 8"/>
            <p:cNvSpPr>
              <a:spLocks noChangeArrowheads="1"/>
            </p:cNvSpPr>
            <p:nvPr/>
          </p:nvSpPr>
          <p:spPr bwMode="auto">
            <a:xfrm>
              <a:off x="576" y="2256"/>
              <a:ext cx="576" cy="52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72" name="Text Box 9"/>
            <p:cNvSpPr txBox="1">
              <a:spLocks noChangeArrowheads="1"/>
            </p:cNvSpPr>
            <p:nvPr/>
          </p:nvSpPr>
          <p:spPr bwMode="auto">
            <a:xfrm>
              <a:off x="720" y="2283"/>
              <a:ext cx="298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  <a:buSzTx/>
                <a:buFontTx/>
                <a:buNone/>
              </a:pPr>
              <a:r>
                <a:rPr lang="en-US" sz="3600" b="1" i="1">
                  <a:ea typeface="MS Mincho" pitchFamily="49" charset="-128"/>
                </a:rPr>
                <a:t>i</a:t>
              </a:r>
            </a:p>
          </p:txBody>
        </p:sp>
      </p:grpSp>
      <p:grpSp>
        <p:nvGrpSpPr>
          <p:cNvPr id="61448" name="Group 10"/>
          <p:cNvGrpSpPr>
            <a:grpSpLocks/>
          </p:cNvGrpSpPr>
          <p:nvPr/>
        </p:nvGrpSpPr>
        <p:grpSpPr bwMode="auto">
          <a:xfrm>
            <a:off x="7162800" y="1885950"/>
            <a:ext cx="1752600" cy="1522413"/>
            <a:chOff x="4512" y="1008"/>
            <a:chExt cx="1104" cy="959"/>
          </a:xfrm>
        </p:grpSpPr>
        <p:sp>
          <p:nvSpPr>
            <p:cNvPr id="61469" name="Oval 11"/>
            <p:cNvSpPr>
              <a:spLocks noChangeArrowheads="1"/>
            </p:cNvSpPr>
            <p:nvPr/>
          </p:nvSpPr>
          <p:spPr bwMode="auto">
            <a:xfrm>
              <a:off x="4512" y="1008"/>
              <a:ext cx="1104" cy="959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70" name="Text Box 12"/>
            <p:cNvSpPr txBox="1">
              <a:spLocks noChangeArrowheads="1"/>
            </p:cNvSpPr>
            <p:nvPr/>
          </p:nvSpPr>
          <p:spPr bwMode="auto">
            <a:xfrm>
              <a:off x="4757" y="1057"/>
              <a:ext cx="571" cy="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  <a:buSzTx/>
                <a:buFontTx/>
                <a:buNone/>
              </a:pPr>
              <a:r>
                <a:rPr lang="en-US" sz="3600" b="1" i="1">
                  <a:latin typeface="Monotype Corsiva" pitchFamily="66" charset="0"/>
                  <a:ea typeface="MS Mincho" pitchFamily="49" charset="-128"/>
                </a:rPr>
                <a:t>San</a:t>
              </a:r>
            </a:p>
            <a:p>
              <a:pPr algn="l">
                <a:spcBef>
                  <a:spcPct val="0"/>
                </a:spcBef>
                <a:buSzTx/>
                <a:buFontTx/>
                <a:buNone/>
              </a:pPr>
              <a:r>
                <a:rPr lang="en-US" sz="3600" b="1" i="1">
                  <a:latin typeface="Monotype Corsiva" pitchFamily="66" charset="0"/>
                  <a:ea typeface="MS Mincho" pitchFamily="49" charset="-128"/>
                </a:rPr>
                <a:t>Jose</a:t>
              </a:r>
            </a:p>
          </p:txBody>
        </p:sp>
      </p:grpSp>
      <p:grpSp>
        <p:nvGrpSpPr>
          <p:cNvPr id="61449" name="Group 13"/>
          <p:cNvGrpSpPr>
            <a:grpSpLocks/>
          </p:cNvGrpSpPr>
          <p:nvPr/>
        </p:nvGrpSpPr>
        <p:grpSpPr bwMode="auto">
          <a:xfrm>
            <a:off x="2971800" y="4248150"/>
            <a:ext cx="914400" cy="838200"/>
            <a:chOff x="1920" y="2016"/>
            <a:chExt cx="576" cy="528"/>
          </a:xfrm>
        </p:grpSpPr>
        <p:sp>
          <p:nvSpPr>
            <p:cNvPr id="61467" name="Oval 14"/>
            <p:cNvSpPr>
              <a:spLocks noChangeArrowheads="1"/>
            </p:cNvSpPr>
            <p:nvPr/>
          </p:nvSpPr>
          <p:spPr bwMode="auto">
            <a:xfrm>
              <a:off x="1920" y="2016"/>
              <a:ext cx="576" cy="52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buClr>
                  <a:schemeClr val="bg1"/>
                </a:buClr>
              </a:pPr>
              <a:endParaRPr lang="en-US"/>
            </a:p>
          </p:txBody>
        </p:sp>
        <p:sp>
          <p:nvSpPr>
            <p:cNvPr id="61468" name="Text Box 15"/>
            <p:cNvSpPr txBox="1">
              <a:spLocks noChangeArrowheads="1"/>
            </p:cNvSpPr>
            <p:nvPr/>
          </p:nvSpPr>
          <p:spPr bwMode="auto">
            <a:xfrm>
              <a:off x="2054" y="2043"/>
              <a:ext cx="298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  <a:buSzTx/>
                <a:buFontTx/>
                <a:buNone/>
              </a:pPr>
              <a:r>
                <a:rPr lang="en-US" sz="3600">
                  <a:ea typeface="MS Mincho" pitchFamily="49" charset="-128"/>
                </a:rPr>
                <a:t>j</a:t>
              </a:r>
            </a:p>
          </p:txBody>
        </p:sp>
      </p:grpSp>
      <p:sp>
        <p:nvSpPr>
          <p:cNvPr id="61450" name="Line 16"/>
          <p:cNvSpPr>
            <a:spLocks noChangeShapeType="1"/>
          </p:cNvSpPr>
          <p:nvPr/>
        </p:nvSpPr>
        <p:spPr bwMode="auto">
          <a:xfrm flipV="1">
            <a:off x="1752600" y="4781550"/>
            <a:ext cx="12192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1451" name="Freeform 17"/>
          <p:cNvSpPr>
            <a:spLocks/>
          </p:cNvSpPr>
          <p:nvPr/>
        </p:nvSpPr>
        <p:spPr bwMode="auto">
          <a:xfrm>
            <a:off x="3886200" y="2647950"/>
            <a:ext cx="3276600" cy="2070100"/>
          </a:xfrm>
          <a:custGeom>
            <a:avLst/>
            <a:gdLst>
              <a:gd name="T0" fmla="*/ 0 w 2064"/>
              <a:gd name="T1" fmla="*/ 2147483647 h 1304"/>
              <a:gd name="T2" fmla="*/ 2147483647 w 2064"/>
              <a:gd name="T3" fmla="*/ 2147483647 h 1304"/>
              <a:gd name="T4" fmla="*/ 2147483647 w 2064"/>
              <a:gd name="T5" fmla="*/ 2147483647 h 1304"/>
              <a:gd name="T6" fmla="*/ 2147483647 w 2064"/>
              <a:gd name="T7" fmla="*/ 2147483647 h 1304"/>
              <a:gd name="T8" fmla="*/ 2147483647 w 2064"/>
              <a:gd name="T9" fmla="*/ 2147483647 h 1304"/>
              <a:gd name="T10" fmla="*/ 2147483647 w 2064"/>
              <a:gd name="T11" fmla="*/ 0 h 13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064"/>
              <a:gd name="T19" fmla="*/ 0 h 1304"/>
              <a:gd name="T20" fmla="*/ 2064 w 2064"/>
              <a:gd name="T21" fmla="*/ 1304 h 13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064" h="1304">
                <a:moveTo>
                  <a:pt x="0" y="1248"/>
                </a:moveTo>
                <a:cubicBezTo>
                  <a:pt x="196" y="1276"/>
                  <a:pt x="392" y="1304"/>
                  <a:pt x="528" y="1296"/>
                </a:cubicBezTo>
                <a:cubicBezTo>
                  <a:pt x="664" y="1288"/>
                  <a:pt x="736" y="1280"/>
                  <a:pt x="816" y="1200"/>
                </a:cubicBezTo>
                <a:cubicBezTo>
                  <a:pt x="896" y="1120"/>
                  <a:pt x="936" y="976"/>
                  <a:pt x="1008" y="816"/>
                </a:cubicBezTo>
                <a:cubicBezTo>
                  <a:pt x="1080" y="656"/>
                  <a:pt x="1072" y="376"/>
                  <a:pt x="1248" y="240"/>
                </a:cubicBezTo>
                <a:cubicBezTo>
                  <a:pt x="1424" y="104"/>
                  <a:pt x="1744" y="52"/>
                  <a:pt x="2064" y="0"/>
                </a:cubicBezTo>
              </a:path>
            </a:pathLst>
          </a:custGeom>
          <a:noFill/>
          <a:ln w="38100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452" name="Text Box 18"/>
          <p:cNvSpPr txBox="1">
            <a:spLocks noChangeArrowheads="1"/>
          </p:cNvSpPr>
          <p:nvPr/>
        </p:nvSpPr>
        <p:spPr bwMode="auto">
          <a:xfrm>
            <a:off x="1752600" y="4376738"/>
            <a:ext cx="5492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2800" i="1"/>
              <a:t>C</a:t>
            </a:r>
            <a:r>
              <a:rPr lang="en-US" sz="2800" i="1" baseline="-25000"/>
              <a:t>ij</a:t>
            </a:r>
          </a:p>
        </p:txBody>
      </p:sp>
      <p:sp>
        <p:nvSpPr>
          <p:cNvPr id="61453" name="Text Box 19"/>
          <p:cNvSpPr txBox="1">
            <a:spLocks noChangeArrowheads="1"/>
          </p:cNvSpPr>
          <p:nvPr/>
        </p:nvSpPr>
        <p:spPr bwMode="auto">
          <a:xfrm>
            <a:off x="3733800" y="3975100"/>
            <a:ext cx="5365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3200" i="1"/>
              <a:t>D</a:t>
            </a:r>
            <a:r>
              <a:rPr lang="en-US" sz="3200" i="1" baseline="-25000"/>
              <a:t>j</a:t>
            </a:r>
          </a:p>
        </p:txBody>
      </p:sp>
      <p:sp>
        <p:nvSpPr>
          <p:cNvPr id="61454" name="Text Box 20"/>
          <p:cNvSpPr txBox="1">
            <a:spLocks noChangeArrowheads="1"/>
          </p:cNvSpPr>
          <p:nvPr/>
        </p:nvSpPr>
        <p:spPr bwMode="auto">
          <a:xfrm>
            <a:off x="228600" y="5422900"/>
            <a:ext cx="5365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3200" i="1"/>
              <a:t>D</a:t>
            </a:r>
            <a:r>
              <a:rPr lang="en-US" sz="3200" i="1" baseline="-25000"/>
              <a:t>i</a:t>
            </a:r>
          </a:p>
        </p:txBody>
      </p:sp>
      <p:grpSp>
        <p:nvGrpSpPr>
          <p:cNvPr id="61455" name="Group 22"/>
          <p:cNvGrpSpPr>
            <a:grpSpLocks/>
          </p:cNvGrpSpPr>
          <p:nvPr/>
        </p:nvGrpSpPr>
        <p:grpSpPr bwMode="auto">
          <a:xfrm>
            <a:off x="3124200" y="5467350"/>
            <a:ext cx="914400" cy="838200"/>
            <a:chOff x="1968" y="3264"/>
            <a:chExt cx="576" cy="528"/>
          </a:xfrm>
        </p:grpSpPr>
        <p:sp>
          <p:nvSpPr>
            <p:cNvPr id="61465" name="Oval 23"/>
            <p:cNvSpPr>
              <a:spLocks noChangeArrowheads="1"/>
            </p:cNvSpPr>
            <p:nvPr/>
          </p:nvSpPr>
          <p:spPr bwMode="auto">
            <a:xfrm>
              <a:off x="1968" y="3264"/>
              <a:ext cx="576" cy="52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66" name="Text Box 24"/>
            <p:cNvSpPr txBox="1">
              <a:spLocks noChangeArrowheads="1"/>
            </p:cNvSpPr>
            <p:nvPr/>
          </p:nvSpPr>
          <p:spPr bwMode="auto">
            <a:xfrm>
              <a:off x="2064" y="3291"/>
              <a:ext cx="43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  <a:buSzTx/>
                <a:buFontTx/>
                <a:buNone/>
              </a:pPr>
              <a:r>
                <a:rPr lang="en-US" sz="3600" i="1">
                  <a:ea typeface="MS Mincho" pitchFamily="49" charset="-128"/>
                </a:rPr>
                <a:t>j"</a:t>
              </a:r>
            </a:p>
          </p:txBody>
        </p:sp>
      </p:grpSp>
      <p:sp>
        <p:nvSpPr>
          <p:cNvPr id="61456" name="Text Box 25"/>
          <p:cNvSpPr txBox="1">
            <a:spLocks noChangeArrowheads="1"/>
          </p:cNvSpPr>
          <p:nvPr/>
        </p:nvSpPr>
        <p:spPr bwMode="auto">
          <a:xfrm>
            <a:off x="609600" y="3600450"/>
            <a:ext cx="5953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2800" i="1"/>
              <a:t>C</a:t>
            </a:r>
            <a:r>
              <a:rPr lang="en-US" sz="2800" i="1" baseline="-25000"/>
              <a:t>ij'</a:t>
            </a:r>
          </a:p>
        </p:txBody>
      </p:sp>
      <p:grpSp>
        <p:nvGrpSpPr>
          <p:cNvPr id="61457" name="Group 26"/>
          <p:cNvGrpSpPr>
            <a:grpSpLocks/>
          </p:cNvGrpSpPr>
          <p:nvPr/>
        </p:nvGrpSpPr>
        <p:grpSpPr bwMode="auto">
          <a:xfrm>
            <a:off x="1676400" y="3028950"/>
            <a:ext cx="914400" cy="838200"/>
            <a:chOff x="1056" y="1728"/>
            <a:chExt cx="576" cy="528"/>
          </a:xfrm>
        </p:grpSpPr>
        <p:sp>
          <p:nvSpPr>
            <p:cNvPr id="61463" name="Oval 27"/>
            <p:cNvSpPr>
              <a:spLocks noChangeArrowheads="1"/>
            </p:cNvSpPr>
            <p:nvPr/>
          </p:nvSpPr>
          <p:spPr bwMode="auto">
            <a:xfrm>
              <a:off x="1056" y="1728"/>
              <a:ext cx="576" cy="52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64" name="Text Box 28"/>
            <p:cNvSpPr txBox="1">
              <a:spLocks noChangeArrowheads="1"/>
            </p:cNvSpPr>
            <p:nvPr/>
          </p:nvSpPr>
          <p:spPr bwMode="auto">
            <a:xfrm>
              <a:off x="1152" y="1755"/>
              <a:ext cx="394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  <a:buSzTx/>
                <a:buFontTx/>
                <a:buNone/>
              </a:pPr>
              <a:r>
                <a:rPr lang="en-US" sz="3600">
                  <a:ea typeface="MS Mincho" pitchFamily="49" charset="-128"/>
                </a:rPr>
                <a:t>j'</a:t>
              </a:r>
            </a:p>
          </p:txBody>
        </p:sp>
      </p:grpSp>
      <p:sp>
        <p:nvSpPr>
          <p:cNvPr id="61458" name="Line 29"/>
          <p:cNvSpPr>
            <a:spLocks noChangeShapeType="1"/>
          </p:cNvSpPr>
          <p:nvPr/>
        </p:nvSpPr>
        <p:spPr bwMode="auto">
          <a:xfrm flipV="1">
            <a:off x="1295400" y="3790950"/>
            <a:ext cx="5334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1459" name="Text Box 30"/>
          <p:cNvSpPr txBox="1">
            <a:spLocks noChangeArrowheads="1"/>
          </p:cNvSpPr>
          <p:nvPr/>
        </p:nvSpPr>
        <p:spPr bwMode="auto">
          <a:xfrm>
            <a:off x="1371600" y="2527300"/>
            <a:ext cx="5873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3200" i="1"/>
              <a:t>D</a:t>
            </a:r>
            <a:r>
              <a:rPr lang="en-US" sz="3200" i="1" baseline="-25000"/>
              <a:t>j'</a:t>
            </a:r>
          </a:p>
        </p:txBody>
      </p:sp>
      <p:sp>
        <p:nvSpPr>
          <p:cNvPr id="61460" name="Freeform 31"/>
          <p:cNvSpPr>
            <a:spLocks/>
          </p:cNvSpPr>
          <p:nvPr/>
        </p:nvSpPr>
        <p:spPr bwMode="auto">
          <a:xfrm>
            <a:off x="2590800" y="2041525"/>
            <a:ext cx="4572000" cy="1835150"/>
          </a:xfrm>
          <a:custGeom>
            <a:avLst/>
            <a:gdLst>
              <a:gd name="T0" fmla="*/ 0 w 2880"/>
              <a:gd name="T1" fmla="*/ 2147483647 h 1156"/>
              <a:gd name="T2" fmla="*/ 2147483647 w 2880"/>
              <a:gd name="T3" fmla="*/ 2147483647 h 1156"/>
              <a:gd name="T4" fmla="*/ 2147483647 w 2880"/>
              <a:gd name="T5" fmla="*/ 2147483647 h 1156"/>
              <a:gd name="T6" fmla="*/ 2147483647 w 2880"/>
              <a:gd name="T7" fmla="*/ 2147483647 h 1156"/>
              <a:gd name="T8" fmla="*/ 2147483647 w 2880"/>
              <a:gd name="T9" fmla="*/ 2147483647 h 1156"/>
              <a:gd name="T10" fmla="*/ 2147483647 w 2880"/>
              <a:gd name="T11" fmla="*/ 2147483647 h 1156"/>
              <a:gd name="T12" fmla="*/ 2147483647 w 2880"/>
              <a:gd name="T13" fmla="*/ 2147483647 h 11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880"/>
              <a:gd name="T22" fmla="*/ 0 h 1156"/>
              <a:gd name="T23" fmla="*/ 2880 w 2880"/>
              <a:gd name="T24" fmla="*/ 1156 h 115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880" h="1156">
                <a:moveTo>
                  <a:pt x="0" y="1022"/>
                </a:moveTo>
                <a:cubicBezTo>
                  <a:pt x="273" y="1042"/>
                  <a:pt x="622" y="1156"/>
                  <a:pt x="737" y="1056"/>
                </a:cubicBezTo>
                <a:cubicBezTo>
                  <a:pt x="852" y="956"/>
                  <a:pt x="579" y="476"/>
                  <a:pt x="691" y="420"/>
                </a:cubicBezTo>
                <a:cubicBezTo>
                  <a:pt x="803" y="364"/>
                  <a:pt x="1239" y="776"/>
                  <a:pt x="1407" y="718"/>
                </a:cubicBezTo>
                <a:cubicBezTo>
                  <a:pt x="1575" y="660"/>
                  <a:pt x="1558" y="150"/>
                  <a:pt x="1699" y="75"/>
                </a:cubicBezTo>
                <a:cubicBezTo>
                  <a:pt x="1840" y="0"/>
                  <a:pt x="2059" y="256"/>
                  <a:pt x="2256" y="267"/>
                </a:cubicBezTo>
                <a:cubicBezTo>
                  <a:pt x="2453" y="278"/>
                  <a:pt x="2750" y="168"/>
                  <a:pt x="2880" y="142"/>
                </a:cubicBezTo>
              </a:path>
            </a:pathLst>
          </a:custGeom>
          <a:noFill/>
          <a:ln w="38100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461" name="Text Box 32"/>
          <p:cNvSpPr txBox="1">
            <a:spLocks noChangeArrowheads="1"/>
          </p:cNvSpPr>
          <p:nvPr/>
        </p:nvSpPr>
        <p:spPr bwMode="auto">
          <a:xfrm>
            <a:off x="5878513" y="5176838"/>
            <a:ext cx="2641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SzTx/>
              <a:buFontTx/>
              <a:buNone/>
            </a:pPr>
            <a:r>
              <a:rPr lang="en-US" sz="3200"/>
              <a:t>Pick current 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sz="3200"/>
              <a:t>shortest path </a:t>
            </a:r>
            <a:endParaRPr lang="en-US" sz="3200">
              <a:latin typeface="Monotype Corsiva" pitchFamily="66" charset="0"/>
            </a:endParaRPr>
          </a:p>
        </p:txBody>
      </p:sp>
      <p:sp>
        <p:nvSpPr>
          <p:cNvPr id="61462" name="Rectangle 3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500" smtClean="0"/>
              <a:t>But we don’t know the shortest paths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Why Distance Vector Works</a:t>
            </a:r>
          </a:p>
        </p:txBody>
      </p:sp>
      <p:grpSp>
        <p:nvGrpSpPr>
          <p:cNvPr id="62467" name="Group 1027"/>
          <p:cNvGrpSpPr>
            <a:grpSpLocks/>
          </p:cNvGrpSpPr>
          <p:nvPr/>
        </p:nvGrpSpPr>
        <p:grpSpPr bwMode="auto">
          <a:xfrm>
            <a:off x="7162800" y="1600200"/>
            <a:ext cx="1752600" cy="1522413"/>
            <a:chOff x="4512" y="1008"/>
            <a:chExt cx="1104" cy="959"/>
          </a:xfrm>
        </p:grpSpPr>
        <p:sp>
          <p:nvSpPr>
            <p:cNvPr id="62512" name="Oval 1028"/>
            <p:cNvSpPr>
              <a:spLocks noChangeArrowheads="1"/>
            </p:cNvSpPr>
            <p:nvPr/>
          </p:nvSpPr>
          <p:spPr bwMode="auto">
            <a:xfrm>
              <a:off x="4512" y="1008"/>
              <a:ext cx="1104" cy="95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13" name="Text Box 1029"/>
            <p:cNvSpPr txBox="1">
              <a:spLocks noChangeArrowheads="1"/>
            </p:cNvSpPr>
            <p:nvPr/>
          </p:nvSpPr>
          <p:spPr bwMode="auto">
            <a:xfrm>
              <a:off x="4757" y="1057"/>
              <a:ext cx="571" cy="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  <a:buSzTx/>
                <a:buFontTx/>
                <a:buNone/>
              </a:pPr>
              <a:r>
                <a:rPr lang="en-US" sz="3600" b="1" i="1">
                  <a:latin typeface="Monotype Corsiva" pitchFamily="66" charset="0"/>
                  <a:ea typeface="MS Mincho" pitchFamily="49" charset="-128"/>
                </a:rPr>
                <a:t>San</a:t>
              </a:r>
            </a:p>
            <a:p>
              <a:pPr algn="l">
                <a:spcBef>
                  <a:spcPct val="0"/>
                </a:spcBef>
                <a:buSzTx/>
                <a:buFontTx/>
                <a:buNone/>
              </a:pPr>
              <a:r>
                <a:rPr lang="en-US" sz="3600" b="1" i="1">
                  <a:latin typeface="Monotype Corsiva" pitchFamily="66" charset="0"/>
                  <a:ea typeface="MS Mincho" pitchFamily="49" charset="-128"/>
                </a:rPr>
                <a:t>Jose</a:t>
              </a:r>
            </a:p>
          </p:txBody>
        </p:sp>
      </p:grpSp>
      <p:sp>
        <p:nvSpPr>
          <p:cNvPr id="62468" name="Freeform 1030"/>
          <p:cNvSpPr>
            <a:spLocks/>
          </p:cNvSpPr>
          <p:nvPr/>
        </p:nvSpPr>
        <p:spPr bwMode="auto">
          <a:xfrm>
            <a:off x="4932363" y="731838"/>
            <a:ext cx="3983037" cy="4175125"/>
          </a:xfrm>
          <a:custGeom>
            <a:avLst/>
            <a:gdLst>
              <a:gd name="T0" fmla="*/ 2147483647 w 2509"/>
              <a:gd name="T1" fmla="*/ 0 h 2630"/>
              <a:gd name="T2" fmla="*/ 2147483647 w 2509"/>
              <a:gd name="T3" fmla="*/ 2147483647 h 2630"/>
              <a:gd name="T4" fmla="*/ 2147483647 w 2509"/>
              <a:gd name="T5" fmla="*/ 2147483647 h 2630"/>
              <a:gd name="T6" fmla="*/ 2147483647 w 2509"/>
              <a:gd name="T7" fmla="*/ 2147483647 h 2630"/>
              <a:gd name="T8" fmla="*/ 2147483647 w 2509"/>
              <a:gd name="T9" fmla="*/ 2147483647 h 2630"/>
              <a:gd name="T10" fmla="*/ 2147483647 w 2509"/>
              <a:gd name="T11" fmla="*/ 2147483647 h 2630"/>
              <a:gd name="T12" fmla="*/ 2147483647 w 2509"/>
              <a:gd name="T13" fmla="*/ 2147483647 h 263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509"/>
              <a:gd name="T22" fmla="*/ 0 h 2630"/>
              <a:gd name="T23" fmla="*/ 2509 w 2509"/>
              <a:gd name="T24" fmla="*/ 2630 h 263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509" h="2630">
                <a:moveTo>
                  <a:pt x="13" y="0"/>
                </a:moveTo>
                <a:cubicBezTo>
                  <a:pt x="13" y="53"/>
                  <a:pt x="0" y="180"/>
                  <a:pt x="13" y="317"/>
                </a:cubicBezTo>
                <a:cubicBezTo>
                  <a:pt x="26" y="454"/>
                  <a:pt x="42" y="651"/>
                  <a:pt x="90" y="825"/>
                </a:cubicBezTo>
                <a:cubicBezTo>
                  <a:pt x="138" y="999"/>
                  <a:pt x="186" y="1177"/>
                  <a:pt x="301" y="1363"/>
                </a:cubicBezTo>
                <a:cubicBezTo>
                  <a:pt x="416" y="1549"/>
                  <a:pt x="565" y="1779"/>
                  <a:pt x="781" y="1939"/>
                </a:cubicBezTo>
                <a:cubicBezTo>
                  <a:pt x="997" y="2099"/>
                  <a:pt x="1309" y="2208"/>
                  <a:pt x="1597" y="2323"/>
                </a:cubicBezTo>
                <a:cubicBezTo>
                  <a:pt x="1885" y="2438"/>
                  <a:pt x="2319" y="2566"/>
                  <a:pt x="2509" y="2630"/>
                </a:cubicBezTo>
              </a:path>
            </a:pathLst>
          </a:cu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2469" name="Freeform 1031"/>
          <p:cNvSpPr>
            <a:spLocks/>
          </p:cNvSpPr>
          <p:nvPr/>
        </p:nvSpPr>
        <p:spPr bwMode="auto">
          <a:xfrm>
            <a:off x="3027363" y="884238"/>
            <a:ext cx="4973637" cy="5440362"/>
          </a:xfrm>
          <a:custGeom>
            <a:avLst/>
            <a:gdLst>
              <a:gd name="T0" fmla="*/ 2147483647 w 2509"/>
              <a:gd name="T1" fmla="*/ 0 h 2630"/>
              <a:gd name="T2" fmla="*/ 2147483647 w 2509"/>
              <a:gd name="T3" fmla="*/ 2147483647 h 2630"/>
              <a:gd name="T4" fmla="*/ 2147483647 w 2509"/>
              <a:gd name="T5" fmla="*/ 2147483647 h 2630"/>
              <a:gd name="T6" fmla="*/ 2147483647 w 2509"/>
              <a:gd name="T7" fmla="*/ 2147483647 h 2630"/>
              <a:gd name="T8" fmla="*/ 2147483647 w 2509"/>
              <a:gd name="T9" fmla="*/ 2147483647 h 2630"/>
              <a:gd name="T10" fmla="*/ 2147483647 w 2509"/>
              <a:gd name="T11" fmla="*/ 2147483647 h 2630"/>
              <a:gd name="T12" fmla="*/ 2147483647 w 2509"/>
              <a:gd name="T13" fmla="*/ 2147483647 h 263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509"/>
              <a:gd name="T22" fmla="*/ 0 h 2630"/>
              <a:gd name="T23" fmla="*/ 2509 w 2509"/>
              <a:gd name="T24" fmla="*/ 2630 h 263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509" h="2630">
                <a:moveTo>
                  <a:pt x="13" y="0"/>
                </a:moveTo>
                <a:cubicBezTo>
                  <a:pt x="13" y="53"/>
                  <a:pt x="0" y="180"/>
                  <a:pt x="13" y="317"/>
                </a:cubicBezTo>
                <a:cubicBezTo>
                  <a:pt x="26" y="454"/>
                  <a:pt x="42" y="651"/>
                  <a:pt x="90" y="825"/>
                </a:cubicBezTo>
                <a:cubicBezTo>
                  <a:pt x="138" y="999"/>
                  <a:pt x="186" y="1177"/>
                  <a:pt x="301" y="1363"/>
                </a:cubicBezTo>
                <a:cubicBezTo>
                  <a:pt x="416" y="1549"/>
                  <a:pt x="565" y="1779"/>
                  <a:pt x="781" y="1939"/>
                </a:cubicBezTo>
                <a:cubicBezTo>
                  <a:pt x="997" y="2099"/>
                  <a:pt x="1309" y="2208"/>
                  <a:pt x="1597" y="2323"/>
                </a:cubicBezTo>
                <a:cubicBezTo>
                  <a:pt x="1885" y="2438"/>
                  <a:pt x="2319" y="2566"/>
                  <a:pt x="2509" y="2630"/>
                </a:cubicBezTo>
              </a:path>
            </a:pathLst>
          </a:cu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2470" name="Freeform 1032"/>
          <p:cNvSpPr>
            <a:spLocks/>
          </p:cNvSpPr>
          <p:nvPr/>
        </p:nvSpPr>
        <p:spPr bwMode="auto">
          <a:xfrm>
            <a:off x="762000" y="1036638"/>
            <a:ext cx="3581400" cy="5211762"/>
          </a:xfrm>
          <a:custGeom>
            <a:avLst/>
            <a:gdLst>
              <a:gd name="T0" fmla="*/ 2147483647 w 2509"/>
              <a:gd name="T1" fmla="*/ 0 h 2630"/>
              <a:gd name="T2" fmla="*/ 2147483647 w 2509"/>
              <a:gd name="T3" fmla="*/ 2147483647 h 2630"/>
              <a:gd name="T4" fmla="*/ 2147483647 w 2509"/>
              <a:gd name="T5" fmla="*/ 2147483647 h 2630"/>
              <a:gd name="T6" fmla="*/ 2147483647 w 2509"/>
              <a:gd name="T7" fmla="*/ 2147483647 h 2630"/>
              <a:gd name="T8" fmla="*/ 2147483647 w 2509"/>
              <a:gd name="T9" fmla="*/ 2147483647 h 2630"/>
              <a:gd name="T10" fmla="*/ 2147483647 w 2509"/>
              <a:gd name="T11" fmla="*/ 2147483647 h 2630"/>
              <a:gd name="T12" fmla="*/ 2147483647 w 2509"/>
              <a:gd name="T13" fmla="*/ 2147483647 h 263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509"/>
              <a:gd name="T22" fmla="*/ 0 h 2630"/>
              <a:gd name="T23" fmla="*/ 2509 w 2509"/>
              <a:gd name="T24" fmla="*/ 2630 h 263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509" h="2630">
                <a:moveTo>
                  <a:pt x="13" y="0"/>
                </a:moveTo>
                <a:cubicBezTo>
                  <a:pt x="13" y="53"/>
                  <a:pt x="0" y="180"/>
                  <a:pt x="13" y="317"/>
                </a:cubicBezTo>
                <a:cubicBezTo>
                  <a:pt x="26" y="454"/>
                  <a:pt x="42" y="651"/>
                  <a:pt x="90" y="825"/>
                </a:cubicBezTo>
                <a:cubicBezTo>
                  <a:pt x="138" y="999"/>
                  <a:pt x="186" y="1177"/>
                  <a:pt x="301" y="1363"/>
                </a:cubicBezTo>
                <a:cubicBezTo>
                  <a:pt x="416" y="1549"/>
                  <a:pt x="565" y="1779"/>
                  <a:pt x="781" y="1939"/>
                </a:cubicBezTo>
                <a:cubicBezTo>
                  <a:pt x="997" y="2099"/>
                  <a:pt x="1309" y="2208"/>
                  <a:pt x="1597" y="2323"/>
                </a:cubicBezTo>
                <a:cubicBezTo>
                  <a:pt x="1885" y="2438"/>
                  <a:pt x="2319" y="2566"/>
                  <a:pt x="2509" y="2630"/>
                </a:cubicBezTo>
              </a:path>
            </a:pathLst>
          </a:cu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2471" name="Oval 1033"/>
          <p:cNvSpPr>
            <a:spLocks noChangeArrowheads="1"/>
          </p:cNvSpPr>
          <p:nvPr/>
        </p:nvSpPr>
        <p:spPr bwMode="auto">
          <a:xfrm>
            <a:off x="4572000" y="11430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2472" name="Oval 1034"/>
          <p:cNvSpPr>
            <a:spLocks noChangeArrowheads="1"/>
          </p:cNvSpPr>
          <p:nvPr/>
        </p:nvSpPr>
        <p:spPr bwMode="auto">
          <a:xfrm>
            <a:off x="5410200" y="31242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2473" name="Oval 1035"/>
          <p:cNvSpPr>
            <a:spLocks noChangeArrowheads="1"/>
          </p:cNvSpPr>
          <p:nvPr/>
        </p:nvSpPr>
        <p:spPr bwMode="auto">
          <a:xfrm>
            <a:off x="7467600" y="41148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2474" name="Oval 1036"/>
          <p:cNvSpPr>
            <a:spLocks noChangeArrowheads="1"/>
          </p:cNvSpPr>
          <p:nvPr/>
        </p:nvSpPr>
        <p:spPr bwMode="auto">
          <a:xfrm>
            <a:off x="2438400" y="12954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2475" name="Oval 1037"/>
          <p:cNvSpPr>
            <a:spLocks noChangeArrowheads="1"/>
          </p:cNvSpPr>
          <p:nvPr/>
        </p:nvSpPr>
        <p:spPr bwMode="auto">
          <a:xfrm>
            <a:off x="3276600" y="32766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2476" name="Oval 1038"/>
          <p:cNvSpPr>
            <a:spLocks noChangeArrowheads="1"/>
          </p:cNvSpPr>
          <p:nvPr/>
        </p:nvSpPr>
        <p:spPr bwMode="auto">
          <a:xfrm>
            <a:off x="4495800" y="48006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2477" name="Oval 1039"/>
          <p:cNvSpPr>
            <a:spLocks noChangeArrowheads="1"/>
          </p:cNvSpPr>
          <p:nvPr/>
        </p:nvSpPr>
        <p:spPr bwMode="auto">
          <a:xfrm>
            <a:off x="304800" y="14478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2478" name="Oval 1040"/>
          <p:cNvSpPr>
            <a:spLocks noChangeArrowheads="1"/>
          </p:cNvSpPr>
          <p:nvPr/>
        </p:nvSpPr>
        <p:spPr bwMode="auto">
          <a:xfrm>
            <a:off x="1066800" y="38862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2479" name="Oval 1041"/>
          <p:cNvSpPr>
            <a:spLocks noChangeArrowheads="1"/>
          </p:cNvSpPr>
          <p:nvPr/>
        </p:nvSpPr>
        <p:spPr bwMode="auto">
          <a:xfrm>
            <a:off x="2819400" y="5181600"/>
            <a:ext cx="7620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2480" name="Text Box 1042"/>
          <p:cNvSpPr txBox="1">
            <a:spLocks noChangeArrowheads="1"/>
          </p:cNvSpPr>
          <p:nvPr/>
        </p:nvSpPr>
        <p:spPr bwMode="auto">
          <a:xfrm>
            <a:off x="4724400" y="2286000"/>
            <a:ext cx="1047750" cy="64135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SzTx/>
              <a:buFontTx/>
              <a:buNone/>
            </a:pPr>
            <a:r>
              <a:rPr lang="en-US" sz="1800"/>
              <a:t>1 Hop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sz="1800"/>
              <a:t>From SJ</a:t>
            </a:r>
          </a:p>
        </p:txBody>
      </p:sp>
      <p:sp>
        <p:nvSpPr>
          <p:cNvPr id="62481" name="Text Box 1043"/>
          <p:cNvSpPr txBox="1">
            <a:spLocks noChangeArrowheads="1"/>
          </p:cNvSpPr>
          <p:nvPr/>
        </p:nvSpPr>
        <p:spPr bwMode="auto">
          <a:xfrm>
            <a:off x="2743200" y="2438400"/>
            <a:ext cx="1047750" cy="64135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SzTx/>
              <a:buFontTx/>
              <a:buNone/>
            </a:pPr>
            <a:r>
              <a:rPr lang="en-US" sz="1800"/>
              <a:t>2 Hops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sz="1800"/>
              <a:t>From SJ</a:t>
            </a:r>
          </a:p>
        </p:txBody>
      </p:sp>
      <p:sp>
        <p:nvSpPr>
          <p:cNvPr id="62482" name="Text Box 1044"/>
          <p:cNvSpPr txBox="1">
            <a:spLocks noChangeArrowheads="1"/>
          </p:cNvSpPr>
          <p:nvPr/>
        </p:nvSpPr>
        <p:spPr bwMode="auto">
          <a:xfrm>
            <a:off x="533400" y="2667000"/>
            <a:ext cx="1047750" cy="641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SzTx/>
              <a:buFontTx/>
              <a:buNone/>
            </a:pPr>
            <a:r>
              <a:rPr lang="en-US" sz="1800"/>
              <a:t>3 Hops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sz="1800"/>
              <a:t>From SJ</a:t>
            </a:r>
          </a:p>
        </p:txBody>
      </p:sp>
      <p:grpSp>
        <p:nvGrpSpPr>
          <p:cNvPr id="3" name="Group 1045"/>
          <p:cNvGrpSpPr>
            <a:grpSpLocks/>
          </p:cNvGrpSpPr>
          <p:nvPr/>
        </p:nvGrpSpPr>
        <p:grpSpPr bwMode="auto">
          <a:xfrm>
            <a:off x="3200400" y="1447800"/>
            <a:ext cx="5181600" cy="3657600"/>
            <a:chOff x="2016" y="912"/>
            <a:chExt cx="3264" cy="2304"/>
          </a:xfrm>
        </p:grpSpPr>
        <p:sp>
          <p:nvSpPr>
            <p:cNvPr id="62504" name="Line 1046"/>
            <p:cNvSpPr>
              <a:spLocks noChangeShapeType="1"/>
            </p:cNvSpPr>
            <p:nvPr/>
          </p:nvSpPr>
          <p:spPr bwMode="auto">
            <a:xfrm flipH="1">
              <a:off x="2016" y="960"/>
              <a:ext cx="864" cy="4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2505" name="Line 1047"/>
            <p:cNvSpPr>
              <a:spLocks noChangeShapeType="1"/>
            </p:cNvSpPr>
            <p:nvPr/>
          </p:nvSpPr>
          <p:spPr bwMode="auto">
            <a:xfrm flipH="1">
              <a:off x="2448" y="1152"/>
              <a:ext cx="528" cy="91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2506" name="Line 1048"/>
            <p:cNvSpPr>
              <a:spLocks noChangeShapeType="1"/>
            </p:cNvSpPr>
            <p:nvPr/>
          </p:nvSpPr>
          <p:spPr bwMode="auto">
            <a:xfrm>
              <a:off x="3360" y="912"/>
              <a:ext cx="1248" cy="28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2507" name="Line 1049"/>
            <p:cNvSpPr>
              <a:spLocks noChangeShapeType="1"/>
            </p:cNvSpPr>
            <p:nvPr/>
          </p:nvSpPr>
          <p:spPr bwMode="auto">
            <a:xfrm flipH="1">
              <a:off x="2544" y="2256"/>
              <a:ext cx="864" cy="4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2508" name="Line 1050"/>
            <p:cNvSpPr>
              <a:spLocks noChangeShapeType="1"/>
            </p:cNvSpPr>
            <p:nvPr/>
          </p:nvSpPr>
          <p:spPr bwMode="auto">
            <a:xfrm flipH="1">
              <a:off x="3264" y="2448"/>
              <a:ext cx="288" cy="62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2509" name="Line 1051"/>
            <p:cNvSpPr>
              <a:spLocks noChangeShapeType="1"/>
            </p:cNvSpPr>
            <p:nvPr/>
          </p:nvSpPr>
          <p:spPr bwMode="auto">
            <a:xfrm flipH="1">
              <a:off x="3312" y="2976"/>
              <a:ext cx="1392" cy="2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2510" name="Line 1052"/>
            <p:cNvSpPr>
              <a:spLocks noChangeShapeType="1"/>
            </p:cNvSpPr>
            <p:nvPr/>
          </p:nvSpPr>
          <p:spPr bwMode="auto">
            <a:xfrm flipV="1">
              <a:off x="3936" y="1824"/>
              <a:ext cx="720" cy="3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2511" name="Line 1053"/>
            <p:cNvSpPr>
              <a:spLocks noChangeShapeType="1"/>
            </p:cNvSpPr>
            <p:nvPr/>
          </p:nvSpPr>
          <p:spPr bwMode="auto">
            <a:xfrm flipV="1">
              <a:off x="5136" y="1968"/>
              <a:ext cx="144" cy="72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1054"/>
          <p:cNvGrpSpPr>
            <a:grpSpLocks/>
          </p:cNvGrpSpPr>
          <p:nvPr/>
        </p:nvGrpSpPr>
        <p:grpSpPr bwMode="auto">
          <a:xfrm>
            <a:off x="1066800" y="1676400"/>
            <a:ext cx="6553200" cy="5067300"/>
            <a:chOff x="672" y="1056"/>
            <a:chExt cx="4128" cy="3192"/>
          </a:xfrm>
        </p:grpSpPr>
        <p:grpSp>
          <p:nvGrpSpPr>
            <p:cNvPr id="62491" name="Group 1055"/>
            <p:cNvGrpSpPr>
              <a:grpSpLocks/>
            </p:cNvGrpSpPr>
            <p:nvPr/>
          </p:nvGrpSpPr>
          <p:grpSpPr bwMode="auto">
            <a:xfrm>
              <a:off x="672" y="1056"/>
              <a:ext cx="4128" cy="2400"/>
              <a:chOff x="672" y="1056"/>
              <a:chExt cx="4128" cy="2400"/>
            </a:xfrm>
          </p:grpSpPr>
          <p:sp>
            <p:nvSpPr>
              <p:cNvPr id="62493" name="Line 1056"/>
              <p:cNvSpPr>
                <a:spLocks noChangeShapeType="1"/>
              </p:cNvSpPr>
              <p:nvPr/>
            </p:nvSpPr>
            <p:spPr bwMode="auto">
              <a:xfrm flipH="1">
                <a:off x="672" y="1056"/>
                <a:ext cx="864" cy="48"/>
              </a:xfrm>
              <a:prstGeom prst="line">
                <a:avLst/>
              </a:prstGeom>
              <a:noFill/>
              <a:ln w="38100">
                <a:solidFill>
                  <a:srgbClr val="00CC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2494" name="Line 1057"/>
              <p:cNvSpPr>
                <a:spLocks noChangeShapeType="1"/>
              </p:cNvSpPr>
              <p:nvPr/>
            </p:nvSpPr>
            <p:spPr bwMode="auto">
              <a:xfrm flipH="1">
                <a:off x="1008" y="1248"/>
                <a:ext cx="624" cy="1200"/>
              </a:xfrm>
              <a:prstGeom prst="line">
                <a:avLst/>
              </a:prstGeom>
              <a:noFill/>
              <a:ln w="38100">
                <a:solidFill>
                  <a:srgbClr val="00CC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2495" name="Line 1058"/>
              <p:cNvSpPr>
                <a:spLocks noChangeShapeType="1"/>
              </p:cNvSpPr>
              <p:nvPr/>
            </p:nvSpPr>
            <p:spPr bwMode="auto">
              <a:xfrm flipH="1">
                <a:off x="1152" y="2400"/>
                <a:ext cx="912" cy="192"/>
              </a:xfrm>
              <a:prstGeom prst="line">
                <a:avLst/>
              </a:prstGeom>
              <a:noFill/>
              <a:ln w="38100">
                <a:solidFill>
                  <a:srgbClr val="00CC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2496" name="Line 1059"/>
              <p:cNvSpPr>
                <a:spLocks noChangeShapeType="1"/>
              </p:cNvSpPr>
              <p:nvPr/>
            </p:nvSpPr>
            <p:spPr bwMode="auto">
              <a:xfrm flipH="1">
                <a:off x="2064" y="2544"/>
                <a:ext cx="144" cy="720"/>
              </a:xfrm>
              <a:prstGeom prst="line">
                <a:avLst/>
              </a:prstGeom>
              <a:noFill/>
              <a:ln w="38100">
                <a:solidFill>
                  <a:srgbClr val="00CC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2497" name="Line 1060"/>
              <p:cNvSpPr>
                <a:spLocks noChangeShapeType="1"/>
              </p:cNvSpPr>
              <p:nvPr/>
            </p:nvSpPr>
            <p:spPr bwMode="auto">
              <a:xfrm flipH="1">
                <a:off x="2256" y="3360"/>
                <a:ext cx="576" cy="96"/>
              </a:xfrm>
              <a:prstGeom prst="line">
                <a:avLst/>
              </a:prstGeom>
              <a:noFill/>
              <a:ln w="38100">
                <a:solidFill>
                  <a:srgbClr val="00CC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2498" name="Line 1061"/>
              <p:cNvSpPr>
                <a:spLocks noChangeShapeType="1"/>
              </p:cNvSpPr>
              <p:nvPr/>
            </p:nvSpPr>
            <p:spPr bwMode="auto">
              <a:xfrm flipH="1" flipV="1">
                <a:off x="1152" y="2688"/>
                <a:ext cx="1680" cy="528"/>
              </a:xfrm>
              <a:prstGeom prst="line">
                <a:avLst/>
              </a:prstGeom>
              <a:noFill/>
              <a:ln w="38100">
                <a:solidFill>
                  <a:srgbClr val="00CC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2499" name="Line 1062"/>
              <p:cNvSpPr>
                <a:spLocks noChangeShapeType="1"/>
              </p:cNvSpPr>
              <p:nvPr/>
            </p:nvSpPr>
            <p:spPr bwMode="auto">
              <a:xfrm flipH="1">
                <a:off x="2544" y="2160"/>
                <a:ext cx="864" cy="48"/>
              </a:xfrm>
              <a:prstGeom prst="line">
                <a:avLst/>
              </a:prstGeom>
              <a:noFill/>
              <a:ln w="38100">
                <a:solidFill>
                  <a:srgbClr val="00CC00"/>
                </a:solidFill>
                <a:round/>
                <a:headEnd type="triangle" w="med" len="med"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2500" name="Line 1063"/>
              <p:cNvSpPr>
                <a:spLocks noChangeShapeType="1"/>
              </p:cNvSpPr>
              <p:nvPr/>
            </p:nvSpPr>
            <p:spPr bwMode="auto">
              <a:xfrm flipH="1">
                <a:off x="2496" y="1200"/>
                <a:ext cx="528" cy="912"/>
              </a:xfrm>
              <a:prstGeom prst="line">
                <a:avLst/>
              </a:prstGeom>
              <a:noFill/>
              <a:ln w="38100">
                <a:solidFill>
                  <a:srgbClr val="00CC00"/>
                </a:solidFill>
                <a:round/>
                <a:headEnd type="triangle" w="med" len="med"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2501" name="Line 1064"/>
              <p:cNvSpPr>
                <a:spLocks noChangeShapeType="1"/>
              </p:cNvSpPr>
              <p:nvPr/>
            </p:nvSpPr>
            <p:spPr bwMode="auto">
              <a:xfrm flipH="1">
                <a:off x="2016" y="1056"/>
                <a:ext cx="864" cy="48"/>
              </a:xfrm>
              <a:prstGeom prst="line">
                <a:avLst/>
              </a:prstGeom>
              <a:noFill/>
              <a:ln w="38100">
                <a:solidFill>
                  <a:srgbClr val="00CC00"/>
                </a:solidFill>
                <a:round/>
                <a:headEnd type="triangle" w="med" len="med"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2502" name="Line 1065"/>
              <p:cNvSpPr>
                <a:spLocks noChangeShapeType="1"/>
              </p:cNvSpPr>
              <p:nvPr/>
            </p:nvSpPr>
            <p:spPr bwMode="auto">
              <a:xfrm flipH="1">
                <a:off x="3168" y="2400"/>
                <a:ext cx="288" cy="624"/>
              </a:xfrm>
              <a:prstGeom prst="line">
                <a:avLst/>
              </a:prstGeom>
              <a:noFill/>
              <a:ln w="38100">
                <a:solidFill>
                  <a:srgbClr val="00CC00"/>
                </a:solidFill>
                <a:round/>
                <a:headEnd type="triangle" w="med" len="med"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2503" name="Line 1066"/>
              <p:cNvSpPr>
                <a:spLocks noChangeShapeType="1"/>
              </p:cNvSpPr>
              <p:nvPr/>
            </p:nvSpPr>
            <p:spPr bwMode="auto">
              <a:xfrm flipH="1">
                <a:off x="3360" y="3072"/>
                <a:ext cx="1440" cy="240"/>
              </a:xfrm>
              <a:prstGeom prst="line">
                <a:avLst/>
              </a:prstGeom>
              <a:noFill/>
              <a:ln w="38100">
                <a:solidFill>
                  <a:srgbClr val="00CC00"/>
                </a:solidFill>
                <a:round/>
                <a:headEnd type="triangle" w="med" len="med"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62492" name="Text Box 1067"/>
            <p:cNvSpPr txBox="1">
              <a:spLocks noChangeArrowheads="1"/>
            </p:cNvSpPr>
            <p:nvPr/>
          </p:nvSpPr>
          <p:spPr bwMode="auto">
            <a:xfrm>
              <a:off x="2862" y="3671"/>
              <a:ext cx="1724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Accurate info about SJ</a:t>
              </a:r>
            </a:p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 ripples across network,</a:t>
              </a:r>
            </a:p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Shortest Path Converges</a:t>
              </a:r>
            </a:p>
          </p:txBody>
        </p:sp>
      </p:grpSp>
      <p:grpSp>
        <p:nvGrpSpPr>
          <p:cNvPr id="6" name="Group 1068"/>
          <p:cNvGrpSpPr>
            <a:grpSpLocks/>
          </p:cNvGrpSpPr>
          <p:nvPr/>
        </p:nvGrpSpPr>
        <p:grpSpPr bwMode="auto">
          <a:xfrm>
            <a:off x="5334000" y="762000"/>
            <a:ext cx="3016250" cy="3352800"/>
            <a:chOff x="3360" y="480"/>
            <a:chExt cx="1900" cy="2112"/>
          </a:xfrm>
        </p:grpSpPr>
        <p:sp>
          <p:nvSpPr>
            <p:cNvPr id="62487" name="Line 1069"/>
            <p:cNvSpPr>
              <a:spLocks noChangeShapeType="1"/>
            </p:cNvSpPr>
            <p:nvPr/>
          </p:nvSpPr>
          <p:spPr bwMode="auto">
            <a:xfrm flipH="1">
              <a:off x="4944" y="2016"/>
              <a:ext cx="144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2488" name="Text Box 1070"/>
            <p:cNvSpPr txBox="1">
              <a:spLocks noChangeArrowheads="1"/>
            </p:cNvSpPr>
            <p:nvPr/>
          </p:nvSpPr>
          <p:spPr bwMode="auto">
            <a:xfrm>
              <a:off x="4320" y="480"/>
              <a:ext cx="940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SJ sends</a:t>
              </a:r>
            </a:p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accurate info</a:t>
              </a:r>
            </a:p>
          </p:txBody>
        </p:sp>
        <p:sp>
          <p:nvSpPr>
            <p:cNvPr id="62489" name="Line 1071"/>
            <p:cNvSpPr>
              <a:spLocks noChangeShapeType="1"/>
            </p:cNvSpPr>
            <p:nvPr/>
          </p:nvSpPr>
          <p:spPr bwMode="auto">
            <a:xfrm flipH="1">
              <a:off x="3840" y="1728"/>
              <a:ext cx="72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2490" name="Line 1072"/>
            <p:cNvSpPr>
              <a:spLocks noChangeShapeType="1"/>
            </p:cNvSpPr>
            <p:nvPr/>
          </p:nvSpPr>
          <p:spPr bwMode="auto">
            <a:xfrm flipH="1" flipV="1">
              <a:off x="3360" y="1008"/>
              <a:ext cx="1152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46257" name="Text Box 1073"/>
          <p:cNvSpPr txBox="1">
            <a:spLocks noChangeArrowheads="1"/>
          </p:cNvSpPr>
          <p:nvPr/>
        </p:nvSpPr>
        <p:spPr bwMode="auto">
          <a:xfrm>
            <a:off x="7219950" y="4751388"/>
            <a:ext cx="2000250" cy="13573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buClr>
                <a:schemeClr val="bg1"/>
              </a:buClr>
            </a:pPr>
            <a:r>
              <a:rPr lang="en-US" sz="1800"/>
              <a:t>Hop-1 nodes</a:t>
            </a:r>
          </a:p>
          <a:p>
            <a:pPr algn="l">
              <a:buClr>
                <a:schemeClr val="bg1"/>
              </a:buClr>
            </a:pPr>
            <a:r>
              <a:rPr lang="en-US" sz="1800"/>
              <a:t>calculate current </a:t>
            </a:r>
          </a:p>
          <a:p>
            <a:pPr algn="l">
              <a:buClr>
                <a:schemeClr val="bg1"/>
              </a:buClr>
            </a:pPr>
            <a:r>
              <a:rPr lang="en-US" sz="1800"/>
              <a:t>(next hop, dist), &amp;</a:t>
            </a:r>
          </a:p>
          <a:p>
            <a:pPr algn="l">
              <a:buClr>
                <a:schemeClr val="bg1"/>
              </a:buClr>
            </a:pPr>
            <a:r>
              <a:rPr lang="en-US" sz="1800"/>
              <a:t>send to neighbors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46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625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Bellman-Ford Algorithm</a:t>
            </a:r>
          </a:p>
        </p:txBody>
      </p:sp>
      <p:sp>
        <p:nvSpPr>
          <p:cNvPr id="6349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87350" y="1490663"/>
            <a:ext cx="8513763" cy="46831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100" i="1" smtClean="0"/>
              <a:t>Consider computations </a:t>
            </a:r>
            <a:r>
              <a:rPr lang="en-US" sz="2100" i="1" u="sng" smtClean="0"/>
              <a:t>for one destination</a:t>
            </a:r>
            <a:r>
              <a:rPr lang="en-US" sz="2100" i="1" smtClean="0"/>
              <a:t> d</a:t>
            </a:r>
          </a:p>
          <a:p>
            <a:pPr eaLnBrk="1" hangingPunct="1">
              <a:lnSpc>
                <a:spcPct val="90000"/>
              </a:lnSpc>
            </a:pPr>
            <a:r>
              <a:rPr lang="en-US" sz="2100" i="1" smtClean="0"/>
              <a:t>Initialization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Each node table has 1 row for destination </a:t>
            </a:r>
            <a:r>
              <a:rPr lang="en-US" sz="2000" i="1" smtClean="0"/>
              <a:t>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Distance of node </a:t>
            </a:r>
            <a:r>
              <a:rPr lang="en-US" sz="2000" i="1" smtClean="0"/>
              <a:t>d</a:t>
            </a:r>
            <a:r>
              <a:rPr lang="en-US" sz="2000" smtClean="0"/>
              <a:t> to itself is zero:  </a:t>
            </a:r>
            <a:r>
              <a:rPr lang="en-US" sz="2000" i="1" smtClean="0"/>
              <a:t>D</a:t>
            </a:r>
            <a:r>
              <a:rPr lang="en-US" sz="2000" i="1" baseline="-25000" smtClean="0"/>
              <a:t>d</a:t>
            </a:r>
            <a:r>
              <a:rPr lang="en-US" sz="2000" i="1" smtClean="0"/>
              <a:t>=0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Distance of other node </a:t>
            </a:r>
            <a:r>
              <a:rPr lang="en-US" sz="2000" i="1" smtClean="0"/>
              <a:t>j</a:t>
            </a:r>
            <a:r>
              <a:rPr lang="en-US" sz="2000" smtClean="0"/>
              <a:t> to </a:t>
            </a:r>
            <a:r>
              <a:rPr lang="en-US" sz="2000" i="1" smtClean="0"/>
              <a:t>d</a:t>
            </a:r>
            <a:r>
              <a:rPr lang="en-US" sz="2000" smtClean="0"/>
              <a:t> is infinite:  </a:t>
            </a:r>
            <a:r>
              <a:rPr lang="en-US" sz="2000" i="1" smtClean="0"/>
              <a:t>D</a:t>
            </a:r>
            <a:r>
              <a:rPr lang="en-US" sz="2000" i="1" baseline="-25000" smtClean="0"/>
              <a:t>j</a:t>
            </a:r>
            <a:r>
              <a:rPr lang="en-US" sz="2000" i="1" smtClean="0"/>
              <a:t>=</a:t>
            </a:r>
            <a:r>
              <a:rPr lang="en-US" sz="2000" i="1" smtClean="0">
                <a:sym typeface="Symbol" pitchFamily="18" charset="2"/>
              </a:rPr>
              <a:t></a:t>
            </a:r>
            <a:r>
              <a:rPr lang="en-US" sz="2000" i="1" smtClean="0"/>
              <a:t>,</a:t>
            </a:r>
            <a:r>
              <a:rPr lang="en-US" sz="2000" smtClean="0"/>
              <a:t> for </a:t>
            </a:r>
            <a:r>
              <a:rPr lang="en-US" sz="2000" i="1" smtClean="0"/>
              <a:t>j</a:t>
            </a:r>
            <a:r>
              <a:rPr lang="en-US" sz="2000" i="1" smtClean="0">
                <a:sym typeface="Symbol" pitchFamily="18" charset="2"/>
              </a:rPr>
              <a:t> </a:t>
            </a:r>
            <a:r>
              <a:rPr lang="en-US" sz="2000" i="1" smtClean="0">
                <a:cs typeface="Arial" charset="0"/>
              </a:rPr>
              <a:t>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>
                <a:cs typeface="Arial" charset="0"/>
              </a:rPr>
              <a:t>Next hop node </a:t>
            </a:r>
            <a:r>
              <a:rPr lang="en-US" sz="2000" i="1" smtClean="0">
                <a:cs typeface="Arial" charset="0"/>
              </a:rPr>
              <a:t>n</a:t>
            </a:r>
            <a:r>
              <a:rPr lang="en-US" sz="2000" i="1" baseline="-25000" smtClean="0">
                <a:cs typeface="Arial" charset="0"/>
              </a:rPr>
              <a:t>j</a:t>
            </a:r>
            <a:r>
              <a:rPr lang="en-US" sz="2000" smtClean="0">
                <a:cs typeface="Arial" charset="0"/>
              </a:rPr>
              <a:t> = -1 to indicate not yet defined for </a:t>
            </a:r>
            <a:r>
              <a:rPr lang="en-US" sz="2000" i="1" smtClean="0"/>
              <a:t>j </a:t>
            </a:r>
            <a:r>
              <a:rPr lang="en-US" sz="2000" i="1" smtClean="0">
                <a:sym typeface="Symbol" pitchFamily="18" charset="2"/>
              </a:rPr>
              <a:t></a:t>
            </a:r>
            <a:r>
              <a:rPr lang="en-US" sz="2000" i="1" smtClean="0"/>
              <a:t> </a:t>
            </a:r>
            <a:r>
              <a:rPr lang="en-US" sz="2000" i="1" smtClean="0">
                <a:cs typeface="Arial" charset="0"/>
              </a:rPr>
              <a:t>d</a:t>
            </a:r>
            <a:endParaRPr lang="en-US" sz="2000" smtClean="0"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100" i="1" smtClean="0"/>
              <a:t>Send Step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Send new distance vector to immediate neighbors across local link</a:t>
            </a:r>
          </a:p>
          <a:p>
            <a:pPr eaLnBrk="1" hangingPunct="1">
              <a:lnSpc>
                <a:spcPct val="90000"/>
              </a:lnSpc>
            </a:pPr>
            <a:r>
              <a:rPr lang="en-US" sz="2100" i="1" smtClean="0"/>
              <a:t>Receive Step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u="sng" smtClean="0"/>
              <a:t>At node </a:t>
            </a:r>
            <a:r>
              <a:rPr lang="en-US" sz="2000" i="1" u="sng" smtClean="0"/>
              <a:t>j</a:t>
            </a:r>
            <a:r>
              <a:rPr lang="en-US" sz="2000" u="sng" smtClean="0"/>
              <a:t>, find the next hop that gives the minimum distance to </a:t>
            </a:r>
            <a:r>
              <a:rPr lang="en-US" sz="2000" i="1" u="sng" smtClean="0"/>
              <a:t>d</a:t>
            </a:r>
            <a:r>
              <a:rPr lang="en-US" sz="2000" smtClean="0"/>
              <a:t>, 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400" i="1" smtClean="0"/>
              <a:t>Min</a:t>
            </a:r>
            <a:r>
              <a:rPr lang="en-US" sz="2400" i="1" baseline="-25000" smtClean="0"/>
              <a:t>j</a:t>
            </a:r>
            <a:r>
              <a:rPr lang="en-US" sz="2400" i="1" smtClean="0"/>
              <a:t> { C</a:t>
            </a:r>
            <a:r>
              <a:rPr lang="en-US" sz="2400" i="1" baseline="-25000" smtClean="0"/>
              <a:t>ij</a:t>
            </a:r>
            <a:r>
              <a:rPr lang="en-US" sz="2400" i="1" smtClean="0"/>
              <a:t> + D</a:t>
            </a:r>
            <a:r>
              <a:rPr lang="en-US" sz="2400" i="1" baseline="-25000" smtClean="0"/>
              <a:t>j</a:t>
            </a:r>
            <a:r>
              <a:rPr lang="en-US" sz="2400" i="1" smtClean="0"/>
              <a:t> }</a:t>
            </a:r>
            <a:endParaRPr lang="en-US" sz="2400" i="1" baseline="-25000" smtClean="0"/>
          </a:p>
          <a:p>
            <a:pPr lvl="2" eaLnBrk="1" hangingPunct="1">
              <a:lnSpc>
                <a:spcPct val="90000"/>
              </a:lnSpc>
            </a:pPr>
            <a:r>
              <a:rPr lang="en-US" sz="1800" smtClean="0"/>
              <a:t>Replace old </a:t>
            </a:r>
            <a:r>
              <a:rPr lang="en-US" sz="1800" i="1" smtClean="0"/>
              <a:t>(n</a:t>
            </a:r>
            <a:r>
              <a:rPr lang="en-US" sz="1800" i="1" baseline="-25000" smtClean="0"/>
              <a:t>j</a:t>
            </a:r>
            <a:r>
              <a:rPr lang="en-US" sz="1800" i="1" smtClean="0"/>
              <a:t>, D</a:t>
            </a:r>
            <a:r>
              <a:rPr lang="en-US" sz="1800" i="1" baseline="-25000" smtClean="0"/>
              <a:t>j</a:t>
            </a:r>
            <a:r>
              <a:rPr lang="en-US" sz="1800" i="1" smtClean="0"/>
              <a:t>(d))</a:t>
            </a:r>
            <a:r>
              <a:rPr lang="en-US" sz="1800" smtClean="0"/>
              <a:t> by new </a:t>
            </a:r>
            <a:r>
              <a:rPr lang="en-US" sz="1800" i="1" smtClean="0"/>
              <a:t>(n</a:t>
            </a:r>
            <a:r>
              <a:rPr lang="en-US" sz="1800" i="1" baseline="-25000" smtClean="0"/>
              <a:t>j</a:t>
            </a:r>
            <a:r>
              <a:rPr lang="en-US" sz="1800" i="1" smtClean="0"/>
              <a:t>*, D</a:t>
            </a:r>
            <a:r>
              <a:rPr lang="en-US" sz="1800" i="1" baseline="-25000" smtClean="0"/>
              <a:t>j</a:t>
            </a:r>
            <a:r>
              <a:rPr lang="en-US" sz="1800" i="1" smtClean="0"/>
              <a:t>*(d))</a:t>
            </a:r>
            <a:r>
              <a:rPr lang="en-US" sz="1800" smtClean="0"/>
              <a:t> if new next node or distance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Go to send step</a:t>
            </a:r>
          </a:p>
          <a:p>
            <a:pPr eaLnBrk="1" hangingPunct="1">
              <a:lnSpc>
                <a:spcPct val="90000"/>
              </a:lnSpc>
            </a:pPr>
            <a:endParaRPr lang="en-US" sz="21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Bellman-Ford Algorithm</a:t>
            </a:r>
          </a:p>
        </p:txBody>
      </p:sp>
      <p:sp>
        <p:nvSpPr>
          <p:cNvPr id="6451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87350" y="1490663"/>
            <a:ext cx="8531225" cy="49752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100" i="1" smtClean="0"/>
              <a:t>Now consider parallel computations </a:t>
            </a:r>
            <a:r>
              <a:rPr lang="en-US" sz="2100" i="1" u="sng" smtClean="0"/>
              <a:t>for all destinations</a:t>
            </a:r>
            <a:r>
              <a:rPr lang="en-US" sz="2100" i="1" smtClean="0"/>
              <a:t> d</a:t>
            </a:r>
          </a:p>
          <a:p>
            <a:pPr eaLnBrk="1" hangingPunct="1">
              <a:lnSpc>
                <a:spcPct val="80000"/>
              </a:lnSpc>
            </a:pPr>
            <a:r>
              <a:rPr lang="en-US" sz="2100" i="1" smtClean="0"/>
              <a:t>Initialization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smtClean="0"/>
              <a:t>Each node has 1 row for each destination </a:t>
            </a:r>
            <a:r>
              <a:rPr lang="en-US" sz="2000" i="1" smtClean="0"/>
              <a:t>d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smtClean="0"/>
              <a:t>Distance of node </a:t>
            </a:r>
            <a:r>
              <a:rPr lang="en-US" sz="2000" i="1" smtClean="0"/>
              <a:t>d</a:t>
            </a:r>
            <a:r>
              <a:rPr lang="en-US" sz="2000" smtClean="0"/>
              <a:t> to itself is zero:  </a:t>
            </a:r>
            <a:r>
              <a:rPr lang="en-US" sz="2000" i="1" smtClean="0"/>
              <a:t>D</a:t>
            </a:r>
            <a:r>
              <a:rPr lang="en-US" sz="2000" i="1" baseline="-25000" smtClean="0"/>
              <a:t>d</a:t>
            </a:r>
            <a:r>
              <a:rPr lang="en-US" sz="2000" i="1" smtClean="0"/>
              <a:t>(d)=0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smtClean="0"/>
              <a:t>Distance of other node </a:t>
            </a:r>
            <a:r>
              <a:rPr lang="en-US" sz="2000" i="1" smtClean="0"/>
              <a:t>j</a:t>
            </a:r>
            <a:r>
              <a:rPr lang="en-US" sz="2000" smtClean="0"/>
              <a:t> to </a:t>
            </a:r>
            <a:r>
              <a:rPr lang="en-US" sz="2000" i="1" smtClean="0"/>
              <a:t>d</a:t>
            </a:r>
            <a:r>
              <a:rPr lang="en-US" sz="2000" smtClean="0"/>
              <a:t> is infinite:  </a:t>
            </a:r>
            <a:r>
              <a:rPr lang="en-US" sz="2000" i="1" smtClean="0"/>
              <a:t>D</a:t>
            </a:r>
            <a:r>
              <a:rPr lang="en-US" sz="2000" i="1" baseline="-25000" smtClean="0"/>
              <a:t>j</a:t>
            </a:r>
            <a:r>
              <a:rPr lang="en-US" sz="2000" i="1" smtClean="0"/>
              <a:t>(d)= </a:t>
            </a:r>
            <a:r>
              <a:rPr lang="en-US" sz="2000" i="1" smtClean="0">
                <a:sym typeface="Symbol" pitchFamily="18" charset="2"/>
              </a:rPr>
              <a:t></a:t>
            </a:r>
            <a:r>
              <a:rPr lang="en-US" sz="2000" i="1" smtClean="0"/>
              <a:t> ,</a:t>
            </a:r>
            <a:r>
              <a:rPr lang="en-US" sz="2000" smtClean="0">
                <a:latin typeface="Monotype Corsiva" pitchFamily="66" charset="0"/>
              </a:rPr>
              <a:t> </a:t>
            </a:r>
            <a:r>
              <a:rPr lang="en-US" sz="2000" smtClean="0"/>
              <a:t>for </a:t>
            </a:r>
            <a:r>
              <a:rPr lang="en-US" sz="2000" i="1" smtClean="0"/>
              <a:t>j </a:t>
            </a:r>
            <a:r>
              <a:rPr lang="en-US" sz="2000" i="1" smtClean="0">
                <a:sym typeface="Symbol" pitchFamily="18" charset="2"/>
              </a:rPr>
              <a:t></a:t>
            </a:r>
            <a:r>
              <a:rPr lang="en-US" sz="2000" i="1" smtClean="0"/>
              <a:t> </a:t>
            </a:r>
            <a:r>
              <a:rPr lang="en-US" sz="2000" i="1" smtClean="0">
                <a:cs typeface="Arial" charset="0"/>
              </a:rPr>
              <a:t>d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smtClean="0">
                <a:cs typeface="Arial" charset="0"/>
              </a:rPr>
              <a:t>Next node </a:t>
            </a:r>
            <a:r>
              <a:rPr lang="en-US" sz="2000" i="1" smtClean="0">
                <a:cs typeface="Arial" charset="0"/>
              </a:rPr>
              <a:t>n</a:t>
            </a:r>
            <a:r>
              <a:rPr lang="en-US" sz="2000" i="1" baseline="-25000" smtClean="0">
                <a:cs typeface="Arial" charset="0"/>
              </a:rPr>
              <a:t>j</a:t>
            </a:r>
            <a:r>
              <a:rPr lang="en-US" sz="2000" smtClean="0">
                <a:cs typeface="Arial" charset="0"/>
              </a:rPr>
              <a:t> = -1 since not yet defined</a:t>
            </a:r>
          </a:p>
          <a:p>
            <a:pPr eaLnBrk="1" hangingPunct="1">
              <a:lnSpc>
                <a:spcPct val="80000"/>
              </a:lnSpc>
            </a:pPr>
            <a:r>
              <a:rPr lang="en-US" sz="2100" i="1" smtClean="0"/>
              <a:t>Send Step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smtClean="0"/>
              <a:t>Send new distance vector to immediate neighbors across local link</a:t>
            </a:r>
          </a:p>
          <a:p>
            <a:pPr eaLnBrk="1" hangingPunct="1">
              <a:lnSpc>
                <a:spcPct val="80000"/>
              </a:lnSpc>
            </a:pPr>
            <a:r>
              <a:rPr lang="en-US" sz="2100" i="1" smtClean="0"/>
              <a:t>Receive Step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u="sng" smtClean="0"/>
              <a:t>For each destination </a:t>
            </a:r>
            <a:r>
              <a:rPr lang="en-US" sz="2000" i="1" u="sng" smtClean="0"/>
              <a:t>d</a:t>
            </a:r>
            <a:r>
              <a:rPr lang="en-US" sz="2000" u="sng" smtClean="0"/>
              <a:t>, find the next hop that gives the minimum distance to </a:t>
            </a:r>
            <a:r>
              <a:rPr lang="en-US" sz="2000" i="1" u="sng" smtClean="0"/>
              <a:t>d</a:t>
            </a:r>
            <a:r>
              <a:rPr lang="en-US" sz="2000" smtClean="0"/>
              <a:t>, 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2400" i="1" smtClean="0"/>
              <a:t>Min</a:t>
            </a:r>
            <a:r>
              <a:rPr lang="en-US" sz="2400" i="1" baseline="-25000" smtClean="0"/>
              <a:t>j</a:t>
            </a:r>
            <a:r>
              <a:rPr lang="en-US" sz="2400" i="1" smtClean="0"/>
              <a:t> { C</a:t>
            </a:r>
            <a:r>
              <a:rPr lang="en-US" sz="2400" i="1" baseline="-25000" smtClean="0"/>
              <a:t>ij</a:t>
            </a:r>
            <a:r>
              <a:rPr lang="en-US" sz="2400" i="1" smtClean="0"/>
              <a:t>+ D</a:t>
            </a:r>
            <a:r>
              <a:rPr lang="en-US" sz="2400" i="1" baseline="-25000" smtClean="0"/>
              <a:t>j</a:t>
            </a:r>
            <a:r>
              <a:rPr lang="en-US" sz="2400" i="1" smtClean="0"/>
              <a:t>(d) }</a:t>
            </a:r>
            <a:endParaRPr lang="en-US" sz="2400" i="1" baseline="-25000" smtClean="0"/>
          </a:p>
          <a:p>
            <a:pPr lvl="2" eaLnBrk="1" hangingPunct="1">
              <a:lnSpc>
                <a:spcPct val="80000"/>
              </a:lnSpc>
            </a:pPr>
            <a:r>
              <a:rPr lang="en-US" sz="1800" smtClean="0"/>
              <a:t>Replace old </a:t>
            </a:r>
            <a:r>
              <a:rPr lang="en-US" sz="1800" i="1" smtClean="0"/>
              <a:t>(n</a:t>
            </a:r>
            <a:r>
              <a:rPr lang="en-US" sz="1800" i="1" baseline="-25000" smtClean="0"/>
              <a:t>j</a:t>
            </a:r>
            <a:r>
              <a:rPr lang="en-US" sz="1800" i="1" smtClean="0"/>
              <a:t>, D</a:t>
            </a:r>
            <a:r>
              <a:rPr lang="en-US" sz="1800" i="1" baseline="-25000" smtClean="0"/>
              <a:t>i</a:t>
            </a:r>
            <a:r>
              <a:rPr lang="en-US" sz="1800" i="1" smtClean="0"/>
              <a:t>(d))</a:t>
            </a:r>
            <a:r>
              <a:rPr lang="en-US" sz="1800" smtClean="0"/>
              <a:t> by new </a:t>
            </a:r>
            <a:r>
              <a:rPr lang="en-US" sz="1800" i="1" smtClean="0"/>
              <a:t>(n</a:t>
            </a:r>
            <a:r>
              <a:rPr lang="en-US" sz="1800" i="1" baseline="-25000" smtClean="0"/>
              <a:t>j</a:t>
            </a:r>
            <a:r>
              <a:rPr lang="en-US" sz="1800" i="1" smtClean="0"/>
              <a:t>*, D</a:t>
            </a:r>
            <a:r>
              <a:rPr lang="en-US" sz="1800" i="1" baseline="-25000" smtClean="0"/>
              <a:t>j</a:t>
            </a:r>
            <a:r>
              <a:rPr lang="en-US" sz="1800" i="1" smtClean="0"/>
              <a:t>*(d))</a:t>
            </a:r>
            <a:r>
              <a:rPr lang="en-US" sz="1800" smtClean="0"/>
              <a:t> if new next node or distance found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smtClean="0"/>
              <a:t>Go to send step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2916" name="Group 84"/>
          <p:cNvGraphicFramePr>
            <a:graphicFrameLocks noGrp="1"/>
          </p:cNvGraphicFramePr>
          <p:nvPr>
            <p:ph/>
          </p:nvPr>
        </p:nvGraphicFramePr>
        <p:xfrm>
          <a:off x="334963" y="333375"/>
          <a:ext cx="7546975" cy="2286000"/>
        </p:xfrm>
        <a:graphic>
          <a:graphicData uri="http://schemas.openxmlformats.org/drawingml/2006/table">
            <a:tbl>
              <a:tblPr/>
              <a:tblGrid>
                <a:gridCol w="1223962"/>
                <a:gridCol w="1270000"/>
                <a:gridCol w="1270000"/>
                <a:gridCol w="1270000"/>
                <a:gridCol w="1243013"/>
                <a:gridCol w="1270000"/>
              </a:tblGrid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Iteration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1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2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3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4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5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Initial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46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973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65582" name="Group 85"/>
          <p:cNvGrpSpPr>
            <a:grpSpLocks/>
          </p:cNvGrpSpPr>
          <p:nvPr/>
        </p:nvGrpSpPr>
        <p:grpSpPr bwMode="auto">
          <a:xfrm>
            <a:off x="2070100" y="3938588"/>
            <a:ext cx="5397500" cy="2278062"/>
            <a:chOff x="1304" y="2481"/>
            <a:chExt cx="3400" cy="1435"/>
          </a:xfrm>
        </p:grpSpPr>
        <p:sp>
          <p:nvSpPr>
            <p:cNvPr id="65588" name="Oval 48"/>
            <p:cNvSpPr>
              <a:spLocks noChangeArrowheads="1"/>
            </p:cNvSpPr>
            <p:nvPr/>
          </p:nvSpPr>
          <p:spPr bwMode="auto">
            <a:xfrm>
              <a:off x="3320" y="2503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89" name="Oval 51"/>
            <p:cNvSpPr>
              <a:spLocks noChangeArrowheads="1"/>
            </p:cNvSpPr>
            <p:nvPr/>
          </p:nvSpPr>
          <p:spPr bwMode="auto">
            <a:xfrm>
              <a:off x="1304" y="2625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90" name="Oval 53"/>
            <p:cNvSpPr>
              <a:spLocks noChangeArrowheads="1"/>
            </p:cNvSpPr>
            <p:nvPr/>
          </p:nvSpPr>
          <p:spPr bwMode="auto">
            <a:xfrm>
              <a:off x="3416" y="3576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91" name="Oval 55"/>
            <p:cNvSpPr>
              <a:spLocks noChangeArrowheads="1"/>
            </p:cNvSpPr>
            <p:nvPr/>
          </p:nvSpPr>
          <p:spPr bwMode="auto">
            <a:xfrm>
              <a:off x="2416" y="3040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92" name="Oval 57"/>
            <p:cNvSpPr>
              <a:spLocks noChangeArrowheads="1"/>
            </p:cNvSpPr>
            <p:nvPr/>
          </p:nvSpPr>
          <p:spPr bwMode="auto">
            <a:xfrm>
              <a:off x="4472" y="3192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93" name="Oval 59"/>
            <p:cNvSpPr>
              <a:spLocks noChangeArrowheads="1"/>
            </p:cNvSpPr>
            <p:nvPr/>
          </p:nvSpPr>
          <p:spPr bwMode="auto">
            <a:xfrm>
              <a:off x="1736" y="3576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594" name="Rectangle 47"/>
            <p:cNvSpPr>
              <a:spLocks noChangeArrowheads="1"/>
            </p:cNvSpPr>
            <p:nvPr/>
          </p:nvSpPr>
          <p:spPr bwMode="auto">
            <a:xfrm>
              <a:off x="3342" y="2499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3</a:t>
              </a:r>
            </a:p>
          </p:txBody>
        </p:sp>
        <p:sp>
          <p:nvSpPr>
            <p:cNvPr id="65595" name="Line 49"/>
            <p:cNvSpPr>
              <a:spLocks noChangeShapeType="1"/>
            </p:cNvSpPr>
            <p:nvPr/>
          </p:nvSpPr>
          <p:spPr bwMode="auto">
            <a:xfrm flipV="1">
              <a:off x="1544" y="2625"/>
              <a:ext cx="1776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5596" name="Rectangle 50"/>
            <p:cNvSpPr>
              <a:spLocks noChangeArrowheads="1"/>
            </p:cNvSpPr>
            <p:nvPr/>
          </p:nvSpPr>
          <p:spPr bwMode="auto">
            <a:xfrm>
              <a:off x="1304" y="2643"/>
              <a:ext cx="18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1</a:t>
              </a:r>
            </a:p>
          </p:txBody>
        </p:sp>
        <p:sp>
          <p:nvSpPr>
            <p:cNvPr id="65597" name="Rectangle 52"/>
            <p:cNvSpPr>
              <a:spLocks noChangeArrowheads="1"/>
            </p:cNvSpPr>
            <p:nvPr/>
          </p:nvSpPr>
          <p:spPr bwMode="auto">
            <a:xfrm>
              <a:off x="3438" y="3572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5</a:t>
              </a:r>
            </a:p>
          </p:txBody>
        </p:sp>
        <p:sp>
          <p:nvSpPr>
            <p:cNvPr id="65598" name="Rectangle 54"/>
            <p:cNvSpPr>
              <a:spLocks noChangeArrowheads="1"/>
            </p:cNvSpPr>
            <p:nvPr/>
          </p:nvSpPr>
          <p:spPr bwMode="auto">
            <a:xfrm>
              <a:off x="2420" y="3036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4</a:t>
              </a:r>
            </a:p>
          </p:txBody>
        </p:sp>
        <p:sp>
          <p:nvSpPr>
            <p:cNvPr id="65599" name="Rectangle 56"/>
            <p:cNvSpPr>
              <a:spLocks noChangeArrowheads="1"/>
            </p:cNvSpPr>
            <p:nvPr/>
          </p:nvSpPr>
          <p:spPr bwMode="auto">
            <a:xfrm>
              <a:off x="4494" y="3188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6</a:t>
              </a:r>
            </a:p>
          </p:txBody>
        </p:sp>
        <p:sp>
          <p:nvSpPr>
            <p:cNvPr id="65600" name="Rectangle 58"/>
            <p:cNvSpPr>
              <a:spLocks noChangeArrowheads="1"/>
            </p:cNvSpPr>
            <p:nvPr/>
          </p:nvSpPr>
          <p:spPr bwMode="auto">
            <a:xfrm>
              <a:off x="1758" y="3572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2</a:t>
              </a:r>
            </a:p>
          </p:txBody>
        </p:sp>
        <p:sp>
          <p:nvSpPr>
            <p:cNvPr id="65601" name="Line 60"/>
            <p:cNvSpPr>
              <a:spLocks noChangeShapeType="1"/>
            </p:cNvSpPr>
            <p:nvPr/>
          </p:nvSpPr>
          <p:spPr bwMode="auto">
            <a:xfrm>
              <a:off x="1448" y="2865"/>
              <a:ext cx="336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5602" name="Line 61"/>
            <p:cNvSpPr>
              <a:spLocks noChangeShapeType="1"/>
            </p:cNvSpPr>
            <p:nvPr/>
          </p:nvSpPr>
          <p:spPr bwMode="auto">
            <a:xfrm>
              <a:off x="1976" y="3681"/>
              <a:ext cx="1432" cy="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5603" name="Line 62"/>
            <p:cNvSpPr>
              <a:spLocks noChangeShapeType="1"/>
            </p:cNvSpPr>
            <p:nvPr/>
          </p:nvSpPr>
          <p:spPr bwMode="auto">
            <a:xfrm flipV="1">
              <a:off x="3656" y="3376"/>
              <a:ext cx="808" cy="2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5604" name="Line 63"/>
            <p:cNvSpPr>
              <a:spLocks noChangeShapeType="1"/>
            </p:cNvSpPr>
            <p:nvPr/>
          </p:nvSpPr>
          <p:spPr bwMode="auto">
            <a:xfrm>
              <a:off x="3512" y="2673"/>
              <a:ext cx="972" cy="5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5605" name="Line 64"/>
            <p:cNvSpPr>
              <a:spLocks noChangeShapeType="1"/>
            </p:cNvSpPr>
            <p:nvPr/>
          </p:nvSpPr>
          <p:spPr bwMode="auto">
            <a:xfrm flipH="1">
              <a:off x="2648" y="2721"/>
              <a:ext cx="72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5606" name="Rectangle 65"/>
            <p:cNvSpPr>
              <a:spLocks noChangeArrowheads="1"/>
            </p:cNvSpPr>
            <p:nvPr/>
          </p:nvSpPr>
          <p:spPr bwMode="auto">
            <a:xfrm>
              <a:off x="2312" y="2481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2</a:t>
              </a:r>
            </a:p>
          </p:txBody>
        </p:sp>
        <p:sp>
          <p:nvSpPr>
            <p:cNvPr id="65607" name="Rectangle 66"/>
            <p:cNvSpPr>
              <a:spLocks noChangeArrowheads="1"/>
            </p:cNvSpPr>
            <p:nvPr/>
          </p:nvSpPr>
          <p:spPr bwMode="auto">
            <a:xfrm>
              <a:off x="1400" y="3201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3</a:t>
              </a:r>
            </a:p>
          </p:txBody>
        </p:sp>
        <p:sp>
          <p:nvSpPr>
            <p:cNvPr id="65608" name="Rectangle 67"/>
            <p:cNvSpPr>
              <a:spLocks noChangeArrowheads="1"/>
            </p:cNvSpPr>
            <p:nvPr/>
          </p:nvSpPr>
          <p:spPr bwMode="auto">
            <a:xfrm>
              <a:off x="2600" y="3729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4</a:t>
              </a:r>
            </a:p>
          </p:txBody>
        </p:sp>
        <p:sp>
          <p:nvSpPr>
            <p:cNvPr id="65609" name="Rectangle 68"/>
            <p:cNvSpPr>
              <a:spLocks noChangeArrowheads="1"/>
            </p:cNvSpPr>
            <p:nvPr/>
          </p:nvSpPr>
          <p:spPr bwMode="auto">
            <a:xfrm>
              <a:off x="2648" y="2817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2</a:t>
              </a:r>
            </a:p>
          </p:txBody>
        </p:sp>
        <p:sp>
          <p:nvSpPr>
            <p:cNvPr id="65610" name="Rectangle 69"/>
            <p:cNvSpPr>
              <a:spLocks noChangeArrowheads="1"/>
            </p:cNvSpPr>
            <p:nvPr/>
          </p:nvSpPr>
          <p:spPr bwMode="auto">
            <a:xfrm>
              <a:off x="2024" y="3249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1</a:t>
              </a:r>
            </a:p>
          </p:txBody>
        </p:sp>
        <p:sp>
          <p:nvSpPr>
            <p:cNvPr id="65611" name="Rectangle 70"/>
            <p:cNvSpPr>
              <a:spLocks noChangeArrowheads="1"/>
            </p:cNvSpPr>
            <p:nvPr/>
          </p:nvSpPr>
          <p:spPr bwMode="auto">
            <a:xfrm>
              <a:off x="3944" y="2721"/>
              <a:ext cx="178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1</a:t>
              </a:r>
            </a:p>
          </p:txBody>
        </p:sp>
        <p:sp>
          <p:nvSpPr>
            <p:cNvPr id="65612" name="Rectangle 71"/>
            <p:cNvSpPr>
              <a:spLocks noChangeArrowheads="1"/>
            </p:cNvSpPr>
            <p:nvPr/>
          </p:nvSpPr>
          <p:spPr bwMode="auto">
            <a:xfrm>
              <a:off x="4071" y="3538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2</a:t>
              </a:r>
            </a:p>
          </p:txBody>
        </p:sp>
        <p:sp>
          <p:nvSpPr>
            <p:cNvPr id="65613" name="Rectangle 72"/>
            <p:cNvSpPr>
              <a:spLocks noChangeArrowheads="1"/>
            </p:cNvSpPr>
            <p:nvPr/>
          </p:nvSpPr>
          <p:spPr bwMode="auto">
            <a:xfrm>
              <a:off x="3080" y="3249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3</a:t>
              </a:r>
            </a:p>
          </p:txBody>
        </p:sp>
        <p:sp>
          <p:nvSpPr>
            <p:cNvPr id="65614" name="Line 73"/>
            <p:cNvSpPr>
              <a:spLocks noChangeShapeType="1"/>
            </p:cNvSpPr>
            <p:nvPr/>
          </p:nvSpPr>
          <p:spPr bwMode="auto">
            <a:xfrm>
              <a:off x="2648" y="3201"/>
              <a:ext cx="860" cy="3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5615" name="Line 74"/>
            <p:cNvSpPr>
              <a:spLocks noChangeShapeType="1"/>
            </p:cNvSpPr>
            <p:nvPr/>
          </p:nvSpPr>
          <p:spPr bwMode="auto">
            <a:xfrm flipV="1">
              <a:off x="1976" y="3249"/>
              <a:ext cx="48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5616" name="Line 75"/>
            <p:cNvSpPr>
              <a:spLocks noChangeShapeType="1"/>
            </p:cNvSpPr>
            <p:nvPr/>
          </p:nvSpPr>
          <p:spPr bwMode="auto">
            <a:xfrm>
              <a:off x="1544" y="2769"/>
              <a:ext cx="86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5617" name="Rectangle 76"/>
            <p:cNvSpPr>
              <a:spLocks noChangeArrowheads="1"/>
            </p:cNvSpPr>
            <p:nvPr/>
          </p:nvSpPr>
          <p:spPr bwMode="auto">
            <a:xfrm>
              <a:off x="2024" y="2817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5</a:t>
              </a:r>
            </a:p>
          </p:txBody>
        </p:sp>
      </p:grpSp>
      <p:sp>
        <p:nvSpPr>
          <p:cNvPr id="65583" name="Text Box 77"/>
          <p:cNvSpPr txBox="1">
            <a:spLocks noChangeArrowheads="1"/>
          </p:cNvSpPr>
          <p:nvPr/>
        </p:nvSpPr>
        <p:spPr bwMode="auto">
          <a:xfrm>
            <a:off x="7620000" y="4143375"/>
            <a:ext cx="70485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2800">
                <a:latin typeface="Monotype Corsiva" pitchFamily="66" charset="0"/>
              </a:rPr>
              <a:t>San</a:t>
            </a:r>
          </a:p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2800">
                <a:latin typeface="Monotype Corsiva" pitchFamily="66" charset="0"/>
              </a:rPr>
              <a:t>Jose</a:t>
            </a:r>
          </a:p>
        </p:txBody>
      </p:sp>
      <p:sp>
        <p:nvSpPr>
          <p:cNvPr id="65584" name="AutoShape 86"/>
          <p:cNvSpPr>
            <a:spLocks/>
          </p:cNvSpPr>
          <p:nvPr/>
        </p:nvSpPr>
        <p:spPr bwMode="auto">
          <a:xfrm rot="-5400000">
            <a:off x="2156619" y="2167731"/>
            <a:ext cx="88900" cy="1233488"/>
          </a:xfrm>
          <a:prstGeom prst="leftBrace">
            <a:avLst>
              <a:gd name="adj1" fmla="val 115625"/>
              <a:gd name="adj2" fmla="val 50000"/>
            </a:avLst>
          </a:prstGeom>
          <a:noFill/>
          <a:ln w="190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85" name="Text Box 87"/>
          <p:cNvSpPr txBox="1">
            <a:spLocks noChangeArrowheads="1"/>
          </p:cNvSpPr>
          <p:nvPr/>
        </p:nvSpPr>
        <p:spPr bwMode="auto">
          <a:xfrm>
            <a:off x="1504950" y="2863850"/>
            <a:ext cx="1524000" cy="11271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buClr>
                <a:schemeClr val="bg1"/>
              </a:buClr>
            </a:pPr>
            <a:r>
              <a:rPr lang="en-US">
                <a:solidFill>
                  <a:srgbClr val="FF3300"/>
                </a:solidFill>
              </a:rPr>
              <a:t>Table entry </a:t>
            </a:r>
          </a:p>
          <a:p>
            <a:pPr algn="l">
              <a:buClr>
                <a:schemeClr val="bg1"/>
              </a:buClr>
            </a:pPr>
            <a:r>
              <a:rPr lang="en-US">
                <a:solidFill>
                  <a:srgbClr val="FF3300"/>
                </a:solidFill>
              </a:rPr>
              <a:t>@ node 1</a:t>
            </a:r>
          </a:p>
          <a:p>
            <a:pPr algn="l">
              <a:buClr>
                <a:schemeClr val="bg1"/>
              </a:buClr>
            </a:pPr>
            <a:r>
              <a:rPr lang="en-US">
                <a:solidFill>
                  <a:srgbClr val="FF3300"/>
                </a:solidFill>
              </a:rPr>
              <a:t>for dest SJ</a:t>
            </a:r>
          </a:p>
        </p:txBody>
      </p:sp>
      <p:sp>
        <p:nvSpPr>
          <p:cNvPr id="65586" name="AutoShape 88"/>
          <p:cNvSpPr>
            <a:spLocks/>
          </p:cNvSpPr>
          <p:nvPr/>
        </p:nvSpPr>
        <p:spPr bwMode="auto">
          <a:xfrm rot="-5400000">
            <a:off x="4723607" y="2104231"/>
            <a:ext cx="88900" cy="1233487"/>
          </a:xfrm>
          <a:prstGeom prst="leftBrace">
            <a:avLst>
              <a:gd name="adj1" fmla="val 115625"/>
              <a:gd name="adj2" fmla="val 50000"/>
            </a:avLst>
          </a:prstGeom>
          <a:noFill/>
          <a:ln w="190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5587" name="Text Box 89"/>
          <p:cNvSpPr txBox="1">
            <a:spLocks noChangeArrowheads="1"/>
          </p:cNvSpPr>
          <p:nvPr/>
        </p:nvSpPr>
        <p:spPr bwMode="auto">
          <a:xfrm>
            <a:off x="4071938" y="2800350"/>
            <a:ext cx="1524000" cy="11271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buClr>
                <a:schemeClr val="bg1"/>
              </a:buClr>
            </a:pPr>
            <a:r>
              <a:rPr lang="en-US">
                <a:solidFill>
                  <a:srgbClr val="FF3300"/>
                </a:solidFill>
              </a:rPr>
              <a:t>Table entry </a:t>
            </a:r>
          </a:p>
          <a:p>
            <a:pPr algn="l">
              <a:buClr>
                <a:schemeClr val="bg1"/>
              </a:buClr>
            </a:pPr>
            <a:r>
              <a:rPr lang="en-US">
                <a:solidFill>
                  <a:srgbClr val="FF3300"/>
                </a:solidFill>
              </a:rPr>
              <a:t>@ node 3</a:t>
            </a:r>
          </a:p>
          <a:p>
            <a:pPr algn="l">
              <a:buClr>
                <a:schemeClr val="bg1"/>
              </a:buClr>
            </a:pPr>
            <a:r>
              <a:rPr lang="en-US">
                <a:solidFill>
                  <a:srgbClr val="FF3300"/>
                </a:solidFill>
              </a:rPr>
              <a:t>for dest SJ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3955" name="Group 99"/>
          <p:cNvGraphicFramePr>
            <a:graphicFrameLocks noGrp="1"/>
          </p:cNvGraphicFramePr>
          <p:nvPr>
            <p:ph/>
          </p:nvPr>
        </p:nvGraphicFramePr>
        <p:xfrm>
          <a:off x="290513" y="333375"/>
          <a:ext cx="7577137" cy="2286000"/>
        </p:xfrm>
        <a:graphic>
          <a:graphicData uri="http://schemas.openxmlformats.org/drawingml/2006/table">
            <a:tbl>
              <a:tblPr/>
              <a:tblGrid>
                <a:gridCol w="1254125"/>
                <a:gridCol w="1270000"/>
                <a:gridCol w="1270000"/>
                <a:gridCol w="1270000"/>
                <a:gridCol w="1243012"/>
                <a:gridCol w="127000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Iteration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1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2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3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4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5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Initial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Arial" charset="0"/>
                        </a:rPr>
                        <a:t>(6,1)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rgbClr val="00CC00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(6,2)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4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9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6606" name="Text Box 46"/>
          <p:cNvSpPr txBox="1">
            <a:spLocks noChangeArrowheads="1"/>
          </p:cNvSpPr>
          <p:nvPr/>
        </p:nvSpPr>
        <p:spPr bwMode="auto">
          <a:xfrm>
            <a:off x="7696200" y="4343400"/>
            <a:ext cx="70485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2800">
                <a:latin typeface="Monotype Corsiva" pitchFamily="66" charset="0"/>
              </a:rPr>
              <a:t>San</a:t>
            </a:r>
          </a:p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2800">
                <a:latin typeface="Monotype Corsiva" pitchFamily="66" charset="0"/>
              </a:rPr>
              <a:t>Jose</a:t>
            </a:r>
          </a:p>
        </p:txBody>
      </p:sp>
      <p:sp>
        <p:nvSpPr>
          <p:cNvPr id="633903" name="Line 47"/>
          <p:cNvSpPr>
            <a:spLocks noChangeShapeType="1"/>
          </p:cNvSpPr>
          <p:nvPr/>
        </p:nvSpPr>
        <p:spPr bwMode="auto">
          <a:xfrm flipH="1" flipV="1">
            <a:off x="5562600" y="3962400"/>
            <a:ext cx="1447800" cy="838200"/>
          </a:xfrm>
          <a:prstGeom prst="line">
            <a:avLst/>
          </a:prstGeom>
          <a:noFill/>
          <a:ln w="38100">
            <a:solidFill>
              <a:srgbClr val="66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2" name="Group 48"/>
          <p:cNvGrpSpPr>
            <a:grpSpLocks/>
          </p:cNvGrpSpPr>
          <p:nvPr/>
        </p:nvGrpSpPr>
        <p:grpSpPr bwMode="auto">
          <a:xfrm>
            <a:off x="6629400" y="3276600"/>
            <a:ext cx="1295400" cy="609600"/>
            <a:chOff x="4176" y="2064"/>
            <a:chExt cx="816" cy="384"/>
          </a:xfrm>
        </p:grpSpPr>
        <p:sp>
          <p:nvSpPr>
            <p:cNvPr id="66657" name="AutoShape 49"/>
            <p:cNvSpPr>
              <a:spLocks noChangeArrowheads="1"/>
            </p:cNvSpPr>
            <p:nvPr/>
          </p:nvSpPr>
          <p:spPr bwMode="auto">
            <a:xfrm>
              <a:off x="4176" y="2064"/>
              <a:ext cx="816" cy="384"/>
            </a:xfrm>
            <a:prstGeom prst="wedgeRectCallout">
              <a:avLst>
                <a:gd name="adj1" fmla="val -62134"/>
                <a:gd name="adj2" fmla="val 143491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sz="1800"/>
            </a:p>
          </p:txBody>
        </p:sp>
        <p:sp>
          <p:nvSpPr>
            <p:cNvPr id="66658" name="Text Box 50"/>
            <p:cNvSpPr txBox="1">
              <a:spLocks noChangeArrowheads="1"/>
            </p:cNvSpPr>
            <p:nvPr/>
          </p:nvSpPr>
          <p:spPr bwMode="auto">
            <a:xfrm>
              <a:off x="4368" y="2145"/>
              <a:ext cx="437" cy="231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D</a:t>
              </a:r>
              <a:r>
                <a:rPr lang="en-US" sz="1800" baseline="-25000"/>
                <a:t>6</a:t>
              </a:r>
              <a:r>
                <a:rPr lang="en-US" sz="1800"/>
                <a:t>=0</a:t>
              </a:r>
            </a:p>
          </p:txBody>
        </p:sp>
      </p:grpSp>
      <p:grpSp>
        <p:nvGrpSpPr>
          <p:cNvPr id="3" name="Group 51"/>
          <p:cNvGrpSpPr>
            <a:grpSpLocks/>
          </p:cNvGrpSpPr>
          <p:nvPr/>
        </p:nvGrpSpPr>
        <p:grpSpPr bwMode="auto">
          <a:xfrm>
            <a:off x="4191000" y="2743200"/>
            <a:ext cx="2209800" cy="838200"/>
            <a:chOff x="816" y="1824"/>
            <a:chExt cx="1392" cy="528"/>
          </a:xfrm>
        </p:grpSpPr>
        <p:sp>
          <p:nvSpPr>
            <p:cNvPr id="66655" name="AutoShape 52"/>
            <p:cNvSpPr>
              <a:spLocks noChangeArrowheads="1"/>
            </p:cNvSpPr>
            <p:nvPr/>
          </p:nvSpPr>
          <p:spPr bwMode="auto">
            <a:xfrm>
              <a:off x="816" y="1824"/>
              <a:ext cx="1392" cy="528"/>
            </a:xfrm>
            <a:prstGeom prst="cloudCallout">
              <a:avLst>
                <a:gd name="adj1" fmla="val 2157"/>
                <a:gd name="adj2" fmla="val 70833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sz="1800"/>
            </a:p>
          </p:txBody>
        </p:sp>
        <p:sp>
          <p:nvSpPr>
            <p:cNvPr id="66656" name="Text Box 53"/>
            <p:cNvSpPr txBox="1">
              <a:spLocks noChangeArrowheads="1"/>
            </p:cNvSpPr>
            <p:nvPr/>
          </p:nvSpPr>
          <p:spPr bwMode="auto">
            <a:xfrm>
              <a:off x="1161" y="1857"/>
              <a:ext cx="678" cy="404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sz="1800" i="1"/>
                <a:t>D</a:t>
              </a:r>
              <a:r>
                <a:rPr lang="en-US" sz="1800" i="1" baseline="-25000"/>
                <a:t>3</a:t>
              </a:r>
              <a:r>
                <a:rPr lang="en-US" sz="1800" i="1"/>
                <a:t>=D</a:t>
              </a:r>
              <a:r>
                <a:rPr lang="en-US" sz="1800" i="1" baseline="-25000"/>
                <a:t>6</a:t>
              </a:r>
              <a:r>
                <a:rPr lang="en-US" sz="1800" i="1"/>
                <a:t>+1</a:t>
              </a:r>
            </a:p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sz="1800" i="1"/>
                <a:t>n</a:t>
              </a:r>
              <a:r>
                <a:rPr lang="en-US" sz="1800" i="1" baseline="-25000"/>
                <a:t>3</a:t>
              </a:r>
              <a:r>
                <a:rPr lang="en-US" sz="1800" i="1"/>
                <a:t>=6</a:t>
              </a:r>
            </a:p>
          </p:txBody>
        </p:sp>
      </p:grpSp>
      <p:grpSp>
        <p:nvGrpSpPr>
          <p:cNvPr id="66610" name="Group 100"/>
          <p:cNvGrpSpPr>
            <a:grpSpLocks/>
          </p:cNvGrpSpPr>
          <p:nvPr/>
        </p:nvGrpSpPr>
        <p:grpSpPr bwMode="auto">
          <a:xfrm>
            <a:off x="2057400" y="3581400"/>
            <a:ext cx="5397500" cy="2278063"/>
            <a:chOff x="1296" y="2256"/>
            <a:chExt cx="3400" cy="1435"/>
          </a:xfrm>
        </p:grpSpPr>
        <p:sp>
          <p:nvSpPr>
            <p:cNvPr id="66625" name="Oval 56"/>
            <p:cNvSpPr>
              <a:spLocks noChangeArrowheads="1"/>
            </p:cNvSpPr>
            <p:nvPr/>
          </p:nvSpPr>
          <p:spPr bwMode="auto">
            <a:xfrm>
              <a:off x="3312" y="2278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26" name="Oval 61"/>
            <p:cNvSpPr>
              <a:spLocks noChangeArrowheads="1"/>
            </p:cNvSpPr>
            <p:nvPr/>
          </p:nvSpPr>
          <p:spPr bwMode="auto">
            <a:xfrm>
              <a:off x="3408" y="3342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27" name="Oval 63"/>
            <p:cNvSpPr>
              <a:spLocks noChangeArrowheads="1"/>
            </p:cNvSpPr>
            <p:nvPr/>
          </p:nvSpPr>
          <p:spPr bwMode="auto">
            <a:xfrm>
              <a:off x="2408" y="2806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28" name="Oval 65"/>
            <p:cNvSpPr>
              <a:spLocks noChangeArrowheads="1"/>
            </p:cNvSpPr>
            <p:nvPr/>
          </p:nvSpPr>
          <p:spPr bwMode="auto">
            <a:xfrm>
              <a:off x="4464" y="2967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29" name="Oval 59"/>
            <p:cNvSpPr>
              <a:spLocks noChangeArrowheads="1"/>
            </p:cNvSpPr>
            <p:nvPr/>
          </p:nvSpPr>
          <p:spPr bwMode="auto">
            <a:xfrm>
              <a:off x="1296" y="2400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30" name="Oval 67"/>
            <p:cNvSpPr>
              <a:spLocks noChangeArrowheads="1"/>
            </p:cNvSpPr>
            <p:nvPr/>
          </p:nvSpPr>
          <p:spPr bwMode="auto">
            <a:xfrm>
              <a:off x="1728" y="3351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631" name="Rectangle 55"/>
            <p:cNvSpPr>
              <a:spLocks noChangeArrowheads="1"/>
            </p:cNvSpPr>
            <p:nvPr/>
          </p:nvSpPr>
          <p:spPr bwMode="auto">
            <a:xfrm>
              <a:off x="3343" y="2256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3</a:t>
              </a:r>
            </a:p>
          </p:txBody>
        </p:sp>
        <p:sp>
          <p:nvSpPr>
            <p:cNvPr id="66632" name="Line 57"/>
            <p:cNvSpPr>
              <a:spLocks noChangeShapeType="1"/>
            </p:cNvSpPr>
            <p:nvPr/>
          </p:nvSpPr>
          <p:spPr bwMode="auto">
            <a:xfrm flipV="1">
              <a:off x="1536" y="2400"/>
              <a:ext cx="1776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6633" name="Rectangle 58"/>
            <p:cNvSpPr>
              <a:spLocks noChangeArrowheads="1"/>
            </p:cNvSpPr>
            <p:nvPr/>
          </p:nvSpPr>
          <p:spPr bwMode="auto">
            <a:xfrm>
              <a:off x="1296" y="2400"/>
              <a:ext cx="18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1</a:t>
              </a:r>
            </a:p>
          </p:txBody>
        </p:sp>
        <p:sp>
          <p:nvSpPr>
            <p:cNvPr id="66634" name="Rectangle 60"/>
            <p:cNvSpPr>
              <a:spLocks noChangeArrowheads="1"/>
            </p:cNvSpPr>
            <p:nvPr/>
          </p:nvSpPr>
          <p:spPr bwMode="auto">
            <a:xfrm>
              <a:off x="3439" y="3329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5</a:t>
              </a:r>
            </a:p>
          </p:txBody>
        </p:sp>
        <p:sp>
          <p:nvSpPr>
            <p:cNvPr id="66635" name="Rectangle 62"/>
            <p:cNvSpPr>
              <a:spLocks noChangeArrowheads="1"/>
            </p:cNvSpPr>
            <p:nvPr/>
          </p:nvSpPr>
          <p:spPr bwMode="auto">
            <a:xfrm>
              <a:off x="2439" y="2784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4</a:t>
              </a:r>
            </a:p>
          </p:txBody>
        </p:sp>
        <p:sp>
          <p:nvSpPr>
            <p:cNvPr id="66636" name="Rectangle 64"/>
            <p:cNvSpPr>
              <a:spLocks noChangeArrowheads="1"/>
            </p:cNvSpPr>
            <p:nvPr/>
          </p:nvSpPr>
          <p:spPr bwMode="auto">
            <a:xfrm>
              <a:off x="4477" y="2963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6</a:t>
              </a:r>
            </a:p>
          </p:txBody>
        </p:sp>
        <p:sp>
          <p:nvSpPr>
            <p:cNvPr id="66637" name="Rectangle 66"/>
            <p:cNvSpPr>
              <a:spLocks noChangeArrowheads="1"/>
            </p:cNvSpPr>
            <p:nvPr/>
          </p:nvSpPr>
          <p:spPr bwMode="auto">
            <a:xfrm>
              <a:off x="1759" y="3329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2</a:t>
              </a:r>
            </a:p>
          </p:txBody>
        </p:sp>
        <p:sp>
          <p:nvSpPr>
            <p:cNvPr id="66638" name="Line 68"/>
            <p:cNvSpPr>
              <a:spLocks noChangeShapeType="1"/>
            </p:cNvSpPr>
            <p:nvPr/>
          </p:nvSpPr>
          <p:spPr bwMode="auto">
            <a:xfrm>
              <a:off x="1440" y="2640"/>
              <a:ext cx="336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6639" name="Line 69"/>
            <p:cNvSpPr>
              <a:spLocks noChangeShapeType="1"/>
            </p:cNvSpPr>
            <p:nvPr/>
          </p:nvSpPr>
          <p:spPr bwMode="auto">
            <a:xfrm>
              <a:off x="1968" y="3456"/>
              <a:ext cx="1432" cy="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6640" name="Line 70"/>
            <p:cNvSpPr>
              <a:spLocks noChangeShapeType="1"/>
            </p:cNvSpPr>
            <p:nvPr/>
          </p:nvSpPr>
          <p:spPr bwMode="auto">
            <a:xfrm flipV="1">
              <a:off x="3648" y="3151"/>
              <a:ext cx="808" cy="2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6641" name="Line 71"/>
            <p:cNvSpPr>
              <a:spLocks noChangeShapeType="1"/>
            </p:cNvSpPr>
            <p:nvPr/>
          </p:nvSpPr>
          <p:spPr bwMode="auto">
            <a:xfrm>
              <a:off x="3504" y="2448"/>
              <a:ext cx="972" cy="5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6642" name="Line 72"/>
            <p:cNvSpPr>
              <a:spLocks noChangeShapeType="1"/>
            </p:cNvSpPr>
            <p:nvPr/>
          </p:nvSpPr>
          <p:spPr bwMode="auto">
            <a:xfrm flipH="1">
              <a:off x="2640" y="2496"/>
              <a:ext cx="72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6643" name="Rectangle 73"/>
            <p:cNvSpPr>
              <a:spLocks noChangeArrowheads="1"/>
            </p:cNvSpPr>
            <p:nvPr/>
          </p:nvSpPr>
          <p:spPr bwMode="auto">
            <a:xfrm>
              <a:off x="2304" y="2256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2</a:t>
              </a:r>
            </a:p>
          </p:txBody>
        </p:sp>
        <p:sp>
          <p:nvSpPr>
            <p:cNvPr id="66644" name="Rectangle 74"/>
            <p:cNvSpPr>
              <a:spLocks noChangeArrowheads="1"/>
            </p:cNvSpPr>
            <p:nvPr/>
          </p:nvSpPr>
          <p:spPr bwMode="auto">
            <a:xfrm>
              <a:off x="1392" y="2976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3</a:t>
              </a:r>
            </a:p>
          </p:txBody>
        </p:sp>
        <p:sp>
          <p:nvSpPr>
            <p:cNvPr id="66645" name="Rectangle 75"/>
            <p:cNvSpPr>
              <a:spLocks noChangeArrowheads="1"/>
            </p:cNvSpPr>
            <p:nvPr/>
          </p:nvSpPr>
          <p:spPr bwMode="auto">
            <a:xfrm>
              <a:off x="2592" y="3504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4</a:t>
              </a:r>
            </a:p>
          </p:txBody>
        </p:sp>
        <p:sp>
          <p:nvSpPr>
            <p:cNvPr id="66646" name="Rectangle 76"/>
            <p:cNvSpPr>
              <a:spLocks noChangeArrowheads="1"/>
            </p:cNvSpPr>
            <p:nvPr/>
          </p:nvSpPr>
          <p:spPr bwMode="auto">
            <a:xfrm>
              <a:off x="2640" y="2592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2</a:t>
              </a:r>
            </a:p>
          </p:txBody>
        </p:sp>
        <p:sp>
          <p:nvSpPr>
            <p:cNvPr id="66647" name="Rectangle 77"/>
            <p:cNvSpPr>
              <a:spLocks noChangeArrowheads="1"/>
            </p:cNvSpPr>
            <p:nvPr/>
          </p:nvSpPr>
          <p:spPr bwMode="auto">
            <a:xfrm>
              <a:off x="2016" y="3024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1</a:t>
              </a:r>
            </a:p>
          </p:txBody>
        </p:sp>
        <p:sp>
          <p:nvSpPr>
            <p:cNvPr id="66648" name="Rectangle 78"/>
            <p:cNvSpPr>
              <a:spLocks noChangeArrowheads="1"/>
            </p:cNvSpPr>
            <p:nvPr/>
          </p:nvSpPr>
          <p:spPr bwMode="auto">
            <a:xfrm>
              <a:off x="3936" y="2496"/>
              <a:ext cx="178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1</a:t>
              </a:r>
            </a:p>
          </p:txBody>
        </p:sp>
        <p:sp>
          <p:nvSpPr>
            <p:cNvPr id="66649" name="Rectangle 79"/>
            <p:cNvSpPr>
              <a:spLocks noChangeArrowheads="1"/>
            </p:cNvSpPr>
            <p:nvPr/>
          </p:nvSpPr>
          <p:spPr bwMode="auto">
            <a:xfrm>
              <a:off x="4063" y="3313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2</a:t>
              </a:r>
            </a:p>
          </p:txBody>
        </p:sp>
        <p:sp>
          <p:nvSpPr>
            <p:cNvPr id="66650" name="Rectangle 80"/>
            <p:cNvSpPr>
              <a:spLocks noChangeArrowheads="1"/>
            </p:cNvSpPr>
            <p:nvPr/>
          </p:nvSpPr>
          <p:spPr bwMode="auto">
            <a:xfrm>
              <a:off x="3072" y="3024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3</a:t>
              </a:r>
            </a:p>
          </p:txBody>
        </p:sp>
        <p:sp>
          <p:nvSpPr>
            <p:cNvPr id="66651" name="Line 81"/>
            <p:cNvSpPr>
              <a:spLocks noChangeShapeType="1"/>
            </p:cNvSpPr>
            <p:nvPr/>
          </p:nvSpPr>
          <p:spPr bwMode="auto">
            <a:xfrm>
              <a:off x="2640" y="2976"/>
              <a:ext cx="860" cy="3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6652" name="Line 82"/>
            <p:cNvSpPr>
              <a:spLocks noChangeShapeType="1"/>
            </p:cNvSpPr>
            <p:nvPr/>
          </p:nvSpPr>
          <p:spPr bwMode="auto">
            <a:xfrm flipV="1">
              <a:off x="1968" y="3024"/>
              <a:ext cx="48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6653" name="Line 83"/>
            <p:cNvSpPr>
              <a:spLocks noChangeShapeType="1"/>
            </p:cNvSpPr>
            <p:nvPr/>
          </p:nvSpPr>
          <p:spPr bwMode="auto">
            <a:xfrm>
              <a:off x="1536" y="2544"/>
              <a:ext cx="86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6654" name="Rectangle 84"/>
            <p:cNvSpPr>
              <a:spLocks noChangeArrowheads="1"/>
            </p:cNvSpPr>
            <p:nvPr/>
          </p:nvSpPr>
          <p:spPr bwMode="auto">
            <a:xfrm>
              <a:off x="2016" y="2592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5</a:t>
              </a:r>
            </a:p>
          </p:txBody>
        </p:sp>
      </p:grpSp>
      <p:sp>
        <p:nvSpPr>
          <p:cNvPr id="633941" name="Line 85"/>
          <p:cNvSpPr>
            <a:spLocks noChangeShapeType="1"/>
          </p:cNvSpPr>
          <p:nvPr/>
        </p:nvSpPr>
        <p:spPr bwMode="auto">
          <a:xfrm flipH="1">
            <a:off x="5791200" y="4953000"/>
            <a:ext cx="1219200" cy="381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5" name="Group 86"/>
          <p:cNvGrpSpPr>
            <a:grpSpLocks/>
          </p:cNvGrpSpPr>
          <p:nvPr/>
        </p:nvGrpSpPr>
        <p:grpSpPr bwMode="auto">
          <a:xfrm>
            <a:off x="6858000" y="5715000"/>
            <a:ext cx="1295400" cy="609600"/>
            <a:chOff x="4320" y="3600"/>
            <a:chExt cx="816" cy="384"/>
          </a:xfrm>
        </p:grpSpPr>
        <p:sp>
          <p:nvSpPr>
            <p:cNvPr id="66623" name="AutoShape 87"/>
            <p:cNvSpPr>
              <a:spLocks noChangeArrowheads="1"/>
            </p:cNvSpPr>
            <p:nvPr/>
          </p:nvSpPr>
          <p:spPr bwMode="auto">
            <a:xfrm rot="10620178">
              <a:off x="4320" y="3600"/>
              <a:ext cx="816" cy="384"/>
            </a:xfrm>
            <a:prstGeom prst="wedgeRectCallout">
              <a:avLst>
                <a:gd name="adj1" fmla="val 67324"/>
                <a:gd name="adj2" fmla="val 155556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/>
            <a:lstStyle/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sz="1800"/>
            </a:p>
          </p:txBody>
        </p:sp>
        <p:sp>
          <p:nvSpPr>
            <p:cNvPr id="66624" name="Text Box 88"/>
            <p:cNvSpPr txBox="1">
              <a:spLocks noChangeArrowheads="1"/>
            </p:cNvSpPr>
            <p:nvPr/>
          </p:nvSpPr>
          <p:spPr bwMode="auto">
            <a:xfrm>
              <a:off x="4512" y="3681"/>
              <a:ext cx="437" cy="231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D</a:t>
              </a:r>
              <a:r>
                <a:rPr lang="en-US" sz="1800" baseline="-25000"/>
                <a:t>6</a:t>
              </a:r>
              <a:r>
                <a:rPr lang="en-US" sz="1800"/>
                <a:t>=0</a:t>
              </a:r>
            </a:p>
          </p:txBody>
        </p:sp>
      </p:grpSp>
      <p:grpSp>
        <p:nvGrpSpPr>
          <p:cNvPr id="6" name="Group 106"/>
          <p:cNvGrpSpPr>
            <a:grpSpLocks/>
          </p:cNvGrpSpPr>
          <p:nvPr/>
        </p:nvGrpSpPr>
        <p:grpSpPr bwMode="auto">
          <a:xfrm>
            <a:off x="3000375" y="5800725"/>
            <a:ext cx="2209800" cy="919163"/>
            <a:chOff x="1890" y="3654"/>
            <a:chExt cx="1392" cy="579"/>
          </a:xfrm>
        </p:grpSpPr>
        <p:sp>
          <p:nvSpPr>
            <p:cNvPr id="66621" name="AutoShape 90"/>
            <p:cNvSpPr>
              <a:spLocks noChangeArrowheads="1"/>
            </p:cNvSpPr>
            <p:nvPr/>
          </p:nvSpPr>
          <p:spPr bwMode="auto">
            <a:xfrm>
              <a:off x="1890" y="3654"/>
              <a:ext cx="1392" cy="579"/>
            </a:xfrm>
            <a:prstGeom prst="cloudCallout">
              <a:avLst>
                <a:gd name="adj1" fmla="val 65444"/>
                <a:gd name="adj2" fmla="val -6606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0"/>
                </a:spcBef>
                <a:buSzTx/>
                <a:buFontTx/>
                <a:buNone/>
              </a:pPr>
              <a:endParaRPr lang="en-US" sz="1800"/>
            </a:p>
          </p:txBody>
        </p:sp>
        <p:sp>
          <p:nvSpPr>
            <p:cNvPr id="66622" name="Text Box 91"/>
            <p:cNvSpPr txBox="1">
              <a:spLocks noChangeArrowheads="1"/>
            </p:cNvSpPr>
            <p:nvPr/>
          </p:nvSpPr>
          <p:spPr bwMode="auto">
            <a:xfrm>
              <a:off x="2242" y="3737"/>
              <a:ext cx="678" cy="404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sz="1800" i="1"/>
                <a:t>D</a:t>
              </a:r>
              <a:r>
                <a:rPr lang="en-US" sz="1800" i="1" baseline="-25000"/>
                <a:t>5</a:t>
              </a:r>
              <a:r>
                <a:rPr lang="en-US" sz="1800" i="1"/>
                <a:t>=D</a:t>
              </a:r>
              <a:r>
                <a:rPr lang="en-US" sz="1800" i="1" baseline="-25000"/>
                <a:t>6</a:t>
              </a:r>
              <a:r>
                <a:rPr lang="en-US" sz="1800" i="1"/>
                <a:t>+2</a:t>
              </a:r>
            </a:p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sz="1800" i="1"/>
                <a:t>n</a:t>
              </a:r>
              <a:r>
                <a:rPr lang="en-US" sz="1800" i="1" baseline="-25000"/>
                <a:t>5</a:t>
              </a:r>
              <a:r>
                <a:rPr lang="en-US" sz="1800" i="1"/>
                <a:t>=6</a:t>
              </a:r>
            </a:p>
          </p:txBody>
        </p:sp>
      </p:grpSp>
      <p:sp>
        <p:nvSpPr>
          <p:cNvPr id="633948" name="Line 92"/>
          <p:cNvSpPr>
            <a:spLocks noChangeShapeType="1"/>
          </p:cNvSpPr>
          <p:nvPr/>
        </p:nvSpPr>
        <p:spPr bwMode="auto">
          <a:xfrm>
            <a:off x="5638800" y="3886200"/>
            <a:ext cx="1447800" cy="914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33949" name="Line 93"/>
          <p:cNvSpPr>
            <a:spLocks noChangeShapeType="1"/>
          </p:cNvSpPr>
          <p:nvPr/>
        </p:nvSpPr>
        <p:spPr bwMode="auto">
          <a:xfrm flipV="1">
            <a:off x="5791200" y="4953000"/>
            <a:ext cx="129540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33957" name="Oval 101"/>
          <p:cNvSpPr>
            <a:spLocks noChangeArrowheads="1"/>
          </p:cNvSpPr>
          <p:nvPr/>
        </p:nvSpPr>
        <p:spPr bwMode="auto">
          <a:xfrm>
            <a:off x="4278313" y="1165225"/>
            <a:ext cx="862012" cy="630238"/>
          </a:xfrm>
          <a:prstGeom prst="ellipse">
            <a:avLst/>
          </a:prstGeom>
          <a:noFill/>
          <a:ln w="1905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33958" name="Oval 102"/>
          <p:cNvSpPr>
            <a:spLocks noChangeArrowheads="1"/>
          </p:cNvSpPr>
          <p:nvPr/>
        </p:nvSpPr>
        <p:spPr bwMode="auto">
          <a:xfrm>
            <a:off x="6807200" y="1182688"/>
            <a:ext cx="871538" cy="655637"/>
          </a:xfrm>
          <a:prstGeom prst="ellipse">
            <a:avLst/>
          </a:prstGeom>
          <a:noFill/>
          <a:ln w="1905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618" name="Text Box 103"/>
          <p:cNvSpPr txBox="1">
            <a:spLocks noChangeArrowheads="1"/>
          </p:cNvSpPr>
          <p:nvPr/>
        </p:nvSpPr>
        <p:spPr bwMode="auto">
          <a:xfrm>
            <a:off x="7127875" y="4225925"/>
            <a:ext cx="325438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633960" name="Text Box 104"/>
          <p:cNvSpPr txBox="1">
            <a:spLocks noChangeArrowheads="1"/>
          </p:cNvSpPr>
          <p:nvPr/>
        </p:nvSpPr>
        <p:spPr bwMode="auto">
          <a:xfrm>
            <a:off x="5589588" y="5602288"/>
            <a:ext cx="3254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2</a:t>
            </a:r>
          </a:p>
        </p:txBody>
      </p:sp>
      <p:sp>
        <p:nvSpPr>
          <p:cNvPr id="633961" name="Text Box 105"/>
          <p:cNvSpPr txBox="1">
            <a:spLocks noChangeArrowheads="1"/>
          </p:cNvSpPr>
          <p:nvPr/>
        </p:nvSpPr>
        <p:spPr bwMode="auto">
          <a:xfrm>
            <a:off x="5586413" y="3478213"/>
            <a:ext cx="3254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3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3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633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6339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3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2" dur="500"/>
                                        <p:tgtEl>
                                          <p:spTgt spid="6339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633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33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33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633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9" dur="500"/>
                                        <p:tgtEl>
                                          <p:spTgt spid="6339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2" dur="500"/>
                                        <p:tgtEl>
                                          <p:spTgt spid="6339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633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633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633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3903" grpId="0" animBg="1"/>
      <p:bldP spid="633903" grpId="1" animBg="1"/>
      <p:bldP spid="633941" grpId="0" animBg="1"/>
      <p:bldP spid="633941" grpId="1" animBg="1"/>
      <p:bldP spid="633948" grpId="0" animBg="1"/>
      <p:bldP spid="633949" grpId="0" animBg="1"/>
      <p:bldP spid="633957" grpId="0" animBg="1"/>
      <p:bldP spid="633957" grpId="1" animBg="1"/>
      <p:bldP spid="633958" grpId="0" animBg="1"/>
      <p:bldP spid="633958" grpId="1" animBg="1"/>
      <p:bldP spid="633960" grpId="0"/>
      <p:bldP spid="63396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973" name="Group 93"/>
          <p:cNvGraphicFramePr>
            <a:graphicFrameLocks noGrp="1"/>
          </p:cNvGraphicFramePr>
          <p:nvPr>
            <p:ph/>
          </p:nvPr>
        </p:nvGraphicFramePr>
        <p:xfrm>
          <a:off x="225425" y="333375"/>
          <a:ext cx="7627938" cy="2286000"/>
        </p:xfrm>
        <a:graphic>
          <a:graphicData uri="http://schemas.openxmlformats.org/drawingml/2006/table">
            <a:tbl>
              <a:tblPr/>
              <a:tblGrid>
                <a:gridCol w="1304925"/>
                <a:gridCol w="1270000"/>
                <a:gridCol w="1270000"/>
                <a:gridCol w="1270000"/>
                <a:gridCol w="1243013"/>
                <a:gridCol w="127000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Iteration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1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2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3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4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5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Initial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(6, 1)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(6,2)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4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Arial" charset="0"/>
                        </a:rPr>
                        <a:t>(3,3)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</a:rPr>
                        <a:t>(5,6)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(6, 1)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(3,3)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(6,2)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9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7630" name="Text Box 46"/>
          <p:cNvSpPr txBox="1">
            <a:spLocks noChangeArrowheads="1"/>
          </p:cNvSpPr>
          <p:nvPr/>
        </p:nvSpPr>
        <p:spPr bwMode="auto">
          <a:xfrm>
            <a:off x="7696200" y="4343400"/>
            <a:ext cx="70485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2800">
                <a:latin typeface="Monotype Corsiva" pitchFamily="66" charset="0"/>
              </a:rPr>
              <a:t>San</a:t>
            </a:r>
          </a:p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2800">
                <a:latin typeface="Monotype Corsiva" pitchFamily="66" charset="0"/>
              </a:rPr>
              <a:t>Jose</a:t>
            </a:r>
          </a:p>
        </p:txBody>
      </p:sp>
      <p:grpSp>
        <p:nvGrpSpPr>
          <p:cNvPr id="67631" name="Group 94"/>
          <p:cNvGrpSpPr>
            <a:grpSpLocks/>
          </p:cNvGrpSpPr>
          <p:nvPr/>
        </p:nvGrpSpPr>
        <p:grpSpPr bwMode="auto">
          <a:xfrm>
            <a:off x="2070100" y="3581400"/>
            <a:ext cx="5397500" cy="2278063"/>
            <a:chOff x="1304" y="2256"/>
            <a:chExt cx="3400" cy="1435"/>
          </a:xfrm>
        </p:grpSpPr>
        <p:sp>
          <p:nvSpPr>
            <p:cNvPr id="67651" name="Oval 49"/>
            <p:cNvSpPr>
              <a:spLocks noChangeArrowheads="1"/>
            </p:cNvSpPr>
            <p:nvPr/>
          </p:nvSpPr>
          <p:spPr bwMode="auto">
            <a:xfrm>
              <a:off x="3320" y="2278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52" name="Oval 52"/>
            <p:cNvSpPr>
              <a:spLocks noChangeArrowheads="1"/>
            </p:cNvSpPr>
            <p:nvPr/>
          </p:nvSpPr>
          <p:spPr bwMode="auto">
            <a:xfrm>
              <a:off x="1304" y="2400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53" name="Oval 54"/>
            <p:cNvSpPr>
              <a:spLocks noChangeArrowheads="1"/>
            </p:cNvSpPr>
            <p:nvPr/>
          </p:nvSpPr>
          <p:spPr bwMode="auto">
            <a:xfrm>
              <a:off x="3416" y="3351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54" name="Oval 56"/>
            <p:cNvSpPr>
              <a:spLocks noChangeArrowheads="1"/>
            </p:cNvSpPr>
            <p:nvPr/>
          </p:nvSpPr>
          <p:spPr bwMode="auto">
            <a:xfrm>
              <a:off x="2416" y="2815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55" name="Oval 58"/>
            <p:cNvSpPr>
              <a:spLocks noChangeArrowheads="1"/>
            </p:cNvSpPr>
            <p:nvPr/>
          </p:nvSpPr>
          <p:spPr bwMode="auto">
            <a:xfrm>
              <a:off x="4472" y="2967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56" name="Oval 60"/>
            <p:cNvSpPr>
              <a:spLocks noChangeArrowheads="1"/>
            </p:cNvSpPr>
            <p:nvPr/>
          </p:nvSpPr>
          <p:spPr bwMode="auto">
            <a:xfrm>
              <a:off x="1736" y="3351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57" name="Rectangle 48"/>
            <p:cNvSpPr>
              <a:spLocks noChangeArrowheads="1"/>
            </p:cNvSpPr>
            <p:nvPr/>
          </p:nvSpPr>
          <p:spPr bwMode="auto">
            <a:xfrm>
              <a:off x="3351" y="2256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3</a:t>
              </a:r>
            </a:p>
          </p:txBody>
        </p:sp>
        <p:sp>
          <p:nvSpPr>
            <p:cNvPr id="67658" name="Line 50"/>
            <p:cNvSpPr>
              <a:spLocks noChangeShapeType="1"/>
            </p:cNvSpPr>
            <p:nvPr/>
          </p:nvSpPr>
          <p:spPr bwMode="auto">
            <a:xfrm flipV="1">
              <a:off x="1544" y="2400"/>
              <a:ext cx="1776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7659" name="Rectangle 51"/>
            <p:cNvSpPr>
              <a:spLocks noChangeArrowheads="1"/>
            </p:cNvSpPr>
            <p:nvPr/>
          </p:nvSpPr>
          <p:spPr bwMode="auto">
            <a:xfrm>
              <a:off x="1304" y="2400"/>
              <a:ext cx="18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1</a:t>
              </a:r>
            </a:p>
          </p:txBody>
        </p:sp>
        <p:sp>
          <p:nvSpPr>
            <p:cNvPr id="67660" name="Rectangle 53"/>
            <p:cNvSpPr>
              <a:spLocks noChangeArrowheads="1"/>
            </p:cNvSpPr>
            <p:nvPr/>
          </p:nvSpPr>
          <p:spPr bwMode="auto">
            <a:xfrm>
              <a:off x="3438" y="3347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5</a:t>
              </a:r>
            </a:p>
          </p:txBody>
        </p:sp>
        <p:sp>
          <p:nvSpPr>
            <p:cNvPr id="67661" name="Rectangle 55"/>
            <p:cNvSpPr>
              <a:spLocks noChangeArrowheads="1"/>
            </p:cNvSpPr>
            <p:nvPr/>
          </p:nvSpPr>
          <p:spPr bwMode="auto">
            <a:xfrm>
              <a:off x="2429" y="2811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4</a:t>
              </a:r>
            </a:p>
          </p:txBody>
        </p:sp>
        <p:sp>
          <p:nvSpPr>
            <p:cNvPr id="67662" name="Rectangle 57"/>
            <p:cNvSpPr>
              <a:spLocks noChangeArrowheads="1"/>
            </p:cNvSpPr>
            <p:nvPr/>
          </p:nvSpPr>
          <p:spPr bwMode="auto">
            <a:xfrm>
              <a:off x="4476" y="2963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6</a:t>
              </a:r>
            </a:p>
          </p:txBody>
        </p:sp>
        <p:sp>
          <p:nvSpPr>
            <p:cNvPr id="67663" name="Rectangle 59"/>
            <p:cNvSpPr>
              <a:spLocks noChangeArrowheads="1"/>
            </p:cNvSpPr>
            <p:nvPr/>
          </p:nvSpPr>
          <p:spPr bwMode="auto">
            <a:xfrm>
              <a:off x="1767" y="3329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2</a:t>
              </a:r>
            </a:p>
          </p:txBody>
        </p:sp>
        <p:sp>
          <p:nvSpPr>
            <p:cNvPr id="67664" name="Line 61"/>
            <p:cNvSpPr>
              <a:spLocks noChangeShapeType="1"/>
            </p:cNvSpPr>
            <p:nvPr/>
          </p:nvSpPr>
          <p:spPr bwMode="auto">
            <a:xfrm>
              <a:off x="1448" y="2640"/>
              <a:ext cx="336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7665" name="Line 62"/>
            <p:cNvSpPr>
              <a:spLocks noChangeShapeType="1"/>
            </p:cNvSpPr>
            <p:nvPr/>
          </p:nvSpPr>
          <p:spPr bwMode="auto">
            <a:xfrm>
              <a:off x="1976" y="3456"/>
              <a:ext cx="1432" cy="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7666" name="Line 63"/>
            <p:cNvSpPr>
              <a:spLocks noChangeShapeType="1"/>
            </p:cNvSpPr>
            <p:nvPr/>
          </p:nvSpPr>
          <p:spPr bwMode="auto">
            <a:xfrm flipV="1">
              <a:off x="3656" y="3151"/>
              <a:ext cx="808" cy="2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7667" name="Line 64"/>
            <p:cNvSpPr>
              <a:spLocks noChangeShapeType="1"/>
            </p:cNvSpPr>
            <p:nvPr/>
          </p:nvSpPr>
          <p:spPr bwMode="auto">
            <a:xfrm>
              <a:off x="3512" y="2448"/>
              <a:ext cx="972" cy="5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7668" name="Line 65"/>
            <p:cNvSpPr>
              <a:spLocks noChangeShapeType="1"/>
            </p:cNvSpPr>
            <p:nvPr/>
          </p:nvSpPr>
          <p:spPr bwMode="auto">
            <a:xfrm flipH="1">
              <a:off x="2648" y="2496"/>
              <a:ext cx="72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7669" name="Rectangle 66"/>
            <p:cNvSpPr>
              <a:spLocks noChangeArrowheads="1"/>
            </p:cNvSpPr>
            <p:nvPr/>
          </p:nvSpPr>
          <p:spPr bwMode="auto">
            <a:xfrm>
              <a:off x="2312" y="2256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2</a:t>
              </a:r>
            </a:p>
          </p:txBody>
        </p:sp>
        <p:sp>
          <p:nvSpPr>
            <p:cNvPr id="67670" name="Rectangle 67"/>
            <p:cNvSpPr>
              <a:spLocks noChangeArrowheads="1"/>
            </p:cNvSpPr>
            <p:nvPr/>
          </p:nvSpPr>
          <p:spPr bwMode="auto">
            <a:xfrm>
              <a:off x="1400" y="2976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3</a:t>
              </a:r>
            </a:p>
          </p:txBody>
        </p:sp>
        <p:sp>
          <p:nvSpPr>
            <p:cNvPr id="67671" name="Rectangle 68"/>
            <p:cNvSpPr>
              <a:spLocks noChangeArrowheads="1"/>
            </p:cNvSpPr>
            <p:nvPr/>
          </p:nvSpPr>
          <p:spPr bwMode="auto">
            <a:xfrm>
              <a:off x="2600" y="3504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4</a:t>
              </a:r>
            </a:p>
          </p:txBody>
        </p:sp>
        <p:sp>
          <p:nvSpPr>
            <p:cNvPr id="67672" name="Rectangle 69"/>
            <p:cNvSpPr>
              <a:spLocks noChangeArrowheads="1"/>
            </p:cNvSpPr>
            <p:nvPr/>
          </p:nvSpPr>
          <p:spPr bwMode="auto">
            <a:xfrm>
              <a:off x="2648" y="2592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2</a:t>
              </a:r>
            </a:p>
          </p:txBody>
        </p:sp>
        <p:sp>
          <p:nvSpPr>
            <p:cNvPr id="67673" name="Rectangle 70"/>
            <p:cNvSpPr>
              <a:spLocks noChangeArrowheads="1"/>
            </p:cNvSpPr>
            <p:nvPr/>
          </p:nvSpPr>
          <p:spPr bwMode="auto">
            <a:xfrm>
              <a:off x="2024" y="3024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1</a:t>
              </a:r>
            </a:p>
          </p:txBody>
        </p:sp>
        <p:sp>
          <p:nvSpPr>
            <p:cNvPr id="67674" name="Rectangle 71"/>
            <p:cNvSpPr>
              <a:spLocks noChangeArrowheads="1"/>
            </p:cNvSpPr>
            <p:nvPr/>
          </p:nvSpPr>
          <p:spPr bwMode="auto">
            <a:xfrm>
              <a:off x="3944" y="2496"/>
              <a:ext cx="178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1</a:t>
              </a:r>
            </a:p>
          </p:txBody>
        </p:sp>
        <p:sp>
          <p:nvSpPr>
            <p:cNvPr id="67675" name="Rectangle 72"/>
            <p:cNvSpPr>
              <a:spLocks noChangeArrowheads="1"/>
            </p:cNvSpPr>
            <p:nvPr/>
          </p:nvSpPr>
          <p:spPr bwMode="auto">
            <a:xfrm>
              <a:off x="4071" y="3313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2</a:t>
              </a:r>
            </a:p>
          </p:txBody>
        </p:sp>
        <p:sp>
          <p:nvSpPr>
            <p:cNvPr id="67676" name="Rectangle 73"/>
            <p:cNvSpPr>
              <a:spLocks noChangeArrowheads="1"/>
            </p:cNvSpPr>
            <p:nvPr/>
          </p:nvSpPr>
          <p:spPr bwMode="auto">
            <a:xfrm>
              <a:off x="3080" y="3024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3</a:t>
              </a:r>
            </a:p>
          </p:txBody>
        </p:sp>
        <p:sp>
          <p:nvSpPr>
            <p:cNvPr id="67677" name="Line 74"/>
            <p:cNvSpPr>
              <a:spLocks noChangeShapeType="1"/>
            </p:cNvSpPr>
            <p:nvPr/>
          </p:nvSpPr>
          <p:spPr bwMode="auto">
            <a:xfrm>
              <a:off x="2648" y="2976"/>
              <a:ext cx="860" cy="3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7678" name="Line 75"/>
            <p:cNvSpPr>
              <a:spLocks noChangeShapeType="1"/>
            </p:cNvSpPr>
            <p:nvPr/>
          </p:nvSpPr>
          <p:spPr bwMode="auto">
            <a:xfrm flipV="1">
              <a:off x="1976" y="3024"/>
              <a:ext cx="48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7679" name="Line 76"/>
            <p:cNvSpPr>
              <a:spLocks noChangeShapeType="1"/>
            </p:cNvSpPr>
            <p:nvPr/>
          </p:nvSpPr>
          <p:spPr bwMode="auto">
            <a:xfrm>
              <a:off x="1544" y="2544"/>
              <a:ext cx="86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7680" name="Rectangle 77"/>
            <p:cNvSpPr>
              <a:spLocks noChangeArrowheads="1"/>
            </p:cNvSpPr>
            <p:nvPr/>
          </p:nvSpPr>
          <p:spPr bwMode="auto">
            <a:xfrm>
              <a:off x="2024" y="2592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5</a:t>
              </a:r>
            </a:p>
          </p:txBody>
        </p:sp>
      </p:grpSp>
      <p:sp>
        <p:nvSpPr>
          <p:cNvPr id="634958" name="Line 78"/>
          <p:cNvSpPr>
            <a:spLocks noChangeShapeType="1"/>
          </p:cNvSpPr>
          <p:nvPr/>
        </p:nvSpPr>
        <p:spPr bwMode="auto">
          <a:xfrm flipH="1">
            <a:off x="2438400" y="3810000"/>
            <a:ext cx="2819400" cy="152400"/>
          </a:xfrm>
          <a:prstGeom prst="line">
            <a:avLst/>
          </a:prstGeom>
          <a:noFill/>
          <a:ln w="38100">
            <a:solidFill>
              <a:srgbClr val="00CC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34959" name="Line 79"/>
          <p:cNvSpPr>
            <a:spLocks noChangeShapeType="1"/>
          </p:cNvSpPr>
          <p:nvPr/>
        </p:nvSpPr>
        <p:spPr bwMode="auto">
          <a:xfrm flipH="1">
            <a:off x="4191000" y="3962400"/>
            <a:ext cx="11430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34960" name="Line 80"/>
          <p:cNvSpPr>
            <a:spLocks noChangeShapeType="1"/>
          </p:cNvSpPr>
          <p:nvPr/>
        </p:nvSpPr>
        <p:spPr bwMode="auto">
          <a:xfrm flipH="1" flipV="1">
            <a:off x="4191000" y="4800600"/>
            <a:ext cx="1219200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34961" name="Line 81"/>
          <p:cNvSpPr>
            <a:spLocks noChangeShapeType="1"/>
          </p:cNvSpPr>
          <p:nvPr/>
        </p:nvSpPr>
        <p:spPr bwMode="auto">
          <a:xfrm flipH="1">
            <a:off x="3124200" y="5562600"/>
            <a:ext cx="2286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3" name="Group 82"/>
          <p:cNvGrpSpPr>
            <a:grpSpLocks/>
          </p:cNvGrpSpPr>
          <p:nvPr/>
        </p:nvGrpSpPr>
        <p:grpSpPr bwMode="auto">
          <a:xfrm>
            <a:off x="2438400" y="3810000"/>
            <a:ext cx="4648200" cy="1752600"/>
            <a:chOff x="1536" y="2400"/>
            <a:chExt cx="2928" cy="1104"/>
          </a:xfrm>
        </p:grpSpPr>
        <p:sp>
          <p:nvSpPr>
            <p:cNvPr id="67646" name="Line 83"/>
            <p:cNvSpPr>
              <a:spLocks noChangeShapeType="1"/>
            </p:cNvSpPr>
            <p:nvPr/>
          </p:nvSpPr>
          <p:spPr bwMode="auto">
            <a:xfrm flipV="1">
              <a:off x="1536" y="2400"/>
              <a:ext cx="1776" cy="96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7647" name="Line 84"/>
            <p:cNvSpPr>
              <a:spLocks noChangeShapeType="1"/>
            </p:cNvSpPr>
            <p:nvPr/>
          </p:nvSpPr>
          <p:spPr bwMode="auto">
            <a:xfrm flipV="1">
              <a:off x="1968" y="3504"/>
              <a:ext cx="1440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7648" name="Line 85"/>
            <p:cNvSpPr>
              <a:spLocks noChangeShapeType="1"/>
            </p:cNvSpPr>
            <p:nvPr/>
          </p:nvSpPr>
          <p:spPr bwMode="auto">
            <a:xfrm>
              <a:off x="3552" y="2448"/>
              <a:ext cx="912" cy="528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7649" name="Line 86"/>
            <p:cNvSpPr>
              <a:spLocks noChangeShapeType="1"/>
            </p:cNvSpPr>
            <p:nvPr/>
          </p:nvSpPr>
          <p:spPr bwMode="auto">
            <a:xfrm flipV="1">
              <a:off x="3648" y="3168"/>
              <a:ext cx="816" cy="288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7650" name="Line 87"/>
            <p:cNvSpPr>
              <a:spLocks noChangeShapeType="1"/>
            </p:cNvSpPr>
            <p:nvPr/>
          </p:nvSpPr>
          <p:spPr bwMode="auto">
            <a:xfrm flipV="1">
              <a:off x="2640" y="2496"/>
              <a:ext cx="720" cy="384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34975" name="Oval 95"/>
          <p:cNvSpPr>
            <a:spLocks noChangeArrowheads="1"/>
          </p:cNvSpPr>
          <p:nvPr/>
        </p:nvSpPr>
        <p:spPr bwMode="auto">
          <a:xfrm>
            <a:off x="1751013" y="1717675"/>
            <a:ext cx="776287" cy="550863"/>
          </a:xfrm>
          <a:prstGeom prst="ellipse">
            <a:avLst/>
          </a:prstGeom>
          <a:noFill/>
          <a:ln w="1905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7638" name="Text Box 96"/>
          <p:cNvSpPr txBox="1">
            <a:spLocks noChangeArrowheads="1"/>
          </p:cNvSpPr>
          <p:nvPr/>
        </p:nvSpPr>
        <p:spPr bwMode="auto">
          <a:xfrm>
            <a:off x="7127875" y="4225925"/>
            <a:ext cx="325438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67639" name="Text Box 97"/>
          <p:cNvSpPr txBox="1">
            <a:spLocks noChangeArrowheads="1"/>
          </p:cNvSpPr>
          <p:nvPr/>
        </p:nvSpPr>
        <p:spPr bwMode="auto">
          <a:xfrm>
            <a:off x="5443538" y="3325813"/>
            <a:ext cx="3254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1</a:t>
            </a:r>
          </a:p>
        </p:txBody>
      </p:sp>
      <p:sp>
        <p:nvSpPr>
          <p:cNvPr id="67640" name="Text Box 98"/>
          <p:cNvSpPr txBox="1">
            <a:spLocks noChangeArrowheads="1"/>
          </p:cNvSpPr>
          <p:nvPr/>
        </p:nvSpPr>
        <p:spPr bwMode="auto">
          <a:xfrm>
            <a:off x="5561013" y="5643563"/>
            <a:ext cx="3254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2</a:t>
            </a:r>
          </a:p>
        </p:txBody>
      </p:sp>
      <p:sp>
        <p:nvSpPr>
          <p:cNvPr id="634979" name="Text Box 99"/>
          <p:cNvSpPr txBox="1">
            <a:spLocks noChangeArrowheads="1"/>
          </p:cNvSpPr>
          <p:nvPr/>
        </p:nvSpPr>
        <p:spPr bwMode="auto">
          <a:xfrm>
            <a:off x="2020888" y="3311525"/>
            <a:ext cx="3254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3</a:t>
            </a:r>
          </a:p>
        </p:txBody>
      </p:sp>
      <p:sp>
        <p:nvSpPr>
          <p:cNvPr id="634980" name="Text Box 100"/>
          <p:cNvSpPr txBox="1">
            <a:spLocks noChangeArrowheads="1"/>
          </p:cNvSpPr>
          <p:nvPr/>
        </p:nvSpPr>
        <p:spPr bwMode="auto">
          <a:xfrm>
            <a:off x="3836988" y="4170363"/>
            <a:ext cx="3254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3</a:t>
            </a:r>
          </a:p>
        </p:txBody>
      </p:sp>
      <p:sp>
        <p:nvSpPr>
          <p:cNvPr id="634981" name="Text Box 101"/>
          <p:cNvSpPr txBox="1">
            <a:spLocks noChangeArrowheads="1"/>
          </p:cNvSpPr>
          <p:nvPr/>
        </p:nvSpPr>
        <p:spPr bwMode="auto">
          <a:xfrm>
            <a:off x="2762250" y="5641975"/>
            <a:ext cx="325438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6</a:t>
            </a:r>
          </a:p>
        </p:txBody>
      </p:sp>
      <p:sp>
        <p:nvSpPr>
          <p:cNvPr id="634982" name="Oval 102"/>
          <p:cNvSpPr>
            <a:spLocks noChangeArrowheads="1"/>
          </p:cNvSpPr>
          <p:nvPr/>
        </p:nvSpPr>
        <p:spPr bwMode="auto">
          <a:xfrm>
            <a:off x="5578475" y="1698625"/>
            <a:ext cx="776288" cy="550863"/>
          </a:xfrm>
          <a:prstGeom prst="ellipse">
            <a:avLst/>
          </a:prstGeom>
          <a:noFill/>
          <a:ln w="1905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34983" name="Oval 103"/>
          <p:cNvSpPr>
            <a:spLocks noChangeArrowheads="1"/>
          </p:cNvSpPr>
          <p:nvPr/>
        </p:nvSpPr>
        <p:spPr bwMode="auto">
          <a:xfrm>
            <a:off x="3038475" y="1679575"/>
            <a:ext cx="776288" cy="550863"/>
          </a:xfrm>
          <a:prstGeom prst="ellipse">
            <a:avLst/>
          </a:prstGeom>
          <a:noFill/>
          <a:ln w="1905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34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5" dur="500"/>
                                        <p:tgtEl>
                                          <p:spTgt spid="6349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634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349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49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34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34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634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7" dur="500"/>
                                        <p:tgtEl>
                                          <p:spTgt spid="6349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634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349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34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634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4" dur="500"/>
                                        <p:tgtEl>
                                          <p:spTgt spid="6349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634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5" dur="500"/>
                                        <p:tgtEl>
                                          <p:spTgt spid="6349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58" grpId="0" animBg="1"/>
      <p:bldP spid="634959" grpId="0" animBg="1"/>
      <p:bldP spid="634960" grpId="0" animBg="1"/>
      <p:bldP spid="634960" grpId="1" animBg="1"/>
      <p:bldP spid="634961" grpId="0" animBg="1"/>
      <p:bldP spid="634975" grpId="0" animBg="1"/>
      <p:bldP spid="634975" grpId="1" animBg="1"/>
      <p:bldP spid="634979" grpId="0"/>
      <p:bldP spid="634980" grpId="0"/>
      <p:bldP spid="634981" grpId="0"/>
      <p:bldP spid="634982" grpId="0" animBg="1"/>
      <p:bldP spid="634982" grpId="1" animBg="1"/>
      <p:bldP spid="634983" grpId="0" animBg="1"/>
      <p:bldP spid="634983" grpId="1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6002" name="Group 98"/>
          <p:cNvGraphicFramePr>
            <a:graphicFrameLocks noGrp="1"/>
          </p:cNvGraphicFramePr>
          <p:nvPr>
            <p:ph/>
          </p:nvPr>
        </p:nvGraphicFramePr>
        <p:xfrm>
          <a:off x="241300" y="346075"/>
          <a:ext cx="7569200" cy="2286000"/>
        </p:xfrm>
        <a:graphic>
          <a:graphicData uri="http://schemas.openxmlformats.org/drawingml/2006/table">
            <a:tbl>
              <a:tblPr/>
              <a:tblGrid>
                <a:gridCol w="1246188"/>
                <a:gridCol w="1270000"/>
                <a:gridCol w="1270000"/>
                <a:gridCol w="1270000"/>
                <a:gridCol w="1243012"/>
                <a:gridCol w="127000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Iteration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1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2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3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4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5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Initial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(6, 1)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(6,2)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4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(3,3)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(5,6)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(6, 1)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(3,3)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(6,2)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9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Arial" charset="0"/>
                        </a:rPr>
                        <a:t>(3,3)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(4,4)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(6, 1)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(3,3)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(6,2)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8654" name="Text Box 46"/>
          <p:cNvSpPr txBox="1">
            <a:spLocks noChangeArrowheads="1"/>
          </p:cNvSpPr>
          <p:nvPr/>
        </p:nvSpPr>
        <p:spPr bwMode="auto">
          <a:xfrm>
            <a:off x="7696200" y="4343400"/>
            <a:ext cx="70485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2800">
                <a:latin typeface="Monotype Corsiva" pitchFamily="66" charset="0"/>
              </a:rPr>
              <a:t>San</a:t>
            </a:r>
          </a:p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2800">
                <a:latin typeface="Monotype Corsiva" pitchFamily="66" charset="0"/>
              </a:rPr>
              <a:t>Jose</a:t>
            </a:r>
          </a:p>
        </p:txBody>
      </p:sp>
      <p:grpSp>
        <p:nvGrpSpPr>
          <p:cNvPr id="68655" name="Group 101"/>
          <p:cNvGrpSpPr>
            <a:grpSpLocks/>
          </p:cNvGrpSpPr>
          <p:nvPr/>
        </p:nvGrpSpPr>
        <p:grpSpPr bwMode="auto">
          <a:xfrm>
            <a:off x="2070100" y="3581400"/>
            <a:ext cx="5397500" cy="2278063"/>
            <a:chOff x="1304" y="2256"/>
            <a:chExt cx="3400" cy="1435"/>
          </a:xfrm>
        </p:grpSpPr>
        <p:sp>
          <p:nvSpPr>
            <p:cNvPr id="68684" name="Oval 49"/>
            <p:cNvSpPr>
              <a:spLocks noChangeArrowheads="1"/>
            </p:cNvSpPr>
            <p:nvPr/>
          </p:nvSpPr>
          <p:spPr bwMode="auto">
            <a:xfrm>
              <a:off x="3320" y="2278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85" name="Oval 52"/>
            <p:cNvSpPr>
              <a:spLocks noChangeArrowheads="1"/>
            </p:cNvSpPr>
            <p:nvPr/>
          </p:nvSpPr>
          <p:spPr bwMode="auto">
            <a:xfrm>
              <a:off x="1304" y="2400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86" name="Oval 54"/>
            <p:cNvSpPr>
              <a:spLocks noChangeArrowheads="1"/>
            </p:cNvSpPr>
            <p:nvPr/>
          </p:nvSpPr>
          <p:spPr bwMode="auto">
            <a:xfrm>
              <a:off x="3416" y="3351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87" name="Oval 58"/>
            <p:cNvSpPr>
              <a:spLocks noChangeArrowheads="1"/>
            </p:cNvSpPr>
            <p:nvPr/>
          </p:nvSpPr>
          <p:spPr bwMode="auto">
            <a:xfrm>
              <a:off x="4472" y="2967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88" name="Oval 60"/>
            <p:cNvSpPr>
              <a:spLocks noChangeArrowheads="1"/>
            </p:cNvSpPr>
            <p:nvPr/>
          </p:nvSpPr>
          <p:spPr bwMode="auto">
            <a:xfrm>
              <a:off x="1736" y="3351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89" name="Oval 56"/>
            <p:cNvSpPr>
              <a:spLocks noChangeArrowheads="1"/>
            </p:cNvSpPr>
            <p:nvPr/>
          </p:nvSpPr>
          <p:spPr bwMode="auto">
            <a:xfrm>
              <a:off x="2416" y="2815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90" name="Rectangle 48"/>
            <p:cNvSpPr>
              <a:spLocks noChangeArrowheads="1"/>
            </p:cNvSpPr>
            <p:nvPr/>
          </p:nvSpPr>
          <p:spPr bwMode="auto">
            <a:xfrm>
              <a:off x="3333" y="2274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3</a:t>
              </a:r>
            </a:p>
          </p:txBody>
        </p:sp>
        <p:sp>
          <p:nvSpPr>
            <p:cNvPr id="68691" name="Line 50"/>
            <p:cNvSpPr>
              <a:spLocks noChangeShapeType="1"/>
            </p:cNvSpPr>
            <p:nvPr/>
          </p:nvSpPr>
          <p:spPr bwMode="auto">
            <a:xfrm flipV="1">
              <a:off x="1544" y="2400"/>
              <a:ext cx="1776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8692" name="Rectangle 51"/>
            <p:cNvSpPr>
              <a:spLocks noChangeArrowheads="1"/>
            </p:cNvSpPr>
            <p:nvPr/>
          </p:nvSpPr>
          <p:spPr bwMode="auto">
            <a:xfrm>
              <a:off x="1304" y="2400"/>
              <a:ext cx="18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1</a:t>
              </a:r>
            </a:p>
          </p:txBody>
        </p:sp>
        <p:sp>
          <p:nvSpPr>
            <p:cNvPr id="68693" name="Rectangle 53"/>
            <p:cNvSpPr>
              <a:spLocks noChangeArrowheads="1"/>
            </p:cNvSpPr>
            <p:nvPr/>
          </p:nvSpPr>
          <p:spPr bwMode="auto">
            <a:xfrm>
              <a:off x="3429" y="3347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5</a:t>
              </a:r>
            </a:p>
          </p:txBody>
        </p:sp>
        <p:sp>
          <p:nvSpPr>
            <p:cNvPr id="68694" name="Rectangle 55"/>
            <p:cNvSpPr>
              <a:spLocks noChangeArrowheads="1"/>
            </p:cNvSpPr>
            <p:nvPr/>
          </p:nvSpPr>
          <p:spPr bwMode="auto">
            <a:xfrm>
              <a:off x="2429" y="2802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4</a:t>
              </a:r>
            </a:p>
          </p:txBody>
        </p:sp>
        <p:sp>
          <p:nvSpPr>
            <p:cNvPr id="68695" name="Rectangle 57"/>
            <p:cNvSpPr>
              <a:spLocks noChangeArrowheads="1"/>
            </p:cNvSpPr>
            <p:nvPr/>
          </p:nvSpPr>
          <p:spPr bwMode="auto">
            <a:xfrm>
              <a:off x="4485" y="2963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6</a:t>
              </a:r>
            </a:p>
          </p:txBody>
        </p:sp>
        <p:sp>
          <p:nvSpPr>
            <p:cNvPr id="68696" name="Rectangle 59"/>
            <p:cNvSpPr>
              <a:spLocks noChangeArrowheads="1"/>
            </p:cNvSpPr>
            <p:nvPr/>
          </p:nvSpPr>
          <p:spPr bwMode="auto">
            <a:xfrm>
              <a:off x="1749" y="3347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2</a:t>
              </a:r>
            </a:p>
          </p:txBody>
        </p:sp>
        <p:sp>
          <p:nvSpPr>
            <p:cNvPr id="68697" name="Line 61"/>
            <p:cNvSpPr>
              <a:spLocks noChangeShapeType="1"/>
            </p:cNvSpPr>
            <p:nvPr/>
          </p:nvSpPr>
          <p:spPr bwMode="auto">
            <a:xfrm>
              <a:off x="1448" y="2640"/>
              <a:ext cx="336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8698" name="Line 62"/>
            <p:cNvSpPr>
              <a:spLocks noChangeShapeType="1"/>
            </p:cNvSpPr>
            <p:nvPr/>
          </p:nvSpPr>
          <p:spPr bwMode="auto">
            <a:xfrm>
              <a:off x="1976" y="3456"/>
              <a:ext cx="1432" cy="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8699" name="Line 63"/>
            <p:cNvSpPr>
              <a:spLocks noChangeShapeType="1"/>
            </p:cNvSpPr>
            <p:nvPr/>
          </p:nvSpPr>
          <p:spPr bwMode="auto">
            <a:xfrm flipV="1">
              <a:off x="3656" y="3151"/>
              <a:ext cx="808" cy="2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8700" name="Line 64"/>
            <p:cNvSpPr>
              <a:spLocks noChangeShapeType="1"/>
            </p:cNvSpPr>
            <p:nvPr/>
          </p:nvSpPr>
          <p:spPr bwMode="auto">
            <a:xfrm>
              <a:off x="3512" y="2448"/>
              <a:ext cx="972" cy="5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8701" name="Line 65"/>
            <p:cNvSpPr>
              <a:spLocks noChangeShapeType="1"/>
            </p:cNvSpPr>
            <p:nvPr/>
          </p:nvSpPr>
          <p:spPr bwMode="auto">
            <a:xfrm flipH="1">
              <a:off x="2648" y="2496"/>
              <a:ext cx="72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8702" name="Rectangle 66"/>
            <p:cNvSpPr>
              <a:spLocks noChangeArrowheads="1"/>
            </p:cNvSpPr>
            <p:nvPr/>
          </p:nvSpPr>
          <p:spPr bwMode="auto">
            <a:xfrm>
              <a:off x="2312" y="2256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2</a:t>
              </a:r>
            </a:p>
          </p:txBody>
        </p:sp>
        <p:sp>
          <p:nvSpPr>
            <p:cNvPr id="68703" name="Rectangle 67"/>
            <p:cNvSpPr>
              <a:spLocks noChangeArrowheads="1"/>
            </p:cNvSpPr>
            <p:nvPr/>
          </p:nvSpPr>
          <p:spPr bwMode="auto">
            <a:xfrm>
              <a:off x="1400" y="2976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3</a:t>
              </a:r>
            </a:p>
          </p:txBody>
        </p:sp>
        <p:sp>
          <p:nvSpPr>
            <p:cNvPr id="68704" name="Rectangle 68"/>
            <p:cNvSpPr>
              <a:spLocks noChangeArrowheads="1"/>
            </p:cNvSpPr>
            <p:nvPr/>
          </p:nvSpPr>
          <p:spPr bwMode="auto">
            <a:xfrm>
              <a:off x="2600" y="3504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4</a:t>
              </a:r>
            </a:p>
          </p:txBody>
        </p:sp>
        <p:sp>
          <p:nvSpPr>
            <p:cNvPr id="68705" name="Rectangle 69"/>
            <p:cNvSpPr>
              <a:spLocks noChangeArrowheads="1"/>
            </p:cNvSpPr>
            <p:nvPr/>
          </p:nvSpPr>
          <p:spPr bwMode="auto">
            <a:xfrm>
              <a:off x="2648" y="2592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2</a:t>
              </a:r>
            </a:p>
          </p:txBody>
        </p:sp>
        <p:sp>
          <p:nvSpPr>
            <p:cNvPr id="68706" name="Rectangle 70"/>
            <p:cNvSpPr>
              <a:spLocks noChangeArrowheads="1"/>
            </p:cNvSpPr>
            <p:nvPr/>
          </p:nvSpPr>
          <p:spPr bwMode="auto">
            <a:xfrm>
              <a:off x="2024" y="3024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1</a:t>
              </a:r>
            </a:p>
          </p:txBody>
        </p:sp>
        <p:sp>
          <p:nvSpPr>
            <p:cNvPr id="68707" name="Rectangle 71"/>
            <p:cNvSpPr>
              <a:spLocks noChangeArrowheads="1"/>
            </p:cNvSpPr>
            <p:nvPr/>
          </p:nvSpPr>
          <p:spPr bwMode="auto">
            <a:xfrm>
              <a:off x="3944" y="2496"/>
              <a:ext cx="178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1</a:t>
              </a:r>
            </a:p>
          </p:txBody>
        </p:sp>
        <p:sp>
          <p:nvSpPr>
            <p:cNvPr id="68708" name="Rectangle 72"/>
            <p:cNvSpPr>
              <a:spLocks noChangeArrowheads="1"/>
            </p:cNvSpPr>
            <p:nvPr/>
          </p:nvSpPr>
          <p:spPr bwMode="auto">
            <a:xfrm>
              <a:off x="4071" y="3313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2</a:t>
              </a:r>
            </a:p>
          </p:txBody>
        </p:sp>
        <p:sp>
          <p:nvSpPr>
            <p:cNvPr id="68709" name="Rectangle 73"/>
            <p:cNvSpPr>
              <a:spLocks noChangeArrowheads="1"/>
            </p:cNvSpPr>
            <p:nvPr/>
          </p:nvSpPr>
          <p:spPr bwMode="auto">
            <a:xfrm>
              <a:off x="3080" y="3024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3</a:t>
              </a:r>
            </a:p>
          </p:txBody>
        </p:sp>
        <p:sp>
          <p:nvSpPr>
            <p:cNvPr id="68710" name="Line 74"/>
            <p:cNvSpPr>
              <a:spLocks noChangeShapeType="1"/>
            </p:cNvSpPr>
            <p:nvPr/>
          </p:nvSpPr>
          <p:spPr bwMode="auto">
            <a:xfrm>
              <a:off x="2648" y="2976"/>
              <a:ext cx="860" cy="3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8711" name="Line 75"/>
            <p:cNvSpPr>
              <a:spLocks noChangeShapeType="1"/>
            </p:cNvSpPr>
            <p:nvPr/>
          </p:nvSpPr>
          <p:spPr bwMode="auto">
            <a:xfrm flipV="1">
              <a:off x="1976" y="3024"/>
              <a:ext cx="48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8712" name="Line 76"/>
            <p:cNvSpPr>
              <a:spLocks noChangeShapeType="1"/>
            </p:cNvSpPr>
            <p:nvPr/>
          </p:nvSpPr>
          <p:spPr bwMode="auto">
            <a:xfrm>
              <a:off x="1544" y="2544"/>
              <a:ext cx="86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8713" name="Rectangle 77"/>
            <p:cNvSpPr>
              <a:spLocks noChangeArrowheads="1"/>
            </p:cNvSpPr>
            <p:nvPr/>
          </p:nvSpPr>
          <p:spPr bwMode="auto">
            <a:xfrm>
              <a:off x="2024" y="2592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5</a:t>
              </a:r>
            </a:p>
          </p:txBody>
        </p:sp>
      </p:grpSp>
      <p:grpSp>
        <p:nvGrpSpPr>
          <p:cNvPr id="3" name="Group 78"/>
          <p:cNvGrpSpPr>
            <a:grpSpLocks/>
          </p:cNvGrpSpPr>
          <p:nvPr/>
        </p:nvGrpSpPr>
        <p:grpSpPr bwMode="auto">
          <a:xfrm>
            <a:off x="2286000" y="4191000"/>
            <a:ext cx="3124200" cy="1371600"/>
            <a:chOff x="1440" y="2640"/>
            <a:chExt cx="1968" cy="864"/>
          </a:xfrm>
        </p:grpSpPr>
        <p:sp>
          <p:nvSpPr>
            <p:cNvPr id="68681" name="Line 79"/>
            <p:cNvSpPr>
              <a:spLocks noChangeShapeType="1"/>
            </p:cNvSpPr>
            <p:nvPr/>
          </p:nvSpPr>
          <p:spPr bwMode="auto">
            <a:xfrm flipH="1">
              <a:off x="1920" y="3024"/>
              <a:ext cx="528" cy="384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8682" name="Line 80"/>
            <p:cNvSpPr>
              <a:spLocks noChangeShapeType="1"/>
            </p:cNvSpPr>
            <p:nvPr/>
          </p:nvSpPr>
          <p:spPr bwMode="auto">
            <a:xfrm>
              <a:off x="1440" y="2640"/>
              <a:ext cx="336" cy="72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8683" name="Line 81"/>
            <p:cNvSpPr>
              <a:spLocks noChangeShapeType="1"/>
            </p:cNvSpPr>
            <p:nvPr/>
          </p:nvSpPr>
          <p:spPr bwMode="auto">
            <a:xfrm flipH="1">
              <a:off x="1968" y="3504"/>
              <a:ext cx="1440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82"/>
          <p:cNvGrpSpPr>
            <a:grpSpLocks/>
          </p:cNvGrpSpPr>
          <p:nvPr/>
        </p:nvGrpSpPr>
        <p:grpSpPr bwMode="auto">
          <a:xfrm>
            <a:off x="2362200" y="3886200"/>
            <a:ext cx="2895600" cy="1371600"/>
            <a:chOff x="1488" y="2448"/>
            <a:chExt cx="1824" cy="864"/>
          </a:xfrm>
        </p:grpSpPr>
        <p:sp>
          <p:nvSpPr>
            <p:cNvPr id="68678" name="Line 83"/>
            <p:cNvSpPr>
              <a:spLocks noChangeShapeType="1"/>
            </p:cNvSpPr>
            <p:nvPr/>
          </p:nvSpPr>
          <p:spPr bwMode="auto">
            <a:xfrm flipH="1">
              <a:off x="1536" y="2448"/>
              <a:ext cx="1776" cy="96"/>
            </a:xfrm>
            <a:prstGeom prst="line">
              <a:avLst/>
            </a:prstGeom>
            <a:noFill/>
            <a:ln w="38100">
              <a:solidFill>
                <a:srgbClr val="66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8679" name="Line 84"/>
            <p:cNvSpPr>
              <a:spLocks noChangeShapeType="1"/>
            </p:cNvSpPr>
            <p:nvPr/>
          </p:nvSpPr>
          <p:spPr bwMode="auto">
            <a:xfrm flipH="1" flipV="1">
              <a:off x="1536" y="2592"/>
              <a:ext cx="864" cy="336"/>
            </a:xfrm>
            <a:prstGeom prst="line">
              <a:avLst/>
            </a:prstGeom>
            <a:noFill/>
            <a:ln w="38100">
              <a:solidFill>
                <a:srgbClr val="66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8680" name="Line 85"/>
            <p:cNvSpPr>
              <a:spLocks noChangeShapeType="1"/>
            </p:cNvSpPr>
            <p:nvPr/>
          </p:nvSpPr>
          <p:spPr bwMode="auto">
            <a:xfrm flipH="1" flipV="1">
              <a:off x="1488" y="2592"/>
              <a:ext cx="336" cy="720"/>
            </a:xfrm>
            <a:prstGeom prst="line">
              <a:avLst/>
            </a:prstGeom>
            <a:noFill/>
            <a:ln w="38100">
              <a:solidFill>
                <a:srgbClr val="66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86"/>
          <p:cNvGrpSpPr>
            <a:grpSpLocks/>
          </p:cNvGrpSpPr>
          <p:nvPr/>
        </p:nvGrpSpPr>
        <p:grpSpPr bwMode="auto">
          <a:xfrm>
            <a:off x="2590800" y="3962400"/>
            <a:ext cx="2819400" cy="1447800"/>
            <a:chOff x="1632" y="2496"/>
            <a:chExt cx="1776" cy="912"/>
          </a:xfrm>
        </p:grpSpPr>
        <p:sp>
          <p:nvSpPr>
            <p:cNvPr id="68674" name="Line 87"/>
            <p:cNvSpPr>
              <a:spLocks noChangeShapeType="1"/>
            </p:cNvSpPr>
            <p:nvPr/>
          </p:nvSpPr>
          <p:spPr bwMode="auto">
            <a:xfrm>
              <a:off x="1632" y="2544"/>
              <a:ext cx="816" cy="288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8675" name="Line 88"/>
            <p:cNvSpPr>
              <a:spLocks noChangeShapeType="1"/>
            </p:cNvSpPr>
            <p:nvPr/>
          </p:nvSpPr>
          <p:spPr bwMode="auto">
            <a:xfrm flipV="1">
              <a:off x="2016" y="3072"/>
              <a:ext cx="480" cy="33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8676" name="Line 89"/>
            <p:cNvSpPr>
              <a:spLocks noChangeShapeType="1"/>
            </p:cNvSpPr>
            <p:nvPr/>
          </p:nvSpPr>
          <p:spPr bwMode="auto">
            <a:xfrm flipH="1" flipV="1">
              <a:off x="2592" y="3024"/>
              <a:ext cx="816" cy="384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8677" name="Line 90"/>
            <p:cNvSpPr>
              <a:spLocks noChangeShapeType="1"/>
            </p:cNvSpPr>
            <p:nvPr/>
          </p:nvSpPr>
          <p:spPr bwMode="auto">
            <a:xfrm flipH="1">
              <a:off x="2640" y="2496"/>
              <a:ext cx="720" cy="384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35995" name="Line 91"/>
          <p:cNvSpPr>
            <a:spLocks noChangeShapeType="1"/>
          </p:cNvSpPr>
          <p:nvPr/>
        </p:nvSpPr>
        <p:spPr bwMode="auto">
          <a:xfrm flipV="1">
            <a:off x="2438400" y="3810000"/>
            <a:ext cx="2819400" cy="152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35996" name="Line 92"/>
          <p:cNvSpPr>
            <a:spLocks noChangeShapeType="1"/>
          </p:cNvSpPr>
          <p:nvPr/>
        </p:nvSpPr>
        <p:spPr bwMode="auto">
          <a:xfrm>
            <a:off x="5562600" y="3886200"/>
            <a:ext cx="1524000" cy="838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35997" name="Line 93"/>
          <p:cNvSpPr>
            <a:spLocks noChangeShapeType="1"/>
          </p:cNvSpPr>
          <p:nvPr/>
        </p:nvSpPr>
        <p:spPr bwMode="auto">
          <a:xfrm flipV="1">
            <a:off x="5791200" y="5029200"/>
            <a:ext cx="1295400" cy="457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35998" name="Line 94"/>
          <p:cNvSpPr>
            <a:spLocks noChangeShapeType="1"/>
          </p:cNvSpPr>
          <p:nvPr/>
        </p:nvSpPr>
        <p:spPr bwMode="auto">
          <a:xfrm flipV="1">
            <a:off x="4191000" y="3962400"/>
            <a:ext cx="114300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35999" name="Line 95"/>
          <p:cNvSpPr>
            <a:spLocks noChangeShapeType="1"/>
          </p:cNvSpPr>
          <p:nvPr/>
        </p:nvSpPr>
        <p:spPr bwMode="auto">
          <a:xfrm flipV="1">
            <a:off x="3124200" y="4800600"/>
            <a:ext cx="76200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8664" name="Text Box 102"/>
          <p:cNvSpPr txBox="1">
            <a:spLocks noChangeArrowheads="1"/>
          </p:cNvSpPr>
          <p:nvPr/>
        </p:nvSpPr>
        <p:spPr bwMode="auto">
          <a:xfrm>
            <a:off x="7127875" y="4225925"/>
            <a:ext cx="325438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68665" name="Text Box 103"/>
          <p:cNvSpPr txBox="1">
            <a:spLocks noChangeArrowheads="1"/>
          </p:cNvSpPr>
          <p:nvPr/>
        </p:nvSpPr>
        <p:spPr bwMode="auto">
          <a:xfrm>
            <a:off x="5278438" y="3282950"/>
            <a:ext cx="3254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1</a:t>
            </a:r>
          </a:p>
        </p:txBody>
      </p:sp>
      <p:sp>
        <p:nvSpPr>
          <p:cNvPr id="68666" name="Text Box 104"/>
          <p:cNvSpPr txBox="1">
            <a:spLocks noChangeArrowheads="1"/>
          </p:cNvSpPr>
          <p:nvPr/>
        </p:nvSpPr>
        <p:spPr bwMode="auto">
          <a:xfrm>
            <a:off x="5491163" y="5791200"/>
            <a:ext cx="3254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2</a:t>
            </a:r>
          </a:p>
        </p:txBody>
      </p:sp>
      <p:sp>
        <p:nvSpPr>
          <p:cNvPr id="636009" name="Text Box 105"/>
          <p:cNvSpPr txBox="1">
            <a:spLocks noChangeArrowheads="1"/>
          </p:cNvSpPr>
          <p:nvPr/>
        </p:nvSpPr>
        <p:spPr bwMode="auto">
          <a:xfrm>
            <a:off x="2727325" y="5710238"/>
            <a:ext cx="325438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6</a:t>
            </a:r>
          </a:p>
        </p:txBody>
      </p:sp>
      <p:sp>
        <p:nvSpPr>
          <p:cNvPr id="68668" name="Text Box 106"/>
          <p:cNvSpPr txBox="1">
            <a:spLocks noChangeArrowheads="1"/>
          </p:cNvSpPr>
          <p:nvPr/>
        </p:nvSpPr>
        <p:spPr bwMode="auto">
          <a:xfrm>
            <a:off x="3854450" y="4164013"/>
            <a:ext cx="325438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3</a:t>
            </a:r>
          </a:p>
        </p:txBody>
      </p:sp>
      <p:sp>
        <p:nvSpPr>
          <p:cNvPr id="68669" name="Text Box 107"/>
          <p:cNvSpPr txBox="1">
            <a:spLocks noChangeArrowheads="1"/>
          </p:cNvSpPr>
          <p:nvPr/>
        </p:nvSpPr>
        <p:spPr bwMode="auto">
          <a:xfrm>
            <a:off x="2108200" y="3429000"/>
            <a:ext cx="325438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3</a:t>
            </a:r>
          </a:p>
        </p:txBody>
      </p:sp>
      <p:sp>
        <p:nvSpPr>
          <p:cNvPr id="636012" name="Text Box 108"/>
          <p:cNvSpPr txBox="1">
            <a:spLocks noChangeArrowheads="1"/>
          </p:cNvSpPr>
          <p:nvPr/>
        </p:nvSpPr>
        <p:spPr bwMode="auto">
          <a:xfrm>
            <a:off x="2992438" y="5773738"/>
            <a:ext cx="3254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4</a:t>
            </a:r>
          </a:p>
        </p:txBody>
      </p:sp>
      <p:sp>
        <p:nvSpPr>
          <p:cNvPr id="636013" name="Oval 109"/>
          <p:cNvSpPr>
            <a:spLocks noChangeArrowheads="1"/>
          </p:cNvSpPr>
          <p:nvPr/>
        </p:nvSpPr>
        <p:spPr bwMode="auto">
          <a:xfrm>
            <a:off x="1725613" y="2173288"/>
            <a:ext cx="715962" cy="534987"/>
          </a:xfrm>
          <a:prstGeom prst="ellipse">
            <a:avLst/>
          </a:prstGeom>
          <a:noFill/>
          <a:ln w="1905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36014" name="Oval 110"/>
          <p:cNvSpPr>
            <a:spLocks noChangeArrowheads="1"/>
          </p:cNvSpPr>
          <p:nvPr/>
        </p:nvSpPr>
        <p:spPr bwMode="auto">
          <a:xfrm>
            <a:off x="3024188" y="2178050"/>
            <a:ext cx="715962" cy="534988"/>
          </a:xfrm>
          <a:prstGeom prst="ellipse">
            <a:avLst/>
          </a:prstGeom>
          <a:noFill/>
          <a:ln w="1905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36015" name="Oval 111"/>
          <p:cNvSpPr>
            <a:spLocks noChangeArrowheads="1"/>
          </p:cNvSpPr>
          <p:nvPr/>
        </p:nvSpPr>
        <p:spPr bwMode="auto">
          <a:xfrm>
            <a:off x="5556250" y="2165350"/>
            <a:ext cx="715963" cy="534988"/>
          </a:xfrm>
          <a:prstGeom prst="ellipse">
            <a:avLst/>
          </a:prstGeom>
          <a:noFill/>
          <a:ln w="1905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36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9" dur="500"/>
                                        <p:tgtEl>
                                          <p:spTgt spid="6360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636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7" dur="500"/>
                                        <p:tgtEl>
                                          <p:spTgt spid="6360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636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5" dur="500"/>
                                        <p:tgtEl>
                                          <p:spTgt spid="6360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635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635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635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635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72" dur="500"/>
                                        <p:tgtEl>
                                          <p:spTgt spid="6360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636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635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995" grpId="0" animBg="1"/>
      <p:bldP spid="635996" grpId="0" animBg="1"/>
      <p:bldP spid="635997" grpId="0" animBg="1"/>
      <p:bldP spid="635998" grpId="0" animBg="1"/>
      <p:bldP spid="635999" grpId="0" animBg="1"/>
      <p:bldP spid="636009" grpId="0"/>
      <p:bldP spid="636012" grpId="0"/>
      <p:bldP spid="636013" grpId="0" animBg="1"/>
      <p:bldP spid="636013" grpId="1" animBg="1"/>
      <p:bldP spid="636014" grpId="0" animBg="1"/>
      <p:bldP spid="636014" grpId="1" animBg="1"/>
      <p:bldP spid="636015" grpId="0" animBg="1"/>
      <p:bldP spid="636015" grpId="1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7016" name="Group 88"/>
          <p:cNvGraphicFramePr>
            <a:graphicFrameLocks noGrp="1"/>
          </p:cNvGraphicFramePr>
          <p:nvPr>
            <p:ph sz="half" idx="1"/>
          </p:nvPr>
        </p:nvGraphicFramePr>
        <p:xfrm>
          <a:off x="369888" y="352425"/>
          <a:ext cx="7354887" cy="2438400"/>
        </p:xfrm>
        <a:graphic>
          <a:graphicData uri="http://schemas.openxmlformats.org/drawingml/2006/table">
            <a:tbl>
              <a:tblPr/>
              <a:tblGrid>
                <a:gridCol w="1093787"/>
                <a:gridCol w="1257300"/>
                <a:gridCol w="1257300"/>
                <a:gridCol w="1257300"/>
                <a:gridCol w="1231900"/>
                <a:gridCol w="1257300"/>
              </a:tblGrid>
              <a:tr h="4873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Iteration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1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2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3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4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5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3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Initial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(3,3)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(4,4)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(6, 1)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(3,3)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(6,2)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(3,3)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(4,4)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(4, 5)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(3,3)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(6,2)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64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83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9678" name="Text Box 46"/>
          <p:cNvSpPr txBox="1">
            <a:spLocks noChangeArrowheads="1"/>
          </p:cNvSpPr>
          <p:nvPr/>
        </p:nvSpPr>
        <p:spPr bwMode="auto">
          <a:xfrm>
            <a:off x="7696200" y="4343400"/>
            <a:ext cx="70485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2800">
                <a:latin typeface="Monotype Corsiva" pitchFamily="66" charset="0"/>
              </a:rPr>
              <a:t>San</a:t>
            </a:r>
          </a:p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2800">
                <a:latin typeface="Monotype Corsiva" pitchFamily="66" charset="0"/>
              </a:rPr>
              <a:t>Jose</a:t>
            </a:r>
          </a:p>
        </p:txBody>
      </p:sp>
      <p:grpSp>
        <p:nvGrpSpPr>
          <p:cNvPr id="69679" name="Group 89"/>
          <p:cNvGrpSpPr>
            <a:grpSpLocks/>
          </p:cNvGrpSpPr>
          <p:nvPr/>
        </p:nvGrpSpPr>
        <p:grpSpPr bwMode="auto">
          <a:xfrm>
            <a:off x="2133600" y="3581400"/>
            <a:ext cx="5340350" cy="2278063"/>
            <a:chOff x="1344" y="2256"/>
            <a:chExt cx="3364" cy="1435"/>
          </a:xfrm>
        </p:grpSpPr>
        <p:sp>
          <p:nvSpPr>
            <p:cNvPr id="69697" name="Oval 49"/>
            <p:cNvSpPr>
              <a:spLocks noChangeArrowheads="1"/>
            </p:cNvSpPr>
            <p:nvPr/>
          </p:nvSpPr>
          <p:spPr bwMode="auto">
            <a:xfrm>
              <a:off x="3360" y="2278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98" name="Oval 52"/>
            <p:cNvSpPr>
              <a:spLocks noChangeArrowheads="1"/>
            </p:cNvSpPr>
            <p:nvPr/>
          </p:nvSpPr>
          <p:spPr bwMode="auto">
            <a:xfrm>
              <a:off x="1344" y="2400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99" name="Oval 54"/>
            <p:cNvSpPr>
              <a:spLocks noChangeArrowheads="1"/>
            </p:cNvSpPr>
            <p:nvPr/>
          </p:nvSpPr>
          <p:spPr bwMode="auto">
            <a:xfrm>
              <a:off x="3456" y="3351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00" name="Oval 56"/>
            <p:cNvSpPr>
              <a:spLocks noChangeArrowheads="1"/>
            </p:cNvSpPr>
            <p:nvPr/>
          </p:nvSpPr>
          <p:spPr bwMode="auto">
            <a:xfrm>
              <a:off x="2456" y="2815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01" name="Oval 58"/>
            <p:cNvSpPr>
              <a:spLocks noChangeArrowheads="1"/>
            </p:cNvSpPr>
            <p:nvPr/>
          </p:nvSpPr>
          <p:spPr bwMode="auto">
            <a:xfrm>
              <a:off x="4476" y="2958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02" name="Oval 60"/>
            <p:cNvSpPr>
              <a:spLocks noChangeArrowheads="1"/>
            </p:cNvSpPr>
            <p:nvPr/>
          </p:nvSpPr>
          <p:spPr bwMode="auto">
            <a:xfrm>
              <a:off x="1776" y="3351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03" name="Rectangle 48"/>
            <p:cNvSpPr>
              <a:spLocks noChangeArrowheads="1"/>
            </p:cNvSpPr>
            <p:nvPr/>
          </p:nvSpPr>
          <p:spPr bwMode="auto">
            <a:xfrm>
              <a:off x="3382" y="2283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3</a:t>
              </a:r>
            </a:p>
          </p:txBody>
        </p:sp>
        <p:sp>
          <p:nvSpPr>
            <p:cNvPr id="69704" name="Line 50"/>
            <p:cNvSpPr>
              <a:spLocks noChangeShapeType="1"/>
            </p:cNvSpPr>
            <p:nvPr/>
          </p:nvSpPr>
          <p:spPr bwMode="auto">
            <a:xfrm flipV="1">
              <a:off x="1584" y="2400"/>
              <a:ext cx="1776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9705" name="Rectangle 51"/>
            <p:cNvSpPr>
              <a:spLocks noChangeArrowheads="1"/>
            </p:cNvSpPr>
            <p:nvPr/>
          </p:nvSpPr>
          <p:spPr bwMode="auto">
            <a:xfrm>
              <a:off x="1344" y="2400"/>
              <a:ext cx="18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1</a:t>
              </a:r>
            </a:p>
          </p:txBody>
        </p:sp>
        <p:sp>
          <p:nvSpPr>
            <p:cNvPr id="69706" name="Rectangle 53"/>
            <p:cNvSpPr>
              <a:spLocks noChangeArrowheads="1"/>
            </p:cNvSpPr>
            <p:nvPr/>
          </p:nvSpPr>
          <p:spPr bwMode="auto">
            <a:xfrm>
              <a:off x="3478" y="3356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5</a:t>
              </a:r>
            </a:p>
          </p:txBody>
        </p:sp>
        <p:sp>
          <p:nvSpPr>
            <p:cNvPr id="69707" name="Rectangle 55"/>
            <p:cNvSpPr>
              <a:spLocks noChangeArrowheads="1"/>
            </p:cNvSpPr>
            <p:nvPr/>
          </p:nvSpPr>
          <p:spPr bwMode="auto">
            <a:xfrm>
              <a:off x="2478" y="2811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4</a:t>
              </a:r>
            </a:p>
          </p:txBody>
        </p:sp>
        <p:sp>
          <p:nvSpPr>
            <p:cNvPr id="69708" name="Rectangle 57"/>
            <p:cNvSpPr>
              <a:spLocks noChangeArrowheads="1"/>
            </p:cNvSpPr>
            <p:nvPr/>
          </p:nvSpPr>
          <p:spPr bwMode="auto">
            <a:xfrm>
              <a:off x="4489" y="2945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6</a:t>
              </a:r>
            </a:p>
          </p:txBody>
        </p:sp>
        <p:sp>
          <p:nvSpPr>
            <p:cNvPr id="69709" name="Rectangle 59"/>
            <p:cNvSpPr>
              <a:spLocks noChangeArrowheads="1"/>
            </p:cNvSpPr>
            <p:nvPr/>
          </p:nvSpPr>
          <p:spPr bwMode="auto">
            <a:xfrm>
              <a:off x="1798" y="3356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2</a:t>
              </a:r>
            </a:p>
          </p:txBody>
        </p:sp>
        <p:sp>
          <p:nvSpPr>
            <p:cNvPr id="69710" name="Line 61"/>
            <p:cNvSpPr>
              <a:spLocks noChangeShapeType="1"/>
            </p:cNvSpPr>
            <p:nvPr/>
          </p:nvSpPr>
          <p:spPr bwMode="auto">
            <a:xfrm>
              <a:off x="1488" y="2640"/>
              <a:ext cx="336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9711" name="Line 62"/>
            <p:cNvSpPr>
              <a:spLocks noChangeShapeType="1"/>
            </p:cNvSpPr>
            <p:nvPr/>
          </p:nvSpPr>
          <p:spPr bwMode="auto">
            <a:xfrm>
              <a:off x="2016" y="3456"/>
              <a:ext cx="1432" cy="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9712" name="Line 63"/>
            <p:cNvSpPr>
              <a:spLocks noChangeShapeType="1"/>
            </p:cNvSpPr>
            <p:nvPr/>
          </p:nvSpPr>
          <p:spPr bwMode="auto">
            <a:xfrm flipV="1">
              <a:off x="3696" y="3151"/>
              <a:ext cx="808" cy="2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9713" name="Line 64"/>
            <p:cNvSpPr>
              <a:spLocks noChangeShapeType="1"/>
            </p:cNvSpPr>
            <p:nvPr/>
          </p:nvSpPr>
          <p:spPr bwMode="auto">
            <a:xfrm>
              <a:off x="3552" y="2448"/>
              <a:ext cx="972" cy="5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9714" name="Line 65"/>
            <p:cNvSpPr>
              <a:spLocks noChangeShapeType="1"/>
            </p:cNvSpPr>
            <p:nvPr/>
          </p:nvSpPr>
          <p:spPr bwMode="auto">
            <a:xfrm flipH="1">
              <a:off x="2688" y="2496"/>
              <a:ext cx="72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9715" name="Rectangle 66"/>
            <p:cNvSpPr>
              <a:spLocks noChangeArrowheads="1"/>
            </p:cNvSpPr>
            <p:nvPr/>
          </p:nvSpPr>
          <p:spPr bwMode="auto">
            <a:xfrm>
              <a:off x="2352" y="2256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2</a:t>
              </a:r>
            </a:p>
          </p:txBody>
        </p:sp>
        <p:sp>
          <p:nvSpPr>
            <p:cNvPr id="69716" name="Rectangle 67"/>
            <p:cNvSpPr>
              <a:spLocks noChangeArrowheads="1"/>
            </p:cNvSpPr>
            <p:nvPr/>
          </p:nvSpPr>
          <p:spPr bwMode="auto">
            <a:xfrm>
              <a:off x="1440" y="2976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3</a:t>
              </a:r>
            </a:p>
          </p:txBody>
        </p:sp>
        <p:sp>
          <p:nvSpPr>
            <p:cNvPr id="69717" name="Rectangle 68"/>
            <p:cNvSpPr>
              <a:spLocks noChangeArrowheads="1"/>
            </p:cNvSpPr>
            <p:nvPr/>
          </p:nvSpPr>
          <p:spPr bwMode="auto">
            <a:xfrm>
              <a:off x="2640" y="3504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4</a:t>
              </a:r>
            </a:p>
          </p:txBody>
        </p:sp>
        <p:sp>
          <p:nvSpPr>
            <p:cNvPr id="69718" name="Rectangle 69"/>
            <p:cNvSpPr>
              <a:spLocks noChangeArrowheads="1"/>
            </p:cNvSpPr>
            <p:nvPr/>
          </p:nvSpPr>
          <p:spPr bwMode="auto">
            <a:xfrm>
              <a:off x="2688" y="2592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2</a:t>
              </a:r>
            </a:p>
          </p:txBody>
        </p:sp>
        <p:sp>
          <p:nvSpPr>
            <p:cNvPr id="69719" name="Rectangle 70"/>
            <p:cNvSpPr>
              <a:spLocks noChangeArrowheads="1"/>
            </p:cNvSpPr>
            <p:nvPr/>
          </p:nvSpPr>
          <p:spPr bwMode="auto">
            <a:xfrm>
              <a:off x="2064" y="3024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1</a:t>
              </a:r>
            </a:p>
          </p:txBody>
        </p:sp>
        <p:sp>
          <p:nvSpPr>
            <p:cNvPr id="69720" name="Rectangle 71"/>
            <p:cNvSpPr>
              <a:spLocks noChangeArrowheads="1"/>
            </p:cNvSpPr>
            <p:nvPr/>
          </p:nvSpPr>
          <p:spPr bwMode="auto">
            <a:xfrm>
              <a:off x="3984" y="2496"/>
              <a:ext cx="178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1</a:t>
              </a:r>
            </a:p>
          </p:txBody>
        </p:sp>
        <p:sp>
          <p:nvSpPr>
            <p:cNvPr id="69721" name="Rectangle 72"/>
            <p:cNvSpPr>
              <a:spLocks noChangeArrowheads="1"/>
            </p:cNvSpPr>
            <p:nvPr/>
          </p:nvSpPr>
          <p:spPr bwMode="auto">
            <a:xfrm>
              <a:off x="4111" y="3313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2</a:t>
              </a:r>
            </a:p>
          </p:txBody>
        </p:sp>
        <p:sp>
          <p:nvSpPr>
            <p:cNvPr id="69722" name="Rectangle 73"/>
            <p:cNvSpPr>
              <a:spLocks noChangeArrowheads="1"/>
            </p:cNvSpPr>
            <p:nvPr/>
          </p:nvSpPr>
          <p:spPr bwMode="auto">
            <a:xfrm>
              <a:off x="3120" y="3024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3</a:t>
              </a:r>
            </a:p>
          </p:txBody>
        </p:sp>
        <p:sp>
          <p:nvSpPr>
            <p:cNvPr id="69723" name="Line 74"/>
            <p:cNvSpPr>
              <a:spLocks noChangeShapeType="1"/>
            </p:cNvSpPr>
            <p:nvPr/>
          </p:nvSpPr>
          <p:spPr bwMode="auto">
            <a:xfrm>
              <a:off x="2688" y="2976"/>
              <a:ext cx="860" cy="3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9724" name="Line 75"/>
            <p:cNvSpPr>
              <a:spLocks noChangeShapeType="1"/>
            </p:cNvSpPr>
            <p:nvPr/>
          </p:nvSpPr>
          <p:spPr bwMode="auto">
            <a:xfrm flipV="1">
              <a:off x="2016" y="3024"/>
              <a:ext cx="48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9725" name="Line 76"/>
            <p:cNvSpPr>
              <a:spLocks noChangeShapeType="1"/>
            </p:cNvSpPr>
            <p:nvPr/>
          </p:nvSpPr>
          <p:spPr bwMode="auto">
            <a:xfrm>
              <a:off x="1584" y="2544"/>
              <a:ext cx="86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9726" name="Rectangle 77"/>
            <p:cNvSpPr>
              <a:spLocks noChangeArrowheads="1"/>
            </p:cNvSpPr>
            <p:nvPr/>
          </p:nvSpPr>
          <p:spPr bwMode="auto">
            <a:xfrm>
              <a:off x="2064" y="2592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5</a:t>
              </a:r>
            </a:p>
          </p:txBody>
        </p:sp>
      </p:grpSp>
      <p:pic>
        <p:nvPicPr>
          <p:cNvPr id="69680" name="Picture 78" descr="BD05210_[1]"/>
          <p:cNvPicPr>
            <a:picLocks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6346825" y="4167188"/>
            <a:ext cx="698500" cy="627062"/>
          </a:xfrm>
          <a:noFill/>
        </p:spPr>
      </p:pic>
      <p:sp>
        <p:nvSpPr>
          <p:cNvPr id="637007" name="Line 79"/>
          <p:cNvSpPr>
            <a:spLocks noChangeShapeType="1"/>
          </p:cNvSpPr>
          <p:nvPr/>
        </p:nvSpPr>
        <p:spPr bwMode="auto">
          <a:xfrm flipV="1">
            <a:off x="4191000" y="3962400"/>
            <a:ext cx="1143000" cy="6096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37008" name="Line 80"/>
          <p:cNvSpPr>
            <a:spLocks noChangeShapeType="1"/>
          </p:cNvSpPr>
          <p:nvPr/>
        </p:nvSpPr>
        <p:spPr bwMode="auto">
          <a:xfrm flipV="1">
            <a:off x="2514600" y="3810000"/>
            <a:ext cx="2819400" cy="152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37009" name="Line 81"/>
          <p:cNvSpPr>
            <a:spLocks noChangeShapeType="1"/>
          </p:cNvSpPr>
          <p:nvPr/>
        </p:nvSpPr>
        <p:spPr bwMode="auto">
          <a:xfrm flipV="1">
            <a:off x="2514600" y="3810000"/>
            <a:ext cx="2819400" cy="152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37010" name="Line 82"/>
          <p:cNvSpPr>
            <a:spLocks noChangeShapeType="1"/>
          </p:cNvSpPr>
          <p:nvPr/>
        </p:nvSpPr>
        <p:spPr bwMode="auto">
          <a:xfrm flipV="1">
            <a:off x="3200400" y="4800600"/>
            <a:ext cx="76200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37011" name="Line 83"/>
          <p:cNvSpPr>
            <a:spLocks noChangeShapeType="1"/>
          </p:cNvSpPr>
          <p:nvPr/>
        </p:nvSpPr>
        <p:spPr bwMode="auto">
          <a:xfrm flipV="1">
            <a:off x="4267200" y="3962400"/>
            <a:ext cx="114300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37012" name="Line 84"/>
          <p:cNvSpPr>
            <a:spLocks noChangeShapeType="1"/>
          </p:cNvSpPr>
          <p:nvPr/>
        </p:nvSpPr>
        <p:spPr bwMode="auto">
          <a:xfrm flipV="1">
            <a:off x="4114800" y="3886200"/>
            <a:ext cx="114300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37013" name="Line 85"/>
          <p:cNvSpPr>
            <a:spLocks noChangeShapeType="1"/>
          </p:cNvSpPr>
          <p:nvPr/>
        </p:nvSpPr>
        <p:spPr bwMode="auto">
          <a:xfrm flipV="1">
            <a:off x="5867400" y="4953000"/>
            <a:ext cx="129540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9688" name="Text Box 90"/>
          <p:cNvSpPr txBox="1">
            <a:spLocks noChangeArrowheads="1"/>
          </p:cNvSpPr>
          <p:nvPr/>
        </p:nvSpPr>
        <p:spPr bwMode="auto">
          <a:xfrm>
            <a:off x="7127875" y="4225925"/>
            <a:ext cx="325438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637019" name="Text Box 91"/>
          <p:cNvSpPr txBox="1">
            <a:spLocks noChangeArrowheads="1"/>
          </p:cNvSpPr>
          <p:nvPr/>
        </p:nvSpPr>
        <p:spPr bwMode="auto">
          <a:xfrm>
            <a:off x="5383213" y="3230563"/>
            <a:ext cx="3254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1</a:t>
            </a:r>
          </a:p>
        </p:txBody>
      </p:sp>
      <p:sp>
        <p:nvSpPr>
          <p:cNvPr id="69690" name="Text Box 92"/>
          <p:cNvSpPr txBox="1">
            <a:spLocks noChangeArrowheads="1"/>
          </p:cNvSpPr>
          <p:nvPr/>
        </p:nvSpPr>
        <p:spPr bwMode="auto">
          <a:xfrm>
            <a:off x="5535613" y="5634038"/>
            <a:ext cx="3254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2</a:t>
            </a:r>
          </a:p>
        </p:txBody>
      </p:sp>
      <p:sp>
        <p:nvSpPr>
          <p:cNvPr id="69691" name="Text Box 93"/>
          <p:cNvSpPr txBox="1">
            <a:spLocks noChangeArrowheads="1"/>
          </p:cNvSpPr>
          <p:nvPr/>
        </p:nvSpPr>
        <p:spPr bwMode="auto">
          <a:xfrm>
            <a:off x="3825875" y="4146550"/>
            <a:ext cx="325438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3</a:t>
            </a:r>
          </a:p>
        </p:txBody>
      </p:sp>
      <p:sp>
        <p:nvSpPr>
          <p:cNvPr id="69692" name="Text Box 94"/>
          <p:cNvSpPr txBox="1">
            <a:spLocks noChangeArrowheads="1"/>
          </p:cNvSpPr>
          <p:nvPr/>
        </p:nvSpPr>
        <p:spPr bwMode="auto">
          <a:xfrm>
            <a:off x="1985963" y="3513138"/>
            <a:ext cx="3254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3</a:t>
            </a:r>
          </a:p>
        </p:txBody>
      </p:sp>
      <p:sp>
        <p:nvSpPr>
          <p:cNvPr id="69693" name="Text Box 95"/>
          <p:cNvSpPr txBox="1">
            <a:spLocks noChangeArrowheads="1"/>
          </p:cNvSpPr>
          <p:nvPr/>
        </p:nvSpPr>
        <p:spPr bwMode="auto">
          <a:xfrm>
            <a:off x="2527300" y="5502275"/>
            <a:ext cx="325438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4</a:t>
            </a:r>
          </a:p>
        </p:txBody>
      </p:sp>
      <p:sp>
        <p:nvSpPr>
          <p:cNvPr id="637024" name="Oval 96"/>
          <p:cNvSpPr>
            <a:spLocks noChangeArrowheads="1"/>
          </p:cNvSpPr>
          <p:nvPr/>
        </p:nvSpPr>
        <p:spPr bwMode="auto">
          <a:xfrm>
            <a:off x="4227513" y="1285875"/>
            <a:ext cx="758825" cy="595313"/>
          </a:xfrm>
          <a:prstGeom prst="ellipse">
            <a:avLst/>
          </a:prstGeom>
          <a:noFill/>
          <a:ln w="1905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37025" name="Text Box 97"/>
          <p:cNvSpPr txBox="1">
            <a:spLocks noChangeArrowheads="1"/>
          </p:cNvSpPr>
          <p:nvPr/>
        </p:nvSpPr>
        <p:spPr bwMode="auto">
          <a:xfrm>
            <a:off x="979488" y="6089650"/>
            <a:ext cx="70818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i="1"/>
              <a:t>Network disconnected;  Loop created between nodes 3 and 4</a:t>
            </a:r>
          </a:p>
        </p:txBody>
      </p:sp>
      <p:sp>
        <p:nvSpPr>
          <p:cNvPr id="637026" name="Text Box 98"/>
          <p:cNvSpPr txBox="1">
            <a:spLocks noChangeArrowheads="1"/>
          </p:cNvSpPr>
          <p:nvPr/>
        </p:nvSpPr>
        <p:spPr bwMode="auto">
          <a:xfrm>
            <a:off x="5691188" y="3270250"/>
            <a:ext cx="3254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70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70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37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70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637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637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63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637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637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1" dur="500"/>
                                        <p:tgtEl>
                                          <p:spTgt spid="6370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7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637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1000"/>
                                        <p:tgtEl>
                                          <p:spTgt spid="637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1000"/>
                                        <p:tgtEl>
                                          <p:spTgt spid="637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7007" grpId="0" animBg="1"/>
      <p:bldP spid="637008" grpId="0" animBg="1"/>
      <p:bldP spid="637009" grpId="0" animBg="1"/>
      <p:bldP spid="637010" grpId="0" animBg="1"/>
      <p:bldP spid="637011" grpId="0" animBg="1"/>
      <p:bldP spid="637012" grpId="0" animBg="1"/>
      <p:bldP spid="637013" grpId="0" animBg="1"/>
      <p:bldP spid="637019" grpId="0"/>
      <p:bldP spid="637024" grpId="0" animBg="1"/>
      <p:bldP spid="637025" grpId="0"/>
      <p:bldP spid="637026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8042" name="Group 90"/>
          <p:cNvGraphicFramePr>
            <a:graphicFrameLocks noGrp="1"/>
          </p:cNvGraphicFramePr>
          <p:nvPr>
            <p:ph sz="half" idx="1"/>
          </p:nvPr>
        </p:nvGraphicFramePr>
        <p:xfrm>
          <a:off x="252413" y="338138"/>
          <a:ext cx="7586662" cy="2438400"/>
        </p:xfrm>
        <a:graphic>
          <a:graphicData uri="http://schemas.openxmlformats.org/drawingml/2006/table">
            <a:tbl>
              <a:tblPr/>
              <a:tblGrid>
                <a:gridCol w="1325562"/>
                <a:gridCol w="1257300"/>
                <a:gridCol w="1257300"/>
                <a:gridCol w="1257300"/>
                <a:gridCol w="1231900"/>
                <a:gridCol w="1257300"/>
              </a:tblGrid>
              <a:tr h="48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Iteration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1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2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3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4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5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Initial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(3,3)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(4,4)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(6, 1)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(3,3)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(6,2)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(3,3)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(4,4)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(4, 5)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(3,3)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(6,2)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6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(3,7)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(4,4)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(4, 5)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Arial" charset="0"/>
                        </a:rPr>
                        <a:t>(5,5)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(6,2)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8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0702" name="Text Box 46"/>
          <p:cNvSpPr txBox="1">
            <a:spLocks noChangeArrowheads="1"/>
          </p:cNvSpPr>
          <p:nvPr/>
        </p:nvSpPr>
        <p:spPr bwMode="auto">
          <a:xfrm>
            <a:off x="7696200" y="4343400"/>
            <a:ext cx="70485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2800">
                <a:latin typeface="Monotype Corsiva" pitchFamily="66" charset="0"/>
              </a:rPr>
              <a:t>San</a:t>
            </a:r>
          </a:p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2800">
                <a:latin typeface="Monotype Corsiva" pitchFamily="66" charset="0"/>
              </a:rPr>
              <a:t>Jose</a:t>
            </a:r>
          </a:p>
        </p:txBody>
      </p:sp>
      <p:grpSp>
        <p:nvGrpSpPr>
          <p:cNvPr id="70703" name="Group 91"/>
          <p:cNvGrpSpPr>
            <a:grpSpLocks/>
          </p:cNvGrpSpPr>
          <p:nvPr/>
        </p:nvGrpSpPr>
        <p:grpSpPr bwMode="auto">
          <a:xfrm>
            <a:off x="2133600" y="3581400"/>
            <a:ext cx="5397500" cy="2278063"/>
            <a:chOff x="1344" y="2256"/>
            <a:chExt cx="3400" cy="1435"/>
          </a:xfrm>
        </p:grpSpPr>
        <p:sp>
          <p:nvSpPr>
            <p:cNvPr id="70728" name="Oval 49"/>
            <p:cNvSpPr>
              <a:spLocks noChangeArrowheads="1"/>
            </p:cNvSpPr>
            <p:nvPr/>
          </p:nvSpPr>
          <p:spPr bwMode="auto">
            <a:xfrm>
              <a:off x="3360" y="2278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29" name="Oval 52"/>
            <p:cNvSpPr>
              <a:spLocks noChangeArrowheads="1"/>
            </p:cNvSpPr>
            <p:nvPr/>
          </p:nvSpPr>
          <p:spPr bwMode="auto">
            <a:xfrm>
              <a:off x="1344" y="2400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30" name="Oval 54"/>
            <p:cNvSpPr>
              <a:spLocks noChangeArrowheads="1"/>
            </p:cNvSpPr>
            <p:nvPr/>
          </p:nvSpPr>
          <p:spPr bwMode="auto">
            <a:xfrm>
              <a:off x="3456" y="3351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31" name="Oval 56"/>
            <p:cNvSpPr>
              <a:spLocks noChangeArrowheads="1"/>
            </p:cNvSpPr>
            <p:nvPr/>
          </p:nvSpPr>
          <p:spPr bwMode="auto">
            <a:xfrm>
              <a:off x="2456" y="2815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32" name="Oval 58"/>
            <p:cNvSpPr>
              <a:spLocks noChangeArrowheads="1"/>
            </p:cNvSpPr>
            <p:nvPr/>
          </p:nvSpPr>
          <p:spPr bwMode="auto">
            <a:xfrm>
              <a:off x="4512" y="2967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33" name="Oval 60"/>
            <p:cNvSpPr>
              <a:spLocks noChangeArrowheads="1"/>
            </p:cNvSpPr>
            <p:nvPr/>
          </p:nvSpPr>
          <p:spPr bwMode="auto">
            <a:xfrm>
              <a:off x="1776" y="3351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34" name="Line 64"/>
            <p:cNvSpPr>
              <a:spLocks noChangeShapeType="1"/>
            </p:cNvSpPr>
            <p:nvPr/>
          </p:nvSpPr>
          <p:spPr bwMode="auto">
            <a:xfrm>
              <a:off x="3552" y="2448"/>
              <a:ext cx="972" cy="5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0735" name="Rectangle 48"/>
            <p:cNvSpPr>
              <a:spLocks noChangeArrowheads="1"/>
            </p:cNvSpPr>
            <p:nvPr/>
          </p:nvSpPr>
          <p:spPr bwMode="auto">
            <a:xfrm>
              <a:off x="3391" y="2283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3</a:t>
              </a:r>
            </a:p>
          </p:txBody>
        </p:sp>
        <p:sp>
          <p:nvSpPr>
            <p:cNvPr id="70736" name="Line 50"/>
            <p:cNvSpPr>
              <a:spLocks noChangeShapeType="1"/>
            </p:cNvSpPr>
            <p:nvPr/>
          </p:nvSpPr>
          <p:spPr bwMode="auto">
            <a:xfrm flipV="1">
              <a:off x="1584" y="2400"/>
              <a:ext cx="1776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0737" name="Rectangle 51"/>
            <p:cNvSpPr>
              <a:spLocks noChangeArrowheads="1"/>
            </p:cNvSpPr>
            <p:nvPr/>
          </p:nvSpPr>
          <p:spPr bwMode="auto">
            <a:xfrm>
              <a:off x="1344" y="2409"/>
              <a:ext cx="18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1</a:t>
              </a:r>
            </a:p>
          </p:txBody>
        </p:sp>
        <p:sp>
          <p:nvSpPr>
            <p:cNvPr id="70738" name="Rectangle 53"/>
            <p:cNvSpPr>
              <a:spLocks noChangeArrowheads="1"/>
            </p:cNvSpPr>
            <p:nvPr/>
          </p:nvSpPr>
          <p:spPr bwMode="auto">
            <a:xfrm>
              <a:off x="3487" y="3356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5</a:t>
              </a:r>
            </a:p>
          </p:txBody>
        </p:sp>
        <p:sp>
          <p:nvSpPr>
            <p:cNvPr id="70739" name="Rectangle 55"/>
            <p:cNvSpPr>
              <a:spLocks noChangeArrowheads="1"/>
            </p:cNvSpPr>
            <p:nvPr/>
          </p:nvSpPr>
          <p:spPr bwMode="auto">
            <a:xfrm>
              <a:off x="2487" y="2811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4</a:t>
              </a:r>
            </a:p>
          </p:txBody>
        </p:sp>
        <p:sp>
          <p:nvSpPr>
            <p:cNvPr id="70740" name="Rectangle 57"/>
            <p:cNvSpPr>
              <a:spLocks noChangeArrowheads="1"/>
            </p:cNvSpPr>
            <p:nvPr/>
          </p:nvSpPr>
          <p:spPr bwMode="auto">
            <a:xfrm>
              <a:off x="4543" y="2972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6</a:t>
              </a:r>
            </a:p>
          </p:txBody>
        </p:sp>
        <p:sp>
          <p:nvSpPr>
            <p:cNvPr id="70741" name="Rectangle 59"/>
            <p:cNvSpPr>
              <a:spLocks noChangeArrowheads="1"/>
            </p:cNvSpPr>
            <p:nvPr/>
          </p:nvSpPr>
          <p:spPr bwMode="auto">
            <a:xfrm>
              <a:off x="1807" y="3356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2</a:t>
              </a:r>
            </a:p>
          </p:txBody>
        </p:sp>
        <p:sp>
          <p:nvSpPr>
            <p:cNvPr id="70742" name="Line 61"/>
            <p:cNvSpPr>
              <a:spLocks noChangeShapeType="1"/>
            </p:cNvSpPr>
            <p:nvPr/>
          </p:nvSpPr>
          <p:spPr bwMode="auto">
            <a:xfrm>
              <a:off x="1488" y="2640"/>
              <a:ext cx="336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0743" name="Line 62"/>
            <p:cNvSpPr>
              <a:spLocks noChangeShapeType="1"/>
            </p:cNvSpPr>
            <p:nvPr/>
          </p:nvSpPr>
          <p:spPr bwMode="auto">
            <a:xfrm>
              <a:off x="2016" y="3456"/>
              <a:ext cx="1432" cy="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0744" name="Line 63"/>
            <p:cNvSpPr>
              <a:spLocks noChangeShapeType="1"/>
            </p:cNvSpPr>
            <p:nvPr/>
          </p:nvSpPr>
          <p:spPr bwMode="auto">
            <a:xfrm flipV="1">
              <a:off x="3696" y="3151"/>
              <a:ext cx="808" cy="2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0745" name="Line 65"/>
            <p:cNvSpPr>
              <a:spLocks noChangeShapeType="1"/>
            </p:cNvSpPr>
            <p:nvPr/>
          </p:nvSpPr>
          <p:spPr bwMode="auto">
            <a:xfrm flipH="1">
              <a:off x="2688" y="2496"/>
              <a:ext cx="72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0746" name="Rectangle 66"/>
            <p:cNvSpPr>
              <a:spLocks noChangeArrowheads="1"/>
            </p:cNvSpPr>
            <p:nvPr/>
          </p:nvSpPr>
          <p:spPr bwMode="auto">
            <a:xfrm>
              <a:off x="2352" y="2256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2</a:t>
              </a:r>
            </a:p>
          </p:txBody>
        </p:sp>
        <p:sp>
          <p:nvSpPr>
            <p:cNvPr id="70747" name="Rectangle 67"/>
            <p:cNvSpPr>
              <a:spLocks noChangeArrowheads="1"/>
            </p:cNvSpPr>
            <p:nvPr/>
          </p:nvSpPr>
          <p:spPr bwMode="auto">
            <a:xfrm>
              <a:off x="1440" y="2976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3</a:t>
              </a:r>
            </a:p>
          </p:txBody>
        </p:sp>
        <p:sp>
          <p:nvSpPr>
            <p:cNvPr id="70748" name="Rectangle 68"/>
            <p:cNvSpPr>
              <a:spLocks noChangeArrowheads="1"/>
            </p:cNvSpPr>
            <p:nvPr/>
          </p:nvSpPr>
          <p:spPr bwMode="auto">
            <a:xfrm>
              <a:off x="2640" y="3504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4</a:t>
              </a:r>
            </a:p>
          </p:txBody>
        </p:sp>
        <p:sp>
          <p:nvSpPr>
            <p:cNvPr id="70749" name="Rectangle 69"/>
            <p:cNvSpPr>
              <a:spLocks noChangeArrowheads="1"/>
            </p:cNvSpPr>
            <p:nvPr/>
          </p:nvSpPr>
          <p:spPr bwMode="auto">
            <a:xfrm>
              <a:off x="2688" y="2592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2</a:t>
              </a:r>
            </a:p>
          </p:txBody>
        </p:sp>
        <p:sp>
          <p:nvSpPr>
            <p:cNvPr id="70750" name="Rectangle 70"/>
            <p:cNvSpPr>
              <a:spLocks noChangeArrowheads="1"/>
            </p:cNvSpPr>
            <p:nvPr/>
          </p:nvSpPr>
          <p:spPr bwMode="auto">
            <a:xfrm>
              <a:off x="2064" y="3024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1</a:t>
              </a:r>
            </a:p>
          </p:txBody>
        </p:sp>
        <p:sp>
          <p:nvSpPr>
            <p:cNvPr id="70751" name="Rectangle 71"/>
            <p:cNvSpPr>
              <a:spLocks noChangeArrowheads="1"/>
            </p:cNvSpPr>
            <p:nvPr/>
          </p:nvSpPr>
          <p:spPr bwMode="auto">
            <a:xfrm>
              <a:off x="3984" y="2496"/>
              <a:ext cx="178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1</a:t>
              </a:r>
            </a:p>
          </p:txBody>
        </p:sp>
        <p:sp>
          <p:nvSpPr>
            <p:cNvPr id="70752" name="Rectangle 72"/>
            <p:cNvSpPr>
              <a:spLocks noChangeArrowheads="1"/>
            </p:cNvSpPr>
            <p:nvPr/>
          </p:nvSpPr>
          <p:spPr bwMode="auto">
            <a:xfrm>
              <a:off x="4111" y="3313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2</a:t>
              </a:r>
            </a:p>
          </p:txBody>
        </p:sp>
        <p:sp>
          <p:nvSpPr>
            <p:cNvPr id="70753" name="Rectangle 73"/>
            <p:cNvSpPr>
              <a:spLocks noChangeArrowheads="1"/>
            </p:cNvSpPr>
            <p:nvPr/>
          </p:nvSpPr>
          <p:spPr bwMode="auto">
            <a:xfrm>
              <a:off x="3120" y="3024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3</a:t>
              </a:r>
            </a:p>
          </p:txBody>
        </p:sp>
        <p:sp>
          <p:nvSpPr>
            <p:cNvPr id="70754" name="Line 74"/>
            <p:cNvSpPr>
              <a:spLocks noChangeShapeType="1"/>
            </p:cNvSpPr>
            <p:nvPr/>
          </p:nvSpPr>
          <p:spPr bwMode="auto">
            <a:xfrm>
              <a:off x="2688" y="2976"/>
              <a:ext cx="860" cy="3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0755" name="Line 75"/>
            <p:cNvSpPr>
              <a:spLocks noChangeShapeType="1"/>
            </p:cNvSpPr>
            <p:nvPr/>
          </p:nvSpPr>
          <p:spPr bwMode="auto">
            <a:xfrm flipV="1">
              <a:off x="2016" y="3024"/>
              <a:ext cx="48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0756" name="Line 76"/>
            <p:cNvSpPr>
              <a:spLocks noChangeShapeType="1"/>
            </p:cNvSpPr>
            <p:nvPr/>
          </p:nvSpPr>
          <p:spPr bwMode="auto">
            <a:xfrm>
              <a:off x="1584" y="2544"/>
              <a:ext cx="86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0757" name="Rectangle 77"/>
            <p:cNvSpPr>
              <a:spLocks noChangeArrowheads="1"/>
            </p:cNvSpPr>
            <p:nvPr/>
          </p:nvSpPr>
          <p:spPr bwMode="auto">
            <a:xfrm>
              <a:off x="2064" y="2592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5</a:t>
              </a:r>
            </a:p>
          </p:txBody>
        </p:sp>
      </p:grpSp>
      <p:pic>
        <p:nvPicPr>
          <p:cNvPr id="70704" name="Picture 78" descr="BD05210_[1]"/>
          <p:cNvPicPr>
            <a:picLocks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6346825" y="4167188"/>
            <a:ext cx="698500" cy="627062"/>
          </a:xfrm>
          <a:noFill/>
        </p:spPr>
      </p:pic>
      <p:sp>
        <p:nvSpPr>
          <p:cNvPr id="638031" name="Line 79"/>
          <p:cNvSpPr>
            <a:spLocks noChangeShapeType="1"/>
          </p:cNvSpPr>
          <p:nvPr/>
        </p:nvSpPr>
        <p:spPr bwMode="auto">
          <a:xfrm flipV="1">
            <a:off x="4191000" y="3962400"/>
            <a:ext cx="1143000" cy="609600"/>
          </a:xfrm>
          <a:prstGeom prst="line">
            <a:avLst/>
          </a:prstGeom>
          <a:noFill/>
          <a:ln w="28575">
            <a:solidFill>
              <a:srgbClr val="6600FF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38032" name="Line 80"/>
          <p:cNvSpPr>
            <a:spLocks noChangeShapeType="1"/>
          </p:cNvSpPr>
          <p:nvPr/>
        </p:nvSpPr>
        <p:spPr bwMode="auto">
          <a:xfrm flipV="1">
            <a:off x="2514600" y="3810000"/>
            <a:ext cx="2819400" cy="152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38033" name="Line 81"/>
          <p:cNvSpPr>
            <a:spLocks noChangeShapeType="1"/>
          </p:cNvSpPr>
          <p:nvPr/>
        </p:nvSpPr>
        <p:spPr bwMode="auto">
          <a:xfrm flipH="1">
            <a:off x="3124200" y="4800600"/>
            <a:ext cx="838200" cy="685800"/>
          </a:xfrm>
          <a:prstGeom prst="line">
            <a:avLst/>
          </a:prstGeom>
          <a:noFill/>
          <a:ln w="28575">
            <a:solidFill>
              <a:srgbClr val="6600FF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38034" name="Line 82"/>
          <p:cNvSpPr>
            <a:spLocks noChangeShapeType="1"/>
          </p:cNvSpPr>
          <p:nvPr/>
        </p:nvSpPr>
        <p:spPr bwMode="auto">
          <a:xfrm>
            <a:off x="4267200" y="4724400"/>
            <a:ext cx="1295400" cy="609600"/>
          </a:xfrm>
          <a:prstGeom prst="line">
            <a:avLst/>
          </a:prstGeom>
          <a:noFill/>
          <a:ln w="28575">
            <a:solidFill>
              <a:srgbClr val="6600FF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38035" name="Line 83"/>
          <p:cNvSpPr>
            <a:spLocks noChangeShapeType="1"/>
          </p:cNvSpPr>
          <p:nvPr/>
        </p:nvSpPr>
        <p:spPr bwMode="auto">
          <a:xfrm flipH="1" flipV="1">
            <a:off x="2514600" y="4038600"/>
            <a:ext cx="1371600" cy="533400"/>
          </a:xfrm>
          <a:prstGeom prst="line">
            <a:avLst/>
          </a:prstGeom>
          <a:noFill/>
          <a:ln w="28575">
            <a:solidFill>
              <a:srgbClr val="6600FF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38036" name="Line 84"/>
          <p:cNvSpPr>
            <a:spLocks noChangeShapeType="1"/>
          </p:cNvSpPr>
          <p:nvPr/>
        </p:nvSpPr>
        <p:spPr bwMode="auto">
          <a:xfrm flipV="1">
            <a:off x="2532063" y="3827463"/>
            <a:ext cx="2819400" cy="152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38037" name="Line 85"/>
          <p:cNvSpPr>
            <a:spLocks noChangeShapeType="1"/>
          </p:cNvSpPr>
          <p:nvPr/>
        </p:nvSpPr>
        <p:spPr bwMode="auto">
          <a:xfrm flipV="1">
            <a:off x="3200400" y="4800600"/>
            <a:ext cx="762000" cy="685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38038" name="Line 86"/>
          <p:cNvSpPr>
            <a:spLocks noChangeShapeType="1"/>
          </p:cNvSpPr>
          <p:nvPr/>
        </p:nvSpPr>
        <p:spPr bwMode="auto">
          <a:xfrm flipH="1" flipV="1">
            <a:off x="4343400" y="4829175"/>
            <a:ext cx="1187450" cy="600075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38039" name="Line 87"/>
          <p:cNvSpPr>
            <a:spLocks noChangeShapeType="1"/>
          </p:cNvSpPr>
          <p:nvPr/>
        </p:nvSpPr>
        <p:spPr bwMode="auto">
          <a:xfrm flipV="1">
            <a:off x="4267200" y="3962400"/>
            <a:ext cx="114300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38040" name="Line 88"/>
          <p:cNvSpPr>
            <a:spLocks noChangeShapeType="1"/>
          </p:cNvSpPr>
          <p:nvPr/>
        </p:nvSpPr>
        <p:spPr bwMode="auto">
          <a:xfrm flipV="1">
            <a:off x="5791200" y="4953000"/>
            <a:ext cx="1371600" cy="457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0715" name="Text Box 92"/>
          <p:cNvSpPr txBox="1">
            <a:spLocks noChangeArrowheads="1"/>
          </p:cNvSpPr>
          <p:nvPr/>
        </p:nvSpPr>
        <p:spPr bwMode="auto">
          <a:xfrm>
            <a:off x="7127875" y="4225925"/>
            <a:ext cx="325438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70716" name="Text Box 93"/>
          <p:cNvSpPr txBox="1">
            <a:spLocks noChangeArrowheads="1"/>
          </p:cNvSpPr>
          <p:nvPr/>
        </p:nvSpPr>
        <p:spPr bwMode="auto">
          <a:xfrm>
            <a:off x="5719763" y="5619750"/>
            <a:ext cx="3254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2</a:t>
            </a:r>
          </a:p>
        </p:txBody>
      </p:sp>
      <p:sp>
        <p:nvSpPr>
          <p:cNvPr id="70717" name="Text Box 94"/>
          <p:cNvSpPr txBox="1">
            <a:spLocks noChangeArrowheads="1"/>
          </p:cNvSpPr>
          <p:nvPr/>
        </p:nvSpPr>
        <p:spPr bwMode="auto">
          <a:xfrm>
            <a:off x="5561013" y="3252788"/>
            <a:ext cx="3254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5</a:t>
            </a:r>
          </a:p>
        </p:txBody>
      </p:sp>
      <p:sp>
        <p:nvSpPr>
          <p:cNvPr id="638047" name="Text Box 95"/>
          <p:cNvSpPr txBox="1">
            <a:spLocks noChangeArrowheads="1"/>
          </p:cNvSpPr>
          <p:nvPr/>
        </p:nvSpPr>
        <p:spPr bwMode="auto">
          <a:xfrm>
            <a:off x="3930650" y="4175125"/>
            <a:ext cx="325438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3</a:t>
            </a:r>
          </a:p>
        </p:txBody>
      </p:sp>
      <p:sp>
        <p:nvSpPr>
          <p:cNvPr id="638048" name="Text Box 96"/>
          <p:cNvSpPr txBox="1">
            <a:spLocks noChangeArrowheads="1"/>
          </p:cNvSpPr>
          <p:nvPr/>
        </p:nvSpPr>
        <p:spPr bwMode="auto">
          <a:xfrm>
            <a:off x="2193925" y="3516313"/>
            <a:ext cx="325438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3</a:t>
            </a:r>
          </a:p>
        </p:txBody>
      </p:sp>
      <p:sp>
        <p:nvSpPr>
          <p:cNvPr id="70720" name="Text Box 97"/>
          <p:cNvSpPr txBox="1">
            <a:spLocks noChangeArrowheads="1"/>
          </p:cNvSpPr>
          <p:nvPr/>
        </p:nvSpPr>
        <p:spPr bwMode="auto">
          <a:xfrm>
            <a:off x="2846388" y="5678488"/>
            <a:ext cx="3254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4</a:t>
            </a:r>
          </a:p>
        </p:txBody>
      </p:sp>
      <p:sp>
        <p:nvSpPr>
          <p:cNvPr id="638050" name="Oval 98"/>
          <p:cNvSpPr>
            <a:spLocks noChangeArrowheads="1"/>
          </p:cNvSpPr>
          <p:nvPr/>
        </p:nvSpPr>
        <p:spPr bwMode="auto">
          <a:xfrm>
            <a:off x="1828800" y="1793875"/>
            <a:ext cx="723900" cy="560388"/>
          </a:xfrm>
          <a:prstGeom prst="ellipse">
            <a:avLst/>
          </a:prstGeom>
          <a:noFill/>
          <a:ln w="1905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38051" name="Line 99"/>
          <p:cNvSpPr>
            <a:spLocks noChangeShapeType="1"/>
          </p:cNvSpPr>
          <p:nvPr/>
        </p:nvSpPr>
        <p:spPr bwMode="auto">
          <a:xfrm flipH="1" flipV="1">
            <a:off x="2519363" y="4029075"/>
            <a:ext cx="1303337" cy="5683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638052" name="Line 100"/>
          <p:cNvSpPr>
            <a:spLocks noChangeShapeType="1"/>
          </p:cNvSpPr>
          <p:nvPr/>
        </p:nvSpPr>
        <p:spPr bwMode="auto">
          <a:xfrm flipH="1" flipV="1">
            <a:off x="2371725" y="4227513"/>
            <a:ext cx="449263" cy="106045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638053" name="Oval 101"/>
          <p:cNvSpPr>
            <a:spLocks noChangeArrowheads="1"/>
          </p:cNvSpPr>
          <p:nvPr/>
        </p:nvSpPr>
        <p:spPr bwMode="auto">
          <a:xfrm>
            <a:off x="5580063" y="1778000"/>
            <a:ext cx="733425" cy="525463"/>
          </a:xfrm>
          <a:prstGeom prst="ellipse">
            <a:avLst/>
          </a:prstGeom>
          <a:noFill/>
          <a:ln w="1905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38054" name="Text Box 102"/>
          <p:cNvSpPr txBox="1">
            <a:spLocks noChangeArrowheads="1"/>
          </p:cNvSpPr>
          <p:nvPr/>
        </p:nvSpPr>
        <p:spPr bwMode="auto">
          <a:xfrm>
            <a:off x="2433638" y="3429000"/>
            <a:ext cx="3254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7</a:t>
            </a:r>
          </a:p>
        </p:txBody>
      </p:sp>
      <p:sp>
        <p:nvSpPr>
          <p:cNvPr id="638055" name="Text Box 103"/>
          <p:cNvSpPr txBox="1">
            <a:spLocks noChangeArrowheads="1"/>
          </p:cNvSpPr>
          <p:nvPr/>
        </p:nvSpPr>
        <p:spPr bwMode="auto">
          <a:xfrm>
            <a:off x="3741738" y="4054475"/>
            <a:ext cx="3254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5</a:t>
            </a:r>
          </a:p>
        </p:txBody>
      </p:sp>
      <p:sp>
        <p:nvSpPr>
          <p:cNvPr id="638056" name="Text Box 104"/>
          <p:cNvSpPr txBox="1">
            <a:spLocks noChangeArrowheads="1"/>
          </p:cNvSpPr>
          <p:nvPr/>
        </p:nvSpPr>
        <p:spPr bwMode="auto">
          <a:xfrm>
            <a:off x="1377950" y="6229350"/>
            <a:ext cx="6643688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/>
              <a:t>Node 4 could have chosen 2 as next node because of tie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8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8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38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8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38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38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638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3" dur="500"/>
                                        <p:tgtEl>
                                          <p:spTgt spid="6380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8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6" dur="500"/>
                                        <p:tgtEl>
                                          <p:spTgt spid="6380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8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6380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2" dur="500"/>
                                        <p:tgtEl>
                                          <p:spTgt spid="6380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8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38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38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38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38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38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38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38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38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638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638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1" dur="500"/>
                                        <p:tgtEl>
                                          <p:spTgt spid="6380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4" dur="500"/>
                                        <p:tgtEl>
                                          <p:spTgt spid="6380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8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7" dur="500"/>
                                        <p:tgtEl>
                                          <p:spTgt spid="6380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8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70" dur="500"/>
                                        <p:tgtEl>
                                          <p:spTgt spid="6380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8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73" dur="500"/>
                                        <p:tgtEl>
                                          <p:spTgt spid="6380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8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638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638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500"/>
                                        <p:tgtEl>
                                          <p:spTgt spid="638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638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1" dur="500"/>
                                        <p:tgtEl>
                                          <p:spTgt spid="638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93" dur="500"/>
                                        <p:tgtEl>
                                          <p:spTgt spid="6380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8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96" dur="500"/>
                                        <p:tgtEl>
                                          <p:spTgt spid="6380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8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0" dur="500"/>
                                        <p:tgtEl>
                                          <p:spTgt spid="638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3" dur="500"/>
                                        <p:tgtEl>
                                          <p:spTgt spid="638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8031" grpId="0" animBg="1"/>
      <p:bldP spid="638031" grpId="1" animBg="1"/>
      <p:bldP spid="638032" grpId="0" animBg="1"/>
      <p:bldP spid="638032" grpId="1" animBg="1"/>
      <p:bldP spid="638033" grpId="0" animBg="1"/>
      <p:bldP spid="638033" grpId="1" animBg="1"/>
      <p:bldP spid="638034" grpId="0" animBg="1"/>
      <p:bldP spid="638034" grpId="1" animBg="1"/>
      <p:bldP spid="638035" grpId="0" animBg="1"/>
      <p:bldP spid="638035" grpId="1" animBg="1"/>
      <p:bldP spid="638036" grpId="0" animBg="1"/>
      <p:bldP spid="638037" grpId="0" animBg="1"/>
      <p:bldP spid="638038" grpId="0" animBg="1"/>
      <p:bldP spid="638039" grpId="0" animBg="1"/>
      <p:bldP spid="638040" grpId="0" animBg="1"/>
      <p:bldP spid="638047" grpId="0"/>
      <p:bldP spid="638048" grpId="0"/>
      <p:bldP spid="638050" grpId="0" animBg="1"/>
      <p:bldP spid="638050" grpId="1" animBg="1"/>
      <p:bldP spid="638051" grpId="0" animBg="1"/>
      <p:bldP spid="638051" grpId="1" animBg="1"/>
      <p:bldP spid="638052" grpId="0" animBg="1"/>
      <p:bldP spid="638052" grpId="1" animBg="1"/>
      <p:bldP spid="638053" grpId="0" animBg="1"/>
      <p:bldP spid="638053" grpId="1" animBg="1"/>
      <p:bldP spid="638054" grpId="0"/>
      <p:bldP spid="638055" grpId="0"/>
      <p:bldP spid="63805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9066" name="Group 90"/>
          <p:cNvGraphicFramePr>
            <a:graphicFrameLocks noGrp="1"/>
          </p:cNvGraphicFramePr>
          <p:nvPr>
            <p:ph sz="half" idx="1"/>
          </p:nvPr>
        </p:nvGraphicFramePr>
        <p:xfrm>
          <a:off x="292100" y="338138"/>
          <a:ext cx="7504113" cy="2438400"/>
        </p:xfrm>
        <a:graphic>
          <a:graphicData uri="http://schemas.openxmlformats.org/drawingml/2006/table">
            <a:tbl>
              <a:tblPr/>
              <a:tblGrid>
                <a:gridCol w="1243013"/>
                <a:gridCol w="1257300"/>
                <a:gridCol w="1257300"/>
                <a:gridCol w="1257300"/>
                <a:gridCol w="1231900"/>
                <a:gridCol w="1257300"/>
              </a:tblGrid>
              <a:tr h="48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Iteration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1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2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3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4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5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Initial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(3,3)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(4,4)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(6, 1)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(3,3)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(6,2)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(3,3)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(4,4)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(4, 5)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(3,3)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(6,2)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6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(3,7)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(4,4)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(4, 5)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(5,5)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(6,2)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8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(3,7)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Arial" charset="0"/>
                        </a:rPr>
                        <a:t>(4,6)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(4, 7)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(5,5)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(6,2)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1726" name="Text Box 46"/>
          <p:cNvSpPr txBox="1">
            <a:spLocks noChangeArrowheads="1"/>
          </p:cNvSpPr>
          <p:nvPr/>
        </p:nvSpPr>
        <p:spPr bwMode="auto">
          <a:xfrm>
            <a:off x="7696200" y="4343400"/>
            <a:ext cx="70485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2800">
                <a:latin typeface="Monotype Corsiva" pitchFamily="66" charset="0"/>
              </a:rPr>
              <a:t>San</a:t>
            </a:r>
          </a:p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2800">
                <a:latin typeface="Monotype Corsiva" pitchFamily="66" charset="0"/>
              </a:rPr>
              <a:t>Jose</a:t>
            </a:r>
          </a:p>
        </p:txBody>
      </p:sp>
      <p:grpSp>
        <p:nvGrpSpPr>
          <p:cNvPr id="71727" name="Group 91"/>
          <p:cNvGrpSpPr>
            <a:grpSpLocks/>
          </p:cNvGrpSpPr>
          <p:nvPr/>
        </p:nvGrpSpPr>
        <p:grpSpPr bwMode="auto">
          <a:xfrm>
            <a:off x="2133600" y="3581400"/>
            <a:ext cx="5397500" cy="2278063"/>
            <a:chOff x="1344" y="2256"/>
            <a:chExt cx="3400" cy="1435"/>
          </a:xfrm>
        </p:grpSpPr>
        <p:sp>
          <p:nvSpPr>
            <p:cNvPr id="71750" name="Oval 49"/>
            <p:cNvSpPr>
              <a:spLocks noChangeArrowheads="1"/>
            </p:cNvSpPr>
            <p:nvPr/>
          </p:nvSpPr>
          <p:spPr bwMode="auto">
            <a:xfrm>
              <a:off x="3360" y="2278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51" name="Oval 52"/>
            <p:cNvSpPr>
              <a:spLocks noChangeArrowheads="1"/>
            </p:cNvSpPr>
            <p:nvPr/>
          </p:nvSpPr>
          <p:spPr bwMode="auto">
            <a:xfrm>
              <a:off x="1344" y="2400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52" name="Oval 54"/>
            <p:cNvSpPr>
              <a:spLocks noChangeArrowheads="1"/>
            </p:cNvSpPr>
            <p:nvPr/>
          </p:nvSpPr>
          <p:spPr bwMode="auto">
            <a:xfrm>
              <a:off x="3456" y="3351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53" name="Oval 56"/>
            <p:cNvSpPr>
              <a:spLocks noChangeArrowheads="1"/>
            </p:cNvSpPr>
            <p:nvPr/>
          </p:nvSpPr>
          <p:spPr bwMode="auto">
            <a:xfrm>
              <a:off x="2456" y="2815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54" name="Oval 58"/>
            <p:cNvSpPr>
              <a:spLocks noChangeArrowheads="1"/>
            </p:cNvSpPr>
            <p:nvPr/>
          </p:nvSpPr>
          <p:spPr bwMode="auto">
            <a:xfrm>
              <a:off x="4512" y="2967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55" name="Oval 60"/>
            <p:cNvSpPr>
              <a:spLocks noChangeArrowheads="1"/>
            </p:cNvSpPr>
            <p:nvPr/>
          </p:nvSpPr>
          <p:spPr bwMode="auto">
            <a:xfrm>
              <a:off x="1776" y="3351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56" name="Rectangle 48"/>
            <p:cNvSpPr>
              <a:spLocks noChangeArrowheads="1"/>
            </p:cNvSpPr>
            <p:nvPr/>
          </p:nvSpPr>
          <p:spPr bwMode="auto">
            <a:xfrm>
              <a:off x="3391" y="2256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3</a:t>
              </a:r>
            </a:p>
          </p:txBody>
        </p:sp>
        <p:sp>
          <p:nvSpPr>
            <p:cNvPr id="71757" name="Line 50"/>
            <p:cNvSpPr>
              <a:spLocks noChangeShapeType="1"/>
            </p:cNvSpPr>
            <p:nvPr/>
          </p:nvSpPr>
          <p:spPr bwMode="auto">
            <a:xfrm flipV="1">
              <a:off x="1584" y="2400"/>
              <a:ext cx="1776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1758" name="Rectangle 51"/>
            <p:cNvSpPr>
              <a:spLocks noChangeArrowheads="1"/>
            </p:cNvSpPr>
            <p:nvPr/>
          </p:nvSpPr>
          <p:spPr bwMode="auto">
            <a:xfrm>
              <a:off x="1344" y="2400"/>
              <a:ext cx="18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1</a:t>
              </a:r>
            </a:p>
          </p:txBody>
        </p:sp>
        <p:sp>
          <p:nvSpPr>
            <p:cNvPr id="71759" name="Rectangle 53"/>
            <p:cNvSpPr>
              <a:spLocks noChangeArrowheads="1"/>
            </p:cNvSpPr>
            <p:nvPr/>
          </p:nvSpPr>
          <p:spPr bwMode="auto">
            <a:xfrm>
              <a:off x="3487" y="3329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5</a:t>
              </a:r>
            </a:p>
          </p:txBody>
        </p:sp>
        <p:sp>
          <p:nvSpPr>
            <p:cNvPr id="71760" name="Rectangle 55"/>
            <p:cNvSpPr>
              <a:spLocks noChangeArrowheads="1"/>
            </p:cNvSpPr>
            <p:nvPr/>
          </p:nvSpPr>
          <p:spPr bwMode="auto">
            <a:xfrm>
              <a:off x="2487" y="2784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4</a:t>
              </a:r>
            </a:p>
          </p:txBody>
        </p:sp>
        <p:sp>
          <p:nvSpPr>
            <p:cNvPr id="71761" name="Rectangle 57"/>
            <p:cNvSpPr>
              <a:spLocks noChangeArrowheads="1"/>
            </p:cNvSpPr>
            <p:nvPr/>
          </p:nvSpPr>
          <p:spPr bwMode="auto">
            <a:xfrm>
              <a:off x="4543" y="2945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6</a:t>
              </a:r>
            </a:p>
          </p:txBody>
        </p:sp>
        <p:sp>
          <p:nvSpPr>
            <p:cNvPr id="71762" name="Rectangle 59"/>
            <p:cNvSpPr>
              <a:spLocks noChangeArrowheads="1"/>
            </p:cNvSpPr>
            <p:nvPr/>
          </p:nvSpPr>
          <p:spPr bwMode="auto">
            <a:xfrm>
              <a:off x="1807" y="3329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2</a:t>
              </a:r>
            </a:p>
          </p:txBody>
        </p:sp>
        <p:sp>
          <p:nvSpPr>
            <p:cNvPr id="71763" name="Line 61"/>
            <p:cNvSpPr>
              <a:spLocks noChangeShapeType="1"/>
            </p:cNvSpPr>
            <p:nvPr/>
          </p:nvSpPr>
          <p:spPr bwMode="auto">
            <a:xfrm>
              <a:off x="1488" y="2640"/>
              <a:ext cx="336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1764" name="Line 62"/>
            <p:cNvSpPr>
              <a:spLocks noChangeShapeType="1"/>
            </p:cNvSpPr>
            <p:nvPr/>
          </p:nvSpPr>
          <p:spPr bwMode="auto">
            <a:xfrm>
              <a:off x="2016" y="3456"/>
              <a:ext cx="1432" cy="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1765" name="Line 63"/>
            <p:cNvSpPr>
              <a:spLocks noChangeShapeType="1"/>
            </p:cNvSpPr>
            <p:nvPr/>
          </p:nvSpPr>
          <p:spPr bwMode="auto">
            <a:xfrm flipV="1">
              <a:off x="3696" y="3151"/>
              <a:ext cx="808" cy="2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1766" name="Line 64"/>
            <p:cNvSpPr>
              <a:spLocks noChangeShapeType="1"/>
            </p:cNvSpPr>
            <p:nvPr/>
          </p:nvSpPr>
          <p:spPr bwMode="auto">
            <a:xfrm>
              <a:off x="3552" y="2448"/>
              <a:ext cx="972" cy="5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1767" name="Line 65"/>
            <p:cNvSpPr>
              <a:spLocks noChangeShapeType="1"/>
            </p:cNvSpPr>
            <p:nvPr/>
          </p:nvSpPr>
          <p:spPr bwMode="auto">
            <a:xfrm flipH="1">
              <a:off x="2688" y="2496"/>
              <a:ext cx="72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1768" name="Rectangle 66"/>
            <p:cNvSpPr>
              <a:spLocks noChangeArrowheads="1"/>
            </p:cNvSpPr>
            <p:nvPr/>
          </p:nvSpPr>
          <p:spPr bwMode="auto">
            <a:xfrm>
              <a:off x="2352" y="2256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2</a:t>
              </a:r>
            </a:p>
          </p:txBody>
        </p:sp>
        <p:sp>
          <p:nvSpPr>
            <p:cNvPr id="71769" name="Rectangle 67"/>
            <p:cNvSpPr>
              <a:spLocks noChangeArrowheads="1"/>
            </p:cNvSpPr>
            <p:nvPr/>
          </p:nvSpPr>
          <p:spPr bwMode="auto">
            <a:xfrm>
              <a:off x="1440" y="2976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3</a:t>
              </a:r>
            </a:p>
          </p:txBody>
        </p:sp>
        <p:sp>
          <p:nvSpPr>
            <p:cNvPr id="71770" name="Rectangle 68"/>
            <p:cNvSpPr>
              <a:spLocks noChangeArrowheads="1"/>
            </p:cNvSpPr>
            <p:nvPr/>
          </p:nvSpPr>
          <p:spPr bwMode="auto">
            <a:xfrm>
              <a:off x="2640" y="3504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4</a:t>
              </a:r>
            </a:p>
          </p:txBody>
        </p:sp>
        <p:sp>
          <p:nvSpPr>
            <p:cNvPr id="71771" name="Rectangle 69"/>
            <p:cNvSpPr>
              <a:spLocks noChangeArrowheads="1"/>
            </p:cNvSpPr>
            <p:nvPr/>
          </p:nvSpPr>
          <p:spPr bwMode="auto">
            <a:xfrm>
              <a:off x="2688" y="2592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2</a:t>
              </a:r>
            </a:p>
          </p:txBody>
        </p:sp>
        <p:sp>
          <p:nvSpPr>
            <p:cNvPr id="71772" name="Rectangle 70"/>
            <p:cNvSpPr>
              <a:spLocks noChangeArrowheads="1"/>
            </p:cNvSpPr>
            <p:nvPr/>
          </p:nvSpPr>
          <p:spPr bwMode="auto">
            <a:xfrm>
              <a:off x="2064" y="3024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1</a:t>
              </a:r>
            </a:p>
          </p:txBody>
        </p:sp>
        <p:sp>
          <p:nvSpPr>
            <p:cNvPr id="71773" name="Rectangle 71"/>
            <p:cNvSpPr>
              <a:spLocks noChangeArrowheads="1"/>
            </p:cNvSpPr>
            <p:nvPr/>
          </p:nvSpPr>
          <p:spPr bwMode="auto">
            <a:xfrm>
              <a:off x="3984" y="2496"/>
              <a:ext cx="178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1</a:t>
              </a:r>
            </a:p>
          </p:txBody>
        </p:sp>
        <p:sp>
          <p:nvSpPr>
            <p:cNvPr id="71774" name="Rectangle 72"/>
            <p:cNvSpPr>
              <a:spLocks noChangeArrowheads="1"/>
            </p:cNvSpPr>
            <p:nvPr/>
          </p:nvSpPr>
          <p:spPr bwMode="auto">
            <a:xfrm>
              <a:off x="4111" y="3313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2</a:t>
              </a:r>
            </a:p>
          </p:txBody>
        </p:sp>
        <p:sp>
          <p:nvSpPr>
            <p:cNvPr id="71775" name="Rectangle 73"/>
            <p:cNvSpPr>
              <a:spLocks noChangeArrowheads="1"/>
            </p:cNvSpPr>
            <p:nvPr/>
          </p:nvSpPr>
          <p:spPr bwMode="auto">
            <a:xfrm>
              <a:off x="3120" y="3024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3</a:t>
              </a:r>
            </a:p>
          </p:txBody>
        </p:sp>
        <p:sp>
          <p:nvSpPr>
            <p:cNvPr id="71776" name="Line 74"/>
            <p:cNvSpPr>
              <a:spLocks noChangeShapeType="1"/>
            </p:cNvSpPr>
            <p:nvPr/>
          </p:nvSpPr>
          <p:spPr bwMode="auto">
            <a:xfrm>
              <a:off x="2688" y="2976"/>
              <a:ext cx="860" cy="3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1777" name="Line 75"/>
            <p:cNvSpPr>
              <a:spLocks noChangeShapeType="1"/>
            </p:cNvSpPr>
            <p:nvPr/>
          </p:nvSpPr>
          <p:spPr bwMode="auto">
            <a:xfrm flipV="1">
              <a:off x="2016" y="3024"/>
              <a:ext cx="48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1778" name="Line 76"/>
            <p:cNvSpPr>
              <a:spLocks noChangeShapeType="1"/>
            </p:cNvSpPr>
            <p:nvPr/>
          </p:nvSpPr>
          <p:spPr bwMode="auto">
            <a:xfrm>
              <a:off x="1584" y="2544"/>
              <a:ext cx="86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1779" name="Rectangle 77"/>
            <p:cNvSpPr>
              <a:spLocks noChangeArrowheads="1"/>
            </p:cNvSpPr>
            <p:nvPr/>
          </p:nvSpPr>
          <p:spPr bwMode="auto">
            <a:xfrm>
              <a:off x="2064" y="2592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5</a:t>
              </a:r>
            </a:p>
          </p:txBody>
        </p:sp>
      </p:grpSp>
      <p:pic>
        <p:nvPicPr>
          <p:cNvPr id="71728" name="Picture 78" descr="BD05210_[1]"/>
          <p:cNvPicPr>
            <a:picLocks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6346825" y="4167188"/>
            <a:ext cx="698500" cy="627062"/>
          </a:xfrm>
          <a:noFill/>
        </p:spPr>
      </p:pic>
      <p:sp>
        <p:nvSpPr>
          <p:cNvPr id="639055" name="Line 79"/>
          <p:cNvSpPr>
            <a:spLocks noChangeShapeType="1"/>
          </p:cNvSpPr>
          <p:nvPr/>
        </p:nvSpPr>
        <p:spPr bwMode="auto">
          <a:xfrm>
            <a:off x="3200400" y="5486400"/>
            <a:ext cx="2286000" cy="76200"/>
          </a:xfrm>
          <a:prstGeom prst="line">
            <a:avLst/>
          </a:prstGeom>
          <a:noFill/>
          <a:ln w="28575">
            <a:solidFill>
              <a:srgbClr val="6600FF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39056" name="Line 80"/>
          <p:cNvSpPr>
            <a:spLocks noChangeShapeType="1"/>
          </p:cNvSpPr>
          <p:nvPr/>
        </p:nvSpPr>
        <p:spPr bwMode="auto">
          <a:xfrm flipH="1">
            <a:off x="3200400" y="4800600"/>
            <a:ext cx="762000" cy="609600"/>
          </a:xfrm>
          <a:prstGeom prst="line">
            <a:avLst/>
          </a:prstGeom>
          <a:noFill/>
          <a:ln w="28575">
            <a:solidFill>
              <a:srgbClr val="66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39057" name="Line 81"/>
          <p:cNvSpPr>
            <a:spLocks noChangeShapeType="1"/>
          </p:cNvSpPr>
          <p:nvPr/>
        </p:nvSpPr>
        <p:spPr bwMode="auto">
          <a:xfrm flipH="1" flipV="1">
            <a:off x="2362200" y="4191000"/>
            <a:ext cx="533400" cy="1143000"/>
          </a:xfrm>
          <a:prstGeom prst="line">
            <a:avLst/>
          </a:prstGeom>
          <a:noFill/>
          <a:ln w="28575">
            <a:solidFill>
              <a:srgbClr val="6600FF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39058" name="Line 82"/>
          <p:cNvSpPr>
            <a:spLocks noChangeShapeType="1"/>
          </p:cNvSpPr>
          <p:nvPr/>
        </p:nvSpPr>
        <p:spPr bwMode="auto">
          <a:xfrm flipV="1">
            <a:off x="2514600" y="3733800"/>
            <a:ext cx="2819400" cy="152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39059" name="Line 83"/>
          <p:cNvSpPr>
            <a:spLocks noChangeShapeType="1"/>
          </p:cNvSpPr>
          <p:nvPr/>
        </p:nvSpPr>
        <p:spPr bwMode="auto">
          <a:xfrm>
            <a:off x="4233863" y="4821238"/>
            <a:ext cx="1219200" cy="584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39060" name="Line 84"/>
          <p:cNvSpPr>
            <a:spLocks noChangeShapeType="1"/>
          </p:cNvSpPr>
          <p:nvPr/>
        </p:nvSpPr>
        <p:spPr bwMode="auto">
          <a:xfrm flipV="1">
            <a:off x="3124200" y="4724400"/>
            <a:ext cx="762000" cy="685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39061" name="Line 85"/>
          <p:cNvSpPr>
            <a:spLocks noChangeShapeType="1"/>
          </p:cNvSpPr>
          <p:nvPr/>
        </p:nvSpPr>
        <p:spPr bwMode="auto">
          <a:xfrm flipV="1">
            <a:off x="5867400" y="5029200"/>
            <a:ext cx="1371600" cy="457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39062" name="Line 86"/>
          <p:cNvSpPr>
            <a:spLocks noChangeShapeType="1"/>
          </p:cNvSpPr>
          <p:nvPr/>
        </p:nvSpPr>
        <p:spPr bwMode="auto">
          <a:xfrm flipV="1">
            <a:off x="4267200" y="3962400"/>
            <a:ext cx="1143000" cy="6096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39063" name="Line 87"/>
          <p:cNvSpPr>
            <a:spLocks noChangeShapeType="1"/>
          </p:cNvSpPr>
          <p:nvPr/>
        </p:nvSpPr>
        <p:spPr bwMode="auto">
          <a:xfrm flipV="1">
            <a:off x="2514600" y="3810000"/>
            <a:ext cx="2819400" cy="1524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39064" name="Line 88"/>
          <p:cNvSpPr>
            <a:spLocks noChangeShapeType="1"/>
          </p:cNvSpPr>
          <p:nvPr/>
        </p:nvSpPr>
        <p:spPr bwMode="auto">
          <a:xfrm flipV="1">
            <a:off x="4267200" y="3962400"/>
            <a:ext cx="106680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1739" name="Text Box 92"/>
          <p:cNvSpPr txBox="1">
            <a:spLocks noChangeArrowheads="1"/>
          </p:cNvSpPr>
          <p:nvPr/>
        </p:nvSpPr>
        <p:spPr bwMode="auto">
          <a:xfrm>
            <a:off x="7145338" y="4175125"/>
            <a:ext cx="3254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71740" name="Text Box 93"/>
          <p:cNvSpPr txBox="1">
            <a:spLocks noChangeArrowheads="1"/>
          </p:cNvSpPr>
          <p:nvPr/>
        </p:nvSpPr>
        <p:spPr bwMode="auto">
          <a:xfrm>
            <a:off x="5513388" y="5646738"/>
            <a:ext cx="3254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2</a:t>
            </a:r>
          </a:p>
        </p:txBody>
      </p:sp>
      <p:sp>
        <p:nvSpPr>
          <p:cNvPr id="71741" name="Text Box 94"/>
          <p:cNvSpPr txBox="1">
            <a:spLocks noChangeArrowheads="1"/>
          </p:cNvSpPr>
          <p:nvPr/>
        </p:nvSpPr>
        <p:spPr bwMode="auto">
          <a:xfrm>
            <a:off x="3887788" y="4195763"/>
            <a:ext cx="3254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5</a:t>
            </a:r>
          </a:p>
        </p:txBody>
      </p:sp>
      <p:sp>
        <p:nvSpPr>
          <p:cNvPr id="639071" name="Text Box 95"/>
          <p:cNvSpPr txBox="1">
            <a:spLocks noChangeArrowheads="1"/>
          </p:cNvSpPr>
          <p:nvPr/>
        </p:nvSpPr>
        <p:spPr bwMode="auto">
          <a:xfrm>
            <a:off x="5402263" y="3295650"/>
            <a:ext cx="3254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5</a:t>
            </a:r>
          </a:p>
        </p:txBody>
      </p:sp>
      <p:sp>
        <p:nvSpPr>
          <p:cNvPr id="71743" name="Text Box 96"/>
          <p:cNvSpPr txBox="1">
            <a:spLocks noChangeArrowheads="1"/>
          </p:cNvSpPr>
          <p:nvPr/>
        </p:nvSpPr>
        <p:spPr bwMode="auto">
          <a:xfrm>
            <a:off x="2085975" y="3448050"/>
            <a:ext cx="325438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7</a:t>
            </a:r>
          </a:p>
        </p:txBody>
      </p:sp>
      <p:sp>
        <p:nvSpPr>
          <p:cNvPr id="639073" name="Text Box 97"/>
          <p:cNvSpPr txBox="1">
            <a:spLocks noChangeArrowheads="1"/>
          </p:cNvSpPr>
          <p:nvPr/>
        </p:nvSpPr>
        <p:spPr bwMode="auto">
          <a:xfrm>
            <a:off x="2547938" y="5722938"/>
            <a:ext cx="3254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4</a:t>
            </a:r>
          </a:p>
        </p:txBody>
      </p:sp>
      <p:sp>
        <p:nvSpPr>
          <p:cNvPr id="639074" name="Oval 98"/>
          <p:cNvSpPr>
            <a:spLocks noChangeArrowheads="1"/>
          </p:cNvSpPr>
          <p:nvPr/>
        </p:nvSpPr>
        <p:spPr bwMode="auto">
          <a:xfrm>
            <a:off x="4262438" y="2286000"/>
            <a:ext cx="819150" cy="561975"/>
          </a:xfrm>
          <a:prstGeom prst="ellipse">
            <a:avLst/>
          </a:prstGeom>
          <a:noFill/>
          <a:ln w="1905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39075" name="Text Box 99"/>
          <p:cNvSpPr txBox="1">
            <a:spLocks noChangeArrowheads="1"/>
          </p:cNvSpPr>
          <p:nvPr/>
        </p:nvSpPr>
        <p:spPr bwMode="auto">
          <a:xfrm>
            <a:off x="5683250" y="3284538"/>
            <a:ext cx="325438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7</a:t>
            </a:r>
          </a:p>
        </p:txBody>
      </p:sp>
      <p:sp>
        <p:nvSpPr>
          <p:cNvPr id="639076" name="Oval 100"/>
          <p:cNvSpPr>
            <a:spLocks noChangeArrowheads="1"/>
          </p:cNvSpPr>
          <p:nvPr/>
        </p:nvSpPr>
        <p:spPr bwMode="auto">
          <a:xfrm>
            <a:off x="3044825" y="2270125"/>
            <a:ext cx="760413" cy="577850"/>
          </a:xfrm>
          <a:prstGeom prst="ellipse">
            <a:avLst/>
          </a:prstGeom>
          <a:noFill/>
          <a:ln w="1905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39077" name="Text Box 101"/>
          <p:cNvSpPr txBox="1">
            <a:spLocks noChangeArrowheads="1"/>
          </p:cNvSpPr>
          <p:nvPr/>
        </p:nvSpPr>
        <p:spPr bwMode="auto">
          <a:xfrm>
            <a:off x="2778125" y="5789613"/>
            <a:ext cx="325438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6</a:t>
            </a:r>
          </a:p>
        </p:txBody>
      </p:sp>
      <p:sp>
        <p:nvSpPr>
          <p:cNvPr id="639078" name="Text Box 102"/>
          <p:cNvSpPr txBox="1">
            <a:spLocks noChangeArrowheads="1"/>
          </p:cNvSpPr>
          <p:nvPr/>
        </p:nvSpPr>
        <p:spPr bwMode="auto">
          <a:xfrm>
            <a:off x="1382713" y="6176963"/>
            <a:ext cx="65738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buClr>
                <a:schemeClr val="bg1"/>
              </a:buClr>
            </a:pPr>
            <a:r>
              <a:rPr lang="en-US"/>
              <a:t>Node 2 could have chosen 5 as next node because of tie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9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9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39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9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639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39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639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639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639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7" dur="500"/>
                                        <p:tgtEl>
                                          <p:spTgt spid="6390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9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39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39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39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39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39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39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639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639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639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639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9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639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639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9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639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639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9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4" dur="500"/>
                                        <p:tgtEl>
                                          <p:spTgt spid="6390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639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639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639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639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639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84" dur="500"/>
                                        <p:tgtEl>
                                          <p:spTgt spid="6390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9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639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90" dur="500"/>
                                        <p:tgtEl>
                                          <p:spTgt spid="6390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9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4" dur="500"/>
                                        <p:tgtEl>
                                          <p:spTgt spid="639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9055" grpId="0" animBg="1"/>
      <p:bldP spid="639055" grpId="1" animBg="1"/>
      <p:bldP spid="639056" grpId="0" animBg="1"/>
      <p:bldP spid="639056" grpId="1" animBg="1"/>
      <p:bldP spid="639057" grpId="0" animBg="1"/>
      <p:bldP spid="639057" grpId="1" animBg="1"/>
      <p:bldP spid="639058" grpId="0" animBg="1"/>
      <p:bldP spid="639059" grpId="0" animBg="1"/>
      <p:bldP spid="639060" grpId="0" animBg="1"/>
      <p:bldP spid="639061" grpId="0" animBg="1"/>
      <p:bldP spid="639062" grpId="0" animBg="1"/>
      <p:bldP spid="639062" grpId="1" animBg="1"/>
      <p:bldP spid="639063" grpId="0" animBg="1"/>
      <p:bldP spid="639063" grpId="1" animBg="1"/>
      <p:bldP spid="639064" grpId="0" animBg="1"/>
      <p:bldP spid="639071" grpId="0"/>
      <p:bldP spid="639073" grpId="0"/>
      <p:bldP spid="639074" grpId="0" animBg="1"/>
      <p:bldP spid="639074" grpId="1" animBg="1"/>
      <p:bldP spid="639075" grpId="0"/>
      <p:bldP spid="639076" grpId="0" animBg="1"/>
      <p:bldP spid="639076" grpId="1" animBg="1"/>
      <p:bldP spid="639077" grpId="0"/>
      <p:bldP spid="639078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06" name="Group 102"/>
          <p:cNvGrpSpPr>
            <a:grpSpLocks/>
          </p:cNvGrpSpPr>
          <p:nvPr/>
        </p:nvGrpSpPr>
        <p:grpSpPr bwMode="auto">
          <a:xfrm>
            <a:off x="2133600" y="3581400"/>
            <a:ext cx="5397500" cy="2278063"/>
            <a:chOff x="1344" y="2256"/>
            <a:chExt cx="3400" cy="1435"/>
          </a:xfrm>
        </p:grpSpPr>
        <p:sp>
          <p:nvSpPr>
            <p:cNvPr id="72777" name="Oval 56"/>
            <p:cNvSpPr>
              <a:spLocks noChangeArrowheads="1"/>
            </p:cNvSpPr>
            <p:nvPr/>
          </p:nvSpPr>
          <p:spPr bwMode="auto">
            <a:xfrm>
              <a:off x="3360" y="2278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78" name="Oval 61"/>
            <p:cNvSpPr>
              <a:spLocks noChangeArrowheads="1"/>
            </p:cNvSpPr>
            <p:nvPr/>
          </p:nvSpPr>
          <p:spPr bwMode="auto">
            <a:xfrm>
              <a:off x="3456" y="3351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79" name="Oval 63"/>
            <p:cNvSpPr>
              <a:spLocks noChangeArrowheads="1"/>
            </p:cNvSpPr>
            <p:nvPr/>
          </p:nvSpPr>
          <p:spPr bwMode="auto">
            <a:xfrm>
              <a:off x="2456" y="2815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80" name="Oval 65"/>
            <p:cNvSpPr>
              <a:spLocks noChangeArrowheads="1"/>
            </p:cNvSpPr>
            <p:nvPr/>
          </p:nvSpPr>
          <p:spPr bwMode="auto">
            <a:xfrm>
              <a:off x="4512" y="2967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81" name="Oval 67"/>
            <p:cNvSpPr>
              <a:spLocks noChangeArrowheads="1"/>
            </p:cNvSpPr>
            <p:nvPr/>
          </p:nvSpPr>
          <p:spPr bwMode="auto">
            <a:xfrm>
              <a:off x="1776" y="3351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82" name="Rectangle 55"/>
            <p:cNvSpPr>
              <a:spLocks noChangeArrowheads="1"/>
            </p:cNvSpPr>
            <p:nvPr/>
          </p:nvSpPr>
          <p:spPr bwMode="auto">
            <a:xfrm>
              <a:off x="3391" y="2280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3</a:t>
              </a:r>
            </a:p>
          </p:txBody>
        </p:sp>
        <p:sp>
          <p:nvSpPr>
            <p:cNvPr id="72783" name="Line 57"/>
            <p:cNvSpPr>
              <a:spLocks noChangeShapeType="1"/>
            </p:cNvSpPr>
            <p:nvPr/>
          </p:nvSpPr>
          <p:spPr bwMode="auto">
            <a:xfrm flipV="1">
              <a:off x="1584" y="2400"/>
              <a:ext cx="1776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2784" name="Rectangle 60"/>
            <p:cNvSpPr>
              <a:spLocks noChangeArrowheads="1"/>
            </p:cNvSpPr>
            <p:nvPr/>
          </p:nvSpPr>
          <p:spPr bwMode="auto">
            <a:xfrm>
              <a:off x="3487" y="3353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5</a:t>
              </a:r>
            </a:p>
          </p:txBody>
        </p:sp>
        <p:sp>
          <p:nvSpPr>
            <p:cNvPr id="72785" name="Rectangle 62"/>
            <p:cNvSpPr>
              <a:spLocks noChangeArrowheads="1"/>
            </p:cNvSpPr>
            <p:nvPr/>
          </p:nvSpPr>
          <p:spPr bwMode="auto">
            <a:xfrm>
              <a:off x="2487" y="2808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4</a:t>
              </a:r>
            </a:p>
          </p:txBody>
        </p:sp>
        <p:sp>
          <p:nvSpPr>
            <p:cNvPr id="72786" name="Rectangle 64"/>
            <p:cNvSpPr>
              <a:spLocks noChangeArrowheads="1"/>
            </p:cNvSpPr>
            <p:nvPr/>
          </p:nvSpPr>
          <p:spPr bwMode="auto">
            <a:xfrm>
              <a:off x="4543" y="2969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6</a:t>
              </a:r>
            </a:p>
          </p:txBody>
        </p:sp>
        <p:sp>
          <p:nvSpPr>
            <p:cNvPr id="72787" name="Rectangle 66"/>
            <p:cNvSpPr>
              <a:spLocks noChangeArrowheads="1"/>
            </p:cNvSpPr>
            <p:nvPr/>
          </p:nvSpPr>
          <p:spPr bwMode="auto">
            <a:xfrm>
              <a:off x="1807" y="3353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2</a:t>
              </a:r>
            </a:p>
          </p:txBody>
        </p:sp>
        <p:sp>
          <p:nvSpPr>
            <p:cNvPr id="72788" name="Line 68"/>
            <p:cNvSpPr>
              <a:spLocks noChangeShapeType="1"/>
            </p:cNvSpPr>
            <p:nvPr/>
          </p:nvSpPr>
          <p:spPr bwMode="auto">
            <a:xfrm>
              <a:off x="1488" y="2640"/>
              <a:ext cx="336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2789" name="Line 69"/>
            <p:cNvSpPr>
              <a:spLocks noChangeShapeType="1"/>
            </p:cNvSpPr>
            <p:nvPr/>
          </p:nvSpPr>
          <p:spPr bwMode="auto">
            <a:xfrm>
              <a:off x="2016" y="3456"/>
              <a:ext cx="1432" cy="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2790" name="Line 70"/>
            <p:cNvSpPr>
              <a:spLocks noChangeShapeType="1"/>
            </p:cNvSpPr>
            <p:nvPr/>
          </p:nvSpPr>
          <p:spPr bwMode="auto">
            <a:xfrm flipV="1">
              <a:off x="3696" y="3151"/>
              <a:ext cx="808" cy="2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2791" name="Line 71"/>
            <p:cNvSpPr>
              <a:spLocks noChangeShapeType="1"/>
            </p:cNvSpPr>
            <p:nvPr/>
          </p:nvSpPr>
          <p:spPr bwMode="auto">
            <a:xfrm>
              <a:off x="3552" y="2448"/>
              <a:ext cx="972" cy="5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2792" name="Line 72"/>
            <p:cNvSpPr>
              <a:spLocks noChangeShapeType="1"/>
            </p:cNvSpPr>
            <p:nvPr/>
          </p:nvSpPr>
          <p:spPr bwMode="auto">
            <a:xfrm flipH="1">
              <a:off x="2688" y="2496"/>
              <a:ext cx="72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2793" name="Rectangle 73"/>
            <p:cNvSpPr>
              <a:spLocks noChangeArrowheads="1"/>
            </p:cNvSpPr>
            <p:nvPr/>
          </p:nvSpPr>
          <p:spPr bwMode="auto">
            <a:xfrm>
              <a:off x="2352" y="2256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2</a:t>
              </a:r>
            </a:p>
          </p:txBody>
        </p:sp>
        <p:sp>
          <p:nvSpPr>
            <p:cNvPr id="72794" name="Rectangle 74"/>
            <p:cNvSpPr>
              <a:spLocks noChangeArrowheads="1"/>
            </p:cNvSpPr>
            <p:nvPr/>
          </p:nvSpPr>
          <p:spPr bwMode="auto">
            <a:xfrm>
              <a:off x="1440" y="2976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3</a:t>
              </a:r>
            </a:p>
          </p:txBody>
        </p:sp>
        <p:sp>
          <p:nvSpPr>
            <p:cNvPr id="72795" name="Rectangle 75"/>
            <p:cNvSpPr>
              <a:spLocks noChangeArrowheads="1"/>
            </p:cNvSpPr>
            <p:nvPr/>
          </p:nvSpPr>
          <p:spPr bwMode="auto">
            <a:xfrm>
              <a:off x="2640" y="3504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4</a:t>
              </a:r>
            </a:p>
          </p:txBody>
        </p:sp>
        <p:sp>
          <p:nvSpPr>
            <p:cNvPr id="72796" name="Rectangle 76"/>
            <p:cNvSpPr>
              <a:spLocks noChangeArrowheads="1"/>
            </p:cNvSpPr>
            <p:nvPr/>
          </p:nvSpPr>
          <p:spPr bwMode="auto">
            <a:xfrm>
              <a:off x="2688" y="2592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2</a:t>
              </a:r>
            </a:p>
          </p:txBody>
        </p:sp>
        <p:sp>
          <p:nvSpPr>
            <p:cNvPr id="72797" name="Rectangle 77"/>
            <p:cNvSpPr>
              <a:spLocks noChangeArrowheads="1"/>
            </p:cNvSpPr>
            <p:nvPr/>
          </p:nvSpPr>
          <p:spPr bwMode="auto">
            <a:xfrm>
              <a:off x="2064" y="3024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1</a:t>
              </a:r>
            </a:p>
          </p:txBody>
        </p:sp>
        <p:sp>
          <p:nvSpPr>
            <p:cNvPr id="72798" name="Rectangle 78"/>
            <p:cNvSpPr>
              <a:spLocks noChangeArrowheads="1"/>
            </p:cNvSpPr>
            <p:nvPr/>
          </p:nvSpPr>
          <p:spPr bwMode="auto">
            <a:xfrm>
              <a:off x="3984" y="2496"/>
              <a:ext cx="178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1</a:t>
              </a:r>
            </a:p>
          </p:txBody>
        </p:sp>
        <p:sp>
          <p:nvSpPr>
            <p:cNvPr id="72799" name="Rectangle 79"/>
            <p:cNvSpPr>
              <a:spLocks noChangeArrowheads="1"/>
            </p:cNvSpPr>
            <p:nvPr/>
          </p:nvSpPr>
          <p:spPr bwMode="auto">
            <a:xfrm>
              <a:off x="4111" y="3313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2</a:t>
              </a:r>
            </a:p>
          </p:txBody>
        </p:sp>
        <p:sp>
          <p:nvSpPr>
            <p:cNvPr id="72800" name="Rectangle 80"/>
            <p:cNvSpPr>
              <a:spLocks noChangeArrowheads="1"/>
            </p:cNvSpPr>
            <p:nvPr/>
          </p:nvSpPr>
          <p:spPr bwMode="auto">
            <a:xfrm>
              <a:off x="3120" y="3024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3</a:t>
              </a:r>
            </a:p>
          </p:txBody>
        </p:sp>
        <p:sp>
          <p:nvSpPr>
            <p:cNvPr id="72801" name="Line 81"/>
            <p:cNvSpPr>
              <a:spLocks noChangeShapeType="1"/>
            </p:cNvSpPr>
            <p:nvPr/>
          </p:nvSpPr>
          <p:spPr bwMode="auto">
            <a:xfrm>
              <a:off x="2688" y="2976"/>
              <a:ext cx="860" cy="3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2802" name="Line 82"/>
            <p:cNvSpPr>
              <a:spLocks noChangeShapeType="1"/>
            </p:cNvSpPr>
            <p:nvPr/>
          </p:nvSpPr>
          <p:spPr bwMode="auto">
            <a:xfrm flipV="1">
              <a:off x="2016" y="3024"/>
              <a:ext cx="48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2803" name="Line 83"/>
            <p:cNvSpPr>
              <a:spLocks noChangeShapeType="1"/>
            </p:cNvSpPr>
            <p:nvPr/>
          </p:nvSpPr>
          <p:spPr bwMode="auto">
            <a:xfrm>
              <a:off x="1584" y="2544"/>
              <a:ext cx="86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2804" name="Rectangle 84"/>
            <p:cNvSpPr>
              <a:spLocks noChangeArrowheads="1"/>
            </p:cNvSpPr>
            <p:nvPr/>
          </p:nvSpPr>
          <p:spPr bwMode="auto">
            <a:xfrm>
              <a:off x="2064" y="2592"/>
              <a:ext cx="185" cy="18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marL="342900" indent="-342900" algn="l" eaLnBrk="0" hangingPunct="0">
                <a:lnSpc>
                  <a:spcPct val="85000"/>
                </a:lnSpc>
                <a:buSzTx/>
                <a:buFontTx/>
                <a:buNone/>
              </a:pPr>
              <a:r>
                <a:rPr lang="en-US" sz="1600"/>
                <a:t>5</a:t>
              </a:r>
            </a:p>
          </p:txBody>
        </p:sp>
        <p:sp>
          <p:nvSpPr>
            <p:cNvPr id="72805" name="Oval 59"/>
            <p:cNvSpPr>
              <a:spLocks noChangeArrowheads="1"/>
            </p:cNvSpPr>
            <p:nvPr/>
          </p:nvSpPr>
          <p:spPr bwMode="auto">
            <a:xfrm>
              <a:off x="1344" y="2400"/>
              <a:ext cx="232" cy="232"/>
            </a:xfrm>
            <a:prstGeom prst="ellipse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06" name="Rectangle 58"/>
            <p:cNvSpPr>
              <a:spLocks noChangeArrowheads="1"/>
            </p:cNvSpPr>
            <p:nvPr/>
          </p:nvSpPr>
          <p:spPr bwMode="auto">
            <a:xfrm>
              <a:off x="1344" y="2400"/>
              <a:ext cx="186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1</a:t>
              </a:r>
            </a:p>
          </p:txBody>
        </p:sp>
      </p:grpSp>
      <p:graphicFrame>
        <p:nvGraphicFramePr>
          <p:cNvPr id="640101" name="Group 101"/>
          <p:cNvGraphicFramePr>
            <a:graphicFrameLocks noGrp="1"/>
          </p:cNvGraphicFramePr>
          <p:nvPr>
            <p:ph sz="half" idx="1"/>
          </p:nvPr>
        </p:nvGraphicFramePr>
        <p:xfrm>
          <a:off x="339725" y="366713"/>
          <a:ext cx="7413625" cy="2917825"/>
        </p:xfrm>
        <a:graphic>
          <a:graphicData uri="http://schemas.openxmlformats.org/drawingml/2006/table">
            <a:tbl>
              <a:tblPr/>
              <a:tblGrid>
                <a:gridCol w="1152525"/>
                <a:gridCol w="1257300"/>
                <a:gridCol w="1257300"/>
                <a:gridCol w="1257300"/>
                <a:gridCol w="1231900"/>
                <a:gridCol w="1257300"/>
              </a:tblGrid>
              <a:tr h="48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Iteration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1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2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3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4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5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(3,3)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(4,4)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(4, 5)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(3,3)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(6,2)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(3,7)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(4,4)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(4, 5)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(2,5)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(6,2)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(3,7)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(4,6)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(4, 7)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(5,5)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(6,2)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8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</a:t>
                      </a:r>
                      <a:endParaRPr kumimoji="0" lang="en-US" sz="3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(2,9)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(4,6)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(4, 7)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(5,5)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(6,2)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8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2758" name="Text Box 53"/>
          <p:cNvSpPr txBox="1">
            <a:spLocks noChangeArrowheads="1"/>
          </p:cNvSpPr>
          <p:nvPr/>
        </p:nvSpPr>
        <p:spPr bwMode="auto">
          <a:xfrm>
            <a:off x="7696200" y="4343400"/>
            <a:ext cx="70485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2800">
                <a:latin typeface="Monotype Corsiva" pitchFamily="66" charset="0"/>
              </a:rPr>
              <a:t>San</a:t>
            </a:r>
          </a:p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2800">
                <a:latin typeface="Monotype Corsiva" pitchFamily="66" charset="0"/>
              </a:rPr>
              <a:t>Jose</a:t>
            </a:r>
          </a:p>
        </p:txBody>
      </p:sp>
      <p:pic>
        <p:nvPicPr>
          <p:cNvPr id="72759" name="Picture 85" descr="BD05210_[1]"/>
          <p:cNvPicPr>
            <a:picLocks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6346825" y="4167188"/>
            <a:ext cx="698500" cy="627062"/>
          </a:xfrm>
          <a:noFill/>
        </p:spPr>
      </p:pic>
      <p:sp>
        <p:nvSpPr>
          <p:cNvPr id="640088" name="Line 88"/>
          <p:cNvSpPr>
            <a:spLocks noChangeShapeType="1"/>
          </p:cNvSpPr>
          <p:nvPr/>
        </p:nvSpPr>
        <p:spPr bwMode="auto">
          <a:xfrm flipH="1" flipV="1">
            <a:off x="2362200" y="4191000"/>
            <a:ext cx="533400" cy="11430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40089" name="Line 89"/>
          <p:cNvSpPr>
            <a:spLocks noChangeShapeType="1"/>
          </p:cNvSpPr>
          <p:nvPr/>
        </p:nvSpPr>
        <p:spPr bwMode="auto">
          <a:xfrm>
            <a:off x="2362200" y="4114800"/>
            <a:ext cx="609600" cy="1219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40090" name="Line 90"/>
          <p:cNvSpPr>
            <a:spLocks noChangeShapeType="1"/>
          </p:cNvSpPr>
          <p:nvPr/>
        </p:nvSpPr>
        <p:spPr bwMode="auto">
          <a:xfrm flipH="1">
            <a:off x="4267200" y="3962400"/>
            <a:ext cx="106680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40091" name="Line 91"/>
          <p:cNvSpPr>
            <a:spLocks noChangeShapeType="1"/>
          </p:cNvSpPr>
          <p:nvPr/>
        </p:nvSpPr>
        <p:spPr bwMode="auto">
          <a:xfrm flipH="1">
            <a:off x="3208338" y="4765675"/>
            <a:ext cx="762000" cy="685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0092" name="Line 92"/>
          <p:cNvSpPr>
            <a:spLocks noChangeShapeType="1"/>
          </p:cNvSpPr>
          <p:nvPr/>
        </p:nvSpPr>
        <p:spPr bwMode="auto">
          <a:xfrm>
            <a:off x="4179888" y="4810125"/>
            <a:ext cx="1219200" cy="609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40094" name="Line 94"/>
          <p:cNvSpPr>
            <a:spLocks noChangeShapeType="1"/>
          </p:cNvSpPr>
          <p:nvPr/>
        </p:nvSpPr>
        <p:spPr bwMode="auto">
          <a:xfrm flipV="1">
            <a:off x="2514600" y="3810000"/>
            <a:ext cx="2819400" cy="15240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40095" name="Line 95"/>
          <p:cNvSpPr>
            <a:spLocks noChangeShapeType="1"/>
          </p:cNvSpPr>
          <p:nvPr/>
        </p:nvSpPr>
        <p:spPr bwMode="auto">
          <a:xfrm flipH="1">
            <a:off x="5867400" y="4953000"/>
            <a:ext cx="1295400" cy="457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2767" name="Text Box 103"/>
          <p:cNvSpPr txBox="1">
            <a:spLocks noChangeArrowheads="1"/>
          </p:cNvSpPr>
          <p:nvPr/>
        </p:nvSpPr>
        <p:spPr bwMode="auto">
          <a:xfrm>
            <a:off x="7145338" y="4175125"/>
            <a:ext cx="3254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72768" name="Text Box 104"/>
          <p:cNvSpPr txBox="1">
            <a:spLocks noChangeArrowheads="1"/>
          </p:cNvSpPr>
          <p:nvPr/>
        </p:nvSpPr>
        <p:spPr bwMode="auto">
          <a:xfrm>
            <a:off x="5589588" y="3395663"/>
            <a:ext cx="3254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7</a:t>
            </a:r>
          </a:p>
        </p:txBody>
      </p:sp>
      <p:sp>
        <p:nvSpPr>
          <p:cNvPr id="640105" name="Text Box 105"/>
          <p:cNvSpPr txBox="1">
            <a:spLocks noChangeArrowheads="1"/>
          </p:cNvSpPr>
          <p:nvPr/>
        </p:nvSpPr>
        <p:spPr bwMode="auto">
          <a:xfrm>
            <a:off x="2179638" y="3462338"/>
            <a:ext cx="3254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7</a:t>
            </a:r>
          </a:p>
        </p:txBody>
      </p:sp>
      <p:sp>
        <p:nvSpPr>
          <p:cNvPr id="72770" name="Text Box 106"/>
          <p:cNvSpPr txBox="1">
            <a:spLocks noChangeArrowheads="1"/>
          </p:cNvSpPr>
          <p:nvPr/>
        </p:nvSpPr>
        <p:spPr bwMode="auto">
          <a:xfrm>
            <a:off x="3886200" y="4151313"/>
            <a:ext cx="325438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5</a:t>
            </a:r>
          </a:p>
        </p:txBody>
      </p:sp>
      <p:sp>
        <p:nvSpPr>
          <p:cNvPr id="72771" name="Text Box 107"/>
          <p:cNvSpPr txBox="1">
            <a:spLocks noChangeArrowheads="1"/>
          </p:cNvSpPr>
          <p:nvPr/>
        </p:nvSpPr>
        <p:spPr bwMode="auto">
          <a:xfrm>
            <a:off x="2795588" y="5614988"/>
            <a:ext cx="32543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6</a:t>
            </a:r>
          </a:p>
        </p:txBody>
      </p:sp>
      <p:sp>
        <p:nvSpPr>
          <p:cNvPr id="640108" name="Oval 108"/>
          <p:cNvSpPr>
            <a:spLocks noChangeArrowheads="1"/>
          </p:cNvSpPr>
          <p:nvPr/>
        </p:nvSpPr>
        <p:spPr bwMode="auto">
          <a:xfrm>
            <a:off x="1749425" y="2354263"/>
            <a:ext cx="723900" cy="569912"/>
          </a:xfrm>
          <a:prstGeom prst="ellipse">
            <a:avLst/>
          </a:prstGeom>
          <a:noFill/>
          <a:ln w="1905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40110" name="Line 110"/>
          <p:cNvSpPr>
            <a:spLocks noChangeShapeType="1"/>
          </p:cNvSpPr>
          <p:nvPr/>
        </p:nvSpPr>
        <p:spPr bwMode="auto">
          <a:xfrm flipH="1" flipV="1">
            <a:off x="2544763" y="4089400"/>
            <a:ext cx="1268412" cy="517525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640111" name="Text Box 111"/>
          <p:cNvSpPr txBox="1">
            <a:spLocks noChangeArrowheads="1"/>
          </p:cNvSpPr>
          <p:nvPr/>
        </p:nvSpPr>
        <p:spPr bwMode="auto">
          <a:xfrm>
            <a:off x="2409825" y="3476625"/>
            <a:ext cx="325438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9</a:t>
            </a:r>
          </a:p>
        </p:txBody>
      </p:sp>
      <p:sp>
        <p:nvSpPr>
          <p:cNvPr id="72775" name="Text Box 112"/>
          <p:cNvSpPr txBox="1">
            <a:spLocks noChangeArrowheads="1"/>
          </p:cNvSpPr>
          <p:nvPr/>
        </p:nvSpPr>
        <p:spPr bwMode="auto">
          <a:xfrm>
            <a:off x="5657850" y="5621338"/>
            <a:ext cx="325438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b="1">
                <a:solidFill>
                  <a:srgbClr val="FF3300"/>
                </a:solidFill>
              </a:rPr>
              <a:t>2</a:t>
            </a:r>
          </a:p>
        </p:txBody>
      </p:sp>
      <p:sp>
        <p:nvSpPr>
          <p:cNvPr id="640113" name="Text Box 113"/>
          <p:cNvSpPr txBox="1">
            <a:spLocks noChangeArrowheads="1"/>
          </p:cNvSpPr>
          <p:nvPr/>
        </p:nvSpPr>
        <p:spPr bwMode="auto">
          <a:xfrm>
            <a:off x="1573213" y="6175375"/>
            <a:ext cx="6432550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buClr>
                <a:schemeClr val="bg1"/>
              </a:buClr>
            </a:pPr>
            <a:r>
              <a:rPr lang="en-US"/>
              <a:t>Node 1 could have chose 3 as next node because of tie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0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0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40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0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40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40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0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40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6" dur="500"/>
                                        <p:tgtEl>
                                          <p:spTgt spid="640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0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40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640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640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640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640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6" dur="500"/>
                                        <p:tgtEl>
                                          <p:spTgt spid="640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0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640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0088" grpId="0" animBg="1"/>
      <p:bldP spid="640089" grpId="0" animBg="1"/>
      <p:bldP spid="640090" grpId="0" animBg="1"/>
      <p:bldP spid="640091" grpId="0" animBg="1"/>
      <p:bldP spid="640092" grpId="0" animBg="1"/>
      <p:bldP spid="640094" grpId="0" animBg="1"/>
      <p:bldP spid="640095" grpId="0" animBg="1"/>
      <p:bldP spid="640105" grpId="0"/>
      <p:bldP spid="640108" grpId="0" animBg="1"/>
      <p:bldP spid="640108" grpId="1" animBg="1"/>
      <p:bldP spid="640110" grpId="0" animBg="1"/>
      <p:bldP spid="640111" grpId="0"/>
      <p:bldP spid="640113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30" name="Group 90"/>
          <p:cNvGrpSpPr>
            <a:grpSpLocks/>
          </p:cNvGrpSpPr>
          <p:nvPr/>
        </p:nvGrpSpPr>
        <p:grpSpPr bwMode="auto">
          <a:xfrm>
            <a:off x="979488" y="1231900"/>
            <a:ext cx="4935537" cy="1335088"/>
            <a:chOff x="1160" y="781"/>
            <a:chExt cx="3109" cy="841"/>
          </a:xfrm>
        </p:grpSpPr>
        <p:sp>
          <p:nvSpPr>
            <p:cNvPr id="73793" name="Oval 6"/>
            <p:cNvSpPr>
              <a:spLocks noChangeArrowheads="1"/>
            </p:cNvSpPr>
            <p:nvPr/>
          </p:nvSpPr>
          <p:spPr bwMode="auto">
            <a:xfrm>
              <a:off x="3179" y="781"/>
              <a:ext cx="293" cy="241"/>
            </a:xfrm>
            <a:prstGeom prst="ellipse">
              <a:avLst/>
            </a:prstGeom>
            <a:solidFill>
              <a:schemeClr val="accent2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94" name="Rectangle 7"/>
            <p:cNvSpPr>
              <a:spLocks noChangeArrowheads="1"/>
            </p:cNvSpPr>
            <p:nvPr/>
          </p:nvSpPr>
          <p:spPr bwMode="auto">
            <a:xfrm>
              <a:off x="3286" y="834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3</a:t>
              </a:r>
              <a:endParaRPr lang="en-US" sz="1400"/>
            </a:p>
          </p:txBody>
        </p:sp>
        <p:sp>
          <p:nvSpPr>
            <p:cNvPr id="73795" name="Oval 8"/>
            <p:cNvSpPr>
              <a:spLocks noChangeArrowheads="1"/>
            </p:cNvSpPr>
            <p:nvPr/>
          </p:nvSpPr>
          <p:spPr bwMode="auto">
            <a:xfrm>
              <a:off x="1585" y="781"/>
              <a:ext cx="294" cy="241"/>
            </a:xfrm>
            <a:prstGeom prst="ellipse">
              <a:avLst/>
            </a:prstGeom>
            <a:solidFill>
              <a:schemeClr val="accent2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96" name="Rectangle 9"/>
            <p:cNvSpPr>
              <a:spLocks noChangeArrowheads="1"/>
            </p:cNvSpPr>
            <p:nvPr/>
          </p:nvSpPr>
          <p:spPr bwMode="auto">
            <a:xfrm>
              <a:off x="1693" y="834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1</a:t>
              </a:r>
              <a:endParaRPr lang="en-US" sz="1400"/>
            </a:p>
          </p:txBody>
        </p:sp>
        <p:sp>
          <p:nvSpPr>
            <p:cNvPr id="73797" name="Oval 10"/>
            <p:cNvSpPr>
              <a:spLocks noChangeArrowheads="1"/>
            </p:cNvSpPr>
            <p:nvPr/>
          </p:nvSpPr>
          <p:spPr bwMode="auto">
            <a:xfrm>
              <a:off x="2370" y="781"/>
              <a:ext cx="293" cy="241"/>
            </a:xfrm>
            <a:prstGeom prst="ellipse">
              <a:avLst/>
            </a:prstGeom>
            <a:solidFill>
              <a:schemeClr val="accent2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98" name="Rectangle 11"/>
            <p:cNvSpPr>
              <a:spLocks noChangeArrowheads="1"/>
            </p:cNvSpPr>
            <p:nvPr/>
          </p:nvSpPr>
          <p:spPr bwMode="auto">
            <a:xfrm>
              <a:off x="2477" y="834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2</a:t>
              </a:r>
              <a:endParaRPr lang="en-US" sz="1400"/>
            </a:p>
          </p:txBody>
        </p:sp>
        <p:sp>
          <p:nvSpPr>
            <p:cNvPr id="73799" name="Oval 12"/>
            <p:cNvSpPr>
              <a:spLocks noChangeArrowheads="1"/>
            </p:cNvSpPr>
            <p:nvPr/>
          </p:nvSpPr>
          <p:spPr bwMode="auto">
            <a:xfrm>
              <a:off x="3976" y="781"/>
              <a:ext cx="293" cy="241"/>
            </a:xfrm>
            <a:prstGeom prst="ellipse">
              <a:avLst/>
            </a:prstGeom>
            <a:solidFill>
              <a:schemeClr val="accent2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800" name="Rectangle 13"/>
            <p:cNvSpPr>
              <a:spLocks noChangeArrowheads="1"/>
            </p:cNvSpPr>
            <p:nvPr/>
          </p:nvSpPr>
          <p:spPr bwMode="auto">
            <a:xfrm>
              <a:off x="4083" y="834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4</a:t>
              </a:r>
              <a:endParaRPr lang="en-US" sz="1400"/>
            </a:p>
          </p:txBody>
        </p:sp>
        <p:sp>
          <p:nvSpPr>
            <p:cNvPr id="73801" name="Line 14"/>
            <p:cNvSpPr>
              <a:spLocks noChangeShapeType="1"/>
            </p:cNvSpPr>
            <p:nvPr/>
          </p:nvSpPr>
          <p:spPr bwMode="auto">
            <a:xfrm>
              <a:off x="1883" y="908"/>
              <a:ext cx="479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3802" name="Line 15"/>
            <p:cNvSpPr>
              <a:spLocks noChangeShapeType="1"/>
            </p:cNvSpPr>
            <p:nvPr/>
          </p:nvSpPr>
          <p:spPr bwMode="auto">
            <a:xfrm>
              <a:off x="2680" y="908"/>
              <a:ext cx="478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3803" name="Line 16"/>
            <p:cNvSpPr>
              <a:spLocks noChangeShapeType="1"/>
            </p:cNvSpPr>
            <p:nvPr/>
          </p:nvSpPr>
          <p:spPr bwMode="auto">
            <a:xfrm>
              <a:off x="3488" y="908"/>
              <a:ext cx="479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3804" name="Rectangle 17"/>
            <p:cNvSpPr>
              <a:spLocks noChangeArrowheads="1"/>
            </p:cNvSpPr>
            <p:nvPr/>
          </p:nvSpPr>
          <p:spPr bwMode="auto">
            <a:xfrm>
              <a:off x="2061" y="942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1</a:t>
              </a:r>
              <a:endParaRPr lang="en-US" sz="1400"/>
            </a:p>
          </p:txBody>
        </p:sp>
        <p:sp>
          <p:nvSpPr>
            <p:cNvPr id="73805" name="Rectangle 18"/>
            <p:cNvSpPr>
              <a:spLocks noChangeArrowheads="1"/>
            </p:cNvSpPr>
            <p:nvPr/>
          </p:nvSpPr>
          <p:spPr bwMode="auto">
            <a:xfrm>
              <a:off x="2881" y="942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1</a:t>
              </a:r>
              <a:endParaRPr lang="en-US" sz="1400"/>
            </a:p>
          </p:txBody>
        </p:sp>
        <p:sp>
          <p:nvSpPr>
            <p:cNvPr id="73806" name="Rectangle 19"/>
            <p:cNvSpPr>
              <a:spLocks noChangeArrowheads="1"/>
            </p:cNvSpPr>
            <p:nvPr/>
          </p:nvSpPr>
          <p:spPr bwMode="auto">
            <a:xfrm>
              <a:off x="3714" y="942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1</a:t>
              </a:r>
              <a:endParaRPr lang="en-US" sz="1400"/>
            </a:p>
          </p:txBody>
        </p:sp>
        <p:sp>
          <p:nvSpPr>
            <p:cNvPr id="73807" name="Oval 20"/>
            <p:cNvSpPr>
              <a:spLocks noChangeArrowheads="1"/>
            </p:cNvSpPr>
            <p:nvPr/>
          </p:nvSpPr>
          <p:spPr bwMode="auto">
            <a:xfrm>
              <a:off x="3172" y="1289"/>
              <a:ext cx="293" cy="241"/>
            </a:xfrm>
            <a:prstGeom prst="ellipse">
              <a:avLst/>
            </a:prstGeom>
            <a:solidFill>
              <a:schemeClr val="accent2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808" name="Rectangle 21"/>
            <p:cNvSpPr>
              <a:spLocks noChangeArrowheads="1"/>
            </p:cNvSpPr>
            <p:nvPr/>
          </p:nvSpPr>
          <p:spPr bwMode="auto">
            <a:xfrm>
              <a:off x="3279" y="1342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3</a:t>
              </a:r>
              <a:endParaRPr lang="en-US" sz="1400"/>
            </a:p>
          </p:txBody>
        </p:sp>
        <p:sp>
          <p:nvSpPr>
            <p:cNvPr id="73809" name="Oval 22"/>
            <p:cNvSpPr>
              <a:spLocks noChangeArrowheads="1"/>
            </p:cNvSpPr>
            <p:nvPr/>
          </p:nvSpPr>
          <p:spPr bwMode="auto">
            <a:xfrm>
              <a:off x="1580" y="1289"/>
              <a:ext cx="294" cy="241"/>
            </a:xfrm>
            <a:prstGeom prst="ellipse">
              <a:avLst/>
            </a:prstGeom>
            <a:solidFill>
              <a:schemeClr val="accent2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810" name="Rectangle 23"/>
            <p:cNvSpPr>
              <a:spLocks noChangeArrowheads="1"/>
            </p:cNvSpPr>
            <p:nvPr/>
          </p:nvSpPr>
          <p:spPr bwMode="auto">
            <a:xfrm>
              <a:off x="1688" y="1342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1</a:t>
              </a:r>
              <a:endParaRPr lang="en-US" sz="1400"/>
            </a:p>
          </p:txBody>
        </p:sp>
        <p:sp>
          <p:nvSpPr>
            <p:cNvPr id="73811" name="Oval 24"/>
            <p:cNvSpPr>
              <a:spLocks noChangeArrowheads="1"/>
            </p:cNvSpPr>
            <p:nvPr/>
          </p:nvSpPr>
          <p:spPr bwMode="auto">
            <a:xfrm>
              <a:off x="2364" y="1289"/>
              <a:ext cx="293" cy="241"/>
            </a:xfrm>
            <a:prstGeom prst="ellipse">
              <a:avLst/>
            </a:prstGeom>
            <a:solidFill>
              <a:schemeClr val="accent2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812" name="Rectangle 25"/>
            <p:cNvSpPr>
              <a:spLocks noChangeArrowheads="1"/>
            </p:cNvSpPr>
            <p:nvPr/>
          </p:nvSpPr>
          <p:spPr bwMode="auto">
            <a:xfrm>
              <a:off x="2472" y="1342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2</a:t>
              </a:r>
              <a:endParaRPr lang="en-US" sz="1400"/>
            </a:p>
          </p:txBody>
        </p:sp>
        <p:sp>
          <p:nvSpPr>
            <p:cNvPr id="73813" name="Oval 26"/>
            <p:cNvSpPr>
              <a:spLocks noChangeArrowheads="1"/>
            </p:cNvSpPr>
            <p:nvPr/>
          </p:nvSpPr>
          <p:spPr bwMode="auto">
            <a:xfrm>
              <a:off x="3967" y="1289"/>
              <a:ext cx="294" cy="241"/>
            </a:xfrm>
            <a:prstGeom prst="ellipse">
              <a:avLst/>
            </a:prstGeom>
            <a:solidFill>
              <a:schemeClr val="accent2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814" name="Rectangle 27"/>
            <p:cNvSpPr>
              <a:spLocks noChangeArrowheads="1"/>
            </p:cNvSpPr>
            <p:nvPr/>
          </p:nvSpPr>
          <p:spPr bwMode="auto">
            <a:xfrm>
              <a:off x="4074" y="1342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4</a:t>
              </a:r>
              <a:endParaRPr lang="en-US" sz="1400"/>
            </a:p>
          </p:txBody>
        </p:sp>
        <p:sp>
          <p:nvSpPr>
            <p:cNvPr id="73815" name="Line 28"/>
            <p:cNvSpPr>
              <a:spLocks noChangeShapeType="1"/>
            </p:cNvSpPr>
            <p:nvPr/>
          </p:nvSpPr>
          <p:spPr bwMode="auto">
            <a:xfrm>
              <a:off x="1878" y="1416"/>
              <a:ext cx="478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3816" name="Line 29"/>
            <p:cNvSpPr>
              <a:spLocks noChangeShapeType="1"/>
            </p:cNvSpPr>
            <p:nvPr/>
          </p:nvSpPr>
          <p:spPr bwMode="auto">
            <a:xfrm>
              <a:off x="2673" y="1416"/>
              <a:ext cx="478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3817" name="Line 30"/>
            <p:cNvSpPr>
              <a:spLocks noChangeShapeType="1"/>
            </p:cNvSpPr>
            <p:nvPr/>
          </p:nvSpPr>
          <p:spPr bwMode="auto">
            <a:xfrm>
              <a:off x="3481" y="1416"/>
              <a:ext cx="158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3818" name="Rectangle 31"/>
            <p:cNvSpPr>
              <a:spLocks noChangeArrowheads="1"/>
            </p:cNvSpPr>
            <p:nvPr/>
          </p:nvSpPr>
          <p:spPr bwMode="auto">
            <a:xfrm>
              <a:off x="2055" y="1449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1</a:t>
              </a:r>
              <a:endParaRPr lang="en-US" sz="1400"/>
            </a:p>
          </p:txBody>
        </p:sp>
        <p:sp>
          <p:nvSpPr>
            <p:cNvPr id="73819" name="Rectangle 32"/>
            <p:cNvSpPr>
              <a:spLocks noChangeArrowheads="1"/>
            </p:cNvSpPr>
            <p:nvPr/>
          </p:nvSpPr>
          <p:spPr bwMode="auto">
            <a:xfrm>
              <a:off x="2876" y="1449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1</a:t>
              </a:r>
              <a:endParaRPr lang="en-US" sz="1400"/>
            </a:p>
          </p:txBody>
        </p:sp>
        <p:sp>
          <p:nvSpPr>
            <p:cNvPr id="73820" name="Rectangle 33"/>
            <p:cNvSpPr>
              <a:spLocks noChangeArrowheads="1"/>
            </p:cNvSpPr>
            <p:nvPr/>
          </p:nvSpPr>
          <p:spPr bwMode="auto">
            <a:xfrm>
              <a:off x="3683" y="1344"/>
              <a:ext cx="9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X</a:t>
              </a:r>
              <a:endParaRPr lang="en-US" sz="1400"/>
            </a:p>
          </p:txBody>
        </p:sp>
        <p:sp>
          <p:nvSpPr>
            <p:cNvPr id="73821" name="Line 34"/>
            <p:cNvSpPr>
              <a:spLocks noChangeShapeType="1"/>
            </p:cNvSpPr>
            <p:nvPr/>
          </p:nvSpPr>
          <p:spPr bwMode="auto">
            <a:xfrm>
              <a:off x="3814" y="1416"/>
              <a:ext cx="157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3822" name="Text Box 35"/>
            <p:cNvSpPr txBox="1">
              <a:spLocks noChangeArrowheads="1"/>
            </p:cNvSpPr>
            <p:nvPr/>
          </p:nvSpPr>
          <p:spPr bwMode="auto">
            <a:xfrm>
              <a:off x="1185" y="823"/>
              <a:ext cx="299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/>
                <a:t>(a)</a:t>
              </a:r>
              <a:endParaRPr lang="en-US" sz="1400"/>
            </a:p>
          </p:txBody>
        </p:sp>
        <p:sp>
          <p:nvSpPr>
            <p:cNvPr id="73823" name="Text Box 36"/>
            <p:cNvSpPr txBox="1">
              <a:spLocks noChangeArrowheads="1"/>
            </p:cNvSpPr>
            <p:nvPr/>
          </p:nvSpPr>
          <p:spPr bwMode="auto">
            <a:xfrm>
              <a:off x="1160" y="1299"/>
              <a:ext cx="294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/>
                <a:t>(b)</a:t>
              </a:r>
              <a:endParaRPr lang="en-US" sz="1400"/>
            </a:p>
          </p:txBody>
        </p:sp>
      </p:grpSp>
      <p:graphicFrame>
        <p:nvGraphicFramePr>
          <p:cNvPr id="641061" name="Group 37"/>
          <p:cNvGraphicFramePr>
            <a:graphicFrameLocks noGrp="1"/>
          </p:cNvGraphicFramePr>
          <p:nvPr/>
        </p:nvGraphicFramePr>
        <p:xfrm>
          <a:off x="935038" y="2808288"/>
          <a:ext cx="7340600" cy="3694112"/>
        </p:xfrm>
        <a:graphic>
          <a:graphicData uri="http://schemas.openxmlformats.org/drawingml/2006/table">
            <a:tbl>
              <a:tblPr/>
              <a:tblGrid>
                <a:gridCol w="1717675"/>
                <a:gridCol w="1874837"/>
                <a:gridCol w="1873250"/>
                <a:gridCol w="1874838"/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Update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1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2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3</a:t>
                      </a:r>
                      <a:endParaRPr kumimoji="0" lang="en-US" sz="1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Before break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(2,3)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(3,2)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(4, 1)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After break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(2,3)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(3,2)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(2,3)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(2,3)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(3,4)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(2,3)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(2,5)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(3,4)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(2,5)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3</a:t>
                      </a:r>
                      <a:endParaRPr kumimoji="0" lang="en-US" sz="3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(2,5)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(3,6)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(2,5)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2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4</a:t>
                      </a:r>
                      <a:endParaRPr kumimoji="0" lang="en-US" sz="3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(2,7)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(3,6)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(2,7)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56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(2,7)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(3,8)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(2,7)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3783" name="Rectangle 8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Counting to Infinity Problem</a:t>
            </a:r>
          </a:p>
        </p:txBody>
      </p:sp>
      <p:sp>
        <p:nvSpPr>
          <p:cNvPr id="73784" name="Text Box 91"/>
          <p:cNvSpPr txBox="1">
            <a:spLocks noChangeArrowheads="1"/>
          </p:cNvSpPr>
          <p:nvPr/>
        </p:nvSpPr>
        <p:spPr bwMode="auto">
          <a:xfrm>
            <a:off x="6203950" y="1417638"/>
            <a:ext cx="2765425" cy="13716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buClr>
                <a:schemeClr val="bg1"/>
              </a:buClr>
            </a:pPr>
            <a:r>
              <a:rPr lang="en-US"/>
              <a:t>Nodes believe best path is through each other</a:t>
            </a:r>
          </a:p>
          <a:p>
            <a:pPr algn="l">
              <a:buClr>
                <a:schemeClr val="bg1"/>
              </a:buClr>
            </a:pPr>
            <a:r>
              <a:rPr lang="en-US"/>
              <a:t>(Destination is node 4)</a:t>
            </a:r>
          </a:p>
        </p:txBody>
      </p:sp>
      <p:sp>
        <p:nvSpPr>
          <p:cNvPr id="73785" name="Oval 94"/>
          <p:cNvSpPr>
            <a:spLocks noChangeArrowheads="1"/>
          </p:cNvSpPr>
          <p:nvPr/>
        </p:nvSpPr>
        <p:spPr bwMode="auto">
          <a:xfrm>
            <a:off x="5106988" y="3657600"/>
            <a:ext cx="361950" cy="387350"/>
          </a:xfrm>
          <a:prstGeom prst="ellipse">
            <a:avLst/>
          </a:prstGeom>
          <a:noFill/>
          <a:ln w="1905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3786" name="Oval 95"/>
          <p:cNvSpPr>
            <a:spLocks noChangeArrowheads="1"/>
          </p:cNvSpPr>
          <p:nvPr/>
        </p:nvSpPr>
        <p:spPr bwMode="auto">
          <a:xfrm>
            <a:off x="6975475" y="3656013"/>
            <a:ext cx="361950" cy="387350"/>
          </a:xfrm>
          <a:prstGeom prst="ellipse">
            <a:avLst/>
          </a:prstGeom>
          <a:noFill/>
          <a:ln w="1905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3787" name="Freeform 96"/>
          <p:cNvSpPr>
            <a:spLocks/>
          </p:cNvSpPr>
          <p:nvPr/>
        </p:nvSpPr>
        <p:spPr bwMode="auto">
          <a:xfrm>
            <a:off x="5349875" y="3598863"/>
            <a:ext cx="1611313" cy="144462"/>
          </a:xfrm>
          <a:custGeom>
            <a:avLst/>
            <a:gdLst>
              <a:gd name="T0" fmla="*/ 2147483647 w 1015"/>
              <a:gd name="T1" fmla="*/ 2147483647 h 91"/>
              <a:gd name="T2" fmla="*/ 2147483647 w 1015"/>
              <a:gd name="T3" fmla="*/ 2147483647 h 91"/>
              <a:gd name="T4" fmla="*/ 2147483647 w 1015"/>
              <a:gd name="T5" fmla="*/ 2147483647 h 91"/>
              <a:gd name="T6" fmla="*/ 2147483647 w 1015"/>
              <a:gd name="T7" fmla="*/ 2147483647 h 91"/>
              <a:gd name="T8" fmla="*/ 0 60000 65536"/>
              <a:gd name="T9" fmla="*/ 0 60000 65536"/>
              <a:gd name="T10" fmla="*/ 0 60000 65536"/>
              <a:gd name="T11" fmla="*/ 0 60000 65536"/>
              <a:gd name="T12" fmla="*/ 0 w 1015"/>
              <a:gd name="T13" fmla="*/ 0 h 91"/>
              <a:gd name="T14" fmla="*/ 1015 w 1015"/>
              <a:gd name="T15" fmla="*/ 91 h 9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15" h="91">
                <a:moveTo>
                  <a:pt x="64" y="70"/>
                </a:moveTo>
                <a:cubicBezTo>
                  <a:pt x="32" y="56"/>
                  <a:pt x="0" y="42"/>
                  <a:pt x="119" y="32"/>
                </a:cubicBezTo>
                <a:cubicBezTo>
                  <a:pt x="238" y="22"/>
                  <a:pt x="627" y="0"/>
                  <a:pt x="776" y="10"/>
                </a:cubicBezTo>
                <a:cubicBezTo>
                  <a:pt x="925" y="20"/>
                  <a:pt x="977" y="75"/>
                  <a:pt x="1015" y="91"/>
                </a:cubicBezTo>
              </a:path>
            </a:pathLst>
          </a:custGeom>
          <a:noFill/>
          <a:ln w="19050">
            <a:solidFill>
              <a:srgbClr val="FF3300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3788" name="Line 98"/>
          <p:cNvSpPr>
            <a:spLocks noChangeShapeType="1"/>
          </p:cNvSpPr>
          <p:nvPr/>
        </p:nvSpPr>
        <p:spPr bwMode="auto">
          <a:xfrm>
            <a:off x="5607050" y="3941763"/>
            <a:ext cx="1690688" cy="207962"/>
          </a:xfrm>
          <a:prstGeom prst="line">
            <a:avLst/>
          </a:prstGeom>
          <a:noFill/>
          <a:ln w="19050">
            <a:solidFill>
              <a:srgbClr val="FF3300"/>
            </a:solidFill>
            <a:prstDash val="sysDot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3789" name="Line 101"/>
          <p:cNvSpPr>
            <a:spLocks noChangeShapeType="1"/>
          </p:cNvSpPr>
          <p:nvPr/>
        </p:nvSpPr>
        <p:spPr bwMode="auto">
          <a:xfrm flipH="1">
            <a:off x="5624513" y="4373563"/>
            <a:ext cx="1776412" cy="190500"/>
          </a:xfrm>
          <a:prstGeom prst="line">
            <a:avLst/>
          </a:prstGeom>
          <a:noFill/>
          <a:ln w="19050">
            <a:solidFill>
              <a:srgbClr val="FF3300"/>
            </a:solidFill>
            <a:prstDash val="sysDot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3790" name="Line 102"/>
          <p:cNvSpPr>
            <a:spLocks noChangeShapeType="1"/>
          </p:cNvSpPr>
          <p:nvPr/>
        </p:nvSpPr>
        <p:spPr bwMode="auto">
          <a:xfrm>
            <a:off x="5632450" y="4752975"/>
            <a:ext cx="1690688" cy="207963"/>
          </a:xfrm>
          <a:prstGeom prst="line">
            <a:avLst/>
          </a:prstGeom>
          <a:noFill/>
          <a:ln w="19050">
            <a:solidFill>
              <a:srgbClr val="FF3300"/>
            </a:solidFill>
            <a:prstDash val="sysDot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3791" name="Line 103"/>
          <p:cNvSpPr>
            <a:spLocks noChangeShapeType="1"/>
          </p:cNvSpPr>
          <p:nvPr/>
        </p:nvSpPr>
        <p:spPr bwMode="auto">
          <a:xfrm flipH="1">
            <a:off x="5610225" y="5184775"/>
            <a:ext cx="1776413" cy="190500"/>
          </a:xfrm>
          <a:prstGeom prst="line">
            <a:avLst/>
          </a:prstGeom>
          <a:noFill/>
          <a:ln w="19050">
            <a:solidFill>
              <a:srgbClr val="FF3300"/>
            </a:solidFill>
            <a:prstDash val="sysDot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3792" name="Line 104"/>
          <p:cNvSpPr>
            <a:spLocks noChangeShapeType="1"/>
          </p:cNvSpPr>
          <p:nvPr/>
        </p:nvSpPr>
        <p:spPr bwMode="auto">
          <a:xfrm>
            <a:off x="5578475" y="5548313"/>
            <a:ext cx="1690688" cy="207962"/>
          </a:xfrm>
          <a:prstGeom prst="line">
            <a:avLst/>
          </a:prstGeom>
          <a:noFill/>
          <a:ln w="19050">
            <a:solidFill>
              <a:srgbClr val="FF3300"/>
            </a:solidFill>
            <a:prstDash val="sysDot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/>
              <a:t>Problem:  Bad News Travels Slowly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571500" indent="-5715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mtClean="0"/>
              <a:t>Remedies</a:t>
            </a:r>
          </a:p>
          <a:p>
            <a:pPr marL="571500" indent="-571500" eaLnBrk="1" hangingPunct="1">
              <a:lnSpc>
                <a:spcPct val="90000"/>
              </a:lnSpc>
            </a:pPr>
            <a:r>
              <a:rPr lang="en-US" smtClean="0"/>
              <a:t>Split Horizon</a:t>
            </a:r>
          </a:p>
          <a:p>
            <a:pPr marL="952500" lvl="1" indent="-495300" eaLnBrk="1" hangingPunct="1">
              <a:lnSpc>
                <a:spcPct val="90000"/>
              </a:lnSpc>
            </a:pPr>
            <a:r>
              <a:rPr lang="en-US" smtClean="0"/>
              <a:t>Do not report route to a destination to the neighbor from which route was learned</a:t>
            </a:r>
          </a:p>
          <a:p>
            <a:pPr marL="571500" indent="-571500" eaLnBrk="1" hangingPunct="1">
              <a:lnSpc>
                <a:spcPct val="90000"/>
              </a:lnSpc>
            </a:pPr>
            <a:r>
              <a:rPr lang="en-US" smtClean="0"/>
              <a:t>Poisoned Reverse</a:t>
            </a:r>
          </a:p>
          <a:p>
            <a:pPr marL="952500" lvl="1" indent="-495300" eaLnBrk="1" hangingPunct="1">
              <a:lnSpc>
                <a:spcPct val="90000"/>
              </a:lnSpc>
            </a:pPr>
            <a:r>
              <a:rPr lang="en-US" smtClean="0"/>
              <a:t>Report route to a destination to the neighbor from which route was learned, but with infinite distance</a:t>
            </a:r>
          </a:p>
          <a:p>
            <a:pPr marL="952500" lvl="1" indent="-495300" eaLnBrk="1" hangingPunct="1">
              <a:lnSpc>
                <a:spcPct val="90000"/>
              </a:lnSpc>
            </a:pPr>
            <a:r>
              <a:rPr lang="en-US" smtClean="0"/>
              <a:t>Breaks erroneous direct loops immediately</a:t>
            </a:r>
          </a:p>
          <a:p>
            <a:pPr marL="952500" lvl="1" indent="-495300" eaLnBrk="1" hangingPunct="1">
              <a:lnSpc>
                <a:spcPct val="90000"/>
              </a:lnSpc>
            </a:pPr>
            <a:r>
              <a:rPr lang="en-US" smtClean="0"/>
              <a:t>Does not work on some indirect loops</a:t>
            </a:r>
          </a:p>
          <a:p>
            <a:pPr marL="952500" lvl="1" indent="-495300" eaLnBrk="1" hangingPunct="1">
              <a:lnSpc>
                <a:spcPct val="90000"/>
              </a:lnSpc>
            </a:pP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778" name="Group 1026"/>
          <p:cNvGrpSpPr>
            <a:grpSpLocks/>
          </p:cNvGrpSpPr>
          <p:nvPr/>
        </p:nvGrpSpPr>
        <p:grpSpPr bwMode="auto">
          <a:xfrm>
            <a:off x="979488" y="1231900"/>
            <a:ext cx="4935537" cy="1335088"/>
            <a:chOff x="1160" y="781"/>
            <a:chExt cx="3109" cy="841"/>
          </a:xfrm>
        </p:grpSpPr>
        <p:sp>
          <p:nvSpPr>
            <p:cNvPr id="75819" name="Oval 1027"/>
            <p:cNvSpPr>
              <a:spLocks noChangeArrowheads="1"/>
            </p:cNvSpPr>
            <p:nvPr/>
          </p:nvSpPr>
          <p:spPr bwMode="auto">
            <a:xfrm>
              <a:off x="3179" y="781"/>
              <a:ext cx="293" cy="241"/>
            </a:xfrm>
            <a:prstGeom prst="ellipse">
              <a:avLst/>
            </a:prstGeom>
            <a:solidFill>
              <a:schemeClr val="accent2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820" name="Rectangle 1028"/>
            <p:cNvSpPr>
              <a:spLocks noChangeArrowheads="1"/>
            </p:cNvSpPr>
            <p:nvPr/>
          </p:nvSpPr>
          <p:spPr bwMode="auto">
            <a:xfrm>
              <a:off x="3286" y="834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3</a:t>
              </a:r>
              <a:endParaRPr lang="en-US" sz="1400"/>
            </a:p>
          </p:txBody>
        </p:sp>
        <p:sp>
          <p:nvSpPr>
            <p:cNvPr id="75821" name="Oval 1029"/>
            <p:cNvSpPr>
              <a:spLocks noChangeArrowheads="1"/>
            </p:cNvSpPr>
            <p:nvPr/>
          </p:nvSpPr>
          <p:spPr bwMode="auto">
            <a:xfrm>
              <a:off x="1585" y="781"/>
              <a:ext cx="294" cy="241"/>
            </a:xfrm>
            <a:prstGeom prst="ellipse">
              <a:avLst/>
            </a:prstGeom>
            <a:solidFill>
              <a:schemeClr val="accent2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822" name="Rectangle 1030"/>
            <p:cNvSpPr>
              <a:spLocks noChangeArrowheads="1"/>
            </p:cNvSpPr>
            <p:nvPr/>
          </p:nvSpPr>
          <p:spPr bwMode="auto">
            <a:xfrm>
              <a:off x="1693" y="834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1</a:t>
              </a:r>
              <a:endParaRPr lang="en-US" sz="1400"/>
            </a:p>
          </p:txBody>
        </p:sp>
        <p:sp>
          <p:nvSpPr>
            <p:cNvPr id="75823" name="Oval 1031"/>
            <p:cNvSpPr>
              <a:spLocks noChangeArrowheads="1"/>
            </p:cNvSpPr>
            <p:nvPr/>
          </p:nvSpPr>
          <p:spPr bwMode="auto">
            <a:xfrm>
              <a:off x="2370" y="781"/>
              <a:ext cx="293" cy="241"/>
            </a:xfrm>
            <a:prstGeom prst="ellipse">
              <a:avLst/>
            </a:prstGeom>
            <a:solidFill>
              <a:schemeClr val="accent2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824" name="Rectangle 1032"/>
            <p:cNvSpPr>
              <a:spLocks noChangeArrowheads="1"/>
            </p:cNvSpPr>
            <p:nvPr/>
          </p:nvSpPr>
          <p:spPr bwMode="auto">
            <a:xfrm>
              <a:off x="2477" y="834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2</a:t>
              </a:r>
              <a:endParaRPr lang="en-US" sz="1400"/>
            </a:p>
          </p:txBody>
        </p:sp>
        <p:sp>
          <p:nvSpPr>
            <p:cNvPr id="75825" name="Oval 1033"/>
            <p:cNvSpPr>
              <a:spLocks noChangeArrowheads="1"/>
            </p:cNvSpPr>
            <p:nvPr/>
          </p:nvSpPr>
          <p:spPr bwMode="auto">
            <a:xfrm>
              <a:off x="3976" y="781"/>
              <a:ext cx="293" cy="241"/>
            </a:xfrm>
            <a:prstGeom prst="ellipse">
              <a:avLst/>
            </a:prstGeom>
            <a:solidFill>
              <a:schemeClr val="accent2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826" name="Rectangle 1034"/>
            <p:cNvSpPr>
              <a:spLocks noChangeArrowheads="1"/>
            </p:cNvSpPr>
            <p:nvPr/>
          </p:nvSpPr>
          <p:spPr bwMode="auto">
            <a:xfrm>
              <a:off x="4083" y="834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4</a:t>
              </a:r>
              <a:endParaRPr lang="en-US" sz="1400"/>
            </a:p>
          </p:txBody>
        </p:sp>
        <p:sp>
          <p:nvSpPr>
            <p:cNvPr id="75827" name="Line 1035"/>
            <p:cNvSpPr>
              <a:spLocks noChangeShapeType="1"/>
            </p:cNvSpPr>
            <p:nvPr/>
          </p:nvSpPr>
          <p:spPr bwMode="auto">
            <a:xfrm>
              <a:off x="1883" y="908"/>
              <a:ext cx="479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5828" name="Line 1036"/>
            <p:cNvSpPr>
              <a:spLocks noChangeShapeType="1"/>
            </p:cNvSpPr>
            <p:nvPr/>
          </p:nvSpPr>
          <p:spPr bwMode="auto">
            <a:xfrm>
              <a:off x="2680" y="908"/>
              <a:ext cx="478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5829" name="Line 1037"/>
            <p:cNvSpPr>
              <a:spLocks noChangeShapeType="1"/>
            </p:cNvSpPr>
            <p:nvPr/>
          </p:nvSpPr>
          <p:spPr bwMode="auto">
            <a:xfrm>
              <a:off x="3488" y="908"/>
              <a:ext cx="479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5830" name="Rectangle 1038"/>
            <p:cNvSpPr>
              <a:spLocks noChangeArrowheads="1"/>
            </p:cNvSpPr>
            <p:nvPr/>
          </p:nvSpPr>
          <p:spPr bwMode="auto">
            <a:xfrm>
              <a:off x="2061" y="942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1</a:t>
              </a:r>
              <a:endParaRPr lang="en-US" sz="1400"/>
            </a:p>
          </p:txBody>
        </p:sp>
        <p:sp>
          <p:nvSpPr>
            <p:cNvPr id="75831" name="Rectangle 1039"/>
            <p:cNvSpPr>
              <a:spLocks noChangeArrowheads="1"/>
            </p:cNvSpPr>
            <p:nvPr/>
          </p:nvSpPr>
          <p:spPr bwMode="auto">
            <a:xfrm>
              <a:off x="2881" y="942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1</a:t>
              </a:r>
              <a:endParaRPr lang="en-US" sz="1400"/>
            </a:p>
          </p:txBody>
        </p:sp>
        <p:sp>
          <p:nvSpPr>
            <p:cNvPr id="75832" name="Rectangle 1040"/>
            <p:cNvSpPr>
              <a:spLocks noChangeArrowheads="1"/>
            </p:cNvSpPr>
            <p:nvPr/>
          </p:nvSpPr>
          <p:spPr bwMode="auto">
            <a:xfrm>
              <a:off x="3714" y="942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1</a:t>
              </a:r>
              <a:endParaRPr lang="en-US" sz="1400"/>
            </a:p>
          </p:txBody>
        </p:sp>
        <p:sp>
          <p:nvSpPr>
            <p:cNvPr id="75833" name="Oval 1041"/>
            <p:cNvSpPr>
              <a:spLocks noChangeArrowheads="1"/>
            </p:cNvSpPr>
            <p:nvPr/>
          </p:nvSpPr>
          <p:spPr bwMode="auto">
            <a:xfrm>
              <a:off x="3172" y="1289"/>
              <a:ext cx="293" cy="241"/>
            </a:xfrm>
            <a:prstGeom prst="ellipse">
              <a:avLst/>
            </a:prstGeom>
            <a:solidFill>
              <a:schemeClr val="accent2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834" name="Rectangle 1042"/>
            <p:cNvSpPr>
              <a:spLocks noChangeArrowheads="1"/>
            </p:cNvSpPr>
            <p:nvPr/>
          </p:nvSpPr>
          <p:spPr bwMode="auto">
            <a:xfrm>
              <a:off x="3279" y="1342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3</a:t>
              </a:r>
              <a:endParaRPr lang="en-US" sz="1400"/>
            </a:p>
          </p:txBody>
        </p:sp>
        <p:sp>
          <p:nvSpPr>
            <p:cNvPr id="75835" name="Oval 1043"/>
            <p:cNvSpPr>
              <a:spLocks noChangeArrowheads="1"/>
            </p:cNvSpPr>
            <p:nvPr/>
          </p:nvSpPr>
          <p:spPr bwMode="auto">
            <a:xfrm>
              <a:off x="1580" y="1289"/>
              <a:ext cx="294" cy="241"/>
            </a:xfrm>
            <a:prstGeom prst="ellipse">
              <a:avLst/>
            </a:prstGeom>
            <a:solidFill>
              <a:schemeClr val="accent2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836" name="Rectangle 1044"/>
            <p:cNvSpPr>
              <a:spLocks noChangeArrowheads="1"/>
            </p:cNvSpPr>
            <p:nvPr/>
          </p:nvSpPr>
          <p:spPr bwMode="auto">
            <a:xfrm>
              <a:off x="1688" y="1342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1</a:t>
              </a:r>
              <a:endParaRPr lang="en-US" sz="1400"/>
            </a:p>
          </p:txBody>
        </p:sp>
        <p:sp>
          <p:nvSpPr>
            <p:cNvPr id="75837" name="Oval 1045"/>
            <p:cNvSpPr>
              <a:spLocks noChangeArrowheads="1"/>
            </p:cNvSpPr>
            <p:nvPr/>
          </p:nvSpPr>
          <p:spPr bwMode="auto">
            <a:xfrm>
              <a:off x="2364" y="1289"/>
              <a:ext cx="293" cy="241"/>
            </a:xfrm>
            <a:prstGeom prst="ellipse">
              <a:avLst/>
            </a:prstGeom>
            <a:solidFill>
              <a:schemeClr val="accent2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838" name="Rectangle 1046"/>
            <p:cNvSpPr>
              <a:spLocks noChangeArrowheads="1"/>
            </p:cNvSpPr>
            <p:nvPr/>
          </p:nvSpPr>
          <p:spPr bwMode="auto">
            <a:xfrm>
              <a:off x="2472" y="1342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2</a:t>
              </a:r>
              <a:endParaRPr lang="en-US" sz="1400"/>
            </a:p>
          </p:txBody>
        </p:sp>
        <p:sp>
          <p:nvSpPr>
            <p:cNvPr id="75839" name="Oval 1047"/>
            <p:cNvSpPr>
              <a:spLocks noChangeArrowheads="1"/>
            </p:cNvSpPr>
            <p:nvPr/>
          </p:nvSpPr>
          <p:spPr bwMode="auto">
            <a:xfrm>
              <a:off x="3967" y="1289"/>
              <a:ext cx="294" cy="241"/>
            </a:xfrm>
            <a:prstGeom prst="ellipse">
              <a:avLst/>
            </a:prstGeom>
            <a:solidFill>
              <a:schemeClr val="accent2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840" name="Rectangle 1048"/>
            <p:cNvSpPr>
              <a:spLocks noChangeArrowheads="1"/>
            </p:cNvSpPr>
            <p:nvPr/>
          </p:nvSpPr>
          <p:spPr bwMode="auto">
            <a:xfrm>
              <a:off x="4074" y="1342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4</a:t>
              </a:r>
              <a:endParaRPr lang="en-US" sz="1400"/>
            </a:p>
          </p:txBody>
        </p:sp>
        <p:sp>
          <p:nvSpPr>
            <p:cNvPr id="75841" name="Line 1049"/>
            <p:cNvSpPr>
              <a:spLocks noChangeShapeType="1"/>
            </p:cNvSpPr>
            <p:nvPr/>
          </p:nvSpPr>
          <p:spPr bwMode="auto">
            <a:xfrm>
              <a:off x="1878" y="1416"/>
              <a:ext cx="478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5842" name="Line 1050"/>
            <p:cNvSpPr>
              <a:spLocks noChangeShapeType="1"/>
            </p:cNvSpPr>
            <p:nvPr/>
          </p:nvSpPr>
          <p:spPr bwMode="auto">
            <a:xfrm>
              <a:off x="2673" y="1416"/>
              <a:ext cx="478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5843" name="Line 1051"/>
            <p:cNvSpPr>
              <a:spLocks noChangeShapeType="1"/>
            </p:cNvSpPr>
            <p:nvPr/>
          </p:nvSpPr>
          <p:spPr bwMode="auto">
            <a:xfrm>
              <a:off x="3481" y="1416"/>
              <a:ext cx="158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5844" name="Rectangle 1052"/>
            <p:cNvSpPr>
              <a:spLocks noChangeArrowheads="1"/>
            </p:cNvSpPr>
            <p:nvPr/>
          </p:nvSpPr>
          <p:spPr bwMode="auto">
            <a:xfrm>
              <a:off x="2055" y="1449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1</a:t>
              </a:r>
              <a:endParaRPr lang="en-US" sz="1400"/>
            </a:p>
          </p:txBody>
        </p:sp>
        <p:sp>
          <p:nvSpPr>
            <p:cNvPr id="75845" name="Rectangle 1053"/>
            <p:cNvSpPr>
              <a:spLocks noChangeArrowheads="1"/>
            </p:cNvSpPr>
            <p:nvPr/>
          </p:nvSpPr>
          <p:spPr bwMode="auto">
            <a:xfrm>
              <a:off x="2876" y="1449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1</a:t>
              </a:r>
              <a:endParaRPr lang="en-US" sz="1400"/>
            </a:p>
          </p:txBody>
        </p:sp>
        <p:sp>
          <p:nvSpPr>
            <p:cNvPr id="75846" name="Rectangle 1054"/>
            <p:cNvSpPr>
              <a:spLocks noChangeArrowheads="1"/>
            </p:cNvSpPr>
            <p:nvPr/>
          </p:nvSpPr>
          <p:spPr bwMode="auto">
            <a:xfrm>
              <a:off x="3683" y="1344"/>
              <a:ext cx="9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X</a:t>
              </a:r>
              <a:endParaRPr lang="en-US" sz="1400"/>
            </a:p>
          </p:txBody>
        </p:sp>
        <p:sp>
          <p:nvSpPr>
            <p:cNvPr id="75847" name="Line 1055"/>
            <p:cNvSpPr>
              <a:spLocks noChangeShapeType="1"/>
            </p:cNvSpPr>
            <p:nvPr/>
          </p:nvSpPr>
          <p:spPr bwMode="auto">
            <a:xfrm>
              <a:off x="3814" y="1416"/>
              <a:ext cx="157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5848" name="Text Box 1056"/>
            <p:cNvSpPr txBox="1">
              <a:spLocks noChangeArrowheads="1"/>
            </p:cNvSpPr>
            <p:nvPr/>
          </p:nvSpPr>
          <p:spPr bwMode="auto">
            <a:xfrm>
              <a:off x="1185" y="823"/>
              <a:ext cx="299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/>
                <a:t>(a)</a:t>
              </a:r>
              <a:endParaRPr lang="en-US" sz="1400"/>
            </a:p>
          </p:txBody>
        </p:sp>
        <p:sp>
          <p:nvSpPr>
            <p:cNvPr id="75849" name="Text Box 1057"/>
            <p:cNvSpPr txBox="1">
              <a:spLocks noChangeArrowheads="1"/>
            </p:cNvSpPr>
            <p:nvPr/>
          </p:nvSpPr>
          <p:spPr bwMode="auto">
            <a:xfrm>
              <a:off x="1160" y="1299"/>
              <a:ext cx="294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/>
                <a:t>(b)</a:t>
              </a:r>
              <a:endParaRPr lang="en-US" sz="1400"/>
            </a:p>
          </p:txBody>
        </p:sp>
      </p:grpSp>
      <p:sp>
        <p:nvSpPr>
          <p:cNvPr id="75779" name="Rectangle 11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500" smtClean="0"/>
              <a:t>Split Horizon with Poison Reverse</a:t>
            </a:r>
          </a:p>
        </p:txBody>
      </p:sp>
      <p:sp>
        <p:nvSpPr>
          <p:cNvPr id="75780" name="Text Box 1111"/>
          <p:cNvSpPr txBox="1">
            <a:spLocks noChangeArrowheads="1"/>
          </p:cNvSpPr>
          <p:nvPr/>
        </p:nvSpPr>
        <p:spPr bwMode="auto">
          <a:xfrm>
            <a:off x="6330950" y="1484313"/>
            <a:ext cx="2474913" cy="10064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buClr>
                <a:schemeClr val="bg1"/>
              </a:buClr>
            </a:pPr>
            <a:r>
              <a:rPr lang="en-US"/>
              <a:t>Nodes believe best path is through each other</a:t>
            </a:r>
          </a:p>
        </p:txBody>
      </p:sp>
      <p:graphicFrame>
        <p:nvGraphicFramePr>
          <p:cNvPr id="1252667" name="Group 1339"/>
          <p:cNvGraphicFramePr>
            <a:graphicFrameLocks noGrp="1"/>
          </p:cNvGraphicFramePr>
          <p:nvPr/>
        </p:nvGraphicFramePr>
        <p:xfrm>
          <a:off x="473075" y="3252788"/>
          <a:ext cx="8497888" cy="2911475"/>
        </p:xfrm>
        <a:graphic>
          <a:graphicData uri="http://schemas.openxmlformats.org/drawingml/2006/table">
            <a:tbl>
              <a:tblPr/>
              <a:tblGrid>
                <a:gridCol w="1873250"/>
                <a:gridCol w="1120775"/>
                <a:gridCol w="1087438"/>
                <a:gridCol w="1165225"/>
                <a:gridCol w="3251200"/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Update</a:t>
                      </a:r>
                      <a:endParaRPr kumimoji="0" 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1</a:t>
                      </a:r>
                      <a:endParaRPr kumimoji="0" 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2</a:t>
                      </a:r>
                      <a:endParaRPr kumimoji="0" 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Node 3</a:t>
                      </a:r>
                      <a:endParaRPr kumimoji="0" 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Before break</a:t>
                      </a:r>
                      <a:endParaRPr kumimoji="0" 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(2, 3)</a:t>
                      </a:r>
                      <a:endParaRPr kumimoji="0" 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(3, 2)</a:t>
                      </a:r>
                      <a:endParaRPr kumimoji="0" 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(4, 1)</a:t>
                      </a:r>
                      <a:endParaRPr kumimoji="0" 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After break</a:t>
                      </a:r>
                      <a:endParaRPr kumimoji="0" 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(2, 3)</a:t>
                      </a:r>
                      <a:endParaRPr kumimoji="0" 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(3, 2)</a:t>
                      </a:r>
                      <a:endParaRPr kumimoji="0" 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Node 2 advertizes its route to 4 to node 3 as having distance infinity;  node 3 finds there is no route to 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</a:t>
                      </a:r>
                      <a:endParaRPr kumimoji="0" 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(2, 3)</a:t>
                      </a:r>
                      <a:endParaRPr kumimoji="0" 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Node 1 advertizes its route to 4 to node 2 as having distance infinity;  node 2 finds there is no route to 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</a:t>
                      </a:r>
                      <a:endParaRPr kumimoji="0" 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(-1, 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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Node 1 finds there is no route to 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5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Link-State Algorithm</a:t>
            </a:r>
          </a:p>
        </p:txBody>
      </p:sp>
      <p:sp>
        <p:nvSpPr>
          <p:cNvPr id="76803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600" smtClean="0"/>
              <a:t>Basic idea: two step procedure</a:t>
            </a:r>
            <a:endParaRPr lang="en-US" smtClean="0"/>
          </a:p>
          <a:p>
            <a:pPr lvl="1" eaLnBrk="1" hangingPunct="1"/>
            <a:r>
              <a:rPr lang="en-US" sz="2200" smtClean="0"/>
              <a:t>Each source node gets a map of all nodes and link metrics (link state) of the entire network </a:t>
            </a:r>
          </a:p>
          <a:p>
            <a:pPr lvl="1" eaLnBrk="1" hangingPunct="1"/>
            <a:r>
              <a:rPr lang="en-US" sz="2200" smtClean="0"/>
              <a:t>Find the shortest path on the map from the source node to all destination nodes</a:t>
            </a:r>
          </a:p>
          <a:p>
            <a:pPr eaLnBrk="1" hangingPunct="1"/>
            <a:r>
              <a:rPr lang="en-US" sz="2600" smtClean="0"/>
              <a:t>Broadcast of link-state information</a:t>
            </a:r>
          </a:p>
          <a:p>
            <a:pPr lvl="1" eaLnBrk="1" hangingPunct="1"/>
            <a:r>
              <a:rPr lang="en-US" sz="2200" smtClean="0"/>
              <a:t>Every node </a:t>
            </a:r>
            <a:r>
              <a:rPr lang="en-US" sz="2200" i="1" smtClean="0"/>
              <a:t>i</a:t>
            </a:r>
            <a:r>
              <a:rPr lang="en-US" sz="2200" smtClean="0"/>
              <a:t> in the network broadcasts to every other node in the network:</a:t>
            </a:r>
          </a:p>
          <a:p>
            <a:pPr lvl="2" eaLnBrk="1" hangingPunct="1"/>
            <a:r>
              <a:rPr lang="en-US" sz="2700" smtClean="0"/>
              <a:t>ID’s of its neighbors:  </a:t>
            </a:r>
            <a:r>
              <a:rPr lang="en-US" sz="2700" smtClean="0">
                <a:latin typeface="Monotype Corsiva" pitchFamily="66" charset="0"/>
              </a:rPr>
              <a:t>N</a:t>
            </a:r>
            <a:r>
              <a:rPr lang="en-US" sz="2700" baseline="-25000" smtClean="0"/>
              <a:t>i</a:t>
            </a:r>
            <a:r>
              <a:rPr lang="en-US" sz="2700" smtClean="0"/>
              <a:t>=set of neighbors of i</a:t>
            </a:r>
          </a:p>
          <a:p>
            <a:pPr lvl="2" eaLnBrk="1" hangingPunct="1"/>
            <a:r>
              <a:rPr lang="en-US" sz="2700" smtClean="0"/>
              <a:t>Distances to its neighbors:  </a:t>
            </a:r>
            <a:r>
              <a:rPr lang="en-US" sz="2500" smtClean="0"/>
              <a:t>{</a:t>
            </a:r>
            <a:r>
              <a:rPr lang="en-US" sz="2500" i="1" smtClean="0"/>
              <a:t>C</a:t>
            </a:r>
            <a:r>
              <a:rPr lang="en-US" sz="2500" i="1" baseline="-25000" smtClean="0"/>
              <a:t>ij</a:t>
            </a:r>
            <a:r>
              <a:rPr lang="en-US" sz="2500" smtClean="0"/>
              <a:t> | </a:t>
            </a:r>
            <a:r>
              <a:rPr lang="en-US" sz="2500" i="1" smtClean="0"/>
              <a:t>j </a:t>
            </a:r>
            <a:r>
              <a:rPr lang="en-US" sz="2500" smtClean="0">
                <a:sym typeface="Symbol" pitchFamily="18" charset="2"/>
              </a:rPr>
              <a:t></a:t>
            </a:r>
            <a:r>
              <a:rPr lang="en-US" sz="2500" i="1" smtClean="0">
                <a:sym typeface="Symbol" pitchFamily="18" charset="2"/>
              </a:rPr>
              <a:t>N</a:t>
            </a:r>
            <a:r>
              <a:rPr lang="en-US" sz="2500" i="1" baseline="-25000" smtClean="0">
                <a:sym typeface="Symbol" pitchFamily="18" charset="2"/>
              </a:rPr>
              <a:t>i</a:t>
            </a:r>
            <a:r>
              <a:rPr lang="en-US" sz="2500" smtClean="0">
                <a:sym typeface="Symbol" pitchFamily="18" charset="2"/>
              </a:rPr>
              <a:t>}</a:t>
            </a:r>
          </a:p>
          <a:p>
            <a:pPr lvl="1" eaLnBrk="1" hangingPunct="1"/>
            <a:r>
              <a:rPr lang="en-US" sz="2200" smtClean="0">
                <a:sym typeface="Symbol" pitchFamily="18" charset="2"/>
              </a:rPr>
              <a:t>Flooding is a popular method of broadcasting packets</a:t>
            </a:r>
          </a:p>
          <a:p>
            <a:pPr eaLnBrk="1" hangingPunct="1">
              <a:buFont typeface="Wingdings" pitchFamily="2" charset="2"/>
              <a:buNone/>
            </a:pPr>
            <a:endParaRPr lang="en-US" sz="26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500" smtClean="0"/>
              <a:t>Dijkstra Algorithm:  Finding shortest paths in order</a:t>
            </a:r>
          </a:p>
        </p:txBody>
      </p:sp>
      <p:grpSp>
        <p:nvGrpSpPr>
          <p:cNvPr id="77827" name="Group 1027"/>
          <p:cNvGrpSpPr>
            <a:grpSpLocks/>
          </p:cNvGrpSpPr>
          <p:nvPr/>
        </p:nvGrpSpPr>
        <p:grpSpPr bwMode="auto">
          <a:xfrm>
            <a:off x="803275" y="4808538"/>
            <a:ext cx="914400" cy="838200"/>
            <a:chOff x="576" y="2256"/>
            <a:chExt cx="576" cy="528"/>
          </a:xfrm>
        </p:grpSpPr>
        <p:sp>
          <p:nvSpPr>
            <p:cNvPr id="77870" name="Oval 1028"/>
            <p:cNvSpPr>
              <a:spLocks noChangeArrowheads="1"/>
            </p:cNvSpPr>
            <p:nvPr/>
          </p:nvSpPr>
          <p:spPr bwMode="auto">
            <a:xfrm>
              <a:off x="576" y="2256"/>
              <a:ext cx="576" cy="528"/>
            </a:xfrm>
            <a:prstGeom prst="ellipse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71" name="Text Box 1029"/>
            <p:cNvSpPr txBox="1">
              <a:spLocks noChangeArrowheads="1"/>
            </p:cNvSpPr>
            <p:nvPr/>
          </p:nvSpPr>
          <p:spPr bwMode="auto">
            <a:xfrm>
              <a:off x="720" y="2283"/>
              <a:ext cx="298" cy="404"/>
            </a:xfrm>
            <a:prstGeom prst="rect">
              <a:avLst/>
            </a:prstGeom>
            <a:solidFill>
              <a:srgbClr val="00CC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  <a:buSzTx/>
                <a:buFontTx/>
                <a:buNone/>
              </a:pPr>
              <a:r>
                <a:rPr lang="en-US" sz="3600" b="1" i="1">
                  <a:latin typeface="Monotype Corsiva" pitchFamily="66" charset="0"/>
                  <a:ea typeface="MS Mincho" pitchFamily="49" charset="-128"/>
                </a:rPr>
                <a:t>s</a:t>
              </a:r>
            </a:p>
          </p:txBody>
        </p:sp>
      </p:grpSp>
      <p:grpSp>
        <p:nvGrpSpPr>
          <p:cNvPr id="77828" name="Group 1030"/>
          <p:cNvGrpSpPr>
            <a:grpSpLocks/>
          </p:cNvGrpSpPr>
          <p:nvPr/>
        </p:nvGrpSpPr>
        <p:grpSpPr bwMode="auto">
          <a:xfrm>
            <a:off x="2555875" y="3894138"/>
            <a:ext cx="914400" cy="838200"/>
            <a:chOff x="1920" y="2016"/>
            <a:chExt cx="576" cy="528"/>
          </a:xfrm>
        </p:grpSpPr>
        <p:sp>
          <p:nvSpPr>
            <p:cNvPr id="77868" name="Oval 1031"/>
            <p:cNvSpPr>
              <a:spLocks noChangeArrowheads="1"/>
            </p:cNvSpPr>
            <p:nvPr/>
          </p:nvSpPr>
          <p:spPr bwMode="auto">
            <a:xfrm>
              <a:off x="1920" y="2016"/>
              <a:ext cx="576" cy="52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69" name="Text Box 1032"/>
            <p:cNvSpPr txBox="1">
              <a:spLocks noChangeArrowheads="1"/>
            </p:cNvSpPr>
            <p:nvPr/>
          </p:nvSpPr>
          <p:spPr bwMode="auto">
            <a:xfrm>
              <a:off x="2054" y="2043"/>
              <a:ext cx="298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  <a:buSzTx/>
                <a:buFontTx/>
                <a:buNone/>
              </a:pPr>
              <a:r>
                <a:rPr lang="en-US" sz="3600" b="1" i="1">
                  <a:latin typeface="Monotype Corsiva" pitchFamily="66" charset="0"/>
                  <a:ea typeface="MS Mincho" pitchFamily="49" charset="-128"/>
                </a:rPr>
                <a:t>w</a:t>
              </a:r>
            </a:p>
          </p:txBody>
        </p:sp>
      </p:grpSp>
      <p:sp>
        <p:nvSpPr>
          <p:cNvPr id="77829" name="Line 1033"/>
          <p:cNvSpPr>
            <a:spLocks noChangeShapeType="1"/>
          </p:cNvSpPr>
          <p:nvPr/>
        </p:nvSpPr>
        <p:spPr bwMode="auto">
          <a:xfrm>
            <a:off x="1717675" y="5341938"/>
            <a:ext cx="14478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77830" name="Group 1034"/>
          <p:cNvGrpSpPr>
            <a:grpSpLocks/>
          </p:cNvGrpSpPr>
          <p:nvPr/>
        </p:nvGrpSpPr>
        <p:grpSpPr bwMode="auto">
          <a:xfrm>
            <a:off x="3165475" y="5265738"/>
            <a:ext cx="914400" cy="838200"/>
            <a:chOff x="1968" y="3264"/>
            <a:chExt cx="576" cy="528"/>
          </a:xfrm>
        </p:grpSpPr>
        <p:sp>
          <p:nvSpPr>
            <p:cNvPr id="77866" name="Oval 1035"/>
            <p:cNvSpPr>
              <a:spLocks noChangeArrowheads="1"/>
            </p:cNvSpPr>
            <p:nvPr/>
          </p:nvSpPr>
          <p:spPr bwMode="auto">
            <a:xfrm>
              <a:off x="1968" y="3264"/>
              <a:ext cx="576" cy="52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67" name="Text Box 1036"/>
            <p:cNvSpPr txBox="1">
              <a:spLocks noChangeArrowheads="1"/>
            </p:cNvSpPr>
            <p:nvPr/>
          </p:nvSpPr>
          <p:spPr bwMode="auto">
            <a:xfrm>
              <a:off x="2064" y="3291"/>
              <a:ext cx="43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  <a:buSzTx/>
                <a:buFontTx/>
                <a:buNone/>
              </a:pPr>
              <a:r>
                <a:rPr lang="en-US" sz="3600" b="1" i="1">
                  <a:latin typeface="Monotype Corsiva" pitchFamily="66" charset="0"/>
                  <a:ea typeface="MS Mincho" pitchFamily="49" charset="-128"/>
                </a:rPr>
                <a:t>w"</a:t>
              </a:r>
            </a:p>
          </p:txBody>
        </p:sp>
      </p:grpSp>
      <p:grpSp>
        <p:nvGrpSpPr>
          <p:cNvPr id="77831" name="Group 1037"/>
          <p:cNvGrpSpPr>
            <a:grpSpLocks/>
          </p:cNvGrpSpPr>
          <p:nvPr/>
        </p:nvGrpSpPr>
        <p:grpSpPr bwMode="auto">
          <a:xfrm>
            <a:off x="1412875" y="2827338"/>
            <a:ext cx="914400" cy="838200"/>
            <a:chOff x="1056" y="1728"/>
            <a:chExt cx="576" cy="528"/>
          </a:xfrm>
        </p:grpSpPr>
        <p:sp>
          <p:nvSpPr>
            <p:cNvPr id="77864" name="Oval 1038"/>
            <p:cNvSpPr>
              <a:spLocks noChangeArrowheads="1"/>
            </p:cNvSpPr>
            <p:nvPr/>
          </p:nvSpPr>
          <p:spPr bwMode="auto">
            <a:xfrm>
              <a:off x="1056" y="1728"/>
              <a:ext cx="576" cy="52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65" name="Text Box 1039"/>
            <p:cNvSpPr txBox="1">
              <a:spLocks noChangeArrowheads="1"/>
            </p:cNvSpPr>
            <p:nvPr/>
          </p:nvSpPr>
          <p:spPr bwMode="auto">
            <a:xfrm>
              <a:off x="1152" y="1755"/>
              <a:ext cx="394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  <a:buSzTx/>
                <a:buFontTx/>
                <a:buNone/>
              </a:pPr>
              <a:r>
                <a:rPr lang="en-US" sz="3600" b="1" i="1">
                  <a:latin typeface="Monotype Corsiva" pitchFamily="66" charset="0"/>
                  <a:ea typeface="MS Mincho" pitchFamily="49" charset="-128"/>
                </a:rPr>
                <a:t>w'</a:t>
              </a:r>
            </a:p>
          </p:txBody>
        </p:sp>
      </p:grpSp>
      <p:sp>
        <p:nvSpPr>
          <p:cNvPr id="77832" name="Line 1040"/>
          <p:cNvSpPr>
            <a:spLocks noChangeShapeType="1"/>
          </p:cNvSpPr>
          <p:nvPr/>
        </p:nvSpPr>
        <p:spPr bwMode="auto">
          <a:xfrm flipV="1">
            <a:off x="1412875" y="3665538"/>
            <a:ext cx="381000" cy="1143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7833" name="Line 1041"/>
          <p:cNvSpPr>
            <a:spLocks noChangeShapeType="1"/>
          </p:cNvSpPr>
          <p:nvPr/>
        </p:nvSpPr>
        <p:spPr bwMode="auto">
          <a:xfrm flipV="1">
            <a:off x="1641475" y="4503738"/>
            <a:ext cx="9906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7834" name="Text Box 1042"/>
          <p:cNvSpPr txBox="1">
            <a:spLocks noChangeArrowheads="1"/>
          </p:cNvSpPr>
          <p:nvPr/>
        </p:nvSpPr>
        <p:spPr bwMode="auto">
          <a:xfrm>
            <a:off x="4154488" y="1438275"/>
            <a:ext cx="4433887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SzTx/>
              <a:buFontTx/>
              <a:buNone/>
            </a:pPr>
            <a:r>
              <a:rPr lang="en-US" sz="2400"/>
              <a:t>Closest node to </a:t>
            </a:r>
            <a:r>
              <a:rPr lang="en-US" sz="2400">
                <a:latin typeface="Monotype Corsiva" pitchFamily="66" charset="0"/>
              </a:rPr>
              <a:t>s</a:t>
            </a:r>
            <a:r>
              <a:rPr lang="en-US" sz="2400"/>
              <a:t> is 1 hop away</a:t>
            </a:r>
          </a:p>
        </p:txBody>
      </p:sp>
      <p:grpSp>
        <p:nvGrpSpPr>
          <p:cNvPr id="6" name="Group 1043"/>
          <p:cNvGrpSpPr>
            <a:grpSpLocks/>
          </p:cNvGrpSpPr>
          <p:nvPr/>
        </p:nvGrpSpPr>
        <p:grpSpPr bwMode="auto">
          <a:xfrm>
            <a:off x="3165475" y="5265738"/>
            <a:ext cx="914400" cy="838200"/>
            <a:chOff x="1968" y="3264"/>
            <a:chExt cx="576" cy="528"/>
          </a:xfrm>
        </p:grpSpPr>
        <p:sp>
          <p:nvSpPr>
            <p:cNvPr id="77862" name="Oval 1044"/>
            <p:cNvSpPr>
              <a:spLocks noChangeArrowheads="1"/>
            </p:cNvSpPr>
            <p:nvPr/>
          </p:nvSpPr>
          <p:spPr bwMode="auto">
            <a:xfrm>
              <a:off x="1968" y="3264"/>
              <a:ext cx="576" cy="528"/>
            </a:xfrm>
            <a:prstGeom prst="ellipse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63" name="Text Box 1045"/>
            <p:cNvSpPr txBox="1">
              <a:spLocks noChangeArrowheads="1"/>
            </p:cNvSpPr>
            <p:nvPr/>
          </p:nvSpPr>
          <p:spPr bwMode="auto">
            <a:xfrm>
              <a:off x="2064" y="3291"/>
              <a:ext cx="43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  <a:buSzTx/>
                <a:buFontTx/>
                <a:buNone/>
              </a:pPr>
              <a:r>
                <a:rPr lang="en-US" sz="3600" b="1" i="1">
                  <a:latin typeface="Monotype Corsiva" pitchFamily="66" charset="0"/>
                  <a:ea typeface="MS Mincho" pitchFamily="49" charset="-128"/>
                </a:rPr>
                <a:t>w"</a:t>
              </a:r>
            </a:p>
          </p:txBody>
        </p:sp>
      </p:grpSp>
      <p:grpSp>
        <p:nvGrpSpPr>
          <p:cNvPr id="7" name="Group 1046"/>
          <p:cNvGrpSpPr>
            <a:grpSpLocks/>
          </p:cNvGrpSpPr>
          <p:nvPr/>
        </p:nvGrpSpPr>
        <p:grpSpPr bwMode="auto">
          <a:xfrm>
            <a:off x="4460875" y="4275138"/>
            <a:ext cx="914400" cy="838200"/>
            <a:chOff x="1920" y="2016"/>
            <a:chExt cx="576" cy="528"/>
          </a:xfrm>
        </p:grpSpPr>
        <p:sp>
          <p:nvSpPr>
            <p:cNvPr id="77860" name="Oval 1047"/>
            <p:cNvSpPr>
              <a:spLocks noChangeArrowheads="1"/>
            </p:cNvSpPr>
            <p:nvPr/>
          </p:nvSpPr>
          <p:spPr bwMode="auto">
            <a:xfrm>
              <a:off x="1920" y="2016"/>
              <a:ext cx="576" cy="52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61" name="Text Box 1048"/>
            <p:cNvSpPr txBox="1">
              <a:spLocks noChangeArrowheads="1"/>
            </p:cNvSpPr>
            <p:nvPr/>
          </p:nvSpPr>
          <p:spPr bwMode="auto">
            <a:xfrm>
              <a:off x="2054" y="2043"/>
              <a:ext cx="298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  <a:buSzTx/>
                <a:buFontTx/>
                <a:buNone/>
              </a:pPr>
              <a:r>
                <a:rPr lang="en-US" sz="3600" b="1" i="1">
                  <a:latin typeface="Monotype Corsiva" pitchFamily="66" charset="0"/>
                  <a:ea typeface="MS Mincho" pitchFamily="49" charset="-128"/>
                </a:rPr>
                <a:t>x</a:t>
              </a:r>
            </a:p>
          </p:txBody>
        </p:sp>
      </p:grpSp>
      <p:grpSp>
        <p:nvGrpSpPr>
          <p:cNvPr id="8" name="Group 1049"/>
          <p:cNvGrpSpPr>
            <a:grpSpLocks/>
          </p:cNvGrpSpPr>
          <p:nvPr/>
        </p:nvGrpSpPr>
        <p:grpSpPr bwMode="auto">
          <a:xfrm>
            <a:off x="5070475" y="5722938"/>
            <a:ext cx="914400" cy="838200"/>
            <a:chOff x="1056" y="1728"/>
            <a:chExt cx="576" cy="528"/>
          </a:xfrm>
        </p:grpSpPr>
        <p:sp>
          <p:nvSpPr>
            <p:cNvPr id="77858" name="Oval 1050"/>
            <p:cNvSpPr>
              <a:spLocks noChangeArrowheads="1"/>
            </p:cNvSpPr>
            <p:nvPr/>
          </p:nvSpPr>
          <p:spPr bwMode="auto">
            <a:xfrm>
              <a:off x="1056" y="1728"/>
              <a:ext cx="576" cy="52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59" name="Text Box 1051"/>
            <p:cNvSpPr txBox="1">
              <a:spLocks noChangeArrowheads="1"/>
            </p:cNvSpPr>
            <p:nvPr/>
          </p:nvSpPr>
          <p:spPr bwMode="auto">
            <a:xfrm>
              <a:off x="1152" y="1755"/>
              <a:ext cx="394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  <a:buSzTx/>
                <a:buFontTx/>
                <a:buNone/>
              </a:pPr>
              <a:r>
                <a:rPr lang="en-US" sz="3600" b="1" i="1">
                  <a:latin typeface="Monotype Corsiva" pitchFamily="66" charset="0"/>
                  <a:ea typeface="MS Mincho" pitchFamily="49" charset="-128"/>
                </a:rPr>
                <a:t>x'</a:t>
              </a:r>
            </a:p>
          </p:txBody>
        </p:sp>
      </p:grpSp>
      <p:sp>
        <p:nvSpPr>
          <p:cNvPr id="1253404" name="Line 1052"/>
          <p:cNvSpPr>
            <a:spLocks noChangeShapeType="1"/>
          </p:cNvSpPr>
          <p:nvPr/>
        </p:nvSpPr>
        <p:spPr bwMode="auto">
          <a:xfrm flipV="1">
            <a:off x="3927475" y="4960938"/>
            <a:ext cx="6096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253405" name="Line 1053"/>
          <p:cNvSpPr>
            <a:spLocks noChangeShapeType="1"/>
          </p:cNvSpPr>
          <p:nvPr/>
        </p:nvSpPr>
        <p:spPr bwMode="auto">
          <a:xfrm>
            <a:off x="4079875" y="5799138"/>
            <a:ext cx="9906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253406" name="Text Box 1054"/>
          <p:cNvSpPr txBox="1">
            <a:spLocks noChangeArrowheads="1"/>
          </p:cNvSpPr>
          <p:nvPr/>
        </p:nvSpPr>
        <p:spPr bwMode="auto">
          <a:xfrm>
            <a:off x="4446588" y="1895475"/>
            <a:ext cx="4132262" cy="822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SzTx/>
              <a:buFontTx/>
              <a:buNone/>
            </a:pPr>
            <a:r>
              <a:rPr lang="en-US" sz="2400"/>
              <a:t>2</a:t>
            </a:r>
            <a:r>
              <a:rPr lang="en-US" sz="2400" baseline="30000"/>
              <a:t>nd</a:t>
            </a:r>
            <a:r>
              <a:rPr lang="en-US" sz="2400"/>
              <a:t> closest node to </a:t>
            </a:r>
            <a:r>
              <a:rPr lang="en-US" sz="2400">
                <a:latin typeface="Monotype Corsiva" pitchFamily="66" charset="0"/>
              </a:rPr>
              <a:t>s</a:t>
            </a:r>
            <a:r>
              <a:rPr lang="en-US" sz="2400"/>
              <a:t> is 1 hop 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sz="2400"/>
              <a:t>away from </a:t>
            </a:r>
            <a:r>
              <a:rPr lang="en-US" sz="2400">
                <a:latin typeface="Monotype Corsiva" pitchFamily="66" charset="0"/>
              </a:rPr>
              <a:t>s</a:t>
            </a:r>
            <a:r>
              <a:rPr lang="en-US" sz="2400"/>
              <a:t> or </a:t>
            </a:r>
            <a:r>
              <a:rPr lang="en-US" sz="2400">
                <a:latin typeface="Monotype Corsiva" pitchFamily="66" charset="0"/>
              </a:rPr>
              <a:t>w”</a:t>
            </a:r>
          </a:p>
        </p:txBody>
      </p:sp>
      <p:grpSp>
        <p:nvGrpSpPr>
          <p:cNvPr id="9" name="Group 1055"/>
          <p:cNvGrpSpPr>
            <a:grpSpLocks/>
          </p:cNvGrpSpPr>
          <p:nvPr/>
        </p:nvGrpSpPr>
        <p:grpSpPr bwMode="auto">
          <a:xfrm>
            <a:off x="4460875" y="4275138"/>
            <a:ext cx="914400" cy="838200"/>
            <a:chOff x="1920" y="2016"/>
            <a:chExt cx="576" cy="528"/>
          </a:xfrm>
        </p:grpSpPr>
        <p:sp>
          <p:nvSpPr>
            <p:cNvPr id="77856" name="Oval 1056"/>
            <p:cNvSpPr>
              <a:spLocks noChangeArrowheads="1"/>
            </p:cNvSpPr>
            <p:nvPr/>
          </p:nvSpPr>
          <p:spPr bwMode="auto">
            <a:xfrm>
              <a:off x="1920" y="2016"/>
              <a:ext cx="576" cy="528"/>
            </a:xfrm>
            <a:prstGeom prst="ellipse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57" name="Text Box 1057"/>
            <p:cNvSpPr txBox="1">
              <a:spLocks noChangeArrowheads="1"/>
            </p:cNvSpPr>
            <p:nvPr/>
          </p:nvSpPr>
          <p:spPr bwMode="auto">
            <a:xfrm>
              <a:off x="2054" y="2043"/>
              <a:ext cx="298" cy="404"/>
            </a:xfrm>
            <a:prstGeom prst="rect">
              <a:avLst/>
            </a:prstGeom>
            <a:solidFill>
              <a:srgbClr val="00CC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  <a:buSzTx/>
                <a:buFontTx/>
                <a:buNone/>
              </a:pPr>
              <a:r>
                <a:rPr lang="en-US" sz="3600" b="1" i="1">
                  <a:latin typeface="Monotype Corsiva" pitchFamily="66" charset="0"/>
                  <a:ea typeface="MS Mincho" pitchFamily="49" charset="-128"/>
                </a:rPr>
                <a:t>x</a:t>
              </a:r>
            </a:p>
          </p:txBody>
        </p:sp>
      </p:grpSp>
      <p:grpSp>
        <p:nvGrpSpPr>
          <p:cNvPr id="10" name="Group 1058"/>
          <p:cNvGrpSpPr>
            <a:grpSpLocks/>
          </p:cNvGrpSpPr>
          <p:nvPr/>
        </p:nvGrpSpPr>
        <p:grpSpPr bwMode="auto">
          <a:xfrm>
            <a:off x="5832475" y="3665538"/>
            <a:ext cx="914400" cy="838200"/>
            <a:chOff x="1920" y="2016"/>
            <a:chExt cx="576" cy="528"/>
          </a:xfrm>
        </p:grpSpPr>
        <p:sp>
          <p:nvSpPr>
            <p:cNvPr id="77854" name="Oval 1059"/>
            <p:cNvSpPr>
              <a:spLocks noChangeArrowheads="1"/>
            </p:cNvSpPr>
            <p:nvPr/>
          </p:nvSpPr>
          <p:spPr bwMode="auto">
            <a:xfrm>
              <a:off x="1920" y="2016"/>
              <a:ext cx="576" cy="52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55" name="Text Box 1060"/>
            <p:cNvSpPr txBox="1">
              <a:spLocks noChangeArrowheads="1"/>
            </p:cNvSpPr>
            <p:nvPr/>
          </p:nvSpPr>
          <p:spPr bwMode="auto">
            <a:xfrm>
              <a:off x="2054" y="2043"/>
              <a:ext cx="298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  <a:buSzTx/>
                <a:buFontTx/>
                <a:buNone/>
              </a:pPr>
              <a:r>
                <a:rPr lang="en-US" sz="3600" b="1" i="1">
                  <a:latin typeface="Monotype Corsiva" pitchFamily="66" charset="0"/>
                  <a:ea typeface="MS Mincho" pitchFamily="49" charset="-128"/>
                </a:rPr>
                <a:t>z</a:t>
              </a:r>
            </a:p>
          </p:txBody>
        </p:sp>
      </p:grpSp>
      <p:grpSp>
        <p:nvGrpSpPr>
          <p:cNvPr id="11" name="Group 1061"/>
          <p:cNvGrpSpPr>
            <a:grpSpLocks/>
          </p:cNvGrpSpPr>
          <p:nvPr/>
        </p:nvGrpSpPr>
        <p:grpSpPr bwMode="auto">
          <a:xfrm>
            <a:off x="6289675" y="4884738"/>
            <a:ext cx="914400" cy="838200"/>
            <a:chOff x="1056" y="1728"/>
            <a:chExt cx="576" cy="528"/>
          </a:xfrm>
        </p:grpSpPr>
        <p:sp>
          <p:nvSpPr>
            <p:cNvPr id="77852" name="Oval 1062"/>
            <p:cNvSpPr>
              <a:spLocks noChangeArrowheads="1"/>
            </p:cNvSpPr>
            <p:nvPr/>
          </p:nvSpPr>
          <p:spPr bwMode="auto">
            <a:xfrm>
              <a:off x="1056" y="1728"/>
              <a:ext cx="576" cy="52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53" name="Text Box 1063"/>
            <p:cNvSpPr txBox="1">
              <a:spLocks noChangeArrowheads="1"/>
            </p:cNvSpPr>
            <p:nvPr/>
          </p:nvSpPr>
          <p:spPr bwMode="auto">
            <a:xfrm>
              <a:off x="1152" y="1755"/>
              <a:ext cx="394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  <a:buSzTx/>
                <a:buFontTx/>
                <a:buNone/>
              </a:pPr>
              <a:r>
                <a:rPr lang="en-US" sz="3600" b="1" i="1">
                  <a:latin typeface="Monotype Corsiva" pitchFamily="66" charset="0"/>
                  <a:ea typeface="MS Mincho" pitchFamily="49" charset="-128"/>
                </a:rPr>
                <a:t>z'</a:t>
              </a:r>
            </a:p>
          </p:txBody>
        </p:sp>
      </p:grpSp>
      <p:sp>
        <p:nvSpPr>
          <p:cNvPr id="1253416" name="Line 1064"/>
          <p:cNvSpPr>
            <a:spLocks noChangeShapeType="1"/>
          </p:cNvSpPr>
          <p:nvPr/>
        </p:nvSpPr>
        <p:spPr bwMode="auto">
          <a:xfrm flipV="1">
            <a:off x="5375275" y="4275138"/>
            <a:ext cx="53340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253417" name="Line 1065"/>
          <p:cNvSpPr>
            <a:spLocks noChangeShapeType="1"/>
          </p:cNvSpPr>
          <p:nvPr/>
        </p:nvSpPr>
        <p:spPr bwMode="auto">
          <a:xfrm>
            <a:off x="5299075" y="4960938"/>
            <a:ext cx="9906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253418" name="Text Box 1066"/>
          <p:cNvSpPr txBox="1">
            <a:spLocks noChangeArrowheads="1"/>
          </p:cNvSpPr>
          <p:nvPr/>
        </p:nvSpPr>
        <p:spPr bwMode="auto">
          <a:xfrm>
            <a:off x="4375150" y="2686050"/>
            <a:ext cx="4178300" cy="822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SzTx/>
              <a:buFontTx/>
              <a:buNone/>
            </a:pPr>
            <a:r>
              <a:rPr lang="en-US" sz="2400"/>
              <a:t>3rd closest node to </a:t>
            </a:r>
            <a:r>
              <a:rPr lang="en-US" sz="2400">
                <a:latin typeface="Monotype Corsiva" pitchFamily="66" charset="0"/>
              </a:rPr>
              <a:t>s</a:t>
            </a:r>
            <a:r>
              <a:rPr lang="en-US" sz="2400"/>
              <a:t> is 1 hop 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sz="2400"/>
              <a:t>away from </a:t>
            </a:r>
            <a:r>
              <a:rPr lang="en-US" sz="2400">
                <a:latin typeface="Monotype Corsiva" pitchFamily="66" charset="0"/>
              </a:rPr>
              <a:t>s</a:t>
            </a:r>
            <a:r>
              <a:rPr lang="en-US" sz="2400"/>
              <a:t>, </a:t>
            </a:r>
            <a:r>
              <a:rPr lang="en-US" sz="2400">
                <a:latin typeface="Monotype Corsiva" pitchFamily="66" charset="0"/>
              </a:rPr>
              <a:t>w”, </a:t>
            </a:r>
            <a:r>
              <a:rPr lang="en-US" sz="2400"/>
              <a:t>or</a:t>
            </a:r>
            <a:r>
              <a:rPr lang="en-US" sz="2400">
                <a:latin typeface="Monotype Corsiva" pitchFamily="66" charset="0"/>
              </a:rPr>
              <a:t> x</a:t>
            </a:r>
          </a:p>
        </p:txBody>
      </p:sp>
      <p:grpSp>
        <p:nvGrpSpPr>
          <p:cNvPr id="12" name="Group 1067"/>
          <p:cNvGrpSpPr>
            <a:grpSpLocks/>
          </p:cNvGrpSpPr>
          <p:nvPr/>
        </p:nvGrpSpPr>
        <p:grpSpPr bwMode="auto">
          <a:xfrm>
            <a:off x="1412875" y="2827338"/>
            <a:ext cx="914400" cy="838200"/>
            <a:chOff x="1056" y="1728"/>
            <a:chExt cx="576" cy="528"/>
          </a:xfrm>
        </p:grpSpPr>
        <p:sp>
          <p:nvSpPr>
            <p:cNvPr id="77850" name="Oval 1068"/>
            <p:cNvSpPr>
              <a:spLocks noChangeArrowheads="1"/>
            </p:cNvSpPr>
            <p:nvPr/>
          </p:nvSpPr>
          <p:spPr bwMode="auto">
            <a:xfrm>
              <a:off x="1056" y="1728"/>
              <a:ext cx="576" cy="528"/>
            </a:xfrm>
            <a:prstGeom prst="ellipse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51" name="Text Box 1069"/>
            <p:cNvSpPr txBox="1">
              <a:spLocks noChangeArrowheads="1"/>
            </p:cNvSpPr>
            <p:nvPr/>
          </p:nvSpPr>
          <p:spPr bwMode="auto">
            <a:xfrm>
              <a:off x="1152" y="1755"/>
              <a:ext cx="394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  <a:buSzTx/>
                <a:buFontTx/>
                <a:buNone/>
              </a:pPr>
              <a:r>
                <a:rPr lang="en-US" sz="3600" b="1" i="1">
                  <a:latin typeface="Monotype Corsiva" pitchFamily="66" charset="0"/>
                  <a:ea typeface="MS Mincho" pitchFamily="49" charset="-128"/>
                </a:rPr>
                <a:t>w'</a:t>
              </a:r>
            </a:p>
          </p:txBody>
        </p:sp>
      </p:grpSp>
      <p:sp>
        <p:nvSpPr>
          <p:cNvPr id="77848" name="Text Box 1071"/>
          <p:cNvSpPr txBox="1">
            <a:spLocks noChangeArrowheads="1"/>
          </p:cNvSpPr>
          <p:nvPr/>
        </p:nvSpPr>
        <p:spPr bwMode="auto">
          <a:xfrm>
            <a:off x="276225" y="1422400"/>
            <a:ext cx="2981325" cy="1025525"/>
          </a:xfrm>
          <a:prstGeom prst="rect">
            <a:avLst/>
          </a:prstGeom>
          <a:noFill/>
          <a:ln w="19050" algn="ctr">
            <a:solidFill>
              <a:srgbClr val="FF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buClr>
                <a:schemeClr val="bg1"/>
              </a:buClr>
            </a:pPr>
            <a:r>
              <a:rPr lang="en-US"/>
              <a:t>Find shortest paths from source s to all other destinations</a:t>
            </a:r>
          </a:p>
        </p:txBody>
      </p:sp>
      <p:sp>
        <p:nvSpPr>
          <p:cNvPr id="77849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53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53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53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53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253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53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53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53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53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1253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3404" grpId="0" animBg="1"/>
      <p:bldP spid="1253405" grpId="0" animBg="1"/>
      <p:bldP spid="1253406" grpId="0"/>
      <p:bldP spid="1253416" grpId="0" animBg="1"/>
      <p:bldP spid="1253417" grpId="0" animBg="1"/>
      <p:bldP spid="1253418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Dijkstra’s algorithm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5450" y="1323975"/>
            <a:ext cx="8686800" cy="5243513"/>
          </a:xfrm>
        </p:spPr>
        <p:txBody>
          <a:bodyPr/>
          <a:lstStyle/>
          <a:p>
            <a:pPr eaLnBrk="1" hangingPunct="1"/>
            <a:r>
              <a:rPr lang="en-US" sz="2600" i="1" smtClean="0"/>
              <a:t>N</a:t>
            </a:r>
            <a:r>
              <a:rPr lang="en-US" sz="2600" smtClean="0"/>
              <a:t>:  set of nodes for which shortest path already found</a:t>
            </a:r>
            <a:endParaRPr lang="en-US" sz="2600" i="1" smtClean="0"/>
          </a:p>
          <a:p>
            <a:pPr eaLnBrk="1" hangingPunct="1"/>
            <a:r>
              <a:rPr lang="en-US" sz="2600" smtClean="0"/>
              <a:t>Initialization:  (S</a:t>
            </a:r>
            <a:r>
              <a:rPr lang="en-US" sz="2600" i="1" smtClean="0"/>
              <a:t>tart with source node s)</a:t>
            </a:r>
          </a:p>
          <a:p>
            <a:pPr marL="742950" lvl="1" indent="-285750" eaLnBrk="1" hangingPunct="1"/>
            <a:r>
              <a:rPr lang="en-US" sz="2200" i="1" smtClean="0"/>
              <a:t>N = {s}, D</a:t>
            </a:r>
            <a:r>
              <a:rPr lang="en-US" sz="2200" i="1" baseline="-25000" smtClean="0"/>
              <a:t>s</a:t>
            </a:r>
            <a:r>
              <a:rPr lang="en-US" sz="2200" smtClean="0"/>
              <a:t> = 0, “</a:t>
            </a:r>
            <a:r>
              <a:rPr lang="en-US" sz="2200" i="1" smtClean="0"/>
              <a:t>s</a:t>
            </a:r>
            <a:r>
              <a:rPr lang="en-US" sz="2200" smtClean="0"/>
              <a:t> is distance zero from itself”</a:t>
            </a:r>
          </a:p>
          <a:p>
            <a:pPr marL="742950" lvl="1" indent="-285750" eaLnBrk="1" hangingPunct="1"/>
            <a:r>
              <a:rPr lang="en-US" sz="2200" i="1" smtClean="0"/>
              <a:t>D</a:t>
            </a:r>
            <a:r>
              <a:rPr lang="en-US" sz="2200" i="1" baseline="-25000" smtClean="0"/>
              <a:t>j</a:t>
            </a:r>
            <a:r>
              <a:rPr lang="en-US" sz="2200" i="1" smtClean="0"/>
              <a:t>=C</a:t>
            </a:r>
            <a:r>
              <a:rPr lang="en-US" sz="2200" i="1" baseline="-25000" smtClean="0"/>
              <a:t>sj</a:t>
            </a:r>
            <a:r>
              <a:rPr lang="en-US" sz="2200" smtClean="0"/>
              <a:t> for all </a:t>
            </a:r>
            <a:r>
              <a:rPr lang="en-US" sz="2200" i="1" smtClean="0"/>
              <a:t>j </a:t>
            </a:r>
            <a:r>
              <a:rPr lang="en-US" sz="2200" i="1" smtClean="0">
                <a:sym typeface="Symbol" pitchFamily="18" charset="2"/>
              </a:rPr>
              <a:t> s,  </a:t>
            </a:r>
            <a:r>
              <a:rPr lang="en-US" sz="2200" smtClean="0">
                <a:sym typeface="Symbol" pitchFamily="18" charset="2"/>
              </a:rPr>
              <a:t>distances of directly-connected neighbors</a:t>
            </a:r>
          </a:p>
          <a:p>
            <a:pPr eaLnBrk="1" hangingPunct="1"/>
            <a:r>
              <a:rPr lang="en-US" sz="2600" smtClean="0"/>
              <a:t>Step A: (</a:t>
            </a:r>
            <a:r>
              <a:rPr lang="en-US" sz="2600" i="1" smtClean="0"/>
              <a:t>Find next closest node i</a:t>
            </a:r>
            <a:r>
              <a:rPr lang="en-US" sz="2600" smtClean="0"/>
              <a:t>) </a:t>
            </a:r>
          </a:p>
          <a:p>
            <a:pPr marL="742950" lvl="1" indent="-285750" eaLnBrk="1" hangingPunct="1"/>
            <a:r>
              <a:rPr lang="en-US" sz="2200" smtClean="0"/>
              <a:t>Find </a:t>
            </a:r>
            <a:r>
              <a:rPr lang="en-US" sz="2200" i="1" smtClean="0"/>
              <a:t>i </a:t>
            </a:r>
            <a:r>
              <a:rPr lang="en-US" sz="2200" i="1" smtClean="0">
                <a:sym typeface="Symbol" pitchFamily="18" charset="2"/>
              </a:rPr>
              <a:t></a:t>
            </a:r>
            <a:r>
              <a:rPr lang="en-US" sz="2200" smtClean="0">
                <a:sym typeface="Symbol" pitchFamily="18" charset="2"/>
              </a:rPr>
              <a:t> </a:t>
            </a:r>
            <a:r>
              <a:rPr lang="en-US" sz="2200" i="1" smtClean="0">
                <a:sym typeface="Symbol" pitchFamily="18" charset="2"/>
              </a:rPr>
              <a:t>N</a:t>
            </a:r>
            <a:r>
              <a:rPr lang="en-US" sz="2200" smtClean="0">
                <a:sym typeface="Symbol" pitchFamily="18" charset="2"/>
              </a:rPr>
              <a:t> such that</a:t>
            </a:r>
          </a:p>
          <a:p>
            <a:pPr marL="742950" lvl="1" indent="-285750" eaLnBrk="1" hangingPunct="1"/>
            <a:r>
              <a:rPr lang="en-US" sz="2200" i="1" smtClean="0"/>
              <a:t>D</a:t>
            </a:r>
            <a:r>
              <a:rPr lang="en-US" sz="2200" i="1" baseline="-25000" smtClean="0"/>
              <a:t>i</a:t>
            </a:r>
            <a:r>
              <a:rPr lang="en-US" sz="2200" smtClean="0"/>
              <a:t> = min </a:t>
            </a:r>
            <a:r>
              <a:rPr lang="en-US" sz="2200" i="1" smtClean="0"/>
              <a:t>Dj</a:t>
            </a:r>
            <a:r>
              <a:rPr lang="en-US" sz="2200" smtClean="0"/>
              <a:t>    for  </a:t>
            </a:r>
            <a:r>
              <a:rPr lang="en-US" sz="2200" i="1" smtClean="0"/>
              <a:t>j </a:t>
            </a:r>
            <a:r>
              <a:rPr lang="en-US" sz="2200" i="1" smtClean="0">
                <a:sym typeface="Symbol" pitchFamily="18" charset="2"/>
              </a:rPr>
              <a:t> N</a:t>
            </a:r>
            <a:r>
              <a:rPr lang="en-US" sz="2200" smtClean="0">
                <a:sym typeface="Symbol" pitchFamily="18" charset="2"/>
              </a:rPr>
              <a:t> </a:t>
            </a:r>
          </a:p>
          <a:p>
            <a:pPr marL="742950" lvl="1" indent="-285750" eaLnBrk="1" hangingPunct="1"/>
            <a:r>
              <a:rPr lang="en-US" sz="2200" smtClean="0">
                <a:sym typeface="Symbol" pitchFamily="18" charset="2"/>
              </a:rPr>
              <a:t>Add </a:t>
            </a:r>
            <a:r>
              <a:rPr lang="en-US" sz="2200" i="1" smtClean="0">
                <a:sym typeface="Symbol" pitchFamily="18" charset="2"/>
              </a:rPr>
              <a:t>i</a:t>
            </a:r>
            <a:r>
              <a:rPr lang="en-US" sz="2200" smtClean="0">
                <a:sym typeface="Symbol" pitchFamily="18" charset="2"/>
              </a:rPr>
              <a:t> to </a:t>
            </a:r>
            <a:r>
              <a:rPr lang="en-US" sz="2200" i="1" smtClean="0">
                <a:sym typeface="Symbol" pitchFamily="18" charset="2"/>
              </a:rPr>
              <a:t>N</a:t>
            </a:r>
            <a:endParaRPr lang="en-US" sz="2200" smtClean="0">
              <a:sym typeface="Symbol" pitchFamily="18" charset="2"/>
            </a:endParaRPr>
          </a:p>
          <a:p>
            <a:pPr marL="742950" lvl="1" indent="-285750" eaLnBrk="1" hangingPunct="1"/>
            <a:r>
              <a:rPr lang="en-US" sz="2200" smtClean="0">
                <a:sym typeface="Symbol" pitchFamily="18" charset="2"/>
              </a:rPr>
              <a:t>If </a:t>
            </a:r>
            <a:r>
              <a:rPr lang="en-US" sz="2200" i="1" smtClean="0">
                <a:sym typeface="Symbol" pitchFamily="18" charset="2"/>
              </a:rPr>
              <a:t>N</a:t>
            </a:r>
            <a:r>
              <a:rPr lang="en-US" sz="2200" smtClean="0">
                <a:sym typeface="Symbol" pitchFamily="18" charset="2"/>
              </a:rPr>
              <a:t> contains all the nodes, stop</a:t>
            </a:r>
          </a:p>
          <a:p>
            <a:pPr eaLnBrk="1" hangingPunct="1"/>
            <a:r>
              <a:rPr lang="en-US" sz="2600" smtClean="0"/>
              <a:t>Step B: (</a:t>
            </a:r>
            <a:r>
              <a:rPr lang="en-US" sz="2600" i="1" smtClean="0"/>
              <a:t>update minimum costs)</a:t>
            </a:r>
          </a:p>
          <a:p>
            <a:pPr marL="742950" lvl="1" indent="-285750" eaLnBrk="1" hangingPunct="1"/>
            <a:r>
              <a:rPr lang="en-US" sz="2200" smtClean="0"/>
              <a:t>For each node </a:t>
            </a:r>
            <a:r>
              <a:rPr lang="en-US" sz="2200" i="1" smtClean="0"/>
              <a:t>j </a:t>
            </a:r>
            <a:r>
              <a:rPr lang="en-US" sz="2200" i="1" smtClean="0">
                <a:sym typeface="Symbol" pitchFamily="18" charset="2"/>
              </a:rPr>
              <a:t> N</a:t>
            </a:r>
            <a:endParaRPr lang="en-US" sz="2200" smtClean="0">
              <a:sym typeface="Symbol" pitchFamily="18" charset="2"/>
            </a:endParaRPr>
          </a:p>
          <a:p>
            <a:pPr marL="742950" lvl="1" indent="-285750" eaLnBrk="1" hangingPunct="1"/>
            <a:r>
              <a:rPr lang="en-US" sz="2200" i="1" smtClean="0">
                <a:sym typeface="Symbol" pitchFamily="18" charset="2"/>
              </a:rPr>
              <a:t>D</a:t>
            </a:r>
            <a:r>
              <a:rPr lang="en-US" sz="2200" i="1" baseline="-25000" smtClean="0">
                <a:sym typeface="Symbol" pitchFamily="18" charset="2"/>
              </a:rPr>
              <a:t>j</a:t>
            </a:r>
            <a:r>
              <a:rPr lang="en-US" sz="2200" smtClean="0">
                <a:sym typeface="Symbol" pitchFamily="18" charset="2"/>
              </a:rPr>
              <a:t> = min (</a:t>
            </a:r>
            <a:r>
              <a:rPr lang="en-US" sz="2200" i="1" smtClean="0"/>
              <a:t>D</a:t>
            </a:r>
            <a:r>
              <a:rPr lang="en-US" sz="2200" i="1" baseline="-25000" smtClean="0"/>
              <a:t>j</a:t>
            </a:r>
            <a:r>
              <a:rPr lang="en-US" sz="2200" i="1" smtClean="0"/>
              <a:t>, D</a:t>
            </a:r>
            <a:r>
              <a:rPr lang="en-US" sz="2200" i="1" baseline="-25000" smtClean="0"/>
              <a:t>i</a:t>
            </a:r>
            <a:r>
              <a:rPr lang="en-US" sz="2200" i="1" smtClean="0"/>
              <a:t>+C</a:t>
            </a:r>
            <a:r>
              <a:rPr lang="en-US" sz="2200" i="1" baseline="-25000" smtClean="0"/>
              <a:t>ij</a:t>
            </a:r>
            <a:r>
              <a:rPr lang="en-US" sz="2200" smtClean="0"/>
              <a:t>)</a:t>
            </a:r>
          </a:p>
          <a:p>
            <a:pPr marL="742950" lvl="1" indent="-285750" eaLnBrk="1" hangingPunct="1"/>
            <a:r>
              <a:rPr lang="en-US" sz="2200" smtClean="0"/>
              <a:t>Go to Step A</a:t>
            </a:r>
          </a:p>
        </p:txBody>
      </p:sp>
      <p:sp>
        <p:nvSpPr>
          <p:cNvPr id="78852" name="Line 4"/>
          <p:cNvSpPr>
            <a:spLocks noChangeShapeType="1"/>
          </p:cNvSpPr>
          <p:nvPr/>
        </p:nvSpPr>
        <p:spPr bwMode="auto">
          <a:xfrm flipV="1">
            <a:off x="3922713" y="6181725"/>
            <a:ext cx="1006475" cy="1143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8853" name="Text Box 5"/>
          <p:cNvSpPr txBox="1">
            <a:spLocks noChangeArrowheads="1"/>
          </p:cNvSpPr>
          <p:nvPr/>
        </p:nvSpPr>
        <p:spPr bwMode="auto">
          <a:xfrm>
            <a:off x="4973638" y="5788025"/>
            <a:ext cx="3970337" cy="822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  <a:buSzTx/>
              <a:buFontTx/>
              <a:buNone/>
            </a:pPr>
            <a:r>
              <a:rPr lang="en-US" sz="2400" i="1"/>
              <a:t>Minimum distance from s</a:t>
            </a:r>
            <a:r>
              <a:rPr lang="en-US" sz="2400"/>
              <a:t> to </a:t>
            </a:r>
            <a:r>
              <a:rPr lang="en-US" sz="2400" i="1"/>
              <a:t>j through node </a:t>
            </a:r>
            <a:r>
              <a:rPr lang="en-US" sz="2400" b="1" i="1"/>
              <a:t>i</a:t>
            </a:r>
            <a:r>
              <a:rPr lang="en-US" sz="2400" i="1"/>
              <a:t> in N</a:t>
            </a:r>
          </a:p>
        </p:txBody>
      </p:sp>
      <p:sp>
        <p:nvSpPr>
          <p:cNvPr id="78854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500" smtClean="0"/>
              <a:t>Execution of Dijkstra’s algorithm</a:t>
            </a:r>
          </a:p>
        </p:txBody>
      </p:sp>
      <p:graphicFrame>
        <p:nvGraphicFramePr>
          <p:cNvPr id="1256799" name="Group 351"/>
          <p:cNvGraphicFramePr>
            <a:graphicFrameLocks noGrp="1"/>
          </p:cNvGraphicFramePr>
          <p:nvPr>
            <p:ph idx="1"/>
          </p:nvPr>
        </p:nvGraphicFramePr>
        <p:xfrm>
          <a:off x="609600" y="3200400"/>
          <a:ext cx="7848600" cy="2987675"/>
        </p:xfrm>
        <a:graphic>
          <a:graphicData uri="http://schemas.openxmlformats.org/drawingml/2006/table">
            <a:tbl>
              <a:tblPr/>
              <a:tblGrid>
                <a:gridCol w="1219200"/>
                <a:gridCol w="1698625"/>
                <a:gridCol w="923925"/>
                <a:gridCol w="966788"/>
                <a:gridCol w="982662"/>
                <a:gridCol w="1066800"/>
                <a:gridCol w="990600"/>
              </a:tblGrid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Iteration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r>
                        <a:rPr kumimoji="0" lang="en-US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r>
                        <a:rPr kumimoji="0" lang="en-US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r>
                        <a:rPr kumimoji="0" lang="en-US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r>
                        <a:rPr kumimoji="0" lang="en-US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r>
                        <a:rPr kumimoji="0" lang="en-US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Initial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{1}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</a:t>
                      </a:r>
                      <a:endParaRPr kumimoji="0" lang="en-US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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{1,3}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  <a:sym typeface="Symbol" pitchFamily="18" charset="2"/>
                        </a:rPr>
                        <a:t>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{1,2,3}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{1,2,3,6}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{1,2,3,4,6}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{1,2,3,4,5,6}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" name="Group 69"/>
          <p:cNvGrpSpPr>
            <a:grpSpLocks/>
          </p:cNvGrpSpPr>
          <p:nvPr/>
        </p:nvGrpSpPr>
        <p:grpSpPr bwMode="auto">
          <a:xfrm>
            <a:off x="685800" y="1143000"/>
            <a:ext cx="3200400" cy="1895475"/>
            <a:chOff x="432" y="720"/>
            <a:chExt cx="2016" cy="1194"/>
          </a:xfrm>
        </p:grpSpPr>
        <p:sp>
          <p:nvSpPr>
            <p:cNvPr id="80181" name="Oval 70"/>
            <p:cNvSpPr>
              <a:spLocks noChangeArrowheads="1"/>
            </p:cNvSpPr>
            <p:nvPr/>
          </p:nvSpPr>
          <p:spPr bwMode="auto">
            <a:xfrm>
              <a:off x="441" y="752"/>
              <a:ext cx="227" cy="204"/>
            </a:xfrm>
            <a:prstGeom prst="ellipse">
              <a:avLst/>
            </a:prstGeom>
            <a:solidFill>
              <a:srgbClr val="00CC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182" name="Line 71"/>
            <p:cNvSpPr>
              <a:spLocks noChangeShapeType="1"/>
            </p:cNvSpPr>
            <p:nvPr/>
          </p:nvSpPr>
          <p:spPr bwMode="auto">
            <a:xfrm>
              <a:off x="671" y="849"/>
              <a:ext cx="711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183" name="Line 72"/>
            <p:cNvSpPr>
              <a:spLocks noChangeShapeType="1"/>
            </p:cNvSpPr>
            <p:nvPr/>
          </p:nvSpPr>
          <p:spPr bwMode="auto">
            <a:xfrm flipH="1">
              <a:off x="1392" y="960"/>
              <a:ext cx="64" cy="28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184" name="Line 73"/>
            <p:cNvSpPr>
              <a:spLocks noChangeShapeType="1"/>
            </p:cNvSpPr>
            <p:nvPr/>
          </p:nvSpPr>
          <p:spPr bwMode="auto">
            <a:xfrm>
              <a:off x="1398" y="1436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185" name="Line 74"/>
            <p:cNvSpPr>
              <a:spLocks noChangeShapeType="1"/>
            </p:cNvSpPr>
            <p:nvPr/>
          </p:nvSpPr>
          <p:spPr bwMode="auto">
            <a:xfrm flipV="1">
              <a:off x="1748" y="1052"/>
              <a:ext cx="496" cy="60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186" name="Line 75"/>
            <p:cNvSpPr>
              <a:spLocks noChangeShapeType="1"/>
            </p:cNvSpPr>
            <p:nvPr/>
          </p:nvSpPr>
          <p:spPr bwMode="auto">
            <a:xfrm flipH="1" flipV="1">
              <a:off x="644" y="1702"/>
              <a:ext cx="911" cy="4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187" name="Line 76"/>
            <p:cNvSpPr>
              <a:spLocks noChangeShapeType="1"/>
            </p:cNvSpPr>
            <p:nvPr/>
          </p:nvSpPr>
          <p:spPr bwMode="auto">
            <a:xfrm>
              <a:off x="543" y="943"/>
              <a:ext cx="0" cy="61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188" name="Line 77"/>
            <p:cNvSpPr>
              <a:spLocks noChangeShapeType="1"/>
            </p:cNvSpPr>
            <p:nvPr/>
          </p:nvSpPr>
          <p:spPr bwMode="auto">
            <a:xfrm>
              <a:off x="616" y="919"/>
              <a:ext cx="635" cy="36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189" name="Rectangle 78"/>
            <p:cNvSpPr>
              <a:spLocks noChangeArrowheads="1"/>
            </p:cNvSpPr>
            <p:nvPr/>
          </p:nvSpPr>
          <p:spPr bwMode="auto">
            <a:xfrm>
              <a:off x="542" y="797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grpSp>
          <p:nvGrpSpPr>
            <p:cNvPr id="80190" name="Group 79"/>
            <p:cNvGrpSpPr>
              <a:grpSpLocks/>
            </p:cNvGrpSpPr>
            <p:nvPr/>
          </p:nvGrpSpPr>
          <p:grpSpPr bwMode="auto">
            <a:xfrm>
              <a:off x="432" y="1536"/>
              <a:ext cx="227" cy="220"/>
              <a:chOff x="432" y="1536"/>
              <a:chExt cx="227" cy="220"/>
            </a:xfrm>
          </p:grpSpPr>
          <p:sp>
            <p:nvSpPr>
              <p:cNvPr id="80214" name="Oval 80"/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15" name="Rectangle 81"/>
              <p:cNvSpPr>
                <a:spLocks noChangeArrowheads="1"/>
              </p:cNvSpPr>
              <p:nvPr/>
            </p:nvSpPr>
            <p:spPr bwMode="auto">
              <a:xfrm>
                <a:off x="504" y="1536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0191" name="Group 82"/>
            <p:cNvGrpSpPr>
              <a:grpSpLocks/>
            </p:cNvGrpSpPr>
            <p:nvPr/>
          </p:nvGrpSpPr>
          <p:grpSpPr bwMode="auto">
            <a:xfrm>
              <a:off x="1246" y="1229"/>
              <a:ext cx="227" cy="224"/>
              <a:chOff x="1246" y="1229"/>
              <a:chExt cx="227" cy="224"/>
            </a:xfrm>
          </p:grpSpPr>
          <p:sp>
            <p:nvSpPr>
              <p:cNvPr id="80212" name="Oval 83"/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13" name="Rectangle 84"/>
              <p:cNvSpPr>
                <a:spLocks noChangeArrowheads="1"/>
              </p:cNvSpPr>
              <p:nvPr/>
            </p:nvSpPr>
            <p:spPr bwMode="auto">
              <a:xfrm>
                <a:off x="1349" y="1280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4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0192" name="Group 85"/>
            <p:cNvGrpSpPr>
              <a:grpSpLocks/>
            </p:cNvGrpSpPr>
            <p:nvPr/>
          </p:nvGrpSpPr>
          <p:grpSpPr bwMode="auto">
            <a:xfrm>
              <a:off x="1550" y="1624"/>
              <a:ext cx="227" cy="228"/>
              <a:chOff x="1550" y="1624"/>
              <a:chExt cx="227" cy="228"/>
            </a:xfrm>
          </p:grpSpPr>
          <p:sp>
            <p:nvSpPr>
              <p:cNvPr id="80210" name="Oval 86"/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11" name="Rectangle 87"/>
              <p:cNvSpPr>
                <a:spLocks noChangeArrowheads="1"/>
              </p:cNvSpPr>
              <p:nvPr/>
            </p:nvSpPr>
            <p:spPr bwMode="auto">
              <a:xfrm>
                <a:off x="1653" y="1679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5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0193" name="Group 88"/>
            <p:cNvGrpSpPr>
              <a:grpSpLocks/>
            </p:cNvGrpSpPr>
            <p:nvPr/>
          </p:nvGrpSpPr>
          <p:grpSpPr bwMode="auto">
            <a:xfrm>
              <a:off x="2222" y="888"/>
              <a:ext cx="226" cy="205"/>
              <a:chOff x="2222" y="888"/>
              <a:chExt cx="226" cy="205"/>
            </a:xfrm>
          </p:grpSpPr>
          <p:sp>
            <p:nvSpPr>
              <p:cNvPr id="80208" name="Oval 89"/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09" name="Rectangle 90"/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6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sp>
          <p:nvSpPr>
            <p:cNvPr id="80194" name="Rectangle 91"/>
            <p:cNvSpPr>
              <a:spLocks noChangeArrowheads="1"/>
            </p:cNvSpPr>
            <p:nvPr/>
          </p:nvSpPr>
          <p:spPr bwMode="auto">
            <a:xfrm>
              <a:off x="890" y="1345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195" name="Rectangle 92"/>
            <p:cNvSpPr>
              <a:spLocks noChangeArrowheads="1"/>
            </p:cNvSpPr>
            <p:nvPr/>
          </p:nvSpPr>
          <p:spPr bwMode="auto">
            <a:xfrm>
              <a:off x="1874" y="766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196" name="Rectangle 93"/>
            <p:cNvSpPr>
              <a:spLocks noChangeArrowheads="1"/>
            </p:cNvSpPr>
            <p:nvPr/>
          </p:nvSpPr>
          <p:spPr bwMode="auto">
            <a:xfrm>
              <a:off x="1469" y="1053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197" name="Rectangle 94"/>
            <p:cNvSpPr>
              <a:spLocks noChangeArrowheads="1"/>
            </p:cNvSpPr>
            <p:nvPr/>
          </p:nvSpPr>
          <p:spPr bwMode="auto">
            <a:xfrm>
              <a:off x="1534" y="1444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198" name="Rectangle 95"/>
            <p:cNvSpPr>
              <a:spLocks noChangeArrowheads="1"/>
            </p:cNvSpPr>
            <p:nvPr/>
          </p:nvSpPr>
          <p:spPr bwMode="auto">
            <a:xfrm>
              <a:off x="2049" y="1350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199" name="Rectangle 96"/>
            <p:cNvSpPr>
              <a:spLocks noChangeArrowheads="1"/>
            </p:cNvSpPr>
            <p:nvPr/>
          </p:nvSpPr>
          <p:spPr bwMode="auto">
            <a:xfrm>
              <a:off x="457" y="1178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200" name="Rectangle 97"/>
            <p:cNvSpPr>
              <a:spLocks noChangeArrowheads="1"/>
            </p:cNvSpPr>
            <p:nvPr/>
          </p:nvSpPr>
          <p:spPr bwMode="auto">
            <a:xfrm>
              <a:off x="963" y="1006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201" name="Rectangle 98"/>
            <p:cNvSpPr>
              <a:spLocks noChangeArrowheads="1"/>
            </p:cNvSpPr>
            <p:nvPr/>
          </p:nvSpPr>
          <p:spPr bwMode="auto">
            <a:xfrm>
              <a:off x="945" y="720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202" name="Rectangle 99"/>
            <p:cNvSpPr>
              <a:spLocks noChangeArrowheads="1"/>
            </p:cNvSpPr>
            <p:nvPr/>
          </p:nvSpPr>
          <p:spPr bwMode="auto">
            <a:xfrm>
              <a:off x="1102" y="1741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203" name="Line 100"/>
            <p:cNvSpPr>
              <a:spLocks noChangeShapeType="1"/>
            </p:cNvSpPr>
            <p:nvPr/>
          </p:nvSpPr>
          <p:spPr bwMode="auto">
            <a:xfrm>
              <a:off x="1584" y="857"/>
              <a:ext cx="625" cy="10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204" name="Line 101"/>
            <p:cNvSpPr>
              <a:spLocks noChangeShapeType="1"/>
            </p:cNvSpPr>
            <p:nvPr/>
          </p:nvSpPr>
          <p:spPr bwMode="auto">
            <a:xfrm flipH="1">
              <a:off x="624" y="1392"/>
              <a:ext cx="607" cy="219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80205" name="Group 102"/>
            <p:cNvGrpSpPr>
              <a:grpSpLocks/>
            </p:cNvGrpSpPr>
            <p:nvPr/>
          </p:nvGrpSpPr>
          <p:grpSpPr bwMode="auto">
            <a:xfrm>
              <a:off x="1405" y="756"/>
              <a:ext cx="227" cy="204"/>
              <a:chOff x="1405" y="756"/>
              <a:chExt cx="227" cy="204"/>
            </a:xfrm>
          </p:grpSpPr>
          <p:sp>
            <p:nvSpPr>
              <p:cNvPr id="80206" name="Rectangle 103"/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endParaRPr lang="en-US" sz="1800">
                  <a:latin typeface="Times New Roman" pitchFamily="18" charset="0"/>
                </a:endParaRPr>
              </a:p>
            </p:txBody>
          </p:sp>
          <p:sp>
            <p:nvSpPr>
              <p:cNvPr id="80207" name="Oval 104"/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8" name="Group 105"/>
          <p:cNvGrpSpPr>
            <a:grpSpLocks/>
          </p:cNvGrpSpPr>
          <p:nvPr/>
        </p:nvGrpSpPr>
        <p:grpSpPr bwMode="auto">
          <a:xfrm>
            <a:off x="4572000" y="1152525"/>
            <a:ext cx="3200400" cy="1895475"/>
            <a:chOff x="432" y="240"/>
            <a:chExt cx="2016" cy="1194"/>
          </a:xfrm>
        </p:grpSpPr>
        <p:sp>
          <p:nvSpPr>
            <p:cNvPr id="80146" name="Oval 106"/>
            <p:cNvSpPr>
              <a:spLocks noChangeArrowheads="1"/>
            </p:cNvSpPr>
            <p:nvPr/>
          </p:nvSpPr>
          <p:spPr bwMode="auto">
            <a:xfrm>
              <a:off x="441" y="272"/>
              <a:ext cx="227" cy="204"/>
            </a:xfrm>
            <a:prstGeom prst="ellipse">
              <a:avLst/>
            </a:prstGeom>
            <a:solidFill>
              <a:srgbClr val="00CC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147" name="Line 107"/>
            <p:cNvSpPr>
              <a:spLocks noChangeShapeType="1"/>
            </p:cNvSpPr>
            <p:nvPr/>
          </p:nvSpPr>
          <p:spPr bwMode="auto">
            <a:xfrm>
              <a:off x="671" y="369"/>
              <a:ext cx="711" cy="0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148" name="Line 108"/>
            <p:cNvSpPr>
              <a:spLocks noChangeShapeType="1"/>
            </p:cNvSpPr>
            <p:nvPr/>
          </p:nvSpPr>
          <p:spPr bwMode="auto">
            <a:xfrm flipH="1">
              <a:off x="1392" y="480"/>
              <a:ext cx="64" cy="28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149" name="Line 109"/>
            <p:cNvSpPr>
              <a:spLocks noChangeShapeType="1"/>
            </p:cNvSpPr>
            <p:nvPr/>
          </p:nvSpPr>
          <p:spPr bwMode="auto">
            <a:xfrm>
              <a:off x="1398" y="956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150" name="Line 110"/>
            <p:cNvSpPr>
              <a:spLocks noChangeShapeType="1"/>
            </p:cNvSpPr>
            <p:nvPr/>
          </p:nvSpPr>
          <p:spPr bwMode="auto">
            <a:xfrm flipV="1">
              <a:off x="1748" y="572"/>
              <a:ext cx="496" cy="60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151" name="Line 111"/>
            <p:cNvSpPr>
              <a:spLocks noChangeShapeType="1"/>
            </p:cNvSpPr>
            <p:nvPr/>
          </p:nvSpPr>
          <p:spPr bwMode="auto">
            <a:xfrm flipH="1" flipV="1">
              <a:off x="644" y="1222"/>
              <a:ext cx="911" cy="4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152" name="Line 112"/>
            <p:cNvSpPr>
              <a:spLocks noChangeShapeType="1"/>
            </p:cNvSpPr>
            <p:nvPr/>
          </p:nvSpPr>
          <p:spPr bwMode="auto">
            <a:xfrm>
              <a:off x="543" y="463"/>
              <a:ext cx="0" cy="612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153" name="Line 113"/>
            <p:cNvSpPr>
              <a:spLocks noChangeShapeType="1"/>
            </p:cNvSpPr>
            <p:nvPr/>
          </p:nvSpPr>
          <p:spPr bwMode="auto">
            <a:xfrm>
              <a:off x="616" y="439"/>
              <a:ext cx="635" cy="360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154" name="Rectangle 114"/>
            <p:cNvSpPr>
              <a:spLocks noChangeArrowheads="1"/>
            </p:cNvSpPr>
            <p:nvPr/>
          </p:nvSpPr>
          <p:spPr bwMode="auto">
            <a:xfrm>
              <a:off x="542" y="317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grpSp>
          <p:nvGrpSpPr>
            <p:cNvPr id="80155" name="Group 115"/>
            <p:cNvGrpSpPr>
              <a:grpSpLocks/>
            </p:cNvGrpSpPr>
            <p:nvPr/>
          </p:nvGrpSpPr>
          <p:grpSpPr bwMode="auto">
            <a:xfrm>
              <a:off x="432" y="1056"/>
              <a:ext cx="227" cy="220"/>
              <a:chOff x="432" y="1536"/>
              <a:chExt cx="227" cy="220"/>
            </a:xfrm>
          </p:grpSpPr>
          <p:sp>
            <p:nvSpPr>
              <p:cNvPr id="80179" name="Oval 116"/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80" name="Rectangle 117"/>
              <p:cNvSpPr>
                <a:spLocks noChangeArrowheads="1"/>
              </p:cNvSpPr>
              <p:nvPr/>
            </p:nvSpPr>
            <p:spPr bwMode="auto">
              <a:xfrm>
                <a:off x="504" y="1536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0156" name="Group 118"/>
            <p:cNvGrpSpPr>
              <a:grpSpLocks/>
            </p:cNvGrpSpPr>
            <p:nvPr/>
          </p:nvGrpSpPr>
          <p:grpSpPr bwMode="auto">
            <a:xfrm>
              <a:off x="1246" y="749"/>
              <a:ext cx="227" cy="224"/>
              <a:chOff x="1246" y="1229"/>
              <a:chExt cx="227" cy="224"/>
            </a:xfrm>
          </p:grpSpPr>
          <p:sp>
            <p:nvSpPr>
              <p:cNvPr id="80177" name="Oval 119"/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78" name="Rectangle 120"/>
              <p:cNvSpPr>
                <a:spLocks noChangeArrowheads="1"/>
              </p:cNvSpPr>
              <p:nvPr/>
            </p:nvSpPr>
            <p:spPr bwMode="auto">
              <a:xfrm>
                <a:off x="1349" y="1280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4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0157" name="Group 121"/>
            <p:cNvGrpSpPr>
              <a:grpSpLocks/>
            </p:cNvGrpSpPr>
            <p:nvPr/>
          </p:nvGrpSpPr>
          <p:grpSpPr bwMode="auto">
            <a:xfrm>
              <a:off x="1550" y="1144"/>
              <a:ext cx="227" cy="228"/>
              <a:chOff x="1550" y="1624"/>
              <a:chExt cx="227" cy="228"/>
            </a:xfrm>
          </p:grpSpPr>
          <p:sp>
            <p:nvSpPr>
              <p:cNvPr id="80175" name="Oval 122"/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76" name="Rectangle 123"/>
              <p:cNvSpPr>
                <a:spLocks noChangeArrowheads="1"/>
              </p:cNvSpPr>
              <p:nvPr/>
            </p:nvSpPr>
            <p:spPr bwMode="auto">
              <a:xfrm>
                <a:off x="1653" y="1679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5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0158" name="Group 124"/>
            <p:cNvGrpSpPr>
              <a:grpSpLocks/>
            </p:cNvGrpSpPr>
            <p:nvPr/>
          </p:nvGrpSpPr>
          <p:grpSpPr bwMode="auto">
            <a:xfrm>
              <a:off x="2222" y="408"/>
              <a:ext cx="226" cy="205"/>
              <a:chOff x="2222" y="888"/>
              <a:chExt cx="226" cy="205"/>
            </a:xfrm>
          </p:grpSpPr>
          <p:sp>
            <p:nvSpPr>
              <p:cNvPr id="80173" name="Oval 125"/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74" name="Rectangle 126"/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6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sp>
          <p:nvSpPr>
            <p:cNvPr id="80159" name="Rectangle 127"/>
            <p:cNvSpPr>
              <a:spLocks noChangeArrowheads="1"/>
            </p:cNvSpPr>
            <p:nvPr/>
          </p:nvSpPr>
          <p:spPr bwMode="auto">
            <a:xfrm>
              <a:off x="890" y="865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160" name="Rectangle 128"/>
            <p:cNvSpPr>
              <a:spLocks noChangeArrowheads="1"/>
            </p:cNvSpPr>
            <p:nvPr/>
          </p:nvSpPr>
          <p:spPr bwMode="auto">
            <a:xfrm>
              <a:off x="1874" y="286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161" name="Rectangle 129"/>
            <p:cNvSpPr>
              <a:spLocks noChangeArrowheads="1"/>
            </p:cNvSpPr>
            <p:nvPr/>
          </p:nvSpPr>
          <p:spPr bwMode="auto">
            <a:xfrm>
              <a:off x="1469" y="573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162" name="Rectangle 130"/>
            <p:cNvSpPr>
              <a:spLocks noChangeArrowheads="1"/>
            </p:cNvSpPr>
            <p:nvPr/>
          </p:nvSpPr>
          <p:spPr bwMode="auto">
            <a:xfrm>
              <a:off x="1534" y="964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163" name="Rectangle 131"/>
            <p:cNvSpPr>
              <a:spLocks noChangeArrowheads="1"/>
            </p:cNvSpPr>
            <p:nvPr/>
          </p:nvSpPr>
          <p:spPr bwMode="auto">
            <a:xfrm>
              <a:off x="2049" y="870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164" name="Rectangle 132"/>
            <p:cNvSpPr>
              <a:spLocks noChangeArrowheads="1"/>
            </p:cNvSpPr>
            <p:nvPr/>
          </p:nvSpPr>
          <p:spPr bwMode="auto">
            <a:xfrm>
              <a:off x="457" y="698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165" name="Rectangle 133"/>
            <p:cNvSpPr>
              <a:spLocks noChangeArrowheads="1"/>
            </p:cNvSpPr>
            <p:nvPr/>
          </p:nvSpPr>
          <p:spPr bwMode="auto">
            <a:xfrm>
              <a:off x="963" y="526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166" name="Rectangle 134"/>
            <p:cNvSpPr>
              <a:spLocks noChangeArrowheads="1"/>
            </p:cNvSpPr>
            <p:nvPr/>
          </p:nvSpPr>
          <p:spPr bwMode="auto">
            <a:xfrm>
              <a:off x="945" y="240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167" name="Rectangle 135"/>
            <p:cNvSpPr>
              <a:spLocks noChangeArrowheads="1"/>
            </p:cNvSpPr>
            <p:nvPr/>
          </p:nvSpPr>
          <p:spPr bwMode="auto">
            <a:xfrm>
              <a:off x="1102" y="1261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168" name="Line 136"/>
            <p:cNvSpPr>
              <a:spLocks noChangeShapeType="1"/>
            </p:cNvSpPr>
            <p:nvPr/>
          </p:nvSpPr>
          <p:spPr bwMode="auto">
            <a:xfrm>
              <a:off x="1584" y="377"/>
              <a:ext cx="625" cy="10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169" name="Line 137"/>
            <p:cNvSpPr>
              <a:spLocks noChangeShapeType="1"/>
            </p:cNvSpPr>
            <p:nvPr/>
          </p:nvSpPr>
          <p:spPr bwMode="auto">
            <a:xfrm flipH="1">
              <a:off x="624" y="912"/>
              <a:ext cx="607" cy="219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80170" name="Group 138"/>
            <p:cNvGrpSpPr>
              <a:grpSpLocks/>
            </p:cNvGrpSpPr>
            <p:nvPr/>
          </p:nvGrpSpPr>
          <p:grpSpPr bwMode="auto">
            <a:xfrm>
              <a:off x="1405" y="276"/>
              <a:ext cx="227" cy="204"/>
              <a:chOff x="1405" y="756"/>
              <a:chExt cx="227" cy="204"/>
            </a:xfrm>
          </p:grpSpPr>
          <p:sp>
            <p:nvSpPr>
              <p:cNvPr id="80171" name="Rectangle 139"/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endParaRPr lang="en-US" sz="1800">
                  <a:latin typeface="Times New Roman" pitchFamily="18" charset="0"/>
                </a:endParaRPr>
              </a:p>
            </p:txBody>
          </p:sp>
          <p:sp>
            <p:nvSpPr>
              <p:cNvPr id="80172" name="Oval 140"/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4" name="Group 141"/>
          <p:cNvGrpSpPr>
            <a:grpSpLocks/>
          </p:cNvGrpSpPr>
          <p:nvPr/>
        </p:nvGrpSpPr>
        <p:grpSpPr bwMode="auto">
          <a:xfrm>
            <a:off x="685800" y="1152525"/>
            <a:ext cx="3200400" cy="1895475"/>
            <a:chOff x="432" y="1494"/>
            <a:chExt cx="2016" cy="1194"/>
          </a:xfrm>
        </p:grpSpPr>
        <p:grpSp>
          <p:nvGrpSpPr>
            <p:cNvPr id="80110" name="Group 142"/>
            <p:cNvGrpSpPr>
              <a:grpSpLocks/>
            </p:cNvGrpSpPr>
            <p:nvPr/>
          </p:nvGrpSpPr>
          <p:grpSpPr bwMode="auto">
            <a:xfrm>
              <a:off x="1405" y="1530"/>
              <a:ext cx="227" cy="204"/>
              <a:chOff x="1405" y="756"/>
              <a:chExt cx="227" cy="204"/>
            </a:xfrm>
          </p:grpSpPr>
          <p:sp>
            <p:nvSpPr>
              <p:cNvPr id="80144" name="Rectangle 143"/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endParaRPr lang="en-US" sz="1800">
                  <a:latin typeface="Times New Roman" pitchFamily="18" charset="0"/>
                </a:endParaRPr>
              </a:p>
            </p:txBody>
          </p:sp>
          <p:sp>
            <p:nvSpPr>
              <p:cNvPr id="80145" name="Oval 144"/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0111" name="Oval 145"/>
            <p:cNvSpPr>
              <a:spLocks noChangeArrowheads="1"/>
            </p:cNvSpPr>
            <p:nvPr/>
          </p:nvSpPr>
          <p:spPr bwMode="auto">
            <a:xfrm>
              <a:off x="441" y="1526"/>
              <a:ext cx="227" cy="204"/>
            </a:xfrm>
            <a:prstGeom prst="ellipse">
              <a:avLst/>
            </a:prstGeom>
            <a:solidFill>
              <a:srgbClr val="00CC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112" name="Line 146"/>
            <p:cNvSpPr>
              <a:spLocks noChangeShapeType="1"/>
            </p:cNvSpPr>
            <p:nvPr/>
          </p:nvSpPr>
          <p:spPr bwMode="auto">
            <a:xfrm>
              <a:off x="671" y="1623"/>
              <a:ext cx="711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113" name="Line 147"/>
            <p:cNvSpPr>
              <a:spLocks noChangeShapeType="1"/>
            </p:cNvSpPr>
            <p:nvPr/>
          </p:nvSpPr>
          <p:spPr bwMode="auto">
            <a:xfrm flipH="1">
              <a:off x="1392" y="1734"/>
              <a:ext cx="64" cy="282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114" name="Line 148"/>
            <p:cNvSpPr>
              <a:spLocks noChangeShapeType="1"/>
            </p:cNvSpPr>
            <p:nvPr/>
          </p:nvSpPr>
          <p:spPr bwMode="auto">
            <a:xfrm>
              <a:off x="1398" y="2210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115" name="Line 149"/>
            <p:cNvSpPr>
              <a:spLocks noChangeShapeType="1"/>
            </p:cNvSpPr>
            <p:nvPr/>
          </p:nvSpPr>
          <p:spPr bwMode="auto">
            <a:xfrm flipV="1">
              <a:off x="1748" y="1826"/>
              <a:ext cx="496" cy="60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116" name="Line 150"/>
            <p:cNvSpPr>
              <a:spLocks noChangeShapeType="1"/>
            </p:cNvSpPr>
            <p:nvPr/>
          </p:nvSpPr>
          <p:spPr bwMode="auto">
            <a:xfrm flipH="1" flipV="1">
              <a:off x="644" y="2476"/>
              <a:ext cx="911" cy="4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117" name="Line 151"/>
            <p:cNvSpPr>
              <a:spLocks noChangeShapeType="1"/>
            </p:cNvSpPr>
            <p:nvPr/>
          </p:nvSpPr>
          <p:spPr bwMode="auto">
            <a:xfrm>
              <a:off x="543" y="1717"/>
              <a:ext cx="0" cy="612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118" name="Line 152"/>
            <p:cNvSpPr>
              <a:spLocks noChangeShapeType="1"/>
            </p:cNvSpPr>
            <p:nvPr/>
          </p:nvSpPr>
          <p:spPr bwMode="auto">
            <a:xfrm>
              <a:off x="616" y="1693"/>
              <a:ext cx="635" cy="360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119" name="Rectangle 153"/>
            <p:cNvSpPr>
              <a:spLocks noChangeArrowheads="1"/>
            </p:cNvSpPr>
            <p:nvPr/>
          </p:nvSpPr>
          <p:spPr bwMode="auto">
            <a:xfrm>
              <a:off x="542" y="1571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grpSp>
          <p:nvGrpSpPr>
            <p:cNvPr id="80120" name="Group 154"/>
            <p:cNvGrpSpPr>
              <a:grpSpLocks/>
            </p:cNvGrpSpPr>
            <p:nvPr/>
          </p:nvGrpSpPr>
          <p:grpSpPr bwMode="auto">
            <a:xfrm>
              <a:off x="432" y="2310"/>
              <a:ext cx="227" cy="220"/>
              <a:chOff x="432" y="1536"/>
              <a:chExt cx="227" cy="220"/>
            </a:xfrm>
          </p:grpSpPr>
          <p:sp>
            <p:nvSpPr>
              <p:cNvPr id="80142" name="Oval 155"/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43" name="Rectangle 156"/>
              <p:cNvSpPr>
                <a:spLocks noChangeArrowheads="1"/>
              </p:cNvSpPr>
              <p:nvPr/>
            </p:nvSpPr>
            <p:spPr bwMode="auto">
              <a:xfrm>
                <a:off x="504" y="1536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0121" name="Group 157"/>
            <p:cNvGrpSpPr>
              <a:grpSpLocks/>
            </p:cNvGrpSpPr>
            <p:nvPr/>
          </p:nvGrpSpPr>
          <p:grpSpPr bwMode="auto">
            <a:xfrm>
              <a:off x="1246" y="2003"/>
              <a:ext cx="227" cy="224"/>
              <a:chOff x="1246" y="1229"/>
              <a:chExt cx="227" cy="224"/>
            </a:xfrm>
          </p:grpSpPr>
          <p:sp>
            <p:nvSpPr>
              <p:cNvPr id="80140" name="Oval 158"/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41" name="Rectangle 159"/>
              <p:cNvSpPr>
                <a:spLocks noChangeArrowheads="1"/>
              </p:cNvSpPr>
              <p:nvPr/>
            </p:nvSpPr>
            <p:spPr bwMode="auto">
              <a:xfrm>
                <a:off x="1349" y="1280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4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0122" name="Group 160"/>
            <p:cNvGrpSpPr>
              <a:grpSpLocks/>
            </p:cNvGrpSpPr>
            <p:nvPr/>
          </p:nvGrpSpPr>
          <p:grpSpPr bwMode="auto">
            <a:xfrm>
              <a:off x="1550" y="2398"/>
              <a:ext cx="227" cy="228"/>
              <a:chOff x="1550" y="1624"/>
              <a:chExt cx="227" cy="228"/>
            </a:xfrm>
          </p:grpSpPr>
          <p:sp>
            <p:nvSpPr>
              <p:cNvPr id="80138" name="Oval 161"/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39" name="Rectangle 162"/>
              <p:cNvSpPr>
                <a:spLocks noChangeArrowheads="1"/>
              </p:cNvSpPr>
              <p:nvPr/>
            </p:nvSpPr>
            <p:spPr bwMode="auto">
              <a:xfrm>
                <a:off x="1653" y="1679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5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0123" name="Group 163"/>
            <p:cNvGrpSpPr>
              <a:grpSpLocks/>
            </p:cNvGrpSpPr>
            <p:nvPr/>
          </p:nvGrpSpPr>
          <p:grpSpPr bwMode="auto">
            <a:xfrm>
              <a:off x="2222" y="1662"/>
              <a:ext cx="226" cy="205"/>
              <a:chOff x="2222" y="888"/>
              <a:chExt cx="226" cy="205"/>
            </a:xfrm>
          </p:grpSpPr>
          <p:sp>
            <p:nvSpPr>
              <p:cNvPr id="80136" name="Oval 164"/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37" name="Rectangle 165"/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6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sp>
          <p:nvSpPr>
            <p:cNvPr id="80124" name="Rectangle 166"/>
            <p:cNvSpPr>
              <a:spLocks noChangeArrowheads="1"/>
            </p:cNvSpPr>
            <p:nvPr/>
          </p:nvSpPr>
          <p:spPr bwMode="auto">
            <a:xfrm>
              <a:off x="890" y="2119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125" name="Rectangle 167"/>
            <p:cNvSpPr>
              <a:spLocks noChangeArrowheads="1"/>
            </p:cNvSpPr>
            <p:nvPr/>
          </p:nvSpPr>
          <p:spPr bwMode="auto">
            <a:xfrm>
              <a:off x="1874" y="1540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126" name="Rectangle 168"/>
            <p:cNvSpPr>
              <a:spLocks noChangeArrowheads="1"/>
            </p:cNvSpPr>
            <p:nvPr/>
          </p:nvSpPr>
          <p:spPr bwMode="auto">
            <a:xfrm>
              <a:off x="1469" y="1827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127" name="Rectangle 169"/>
            <p:cNvSpPr>
              <a:spLocks noChangeArrowheads="1"/>
            </p:cNvSpPr>
            <p:nvPr/>
          </p:nvSpPr>
          <p:spPr bwMode="auto">
            <a:xfrm>
              <a:off x="1534" y="2218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128" name="Rectangle 170"/>
            <p:cNvSpPr>
              <a:spLocks noChangeArrowheads="1"/>
            </p:cNvSpPr>
            <p:nvPr/>
          </p:nvSpPr>
          <p:spPr bwMode="auto">
            <a:xfrm>
              <a:off x="2049" y="2124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129" name="Rectangle 171"/>
            <p:cNvSpPr>
              <a:spLocks noChangeArrowheads="1"/>
            </p:cNvSpPr>
            <p:nvPr/>
          </p:nvSpPr>
          <p:spPr bwMode="auto">
            <a:xfrm>
              <a:off x="457" y="1952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130" name="Rectangle 172"/>
            <p:cNvSpPr>
              <a:spLocks noChangeArrowheads="1"/>
            </p:cNvSpPr>
            <p:nvPr/>
          </p:nvSpPr>
          <p:spPr bwMode="auto">
            <a:xfrm>
              <a:off x="963" y="1780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131" name="Rectangle 173"/>
            <p:cNvSpPr>
              <a:spLocks noChangeArrowheads="1"/>
            </p:cNvSpPr>
            <p:nvPr/>
          </p:nvSpPr>
          <p:spPr bwMode="auto">
            <a:xfrm>
              <a:off x="945" y="1494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132" name="Rectangle 174"/>
            <p:cNvSpPr>
              <a:spLocks noChangeArrowheads="1"/>
            </p:cNvSpPr>
            <p:nvPr/>
          </p:nvSpPr>
          <p:spPr bwMode="auto">
            <a:xfrm>
              <a:off x="1102" y="2515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133" name="Line 175"/>
            <p:cNvSpPr>
              <a:spLocks noChangeShapeType="1"/>
            </p:cNvSpPr>
            <p:nvPr/>
          </p:nvSpPr>
          <p:spPr bwMode="auto">
            <a:xfrm>
              <a:off x="1584" y="1631"/>
              <a:ext cx="625" cy="103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134" name="Line 176"/>
            <p:cNvSpPr>
              <a:spLocks noChangeShapeType="1"/>
            </p:cNvSpPr>
            <p:nvPr/>
          </p:nvSpPr>
          <p:spPr bwMode="auto">
            <a:xfrm flipH="1">
              <a:off x="624" y="2166"/>
              <a:ext cx="607" cy="219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135" name="Rectangle 177"/>
            <p:cNvSpPr>
              <a:spLocks noChangeArrowheads="1"/>
            </p:cNvSpPr>
            <p:nvPr/>
          </p:nvSpPr>
          <p:spPr bwMode="auto">
            <a:xfrm>
              <a:off x="1488" y="1555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</p:grpSp>
      <p:grpSp>
        <p:nvGrpSpPr>
          <p:cNvPr id="20" name="Group 178"/>
          <p:cNvGrpSpPr>
            <a:grpSpLocks/>
          </p:cNvGrpSpPr>
          <p:nvPr/>
        </p:nvGrpSpPr>
        <p:grpSpPr bwMode="auto">
          <a:xfrm>
            <a:off x="4572000" y="1143000"/>
            <a:ext cx="3200400" cy="1895475"/>
            <a:chOff x="432" y="2748"/>
            <a:chExt cx="2016" cy="1194"/>
          </a:xfrm>
        </p:grpSpPr>
        <p:sp>
          <p:nvSpPr>
            <p:cNvPr id="80074" name="Oval 179"/>
            <p:cNvSpPr>
              <a:spLocks noChangeArrowheads="1"/>
            </p:cNvSpPr>
            <p:nvPr/>
          </p:nvSpPr>
          <p:spPr bwMode="auto">
            <a:xfrm>
              <a:off x="441" y="2780"/>
              <a:ext cx="227" cy="204"/>
            </a:xfrm>
            <a:prstGeom prst="ellipse">
              <a:avLst/>
            </a:prstGeom>
            <a:solidFill>
              <a:srgbClr val="00CC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075" name="Line 180"/>
            <p:cNvSpPr>
              <a:spLocks noChangeShapeType="1"/>
            </p:cNvSpPr>
            <p:nvPr/>
          </p:nvSpPr>
          <p:spPr bwMode="auto">
            <a:xfrm>
              <a:off x="671" y="2877"/>
              <a:ext cx="711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076" name="Line 181"/>
            <p:cNvSpPr>
              <a:spLocks noChangeShapeType="1"/>
            </p:cNvSpPr>
            <p:nvPr/>
          </p:nvSpPr>
          <p:spPr bwMode="auto">
            <a:xfrm flipH="1">
              <a:off x="1392" y="2988"/>
              <a:ext cx="64" cy="282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077" name="Line 182"/>
            <p:cNvSpPr>
              <a:spLocks noChangeShapeType="1"/>
            </p:cNvSpPr>
            <p:nvPr/>
          </p:nvSpPr>
          <p:spPr bwMode="auto">
            <a:xfrm>
              <a:off x="1398" y="3464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078" name="Line 183"/>
            <p:cNvSpPr>
              <a:spLocks noChangeShapeType="1"/>
            </p:cNvSpPr>
            <p:nvPr/>
          </p:nvSpPr>
          <p:spPr bwMode="auto">
            <a:xfrm flipV="1">
              <a:off x="1748" y="3080"/>
              <a:ext cx="496" cy="60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079" name="Line 184"/>
            <p:cNvSpPr>
              <a:spLocks noChangeShapeType="1"/>
            </p:cNvSpPr>
            <p:nvPr/>
          </p:nvSpPr>
          <p:spPr bwMode="auto">
            <a:xfrm flipH="1" flipV="1">
              <a:off x="644" y="3730"/>
              <a:ext cx="911" cy="47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080" name="Line 185"/>
            <p:cNvSpPr>
              <a:spLocks noChangeShapeType="1"/>
            </p:cNvSpPr>
            <p:nvPr/>
          </p:nvSpPr>
          <p:spPr bwMode="auto">
            <a:xfrm>
              <a:off x="543" y="2971"/>
              <a:ext cx="0" cy="612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081" name="Line 186"/>
            <p:cNvSpPr>
              <a:spLocks noChangeShapeType="1"/>
            </p:cNvSpPr>
            <p:nvPr/>
          </p:nvSpPr>
          <p:spPr bwMode="auto">
            <a:xfrm>
              <a:off x="616" y="2947"/>
              <a:ext cx="635" cy="360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082" name="Rectangle 187"/>
            <p:cNvSpPr>
              <a:spLocks noChangeArrowheads="1"/>
            </p:cNvSpPr>
            <p:nvPr/>
          </p:nvSpPr>
          <p:spPr bwMode="auto">
            <a:xfrm>
              <a:off x="542" y="2825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grpSp>
          <p:nvGrpSpPr>
            <p:cNvPr id="80083" name="Group 188"/>
            <p:cNvGrpSpPr>
              <a:grpSpLocks/>
            </p:cNvGrpSpPr>
            <p:nvPr/>
          </p:nvGrpSpPr>
          <p:grpSpPr bwMode="auto">
            <a:xfrm>
              <a:off x="432" y="3564"/>
              <a:ext cx="227" cy="220"/>
              <a:chOff x="432" y="1536"/>
              <a:chExt cx="227" cy="220"/>
            </a:xfrm>
          </p:grpSpPr>
          <p:sp>
            <p:nvSpPr>
              <p:cNvPr id="80108" name="Oval 189"/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09" name="Rectangle 190"/>
              <p:cNvSpPr>
                <a:spLocks noChangeArrowheads="1"/>
              </p:cNvSpPr>
              <p:nvPr/>
            </p:nvSpPr>
            <p:spPr bwMode="auto">
              <a:xfrm>
                <a:off x="504" y="1536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0084" name="Group 191"/>
            <p:cNvGrpSpPr>
              <a:grpSpLocks/>
            </p:cNvGrpSpPr>
            <p:nvPr/>
          </p:nvGrpSpPr>
          <p:grpSpPr bwMode="auto">
            <a:xfrm>
              <a:off x="1246" y="3257"/>
              <a:ext cx="227" cy="224"/>
              <a:chOff x="1246" y="1229"/>
              <a:chExt cx="227" cy="224"/>
            </a:xfrm>
          </p:grpSpPr>
          <p:sp>
            <p:nvSpPr>
              <p:cNvPr id="80106" name="Oval 192"/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07" name="Rectangle 193"/>
              <p:cNvSpPr>
                <a:spLocks noChangeArrowheads="1"/>
              </p:cNvSpPr>
              <p:nvPr/>
            </p:nvSpPr>
            <p:spPr bwMode="auto">
              <a:xfrm>
                <a:off x="1349" y="1280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4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0085" name="Group 194"/>
            <p:cNvGrpSpPr>
              <a:grpSpLocks/>
            </p:cNvGrpSpPr>
            <p:nvPr/>
          </p:nvGrpSpPr>
          <p:grpSpPr bwMode="auto">
            <a:xfrm>
              <a:off x="1550" y="3652"/>
              <a:ext cx="227" cy="228"/>
              <a:chOff x="1550" y="1624"/>
              <a:chExt cx="227" cy="228"/>
            </a:xfrm>
          </p:grpSpPr>
          <p:sp>
            <p:nvSpPr>
              <p:cNvPr id="80104" name="Oval 195"/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05" name="Rectangle 196"/>
              <p:cNvSpPr>
                <a:spLocks noChangeArrowheads="1"/>
              </p:cNvSpPr>
              <p:nvPr/>
            </p:nvSpPr>
            <p:spPr bwMode="auto">
              <a:xfrm>
                <a:off x="1653" y="1679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5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0086" name="Group 197"/>
            <p:cNvGrpSpPr>
              <a:grpSpLocks/>
            </p:cNvGrpSpPr>
            <p:nvPr/>
          </p:nvGrpSpPr>
          <p:grpSpPr bwMode="auto">
            <a:xfrm>
              <a:off x="2222" y="2916"/>
              <a:ext cx="226" cy="205"/>
              <a:chOff x="2222" y="888"/>
              <a:chExt cx="226" cy="205"/>
            </a:xfrm>
          </p:grpSpPr>
          <p:sp>
            <p:nvSpPr>
              <p:cNvPr id="80102" name="Oval 198"/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03" name="Rectangle 199"/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6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sp>
          <p:nvSpPr>
            <p:cNvPr id="80087" name="Rectangle 200"/>
            <p:cNvSpPr>
              <a:spLocks noChangeArrowheads="1"/>
            </p:cNvSpPr>
            <p:nvPr/>
          </p:nvSpPr>
          <p:spPr bwMode="auto">
            <a:xfrm>
              <a:off x="890" y="3373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088" name="Rectangle 201"/>
            <p:cNvSpPr>
              <a:spLocks noChangeArrowheads="1"/>
            </p:cNvSpPr>
            <p:nvPr/>
          </p:nvSpPr>
          <p:spPr bwMode="auto">
            <a:xfrm>
              <a:off x="1874" y="2794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089" name="Rectangle 202"/>
            <p:cNvSpPr>
              <a:spLocks noChangeArrowheads="1"/>
            </p:cNvSpPr>
            <p:nvPr/>
          </p:nvSpPr>
          <p:spPr bwMode="auto">
            <a:xfrm>
              <a:off x="1469" y="3081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090" name="Rectangle 203"/>
            <p:cNvSpPr>
              <a:spLocks noChangeArrowheads="1"/>
            </p:cNvSpPr>
            <p:nvPr/>
          </p:nvSpPr>
          <p:spPr bwMode="auto">
            <a:xfrm>
              <a:off x="1534" y="3472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091" name="Rectangle 204"/>
            <p:cNvSpPr>
              <a:spLocks noChangeArrowheads="1"/>
            </p:cNvSpPr>
            <p:nvPr/>
          </p:nvSpPr>
          <p:spPr bwMode="auto">
            <a:xfrm>
              <a:off x="2049" y="3378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092" name="Rectangle 205"/>
            <p:cNvSpPr>
              <a:spLocks noChangeArrowheads="1"/>
            </p:cNvSpPr>
            <p:nvPr/>
          </p:nvSpPr>
          <p:spPr bwMode="auto">
            <a:xfrm>
              <a:off x="457" y="3206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093" name="Rectangle 206"/>
            <p:cNvSpPr>
              <a:spLocks noChangeArrowheads="1"/>
            </p:cNvSpPr>
            <p:nvPr/>
          </p:nvSpPr>
          <p:spPr bwMode="auto">
            <a:xfrm>
              <a:off x="963" y="3034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094" name="Rectangle 207"/>
            <p:cNvSpPr>
              <a:spLocks noChangeArrowheads="1"/>
            </p:cNvSpPr>
            <p:nvPr/>
          </p:nvSpPr>
          <p:spPr bwMode="auto">
            <a:xfrm>
              <a:off x="945" y="2748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095" name="Rectangle 208"/>
            <p:cNvSpPr>
              <a:spLocks noChangeArrowheads="1"/>
            </p:cNvSpPr>
            <p:nvPr/>
          </p:nvSpPr>
          <p:spPr bwMode="auto">
            <a:xfrm>
              <a:off x="1102" y="3769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096" name="Line 209"/>
            <p:cNvSpPr>
              <a:spLocks noChangeShapeType="1"/>
            </p:cNvSpPr>
            <p:nvPr/>
          </p:nvSpPr>
          <p:spPr bwMode="auto">
            <a:xfrm>
              <a:off x="1584" y="2885"/>
              <a:ext cx="625" cy="103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097" name="Line 210"/>
            <p:cNvSpPr>
              <a:spLocks noChangeShapeType="1"/>
            </p:cNvSpPr>
            <p:nvPr/>
          </p:nvSpPr>
          <p:spPr bwMode="auto">
            <a:xfrm flipH="1">
              <a:off x="624" y="3420"/>
              <a:ext cx="607" cy="219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80098" name="Group 211"/>
            <p:cNvGrpSpPr>
              <a:grpSpLocks/>
            </p:cNvGrpSpPr>
            <p:nvPr/>
          </p:nvGrpSpPr>
          <p:grpSpPr bwMode="auto">
            <a:xfrm>
              <a:off x="1405" y="2784"/>
              <a:ext cx="227" cy="204"/>
              <a:chOff x="1405" y="756"/>
              <a:chExt cx="227" cy="204"/>
            </a:xfrm>
          </p:grpSpPr>
          <p:sp>
            <p:nvSpPr>
              <p:cNvPr id="80100" name="Rectangle 212"/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endParaRPr lang="en-US" sz="1800">
                  <a:latin typeface="Times New Roman" pitchFamily="18" charset="0"/>
                </a:endParaRPr>
              </a:p>
            </p:txBody>
          </p:sp>
          <p:sp>
            <p:nvSpPr>
              <p:cNvPr id="80101" name="Oval 213"/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0099" name="Rectangle 214"/>
            <p:cNvSpPr>
              <a:spLocks noChangeArrowheads="1"/>
            </p:cNvSpPr>
            <p:nvPr/>
          </p:nvSpPr>
          <p:spPr bwMode="auto">
            <a:xfrm>
              <a:off x="1488" y="2803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</p:grpSp>
      <p:grpSp>
        <p:nvGrpSpPr>
          <p:cNvPr id="26" name="Group 215"/>
          <p:cNvGrpSpPr>
            <a:grpSpLocks/>
          </p:cNvGrpSpPr>
          <p:nvPr/>
        </p:nvGrpSpPr>
        <p:grpSpPr bwMode="auto">
          <a:xfrm>
            <a:off x="685800" y="1143000"/>
            <a:ext cx="3200400" cy="1895475"/>
            <a:chOff x="3120" y="2790"/>
            <a:chExt cx="2016" cy="1194"/>
          </a:xfrm>
        </p:grpSpPr>
        <p:sp>
          <p:nvSpPr>
            <p:cNvPr id="80038" name="Oval 216"/>
            <p:cNvSpPr>
              <a:spLocks noChangeArrowheads="1"/>
            </p:cNvSpPr>
            <p:nvPr/>
          </p:nvSpPr>
          <p:spPr bwMode="auto">
            <a:xfrm>
              <a:off x="3129" y="2822"/>
              <a:ext cx="227" cy="204"/>
            </a:xfrm>
            <a:prstGeom prst="ellipse">
              <a:avLst/>
            </a:prstGeom>
            <a:solidFill>
              <a:srgbClr val="00CC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039" name="Line 217"/>
            <p:cNvSpPr>
              <a:spLocks noChangeShapeType="1"/>
            </p:cNvSpPr>
            <p:nvPr/>
          </p:nvSpPr>
          <p:spPr bwMode="auto">
            <a:xfrm>
              <a:off x="3359" y="2919"/>
              <a:ext cx="711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040" name="Line 218"/>
            <p:cNvSpPr>
              <a:spLocks noChangeShapeType="1"/>
            </p:cNvSpPr>
            <p:nvPr/>
          </p:nvSpPr>
          <p:spPr bwMode="auto">
            <a:xfrm flipH="1">
              <a:off x="4080" y="3030"/>
              <a:ext cx="64" cy="282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041" name="Line 219"/>
            <p:cNvSpPr>
              <a:spLocks noChangeShapeType="1"/>
            </p:cNvSpPr>
            <p:nvPr/>
          </p:nvSpPr>
          <p:spPr bwMode="auto">
            <a:xfrm>
              <a:off x="4086" y="3506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042" name="Line 220"/>
            <p:cNvSpPr>
              <a:spLocks noChangeShapeType="1"/>
            </p:cNvSpPr>
            <p:nvPr/>
          </p:nvSpPr>
          <p:spPr bwMode="auto">
            <a:xfrm flipV="1">
              <a:off x="4436" y="3122"/>
              <a:ext cx="496" cy="603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043" name="Line 221"/>
            <p:cNvSpPr>
              <a:spLocks noChangeShapeType="1"/>
            </p:cNvSpPr>
            <p:nvPr/>
          </p:nvSpPr>
          <p:spPr bwMode="auto">
            <a:xfrm flipH="1" flipV="1">
              <a:off x="3332" y="3772"/>
              <a:ext cx="911" cy="47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044" name="Line 222"/>
            <p:cNvSpPr>
              <a:spLocks noChangeShapeType="1"/>
            </p:cNvSpPr>
            <p:nvPr/>
          </p:nvSpPr>
          <p:spPr bwMode="auto">
            <a:xfrm>
              <a:off x="3231" y="3013"/>
              <a:ext cx="0" cy="612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045" name="Line 223"/>
            <p:cNvSpPr>
              <a:spLocks noChangeShapeType="1"/>
            </p:cNvSpPr>
            <p:nvPr/>
          </p:nvSpPr>
          <p:spPr bwMode="auto">
            <a:xfrm>
              <a:off x="3304" y="2989"/>
              <a:ext cx="635" cy="360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046" name="Rectangle 224"/>
            <p:cNvSpPr>
              <a:spLocks noChangeArrowheads="1"/>
            </p:cNvSpPr>
            <p:nvPr/>
          </p:nvSpPr>
          <p:spPr bwMode="auto">
            <a:xfrm>
              <a:off x="3230" y="2867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grpSp>
          <p:nvGrpSpPr>
            <p:cNvPr id="80047" name="Group 225"/>
            <p:cNvGrpSpPr>
              <a:grpSpLocks/>
            </p:cNvGrpSpPr>
            <p:nvPr/>
          </p:nvGrpSpPr>
          <p:grpSpPr bwMode="auto">
            <a:xfrm>
              <a:off x="3120" y="3606"/>
              <a:ext cx="227" cy="220"/>
              <a:chOff x="432" y="1536"/>
              <a:chExt cx="227" cy="220"/>
            </a:xfrm>
          </p:grpSpPr>
          <p:sp>
            <p:nvSpPr>
              <p:cNvPr id="80072" name="Oval 226"/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73" name="Rectangle 227"/>
              <p:cNvSpPr>
                <a:spLocks noChangeArrowheads="1"/>
              </p:cNvSpPr>
              <p:nvPr/>
            </p:nvSpPr>
            <p:spPr bwMode="auto">
              <a:xfrm>
                <a:off x="504" y="1536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0048" name="Group 228"/>
            <p:cNvGrpSpPr>
              <a:grpSpLocks/>
            </p:cNvGrpSpPr>
            <p:nvPr/>
          </p:nvGrpSpPr>
          <p:grpSpPr bwMode="auto">
            <a:xfrm>
              <a:off x="3934" y="3299"/>
              <a:ext cx="227" cy="224"/>
              <a:chOff x="1246" y="1229"/>
              <a:chExt cx="227" cy="224"/>
            </a:xfrm>
          </p:grpSpPr>
          <p:sp>
            <p:nvSpPr>
              <p:cNvPr id="80070" name="Oval 229"/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71" name="Rectangle 230"/>
              <p:cNvSpPr>
                <a:spLocks noChangeArrowheads="1"/>
              </p:cNvSpPr>
              <p:nvPr/>
            </p:nvSpPr>
            <p:spPr bwMode="auto">
              <a:xfrm>
                <a:off x="1349" y="1280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4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0049" name="Group 231"/>
            <p:cNvGrpSpPr>
              <a:grpSpLocks/>
            </p:cNvGrpSpPr>
            <p:nvPr/>
          </p:nvGrpSpPr>
          <p:grpSpPr bwMode="auto">
            <a:xfrm>
              <a:off x="4238" y="3694"/>
              <a:ext cx="227" cy="228"/>
              <a:chOff x="1550" y="1624"/>
              <a:chExt cx="227" cy="228"/>
            </a:xfrm>
          </p:grpSpPr>
          <p:sp>
            <p:nvSpPr>
              <p:cNvPr id="80068" name="Oval 232"/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69" name="Rectangle 233"/>
              <p:cNvSpPr>
                <a:spLocks noChangeArrowheads="1"/>
              </p:cNvSpPr>
              <p:nvPr/>
            </p:nvSpPr>
            <p:spPr bwMode="auto">
              <a:xfrm>
                <a:off x="1653" y="1679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5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0050" name="Group 234"/>
            <p:cNvGrpSpPr>
              <a:grpSpLocks/>
            </p:cNvGrpSpPr>
            <p:nvPr/>
          </p:nvGrpSpPr>
          <p:grpSpPr bwMode="auto">
            <a:xfrm>
              <a:off x="4910" y="2958"/>
              <a:ext cx="226" cy="205"/>
              <a:chOff x="2222" y="888"/>
              <a:chExt cx="226" cy="205"/>
            </a:xfrm>
          </p:grpSpPr>
          <p:sp>
            <p:nvSpPr>
              <p:cNvPr id="80066" name="Oval 235"/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67" name="Rectangle 236"/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6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sp>
          <p:nvSpPr>
            <p:cNvPr id="80051" name="Rectangle 237"/>
            <p:cNvSpPr>
              <a:spLocks noChangeArrowheads="1"/>
            </p:cNvSpPr>
            <p:nvPr/>
          </p:nvSpPr>
          <p:spPr bwMode="auto">
            <a:xfrm>
              <a:off x="3578" y="3415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052" name="Rectangle 238"/>
            <p:cNvSpPr>
              <a:spLocks noChangeArrowheads="1"/>
            </p:cNvSpPr>
            <p:nvPr/>
          </p:nvSpPr>
          <p:spPr bwMode="auto">
            <a:xfrm>
              <a:off x="4562" y="2836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053" name="Rectangle 239"/>
            <p:cNvSpPr>
              <a:spLocks noChangeArrowheads="1"/>
            </p:cNvSpPr>
            <p:nvPr/>
          </p:nvSpPr>
          <p:spPr bwMode="auto">
            <a:xfrm>
              <a:off x="4157" y="3123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054" name="Rectangle 240"/>
            <p:cNvSpPr>
              <a:spLocks noChangeArrowheads="1"/>
            </p:cNvSpPr>
            <p:nvPr/>
          </p:nvSpPr>
          <p:spPr bwMode="auto">
            <a:xfrm>
              <a:off x="4222" y="3514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055" name="Rectangle 241"/>
            <p:cNvSpPr>
              <a:spLocks noChangeArrowheads="1"/>
            </p:cNvSpPr>
            <p:nvPr/>
          </p:nvSpPr>
          <p:spPr bwMode="auto">
            <a:xfrm>
              <a:off x="4737" y="3420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056" name="Rectangle 242"/>
            <p:cNvSpPr>
              <a:spLocks noChangeArrowheads="1"/>
            </p:cNvSpPr>
            <p:nvPr/>
          </p:nvSpPr>
          <p:spPr bwMode="auto">
            <a:xfrm>
              <a:off x="3145" y="3248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057" name="Rectangle 243"/>
            <p:cNvSpPr>
              <a:spLocks noChangeArrowheads="1"/>
            </p:cNvSpPr>
            <p:nvPr/>
          </p:nvSpPr>
          <p:spPr bwMode="auto">
            <a:xfrm>
              <a:off x="3651" y="3076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058" name="Rectangle 244"/>
            <p:cNvSpPr>
              <a:spLocks noChangeArrowheads="1"/>
            </p:cNvSpPr>
            <p:nvPr/>
          </p:nvSpPr>
          <p:spPr bwMode="auto">
            <a:xfrm>
              <a:off x="3633" y="2790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059" name="Rectangle 245"/>
            <p:cNvSpPr>
              <a:spLocks noChangeArrowheads="1"/>
            </p:cNvSpPr>
            <p:nvPr/>
          </p:nvSpPr>
          <p:spPr bwMode="auto">
            <a:xfrm>
              <a:off x="3790" y="3811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060" name="Line 246"/>
            <p:cNvSpPr>
              <a:spLocks noChangeShapeType="1"/>
            </p:cNvSpPr>
            <p:nvPr/>
          </p:nvSpPr>
          <p:spPr bwMode="auto">
            <a:xfrm>
              <a:off x="4272" y="2927"/>
              <a:ext cx="625" cy="103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061" name="Line 247"/>
            <p:cNvSpPr>
              <a:spLocks noChangeShapeType="1"/>
            </p:cNvSpPr>
            <p:nvPr/>
          </p:nvSpPr>
          <p:spPr bwMode="auto">
            <a:xfrm flipH="1">
              <a:off x="3312" y="3462"/>
              <a:ext cx="607" cy="219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80062" name="Group 248"/>
            <p:cNvGrpSpPr>
              <a:grpSpLocks/>
            </p:cNvGrpSpPr>
            <p:nvPr/>
          </p:nvGrpSpPr>
          <p:grpSpPr bwMode="auto">
            <a:xfrm>
              <a:off x="4093" y="2826"/>
              <a:ext cx="227" cy="204"/>
              <a:chOff x="1405" y="756"/>
              <a:chExt cx="227" cy="204"/>
            </a:xfrm>
          </p:grpSpPr>
          <p:sp>
            <p:nvSpPr>
              <p:cNvPr id="80064" name="Rectangle 249"/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endParaRPr lang="en-US" sz="1800">
                  <a:latin typeface="Times New Roman" pitchFamily="18" charset="0"/>
                </a:endParaRPr>
              </a:p>
            </p:txBody>
          </p:sp>
          <p:sp>
            <p:nvSpPr>
              <p:cNvPr id="80065" name="Oval 250"/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0063" name="Rectangle 251"/>
            <p:cNvSpPr>
              <a:spLocks noChangeArrowheads="1"/>
            </p:cNvSpPr>
            <p:nvPr/>
          </p:nvSpPr>
          <p:spPr bwMode="auto">
            <a:xfrm>
              <a:off x="4176" y="2845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</p:grpSp>
      <p:grpSp>
        <p:nvGrpSpPr>
          <p:cNvPr id="79872" name="Group 252"/>
          <p:cNvGrpSpPr>
            <a:grpSpLocks/>
          </p:cNvGrpSpPr>
          <p:nvPr/>
        </p:nvGrpSpPr>
        <p:grpSpPr bwMode="auto">
          <a:xfrm>
            <a:off x="4572000" y="1143000"/>
            <a:ext cx="3200400" cy="1895475"/>
            <a:chOff x="3072" y="1488"/>
            <a:chExt cx="2016" cy="1194"/>
          </a:xfrm>
        </p:grpSpPr>
        <p:sp>
          <p:nvSpPr>
            <p:cNvPr id="80002" name="Oval 253"/>
            <p:cNvSpPr>
              <a:spLocks noChangeArrowheads="1"/>
            </p:cNvSpPr>
            <p:nvPr/>
          </p:nvSpPr>
          <p:spPr bwMode="auto">
            <a:xfrm>
              <a:off x="3081" y="1520"/>
              <a:ext cx="227" cy="204"/>
            </a:xfrm>
            <a:prstGeom prst="ellipse">
              <a:avLst/>
            </a:prstGeom>
            <a:solidFill>
              <a:srgbClr val="00CC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003" name="Line 254"/>
            <p:cNvSpPr>
              <a:spLocks noChangeShapeType="1"/>
            </p:cNvSpPr>
            <p:nvPr/>
          </p:nvSpPr>
          <p:spPr bwMode="auto">
            <a:xfrm>
              <a:off x="3311" y="1617"/>
              <a:ext cx="711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004" name="Line 255"/>
            <p:cNvSpPr>
              <a:spLocks noChangeShapeType="1"/>
            </p:cNvSpPr>
            <p:nvPr/>
          </p:nvSpPr>
          <p:spPr bwMode="auto">
            <a:xfrm flipH="1">
              <a:off x="4032" y="1728"/>
              <a:ext cx="64" cy="282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005" name="Line 256"/>
            <p:cNvSpPr>
              <a:spLocks noChangeShapeType="1"/>
            </p:cNvSpPr>
            <p:nvPr/>
          </p:nvSpPr>
          <p:spPr bwMode="auto">
            <a:xfrm>
              <a:off x="4038" y="2204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006" name="Line 257"/>
            <p:cNvSpPr>
              <a:spLocks noChangeShapeType="1"/>
            </p:cNvSpPr>
            <p:nvPr/>
          </p:nvSpPr>
          <p:spPr bwMode="auto">
            <a:xfrm flipV="1">
              <a:off x="4388" y="1820"/>
              <a:ext cx="496" cy="603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007" name="Line 258"/>
            <p:cNvSpPr>
              <a:spLocks noChangeShapeType="1"/>
            </p:cNvSpPr>
            <p:nvPr/>
          </p:nvSpPr>
          <p:spPr bwMode="auto">
            <a:xfrm flipH="1" flipV="1">
              <a:off x="3284" y="2470"/>
              <a:ext cx="911" cy="47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008" name="Line 259"/>
            <p:cNvSpPr>
              <a:spLocks noChangeShapeType="1"/>
            </p:cNvSpPr>
            <p:nvPr/>
          </p:nvSpPr>
          <p:spPr bwMode="auto">
            <a:xfrm>
              <a:off x="3183" y="1711"/>
              <a:ext cx="0" cy="612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009" name="Line 260"/>
            <p:cNvSpPr>
              <a:spLocks noChangeShapeType="1"/>
            </p:cNvSpPr>
            <p:nvPr/>
          </p:nvSpPr>
          <p:spPr bwMode="auto">
            <a:xfrm>
              <a:off x="3256" y="1687"/>
              <a:ext cx="635" cy="360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010" name="Rectangle 261"/>
            <p:cNvSpPr>
              <a:spLocks noChangeArrowheads="1"/>
            </p:cNvSpPr>
            <p:nvPr/>
          </p:nvSpPr>
          <p:spPr bwMode="auto">
            <a:xfrm>
              <a:off x="3182" y="1565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grpSp>
          <p:nvGrpSpPr>
            <p:cNvPr id="80011" name="Group 262"/>
            <p:cNvGrpSpPr>
              <a:grpSpLocks/>
            </p:cNvGrpSpPr>
            <p:nvPr/>
          </p:nvGrpSpPr>
          <p:grpSpPr bwMode="auto">
            <a:xfrm>
              <a:off x="3072" y="2304"/>
              <a:ext cx="227" cy="220"/>
              <a:chOff x="432" y="1536"/>
              <a:chExt cx="227" cy="220"/>
            </a:xfrm>
          </p:grpSpPr>
          <p:sp>
            <p:nvSpPr>
              <p:cNvPr id="80036" name="Oval 263"/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37" name="Rectangle 264"/>
              <p:cNvSpPr>
                <a:spLocks noChangeArrowheads="1"/>
              </p:cNvSpPr>
              <p:nvPr/>
            </p:nvSpPr>
            <p:spPr bwMode="auto">
              <a:xfrm>
                <a:off x="504" y="1536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0012" name="Group 265"/>
            <p:cNvGrpSpPr>
              <a:grpSpLocks/>
            </p:cNvGrpSpPr>
            <p:nvPr/>
          </p:nvGrpSpPr>
          <p:grpSpPr bwMode="auto">
            <a:xfrm>
              <a:off x="3886" y="1997"/>
              <a:ext cx="227" cy="224"/>
              <a:chOff x="1246" y="1229"/>
              <a:chExt cx="227" cy="224"/>
            </a:xfrm>
          </p:grpSpPr>
          <p:sp>
            <p:nvSpPr>
              <p:cNvPr id="80034" name="Oval 266"/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35" name="Rectangle 267"/>
              <p:cNvSpPr>
                <a:spLocks noChangeArrowheads="1"/>
              </p:cNvSpPr>
              <p:nvPr/>
            </p:nvSpPr>
            <p:spPr bwMode="auto">
              <a:xfrm>
                <a:off x="1349" y="1280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4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0013" name="Group 268"/>
            <p:cNvGrpSpPr>
              <a:grpSpLocks/>
            </p:cNvGrpSpPr>
            <p:nvPr/>
          </p:nvGrpSpPr>
          <p:grpSpPr bwMode="auto">
            <a:xfrm>
              <a:off x="4190" y="2392"/>
              <a:ext cx="227" cy="228"/>
              <a:chOff x="1550" y="1624"/>
              <a:chExt cx="227" cy="228"/>
            </a:xfrm>
          </p:grpSpPr>
          <p:sp>
            <p:nvSpPr>
              <p:cNvPr id="80032" name="Oval 269"/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33" name="Rectangle 270"/>
              <p:cNvSpPr>
                <a:spLocks noChangeArrowheads="1"/>
              </p:cNvSpPr>
              <p:nvPr/>
            </p:nvSpPr>
            <p:spPr bwMode="auto">
              <a:xfrm>
                <a:off x="1653" y="1679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5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0014" name="Group 271"/>
            <p:cNvGrpSpPr>
              <a:grpSpLocks/>
            </p:cNvGrpSpPr>
            <p:nvPr/>
          </p:nvGrpSpPr>
          <p:grpSpPr bwMode="auto">
            <a:xfrm>
              <a:off x="4862" y="1656"/>
              <a:ext cx="226" cy="205"/>
              <a:chOff x="2222" y="888"/>
              <a:chExt cx="226" cy="205"/>
            </a:xfrm>
          </p:grpSpPr>
          <p:sp>
            <p:nvSpPr>
              <p:cNvPr id="80030" name="Oval 272"/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31" name="Rectangle 273"/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6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sp>
          <p:nvSpPr>
            <p:cNvPr id="80015" name="Rectangle 274"/>
            <p:cNvSpPr>
              <a:spLocks noChangeArrowheads="1"/>
            </p:cNvSpPr>
            <p:nvPr/>
          </p:nvSpPr>
          <p:spPr bwMode="auto">
            <a:xfrm>
              <a:off x="3530" y="2113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016" name="Rectangle 275"/>
            <p:cNvSpPr>
              <a:spLocks noChangeArrowheads="1"/>
            </p:cNvSpPr>
            <p:nvPr/>
          </p:nvSpPr>
          <p:spPr bwMode="auto">
            <a:xfrm>
              <a:off x="4514" y="1534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017" name="Rectangle 276"/>
            <p:cNvSpPr>
              <a:spLocks noChangeArrowheads="1"/>
            </p:cNvSpPr>
            <p:nvPr/>
          </p:nvSpPr>
          <p:spPr bwMode="auto">
            <a:xfrm>
              <a:off x="4109" y="1821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018" name="Rectangle 277"/>
            <p:cNvSpPr>
              <a:spLocks noChangeArrowheads="1"/>
            </p:cNvSpPr>
            <p:nvPr/>
          </p:nvSpPr>
          <p:spPr bwMode="auto">
            <a:xfrm>
              <a:off x="4174" y="2212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019" name="Rectangle 278"/>
            <p:cNvSpPr>
              <a:spLocks noChangeArrowheads="1"/>
            </p:cNvSpPr>
            <p:nvPr/>
          </p:nvSpPr>
          <p:spPr bwMode="auto">
            <a:xfrm>
              <a:off x="4689" y="2118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020" name="Rectangle 279"/>
            <p:cNvSpPr>
              <a:spLocks noChangeArrowheads="1"/>
            </p:cNvSpPr>
            <p:nvPr/>
          </p:nvSpPr>
          <p:spPr bwMode="auto">
            <a:xfrm>
              <a:off x="3097" y="1946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021" name="Rectangle 280"/>
            <p:cNvSpPr>
              <a:spLocks noChangeArrowheads="1"/>
            </p:cNvSpPr>
            <p:nvPr/>
          </p:nvSpPr>
          <p:spPr bwMode="auto">
            <a:xfrm>
              <a:off x="3603" y="1774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022" name="Rectangle 281"/>
            <p:cNvSpPr>
              <a:spLocks noChangeArrowheads="1"/>
            </p:cNvSpPr>
            <p:nvPr/>
          </p:nvSpPr>
          <p:spPr bwMode="auto">
            <a:xfrm>
              <a:off x="3585" y="1488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023" name="Rectangle 282"/>
            <p:cNvSpPr>
              <a:spLocks noChangeArrowheads="1"/>
            </p:cNvSpPr>
            <p:nvPr/>
          </p:nvSpPr>
          <p:spPr bwMode="auto">
            <a:xfrm>
              <a:off x="3742" y="2509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024" name="Line 283"/>
            <p:cNvSpPr>
              <a:spLocks noChangeShapeType="1"/>
            </p:cNvSpPr>
            <p:nvPr/>
          </p:nvSpPr>
          <p:spPr bwMode="auto">
            <a:xfrm>
              <a:off x="4224" y="1625"/>
              <a:ext cx="625" cy="103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025" name="Line 284"/>
            <p:cNvSpPr>
              <a:spLocks noChangeShapeType="1"/>
            </p:cNvSpPr>
            <p:nvPr/>
          </p:nvSpPr>
          <p:spPr bwMode="auto">
            <a:xfrm flipH="1">
              <a:off x="3264" y="2160"/>
              <a:ext cx="607" cy="219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80026" name="Group 285"/>
            <p:cNvGrpSpPr>
              <a:grpSpLocks/>
            </p:cNvGrpSpPr>
            <p:nvPr/>
          </p:nvGrpSpPr>
          <p:grpSpPr bwMode="auto">
            <a:xfrm>
              <a:off x="4045" y="1524"/>
              <a:ext cx="227" cy="204"/>
              <a:chOff x="1405" y="756"/>
              <a:chExt cx="227" cy="204"/>
            </a:xfrm>
          </p:grpSpPr>
          <p:sp>
            <p:nvSpPr>
              <p:cNvPr id="80028" name="Rectangle 286"/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endParaRPr lang="en-US" sz="1800">
                  <a:latin typeface="Times New Roman" pitchFamily="18" charset="0"/>
                </a:endParaRPr>
              </a:p>
            </p:txBody>
          </p:sp>
          <p:sp>
            <p:nvSpPr>
              <p:cNvPr id="80029" name="Oval 287"/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0027" name="Rectangle 288"/>
            <p:cNvSpPr>
              <a:spLocks noChangeArrowheads="1"/>
            </p:cNvSpPr>
            <p:nvPr/>
          </p:nvSpPr>
          <p:spPr bwMode="auto">
            <a:xfrm>
              <a:off x="4128" y="1543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</p:grpSp>
      <p:grpSp>
        <p:nvGrpSpPr>
          <p:cNvPr id="79879" name="Group 289"/>
          <p:cNvGrpSpPr>
            <a:grpSpLocks/>
          </p:cNvGrpSpPr>
          <p:nvPr/>
        </p:nvGrpSpPr>
        <p:grpSpPr bwMode="auto">
          <a:xfrm>
            <a:off x="685800" y="1152525"/>
            <a:ext cx="3200400" cy="1895475"/>
            <a:chOff x="3072" y="102"/>
            <a:chExt cx="2016" cy="1194"/>
          </a:xfrm>
        </p:grpSpPr>
        <p:sp>
          <p:nvSpPr>
            <p:cNvPr id="79966" name="Oval 290"/>
            <p:cNvSpPr>
              <a:spLocks noChangeArrowheads="1"/>
            </p:cNvSpPr>
            <p:nvPr/>
          </p:nvSpPr>
          <p:spPr bwMode="auto">
            <a:xfrm>
              <a:off x="3081" y="134"/>
              <a:ext cx="227" cy="204"/>
            </a:xfrm>
            <a:prstGeom prst="ellipse">
              <a:avLst/>
            </a:prstGeom>
            <a:solidFill>
              <a:srgbClr val="00CC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967" name="Line 291"/>
            <p:cNvSpPr>
              <a:spLocks noChangeShapeType="1"/>
            </p:cNvSpPr>
            <p:nvPr/>
          </p:nvSpPr>
          <p:spPr bwMode="auto">
            <a:xfrm>
              <a:off x="3311" y="231"/>
              <a:ext cx="711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9968" name="Line 292"/>
            <p:cNvSpPr>
              <a:spLocks noChangeShapeType="1"/>
            </p:cNvSpPr>
            <p:nvPr/>
          </p:nvSpPr>
          <p:spPr bwMode="auto">
            <a:xfrm flipH="1">
              <a:off x="4032" y="342"/>
              <a:ext cx="64" cy="282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9969" name="Line 293"/>
            <p:cNvSpPr>
              <a:spLocks noChangeShapeType="1"/>
            </p:cNvSpPr>
            <p:nvPr/>
          </p:nvSpPr>
          <p:spPr bwMode="auto">
            <a:xfrm>
              <a:off x="4038" y="818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9970" name="Line 294"/>
            <p:cNvSpPr>
              <a:spLocks noChangeShapeType="1"/>
            </p:cNvSpPr>
            <p:nvPr/>
          </p:nvSpPr>
          <p:spPr bwMode="auto">
            <a:xfrm flipV="1">
              <a:off x="4388" y="434"/>
              <a:ext cx="496" cy="603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9971" name="Line 295"/>
            <p:cNvSpPr>
              <a:spLocks noChangeShapeType="1"/>
            </p:cNvSpPr>
            <p:nvPr/>
          </p:nvSpPr>
          <p:spPr bwMode="auto">
            <a:xfrm flipH="1" flipV="1">
              <a:off x="3284" y="1084"/>
              <a:ext cx="911" cy="47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9972" name="Line 296"/>
            <p:cNvSpPr>
              <a:spLocks noChangeShapeType="1"/>
            </p:cNvSpPr>
            <p:nvPr/>
          </p:nvSpPr>
          <p:spPr bwMode="auto">
            <a:xfrm>
              <a:off x="3183" y="325"/>
              <a:ext cx="0" cy="612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9973" name="Line 297"/>
            <p:cNvSpPr>
              <a:spLocks noChangeShapeType="1"/>
            </p:cNvSpPr>
            <p:nvPr/>
          </p:nvSpPr>
          <p:spPr bwMode="auto">
            <a:xfrm>
              <a:off x="3256" y="301"/>
              <a:ext cx="635" cy="360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9974" name="Rectangle 298"/>
            <p:cNvSpPr>
              <a:spLocks noChangeArrowheads="1"/>
            </p:cNvSpPr>
            <p:nvPr/>
          </p:nvSpPr>
          <p:spPr bwMode="auto">
            <a:xfrm>
              <a:off x="3182" y="179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grpSp>
          <p:nvGrpSpPr>
            <p:cNvPr id="79975" name="Group 299"/>
            <p:cNvGrpSpPr>
              <a:grpSpLocks/>
            </p:cNvGrpSpPr>
            <p:nvPr/>
          </p:nvGrpSpPr>
          <p:grpSpPr bwMode="auto">
            <a:xfrm>
              <a:off x="3072" y="918"/>
              <a:ext cx="227" cy="220"/>
              <a:chOff x="432" y="1536"/>
              <a:chExt cx="227" cy="220"/>
            </a:xfrm>
          </p:grpSpPr>
          <p:sp>
            <p:nvSpPr>
              <p:cNvPr id="80000" name="Oval 300"/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01" name="Rectangle 301"/>
              <p:cNvSpPr>
                <a:spLocks noChangeArrowheads="1"/>
              </p:cNvSpPr>
              <p:nvPr/>
            </p:nvSpPr>
            <p:spPr bwMode="auto">
              <a:xfrm>
                <a:off x="504" y="1536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79976" name="Group 302"/>
            <p:cNvGrpSpPr>
              <a:grpSpLocks/>
            </p:cNvGrpSpPr>
            <p:nvPr/>
          </p:nvGrpSpPr>
          <p:grpSpPr bwMode="auto">
            <a:xfrm>
              <a:off x="3886" y="611"/>
              <a:ext cx="227" cy="224"/>
              <a:chOff x="1246" y="1229"/>
              <a:chExt cx="227" cy="224"/>
            </a:xfrm>
          </p:grpSpPr>
          <p:sp>
            <p:nvSpPr>
              <p:cNvPr id="79998" name="Oval 303"/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99" name="Rectangle 304"/>
              <p:cNvSpPr>
                <a:spLocks noChangeArrowheads="1"/>
              </p:cNvSpPr>
              <p:nvPr/>
            </p:nvSpPr>
            <p:spPr bwMode="auto">
              <a:xfrm>
                <a:off x="1349" y="1280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4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79977" name="Group 305"/>
            <p:cNvGrpSpPr>
              <a:grpSpLocks/>
            </p:cNvGrpSpPr>
            <p:nvPr/>
          </p:nvGrpSpPr>
          <p:grpSpPr bwMode="auto">
            <a:xfrm>
              <a:off x="4190" y="1006"/>
              <a:ext cx="227" cy="228"/>
              <a:chOff x="1550" y="1624"/>
              <a:chExt cx="227" cy="228"/>
            </a:xfrm>
          </p:grpSpPr>
          <p:sp>
            <p:nvSpPr>
              <p:cNvPr id="79996" name="Oval 306"/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97" name="Rectangle 307"/>
              <p:cNvSpPr>
                <a:spLocks noChangeArrowheads="1"/>
              </p:cNvSpPr>
              <p:nvPr/>
            </p:nvSpPr>
            <p:spPr bwMode="auto">
              <a:xfrm>
                <a:off x="1653" y="1679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5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79978" name="Group 308"/>
            <p:cNvGrpSpPr>
              <a:grpSpLocks/>
            </p:cNvGrpSpPr>
            <p:nvPr/>
          </p:nvGrpSpPr>
          <p:grpSpPr bwMode="auto">
            <a:xfrm>
              <a:off x="4862" y="270"/>
              <a:ext cx="226" cy="205"/>
              <a:chOff x="2222" y="888"/>
              <a:chExt cx="226" cy="205"/>
            </a:xfrm>
          </p:grpSpPr>
          <p:sp>
            <p:nvSpPr>
              <p:cNvPr id="79994" name="Oval 309"/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95" name="Rectangle 310"/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6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sp>
          <p:nvSpPr>
            <p:cNvPr id="79979" name="Rectangle 311"/>
            <p:cNvSpPr>
              <a:spLocks noChangeArrowheads="1"/>
            </p:cNvSpPr>
            <p:nvPr/>
          </p:nvSpPr>
          <p:spPr bwMode="auto">
            <a:xfrm>
              <a:off x="3530" y="727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79980" name="Rectangle 312"/>
            <p:cNvSpPr>
              <a:spLocks noChangeArrowheads="1"/>
            </p:cNvSpPr>
            <p:nvPr/>
          </p:nvSpPr>
          <p:spPr bwMode="auto">
            <a:xfrm>
              <a:off x="4514" y="148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79981" name="Rectangle 313"/>
            <p:cNvSpPr>
              <a:spLocks noChangeArrowheads="1"/>
            </p:cNvSpPr>
            <p:nvPr/>
          </p:nvSpPr>
          <p:spPr bwMode="auto">
            <a:xfrm>
              <a:off x="4109" y="435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79982" name="Rectangle 314"/>
            <p:cNvSpPr>
              <a:spLocks noChangeArrowheads="1"/>
            </p:cNvSpPr>
            <p:nvPr/>
          </p:nvSpPr>
          <p:spPr bwMode="auto">
            <a:xfrm>
              <a:off x="4174" y="826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79983" name="Rectangle 315"/>
            <p:cNvSpPr>
              <a:spLocks noChangeArrowheads="1"/>
            </p:cNvSpPr>
            <p:nvPr/>
          </p:nvSpPr>
          <p:spPr bwMode="auto">
            <a:xfrm>
              <a:off x="4689" y="732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79984" name="Rectangle 316"/>
            <p:cNvSpPr>
              <a:spLocks noChangeArrowheads="1"/>
            </p:cNvSpPr>
            <p:nvPr/>
          </p:nvSpPr>
          <p:spPr bwMode="auto">
            <a:xfrm>
              <a:off x="3097" y="560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79985" name="Rectangle 317"/>
            <p:cNvSpPr>
              <a:spLocks noChangeArrowheads="1"/>
            </p:cNvSpPr>
            <p:nvPr/>
          </p:nvSpPr>
          <p:spPr bwMode="auto">
            <a:xfrm>
              <a:off x="3603" y="388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79986" name="Rectangle 318"/>
            <p:cNvSpPr>
              <a:spLocks noChangeArrowheads="1"/>
            </p:cNvSpPr>
            <p:nvPr/>
          </p:nvSpPr>
          <p:spPr bwMode="auto">
            <a:xfrm>
              <a:off x="3585" y="102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79987" name="Rectangle 319"/>
            <p:cNvSpPr>
              <a:spLocks noChangeArrowheads="1"/>
            </p:cNvSpPr>
            <p:nvPr/>
          </p:nvSpPr>
          <p:spPr bwMode="auto">
            <a:xfrm>
              <a:off x="3742" y="1123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79988" name="Line 320"/>
            <p:cNvSpPr>
              <a:spLocks noChangeShapeType="1"/>
            </p:cNvSpPr>
            <p:nvPr/>
          </p:nvSpPr>
          <p:spPr bwMode="auto">
            <a:xfrm>
              <a:off x="4224" y="239"/>
              <a:ext cx="625" cy="103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9989" name="Line 321"/>
            <p:cNvSpPr>
              <a:spLocks noChangeShapeType="1"/>
            </p:cNvSpPr>
            <p:nvPr/>
          </p:nvSpPr>
          <p:spPr bwMode="auto">
            <a:xfrm flipH="1">
              <a:off x="3264" y="774"/>
              <a:ext cx="607" cy="219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79990" name="Group 322"/>
            <p:cNvGrpSpPr>
              <a:grpSpLocks/>
            </p:cNvGrpSpPr>
            <p:nvPr/>
          </p:nvGrpSpPr>
          <p:grpSpPr bwMode="auto">
            <a:xfrm>
              <a:off x="4045" y="138"/>
              <a:ext cx="227" cy="204"/>
              <a:chOff x="1405" y="756"/>
              <a:chExt cx="227" cy="204"/>
            </a:xfrm>
          </p:grpSpPr>
          <p:sp>
            <p:nvSpPr>
              <p:cNvPr id="79992" name="Rectangle 323"/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endParaRPr lang="en-US" sz="1800">
                  <a:latin typeface="Times New Roman" pitchFamily="18" charset="0"/>
                </a:endParaRPr>
              </a:p>
            </p:txBody>
          </p:sp>
          <p:sp>
            <p:nvSpPr>
              <p:cNvPr id="79993" name="Oval 324"/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9991" name="Rectangle 325"/>
            <p:cNvSpPr>
              <a:spLocks noChangeArrowheads="1"/>
            </p:cNvSpPr>
            <p:nvPr/>
          </p:nvSpPr>
          <p:spPr bwMode="auto">
            <a:xfrm>
              <a:off x="4128" y="157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</p:grpSp>
      <p:sp>
        <p:nvSpPr>
          <p:cNvPr id="1256774" name="Text Box 326"/>
          <p:cNvSpPr txBox="1">
            <a:spLocks noChangeArrowheads="1"/>
          </p:cNvSpPr>
          <p:nvPr/>
        </p:nvSpPr>
        <p:spPr bwMode="auto">
          <a:xfrm>
            <a:off x="4957763" y="3648075"/>
            <a:ext cx="384175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>
                <a:solidFill>
                  <a:srgbClr val="FF3300"/>
                </a:solidFill>
                <a:sym typeface="Wingdings" pitchFamily="2" charset="2"/>
              </a:rPr>
              <a:t></a:t>
            </a:r>
          </a:p>
        </p:txBody>
      </p:sp>
      <p:sp>
        <p:nvSpPr>
          <p:cNvPr id="1256775" name="Text Box 327"/>
          <p:cNvSpPr txBox="1">
            <a:spLocks noChangeArrowheads="1"/>
          </p:cNvSpPr>
          <p:nvPr/>
        </p:nvSpPr>
        <p:spPr bwMode="auto">
          <a:xfrm>
            <a:off x="6122988" y="1914525"/>
            <a:ext cx="384175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>
                <a:solidFill>
                  <a:srgbClr val="FF3300"/>
                </a:solidFill>
                <a:sym typeface="Wingdings" pitchFamily="2" charset="2"/>
              </a:rPr>
              <a:t></a:t>
            </a:r>
          </a:p>
        </p:txBody>
      </p:sp>
      <p:sp>
        <p:nvSpPr>
          <p:cNvPr id="1256776" name="Text Box 328"/>
          <p:cNvSpPr txBox="1">
            <a:spLocks noChangeArrowheads="1"/>
          </p:cNvSpPr>
          <p:nvPr/>
        </p:nvSpPr>
        <p:spPr bwMode="auto">
          <a:xfrm>
            <a:off x="784225" y="2673350"/>
            <a:ext cx="384175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>
                <a:solidFill>
                  <a:srgbClr val="FF3300"/>
                </a:solidFill>
                <a:sym typeface="Wingdings" pitchFamily="2" charset="2"/>
              </a:rPr>
              <a:t></a:t>
            </a:r>
          </a:p>
        </p:txBody>
      </p:sp>
      <p:sp>
        <p:nvSpPr>
          <p:cNvPr id="1256777" name="Text Box 329"/>
          <p:cNvSpPr txBox="1">
            <a:spLocks noChangeArrowheads="1"/>
          </p:cNvSpPr>
          <p:nvPr/>
        </p:nvSpPr>
        <p:spPr bwMode="auto">
          <a:xfrm>
            <a:off x="4011613" y="4105275"/>
            <a:ext cx="384175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>
                <a:solidFill>
                  <a:srgbClr val="FF3300"/>
                </a:solidFill>
                <a:sym typeface="Wingdings" pitchFamily="2" charset="2"/>
              </a:rPr>
              <a:t></a:t>
            </a:r>
          </a:p>
        </p:txBody>
      </p:sp>
      <p:sp>
        <p:nvSpPr>
          <p:cNvPr id="1256778" name="Text Box 330"/>
          <p:cNvSpPr txBox="1">
            <a:spLocks noChangeArrowheads="1"/>
          </p:cNvSpPr>
          <p:nvPr/>
        </p:nvSpPr>
        <p:spPr bwMode="auto">
          <a:xfrm>
            <a:off x="5868988" y="973138"/>
            <a:ext cx="384175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>
                <a:solidFill>
                  <a:srgbClr val="FF3300"/>
                </a:solidFill>
                <a:sym typeface="Wingdings" pitchFamily="2" charset="2"/>
              </a:rPr>
              <a:t></a:t>
            </a:r>
          </a:p>
        </p:txBody>
      </p:sp>
      <p:grpSp>
        <p:nvGrpSpPr>
          <p:cNvPr id="79885" name="Group 339"/>
          <p:cNvGrpSpPr>
            <a:grpSpLocks/>
          </p:cNvGrpSpPr>
          <p:nvPr/>
        </p:nvGrpSpPr>
        <p:grpSpPr bwMode="auto">
          <a:xfrm>
            <a:off x="2420938" y="1808163"/>
            <a:ext cx="5346700" cy="2452687"/>
            <a:chOff x="1525" y="1139"/>
            <a:chExt cx="3368" cy="1545"/>
          </a:xfrm>
        </p:grpSpPr>
        <p:sp>
          <p:nvSpPr>
            <p:cNvPr id="79962" name="Line 331"/>
            <p:cNvSpPr>
              <a:spLocks noChangeShapeType="1"/>
            </p:cNvSpPr>
            <p:nvPr/>
          </p:nvSpPr>
          <p:spPr bwMode="auto">
            <a:xfrm flipH="1">
              <a:off x="1525" y="1331"/>
              <a:ext cx="190" cy="5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9963" name="Line 332"/>
            <p:cNvSpPr>
              <a:spLocks noChangeShapeType="1"/>
            </p:cNvSpPr>
            <p:nvPr/>
          </p:nvSpPr>
          <p:spPr bwMode="auto">
            <a:xfrm flipH="1" flipV="1">
              <a:off x="2416" y="1139"/>
              <a:ext cx="117" cy="133"/>
            </a:xfrm>
            <a:prstGeom prst="line">
              <a:avLst/>
            </a:prstGeom>
            <a:noFill/>
            <a:ln w="19050">
              <a:solidFill>
                <a:srgbClr val="6600FF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9964" name="Line 333"/>
            <p:cNvSpPr>
              <a:spLocks noChangeShapeType="1"/>
            </p:cNvSpPr>
            <p:nvPr/>
          </p:nvSpPr>
          <p:spPr bwMode="auto">
            <a:xfrm>
              <a:off x="4622" y="2567"/>
              <a:ext cx="271" cy="102"/>
            </a:xfrm>
            <a:prstGeom prst="line">
              <a:avLst/>
            </a:prstGeom>
            <a:noFill/>
            <a:ln w="19050">
              <a:solidFill>
                <a:srgbClr val="6600FF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9965" name="Line 337"/>
            <p:cNvSpPr>
              <a:spLocks noChangeShapeType="1"/>
            </p:cNvSpPr>
            <p:nvPr/>
          </p:nvSpPr>
          <p:spPr bwMode="auto">
            <a:xfrm>
              <a:off x="3413" y="2570"/>
              <a:ext cx="184" cy="11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256789" name="Text Box 341"/>
          <p:cNvSpPr txBox="1">
            <a:spLocks noChangeArrowheads="1"/>
          </p:cNvSpPr>
          <p:nvPr/>
        </p:nvSpPr>
        <p:spPr bwMode="auto">
          <a:xfrm>
            <a:off x="7724775" y="1298575"/>
            <a:ext cx="384175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>
                <a:solidFill>
                  <a:srgbClr val="FF3300"/>
                </a:solidFill>
                <a:sym typeface="Wingdings" pitchFamily="2" charset="2"/>
              </a:rPr>
              <a:t></a:t>
            </a:r>
          </a:p>
        </p:txBody>
      </p:sp>
      <p:sp>
        <p:nvSpPr>
          <p:cNvPr id="1256790" name="Text Box 342"/>
          <p:cNvSpPr txBox="1">
            <a:spLocks noChangeArrowheads="1"/>
          </p:cNvSpPr>
          <p:nvPr/>
        </p:nvSpPr>
        <p:spPr bwMode="auto">
          <a:xfrm>
            <a:off x="8083550" y="4497388"/>
            <a:ext cx="384175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>
                <a:solidFill>
                  <a:srgbClr val="FF3300"/>
                </a:solidFill>
                <a:sym typeface="Wingdings" pitchFamily="2" charset="2"/>
              </a:rPr>
              <a:t></a:t>
            </a:r>
          </a:p>
        </p:txBody>
      </p:sp>
      <p:grpSp>
        <p:nvGrpSpPr>
          <p:cNvPr id="79886" name="Group 344"/>
          <p:cNvGrpSpPr>
            <a:grpSpLocks/>
          </p:cNvGrpSpPr>
          <p:nvPr/>
        </p:nvGrpSpPr>
        <p:grpSpPr bwMode="auto">
          <a:xfrm>
            <a:off x="6267450" y="2805113"/>
            <a:ext cx="808038" cy="1884362"/>
            <a:chOff x="3948" y="1767"/>
            <a:chExt cx="509" cy="1187"/>
          </a:xfrm>
        </p:grpSpPr>
        <p:sp>
          <p:nvSpPr>
            <p:cNvPr id="79960" name="Line 338"/>
            <p:cNvSpPr>
              <a:spLocks noChangeShapeType="1"/>
            </p:cNvSpPr>
            <p:nvPr/>
          </p:nvSpPr>
          <p:spPr bwMode="auto">
            <a:xfrm>
              <a:off x="3948" y="2846"/>
              <a:ext cx="272" cy="108"/>
            </a:xfrm>
            <a:prstGeom prst="line">
              <a:avLst/>
            </a:prstGeom>
            <a:noFill/>
            <a:ln w="19050">
              <a:solidFill>
                <a:srgbClr val="FF33CC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9961" name="Line 343"/>
            <p:cNvSpPr>
              <a:spLocks noChangeShapeType="1"/>
            </p:cNvSpPr>
            <p:nvPr/>
          </p:nvSpPr>
          <p:spPr bwMode="auto">
            <a:xfrm flipH="1" flipV="1">
              <a:off x="4289" y="1767"/>
              <a:ext cx="168" cy="22"/>
            </a:xfrm>
            <a:prstGeom prst="line">
              <a:avLst/>
            </a:prstGeom>
            <a:noFill/>
            <a:ln w="19050">
              <a:solidFill>
                <a:srgbClr val="FF33CC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256793" name="Text Box 345"/>
          <p:cNvSpPr txBox="1">
            <a:spLocks noChangeArrowheads="1"/>
          </p:cNvSpPr>
          <p:nvPr/>
        </p:nvSpPr>
        <p:spPr bwMode="auto">
          <a:xfrm>
            <a:off x="6053138" y="4930775"/>
            <a:ext cx="384175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>
                <a:solidFill>
                  <a:srgbClr val="FF3300"/>
                </a:solidFill>
                <a:sym typeface="Wingdings" pitchFamily="2" charset="2"/>
              </a:rPr>
              <a:t></a:t>
            </a:r>
          </a:p>
        </p:txBody>
      </p:sp>
      <p:sp>
        <p:nvSpPr>
          <p:cNvPr id="1256794" name="Text Box 346"/>
          <p:cNvSpPr txBox="1">
            <a:spLocks noChangeArrowheads="1"/>
          </p:cNvSpPr>
          <p:nvPr/>
        </p:nvSpPr>
        <p:spPr bwMode="auto">
          <a:xfrm>
            <a:off x="7078663" y="5365750"/>
            <a:ext cx="384175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>
                <a:solidFill>
                  <a:srgbClr val="FF3300"/>
                </a:solidFill>
                <a:sym typeface="Wingdings" pitchFamily="2" charset="2"/>
              </a:rPr>
              <a:t></a:t>
            </a:r>
          </a:p>
        </p:txBody>
      </p:sp>
      <p:sp>
        <p:nvSpPr>
          <p:cNvPr id="79959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56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256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79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256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256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8" dur="500"/>
                                        <p:tgtEl>
                                          <p:spTgt spid="12567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6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1" dur="500"/>
                                        <p:tgtEl>
                                          <p:spTgt spid="12567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4" dur="500"/>
                                        <p:tgtEl>
                                          <p:spTgt spid="798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79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1256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256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72" dur="500"/>
                                        <p:tgtEl>
                                          <p:spTgt spid="798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80" dur="500"/>
                                        <p:tgtEl>
                                          <p:spTgt spid="12567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4" dur="500"/>
                                        <p:tgtEl>
                                          <p:spTgt spid="1256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7" dur="500"/>
                                        <p:tgtEl>
                                          <p:spTgt spid="1256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0" dur="500"/>
                                        <p:tgtEl>
                                          <p:spTgt spid="79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9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8" dur="500"/>
                                        <p:tgtEl>
                                          <p:spTgt spid="1256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1" dur="500"/>
                                        <p:tgtEl>
                                          <p:spTgt spid="7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6774" grpId="0"/>
      <p:bldP spid="1256775" grpId="0"/>
      <p:bldP spid="1256776" grpId="0"/>
      <p:bldP spid="1256776" grpId="1"/>
      <p:bldP spid="1256777" grpId="0"/>
      <p:bldP spid="1256778" grpId="0"/>
      <p:bldP spid="1256778" grpId="1"/>
      <p:bldP spid="1256789" grpId="0"/>
      <p:bldP spid="1256789" grpId="1"/>
      <p:bldP spid="1256790" grpId="0"/>
      <p:bldP spid="1256793" grpId="0"/>
      <p:bldP spid="1256794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500" smtClean="0"/>
              <a:t>Shortest Paths in  Dijkstra’s Algorithm</a:t>
            </a:r>
          </a:p>
        </p:txBody>
      </p:sp>
      <p:grpSp>
        <p:nvGrpSpPr>
          <p:cNvPr id="80899" name="Group 105"/>
          <p:cNvGrpSpPr>
            <a:grpSpLocks/>
          </p:cNvGrpSpPr>
          <p:nvPr/>
        </p:nvGrpSpPr>
        <p:grpSpPr bwMode="auto">
          <a:xfrm>
            <a:off x="1069975" y="1109663"/>
            <a:ext cx="3200400" cy="1895475"/>
            <a:chOff x="432" y="240"/>
            <a:chExt cx="2016" cy="1194"/>
          </a:xfrm>
        </p:grpSpPr>
        <p:sp>
          <p:nvSpPr>
            <p:cNvPr id="81086" name="Oval 106"/>
            <p:cNvSpPr>
              <a:spLocks noChangeArrowheads="1"/>
            </p:cNvSpPr>
            <p:nvPr/>
          </p:nvSpPr>
          <p:spPr bwMode="auto">
            <a:xfrm>
              <a:off x="441" y="272"/>
              <a:ext cx="227" cy="204"/>
            </a:xfrm>
            <a:prstGeom prst="ellipse">
              <a:avLst/>
            </a:prstGeom>
            <a:solidFill>
              <a:srgbClr val="00CC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087" name="Line 107"/>
            <p:cNvSpPr>
              <a:spLocks noChangeShapeType="1"/>
            </p:cNvSpPr>
            <p:nvPr/>
          </p:nvSpPr>
          <p:spPr bwMode="auto">
            <a:xfrm>
              <a:off x="671" y="369"/>
              <a:ext cx="711" cy="0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1088" name="Line 108"/>
            <p:cNvSpPr>
              <a:spLocks noChangeShapeType="1"/>
            </p:cNvSpPr>
            <p:nvPr/>
          </p:nvSpPr>
          <p:spPr bwMode="auto">
            <a:xfrm flipH="1">
              <a:off x="1392" y="480"/>
              <a:ext cx="64" cy="28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1089" name="Line 109"/>
            <p:cNvSpPr>
              <a:spLocks noChangeShapeType="1"/>
            </p:cNvSpPr>
            <p:nvPr/>
          </p:nvSpPr>
          <p:spPr bwMode="auto">
            <a:xfrm>
              <a:off x="1398" y="956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1090" name="Line 110"/>
            <p:cNvSpPr>
              <a:spLocks noChangeShapeType="1"/>
            </p:cNvSpPr>
            <p:nvPr/>
          </p:nvSpPr>
          <p:spPr bwMode="auto">
            <a:xfrm flipV="1">
              <a:off x="1748" y="572"/>
              <a:ext cx="496" cy="60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1091" name="Line 111"/>
            <p:cNvSpPr>
              <a:spLocks noChangeShapeType="1"/>
            </p:cNvSpPr>
            <p:nvPr/>
          </p:nvSpPr>
          <p:spPr bwMode="auto">
            <a:xfrm flipH="1" flipV="1">
              <a:off x="644" y="1222"/>
              <a:ext cx="911" cy="4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1092" name="Line 112"/>
            <p:cNvSpPr>
              <a:spLocks noChangeShapeType="1"/>
            </p:cNvSpPr>
            <p:nvPr/>
          </p:nvSpPr>
          <p:spPr bwMode="auto">
            <a:xfrm>
              <a:off x="543" y="463"/>
              <a:ext cx="0" cy="612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1093" name="Line 113"/>
            <p:cNvSpPr>
              <a:spLocks noChangeShapeType="1"/>
            </p:cNvSpPr>
            <p:nvPr/>
          </p:nvSpPr>
          <p:spPr bwMode="auto">
            <a:xfrm>
              <a:off x="616" y="439"/>
              <a:ext cx="635" cy="360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1094" name="Rectangle 114"/>
            <p:cNvSpPr>
              <a:spLocks noChangeArrowheads="1"/>
            </p:cNvSpPr>
            <p:nvPr/>
          </p:nvSpPr>
          <p:spPr bwMode="auto">
            <a:xfrm>
              <a:off x="542" y="317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grpSp>
          <p:nvGrpSpPr>
            <p:cNvPr id="2" name="Group 115"/>
            <p:cNvGrpSpPr>
              <a:grpSpLocks/>
            </p:cNvGrpSpPr>
            <p:nvPr/>
          </p:nvGrpSpPr>
          <p:grpSpPr bwMode="auto">
            <a:xfrm>
              <a:off x="432" y="1056"/>
              <a:ext cx="227" cy="220"/>
              <a:chOff x="432" y="1536"/>
              <a:chExt cx="227" cy="220"/>
            </a:xfrm>
          </p:grpSpPr>
          <p:sp>
            <p:nvSpPr>
              <p:cNvPr id="81119" name="Oval 116"/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120" name="Rectangle 117"/>
              <p:cNvSpPr>
                <a:spLocks noChangeArrowheads="1"/>
              </p:cNvSpPr>
              <p:nvPr/>
            </p:nvSpPr>
            <p:spPr bwMode="auto">
              <a:xfrm>
                <a:off x="504" y="1536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1096" name="Group 118"/>
            <p:cNvGrpSpPr>
              <a:grpSpLocks/>
            </p:cNvGrpSpPr>
            <p:nvPr/>
          </p:nvGrpSpPr>
          <p:grpSpPr bwMode="auto">
            <a:xfrm>
              <a:off x="1246" y="749"/>
              <a:ext cx="227" cy="224"/>
              <a:chOff x="1246" y="1229"/>
              <a:chExt cx="227" cy="224"/>
            </a:xfrm>
          </p:grpSpPr>
          <p:sp>
            <p:nvSpPr>
              <p:cNvPr id="81117" name="Oval 119"/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118" name="Rectangle 120"/>
              <p:cNvSpPr>
                <a:spLocks noChangeArrowheads="1"/>
              </p:cNvSpPr>
              <p:nvPr/>
            </p:nvSpPr>
            <p:spPr bwMode="auto">
              <a:xfrm>
                <a:off x="1349" y="1280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4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1097" name="Group 121"/>
            <p:cNvGrpSpPr>
              <a:grpSpLocks/>
            </p:cNvGrpSpPr>
            <p:nvPr/>
          </p:nvGrpSpPr>
          <p:grpSpPr bwMode="auto">
            <a:xfrm>
              <a:off x="1550" y="1144"/>
              <a:ext cx="227" cy="228"/>
              <a:chOff x="1550" y="1624"/>
              <a:chExt cx="227" cy="228"/>
            </a:xfrm>
          </p:grpSpPr>
          <p:sp>
            <p:nvSpPr>
              <p:cNvPr id="81115" name="Oval 122"/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116" name="Rectangle 123"/>
              <p:cNvSpPr>
                <a:spLocks noChangeArrowheads="1"/>
              </p:cNvSpPr>
              <p:nvPr/>
            </p:nvSpPr>
            <p:spPr bwMode="auto">
              <a:xfrm>
                <a:off x="1653" y="1679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5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1098" name="Group 124"/>
            <p:cNvGrpSpPr>
              <a:grpSpLocks/>
            </p:cNvGrpSpPr>
            <p:nvPr/>
          </p:nvGrpSpPr>
          <p:grpSpPr bwMode="auto">
            <a:xfrm>
              <a:off x="2222" y="408"/>
              <a:ext cx="226" cy="205"/>
              <a:chOff x="2222" y="888"/>
              <a:chExt cx="226" cy="205"/>
            </a:xfrm>
          </p:grpSpPr>
          <p:sp>
            <p:nvSpPr>
              <p:cNvPr id="81113" name="Oval 125"/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114" name="Rectangle 126"/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6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sp>
          <p:nvSpPr>
            <p:cNvPr id="81099" name="Rectangle 127"/>
            <p:cNvSpPr>
              <a:spLocks noChangeArrowheads="1"/>
            </p:cNvSpPr>
            <p:nvPr/>
          </p:nvSpPr>
          <p:spPr bwMode="auto">
            <a:xfrm>
              <a:off x="890" y="865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1100" name="Rectangle 128"/>
            <p:cNvSpPr>
              <a:spLocks noChangeArrowheads="1"/>
            </p:cNvSpPr>
            <p:nvPr/>
          </p:nvSpPr>
          <p:spPr bwMode="auto">
            <a:xfrm>
              <a:off x="1874" y="286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1101" name="Rectangle 129"/>
            <p:cNvSpPr>
              <a:spLocks noChangeArrowheads="1"/>
            </p:cNvSpPr>
            <p:nvPr/>
          </p:nvSpPr>
          <p:spPr bwMode="auto">
            <a:xfrm>
              <a:off x="1469" y="573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1102" name="Rectangle 130"/>
            <p:cNvSpPr>
              <a:spLocks noChangeArrowheads="1"/>
            </p:cNvSpPr>
            <p:nvPr/>
          </p:nvSpPr>
          <p:spPr bwMode="auto">
            <a:xfrm>
              <a:off x="1534" y="964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1103" name="Rectangle 131"/>
            <p:cNvSpPr>
              <a:spLocks noChangeArrowheads="1"/>
            </p:cNvSpPr>
            <p:nvPr/>
          </p:nvSpPr>
          <p:spPr bwMode="auto">
            <a:xfrm>
              <a:off x="2049" y="870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1104" name="Rectangle 132"/>
            <p:cNvSpPr>
              <a:spLocks noChangeArrowheads="1"/>
            </p:cNvSpPr>
            <p:nvPr/>
          </p:nvSpPr>
          <p:spPr bwMode="auto">
            <a:xfrm>
              <a:off x="457" y="698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1105" name="Rectangle 133"/>
            <p:cNvSpPr>
              <a:spLocks noChangeArrowheads="1"/>
            </p:cNvSpPr>
            <p:nvPr/>
          </p:nvSpPr>
          <p:spPr bwMode="auto">
            <a:xfrm>
              <a:off x="963" y="526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1106" name="Rectangle 134"/>
            <p:cNvSpPr>
              <a:spLocks noChangeArrowheads="1"/>
            </p:cNvSpPr>
            <p:nvPr/>
          </p:nvSpPr>
          <p:spPr bwMode="auto">
            <a:xfrm>
              <a:off x="945" y="240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1107" name="Rectangle 135"/>
            <p:cNvSpPr>
              <a:spLocks noChangeArrowheads="1"/>
            </p:cNvSpPr>
            <p:nvPr/>
          </p:nvSpPr>
          <p:spPr bwMode="auto">
            <a:xfrm>
              <a:off x="1102" y="1261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1108" name="Line 136"/>
            <p:cNvSpPr>
              <a:spLocks noChangeShapeType="1"/>
            </p:cNvSpPr>
            <p:nvPr/>
          </p:nvSpPr>
          <p:spPr bwMode="auto">
            <a:xfrm>
              <a:off x="1584" y="377"/>
              <a:ext cx="625" cy="10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1109" name="Line 137"/>
            <p:cNvSpPr>
              <a:spLocks noChangeShapeType="1"/>
            </p:cNvSpPr>
            <p:nvPr/>
          </p:nvSpPr>
          <p:spPr bwMode="auto">
            <a:xfrm flipH="1">
              <a:off x="624" y="912"/>
              <a:ext cx="607" cy="219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81110" name="Group 138"/>
            <p:cNvGrpSpPr>
              <a:grpSpLocks/>
            </p:cNvGrpSpPr>
            <p:nvPr/>
          </p:nvGrpSpPr>
          <p:grpSpPr bwMode="auto">
            <a:xfrm>
              <a:off x="1405" y="276"/>
              <a:ext cx="227" cy="204"/>
              <a:chOff x="1405" y="756"/>
              <a:chExt cx="227" cy="204"/>
            </a:xfrm>
          </p:grpSpPr>
          <p:sp>
            <p:nvSpPr>
              <p:cNvPr id="81111" name="Rectangle 139"/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endParaRPr lang="en-US" sz="1800">
                  <a:latin typeface="Times New Roman" pitchFamily="18" charset="0"/>
                </a:endParaRPr>
              </a:p>
            </p:txBody>
          </p:sp>
          <p:sp>
            <p:nvSpPr>
              <p:cNvPr id="81112" name="Oval 140"/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8" name="Group 141"/>
          <p:cNvGrpSpPr>
            <a:grpSpLocks/>
          </p:cNvGrpSpPr>
          <p:nvPr/>
        </p:nvGrpSpPr>
        <p:grpSpPr bwMode="auto">
          <a:xfrm>
            <a:off x="4775200" y="1108075"/>
            <a:ext cx="3200400" cy="1895475"/>
            <a:chOff x="432" y="1494"/>
            <a:chExt cx="2016" cy="1194"/>
          </a:xfrm>
        </p:grpSpPr>
        <p:grpSp>
          <p:nvGrpSpPr>
            <p:cNvPr id="81050" name="Group 142"/>
            <p:cNvGrpSpPr>
              <a:grpSpLocks/>
            </p:cNvGrpSpPr>
            <p:nvPr/>
          </p:nvGrpSpPr>
          <p:grpSpPr bwMode="auto">
            <a:xfrm>
              <a:off x="1405" y="1530"/>
              <a:ext cx="227" cy="204"/>
              <a:chOff x="1405" y="756"/>
              <a:chExt cx="227" cy="204"/>
            </a:xfrm>
          </p:grpSpPr>
          <p:sp>
            <p:nvSpPr>
              <p:cNvPr id="81084" name="Rectangle 143"/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endParaRPr lang="en-US" sz="1800">
                  <a:latin typeface="Times New Roman" pitchFamily="18" charset="0"/>
                </a:endParaRPr>
              </a:p>
            </p:txBody>
          </p:sp>
          <p:sp>
            <p:nvSpPr>
              <p:cNvPr id="81085" name="Oval 144"/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1051" name="Oval 145"/>
            <p:cNvSpPr>
              <a:spLocks noChangeArrowheads="1"/>
            </p:cNvSpPr>
            <p:nvPr/>
          </p:nvSpPr>
          <p:spPr bwMode="auto">
            <a:xfrm>
              <a:off x="441" y="1526"/>
              <a:ext cx="227" cy="204"/>
            </a:xfrm>
            <a:prstGeom prst="ellipse">
              <a:avLst/>
            </a:prstGeom>
            <a:solidFill>
              <a:srgbClr val="00CC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052" name="Line 146"/>
            <p:cNvSpPr>
              <a:spLocks noChangeShapeType="1"/>
            </p:cNvSpPr>
            <p:nvPr/>
          </p:nvSpPr>
          <p:spPr bwMode="auto">
            <a:xfrm>
              <a:off x="671" y="1623"/>
              <a:ext cx="711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1053" name="Line 147"/>
            <p:cNvSpPr>
              <a:spLocks noChangeShapeType="1"/>
            </p:cNvSpPr>
            <p:nvPr/>
          </p:nvSpPr>
          <p:spPr bwMode="auto">
            <a:xfrm flipH="1">
              <a:off x="1392" y="1734"/>
              <a:ext cx="64" cy="282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1054" name="Line 148"/>
            <p:cNvSpPr>
              <a:spLocks noChangeShapeType="1"/>
            </p:cNvSpPr>
            <p:nvPr/>
          </p:nvSpPr>
          <p:spPr bwMode="auto">
            <a:xfrm>
              <a:off x="1398" y="2210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1055" name="Line 149"/>
            <p:cNvSpPr>
              <a:spLocks noChangeShapeType="1"/>
            </p:cNvSpPr>
            <p:nvPr/>
          </p:nvSpPr>
          <p:spPr bwMode="auto">
            <a:xfrm flipV="1">
              <a:off x="1748" y="1826"/>
              <a:ext cx="496" cy="60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1056" name="Line 150"/>
            <p:cNvSpPr>
              <a:spLocks noChangeShapeType="1"/>
            </p:cNvSpPr>
            <p:nvPr/>
          </p:nvSpPr>
          <p:spPr bwMode="auto">
            <a:xfrm flipH="1" flipV="1">
              <a:off x="644" y="2476"/>
              <a:ext cx="911" cy="4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1057" name="Line 151"/>
            <p:cNvSpPr>
              <a:spLocks noChangeShapeType="1"/>
            </p:cNvSpPr>
            <p:nvPr/>
          </p:nvSpPr>
          <p:spPr bwMode="auto">
            <a:xfrm>
              <a:off x="543" y="1717"/>
              <a:ext cx="0" cy="612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1058" name="Line 152"/>
            <p:cNvSpPr>
              <a:spLocks noChangeShapeType="1"/>
            </p:cNvSpPr>
            <p:nvPr/>
          </p:nvSpPr>
          <p:spPr bwMode="auto">
            <a:xfrm>
              <a:off x="616" y="1693"/>
              <a:ext cx="635" cy="360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1059" name="Rectangle 153"/>
            <p:cNvSpPr>
              <a:spLocks noChangeArrowheads="1"/>
            </p:cNvSpPr>
            <p:nvPr/>
          </p:nvSpPr>
          <p:spPr bwMode="auto">
            <a:xfrm>
              <a:off x="542" y="1571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grpSp>
          <p:nvGrpSpPr>
            <p:cNvPr id="81060" name="Group 154"/>
            <p:cNvGrpSpPr>
              <a:grpSpLocks/>
            </p:cNvGrpSpPr>
            <p:nvPr/>
          </p:nvGrpSpPr>
          <p:grpSpPr bwMode="auto">
            <a:xfrm>
              <a:off x="432" y="2310"/>
              <a:ext cx="227" cy="220"/>
              <a:chOff x="432" y="1536"/>
              <a:chExt cx="227" cy="220"/>
            </a:xfrm>
          </p:grpSpPr>
          <p:sp>
            <p:nvSpPr>
              <p:cNvPr id="81082" name="Oval 155"/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083" name="Rectangle 156"/>
              <p:cNvSpPr>
                <a:spLocks noChangeArrowheads="1"/>
              </p:cNvSpPr>
              <p:nvPr/>
            </p:nvSpPr>
            <p:spPr bwMode="auto">
              <a:xfrm>
                <a:off x="504" y="1536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1061" name="Group 157"/>
            <p:cNvGrpSpPr>
              <a:grpSpLocks/>
            </p:cNvGrpSpPr>
            <p:nvPr/>
          </p:nvGrpSpPr>
          <p:grpSpPr bwMode="auto">
            <a:xfrm>
              <a:off x="1246" y="2003"/>
              <a:ext cx="227" cy="224"/>
              <a:chOff x="1246" y="1229"/>
              <a:chExt cx="227" cy="224"/>
            </a:xfrm>
          </p:grpSpPr>
          <p:sp>
            <p:nvSpPr>
              <p:cNvPr id="81080" name="Oval 158"/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081" name="Rectangle 159"/>
              <p:cNvSpPr>
                <a:spLocks noChangeArrowheads="1"/>
              </p:cNvSpPr>
              <p:nvPr/>
            </p:nvSpPr>
            <p:spPr bwMode="auto">
              <a:xfrm>
                <a:off x="1349" y="1280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4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1062" name="Group 160"/>
            <p:cNvGrpSpPr>
              <a:grpSpLocks/>
            </p:cNvGrpSpPr>
            <p:nvPr/>
          </p:nvGrpSpPr>
          <p:grpSpPr bwMode="auto">
            <a:xfrm>
              <a:off x="1550" y="2398"/>
              <a:ext cx="227" cy="228"/>
              <a:chOff x="1550" y="1624"/>
              <a:chExt cx="227" cy="228"/>
            </a:xfrm>
          </p:grpSpPr>
          <p:sp>
            <p:nvSpPr>
              <p:cNvPr id="81078" name="Oval 161"/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079" name="Rectangle 162"/>
              <p:cNvSpPr>
                <a:spLocks noChangeArrowheads="1"/>
              </p:cNvSpPr>
              <p:nvPr/>
            </p:nvSpPr>
            <p:spPr bwMode="auto">
              <a:xfrm>
                <a:off x="1653" y="1679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5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1063" name="Group 163"/>
            <p:cNvGrpSpPr>
              <a:grpSpLocks/>
            </p:cNvGrpSpPr>
            <p:nvPr/>
          </p:nvGrpSpPr>
          <p:grpSpPr bwMode="auto">
            <a:xfrm>
              <a:off x="2222" y="1662"/>
              <a:ext cx="226" cy="205"/>
              <a:chOff x="2222" y="888"/>
              <a:chExt cx="226" cy="205"/>
            </a:xfrm>
          </p:grpSpPr>
          <p:sp>
            <p:nvSpPr>
              <p:cNvPr id="81076" name="Oval 164"/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077" name="Rectangle 165"/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6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sp>
          <p:nvSpPr>
            <p:cNvPr id="81064" name="Rectangle 166"/>
            <p:cNvSpPr>
              <a:spLocks noChangeArrowheads="1"/>
            </p:cNvSpPr>
            <p:nvPr/>
          </p:nvSpPr>
          <p:spPr bwMode="auto">
            <a:xfrm>
              <a:off x="890" y="2119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1065" name="Rectangle 167"/>
            <p:cNvSpPr>
              <a:spLocks noChangeArrowheads="1"/>
            </p:cNvSpPr>
            <p:nvPr/>
          </p:nvSpPr>
          <p:spPr bwMode="auto">
            <a:xfrm>
              <a:off x="1874" y="1540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1066" name="Rectangle 168"/>
            <p:cNvSpPr>
              <a:spLocks noChangeArrowheads="1"/>
            </p:cNvSpPr>
            <p:nvPr/>
          </p:nvSpPr>
          <p:spPr bwMode="auto">
            <a:xfrm>
              <a:off x="1469" y="1827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1067" name="Rectangle 169"/>
            <p:cNvSpPr>
              <a:spLocks noChangeArrowheads="1"/>
            </p:cNvSpPr>
            <p:nvPr/>
          </p:nvSpPr>
          <p:spPr bwMode="auto">
            <a:xfrm>
              <a:off x="1534" y="2218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1068" name="Rectangle 170"/>
            <p:cNvSpPr>
              <a:spLocks noChangeArrowheads="1"/>
            </p:cNvSpPr>
            <p:nvPr/>
          </p:nvSpPr>
          <p:spPr bwMode="auto">
            <a:xfrm>
              <a:off x="2049" y="2124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1069" name="Rectangle 171"/>
            <p:cNvSpPr>
              <a:spLocks noChangeArrowheads="1"/>
            </p:cNvSpPr>
            <p:nvPr/>
          </p:nvSpPr>
          <p:spPr bwMode="auto">
            <a:xfrm>
              <a:off x="457" y="1952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1070" name="Rectangle 172"/>
            <p:cNvSpPr>
              <a:spLocks noChangeArrowheads="1"/>
            </p:cNvSpPr>
            <p:nvPr/>
          </p:nvSpPr>
          <p:spPr bwMode="auto">
            <a:xfrm>
              <a:off x="963" y="1780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1071" name="Rectangle 173"/>
            <p:cNvSpPr>
              <a:spLocks noChangeArrowheads="1"/>
            </p:cNvSpPr>
            <p:nvPr/>
          </p:nvSpPr>
          <p:spPr bwMode="auto">
            <a:xfrm>
              <a:off x="945" y="1494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1072" name="Rectangle 174"/>
            <p:cNvSpPr>
              <a:spLocks noChangeArrowheads="1"/>
            </p:cNvSpPr>
            <p:nvPr/>
          </p:nvSpPr>
          <p:spPr bwMode="auto">
            <a:xfrm>
              <a:off x="1102" y="2515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1073" name="Line 175"/>
            <p:cNvSpPr>
              <a:spLocks noChangeShapeType="1"/>
            </p:cNvSpPr>
            <p:nvPr/>
          </p:nvSpPr>
          <p:spPr bwMode="auto">
            <a:xfrm>
              <a:off x="1584" y="1631"/>
              <a:ext cx="625" cy="103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1074" name="Line 176"/>
            <p:cNvSpPr>
              <a:spLocks noChangeShapeType="1"/>
            </p:cNvSpPr>
            <p:nvPr/>
          </p:nvSpPr>
          <p:spPr bwMode="auto">
            <a:xfrm flipH="1">
              <a:off x="624" y="2166"/>
              <a:ext cx="607" cy="219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1075" name="Rectangle 177"/>
            <p:cNvSpPr>
              <a:spLocks noChangeArrowheads="1"/>
            </p:cNvSpPr>
            <p:nvPr/>
          </p:nvSpPr>
          <p:spPr bwMode="auto">
            <a:xfrm>
              <a:off x="1488" y="1555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</p:grpSp>
      <p:grpSp>
        <p:nvGrpSpPr>
          <p:cNvPr id="14" name="Group 178"/>
          <p:cNvGrpSpPr>
            <a:grpSpLocks/>
          </p:cNvGrpSpPr>
          <p:nvPr/>
        </p:nvGrpSpPr>
        <p:grpSpPr bwMode="auto">
          <a:xfrm>
            <a:off x="1042988" y="2962275"/>
            <a:ext cx="3200400" cy="1895475"/>
            <a:chOff x="432" y="2748"/>
            <a:chExt cx="2016" cy="1194"/>
          </a:xfrm>
        </p:grpSpPr>
        <p:sp>
          <p:nvSpPr>
            <p:cNvPr id="81014" name="Oval 179"/>
            <p:cNvSpPr>
              <a:spLocks noChangeArrowheads="1"/>
            </p:cNvSpPr>
            <p:nvPr/>
          </p:nvSpPr>
          <p:spPr bwMode="auto">
            <a:xfrm>
              <a:off x="441" y="2780"/>
              <a:ext cx="227" cy="204"/>
            </a:xfrm>
            <a:prstGeom prst="ellipse">
              <a:avLst/>
            </a:prstGeom>
            <a:solidFill>
              <a:srgbClr val="00CC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015" name="Line 180"/>
            <p:cNvSpPr>
              <a:spLocks noChangeShapeType="1"/>
            </p:cNvSpPr>
            <p:nvPr/>
          </p:nvSpPr>
          <p:spPr bwMode="auto">
            <a:xfrm>
              <a:off x="671" y="2877"/>
              <a:ext cx="711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1016" name="Line 181"/>
            <p:cNvSpPr>
              <a:spLocks noChangeShapeType="1"/>
            </p:cNvSpPr>
            <p:nvPr/>
          </p:nvSpPr>
          <p:spPr bwMode="auto">
            <a:xfrm flipH="1">
              <a:off x="1392" y="2988"/>
              <a:ext cx="64" cy="282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1017" name="Line 182"/>
            <p:cNvSpPr>
              <a:spLocks noChangeShapeType="1"/>
            </p:cNvSpPr>
            <p:nvPr/>
          </p:nvSpPr>
          <p:spPr bwMode="auto">
            <a:xfrm>
              <a:off x="1398" y="3464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1018" name="Line 183"/>
            <p:cNvSpPr>
              <a:spLocks noChangeShapeType="1"/>
            </p:cNvSpPr>
            <p:nvPr/>
          </p:nvSpPr>
          <p:spPr bwMode="auto">
            <a:xfrm flipV="1">
              <a:off x="1748" y="3080"/>
              <a:ext cx="496" cy="60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1019" name="Line 184"/>
            <p:cNvSpPr>
              <a:spLocks noChangeShapeType="1"/>
            </p:cNvSpPr>
            <p:nvPr/>
          </p:nvSpPr>
          <p:spPr bwMode="auto">
            <a:xfrm flipH="1" flipV="1">
              <a:off x="644" y="3730"/>
              <a:ext cx="911" cy="47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1020" name="Line 185"/>
            <p:cNvSpPr>
              <a:spLocks noChangeShapeType="1"/>
            </p:cNvSpPr>
            <p:nvPr/>
          </p:nvSpPr>
          <p:spPr bwMode="auto">
            <a:xfrm>
              <a:off x="543" y="2971"/>
              <a:ext cx="0" cy="612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1021" name="Line 186"/>
            <p:cNvSpPr>
              <a:spLocks noChangeShapeType="1"/>
            </p:cNvSpPr>
            <p:nvPr/>
          </p:nvSpPr>
          <p:spPr bwMode="auto">
            <a:xfrm>
              <a:off x="616" y="2947"/>
              <a:ext cx="635" cy="360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1022" name="Rectangle 187"/>
            <p:cNvSpPr>
              <a:spLocks noChangeArrowheads="1"/>
            </p:cNvSpPr>
            <p:nvPr/>
          </p:nvSpPr>
          <p:spPr bwMode="auto">
            <a:xfrm>
              <a:off x="542" y="2825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grpSp>
          <p:nvGrpSpPr>
            <p:cNvPr id="81023" name="Group 188"/>
            <p:cNvGrpSpPr>
              <a:grpSpLocks/>
            </p:cNvGrpSpPr>
            <p:nvPr/>
          </p:nvGrpSpPr>
          <p:grpSpPr bwMode="auto">
            <a:xfrm>
              <a:off x="432" y="3564"/>
              <a:ext cx="227" cy="220"/>
              <a:chOff x="432" y="1536"/>
              <a:chExt cx="227" cy="220"/>
            </a:xfrm>
          </p:grpSpPr>
          <p:sp>
            <p:nvSpPr>
              <p:cNvPr id="81048" name="Oval 189"/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049" name="Rectangle 190"/>
              <p:cNvSpPr>
                <a:spLocks noChangeArrowheads="1"/>
              </p:cNvSpPr>
              <p:nvPr/>
            </p:nvSpPr>
            <p:spPr bwMode="auto">
              <a:xfrm>
                <a:off x="504" y="1536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1024" name="Group 191"/>
            <p:cNvGrpSpPr>
              <a:grpSpLocks/>
            </p:cNvGrpSpPr>
            <p:nvPr/>
          </p:nvGrpSpPr>
          <p:grpSpPr bwMode="auto">
            <a:xfrm>
              <a:off x="1246" y="3257"/>
              <a:ext cx="227" cy="224"/>
              <a:chOff x="1246" y="1229"/>
              <a:chExt cx="227" cy="224"/>
            </a:xfrm>
          </p:grpSpPr>
          <p:sp>
            <p:nvSpPr>
              <p:cNvPr id="81046" name="Oval 192"/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047" name="Rectangle 193"/>
              <p:cNvSpPr>
                <a:spLocks noChangeArrowheads="1"/>
              </p:cNvSpPr>
              <p:nvPr/>
            </p:nvSpPr>
            <p:spPr bwMode="auto">
              <a:xfrm>
                <a:off x="1349" y="1280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4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1025" name="Group 194"/>
            <p:cNvGrpSpPr>
              <a:grpSpLocks/>
            </p:cNvGrpSpPr>
            <p:nvPr/>
          </p:nvGrpSpPr>
          <p:grpSpPr bwMode="auto">
            <a:xfrm>
              <a:off x="1550" y="3652"/>
              <a:ext cx="227" cy="228"/>
              <a:chOff x="1550" y="1624"/>
              <a:chExt cx="227" cy="228"/>
            </a:xfrm>
          </p:grpSpPr>
          <p:sp>
            <p:nvSpPr>
              <p:cNvPr id="81044" name="Oval 195"/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045" name="Rectangle 196"/>
              <p:cNvSpPr>
                <a:spLocks noChangeArrowheads="1"/>
              </p:cNvSpPr>
              <p:nvPr/>
            </p:nvSpPr>
            <p:spPr bwMode="auto">
              <a:xfrm>
                <a:off x="1653" y="1679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5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1026" name="Group 197"/>
            <p:cNvGrpSpPr>
              <a:grpSpLocks/>
            </p:cNvGrpSpPr>
            <p:nvPr/>
          </p:nvGrpSpPr>
          <p:grpSpPr bwMode="auto">
            <a:xfrm>
              <a:off x="2222" y="2916"/>
              <a:ext cx="226" cy="205"/>
              <a:chOff x="2222" y="888"/>
              <a:chExt cx="226" cy="205"/>
            </a:xfrm>
          </p:grpSpPr>
          <p:sp>
            <p:nvSpPr>
              <p:cNvPr id="81042" name="Oval 198"/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043" name="Rectangle 199"/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6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sp>
          <p:nvSpPr>
            <p:cNvPr id="81027" name="Rectangle 200"/>
            <p:cNvSpPr>
              <a:spLocks noChangeArrowheads="1"/>
            </p:cNvSpPr>
            <p:nvPr/>
          </p:nvSpPr>
          <p:spPr bwMode="auto">
            <a:xfrm>
              <a:off x="890" y="3373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1028" name="Rectangle 201"/>
            <p:cNvSpPr>
              <a:spLocks noChangeArrowheads="1"/>
            </p:cNvSpPr>
            <p:nvPr/>
          </p:nvSpPr>
          <p:spPr bwMode="auto">
            <a:xfrm>
              <a:off x="1874" y="2794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1029" name="Rectangle 202"/>
            <p:cNvSpPr>
              <a:spLocks noChangeArrowheads="1"/>
            </p:cNvSpPr>
            <p:nvPr/>
          </p:nvSpPr>
          <p:spPr bwMode="auto">
            <a:xfrm>
              <a:off x="1469" y="3081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1030" name="Rectangle 203"/>
            <p:cNvSpPr>
              <a:spLocks noChangeArrowheads="1"/>
            </p:cNvSpPr>
            <p:nvPr/>
          </p:nvSpPr>
          <p:spPr bwMode="auto">
            <a:xfrm>
              <a:off x="1534" y="3472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1031" name="Rectangle 204"/>
            <p:cNvSpPr>
              <a:spLocks noChangeArrowheads="1"/>
            </p:cNvSpPr>
            <p:nvPr/>
          </p:nvSpPr>
          <p:spPr bwMode="auto">
            <a:xfrm>
              <a:off x="2049" y="3378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1032" name="Rectangle 205"/>
            <p:cNvSpPr>
              <a:spLocks noChangeArrowheads="1"/>
            </p:cNvSpPr>
            <p:nvPr/>
          </p:nvSpPr>
          <p:spPr bwMode="auto">
            <a:xfrm>
              <a:off x="457" y="3206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1033" name="Rectangle 206"/>
            <p:cNvSpPr>
              <a:spLocks noChangeArrowheads="1"/>
            </p:cNvSpPr>
            <p:nvPr/>
          </p:nvSpPr>
          <p:spPr bwMode="auto">
            <a:xfrm>
              <a:off x="963" y="3034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1034" name="Rectangle 207"/>
            <p:cNvSpPr>
              <a:spLocks noChangeArrowheads="1"/>
            </p:cNvSpPr>
            <p:nvPr/>
          </p:nvSpPr>
          <p:spPr bwMode="auto">
            <a:xfrm>
              <a:off x="945" y="2748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1035" name="Rectangle 208"/>
            <p:cNvSpPr>
              <a:spLocks noChangeArrowheads="1"/>
            </p:cNvSpPr>
            <p:nvPr/>
          </p:nvSpPr>
          <p:spPr bwMode="auto">
            <a:xfrm>
              <a:off x="1102" y="3769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1036" name="Line 209"/>
            <p:cNvSpPr>
              <a:spLocks noChangeShapeType="1"/>
            </p:cNvSpPr>
            <p:nvPr/>
          </p:nvSpPr>
          <p:spPr bwMode="auto">
            <a:xfrm>
              <a:off x="1584" y="2885"/>
              <a:ext cx="625" cy="103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1037" name="Line 210"/>
            <p:cNvSpPr>
              <a:spLocks noChangeShapeType="1"/>
            </p:cNvSpPr>
            <p:nvPr/>
          </p:nvSpPr>
          <p:spPr bwMode="auto">
            <a:xfrm flipH="1">
              <a:off x="624" y="3420"/>
              <a:ext cx="607" cy="219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81038" name="Group 211"/>
            <p:cNvGrpSpPr>
              <a:grpSpLocks/>
            </p:cNvGrpSpPr>
            <p:nvPr/>
          </p:nvGrpSpPr>
          <p:grpSpPr bwMode="auto">
            <a:xfrm>
              <a:off x="1405" y="2784"/>
              <a:ext cx="227" cy="204"/>
              <a:chOff x="1405" y="756"/>
              <a:chExt cx="227" cy="204"/>
            </a:xfrm>
          </p:grpSpPr>
          <p:sp>
            <p:nvSpPr>
              <p:cNvPr id="81040" name="Rectangle 212"/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endParaRPr lang="en-US" sz="1800">
                  <a:latin typeface="Times New Roman" pitchFamily="18" charset="0"/>
                </a:endParaRPr>
              </a:p>
            </p:txBody>
          </p:sp>
          <p:sp>
            <p:nvSpPr>
              <p:cNvPr id="81041" name="Oval 213"/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1039" name="Rectangle 214"/>
            <p:cNvSpPr>
              <a:spLocks noChangeArrowheads="1"/>
            </p:cNvSpPr>
            <p:nvPr/>
          </p:nvSpPr>
          <p:spPr bwMode="auto">
            <a:xfrm>
              <a:off x="1488" y="2803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</p:grpSp>
      <p:grpSp>
        <p:nvGrpSpPr>
          <p:cNvPr id="20" name="Group 215"/>
          <p:cNvGrpSpPr>
            <a:grpSpLocks/>
          </p:cNvGrpSpPr>
          <p:nvPr/>
        </p:nvGrpSpPr>
        <p:grpSpPr bwMode="auto">
          <a:xfrm>
            <a:off x="4845050" y="2970213"/>
            <a:ext cx="3200400" cy="1895475"/>
            <a:chOff x="3120" y="2790"/>
            <a:chExt cx="2016" cy="1194"/>
          </a:xfrm>
        </p:grpSpPr>
        <p:sp>
          <p:nvSpPr>
            <p:cNvPr id="80978" name="Oval 216"/>
            <p:cNvSpPr>
              <a:spLocks noChangeArrowheads="1"/>
            </p:cNvSpPr>
            <p:nvPr/>
          </p:nvSpPr>
          <p:spPr bwMode="auto">
            <a:xfrm>
              <a:off x="3129" y="2822"/>
              <a:ext cx="227" cy="204"/>
            </a:xfrm>
            <a:prstGeom prst="ellipse">
              <a:avLst/>
            </a:prstGeom>
            <a:solidFill>
              <a:srgbClr val="00CC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979" name="Line 217"/>
            <p:cNvSpPr>
              <a:spLocks noChangeShapeType="1"/>
            </p:cNvSpPr>
            <p:nvPr/>
          </p:nvSpPr>
          <p:spPr bwMode="auto">
            <a:xfrm>
              <a:off x="3359" y="2919"/>
              <a:ext cx="711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980" name="Line 218"/>
            <p:cNvSpPr>
              <a:spLocks noChangeShapeType="1"/>
            </p:cNvSpPr>
            <p:nvPr/>
          </p:nvSpPr>
          <p:spPr bwMode="auto">
            <a:xfrm flipH="1">
              <a:off x="4080" y="3030"/>
              <a:ext cx="64" cy="282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981" name="Line 219"/>
            <p:cNvSpPr>
              <a:spLocks noChangeShapeType="1"/>
            </p:cNvSpPr>
            <p:nvPr/>
          </p:nvSpPr>
          <p:spPr bwMode="auto">
            <a:xfrm>
              <a:off x="4086" y="3506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982" name="Line 220"/>
            <p:cNvSpPr>
              <a:spLocks noChangeShapeType="1"/>
            </p:cNvSpPr>
            <p:nvPr/>
          </p:nvSpPr>
          <p:spPr bwMode="auto">
            <a:xfrm flipV="1">
              <a:off x="4436" y="3122"/>
              <a:ext cx="496" cy="603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983" name="Line 221"/>
            <p:cNvSpPr>
              <a:spLocks noChangeShapeType="1"/>
            </p:cNvSpPr>
            <p:nvPr/>
          </p:nvSpPr>
          <p:spPr bwMode="auto">
            <a:xfrm flipH="1" flipV="1">
              <a:off x="3332" y="3772"/>
              <a:ext cx="911" cy="47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984" name="Line 222"/>
            <p:cNvSpPr>
              <a:spLocks noChangeShapeType="1"/>
            </p:cNvSpPr>
            <p:nvPr/>
          </p:nvSpPr>
          <p:spPr bwMode="auto">
            <a:xfrm>
              <a:off x="3231" y="3013"/>
              <a:ext cx="0" cy="612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985" name="Line 223"/>
            <p:cNvSpPr>
              <a:spLocks noChangeShapeType="1"/>
            </p:cNvSpPr>
            <p:nvPr/>
          </p:nvSpPr>
          <p:spPr bwMode="auto">
            <a:xfrm>
              <a:off x="3304" y="2989"/>
              <a:ext cx="635" cy="360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986" name="Rectangle 224"/>
            <p:cNvSpPr>
              <a:spLocks noChangeArrowheads="1"/>
            </p:cNvSpPr>
            <p:nvPr/>
          </p:nvSpPr>
          <p:spPr bwMode="auto">
            <a:xfrm>
              <a:off x="3230" y="2867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grpSp>
          <p:nvGrpSpPr>
            <p:cNvPr id="80987" name="Group 225"/>
            <p:cNvGrpSpPr>
              <a:grpSpLocks/>
            </p:cNvGrpSpPr>
            <p:nvPr/>
          </p:nvGrpSpPr>
          <p:grpSpPr bwMode="auto">
            <a:xfrm>
              <a:off x="3120" y="3606"/>
              <a:ext cx="227" cy="220"/>
              <a:chOff x="432" y="1536"/>
              <a:chExt cx="227" cy="220"/>
            </a:xfrm>
          </p:grpSpPr>
          <p:sp>
            <p:nvSpPr>
              <p:cNvPr id="81012" name="Oval 226"/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013" name="Rectangle 227"/>
              <p:cNvSpPr>
                <a:spLocks noChangeArrowheads="1"/>
              </p:cNvSpPr>
              <p:nvPr/>
            </p:nvSpPr>
            <p:spPr bwMode="auto">
              <a:xfrm>
                <a:off x="504" y="1536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0988" name="Group 228"/>
            <p:cNvGrpSpPr>
              <a:grpSpLocks/>
            </p:cNvGrpSpPr>
            <p:nvPr/>
          </p:nvGrpSpPr>
          <p:grpSpPr bwMode="auto">
            <a:xfrm>
              <a:off x="3934" y="3299"/>
              <a:ext cx="227" cy="224"/>
              <a:chOff x="1246" y="1229"/>
              <a:chExt cx="227" cy="224"/>
            </a:xfrm>
          </p:grpSpPr>
          <p:sp>
            <p:nvSpPr>
              <p:cNvPr id="81010" name="Oval 229"/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011" name="Rectangle 230"/>
              <p:cNvSpPr>
                <a:spLocks noChangeArrowheads="1"/>
              </p:cNvSpPr>
              <p:nvPr/>
            </p:nvSpPr>
            <p:spPr bwMode="auto">
              <a:xfrm>
                <a:off x="1349" y="1280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4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0989" name="Group 231"/>
            <p:cNvGrpSpPr>
              <a:grpSpLocks/>
            </p:cNvGrpSpPr>
            <p:nvPr/>
          </p:nvGrpSpPr>
          <p:grpSpPr bwMode="auto">
            <a:xfrm>
              <a:off x="4238" y="3694"/>
              <a:ext cx="227" cy="228"/>
              <a:chOff x="1550" y="1624"/>
              <a:chExt cx="227" cy="228"/>
            </a:xfrm>
          </p:grpSpPr>
          <p:sp>
            <p:nvSpPr>
              <p:cNvPr id="81008" name="Oval 232"/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009" name="Rectangle 233"/>
              <p:cNvSpPr>
                <a:spLocks noChangeArrowheads="1"/>
              </p:cNvSpPr>
              <p:nvPr/>
            </p:nvSpPr>
            <p:spPr bwMode="auto">
              <a:xfrm>
                <a:off x="1653" y="1679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5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0990" name="Group 234"/>
            <p:cNvGrpSpPr>
              <a:grpSpLocks/>
            </p:cNvGrpSpPr>
            <p:nvPr/>
          </p:nvGrpSpPr>
          <p:grpSpPr bwMode="auto">
            <a:xfrm>
              <a:off x="4910" y="2958"/>
              <a:ext cx="226" cy="205"/>
              <a:chOff x="2222" y="888"/>
              <a:chExt cx="226" cy="205"/>
            </a:xfrm>
          </p:grpSpPr>
          <p:sp>
            <p:nvSpPr>
              <p:cNvPr id="81006" name="Oval 235"/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007" name="Rectangle 236"/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6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sp>
          <p:nvSpPr>
            <p:cNvPr id="80991" name="Rectangle 237"/>
            <p:cNvSpPr>
              <a:spLocks noChangeArrowheads="1"/>
            </p:cNvSpPr>
            <p:nvPr/>
          </p:nvSpPr>
          <p:spPr bwMode="auto">
            <a:xfrm>
              <a:off x="3578" y="3415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992" name="Rectangle 238"/>
            <p:cNvSpPr>
              <a:spLocks noChangeArrowheads="1"/>
            </p:cNvSpPr>
            <p:nvPr/>
          </p:nvSpPr>
          <p:spPr bwMode="auto">
            <a:xfrm>
              <a:off x="4562" y="2836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993" name="Rectangle 239"/>
            <p:cNvSpPr>
              <a:spLocks noChangeArrowheads="1"/>
            </p:cNvSpPr>
            <p:nvPr/>
          </p:nvSpPr>
          <p:spPr bwMode="auto">
            <a:xfrm>
              <a:off x="4157" y="3123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994" name="Rectangle 240"/>
            <p:cNvSpPr>
              <a:spLocks noChangeArrowheads="1"/>
            </p:cNvSpPr>
            <p:nvPr/>
          </p:nvSpPr>
          <p:spPr bwMode="auto">
            <a:xfrm>
              <a:off x="4222" y="3514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995" name="Rectangle 241"/>
            <p:cNvSpPr>
              <a:spLocks noChangeArrowheads="1"/>
            </p:cNvSpPr>
            <p:nvPr/>
          </p:nvSpPr>
          <p:spPr bwMode="auto">
            <a:xfrm>
              <a:off x="4737" y="3420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996" name="Rectangle 242"/>
            <p:cNvSpPr>
              <a:spLocks noChangeArrowheads="1"/>
            </p:cNvSpPr>
            <p:nvPr/>
          </p:nvSpPr>
          <p:spPr bwMode="auto">
            <a:xfrm>
              <a:off x="3145" y="3248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997" name="Rectangle 243"/>
            <p:cNvSpPr>
              <a:spLocks noChangeArrowheads="1"/>
            </p:cNvSpPr>
            <p:nvPr/>
          </p:nvSpPr>
          <p:spPr bwMode="auto">
            <a:xfrm>
              <a:off x="3651" y="3076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998" name="Rectangle 244"/>
            <p:cNvSpPr>
              <a:spLocks noChangeArrowheads="1"/>
            </p:cNvSpPr>
            <p:nvPr/>
          </p:nvSpPr>
          <p:spPr bwMode="auto">
            <a:xfrm>
              <a:off x="3633" y="2790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999" name="Rectangle 245"/>
            <p:cNvSpPr>
              <a:spLocks noChangeArrowheads="1"/>
            </p:cNvSpPr>
            <p:nvPr/>
          </p:nvSpPr>
          <p:spPr bwMode="auto">
            <a:xfrm>
              <a:off x="3790" y="3811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1000" name="Line 246"/>
            <p:cNvSpPr>
              <a:spLocks noChangeShapeType="1"/>
            </p:cNvSpPr>
            <p:nvPr/>
          </p:nvSpPr>
          <p:spPr bwMode="auto">
            <a:xfrm>
              <a:off x="4272" y="2927"/>
              <a:ext cx="625" cy="103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1001" name="Line 247"/>
            <p:cNvSpPr>
              <a:spLocks noChangeShapeType="1"/>
            </p:cNvSpPr>
            <p:nvPr/>
          </p:nvSpPr>
          <p:spPr bwMode="auto">
            <a:xfrm flipH="1">
              <a:off x="3312" y="3462"/>
              <a:ext cx="607" cy="219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81002" name="Group 248"/>
            <p:cNvGrpSpPr>
              <a:grpSpLocks/>
            </p:cNvGrpSpPr>
            <p:nvPr/>
          </p:nvGrpSpPr>
          <p:grpSpPr bwMode="auto">
            <a:xfrm>
              <a:off x="4093" y="2826"/>
              <a:ext cx="227" cy="204"/>
              <a:chOff x="1405" y="756"/>
              <a:chExt cx="227" cy="204"/>
            </a:xfrm>
          </p:grpSpPr>
          <p:sp>
            <p:nvSpPr>
              <p:cNvPr id="81004" name="Rectangle 249"/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endParaRPr lang="en-US" sz="1800">
                  <a:latin typeface="Times New Roman" pitchFamily="18" charset="0"/>
                </a:endParaRPr>
              </a:p>
            </p:txBody>
          </p:sp>
          <p:sp>
            <p:nvSpPr>
              <p:cNvPr id="81005" name="Oval 250"/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1003" name="Rectangle 251"/>
            <p:cNvSpPr>
              <a:spLocks noChangeArrowheads="1"/>
            </p:cNvSpPr>
            <p:nvPr/>
          </p:nvSpPr>
          <p:spPr bwMode="auto">
            <a:xfrm>
              <a:off x="4176" y="2845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</p:grpSp>
      <p:grpSp>
        <p:nvGrpSpPr>
          <p:cNvPr id="26" name="Group 252"/>
          <p:cNvGrpSpPr>
            <a:grpSpLocks/>
          </p:cNvGrpSpPr>
          <p:nvPr/>
        </p:nvGrpSpPr>
        <p:grpSpPr bwMode="auto">
          <a:xfrm>
            <a:off x="992188" y="4962525"/>
            <a:ext cx="3200400" cy="1895475"/>
            <a:chOff x="3072" y="1488"/>
            <a:chExt cx="2016" cy="1194"/>
          </a:xfrm>
        </p:grpSpPr>
        <p:sp>
          <p:nvSpPr>
            <p:cNvPr id="80942" name="Oval 253"/>
            <p:cNvSpPr>
              <a:spLocks noChangeArrowheads="1"/>
            </p:cNvSpPr>
            <p:nvPr/>
          </p:nvSpPr>
          <p:spPr bwMode="auto">
            <a:xfrm>
              <a:off x="3081" y="1520"/>
              <a:ext cx="227" cy="204"/>
            </a:xfrm>
            <a:prstGeom prst="ellipse">
              <a:avLst/>
            </a:prstGeom>
            <a:solidFill>
              <a:srgbClr val="00CC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943" name="Line 254"/>
            <p:cNvSpPr>
              <a:spLocks noChangeShapeType="1"/>
            </p:cNvSpPr>
            <p:nvPr/>
          </p:nvSpPr>
          <p:spPr bwMode="auto">
            <a:xfrm>
              <a:off x="3311" y="1617"/>
              <a:ext cx="711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944" name="Line 255"/>
            <p:cNvSpPr>
              <a:spLocks noChangeShapeType="1"/>
            </p:cNvSpPr>
            <p:nvPr/>
          </p:nvSpPr>
          <p:spPr bwMode="auto">
            <a:xfrm flipH="1">
              <a:off x="4032" y="1728"/>
              <a:ext cx="64" cy="282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945" name="Line 256"/>
            <p:cNvSpPr>
              <a:spLocks noChangeShapeType="1"/>
            </p:cNvSpPr>
            <p:nvPr/>
          </p:nvSpPr>
          <p:spPr bwMode="auto">
            <a:xfrm>
              <a:off x="4038" y="2204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946" name="Line 257"/>
            <p:cNvSpPr>
              <a:spLocks noChangeShapeType="1"/>
            </p:cNvSpPr>
            <p:nvPr/>
          </p:nvSpPr>
          <p:spPr bwMode="auto">
            <a:xfrm flipV="1">
              <a:off x="4388" y="1820"/>
              <a:ext cx="496" cy="603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947" name="Line 258"/>
            <p:cNvSpPr>
              <a:spLocks noChangeShapeType="1"/>
            </p:cNvSpPr>
            <p:nvPr/>
          </p:nvSpPr>
          <p:spPr bwMode="auto">
            <a:xfrm flipH="1" flipV="1">
              <a:off x="3284" y="2470"/>
              <a:ext cx="911" cy="47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948" name="Line 259"/>
            <p:cNvSpPr>
              <a:spLocks noChangeShapeType="1"/>
            </p:cNvSpPr>
            <p:nvPr/>
          </p:nvSpPr>
          <p:spPr bwMode="auto">
            <a:xfrm>
              <a:off x="3183" y="1711"/>
              <a:ext cx="0" cy="612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949" name="Line 260"/>
            <p:cNvSpPr>
              <a:spLocks noChangeShapeType="1"/>
            </p:cNvSpPr>
            <p:nvPr/>
          </p:nvSpPr>
          <p:spPr bwMode="auto">
            <a:xfrm>
              <a:off x="3256" y="1687"/>
              <a:ext cx="635" cy="360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950" name="Rectangle 261"/>
            <p:cNvSpPr>
              <a:spLocks noChangeArrowheads="1"/>
            </p:cNvSpPr>
            <p:nvPr/>
          </p:nvSpPr>
          <p:spPr bwMode="auto">
            <a:xfrm>
              <a:off x="3182" y="1565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grpSp>
          <p:nvGrpSpPr>
            <p:cNvPr id="80951" name="Group 262"/>
            <p:cNvGrpSpPr>
              <a:grpSpLocks/>
            </p:cNvGrpSpPr>
            <p:nvPr/>
          </p:nvGrpSpPr>
          <p:grpSpPr bwMode="auto">
            <a:xfrm>
              <a:off x="3072" y="2304"/>
              <a:ext cx="227" cy="220"/>
              <a:chOff x="432" y="1536"/>
              <a:chExt cx="227" cy="220"/>
            </a:xfrm>
          </p:grpSpPr>
          <p:sp>
            <p:nvSpPr>
              <p:cNvPr id="80976" name="Oval 263"/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977" name="Rectangle 264"/>
              <p:cNvSpPr>
                <a:spLocks noChangeArrowheads="1"/>
              </p:cNvSpPr>
              <p:nvPr/>
            </p:nvSpPr>
            <p:spPr bwMode="auto">
              <a:xfrm>
                <a:off x="504" y="1536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0952" name="Group 265"/>
            <p:cNvGrpSpPr>
              <a:grpSpLocks/>
            </p:cNvGrpSpPr>
            <p:nvPr/>
          </p:nvGrpSpPr>
          <p:grpSpPr bwMode="auto">
            <a:xfrm>
              <a:off x="3886" y="1997"/>
              <a:ext cx="227" cy="224"/>
              <a:chOff x="1246" y="1229"/>
              <a:chExt cx="227" cy="224"/>
            </a:xfrm>
          </p:grpSpPr>
          <p:sp>
            <p:nvSpPr>
              <p:cNvPr id="80974" name="Oval 266"/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975" name="Rectangle 267"/>
              <p:cNvSpPr>
                <a:spLocks noChangeArrowheads="1"/>
              </p:cNvSpPr>
              <p:nvPr/>
            </p:nvSpPr>
            <p:spPr bwMode="auto">
              <a:xfrm>
                <a:off x="1349" y="1280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4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0953" name="Group 268"/>
            <p:cNvGrpSpPr>
              <a:grpSpLocks/>
            </p:cNvGrpSpPr>
            <p:nvPr/>
          </p:nvGrpSpPr>
          <p:grpSpPr bwMode="auto">
            <a:xfrm>
              <a:off x="4190" y="2392"/>
              <a:ext cx="227" cy="228"/>
              <a:chOff x="1550" y="1624"/>
              <a:chExt cx="227" cy="228"/>
            </a:xfrm>
          </p:grpSpPr>
          <p:sp>
            <p:nvSpPr>
              <p:cNvPr id="80972" name="Oval 269"/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973" name="Rectangle 270"/>
              <p:cNvSpPr>
                <a:spLocks noChangeArrowheads="1"/>
              </p:cNvSpPr>
              <p:nvPr/>
            </p:nvSpPr>
            <p:spPr bwMode="auto">
              <a:xfrm>
                <a:off x="1653" y="1679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5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0954" name="Group 271"/>
            <p:cNvGrpSpPr>
              <a:grpSpLocks/>
            </p:cNvGrpSpPr>
            <p:nvPr/>
          </p:nvGrpSpPr>
          <p:grpSpPr bwMode="auto">
            <a:xfrm>
              <a:off x="4862" y="1656"/>
              <a:ext cx="226" cy="205"/>
              <a:chOff x="2222" y="888"/>
              <a:chExt cx="226" cy="205"/>
            </a:xfrm>
          </p:grpSpPr>
          <p:sp>
            <p:nvSpPr>
              <p:cNvPr id="80970" name="Oval 272"/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971" name="Rectangle 273"/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6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sp>
          <p:nvSpPr>
            <p:cNvPr id="80955" name="Rectangle 274"/>
            <p:cNvSpPr>
              <a:spLocks noChangeArrowheads="1"/>
            </p:cNvSpPr>
            <p:nvPr/>
          </p:nvSpPr>
          <p:spPr bwMode="auto">
            <a:xfrm>
              <a:off x="3530" y="2113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956" name="Rectangle 275"/>
            <p:cNvSpPr>
              <a:spLocks noChangeArrowheads="1"/>
            </p:cNvSpPr>
            <p:nvPr/>
          </p:nvSpPr>
          <p:spPr bwMode="auto">
            <a:xfrm>
              <a:off x="4514" y="1534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957" name="Rectangle 276"/>
            <p:cNvSpPr>
              <a:spLocks noChangeArrowheads="1"/>
            </p:cNvSpPr>
            <p:nvPr/>
          </p:nvSpPr>
          <p:spPr bwMode="auto">
            <a:xfrm>
              <a:off x="4109" y="1821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958" name="Rectangle 277"/>
            <p:cNvSpPr>
              <a:spLocks noChangeArrowheads="1"/>
            </p:cNvSpPr>
            <p:nvPr/>
          </p:nvSpPr>
          <p:spPr bwMode="auto">
            <a:xfrm>
              <a:off x="4174" y="2212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959" name="Rectangle 278"/>
            <p:cNvSpPr>
              <a:spLocks noChangeArrowheads="1"/>
            </p:cNvSpPr>
            <p:nvPr/>
          </p:nvSpPr>
          <p:spPr bwMode="auto">
            <a:xfrm>
              <a:off x="4689" y="2118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960" name="Rectangle 279"/>
            <p:cNvSpPr>
              <a:spLocks noChangeArrowheads="1"/>
            </p:cNvSpPr>
            <p:nvPr/>
          </p:nvSpPr>
          <p:spPr bwMode="auto">
            <a:xfrm>
              <a:off x="3097" y="1946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961" name="Rectangle 280"/>
            <p:cNvSpPr>
              <a:spLocks noChangeArrowheads="1"/>
            </p:cNvSpPr>
            <p:nvPr/>
          </p:nvSpPr>
          <p:spPr bwMode="auto">
            <a:xfrm>
              <a:off x="3603" y="1774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962" name="Rectangle 281"/>
            <p:cNvSpPr>
              <a:spLocks noChangeArrowheads="1"/>
            </p:cNvSpPr>
            <p:nvPr/>
          </p:nvSpPr>
          <p:spPr bwMode="auto">
            <a:xfrm>
              <a:off x="3585" y="1488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963" name="Rectangle 282"/>
            <p:cNvSpPr>
              <a:spLocks noChangeArrowheads="1"/>
            </p:cNvSpPr>
            <p:nvPr/>
          </p:nvSpPr>
          <p:spPr bwMode="auto">
            <a:xfrm>
              <a:off x="3742" y="2509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964" name="Line 283"/>
            <p:cNvSpPr>
              <a:spLocks noChangeShapeType="1"/>
            </p:cNvSpPr>
            <p:nvPr/>
          </p:nvSpPr>
          <p:spPr bwMode="auto">
            <a:xfrm>
              <a:off x="4224" y="1625"/>
              <a:ext cx="625" cy="103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965" name="Line 284"/>
            <p:cNvSpPr>
              <a:spLocks noChangeShapeType="1"/>
            </p:cNvSpPr>
            <p:nvPr/>
          </p:nvSpPr>
          <p:spPr bwMode="auto">
            <a:xfrm flipH="1">
              <a:off x="3264" y="2160"/>
              <a:ext cx="607" cy="219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80966" name="Group 285"/>
            <p:cNvGrpSpPr>
              <a:grpSpLocks/>
            </p:cNvGrpSpPr>
            <p:nvPr/>
          </p:nvGrpSpPr>
          <p:grpSpPr bwMode="auto">
            <a:xfrm>
              <a:off x="4045" y="1524"/>
              <a:ext cx="227" cy="204"/>
              <a:chOff x="1405" y="756"/>
              <a:chExt cx="227" cy="204"/>
            </a:xfrm>
          </p:grpSpPr>
          <p:sp>
            <p:nvSpPr>
              <p:cNvPr id="80968" name="Rectangle 286"/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endParaRPr lang="en-US" sz="1800">
                  <a:latin typeface="Times New Roman" pitchFamily="18" charset="0"/>
                </a:endParaRPr>
              </a:p>
            </p:txBody>
          </p:sp>
          <p:sp>
            <p:nvSpPr>
              <p:cNvPr id="80969" name="Oval 287"/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0967" name="Rectangle 288"/>
            <p:cNvSpPr>
              <a:spLocks noChangeArrowheads="1"/>
            </p:cNvSpPr>
            <p:nvPr/>
          </p:nvSpPr>
          <p:spPr bwMode="auto">
            <a:xfrm>
              <a:off x="4128" y="1543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</p:grpSp>
      <p:grpSp>
        <p:nvGrpSpPr>
          <p:cNvPr id="81095" name="Group 289"/>
          <p:cNvGrpSpPr>
            <a:grpSpLocks/>
          </p:cNvGrpSpPr>
          <p:nvPr/>
        </p:nvGrpSpPr>
        <p:grpSpPr bwMode="auto">
          <a:xfrm>
            <a:off x="4929188" y="4962525"/>
            <a:ext cx="3200400" cy="1895475"/>
            <a:chOff x="3072" y="102"/>
            <a:chExt cx="2016" cy="1194"/>
          </a:xfrm>
        </p:grpSpPr>
        <p:sp>
          <p:nvSpPr>
            <p:cNvPr id="80906" name="Oval 290"/>
            <p:cNvSpPr>
              <a:spLocks noChangeArrowheads="1"/>
            </p:cNvSpPr>
            <p:nvPr/>
          </p:nvSpPr>
          <p:spPr bwMode="auto">
            <a:xfrm>
              <a:off x="3081" y="134"/>
              <a:ext cx="227" cy="204"/>
            </a:xfrm>
            <a:prstGeom prst="ellipse">
              <a:avLst/>
            </a:prstGeom>
            <a:solidFill>
              <a:srgbClr val="00CC00"/>
            </a:solidFill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907" name="Line 291"/>
            <p:cNvSpPr>
              <a:spLocks noChangeShapeType="1"/>
            </p:cNvSpPr>
            <p:nvPr/>
          </p:nvSpPr>
          <p:spPr bwMode="auto">
            <a:xfrm>
              <a:off x="3311" y="231"/>
              <a:ext cx="711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908" name="Line 292"/>
            <p:cNvSpPr>
              <a:spLocks noChangeShapeType="1"/>
            </p:cNvSpPr>
            <p:nvPr/>
          </p:nvSpPr>
          <p:spPr bwMode="auto">
            <a:xfrm flipH="1">
              <a:off x="4032" y="342"/>
              <a:ext cx="64" cy="282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909" name="Line 293"/>
            <p:cNvSpPr>
              <a:spLocks noChangeShapeType="1"/>
            </p:cNvSpPr>
            <p:nvPr/>
          </p:nvSpPr>
          <p:spPr bwMode="auto">
            <a:xfrm>
              <a:off x="4038" y="818"/>
              <a:ext cx="193" cy="21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910" name="Line 294"/>
            <p:cNvSpPr>
              <a:spLocks noChangeShapeType="1"/>
            </p:cNvSpPr>
            <p:nvPr/>
          </p:nvSpPr>
          <p:spPr bwMode="auto">
            <a:xfrm flipV="1">
              <a:off x="4388" y="434"/>
              <a:ext cx="496" cy="603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911" name="Line 295"/>
            <p:cNvSpPr>
              <a:spLocks noChangeShapeType="1"/>
            </p:cNvSpPr>
            <p:nvPr/>
          </p:nvSpPr>
          <p:spPr bwMode="auto">
            <a:xfrm flipH="1" flipV="1">
              <a:off x="3284" y="1084"/>
              <a:ext cx="911" cy="47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912" name="Line 296"/>
            <p:cNvSpPr>
              <a:spLocks noChangeShapeType="1"/>
            </p:cNvSpPr>
            <p:nvPr/>
          </p:nvSpPr>
          <p:spPr bwMode="auto">
            <a:xfrm>
              <a:off x="3183" y="325"/>
              <a:ext cx="0" cy="612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913" name="Line 297"/>
            <p:cNvSpPr>
              <a:spLocks noChangeShapeType="1"/>
            </p:cNvSpPr>
            <p:nvPr/>
          </p:nvSpPr>
          <p:spPr bwMode="auto">
            <a:xfrm>
              <a:off x="3256" y="301"/>
              <a:ext cx="635" cy="360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914" name="Rectangle 298"/>
            <p:cNvSpPr>
              <a:spLocks noChangeArrowheads="1"/>
            </p:cNvSpPr>
            <p:nvPr/>
          </p:nvSpPr>
          <p:spPr bwMode="auto">
            <a:xfrm>
              <a:off x="3182" y="179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grpSp>
          <p:nvGrpSpPr>
            <p:cNvPr id="80915" name="Group 299"/>
            <p:cNvGrpSpPr>
              <a:grpSpLocks/>
            </p:cNvGrpSpPr>
            <p:nvPr/>
          </p:nvGrpSpPr>
          <p:grpSpPr bwMode="auto">
            <a:xfrm>
              <a:off x="3072" y="918"/>
              <a:ext cx="227" cy="220"/>
              <a:chOff x="432" y="1536"/>
              <a:chExt cx="227" cy="220"/>
            </a:xfrm>
          </p:grpSpPr>
          <p:sp>
            <p:nvSpPr>
              <p:cNvPr id="80940" name="Oval 300"/>
              <p:cNvSpPr>
                <a:spLocks noChangeArrowheads="1"/>
              </p:cNvSpPr>
              <p:nvPr/>
            </p:nvSpPr>
            <p:spPr bwMode="auto">
              <a:xfrm>
                <a:off x="432" y="1551"/>
                <a:ext cx="227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941" name="Rectangle 301"/>
              <p:cNvSpPr>
                <a:spLocks noChangeArrowheads="1"/>
              </p:cNvSpPr>
              <p:nvPr/>
            </p:nvSpPr>
            <p:spPr bwMode="auto">
              <a:xfrm>
                <a:off x="504" y="1536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0916" name="Group 302"/>
            <p:cNvGrpSpPr>
              <a:grpSpLocks/>
            </p:cNvGrpSpPr>
            <p:nvPr/>
          </p:nvGrpSpPr>
          <p:grpSpPr bwMode="auto">
            <a:xfrm>
              <a:off x="3886" y="611"/>
              <a:ext cx="227" cy="224"/>
              <a:chOff x="1246" y="1229"/>
              <a:chExt cx="227" cy="224"/>
            </a:xfrm>
          </p:grpSpPr>
          <p:sp>
            <p:nvSpPr>
              <p:cNvPr id="80938" name="Oval 303"/>
              <p:cNvSpPr>
                <a:spLocks noChangeArrowheads="1"/>
              </p:cNvSpPr>
              <p:nvPr/>
            </p:nvSpPr>
            <p:spPr bwMode="auto">
              <a:xfrm>
                <a:off x="1246" y="1229"/>
                <a:ext cx="227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939" name="Rectangle 304"/>
              <p:cNvSpPr>
                <a:spLocks noChangeArrowheads="1"/>
              </p:cNvSpPr>
              <p:nvPr/>
            </p:nvSpPr>
            <p:spPr bwMode="auto">
              <a:xfrm>
                <a:off x="1349" y="1280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4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0917" name="Group 305"/>
            <p:cNvGrpSpPr>
              <a:grpSpLocks/>
            </p:cNvGrpSpPr>
            <p:nvPr/>
          </p:nvGrpSpPr>
          <p:grpSpPr bwMode="auto">
            <a:xfrm>
              <a:off x="4190" y="1006"/>
              <a:ext cx="227" cy="228"/>
              <a:chOff x="1550" y="1624"/>
              <a:chExt cx="227" cy="228"/>
            </a:xfrm>
          </p:grpSpPr>
          <p:sp>
            <p:nvSpPr>
              <p:cNvPr id="80936" name="Oval 306"/>
              <p:cNvSpPr>
                <a:spLocks noChangeArrowheads="1"/>
              </p:cNvSpPr>
              <p:nvPr/>
            </p:nvSpPr>
            <p:spPr bwMode="auto">
              <a:xfrm>
                <a:off x="1550" y="1624"/>
                <a:ext cx="227" cy="204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937" name="Rectangle 307"/>
              <p:cNvSpPr>
                <a:spLocks noChangeArrowheads="1"/>
              </p:cNvSpPr>
              <p:nvPr/>
            </p:nvSpPr>
            <p:spPr bwMode="auto">
              <a:xfrm>
                <a:off x="1653" y="1679"/>
                <a:ext cx="7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5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grpSp>
          <p:nvGrpSpPr>
            <p:cNvPr id="80918" name="Group 308"/>
            <p:cNvGrpSpPr>
              <a:grpSpLocks/>
            </p:cNvGrpSpPr>
            <p:nvPr/>
          </p:nvGrpSpPr>
          <p:grpSpPr bwMode="auto">
            <a:xfrm>
              <a:off x="4862" y="270"/>
              <a:ext cx="226" cy="205"/>
              <a:chOff x="2222" y="888"/>
              <a:chExt cx="226" cy="205"/>
            </a:xfrm>
          </p:grpSpPr>
          <p:sp>
            <p:nvSpPr>
              <p:cNvPr id="80934" name="Oval 309"/>
              <p:cNvSpPr>
                <a:spLocks noChangeArrowheads="1"/>
              </p:cNvSpPr>
              <p:nvPr/>
            </p:nvSpPr>
            <p:spPr bwMode="auto">
              <a:xfrm>
                <a:off x="2222" y="888"/>
                <a:ext cx="226" cy="205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935" name="Rectangle 310"/>
              <p:cNvSpPr>
                <a:spLocks noChangeArrowheads="1"/>
              </p:cNvSpPr>
              <p:nvPr/>
            </p:nvSpPr>
            <p:spPr bwMode="auto">
              <a:xfrm>
                <a:off x="2316" y="912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6</a:t>
                </a:r>
                <a:endParaRPr lang="en-US" sz="1800">
                  <a:latin typeface="Times New Roman" pitchFamily="18" charset="0"/>
                </a:endParaRPr>
              </a:p>
            </p:txBody>
          </p:sp>
        </p:grpSp>
        <p:sp>
          <p:nvSpPr>
            <p:cNvPr id="80919" name="Rectangle 311"/>
            <p:cNvSpPr>
              <a:spLocks noChangeArrowheads="1"/>
            </p:cNvSpPr>
            <p:nvPr/>
          </p:nvSpPr>
          <p:spPr bwMode="auto">
            <a:xfrm>
              <a:off x="3530" y="727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920" name="Rectangle 312"/>
            <p:cNvSpPr>
              <a:spLocks noChangeArrowheads="1"/>
            </p:cNvSpPr>
            <p:nvPr/>
          </p:nvSpPr>
          <p:spPr bwMode="auto">
            <a:xfrm>
              <a:off x="4514" y="148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921" name="Rectangle 313"/>
            <p:cNvSpPr>
              <a:spLocks noChangeArrowheads="1"/>
            </p:cNvSpPr>
            <p:nvPr/>
          </p:nvSpPr>
          <p:spPr bwMode="auto">
            <a:xfrm>
              <a:off x="4109" y="435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922" name="Rectangle 314"/>
            <p:cNvSpPr>
              <a:spLocks noChangeArrowheads="1"/>
            </p:cNvSpPr>
            <p:nvPr/>
          </p:nvSpPr>
          <p:spPr bwMode="auto">
            <a:xfrm>
              <a:off x="4174" y="826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923" name="Rectangle 315"/>
            <p:cNvSpPr>
              <a:spLocks noChangeArrowheads="1"/>
            </p:cNvSpPr>
            <p:nvPr/>
          </p:nvSpPr>
          <p:spPr bwMode="auto">
            <a:xfrm>
              <a:off x="4689" y="732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924" name="Rectangle 316"/>
            <p:cNvSpPr>
              <a:spLocks noChangeArrowheads="1"/>
            </p:cNvSpPr>
            <p:nvPr/>
          </p:nvSpPr>
          <p:spPr bwMode="auto">
            <a:xfrm>
              <a:off x="3097" y="560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925" name="Rectangle 317"/>
            <p:cNvSpPr>
              <a:spLocks noChangeArrowheads="1"/>
            </p:cNvSpPr>
            <p:nvPr/>
          </p:nvSpPr>
          <p:spPr bwMode="auto">
            <a:xfrm>
              <a:off x="3603" y="388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926" name="Rectangle 318"/>
            <p:cNvSpPr>
              <a:spLocks noChangeArrowheads="1"/>
            </p:cNvSpPr>
            <p:nvPr/>
          </p:nvSpPr>
          <p:spPr bwMode="auto">
            <a:xfrm>
              <a:off x="3585" y="102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927" name="Rectangle 319"/>
            <p:cNvSpPr>
              <a:spLocks noChangeArrowheads="1"/>
            </p:cNvSpPr>
            <p:nvPr/>
          </p:nvSpPr>
          <p:spPr bwMode="auto">
            <a:xfrm>
              <a:off x="3742" y="1123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sz="1800">
                <a:latin typeface="Times New Roman" pitchFamily="18" charset="0"/>
              </a:endParaRPr>
            </a:p>
          </p:txBody>
        </p:sp>
        <p:sp>
          <p:nvSpPr>
            <p:cNvPr id="80928" name="Line 320"/>
            <p:cNvSpPr>
              <a:spLocks noChangeShapeType="1"/>
            </p:cNvSpPr>
            <p:nvPr/>
          </p:nvSpPr>
          <p:spPr bwMode="auto">
            <a:xfrm>
              <a:off x="4224" y="239"/>
              <a:ext cx="625" cy="103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929" name="Line 321"/>
            <p:cNvSpPr>
              <a:spLocks noChangeShapeType="1"/>
            </p:cNvSpPr>
            <p:nvPr/>
          </p:nvSpPr>
          <p:spPr bwMode="auto">
            <a:xfrm flipH="1">
              <a:off x="3264" y="774"/>
              <a:ext cx="607" cy="219"/>
            </a:xfrm>
            <a:prstGeom prst="line">
              <a:avLst/>
            </a:prstGeom>
            <a:noFill/>
            <a:ln w="22225">
              <a:solidFill>
                <a:srgbClr val="00CC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80930" name="Group 322"/>
            <p:cNvGrpSpPr>
              <a:grpSpLocks/>
            </p:cNvGrpSpPr>
            <p:nvPr/>
          </p:nvGrpSpPr>
          <p:grpSpPr bwMode="auto">
            <a:xfrm>
              <a:off x="4045" y="138"/>
              <a:ext cx="227" cy="204"/>
              <a:chOff x="1405" y="756"/>
              <a:chExt cx="227" cy="204"/>
            </a:xfrm>
          </p:grpSpPr>
          <p:sp>
            <p:nvSpPr>
              <p:cNvPr id="80932" name="Rectangle 323"/>
              <p:cNvSpPr>
                <a:spLocks noChangeArrowheads="1"/>
              </p:cNvSpPr>
              <p:nvPr/>
            </p:nvSpPr>
            <p:spPr bwMode="auto">
              <a:xfrm>
                <a:off x="1488" y="768"/>
                <a:ext cx="72" cy="173"/>
              </a:xfrm>
              <a:prstGeom prst="rect">
                <a:avLst/>
              </a:prstGeom>
              <a:solidFill>
                <a:srgbClr val="00CC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endParaRPr lang="en-US" sz="1800">
                  <a:latin typeface="Times New Roman" pitchFamily="18" charset="0"/>
                </a:endParaRPr>
              </a:p>
            </p:txBody>
          </p:sp>
          <p:sp>
            <p:nvSpPr>
              <p:cNvPr id="80933" name="Oval 324"/>
              <p:cNvSpPr>
                <a:spLocks noChangeArrowheads="1"/>
              </p:cNvSpPr>
              <p:nvPr/>
            </p:nvSpPr>
            <p:spPr bwMode="auto">
              <a:xfrm>
                <a:off x="1405" y="756"/>
                <a:ext cx="227" cy="204"/>
              </a:xfrm>
              <a:prstGeom prst="ellipse">
                <a:avLst/>
              </a:prstGeom>
              <a:solidFill>
                <a:srgbClr val="00CC00"/>
              </a:solidFill>
              <a:ln w="222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0931" name="Rectangle 325"/>
            <p:cNvSpPr>
              <a:spLocks noChangeArrowheads="1"/>
            </p:cNvSpPr>
            <p:nvPr/>
          </p:nvSpPr>
          <p:spPr bwMode="auto">
            <a:xfrm>
              <a:off x="4128" y="157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sz="1800">
                <a:latin typeface="Times New Roman" pitchFamily="18" charset="0"/>
              </a:endParaRPr>
            </a:p>
          </p:txBody>
        </p:sp>
      </p:grpSp>
      <p:sp>
        <p:nvSpPr>
          <p:cNvPr id="80905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Reaction to Failure</a:t>
            </a:r>
          </a:p>
        </p:txBody>
      </p:sp>
      <p:sp>
        <p:nvSpPr>
          <p:cNvPr id="8192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smtClean="0"/>
              <a:t>If a link fails,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Router sets link distance to infinity &amp; floods the network with an update packet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All routers immediately update their link database &amp; recalculate their shortest paths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Recovery very quick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But watch out for old update messages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Add time stamp or sequence # to each update message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Check whether each received update message is new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If new, add it to database and broadcast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If older, send update message on arriving link</a:t>
            </a:r>
          </a:p>
          <a:p>
            <a:pPr eaLnBrk="1" hangingPunct="1">
              <a:lnSpc>
                <a:spcPct val="90000"/>
              </a:lnSpc>
            </a:pPr>
            <a:endParaRPr lang="en-US" sz="2400" smtClean="0"/>
          </a:p>
        </p:txBody>
      </p:sp>
      <p:sp>
        <p:nvSpPr>
          <p:cNvPr id="81924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Why is Link State Better?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Fast, loopless convergence</a:t>
            </a:r>
          </a:p>
          <a:p>
            <a:pPr eaLnBrk="1" hangingPunct="1"/>
            <a:r>
              <a:rPr lang="en-US" smtClean="0"/>
              <a:t>Support for precise metrics, and multiple metrics if necessary (throughput, delay, cost, reliability)</a:t>
            </a:r>
          </a:p>
          <a:p>
            <a:pPr eaLnBrk="1" hangingPunct="1"/>
            <a:r>
              <a:rPr lang="en-US" smtClean="0"/>
              <a:t>Support for multiple paths to a destination</a:t>
            </a:r>
          </a:p>
          <a:p>
            <a:pPr marL="742950" lvl="1" indent="-285750" eaLnBrk="1" hangingPunct="1"/>
            <a:r>
              <a:rPr lang="en-US" smtClean="0"/>
              <a:t>algorithm can be modified to find best two paths</a:t>
            </a:r>
          </a:p>
        </p:txBody>
      </p:sp>
      <p:sp>
        <p:nvSpPr>
          <p:cNvPr id="82948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Source Routing</a:t>
            </a:r>
          </a:p>
        </p:txBody>
      </p:sp>
      <p:sp>
        <p:nvSpPr>
          <p:cNvPr id="8397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600" smtClean="0"/>
              <a:t>Source host selects path that is to be followed by a packet</a:t>
            </a:r>
          </a:p>
          <a:p>
            <a:pPr marL="742950" lvl="1" indent="-285750" eaLnBrk="1" hangingPunct="1">
              <a:lnSpc>
                <a:spcPct val="80000"/>
              </a:lnSpc>
            </a:pPr>
            <a:r>
              <a:rPr lang="en-US" sz="2200" smtClean="0"/>
              <a:t>Strict:  sequence of nodes in path inserted into header</a:t>
            </a:r>
          </a:p>
          <a:p>
            <a:pPr marL="742950" lvl="1" indent="-285750" eaLnBrk="1" hangingPunct="1">
              <a:lnSpc>
                <a:spcPct val="80000"/>
              </a:lnSpc>
            </a:pPr>
            <a:r>
              <a:rPr lang="en-US" sz="2200" smtClean="0"/>
              <a:t>Loose:  subsequence of nodes in path specified</a:t>
            </a:r>
          </a:p>
          <a:p>
            <a:pPr eaLnBrk="1" hangingPunct="1">
              <a:lnSpc>
                <a:spcPct val="80000"/>
              </a:lnSpc>
            </a:pPr>
            <a:r>
              <a:rPr lang="en-US" sz="2600" smtClean="0"/>
              <a:t>Intermediate switches read next-hop address and remove address</a:t>
            </a:r>
          </a:p>
          <a:p>
            <a:pPr eaLnBrk="1" hangingPunct="1">
              <a:lnSpc>
                <a:spcPct val="80000"/>
              </a:lnSpc>
            </a:pPr>
            <a:r>
              <a:rPr lang="en-US" sz="2600" smtClean="0"/>
              <a:t>Source host needs link state information or access to a route server</a:t>
            </a:r>
          </a:p>
          <a:p>
            <a:pPr eaLnBrk="1" hangingPunct="1">
              <a:lnSpc>
                <a:spcPct val="80000"/>
              </a:lnSpc>
            </a:pPr>
            <a:r>
              <a:rPr lang="en-US" sz="2600" smtClean="0"/>
              <a:t>Source routing allows the host to control the paths that its information traverses in the network</a:t>
            </a:r>
          </a:p>
          <a:p>
            <a:pPr eaLnBrk="1" hangingPunct="1">
              <a:lnSpc>
                <a:spcPct val="80000"/>
              </a:lnSpc>
            </a:pPr>
            <a:r>
              <a:rPr lang="en-US" sz="2600" smtClean="0"/>
              <a:t>Potentially the means for customers to select what service providers they use</a:t>
            </a:r>
          </a:p>
        </p:txBody>
      </p:sp>
      <p:sp>
        <p:nvSpPr>
          <p:cNvPr id="8397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4654550" y="2390775"/>
            <a:ext cx="0" cy="174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00483" name="Rectangle 3"/>
          <p:cNvSpPr>
            <a:spLocks noChangeArrowheads="1"/>
          </p:cNvSpPr>
          <p:nvPr/>
        </p:nvSpPr>
        <p:spPr bwMode="auto">
          <a:xfrm>
            <a:off x="1257300" y="2379663"/>
            <a:ext cx="933450" cy="319087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00484" name="Rectangle 4"/>
          <p:cNvSpPr>
            <a:spLocks noChangeArrowheads="1"/>
          </p:cNvSpPr>
          <p:nvPr/>
        </p:nvSpPr>
        <p:spPr bwMode="auto">
          <a:xfrm>
            <a:off x="3268663" y="1857375"/>
            <a:ext cx="933450" cy="319088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00485" name="Rectangle 5"/>
          <p:cNvSpPr>
            <a:spLocks noChangeArrowheads="1"/>
          </p:cNvSpPr>
          <p:nvPr/>
        </p:nvSpPr>
        <p:spPr bwMode="auto">
          <a:xfrm>
            <a:off x="5299075" y="1970088"/>
            <a:ext cx="933450" cy="319087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00486" name="Rectangle 6"/>
          <p:cNvSpPr>
            <a:spLocks noChangeArrowheads="1"/>
          </p:cNvSpPr>
          <p:nvPr/>
        </p:nvSpPr>
        <p:spPr bwMode="auto">
          <a:xfrm>
            <a:off x="6958013" y="2678113"/>
            <a:ext cx="933450" cy="319087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4999" name="Oval 7"/>
          <p:cNvSpPr>
            <a:spLocks noChangeArrowheads="1"/>
          </p:cNvSpPr>
          <p:nvPr/>
        </p:nvSpPr>
        <p:spPr bwMode="auto">
          <a:xfrm>
            <a:off x="2551113" y="2419350"/>
            <a:ext cx="458787" cy="485775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5000" name="Oval 8"/>
          <p:cNvSpPr>
            <a:spLocks noChangeArrowheads="1"/>
          </p:cNvSpPr>
          <p:nvPr/>
        </p:nvSpPr>
        <p:spPr bwMode="auto">
          <a:xfrm>
            <a:off x="2533650" y="4322763"/>
            <a:ext cx="457200" cy="485775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5001" name="Oval 9"/>
          <p:cNvSpPr>
            <a:spLocks noChangeArrowheads="1"/>
          </p:cNvSpPr>
          <p:nvPr/>
        </p:nvSpPr>
        <p:spPr bwMode="auto">
          <a:xfrm>
            <a:off x="4460875" y="2419350"/>
            <a:ext cx="458788" cy="485775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5002" name="Oval 10"/>
          <p:cNvSpPr>
            <a:spLocks noChangeArrowheads="1"/>
          </p:cNvSpPr>
          <p:nvPr/>
        </p:nvSpPr>
        <p:spPr bwMode="auto">
          <a:xfrm>
            <a:off x="4797425" y="4495800"/>
            <a:ext cx="457200" cy="485775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5003" name="Line 11"/>
          <p:cNvSpPr>
            <a:spLocks noChangeShapeType="1"/>
          </p:cNvSpPr>
          <p:nvPr/>
        </p:nvSpPr>
        <p:spPr bwMode="auto">
          <a:xfrm>
            <a:off x="3017838" y="2649538"/>
            <a:ext cx="1438275" cy="1587"/>
          </a:xfrm>
          <a:prstGeom prst="line">
            <a:avLst/>
          </a:prstGeom>
          <a:noFill/>
          <a:ln w="365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5004" name="Oval 12"/>
          <p:cNvSpPr>
            <a:spLocks noChangeArrowheads="1"/>
          </p:cNvSpPr>
          <p:nvPr/>
        </p:nvSpPr>
        <p:spPr bwMode="auto">
          <a:xfrm>
            <a:off x="4181475" y="3556000"/>
            <a:ext cx="458788" cy="487363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5005" name="Oval 13"/>
          <p:cNvSpPr>
            <a:spLocks noChangeArrowheads="1"/>
          </p:cNvSpPr>
          <p:nvPr/>
        </p:nvSpPr>
        <p:spPr bwMode="auto">
          <a:xfrm>
            <a:off x="6156325" y="2743200"/>
            <a:ext cx="458788" cy="485775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5006" name="Line 14"/>
          <p:cNvSpPr>
            <a:spLocks noChangeShapeType="1"/>
          </p:cNvSpPr>
          <p:nvPr/>
        </p:nvSpPr>
        <p:spPr bwMode="auto">
          <a:xfrm flipH="1">
            <a:off x="4470400" y="2892425"/>
            <a:ext cx="130175" cy="669925"/>
          </a:xfrm>
          <a:prstGeom prst="line">
            <a:avLst/>
          </a:prstGeom>
          <a:noFill/>
          <a:ln w="365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5007" name="Line 15"/>
          <p:cNvSpPr>
            <a:spLocks noChangeShapeType="1"/>
          </p:cNvSpPr>
          <p:nvPr/>
        </p:nvSpPr>
        <p:spPr bwMode="auto">
          <a:xfrm>
            <a:off x="4489450" y="4048125"/>
            <a:ext cx="390525" cy="520700"/>
          </a:xfrm>
          <a:prstGeom prst="line">
            <a:avLst/>
          </a:prstGeom>
          <a:noFill/>
          <a:ln w="365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5008" name="Line 16"/>
          <p:cNvSpPr>
            <a:spLocks noChangeShapeType="1"/>
          </p:cNvSpPr>
          <p:nvPr/>
        </p:nvSpPr>
        <p:spPr bwMode="auto">
          <a:xfrm>
            <a:off x="4899025" y="2668588"/>
            <a:ext cx="1266825" cy="242887"/>
          </a:xfrm>
          <a:prstGeom prst="line">
            <a:avLst/>
          </a:prstGeom>
          <a:noFill/>
          <a:ln w="365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5009" name="Line 17"/>
          <p:cNvSpPr>
            <a:spLocks noChangeShapeType="1"/>
          </p:cNvSpPr>
          <p:nvPr/>
        </p:nvSpPr>
        <p:spPr bwMode="auto">
          <a:xfrm flipV="1">
            <a:off x="5197475" y="3133725"/>
            <a:ext cx="1006475" cy="1435100"/>
          </a:xfrm>
          <a:prstGeom prst="line">
            <a:avLst/>
          </a:prstGeom>
          <a:noFill/>
          <a:ln w="365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5010" name="Line 18"/>
          <p:cNvSpPr>
            <a:spLocks noChangeShapeType="1"/>
          </p:cNvSpPr>
          <p:nvPr/>
        </p:nvSpPr>
        <p:spPr bwMode="auto">
          <a:xfrm flipH="1" flipV="1">
            <a:off x="2960688" y="4681538"/>
            <a:ext cx="1844675" cy="111125"/>
          </a:xfrm>
          <a:prstGeom prst="line">
            <a:avLst/>
          </a:prstGeom>
          <a:noFill/>
          <a:ln w="365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5011" name="Line 19"/>
          <p:cNvSpPr>
            <a:spLocks noChangeShapeType="1"/>
          </p:cNvSpPr>
          <p:nvPr/>
        </p:nvSpPr>
        <p:spPr bwMode="auto">
          <a:xfrm>
            <a:off x="2755900" y="2873375"/>
            <a:ext cx="1588" cy="1458913"/>
          </a:xfrm>
          <a:prstGeom prst="line">
            <a:avLst/>
          </a:prstGeom>
          <a:noFill/>
          <a:ln w="365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5012" name="Line 20"/>
          <p:cNvSpPr>
            <a:spLocks noChangeShapeType="1"/>
          </p:cNvSpPr>
          <p:nvPr/>
        </p:nvSpPr>
        <p:spPr bwMode="auto">
          <a:xfrm>
            <a:off x="2905125" y="2817813"/>
            <a:ext cx="1285875" cy="857250"/>
          </a:xfrm>
          <a:prstGeom prst="line">
            <a:avLst/>
          </a:prstGeom>
          <a:noFill/>
          <a:ln w="365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5013" name="Line 21"/>
          <p:cNvSpPr>
            <a:spLocks noChangeShapeType="1"/>
          </p:cNvSpPr>
          <p:nvPr/>
        </p:nvSpPr>
        <p:spPr bwMode="auto">
          <a:xfrm flipH="1">
            <a:off x="2943225" y="3898900"/>
            <a:ext cx="1228725" cy="520700"/>
          </a:xfrm>
          <a:prstGeom prst="line">
            <a:avLst/>
          </a:prstGeom>
          <a:noFill/>
          <a:ln w="365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5014" name="Rectangle 22"/>
          <p:cNvSpPr>
            <a:spLocks noChangeArrowheads="1"/>
          </p:cNvSpPr>
          <p:nvPr/>
        </p:nvSpPr>
        <p:spPr bwMode="auto">
          <a:xfrm>
            <a:off x="2724150" y="2525713"/>
            <a:ext cx="127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>
                <a:solidFill>
                  <a:srgbClr val="000000"/>
                </a:solidFill>
              </a:rPr>
              <a:t>1</a:t>
            </a:r>
            <a:endParaRPr lang="en-US" sz="1800"/>
          </a:p>
        </p:txBody>
      </p:sp>
      <p:sp>
        <p:nvSpPr>
          <p:cNvPr id="85015" name="Rectangle 23"/>
          <p:cNvSpPr>
            <a:spLocks noChangeArrowheads="1"/>
          </p:cNvSpPr>
          <p:nvPr/>
        </p:nvSpPr>
        <p:spPr bwMode="auto">
          <a:xfrm>
            <a:off x="2700338" y="4459288"/>
            <a:ext cx="127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>
                <a:solidFill>
                  <a:srgbClr val="000000"/>
                </a:solidFill>
              </a:rPr>
              <a:t>2</a:t>
            </a:r>
            <a:endParaRPr lang="en-US" sz="1800"/>
          </a:p>
        </p:txBody>
      </p:sp>
      <p:sp>
        <p:nvSpPr>
          <p:cNvPr id="85016" name="Rectangle 24"/>
          <p:cNvSpPr>
            <a:spLocks noChangeArrowheads="1"/>
          </p:cNvSpPr>
          <p:nvPr/>
        </p:nvSpPr>
        <p:spPr bwMode="auto">
          <a:xfrm>
            <a:off x="4619625" y="2559050"/>
            <a:ext cx="1270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>
                <a:solidFill>
                  <a:srgbClr val="000000"/>
                </a:solidFill>
              </a:rPr>
              <a:t>3</a:t>
            </a:r>
            <a:endParaRPr lang="en-US" sz="1800"/>
          </a:p>
        </p:txBody>
      </p:sp>
      <p:sp>
        <p:nvSpPr>
          <p:cNvPr id="85017" name="Rectangle 25"/>
          <p:cNvSpPr>
            <a:spLocks noChangeArrowheads="1"/>
          </p:cNvSpPr>
          <p:nvPr/>
        </p:nvSpPr>
        <p:spPr bwMode="auto">
          <a:xfrm>
            <a:off x="4359275" y="3676650"/>
            <a:ext cx="1270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>
                <a:solidFill>
                  <a:srgbClr val="000000"/>
                </a:solidFill>
              </a:rPr>
              <a:t>4</a:t>
            </a:r>
            <a:endParaRPr lang="en-US" sz="1800"/>
          </a:p>
        </p:txBody>
      </p:sp>
      <p:sp>
        <p:nvSpPr>
          <p:cNvPr id="85018" name="Rectangle 26"/>
          <p:cNvSpPr>
            <a:spLocks noChangeArrowheads="1"/>
          </p:cNvSpPr>
          <p:nvPr/>
        </p:nvSpPr>
        <p:spPr bwMode="auto">
          <a:xfrm>
            <a:off x="4973638" y="4627563"/>
            <a:ext cx="127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>
                <a:solidFill>
                  <a:srgbClr val="000000"/>
                </a:solidFill>
              </a:rPr>
              <a:t>5</a:t>
            </a:r>
            <a:endParaRPr lang="en-US" sz="1800"/>
          </a:p>
        </p:txBody>
      </p:sp>
      <p:sp>
        <p:nvSpPr>
          <p:cNvPr id="85019" name="Rectangle 27"/>
          <p:cNvSpPr>
            <a:spLocks noChangeArrowheads="1"/>
          </p:cNvSpPr>
          <p:nvPr/>
        </p:nvSpPr>
        <p:spPr bwMode="auto">
          <a:xfrm>
            <a:off x="6315075" y="2874963"/>
            <a:ext cx="1270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>
                <a:solidFill>
                  <a:srgbClr val="000000"/>
                </a:solidFill>
              </a:rPr>
              <a:t>6</a:t>
            </a:r>
            <a:endParaRPr lang="en-US" sz="1800"/>
          </a:p>
        </p:txBody>
      </p:sp>
      <p:sp>
        <p:nvSpPr>
          <p:cNvPr id="85020" name="Rectangle 28"/>
          <p:cNvSpPr>
            <a:spLocks noChangeArrowheads="1"/>
          </p:cNvSpPr>
          <p:nvPr/>
        </p:nvSpPr>
        <p:spPr bwMode="auto">
          <a:xfrm>
            <a:off x="1336675" y="3165475"/>
            <a:ext cx="392113" cy="392113"/>
          </a:xfrm>
          <a:prstGeom prst="rect">
            <a:avLst/>
          </a:prstGeom>
          <a:solidFill>
            <a:schemeClr val="hlink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5021" name="Rectangle 29"/>
          <p:cNvSpPr>
            <a:spLocks noChangeArrowheads="1"/>
          </p:cNvSpPr>
          <p:nvPr/>
        </p:nvSpPr>
        <p:spPr bwMode="auto">
          <a:xfrm>
            <a:off x="7151688" y="3640138"/>
            <a:ext cx="392112" cy="393700"/>
          </a:xfrm>
          <a:prstGeom prst="rect">
            <a:avLst/>
          </a:prstGeom>
          <a:solidFill>
            <a:schemeClr val="hlink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5022" name="Line 30"/>
          <p:cNvSpPr>
            <a:spLocks noChangeShapeType="1"/>
          </p:cNvSpPr>
          <p:nvPr/>
        </p:nvSpPr>
        <p:spPr bwMode="auto">
          <a:xfrm flipV="1">
            <a:off x="1731963" y="2779713"/>
            <a:ext cx="819150" cy="577850"/>
          </a:xfrm>
          <a:prstGeom prst="line">
            <a:avLst/>
          </a:prstGeom>
          <a:noFill/>
          <a:ln w="365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5023" name="Line 31"/>
          <p:cNvSpPr>
            <a:spLocks noChangeShapeType="1"/>
          </p:cNvSpPr>
          <p:nvPr/>
        </p:nvSpPr>
        <p:spPr bwMode="auto">
          <a:xfrm flipH="1" flipV="1">
            <a:off x="6575425" y="3152775"/>
            <a:ext cx="558800" cy="652463"/>
          </a:xfrm>
          <a:prstGeom prst="line">
            <a:avLst/>
          </a:prstGeom>
          <a:noFill/>
          <a:ln w="3651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5024" name="Rectangle 32"/>
          <p:cNvSpPr>
            <a:spLocks noChangeArrowheads="1"/>
          </p:cNvSpPr>
          <p:nvPr/>
        </p:nvSpPr>
        <p:spPr bwMode="auto">
          <a:xfrm>
            <a:off x="1452563" y="3224213"/>
            <a:ext cx="1524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>
                <a:solidFill>
                  <a:srgbClr val="000000"/>
                </a:solidFill>
              </a:rPr>
              <a:t>A</a:t>
            </a:r>
            <a:endParaRPr lang="en-US" sz="1800"/>
          </a:p>
        </p:txBody>
      </p:sp>
      <p:sp>
        <p:nvSpPr>
          <p:cNvPr id="85025" name="Rectangle 33"/>
          <p:cNvSpPr>
            <a:spLocks noChangeArrowheads="1"/>
          </p:cNvSpPr>
          <p:nvPr/>
        </p:nvSpPr>
        <p:spPr bwMode="auto">
          <a:xfrm>
            <a:off x="7272338" y="3700463"/>
            <a:ext cx="1524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>
                <a:solidFill>
                  <a:srgbClr val="000000"/>
                </a:solidFill>
              </a:rPr>
              <a:t>B</a:t>
            </a:r>
            <a:endParaRPr lang="en-US" sz="1800"/>
          </a:p>
        </p:txBody>
      </p:sp>
      <p:sp>
        <p:nvSpPr>
          <p:cNvPr id="85026" name="Rectangle 34"/>
          <p:cNvSpPr>
            <a:spLocks noChangeArrowheads="1"/>
          </p:cNvSpPr>
          <p:nvPr/>
        </p:nvSpPr>
        <p:spPr bwMode="auto">
          <a:xfrm>
            <a:off x="1119188" y="4124325"/>
            <a:ext cx="12192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>
                <a:solidFill>
                  <a:srgbClr val="000000"/>
                </a:solidFill>
              </a:rPr>
              <a:t>Source host</a:t>
            </a:r>
            <a:endParaRPr lang="en-US" sz="1800"/>
          </a:p>
        </p:txBody>
      </p:sp>
      <p:sp>
        <p:nvSpPr>
          <p:cNvPr id="85027" name="Line 35"/>
          <p:cNvSpPr>
            <a:spLocks noChangeShapeType="1"/>
          </p:cNvSpPr>
          <p:nvPr/>
        </p:nvSpPr>
        <p:spPr bwMode="auto">
          <a:xfrm flipH="1" flipV="1">
            <a:off x="1541463" y="3665538"/>
            <a:ext cx="60325" cy="4381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5028" name="Freeform 36"/>
          <p:cNvSpPr>
            <a:spLocks/>
          </p:cNvSpPr>
          <p:nvPr/>
        </p:nvSpPr>
        <p:spPr bwMode="auto">
          <a:xfrm>
            <a:off x="1484313" y="3562350"/>
            <a:ext cx="122237" cy="147638"/>
          </a:xfrm>
          <a:custGeom>
            <a:avLst/>
            <a:gdLst>
              <a:gd name="T0" fmla="*/ 2147483647 w 77"/>
              <a:gd name="T1" fmla="*/ 2147483647 h 93"/>
              <a:gd name="T2" fmla="*/ 2147483647 w 77"/>
              <a:gd name="T3" fmla="*/ 2147483647 h 93"/>
              <a:gd name="T4" fmla="*/ 0 w 77"/>
              <a:gd name="T5" fmla="*/ 2147483647 h 93"/>
              <a:gd name="T6" fmla="*/ 2147483647 w 77"/>
              <a:gd name="T7" fmla="*/ 0 h 93"/>
              <a:gd name="T8" fmla="*/ 2147483647 w 77"/>
              <a:gd name="T9" fmla="*/ 2147483647 h 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7"/>
              <a:gd name="T16" fmla="*/ 0 h 93"/>
              <a:gd name="T17" fmla="*/ 77 w 77"/>
              <a:gd name="T18" fmla="*/ 93 h 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7" h="93">
                <a:moveTo>
                  <a:pt x="77" y="83"/>
                </a:moveTo>
                <a:lnTo>
                  <a:pt x="37" y="75"/>
                </a:lnTo>
                <a:lnTo>
                  <a:pt x="0" y="93"/>
                </a:lnTo>
                <a:lnTo>
                  <a:pt x="27" y="0"/>
                </a:lnTo>
                <a:lnTo>
                  <a:pt x="77" y="83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5029" name="Rectangle 37"/>
          <p:cNvSpPr>
            <a:spLocks noChangeArrowheads="1"/>
          </p:cNvSpPr>
          <p:nvPr/>
        </p:nvSpPr>
        <p:spPr bwMode="auto">
          <a:xfrm>
            <a:off x="6324600" y="4533900"/>
            <a:ext cx="16383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>
                <a:solidFill>
                  <a:srgbClr val="000000"/>
                </a:solidFill>
              </a:rPr>
              <a:t>Destination host</a:t>
            </a:r>
            <a:endParaRPr lang="en-US" sz="1800"/>
          </a:p>
        </p:txBody>
      </p:sp>
      <p:sp>
        <p:nvSpPr>
          <p:cNvPr id="85030" name="Line 38"/>
          <p:cNvSpPr>
            <a:spLocks noChangeShapeType="1"/>
          </p:cNvSpPr>
          <p:nvPr/>
        </p:nvSpPr>
        <p:spPr bwMode="auto">
          <a:xfrm flipV="1">
            <a:off x="6818313" y="4117975"/>
            <a:ext cx="388937" cy="37623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5031" name="Freeform 39"/>
          <p:cNvSpPr>
            <a:spLocks/>
          </p:cNvSpPr>
          <p:nvPr/>
        </p:nvSpPr>
        <p:spPr bwMode="auto">
          <a:xfrm>
            <a:off x="7142163" y="4048125"/>
            <a:ext cx="141287" cy="139700"/>
          </a:xfrm>
          <a:custGeom>
            <a:avLst/>
            <a:gdLst>
              <a:gd name="T0" fmla="*/ 2147483647 w 89"/>
              <a:gd name="T1" fmla="*/ 2147483647 h 88"/>
              <a:gd name="T2" fmla="*/ 2147483647 w 89"/>
              <a:gd name="T3" fmla="*/ 2147483647 h 88"/>
              <a:gd name="T4" fmla="*/ 0 w 89"/>
              <a:gd name="T5" fmla="*/ 2147483647 h 88"/>
              <a:gd name="T6" fmla="*/ 2147483647 w 89"/>
              <a:gd name="T7" fmla="*/ 0 h 88"/>
              <a:gd name="T8" fmla="*/ 2147483647 w 89"/>
              <a:gd name="T9" fmla="*/ 2147483647 h 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9"/>
              <a:gd name="T16" fmla="*/ 0 h 88"/>
              <a:gd name="T17" fmla="*/ 89 w 89"/>
              <a:gd name="T18" fmla="*/ 88 h 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9" h="88">
                <a:moveTo>
                  <a:pt x="53" y="88"/>
                </a:moveTo>
                <a:lnTo>
                  <a:pt x="35" y="51"/>
                </a:lnTo>
                <a:lnTo>
                  <a:pt x="0" y="33"/>
                </a:lnTo>
                <a:lnTo>
                  <a:pt x="89" y="0"/>
                </a:lnTo>
                <a:lnTo>
                  <a:pt x="53" y="88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00520" name="Rectangle 40"/>
          <p:cNvSpPr>
            <a:spLocks noChangeArrowheads="1"/>
          </p:cNvSpPr>
          <p:nvPr/>
        </p:nvSpPr>
        <p:spPr bwMode="auto">
          <a:xfrm>
            <a:off x="1331913" y="2427288"/>
            <a:ext cx="7239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>
                <a:solidFill>
                  <a:srgbClr val="000000"/>
                </a:solidFill>
              </a:rPr>
              <a:t>1,3,6,B</a:t>
            </a:r>
            <a:endParaRPr lang="en-US" sz="1800"/>
          </a:p>
        </p:txBody>
      </p:sp>
      <p:sp>
        <p:nvSpPr>
          <p:cNvPr id="1300521" name="Rectangle 41"/>
          <p:cNvSpPr>
            <a:spLocks noChangeArrowheads="1"/>
          </p:cNvSpPr>
          <p:nvPr/>
        </p:nvSpPr>
        <p:spPr bwMode="auto">
          <a:xfrm>
            <a:off x="3352800" y="1906588"/>
            <a:ext cx="5334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>
                <a:solidFill>
                  <a:srgbClr val="000000"/>
                </a:solidFill>
              </a:rPr>
              <a:t>3,6,B</a:t>
            </a:r>
            <a:endParaRPr lang="en-US" sz="1800"/>
          </a:p>
        </p:txBody>
      </p:sp>
      <p:sp>
        <p:nvSpPr>
          <p:cNvPr id="1300522" name="Rectangle 42"/>
          <p:cNvSpPr>
            <a:spLocks noChangeArrowheads="1"/>
          </p:cNvSpPr>
          <p:nvPr/>
        </p:nvSpPr>
        <p:spPr bwMode="auto">
          <a:xfrm>
            <a:off x="5411788" y="2017713"/>
            <a:ext cx="3429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>
                <a:solidFill>
                  <a:srgbClr val="000000"/>
                </a:solidFill>
              </a:rPr>
              <a:t>6,B</a:t>
            </a:r>
            <a:endParaRPr lang="en-US" sz="1800"/>
          </a:p>
        </p:txBody>
      </p:sp>
      <p:sp>
        <p:nvSpPr>
          <p:cNvPr id="1300523" name="Rectangle 43"/>
          <p:cNvSpPr>
            <a:spLocks noChangeArrowheads="1"/>
          </p:cNvSpPr>
          <p:nvPr/>
        </p:nvSpPr>
        <p:spPr bwMode="auto">
          <a:xfrm>
            <a:off x="7059613" y="2725738"/>
            <a:ext cx="1524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>
                <a:solidFill>
                  <a:srgbClr val="000000"/>
                </a:solidFill>
              </a:rPr>
              <a:t>B</a:t>
            </a:r>
            <a:endParaRPr lang="en-US" sz="1800"/>
          </a:p>
        </p:txBody>
      </p:sp>
      <p:sp>
        <p:nvSpPr>
          <p:cNvPr id="85036" name="Freeform 44"/>
          <p:cNvSpPr>
            <a:spLocks/>
          </p:cNvSpPr>
          <p:nvPr/>
        </p:nvSpPr>
        <p:spPr bwMode="auto">
          <a:xfrm>
            <a:off x="1625600" y="2308225"/>
            <a:ext cx="5607050" cy="1289050"/>
          </a:xfrm>
          <a:custGeom>
            <a:avLst/>
            <a:gdLst>
              <a:gd name="T0" fmla="*/ 0 w 3532"/>
              <a:gd name="T1" fmla="*/ 2147483647 h 812"/>
              <a:gd name="T2" fmla="*/ 2147483647 w 3532"/>
              <a:gd name="T3" fmla="*/ 2147483647 h 812"/>
              <a:gd name="T4" fmla="*/ 2147483647 w 3532"/>
              <a:gd name="T5" fmla="*/ 2147483647 h 812"/>
              <a:gd name="T6" fmla="*/ 2147483647 w 3532"/>
              <a:gd name="T7" fmla="*/ 2147483647 h 812"/>
              <a:gd name="T8" fmla="*/ 2147483647 w 3532"/>
              <a:gd name="T9" fmla="*/ 2147483647 h 812"/>
              <a:gd name="T10" fmla="*/ 2147483647 w 3532"/>
              <a:gd name="T11" fmla="*/ 2147483647 h 812"/>
              <a:gd name="T12" fmla="*/ 2147483647 w 3532"/>
              <a:gd name="T13" fmla="*/ 2147483647 h 812"/>
              <a:gd name="T14" fmla="*/ 2147483647 w 3532"/>
              <a:gd name="T15" fmla="*/ 2147483647 h 812"/>
              <a:gd name="T16" fmla="*/ 2147483647 w 3532"/>
              <a:gd name="T17" fmla="*/ 2147483647 h 812"/>
              <a:gd name="T18" fmla="*/ 2147483647 w 3532"/>
              <a:gd name="T19" fmla="*/ 2147483647 h 812"/>
              <a:gd name="T20" fmla="*/ 2147483647 w 3532"/>
              <a:gd name="T21" fmla="*/ 2147483647 h 812"/>
              <a:gd name="T22" fmla="*/ 2147483647 w 3532"/>
              <a:gd name="T23" fmla="*/ 2147483647 h 812"/>
              <a:gd name="T24" fmla="*/ 2147483647 w 3532"/>
              <a:gd name="T25" fmla="*/ 2147483647 h 812"/>
              <a:gd name="T26" fmla="*/ 2147483647 w 3532"/>
              <a:gd name="T27" fmla="*/ 2147483647 h 812"/>
              <a:gd name="T28" fmla="*/ 2147483647 w 3532"/>
              <a:gd name="T29" fmla="*/ 2147483647 h 81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3532"/>
              <a:gd name="T46" fmla="*/ 0 h 812"/>
              <a:gd name="T47" fmla="*/ 3532 w 3532"/>
              <a:gd name="T48" fmla="*/ 812 h 812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3532" h="812">
                <a:moveTo>
                  <a:pt x="0" y="541"/>
                </a:moveTo>
                <a:cubicBezTo>
                  <a:pt x="33" y="516"/>
                  <a:pt x="117" y="454"/>
                  <a:pt x="206" y="388"/>
                </a:cubicBezTo>
                <a:cubicBezTo>
                  <a:pt x="295" y="322"/>
                  <a:pt x="447" y="205"/>
                  <a:pt x="532" y="144"/>
                </a:cubicBezTo>
                <a:cubicBezTo>
                  <a:pt x="617" y="83"/>
                  <a:pt x="659" y="48"/>
                  <a:pt x="717" y="24"/>
                </a:cubicBezTo>
                <a:cubicBezTo>
                  <a:pt x="775" y="0"/>
                  <a:pt x="810" y="6"/>
                  <a:pt x="880" y="3"/>
                </a:cubicBezTo>
                <a:cubicBezTo>
                  <a:pt x="950" y="0"/>
                  <a:pt x="1016" y="3"/>
                  <a:pt x="1135" y="3"/>
                </a:cubicBezTo>
                <a:cubicBezTo>
                  <a:pt x="1254" y="3"/>
                  <a:pt x="1450" y="1"/>
                  <a:pt x="1597" y="3"/>
                </a:cubicBezTo>
                <a:cubicBezTo>
                  <a:pt x="1744" y="5"/>
                  <a:pt x="1877" y="1"/>
                  <a:pt x="2015" y="14"/>
                </a:cubicBezTo>
                <a:cubicBezTo>
                  <a:pt x="2153" y="27"/>
                  <a:pt x="2306" y="60"/>
                  <a:pt x="2426" y="80"/>
                </a:cubicBezTo>
                <a:cubicBezTo>
                  <a:pt x="2546" y="100"/>
                  <a:pt x="2650" y="118"/>
                  <a:pt x="2733" y="133"/>
                </a:cubicBezTo>
                <a:cubicBezTo>
                  <a:pt x="2816" y="148"/>
                  <a:pt x="2861" y="158"/>
                  <a:pt x="2923" y="172"/>
                </a:cubicBezTo>
                <a:cubicBezTo>
                  <a:pt x="2985" y="186"/>
                  <a:pt x="3056" y="192"/>
                  <a:pt x="3107" y="215"/>
                </a:cubicBezTo>
                <a:cubicBezTo>
                  <a:pt x="3158" y="238"/>
                  <a:pt x="3177" y="247"/>
                  <a:pt x="3227" y="312"/>
                </a:cubicBezTo>
                <a:cubicBezTo>
                  <a:pt x="3277" y="377"/>
                  <a:pt x="3356" y="523"/>
                  <a:pt x="3407" y="606"/>
                </a:cubicBezTo>
                <a:cubicBezTo>
                  <a:pt x="3458" y="689"/>
                  <a:pt x="3506" y="769"/>
                  <a:pt x="3532" y="812"/>
                </a:cubicBezTo>
              </a:path>
            </a:pathLst>
          </a:custGeom>
          <a:noFill/>
          <a:ln w="28575">
            <a:solidFill>
              <a:srgbClr val="FF9900"/>
            </a:solidFill>
            <a:prstDash val="sysDot"/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5037" name="Rectangle 4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</a:t>
            </a:r>
          </a:p>
        </p:txBody>
      </p:sp>
      <p:sp>
        <p:nvSpPr>
          <p:cNvPr id="85038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0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300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30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300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30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300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30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300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483" grpId="0" animBg="1"/>
      <p:bldP spid="1300484" grpId="0" animBg="1"/>
      <p:bldP spid="1300485" grpId="0" animBg="1"/>
      <p:bldP spid="1300486" grpId="0" animBg="1"/>
      <p:bldP spid="1300520" grpId="0" autoUpdateAnimBg="0"/>
      <p:bldP spid="1300521" grpId="0" autoUpdateAnimBg="0"/>
      <p:bldP spid="1300522" grpId="0" autoUpdateAnimBg="0"/>
      <p:bldP spid="1300523" grpId="0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4400" smtClean="0">
                <a:solidFill>
                  <a:schemeClr val="hlink"/>
                </a:solidFill>
              </a:rPr>
              <a:t>Chapter 7</a:t>
            </a:r>
            <a:r>
              <a:rPr lang="en-US" sz="4400" smtClean="0"/>
              <a:t/>
            </a:r>
            <a:br>
              <a:rPr lang="en-US" sz="4400" smtClean="0"/>
            </a:br>
            <a:r>
              <a:rPr lang="en-US" sz="4400" smtClean="0"/>
              <a:t>Packet-Switching Networks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3022600"/>
          </a:xfrm>
        </p:spPr>
        <p:txBody>
          <a:bodyPr/>
          <a:lstStyle/>
          <a:p>
            <a:pPr eaLnBrk="1" hangingPunct="1"/>
            <a:r>
              <a:rPr lang="en-US" b="1" i="1" smtClean="0"/>
              <a:t>Traffic Management </a:t>
            </a:r>
          </a:p>
          <a:p>
            <a:pPr eaLnBrk="1" hangingPunct="1"/>
            <a:r>
              <a:rPr lang="en-US" b="1" i="1" smtClean="0"/>
              <a:t>Packet Level</a:t>
            </a:r>
          </a:p>
          <a:p>
            <a:pPr eaLnBrk="1" hangingPunct="1"/>
            <a:r>
              <a:rPr lang="en-US" b="1" i="1" smtClean="0"/>
              <a:t>Flow Level</a:t>
            </a:r>
          </a:p>
          <a:p>
            <a:pPr eaLnBrk="1" hangingPunct="1"/>
            <a:r>
              <a:rPr lang="en-US" b="1" i="1" smtClean="0"/>
              <a:t>Flow-Aggregate Level </a:t>
            </a:r>
          </a:p>
          <a:p>
            <a:pPr eaLnBrk="1" hangingPunct="1"/>
            <a:endParaRPr lang="en-US" b="1" i="1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Traffic Management </a:t>
            </a:r>
          </a:p>
        </p:txBody>
      </p:sp>
      <p:sp>
        <p:nvSpPr>
          <p:cNvPr id="87043" name="Rectangle 4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200" smtClean="0"/>
              <a:t>Vehicular traffic management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smtClean="0"/>
              <a:t>Traffic lights &amp; signals control flow of traffic in city street system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smtClean="0"/>
              <a:t>Objective is to maximize flow with tolerable delays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smtClean="0"/>
              <a:t>Priority Services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Police sirens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Cavalcade for dignitaries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Bus &amp; High-usage lanes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Trucks allowed only at night</a:t>
            </a:r>
          </a:p>
        </p:txBody>
      </p:sp>
      <p:sp>
        <p:nvSpPr>
          <p:cNvPr id="87044" name="Rectangle 5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200" smtClean="0"/>
              <a:t>Packet traffic management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smtClean="0"/>
              <a:t>Multiplexing &amp; access mechanisms to control flow of packet traffic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smtClean="0"/>
              <a:t>Objective is make efficient use of network resources &amp; deliver QoS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smtClean="0"/>
              <a:t>Priority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Fault-recovery packets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Real-time traffic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Enterprise (high-revenue) traffic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High bandwidth traffic</a:t>
            </a:r>
          </a:p>
          <a:p>
            <a:pPr lvl="1" eaLnBrk="1" hangingPunct="1">
              <a:lnSpc>
                <a:spcPct val="90000"/>
              </a:lnSpc>
            </a:pPr>
            <a:endParaRPr lang="en-US" sz="2000" smtClean="0"/>
          </a:p>
          <a:p>
            <a:pPr lvl="1" eaLnBrk="1" hangingPunct="1">
              <a:lnSpc>
                <a:spcPct val="90000"/>
              </a:lnSpc>
            </a:pPr>
            <a:endParaRPr lang="en-US" sz="2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Time Scales &amp; Granularities</a:t>
            </a:r>
          </a:p>
        </p:txBody>
      </p:sp>
      <p:sp>
        <p:nvSpPr>
          <p:cNvPr id="88067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600" smtClean="0"/>
              <a:t>Packet Level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smtClean="0"/>
              <a:t>Queueing &amp; scheduling at multiplexing points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smtClean="0"/>
              <a:t>Determines relative performance offered to packets over a short time scale (microseconds)</a:t>
            </a:r>
          </a:p>
          <a:p>
            <a:pPr eaLnBrk="1" hangingPunct="1">
              <a:lnSpc>
                <a:spcPct val="80000"/>
              </a:lnSpc>
            </a:pPr>
            <a:r>
              <a:rPr lang="en-US" sz="2600" smtClean="0"/>
              <a:t> Flow Level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smtClean="0"/>
              <a:t>Management of traffic flows &amp; resource allocation to ensure delivery of QoS (milliseconds to seconds)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smtClean="0"/>
              <a:t>Matching traffic flows to resources available; congestion control</a:t>
            </a:r>
          </a:p>
          <a:p>
            <a:pPr eaLnBrk="1" hangingPunct="1">
              <a:lnSpc>
                <a:spcPct val="80000"/>
              </a:lnSpc>
            </a:pPr>
            <a:r>
              <a:rPr lang="en-US" sz="2600" smtClean="0"/>
              <a:t>Flow-Aggregate Level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smtClean="0"/>
              <a:t>Routing of aggregate traffic flows across the network for efficient utilization of resources and meeting of service levels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200" smtClean="0"/>
              <a:t>“Traffic Engineering”, at scale of minutes to days </a:t>
            </a:r>
          </a:p>
        </p:txBody>
      </p:sp>
      <p:sp>
        <p:nvSpPr>
          <p:cNvPr id="88068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090" name="Group 2"/>
          <p:cNvGrpSpPr>
            <a:grpSpLocks/>
          </p:cNvGrpSpPr>
          <p:nvPr/>
        </p:nvGrpSpPr>
        <p:grpSpPr bwMode="auto">
          <a:xfrm>
            <a:off x="574675" y="2111375"/>
            <a:ext cx="7940675" cy="1471613"/>
            <a:chOff x="362" y="1569"/>
            <a:chExt cx="5002" cy="927"/>
          </a:xfrm>
        </p:grpSpPr>
        <p:sp>
          <p:nvSpPr>
            <p:cNvPr id="89094" name="Rectangle 3"/>
            <p:cNvSpPr>
              <a:spLocks noChangeArrowheads="1"/>
            </p:cNvSpPr>
            <p:nvPr/>
          </p:nvSpPr>
          <p:spPr bwMode="auto">
            <a:xfrm>
              <a:off x="582" y="1858"/>
              <a:ext cx="690" cy="438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95" name="Rectangle 4"/>
            <p:cNvSpPr>
              <a:spLocks noChangeArrowheads="1"/>
            </p:cNvSpPr>
            <p:nvPr/>
          </p:nvSpPr>
          <p:spPr bwMode="auto">
            <a:xfrm>
              <a:off x="1596" y="1858"/>
              <a:ext cx="690" cy="438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96" name="Rectangle 5"/>
            <p:cNvSpPr>
              <a:spLocks noChangeArrowheads="1"/>
            </p:cNvSpPr>
            <p:nvPr/>
          </p:nvSpPr>
          <p:spPr bwMode="auto">
            <a:xfrm>
              <a:off x="3480" y="1858"/>
              <a:ext cx="690" cy="438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97" name="Rectangle 6"/>
            <p:cNvSpPr>
              <a:spLocks noChangeArrowheads="1"/>
            </p:cNvSpPr>
            <p:nvPr/>
          </p:nvSpPr>
          <p:spPr bwMode="auto">
            <a:xfrm>
              <a:off x="4488" y="1858"/>
              <a:ext cx="690" cy="438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98" name="Rectangle 7"/>
            <p:cNvSpPr>
              <a:spLocks noChangeArrowheads="1"/>
            </p:cNvSpPr>
            <p:nvPr/>
          </p:nvSpPr>
          <p:spPr bwMode="auto">
            <a:xfrm>
              <a:off x="688" y="1982"/>
              <a:ext cx="448" cy="2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099" name="Line 8"/>
            <p:cNvSpPr>
              <a:spLocks noChangeShapeType="1"/>
            </p:cNvSpPr>
            <p:nvPr/>
          </p:nvSpPr>
          <p:spPr bwMode="auto">
            <a:xfrm>
              <a:off x="996" y="1982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00" name="Line 9"/>
            <p:cNvSpPr>
              <a:spLocks noChangeShapeType="1"/>
            </p:cNvSpPr>
            <p:nvPr/>
          </p:nvSpPr>
          <p:spPr bwMode="auto">
            <a:xfrm>
              <a:off x="1068" y="1982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01" name="Line 10"/>
            <p:cNvSpPr>
              <a:spLocks noChangeShapeType="1"/>
            </p:cNvSpPr>
            <p:nvPr/>
          </p:nvSpPr>
          <p:spPr bwMode="auto">
            <a:xfrm>
              <a:off x="839" y="1982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02" name="Line 11"/>
            <p:cNvSpPr>
              <a:spLocks noChangeShapeType="1"/>
            </p:cNvSpPr>
            <p:nvPr/>
          </p:nvSpPr>
          <p:spPr bwMode="auto">
            <a:xfrm>
              <a:off x="911" y="1982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03" name="Line 12"/>
            <p:cNvSpPr>
              <a:spLocks noChangeShapeType="1"/>
            </p:cNvSpPr>
            <p:nvPr/>
          </p:nvSpPr>
          <p:spPr bwMode="auto">
            <a:xfrm>
              <a:off x="1272" y="2082"/>
              <a:ext cx="3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04" name="Line 13"/>
            <p:cNvSpPr>
              <a:spLocks noChangeShapeType="1"/>
            </p:cNvSpPr>
            <p:nvPr/>
          </p:nvSpPr>
          <p:spPr bwMode="auto">
            <a:xfrm>
              <a:off x="362" y="2082"/>
              <a:ext cx="2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05" name="Line 14"/>
            <p:cNvSpPr>
              <a:spLocks noChangeShapeType="1"/>
            </p:cNvSpPr>
            <p:nvPr/>
          </p:nvSpPr>
          <p:spPr bwMode="auto">
            <a:xfrm>
              <a:off x="2286" y="2082"/>
              <a:ext cx="3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06" name="Line 15"/>
            <p:cNvSpPr>
              <a:spLocks noChangeShapeType="1"/>
            </p:cNvSpPr>
            <p:nvPr/>
          </p:nvSpPr>
          <p:spPr bwMode="auto">
            <a:xfrm>
              <a:off x="4176" y="2082"/>
              <a:ext cx="3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07" name="Line 16"/>
            <p:cNvSpPr>
              <a:spLocks noChangeShapeType="1"/>
            </p:cNvSpPr>
            <p:nvPr/>
          </p:nvSpPr>
          <p:spPr bwMode="auto">
            <a:xfrm>
              <a:off x="5184" y="2082"/>
              <a:ext cx="1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08" name="Line 17"/>
            <p:cNvSpPr>
              <a:spLocks noChangeShapeType="1"/>
            </p:cNvSpPr>
            <p:nvPr/>
          </p:nvSpPr>
          <p:spPr bwMode="auto">
            <a:xfrm>
              <a:off x="1650" y="2302"/>
              <a:ext cx="0" cy="1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09" name="Line 18"/>
            <p:cNvSpPr>
              <a:spLocks noChangeShapeType="1"/>
            </p:cNvSpPr>
            <p:nvPr/>
          </p:nvSpPr>
          <p:spPr bwMode="auto">
            <a:xfrm>
              <a:off x="1389" y="1875"/>
              <a:ext cx="201" cy="16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10" name="Line 19"/>
            <p:cNvSpPr>
              <a:spLocks noChangeShapeType="1"/>
            </p:cNvSpPr>
            <p:nvPr/>
          </p:nvSpPr>
          <p:spPr bwMode="auto">
            <a:xfrm>
              <a:off x="381" y="1851"/>
              <a:ext cx="201" cy="16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11" name="Line 20"/>
            <p:cNvSpPr>
              <a:spLocks noChangeShapeType="1"/>
            </p:cNvSpPr>
            <p:nvPr/>
          </p:nvSpPr>
          <p:spPr bwMode="auto">
            <a:xfrm>
              <a:off x="3266" y="2088"/>
              <a:ext cx="2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12" name="Line 21"/>
            <p:cNvSpPr>
              <a:spLocks noChangeShapeType="1"/>
            </p:cNvSpPr>
            <p:nvPr/>
          </p:nvSpPr>
          <p:spPr bwMode="auto">
            <a:xfrm>
              <a:off x="3285" y="1857"/>
              <a:ext cx="201" cy="16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13" name="Line 22"/>
            <p:cNvSpPr>
              <a:spLocks noChangeShapeType="1"/>
            </p:cNvSpPr>
            <p:nvPr/>
          </p:nvSpPr>
          <p:spPr bwMode="auto">
            <a:xfrm>
              <a:off x="4293" y="1875"/>
              <a:ext cx="201" cy="16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14" name="Text Box 23"/>
            <p:cNvSpPr txBox="1">
              <a:spLocks noChangeArrowheads="1"/>
            </p:cNvSpPr>
            <p:nvPr/>
          </p:nvSpPr>
          <p:spPr bwMode="auto">
            <a:xfrm>
              <a:off x="820" y="2265"/>
              <a:ext cx="19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1</a:t>
              </a:r>
            </a:p>
          </p:txBody>
        </p:sp>
        <p:sp>
          <p:nvSpPr>
            <p:cNvPr id="89115" name="Text Box 24"/>
            <p:cNvSpPr txBox="1">
              <a:spLocks noChangeArrowheads="1"/>
            </p:cNvSpPr>
            <p:nvPr/>
          </p:nvSpPr>
          <p:spPr bwMode="auto">
            <a:xfrm>
              <a:off x="1828" y="2265"/>
              <a:ext cx="19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2</a:t>
              </a:r>
            </a:p>
          </p:txBody>
        </p:sp>
        <p:sp>
          <p:nvSpPr>
            <p:cNvPr id="89116" name="Text Box 25"/>
            <p:cNvSpPr txBox="1">
              <a:spLocks noChangeArrowheads="1"/>
            </p:cNvSpPr>
            <p:nvPr/>
          </p:nvSpPr>
          <p:spPr bwMode="auto">
            <a:xfrm>
              <a:off x="4730" y="2265"/>
              <a:ext cx="220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 i="1"/>
                <a:t>N</a:t>
              </a:r>
              <a:endParaRPr lang="en-US" sz="1800"/>
            </a:p>
          </p:txBody>
        </p:sp>
        <p:sp>
          <p:nvSpPr>
            <p:cNvPr id="89117" name="Text Box 26"/>
            <p:cNvSpPr txBox="1">
              <a:spLocks noChangeArrowheads="1"/>
            </p:cNvSpPr>
            <p:nvPr/>
          </p:nvSpPr>
          <p:spPr bwMode="auto">
            <a:xfrm>
              <a:off x="3686" y="2265"/>
              <a:ext cx="460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 i="1"/>
                <a:t>N </a:t>
              </a:r>
              <a:r>
                <a:rPr lang="en-US" sz="1800"/>
                <a:t>– 1</a:t>
              </a:r>
            </a:p>
          </p:txBody>
        </p:sp>
        <p:sp>
          <p:nvSpPr>
            <p:cNvPr id="89118" name="Rectangle 27"/>
            <p:cNvSpPr>
              <a:spLocks noChangeArrowheads="1"/>
            </p:cNvSpPr>
            <p:nvPr/>
          </p:nvSpPr>
          <p:spPr bwMode="auto">
            <a:xfrm>
              <a:off x="1702" y="1982"/>
              <a:ext cx="448" cy="2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19" name="Line 28"/>
            <p:cNvSpPr>
              <a:spLocks noChangeShapeType="1"/>
            </p:cNvSpPr>
            <p:nvPr/>
          </p:nvSpPr>
          <p:spPr bwMode="auto">
            <a:xfrm>
              <a:off x="2010" y="1982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20" name="Line 29"/>
            <p:cNvSpPr>
              <a:spLocks noChangeShapeType="1"/>
            </p:cNvSpPr>
            <p:nvPr/>
          </p:nvSpPr>
          <p:spPr bwMode="auto">
            <a:xfrm>
              <a:off x="2082" y="1982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21" name="Line 30"/>
            <p:cNvSpPr>
              <a:spLocks noChangeShapeType="1"/>
            </p:cNvSpPr>
            <p:nvPr/>
          </p:nvSpPr>
          <p:spPr bwMode="auto">
            <a:xfrm>
              <a:off x="1853" y="1982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22" name="Line 31"/>
            <p:cNvSpPr>
              <a:spLocks noChangeShapeType="1"/>
            </p:cNvSpPr>
            <p:nvPr/>
          </p:nvSpPr>
          <p:spPr bwMode="auto">
            <a:xfrm>
              <a:off x="1925" y="1982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23" name="Rectangle 32"/>
            <p:cNvSpPr>
              <a:spLocks noChangeArrowheads="1"/>
            </p:cNvSpPr>
            <p:nvPr/>
          </p:nvSpPr>
          <p:spPr bwMode="auto">
            <a:xfrm>
              <a:off x="3586" y="1982"/>
              <a:ext cx="448" cy="2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24" name="Line 33"/>
            <p:cNvSpPr>
              <a:spLocks noChangeShapeType="1"/>
            </p:cNvSpPr>
            <p:nvPr/>
          </p:nvSpPr>
          <p:spPr bwMode="auto">
            <a:xfrm>
              <a:off x="3894" y="1982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25" name="Line 34"/>
            <p:cNvSpPr>
              <a:spLocks noChangeShapeType="1"/>
            </p:cNvSpPr>
            <p:nvPr/>
          </p:nvSpPr>
          <p:spPr bwMode="auto">
            <a:xfrm>
              <a:off x="3966" y="1982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26" name="Line 35"/>
            <p:cNvSpPr>
              <a:spLocks noChangeShapeType="1"/>
            </p:cNvSpPr>
            <p:nvPr/>
          </p:nvSpPr>
          <p:spPr bwMode="auto">
            <a:xfrm>
              <a:off x="3737" y="1982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27" name="Line 36"/>
            <p:cNvSpPr>
              <a:spLocks noChangeShapeType="1"/>
            </p:cNvSpPr>
            <p:nvPr/>
          </p:nvSpPr>
          <p:spPr bwMode="auto">
            <a:xfrm>
              <a:off x="3809" y="1982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28" name="Rectangle 37"/>
            <p:cNvSpPr>
              <a:spLocks noChangeArrowheads="1"/>
            </p:cNvSpPr>
            <p:nvPr/>
          </p:nvSpPr>
          <p:spPr bwMode="auto">
            <a:xfrm>
              <a:off x="4594" y="1982"/>
              <a:ext cx="448" cy="2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129" name="Line 38"/>
            <p:cNvSpPr>
              <a:spLocks noChangeShapeType="1"/>
            </p:cNvSpPr>
            <p:nvPr/>
          </p:nvSpPr>
          <p:spPr bwMode="auto">
            <a:xfrm>
              <a:off x="4902" y="1982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30" name="Line 39"/>
            <p:cNvSpPr>
              <a:spLocks noChangeShapeType="1"/>
            </p:cNvSpPr>
            <p:nvPr/>
          </p:nvSpPr>
          <p:spPr bwMode="auto">
            <a:xfrm>
              <a:off x="4974" y="1982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31" name="Line 40"/>
            <p:cNvSpPr>
              <a:spLocks noChangeShapeType="1"/>
            </p:cNvSpPr>
            <p:nvPr/>
          </p:nvSpPr>
          <p:spPr bwMode="auto">
            <a:xfrm>
              <a:off x="4745" y="1982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32" name="Line 41"/>
            <p:cNvSpPr>
              <a:spLocks noChangeShapeType="1"/>
            </p:cNvSpPr>
            <p:nvPr/>
          </p:nvSpPr>
          <p:spPr bwMode="auto">
            <a:xfrm>
              <a:off x="4817" y="1982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33" name="Line 42"/>
            <p:cNvSpPr>
              <a:spLocks noChangeShapeType="1"/>
            </p:cNvSpPr>
            <p:nvPr/>
          </p:nvSpPr>
          <p:spPr bwMode="auto">
            <a:xfrm>
              <a:off x="642" y="2296"/>
              <a:ext cx="0" cy="1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34" name="Line 43"/>
            <p:cNvSpPr>
              <a:spLocks noChangeShapeType="1"/>
            </p:cNvSpPr>
            <p:nvPr/>
          </p:nvSpPr>
          <p:spPr bwMode="auto">
            <a:xfrm>
              <a:off x="3540" y="2302"/>
              <a:ext cx="0" cy="1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35" name="Line 44"/>
            <p:cNvSpPr>
              <a:spLocks noChangeShapeType="1"/>
            </p:cNvSpPr>
            <p:nvPr/>
          </p:nvSpPr>
          <p:spPr bwMode="auto">
            <a:xfrm>
              <a:off x="4554" y="2302"/>
              <a:ext cx="0" cy="1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36" name="Text Box 45"/>
            <p:cNvSpPr txBox="1">
              <a:spLocks noChangeArrowheads="1"/>
            </p:cNvSpPr>
            <p:nvPr/>
          </p:nvSpPr>
          <p:spPr bwMode="auto">
            <a:xfrm>
              <a:off x="1708" y="1569"/>
              <a:ext cx="964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Packet buffer</a:t>
              </a:r>
            </a:p>
          </p:txBody>
        </p:sp>
        <p:sp>
          <p:nvSpPr>
            <p:cNvPr id="89137" name="Line 46"/>
            <p:cNvSpPr>
              <a:spLocks noChangeShapeType="1"/>
            </p:cNvSpPr>
            <p:nvPr/>
          </p:nvSpPr>
          <p:spPr bwMode="auto">
            <a:xfrm flipH="1">
              <a:off x="1908" y="1768"/>
              <a:ext cx="84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9138" name="Text Box 47"/>
            <p:cNvSpPr txBox="1">
              <a:spLocks noChangeArrowheads="1"/>
            </p:cNvSpPr>
            <p:nvPr/>
          </p:nvSpPr>
          <p:spPr bwMode="auto">
            <a:xfrm>
              <a:off x="2760" y="1912"/>
              <a:ext cx="304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2400"/>
                <a:t>…</a:t>
              </a:r>
            </a:p>
          </p:txBody>
        </p:sp>
      </p:grpSp>
      <p:sp>
        <p:nvSpPr>
          <p:cNvPr id="89091" name="Rectangle 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End-to-End QoS</a:t>
            </a:r>
          </a:p>
        </p:txBody>
      </p:sp>
      <p:sp>
        <p:nvSpPr>
          <p:cNvPr id="89092" name="Rectangle 51"/>
          <p:cNvSpPr>
            <a:spLocks noGrp="1" noChangeArrowheads="1"/>
          </p:cNvSpPr>
          <p:nvPr>
            <p:ph type="body" idx="1"/>
          </p:nvPr>
        </p:nvSpPr>
        <p:spPr>
          <a:xfrm>
            <a:off x="527050" y="4103688"/>
            <a:ext cx="8229600" cy="1898650"/>
          </a:xfrm>
        </p:spPr>
        <p:txBody>
          <a:bodyPr/>
          <a:lstStyle/>
          <a:p>
            <a:pPr eaLnBrk="1" hangingPunct="1"/>
            <a:r>
              <a:rPr lang="en-US" sz="2600" smtClean="0"/>
              <a:t>A packet traversing network encounters delay and possible loss at various multiplexing points</a:t>
            </a:r>
          </a:p>
          <a:p>
            <a:pPr eaLnBrk="1" hangingPunct="1"/>
            <a:r>
              <a:rPr lang="en-US" sz="2600" smtClean="0"/>
              <a:t>End-to-end performance is accumulation of per-hop performances</a:t>
            </a:r>
          </a:p>
        </p:txBody>
      </p:sp>
      <p:sp>
        <p:nvSpPr>
          <p:cNvPr id="89093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Scheduling &amp; QoS</a:t>
            </a:r>
          </a:p>
        </p:txBody>
      </p:sp>
      <p:sp>
        <p:nvSpPr>
          <p:cNvPr id="9011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100" smtClean="0"/>
              <a:t>End-to-End QoS &amp; Resource Control</a:t>
            </a:r>
          </a:p>
          <a:p>
            <a:pPr lvl="1" eaLnBrk="1" hangingPunct="1"/>
            <a:r>
              <a:rPr lang="en-US" sz="2000" smtClean="0"/>
              <a:t>Buffer &amp; bandwidth control </a:t>
            </a:r>
            <a:r>
              <a:rPr lang="en-US" sz="2000" smtClean="0">
                <a:cs typeface="Arial" charset="0"/>
              </a:rPr>
              <a:t>→</a:t>
            </a:r>
            <a:r>
              <a:rPr lang="en-US" sz="2000" smtClean="0"/>
              <a:t> Performance</a:t>
            </a:r>
          </a:p>
          <a:p>
            <a:pPr lvl="1" eaLnBrk="1" hangingPunct="1"/>
            <a:r>
              <a:rPr lang="en-US" sz="2000" smtClean="0"/>
              <a:t>Admission control to regulate traffic level</a:t>
            </a:r>
          </a:p>
          <a:p>
            <a:pPr eaLnBrk="1" hangingPunct="1"/>
            <a:r>
              <a:rPr lang="en-US" sz="2100" smtClean="0"/>
              <a:t>Scheduling Concepts</a:t>
            </a:r>
          </a:p>
          <a:p>
            <a:pPr lvl="1" eaLnBrk="1" hangingPunct="1"/>
            <a:r>
              <a:rPr lang="en-US" sz="2000" smtClean="0"/>
              <a:t>fairness/isolation</a:t>
            </a:r>
          </a:p>
          <a:p>
            <a:pPr lvl="1" eaLnBrk="1" hangingPunct="1"/>
            <a:r>
              <a:rPr lang="en-US" sz="2000" smtClean="0"/>
              <a:t>priority, aggregation, </a:t>
            </a:r>
          </a:p>
          <a:p>
            <a:pPr eaLnBrk="1" hangingPunct="1"/>
            <a:r>
              <a:rPr lang="en-US" sz="2100" smtClean="0"/>
              <a:t>Fair Queueing &amp; Variations</a:t>
            </a:r>
          </a:p>
          <a:p>
            <a:pPr lvl="1" eaLnBrk="1" hangingPunct="1"/>
            <a:r>
              <a:rPr lang="en-US" sz="2000" smtClean="0"/>
              <a:t>WFQ, PGPS</a:t>
            </a:r>
          </a:p>
          <a:p>
            <a:pPr eaLnBrk="1" hangingPunct="1"/>
            <a:r>
              <a:rPr lang="en-US" sz="2100" smtClean="0"/>
              <a:t>Guaranteed Service </a:t>
            </a:r>
          </a:p>
          <a:p>
            <a:pPr lvl="1" eaLnBrk="1" hangingPunct="1"/>
            <a:r>
              <a:rPr lang="en-US" sz="2000" smtClean="0"/>
              <a:t>WFQ, Rate-control</a:t>
            </a:r>
          </a:p>
          <a:p>
            <a:pPr eaLnBrk="1" hangingPunct="1"/>
            <a:r>
              <a:rPr lang="en-US" sz="2100" smtClean="0"/>
              <a:t>Packet Dropping</a:t>
            </a:r>
          </a:p>
          <a:p>
            <a:pPr lvl="1" eaLnBrk="1" hangingPunct="1"/>
            <a:r>
              <a:rPr lang="en-US" sz="2000" smtClean="0"/>
              <a:t>aggregation, drop priorities</a:t>
            </a:r>
          </a:p>
          <a:p>
            <a:pPr eaLnBrk="1" hangingPunct="1"/>
            <a:endParaRPr lang="en-US" sz="2600" smtClean="0"/>
          </a:p>
        </p:txBody>
      </p:sp>
      <p:sp>
        <p:nvSpPr>
          <p:cNvPr id="90116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3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FIFO Queueing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sz="half" idx="2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sz="2600" smtClean="0"/>
              <a:t>All packet flows share the same buffer</a:t>
            </a:r>
          </a:p>
          <a:p>
            <a:pPr eaLnBrk="1" hangingPunct="1"/>
            <a:r>
              <a:rPr lang="en-US" sz="2600" smtClean="0"/>
              <a:t>Transmission Discipline:  First-In, First-Out</a:t>
            </a:r>
          </a:p>
          <a:p>
            <a:pPr eaLnBrk="1" hangingPunct="1"/>
            <a:r>
              <a:rPr lang="en-US" sz="2600" smtClean="0"/>
              <a:t>Buffering Discipline:  Discard arriving packets if buffer is full (Alternative:  random discard; pushout head-of-line, i.e. oldest, packet)</a:t>
            </a:r>
          </a:p>
        </p:txBody>
      </p:sp>
      <p:grpSp>
        <p:nvGrpSpPr>
          <p:cNvPr id="91140" name="Group 36"/>
          <p:cNvGrpSpPr>
            <a:grpSpLocks/>
          </p:cNvGrpSpPr>
          <p:nvPr/>
        </p:nvGrpSpPr>
        <p:grpSpPr bwMode="auto">
          <a:xfrm>
            <a:off x="2038350" y="1489075"/>
            <a:ext cx="4929188" cy="1733550"/>
            <a:chOff x="1383" y="803"/>
            <a:chExt cx="3105" cy="1092"/>
          </a:xfrm>
        </p:grpSpPr>
        <p:sp>
          <p:nvSpPr>
            <p:cNvPr id="91142" name="Rectangle 20"/>
            <p:cNvSpPr>
              <a:spLocks noChangeArrowheads="1"/>
            </p:cNvSpPr>
            <p:nvPr/>
          </p:nvSpPr>
          <p:spPr bwMode="auto">
            <a:xfrm>
              <a:off x="2816" y="1075"/>
              <a:ext cx="688" cy="2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43" name="Line 21"/>
            <p:cNvSpPr>
              <a:spLocks noChangeShapeType="1"/>
            </p:cNvSpPr>
            <p:nvPr/>
          </p:nvSpPr>
          <p:spPr bwMode="auto">
            <a:xfrm>
              <a:off x="3348" y="1075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1144" name="Line 22"/>
            <p:cNvSpPr>
              <a:spLocks noChangeShapeType="1"/>
            </p:cNvSpPr>
            <p:nvPr/>
          </p:nvSpPr>
          <p:spPr bwMode="auto">
            <a:xfrm>
              <a:off x="3428" y="1075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1145" name="Line 23"/>
            <p:cNvSpPr>
              <a:spLocks noChangeShapeType="1"/>
            </p:cNvSpPr>
            <p:nvPr/>
          </p:nvSpPr>
          <p:spPr bwMode="auto">
            <a:xfrm>
              <a:off x="3172" y="1075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1146" name="Line 24"/>
            <p:cNvSpPr>
              <a:spLocks noChangeShapeType="1"/>
            </p:cNvSpPr>
            <p:nvPr/>
          </p:nvSpPr>
          <p:spPr bwMode="auto">
            <a:xfrm>
              <a:off x="3252" y="1075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1147" name="Line 25"/>
            <p:cNvSpPr>
              <a:spLocks noChangeShapeType="1"/>
            </p:cNvSpPr>
            <p:nvPr/>
          </p:nvSpPr>
          <p:spPr bwMode="auto">
            <a:xfrm>
              <a:off x="2996" y="1075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1148" name="Line 26"/>
            <p:cNvSpPr>
              <a:spLocks noChangeShapeType="1"/>
            </p:cNvSpPr>
            <p:nvPr/>
          </p:nvSpPr>
          <p:spPr bwMode="auto">
            <a:xfrm>
              <a:off x="3076" y="1075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1149" name="Oval 27"/>
            <p:cNvSpPr>
              <a:spLocks noChangeArrowheads="1"/>
            </p:cNvSpPr>
            <p:nvPr/>
          </p:nvSpPr>
          <p:spPr bwMode="auto">
            <a:xfrm>
              <a:off x="3712" y="1083"/>
              <a:ext cx="184" cy="176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150" name="Line 28"/>
            <p:cNvSpPr>
              <a:spLocks noChangeShapeType="1"/>
            </p:cNvSpPr>
            <p:nvPr/>
          </p:nvSpPr>
          <p:spPr bwMode="auto">
            <a:xfrm>
              <a:off x="3512" y="1175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1151" name="Line 29"/>
            <p:cNvSpPr>
              <a:spLocks noChangeShapeType="1"/>
            </p:cNvSpPr>
            <p:nvPr/>
          </p:nvSpPr>
          <p:spPr bwMode="auto">
            <a:xfrm>
              <a:off x="3928" y="1175"/>
              <a:ext cx="5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1152" name="Line 30"/>
            <p:cNvSpPr>
              <a:spLocks noChangeShapeType="1"/>
            </p:cNvSpPr>
            <p:nvPr/>
          </p:nvSpPr>
          <p:spPr bwMode="auto">
            <a:xfrm>
              <a:off x="2120" y="1175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1153" name="Rectangle 31"/>
            <p:cNvSpPr>
              <a:spLocks noChangeArrowheads="1"/>
            </p:cNvSpPr>
            <p:nvPr/>
          </p:nvSpPr>
          <p:spPr bwMode="auto">
            <a:xfrm>
              <a:off x="2675" y="803"/>
              <a:ext cx="1055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Packet buffer</a:t>
              </a:r>
            </a:p>
          </p:txBody>
        </p:sp>
        <p:sp>
          <p:nvSpPr>
            <p:cNvPr id="91154" name="Rectangle 32"/>
            <p:cNvSpPr>
              <a:spLocks noChangeArrowheads="1"/>
            </p:cNvSpPr>
            <p:nvPr/>
          </p:nvSpPr>
          <p:spPr bwMode="auto">
            <a:xfrm>
              <a:off x="3303" y="1347"/>
              <a:ext cx="1066" cy="4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Transmission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link</a:t>
              </a:r>
            </a:p>
          </p:txBody>
        </p:sp>
        <p:sp>
          <p:nvSpPr>
            <p:cNvPr id="91155" name="Rectangle 33"/>
            <p:cNvSpPr>
              <a:spLocks noChangeArrowheads="1"/>
            </p:cNvSpPr>
            <p:nvPr/>
          </p:nvSpPr>
          <p:spPr bwMode="auto">
            <a:xfrm>
              <a:off x="1383" y="975"/>
              <a:ext cx="665" cy="4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Arriving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packets</a:t>
              </a:r>
            </a:p>
          </p:txBody>
        </p:sp>
        <p:sp>
          <p:nvSpPr>
            <p:cNvPr id="91156" name="Line 34"/>
            <p:cNvSpPr>
              <a:spLocks noChangeShapeType="1"/>
            </p:cNvSpPr>
            <p:nvPr/>
          </p:nvSpPr>
          <p:spPr bwMode="auto">
            <a:xfrm>
              <a:off x="2448" y="1227"/>
              <a:ext cx="0" cy="2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1157" name="Rectangle 35"/>
            <p:cNvSpPr>
              <a:spLocks noChangeArrowheads="1"/>
            </p:cNvSpPr>
            <p:nvPr/>
          </p:nvSpPr>
          <p:spPr bwMode="auto">
            <a:xfrm>
              <a:off x="1875" y="1455"/>
              <a:ext cx="1163" cy="4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Packet discard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when full</a:t>
              </a:r>
            </a:p>
          </p:txBody>
        </p:sp>
      </p:grpSp>
      <p:sp>
        <p:nvSpPr>
          <p:cNvPr id="91141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FIFO Queueing</a:t>
            </a:r>
          </a:p>
        </p:txBody>
      </p:sp>
      <p:sp>
        <p:nvSpPr>
          <p:cNvPr id="9216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100" smtClean="0"/>
              <a:t>Cannot provide differential QoS to different packet flows</a:t>
            </a:r>
          </a:p>
          <a:p>
            <a:pPr lvl="1" eaLnBrk="1" hangingPunct="1"/>
            <a:r>
              <a:rPr lang="en-US" sz="2000" smtClean="0"/>
              <a:t>Different packet flows interact strongly</a:t>
            </a:r>
          </a:p>
          <a:p>
            <a:pPr eaLnBrk="1" hangingPunct="1"/>
            <a:r>
              <a:rPr lang="en-US" sz="2100" smtClean="0"/>
              <a:t>Statistical delay guarantees via load control</a:t>
            </a:r>
          </a:p>
          <a:p>
            <a:pPr lvl="1" eaLnBrk="1" hangingPunct="1"/>
            <a:r>
              <a:rPr lang="en-US" sz="2000" smtClean="0"/>
              <a:t>Restrict number of flows allowed (connection admission control)</a:t>
            </a:r>
          </a:p>
          <a:p>
            <a:pPr lvl="1" eaLnBrk="1" hangingPunct="1"/>
            <a:r>
              <a:rPr lang="en-US" sz="2000" smtClean="0"/>
              <a:t>Difficult to determine performance delivered</a:t>
            </a:r>
          </a:p>
          <a:p>
            <a:pPr eaLnBrk="1" hangingPunct="1"/>
            <a:r>
              <a:rPr lang="en-US" sz="2100" smtClean="0"/>
              <a:t>Finite buffer determines a maximum possible delay</a:t>
            </a:r>
          </a:p>
          <a:p>
            <a:pPr eaLnBrk="1" hangingPunct="1"/>
            <a:r>
              <a:rPr lang="en-US" sz="2100" smtClean="0"/>
              <a:t>Buffer size determines loss probability</a:t>
            </a:r>
          </a:p>
          <a:p>
            <a:pPr lvl="1" eaLnBrk="1" hangingPunct="1"/>
            <a:r>
              <a:rPr lang="en-US" sz="2000" smtClean="0"/>
              <a:t>But depends on arrival &amp; packet length statistics</a:t>
            </a:r>
          </a:p>
          <a:p>
            <a:pPr eaLnBrk="1" hangingPunct="1"/>
            <a:r>
              <a:rPr lang="en-US" sz="2100" smtClean="0"/>
              <a:t>Variation:  packet enqueueing based on queue thresholds</a:t>
            </a:r>
          </a:p>
          <a:p>
            <a:pPr lvl="1" eaLnBrk="1" hangingPunct="1"/>
            <a:r>
              <a:rPr lang="en-US" sz="2000" smtClean="0"/>
              <a:t>some packet flows encounter blocking before others</a:t>
            </a:r>
          </a:p>
          <a:p>
            <a:pPr lvl="1" eaLnBrk="1" hangingPunct="1"/>
            <a:r>
              <a:rPr lang="en-US" sz="2000" smtClean="0"/>
              <a:t>higher loss, lower delay</a:t>
            </a:r>
          </a:p>
          <a:p>
            <a:pPr eaLnBrk="1" hangingPunct="1"/>
            <a:endParaRPr lang="en-US" sz="26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86" name="Group 40"/>
          <p:cNvGrpSpPr>
            <a:grpSpLocks/>
          </p:cNvGrpSpPr>
          <p:nvPr/>
        </p:nvGrpSpPr>
        <p:grpSpPr bwMode="auto">
          <a:xfrm>
            <a:off x="1271588" y="1562100"/>
            <a:ext cx="5464175" cy="4826000"/>
            <a:chOff x="1046" y="375"/>
            <a:chExt cx="3442" cy="3040"/>
          </a:xfrm>
        </p:grpSpPr>
        <p:sp>
          <p:nvSpPr>
            <p:cNvPr id="93188" name="Rectangle 3"/>
            <p:cNvSpPr>
              <a:spLocks noChangeArrowheads="1"/>
            </p:cNvSpPr>
            <p:nvPr/>
          </p:nvSpPr>
          <p:spPr bwMode="auto">
            <a:xfrm>
              <a:off x="2816" y="796"/>
              <a:ext cx="688" cy="2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189" name="Line 4"/>
            <p:cNvSpPr>
              <a:spLocks noChangeShapeType="1"/>
            </p:cNvSpPr>
            <p:nvPr/>
          </p:nvSpPr>
          <p:spPr bwMode="auto">
            <a:xfrm>
              <a:off x="3348" y="796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3190" name="Line 5"/>
            <p:cNvSpPr>
              <a:spLocks noChangeShapeType="1"/>
            </p:cNvSpPr>
            <p:nvPr/>
          </p:nvSpPr>
          <p:spPr bwMode="auto">
            <a:xfrm>
              <a:off x="3428" y="796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3191" name="Line 6"/>
            <p:cNvSpPr>
              <a:spLocks noChangeShapeType="1"/>
            </p:cNvSpPr>
            <p:nvPr/>
          </p:nvSpPr>
          <p:spPr bwMode="auto">
            <a:xfrm>
              <a:off x="3172" y="796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3192" name="Line 7"/>
            <p:cNvSpPr>
              <a:spLocks noChangeShapeType="1"/>
            </p:cNvSpPr>
            <p:nvPr/>
          </p:nvSpPr>
          <p:spPr bwMode="auto">
            <a:xfrm>
              <a:off x="3252" y="796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3193" name="Line 8"/>
            <p:cNvSpPr>
              <a:spLocks noChangeShapeType="1"/>
            </p:cNvSpPr>
            <p:nvPr/>
          </p:nvSpPr>
          <p:spPr bwMode="auto">
            <a:xfrm>
              <a:off x="2996" y="796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3194" name="Line 9"/>
            <p:cNvSpPr>
              <a:spLocks noChangeShapeType="1"/>
            </p:cNvSpPr>
            <p:nvPr/>
          </p:nvSpPr>
          <p:spPr bwMode="auto">
            <a:xfrm>
              <a:off x="3076" y="796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3195" name="Oval 10"/>
            <p:cNvSpPr>
              <a:spLocks noChangeArrowheads="1"/>
            </p:cNvSpPr>
            <p:nvPr/>
          </p:nvSpPr>
          <p:spPr bwMode="auto">
            <a:xfrm>
              <a:off x="3712" y="804"/>
              <a:ext cx="184" cy="176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196" name="Line 11"/>
            <p:cNvSpPr>
              <a:spLocks noChangeShapeType="1"/>
            </p:cNvSpPr>
            <p:nvPr/>
          </p:nvSpPr>
          <p:spPr bwMode="auto">
            <a:xfrm>
              <a:off x="3512" y="896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3197" name="Line 12"/>
            <p:cNvSpPr>
              <a:spLocks noChangeShapeType="1"/>
            </p:cNvSpPr>
            <p:nvPr/>
          </p:nvSpPr>
          <p:spPr bwMode="auto">
            <a:xfrm>
              <a:off x="3928" y="896"/>
              <a:ext cx="5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3198" name="Line 13"/>
            <p:cNvSpPr>
              <a:spLocks noChangeShapeType="1"/>
            </p:cNvSpPr>
            <p:nvPr/>
          </p:nvSpPr>
          <p:spPr bwMode="auto">
            <a:xfrm>
              <a:off x="2120" y="896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3199" name="Rectangle 14"/>
            <p:cNvSpPr>
              <a:spLocks noChangeArrowheads="1"/>
            </p:cNvSpPr>
            <p:nvPr/>
          </p:nvSpPr>
          <p:spPr bwMode="auto">
            <a:xfrm>
              <a:off x="2675" y="524"/>
              <a:ext cx="962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Packet buffer</a:t>
              </a:r>
            </a:p>
          </p:txBody>
        </p:sp>
        <p:sp>
          <p:nvSpPr>
            <p:cNvPr id="93200" name="Rectangle 15"/>
            <p:cNvSpPr>
              <a:spLocks noChangeArrowheads="1"/>
            </p:cNvSpPr>
            <p:nvPr/>
          </p:nvSpPr>
          <p:spPr bwMode="auto">
            <a:xfrm>
              <a:off x="3351" y="1068"/>
              <a:ext cx="970" cy="40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Transmission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link</a:t>
              </a:r>
            </a:p>
          </p:txBody>
        </p:sp>
        <p:sp>
          <p:nvSpPr>
            <p:cNvPr id="93201" name="Rectangle 16"/>
            <p:cNvSpPr>
              <a:spLocks noChangeArrowheads="1"/>
            </p:cNvSpPr>
            <p:nvPr/>
          </p:nvSpPr>
          <p:spPr bwMode="auto">
            <a:xfrm>
              <a:off x="1383" y="696"/>
              <a:ext cx="610" cy="40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Arriving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packets</a:t>
              </a:r>
            </a:p>
          </p:txBody>
        </p:sp>
        <p:sp>
          <p:nvSpPr>
            <p:cNvPr id="93202" name="Line 17"/>
            <p:cNvSpPr>
              <a:spLocks noChangeShapeType="1"/>
            </p:cNvSpPr>
            <p:nvPr/>
          </p:nvSpPr>
          <p:spPr bwMode="auto">
            <a:xfrm>
              <a:off x="2448" y="948"/>
              <a:ext cx="0" cy="2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3203" name="Rectangle 18"/>
            <p:cNvSpPr>
              <a:spLocks noChangeArrowheads="1"/>
            </p:cNvSpPr>
            <p:nvPr/>
          </p:nvSpPr>
          <p:spPr bwMode="auto">
            <a:xfrm>
              <a:off x="1927" y="1176"/>
              <a:ext cx="1058" cy="40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Packet discard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when full</a:t>
              </a:r>
            </a:p>
          </p:txBody>
        </p:sp>
        <p:sp>
          <p:nvSpPr>
            <p:cNvPr id="93204" name="Rectangle 19"/>
            <p:cNvSpPr>
              <a:spLocks noChangeArrowheads="1"/>
            </p:cNvSpPr>
            <p:nvPr/>
          </p:nvSpPr>
          <p:spPr bwMode="auto">
            <a:xfrm>
              <a:off x="2816" y="2172"/>
              <a:ext cx="688" cy="2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205" name="Line 20"/>
            <p:cNvSpPr>
              <a:spLocks noChangeShapeType="1"/>
            </p:cNvSpPr>
            <p:nvPr/>
          </p:nvSpPr>
          <p:spPr bwMode="auto">
            <a:xfrm>
              <a:off x="3348" y="2172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3206" name="Line 21"/>
            <p:cNvSpPr>
              <a:spLocks noChangeShapeType="1"/>
            </p:cNvSpPr>
            <p:nvPr/>
          </p:nvSpPr>
          <p:spPr bwMode="auto">
            <a:xfrm>
              <a:off x="3428" y="2172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3207" name="Line 22"/>
            <p:cNvSpPr>
              <a:spLocks noChangeShapeType="1"/>
            </p:cNvSpPr>
            <p:nvPr/>
          </p:nvSpPr>
          <p:spPr bwMode="auto">
            <a:xfrm>
              <a:off x="3172" y="2172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3208" name="Line 23"/>
            <p:cNvSpPr>
              <a:spLocks noChangeShapeType="1"/>
            </p:cNvSpPr>
            <p:nvPr/>
          </p:nvSpPr>
          <p:spPr bwMode="auto">
            <a:xfrm>
              <a:off x="3252" y="2172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3209" name="Line 24"/>
            <p:cNvSpPr>
              <a:spLocks noChangeShapeType="1"/>
            </p:cNvSpPr>
            <p:nvPr/>
          </p:nvSpPr>
          <p:spPr bwMode="auto">
            <a:xfrm>
              <a:off x="2996" y="2172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3210" name="Line 25"/>
            <p:cNvSpPr>
              <a:spLocks noChangeShapeType="1"/>
            </p:cNvSpPr>
            <p:nvPr/>
          </p:nvSpPr>
          <p:spPr bwMode="auto">
            <a:xfrm>
              <a:off x="3076" y="2172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3211" name="Oval 26"/>
            <p:cNvSpPr>
              <a:spLocks noChangeArrowheads="1"/>
            </p:cNvSpPr>
            <p:nvPr/>
          </p:nvSpPr>
          <p:spPr bwMode="auto">
            <a:xfrm>
              <a:off x="3712" y="2180"/>
              <a:ext cx="184" cy="176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212" name="Line 27"/>
            <p:cNvSpPr>
              <a:spLocks noChangeShapeType="1"/>
            </p:cNvSpPr>
            <p:nvPr/>
          </p:nvSpPr>
          <p:spPr bwMode="auto">
            <a:xfrm>
              <a:off x="3512" y="2272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3213" name="Line 28"/>
            <p:cNvSpPr>
              <a:spLocks noChangeShapeType="1"/>
            </p:cNvSpPr>
            <p:nvPr/>
          </p:nvSpPr>
          <p:spPr bwMode="auto">
            <a:xfrm>
              <a:off x="3928" y="2272"/>
              <a:ext cx="5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3214" name="Line 29"/>
            <p:cNvSpPr>
              <a:spLocks noChangeShapeType="1"/>
            </p:cNvSpPr>
            <p:nvPr/>
          </p:nvSpPr>
          <p:spPr bwMode="auto">
            <a:xfrm>
              <a:off x="2120" y="2272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3215" name="Rectangle 30"/>
            <p:cNvSpPr>
              <a:spLocks noChangeArrowheads="1"/>
            </p:cNvSpPr>
            <p:nvPr/>
          </p:nvSpPr>
          <p:spPr bwMode="auto">
            <a:xfrm>
              <a:off x="2699" y="1892"/>
              <a:ext cx="962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Packet buffer</a:t>
              </a:r>
            </a:p>
          </p:txBody>
        </p:sp>
        <p:sp>
          <p:nvSpPr>
            <p:cNvPr id="93216" name="Rectangle 31"/>
            <p:cNvSpPr>
              <a:spLocks noChangeArrowheads="1"/>
            </p:cNvSpPr>
            <p:nvPr/>
          </p:nvSpPr>
          <p:spPr bwMode="auto">
            <a:xfrm>
              <a:off x="3423" y="2372"/>
              <a:ext cx="970" cy="40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Transmission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link</a:t>
              </a:r>
            </a:p>
          </p:txBody>
        </p:sp>
        <p:sp>
          <p:nvSpPr>
            <p:cNvPr id="93217" name="Rectangle 32"/>
            <p:cNvSpPr>
              <a:spLocks noChangeArrowheads="1"/>
            </p:cNvSpPr>
            <p:nvPr/>
          </p:nvSpPr>
          <p:spPr bwMode="auto">
            <a:xfrm>
              <a:off x="1383" y="2072"/>
              <a:ext cx="610" cy="40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Arriving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packets</a:t>
              </a:r>
            </a:p>
          </p:txBody>
        </p:sp>
        <p:sp>
          <p:nvSpPr>
            <p:cNvPr id="93218" name="Line 33"/>
            <p:cNvSpPr>
              <a:spLocks noChangeShapeType="1"/>
            </p:cNvSpPr>
            <p:nvPr/>
          </p:nvSpPr>
          <p:spPr bwMode="auto">
            <a:xfrm>
              <a:off x="2376" y="2324"/>
              <a:ext cx="0" cy="2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3219" name="Rectangle 34"/>
            <p:cNvSpPr>
              <a:spLocks noChangeArrowheads="1"/>
            </p:cNvSpPr>
            <p:nvPr/>
          </p:nvSpPr>
          <p:spPr bwMode="auto">
            <a:xfrm>
              <a:off x="2027" y="2824"/>
              <a:ext cx="682" cy="57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Class 1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discard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when full</a:t>
              </a:r>
            </a:p>
          </p:txBody>
        </p:sp>
        <p:sp>
          <p:nvSpPr>
            <p:cNvPr id="93220" name="Rectangle 35"/>
            <p:cNvSpPr>
              <a:spLocks noChangeArrowheads="1"/>
            </p:cNvSpPr>
            <p:nvPr/>
          </p:nvSpPr>
          <p:spPr bwMode="auto">
            <a:xfrm>
              <a:off x="2766" y="2840"/>
              <a:ext cx="1098" cy="57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Class 2 discard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when threshold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exceeded</a:t>
              </a:r>
            </a:p>
          </p:txBody>
        </p:sp>
        <p:sp>
          <p:nvSpPr>
            <p:cNvPr id="93221" name="Line 36"/>
            <p:cNvSpPr>
              <a:spLocks noChangeShapeType="1"/>
            </p:cNvSpPr>
            <p:nvPr/>
          </p:nvSpPr>
          <p:spPr bwMode="auto">
            <a:xfrm>
              <a:off x="3264" y="2396"/>
              <a:ext cx="0" cy="2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3222" name="Text Box 37"/>
            <p:cNvSpPr txBox="1">
              <a:spLocks noChangeArrowheads="1"/>
            </p:cNvSpPr>
            <p:nvPr/>
          </p:nvSpPr>
          <p:spPr bwMode="auto">
            <a:xfrm>
              <a:off x="1046" y="375"/>
              <a:ext cx="3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(a)</a:t>
              </a:r>
            </a:p>
          </p:txBody>
        </p:sp>
        <p:sp>
          <p:nvSpPr>
            <p:cNvPr id="93223" name="Text Box 38"/>
            <p:cNvSpPr txBox="1">
              <a:spLocks noChangeArrowheads="1"/>
            </p:cNvSpPr>
            <p:nvPr/>
          </p:nvSpPr>
          <p:spPr bwMode="auto">
            <a:xfrm>
              <a:off x="1062" y="1775"/>
              <a:ext cx="3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(b)</a:t>
              </a:r>
            </a:p>
          </p:txBody>
        </p:sp>
      </p:grpSp>
      <p:sp>
        <p:nvSpPr>
          <p:cNvPr id="93187" name="Rectangle 4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500" smtClean="0"/>
              <a:t>FIFO Queueing with Discard Priority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6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HOL Priority Queueing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" y="4494213"/>
            <a:ext cx="8229600" cy="2265362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sz="2200" smtClean="0"/>
              <a:t>High priority queue serviced until empty</a:t>
            </a:r>
          </a:p>
          <a:p>
            <a:pPr eaLnBrk="1" hangingPunct="1"/>
            <a:r>
              <a:rPr lang="en-US" sz="2200" smtClean="0"/>
              <a:t>High priority queue has lower waiting time</a:t>
            </a:r>
          </a:p>
          <a:p>
            <a:pPr eaLnBrk="1" hangingPunct="1"/>
            <a:r>
              <a:rPr lang="en-US" sz="2200" smtClean="0"/>
              <a:t>Buffers can be dimensioned for different loss probabilities</a:t>
            </a:r>
          </a:p>
          <a:p>
            <a:pPr eaLnBrk="1" hangingPunct="1"/>
            <a:r>
              <a:rPr lang="en-US" sz="2200" smtClean="0"/>
              <a:t>Surge in high priority queue can cause low priority queue to saturate</a:t>
            </a:r>
          </a:p>
        </p:txBody>
      </p:sp>
      <p:grpSp>
        <p:nvGrpSpPr>
          <p:cNvPr id="94212" name="Group 34"/>
          <p:cNvGrpSpPr>
            <a:grpSpLocks/>
          </p:cNvGrpSpPr>
          <p:nvPr/>
        </p:nvGrpSpPr>
        <p:grpSpPr bwMode="auto">
          <a:xfrm>
            <a:off x="1287463" y="1296988"/>
            <a:ext cx="6510337" cy="3041650"/>
            <a:chOff x="555" y="560"/>
            <a:chExt cx="4101" cy="1916"/>
          </a:xfrm>
        </p:grpSpPr>
        <p:sp>
          <p:nvSpPr>
            <p:cNvPr id="94213" name="Rectangle 35"/>
            <p:cNvSpPr>
              <a:spLocks noChangeArrowheads="1"/>
            </p:cNvSpPr>
            <p:nvPr/>
          </p:nvSpPr>
          <p:spPr bwMode="auto">
            <a:xfrm>
              <a:off x="2144" y="1140"/>
              <a:ext cx="688" cy="2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214" name="Line 36"/>
            <p:cNvSpPr>
              <a:spLocks noChangeShapeType="1"/>
            </p:cNvSpPr>
            <p:nvPr/>
          </p:nvSpPr>
          <p:spPr bwMode="auto">
            <a:xfrm>
              <a:off x="2664" y="1140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4215" name="Line 37"/>
            <p:cNvSpPr>
              <a:spLocks noChangeShapeType="1"/>
            </p:cNvSpPr>
            <p:nvPr/>
          </p:nvSpPr>
          <p:spPr bwMode="auto">
            <a:xfrm>
              <a:off x="2744" y="1140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4216" name="Line 38"/>
            <p:cNvSpPr>
              <a:spLocks noChangeShapeType="1"/>
            </p:cNvSpPr>
            <p:nvPr/>
          </p:nvSpPr>
          <p:spPr bwMode="auto">
            <a:xfrm>
              <a:off x="2500" y="1140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4217" name="Line 39"/>
            <p:cNvSpPr>
              <a:spLocks noChangeShapeType="1"/>
            </p:cNvSpPr>
            <p:nvPr/>
          </p:nvSpPr>
          <p:spPr bwMode="auto">
            <a:xfrm>
              <a:off x="2580" y="1140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4218" name="Line 40"/>
            <p:cNvSpPr>
              <a:spLocks noChangeShapeType="1"/>
            </p:cNvSpPr>
            <p:nvPr/>
          </p:nvSpPr>
          <p:spPr bwMode="auto">
            <a:xfrm>
              <a:off x="2324" y="1140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4219" name="Line 41"/>
            <p:cNvSpPr>
              <a:spLocks noChangeShapeType="1"/>
            </p:cNvSpPr>
            <p:nvPr/>
          </p:nvSpPr>
          <p:spPr bwMode="auto">
            <a:xfrm>
              <a:off x="2404" y="1140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4220" name="Oval 42"/>
            <p:cNvSpPr>
              <a:spLocks noChangeArrowheads="1"/>
            </p:cNvSpPr>
            <p:nvPr/>
          </p:nvSpPr>
          <p:spPr bwMode="auto">
            <a:xfrm>
              <a:off x="3880" y="1376"/>
              <a:ext cx="184" cy="176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221" name="Line 43"/>
            <p:cNvSpPr>
              <a:spLocks noChangeShapeType="1"/>
            </p:cNvSpPr>
            <p:nvPr/>
          </p:nvSpPr>
          <p:spPr bwMode="auto">
            <a:xfrm>
              <a:off x="3680" y="1468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4222" name="Line 44"/>
            <p:cNvSpPr>
              <a:spLocks noChangeShapeType="1"/>
            </p:cNvSpPr>
            <p:nvPr/>
          </p:nvSpPr>
          <p:spPr bwMode="auto">
            <a:xfrm>
              <a:off x="4096" y="1468"/>
              <a:ext cx="5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4223" name="Line 45"/>
            <p:cNvSpPr>
              <a:spLocks noChangeShapeType="1"/>
            </p:cNvSpPr>
            <p:nvPr/>
          </p:nvSpPr>
          <p:spPr bwMode="auto">
            <a:xfrm>
              <a:off x="1448" y="1240"/>
              <a:ext cx="6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4224" name="Rectangle 46"/>
            <p:cNvSpPr>
              <a:spLocks noChangeArrowheads="1"/>
            </p:cNvSpPr>
            <p:nvPr/>
          </p:nvSpPr>
          <p:spPr bwMode="auto">
            <a:xfrm>
              <a:off x="3433" y="944"/>
              <a:ext cx="1066" cy="4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Transmission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link</a:t>
              </a:r>
            </a:p>
          </p:txBody>
        </p:sp>
        <p:sp>
          <p:nvSpPr>
            <p:cNvPr id="94225" name="Line 47"/>
            <p:cNvSpPr>
              <a:spLocks noChangeShapeType="1"/>
            </p:cNvSpPr>
            <p:nvPr/>
          </p:nvSpPr>
          <p:spPr bwMode="auto">
            <a:xfrm>
              <a:off x="1776" y="944"/>
              <a:ext cx="0" cy="2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4226" name="Rectangle 48"/>
            <p:cNvSpPr>
              <a:spLocks noChangeArrowheads="1"/>
            </p:cNvSpPr>
            <p:nvPr/>
          </p:nvSpPr>
          <p:spPr bwMode="auto">
            <a:xfrm>
              <a:off x="1151" y="560"/>
              <a:ext cx="1163" cy="4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Packet discard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when full</a:t>
              </a:r>
            </a:p>
          </p:txBody>
        </p:sp>
        <p:sp>
          <p:nvSpPr>
            <p:cNvPr id="94227" name="Rectangle 49"/>
            <p:cNvSpPr>
              <a:spLocks noChangeArrowheads="1"/>
            </p:cNvSpPr>
            <p:nvPr/>
          </p:nvSpPr>
          <p:spPr bwMode="auto">
            <a:xfrm>
              <a:off x="555" y="1028"/>
              <a:ext cx="977" cy="4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High-priority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packets</a:t>
              </a:r>
            </a:p>
          </p:txBody>
        </p:sp>
        <p:sp>
          <p:nvSpPr>
            <p:cNvPr id="94228" name="Rectangle 50"/>
            <p:cNvSpPr>
              <a:spLocks noChangeArrowheads="1"/>
            </p:cNvSpPr>
            <p:nvPr/>
          </p:nvSpPr>
          <p:spPr bwMode="auto">
            <a:xfrm>
              <a:off x="2144" y="1704"/>
              <a:ext cx="688" cy="2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229" name="Line 51"/>
            <p:cNvSpPr>
              <a:spLocks noChangeShapeType="1"/>
            </p:cNvSpPr>
            <p:nvPr/>
          </p:nvSpPr>
          <p:spPr bwMode="auto">
            <a:xfrm>
              <a:off x="2664" y="1704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4230" name="Line 52"/>
            <p:cNvSpPr>
              <a:spLocks noChangeShapeType="1"/>
            </p:cNvSpPr>
            <p:nvPr/>
          </p:nvSpPr>
          <p:spPr bwMode="auto">
            <a:xfrm>
              <a:off x="2744" y="1704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4231" name="Line 53"/>
            <p:cNvSpPr>
              <a:spLocks noChangeShapeType="1"/>
            </p:cNvSpPr>
            <p:nvPr/>
          </p:nvSpPr>
          <p:spPr bwMode="auto">
            <a:xfrm>
              <a:off x="2500" y="1704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4232" name="Line 54"/>
            <p:cNvSpPr>
              <a:spLocks noChangeShapeType="1"/>
            </p:cNvSpPr>
            <p:nvPr/>
          </p:nvSpPr>
          <p:spPr bwMode="auto">
            <a:xfrm>
              <a:off x="2580" y="1704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4233" name="Line 55"/>
            <p:cNvSpPr>
              <a:spLocks noChangeShapeType="1"/>
            </p:cNvSpPr>
            <p:nvPr/>
          </p:nvSpPr>
          <p:spPr bwMode="auto">
            <a:xfrm>
              <a:off x="2324" y="1704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4234" name="Line 56"/>
            <p:cNvSpPr>
              <a:spLocks noChangeShapeType="1"/>
            </p:cNvSpPr>
            <p:nvPr/>
          </p:nvSpPr>
          <p:spPr bwMode="auto">
            <a:xfrm>
              <a:off x="2404" y="1704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4235" name="Line 57"/>
            <p:cNvSpPr>
              <a:spLocks noChangeShapeType="1"/>
            </p:cNvSpPr>
            <p:nvPr/>
          </p:nvSpPr>
          <p:spPr bwMode="auto">
            <a:xfrm>
              <a:off x="1440" y="1796"/>
              <a:ext cx="680" cy="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4236" name="Line 58"/>
            <p:cNvSpPr>
              <a:spLocks noChangeShapeType="1"/>
            </p:cNvSpPr>
            <p:nvPr/>
          </p:nvSpPr>
          <p:spPr bwMode="auto">
            <a:xfrm>
              <a:off x="1776" y="1832"/>
              <a:ext cx="0" cy="2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4237" name="Rectangle 59"/>
            <p:cNvSpPr>
              <a:spLocks noChangeArrowheads="1"/>
            </p:cNvSpPr>
            <p:nvPr/>
          </p:nvSpPr>
          <p:spPr bwMode="auto">
            <a:xfrm>
              <a:off x="555" y="1628"/>
              <a:ext cx="941" cy="4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Low-priority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packets</a:t>
              </a:r>
            </a:p>
          </p:txBody>
        </p:sp>
        <p:sp>
          <p:nvSpPr>
            <p:cNvPr id="94238" name="Rectangle 60"/>
            <p:cNvSpPr>
              <a:spLocks noChangeArrowheads="1"/>
            </p:cNvSpPr>
            <p:nvPr/>
          </p:nvSpPr>
          <p:spPr bwMode="auto">
            <a:xfrm>
              <a:off x="1199" y="2036"/>
              <a:ext cx="1163" cy="4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Packet discard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when full</a:t>
              </a:r>
            </a:p>
          </p:txBody>
        </p:sp>
        <p:sp>
          <p:nvSpPr>
            <p:cNvPr id="94239" name="Line 61"/>
            <p:cNvSpPr>
              <a:spLocks noChangeShapeType="1"/>
            </p:cNvSpPr>
            <p:nvPr/>
          </p:nvSpPr>
          <p:spPr bwMode="auto">
            <a:xfrm>
              <a:off x="2960" y="1316"/>
              <a:ext cx="680" cy="1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4240" name="Arc 62"/>
            <p:cNvSpPr>
              <a:spLocks/>
            </p:cNvSpPr>
            <p:nvPr/>
          </p:nvSpPr>
          <p:spPr bwMode="auto">
            <a:xfrm>
              <a:off x="3105" y="1197"/>
              <a:ext cx="220" cy="4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708"/>
                    <a:pt x="9611" y="54"/>
                    <a:pt x="21502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708"/>
                    <a:pt x="9611" y="54"/>
                    <a:pt x="21502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241" name="Rectangle 63"/>
            <p:cNvSpPr>
              <a:spLocks noChangeArrowheads="1"/>
            </p:cNvSpPr>
            <p:nvPr/>
          </p:nvSpPr>
          <p:spPr bwMode="auto">
            <a:xfrm>
              <a:off x="2943" y="1640"/>
              <a:ext cx="1171" cy="6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When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high-priority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queue empty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HOL Priority Features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Provides differential QoS</a:t>
            </a:r>
          </a:p>
          <a:p>
            <a:pPr eaLnBrk="1" hangingPunct="1"/>
            <a:r>
              <a:rPr lang="en-US" sz="2400" smtClean="0"/>
              <a:t>Pre-emptive priority:  lower classes invisible</a:t>
            </a:r>
          </a:p>
          <a:p>
            <a:pPr eaLnBrk="1" hangingPunct="1"/>
            <a:r>
              <a:rPr lang="en-US" sz="2400" smtClean="0"/>
              <a:t>Non-preemptive priority:  lower classes impact higher classes through residual service times</a:t>
            </a:r>
          </a:p>
          <a:p>
            <a:pPr eaLnBrk="1" hangingPunct="1"/>
            <a:r>
              <a:rPr lang="en-US" sz="2400" smtClean="0"/>
              <a:t>High-priority classes can hog all of the bandwidth &amp; starve lower priority classes</a:t>
            </a:r>
          </a:p>
          <a:p>
            <a:pPr eaLnBrk="1" hangingPunct="1"/>
            <a:r>
              <a:rPr lang="en-US" sz="2400" smtClean="0"/>
              <a:t>Need to provide some isolation between classes</a:t>
            </a:r>
          </a:p>
          <a:p>
            <a:pPr eaLnBrk="1" hangingPunct="1"/>
            <a:endParaRPr lang="en-US" sz="2400" smtClean="0"/>
          </a:p>
        </p:txBody>
      </p:sp>
      <p:grpSp>
        <p:nvGrpSpPr>
          <p:cNvPr id="95236" name="Group 13"/>
          <p:cNvGrpSpPr>
            <a:grpSpLocks/>
          </p:cNvGrpSpPr>
          <p:nvPr/>
        </p:nvGrpSpPr>
        <p:grpSpPr bwMode="auto">
          <a:xfrm>
            <a:off x="376238" y="2362200"/>
            <a:ext cx="3890962" cy="4065588"/>
            <a:chOff x="237" y="1488"/>
            <a:chExt cx="2451" cy="2561"/>
          </a:xfrm>
        </p:grpSpPr>
        <p:sp>
          <p:nvSpPr>
            <p:cNvPr id="95239" name="Line 4"/>
            <p:cNvSpPr>
              <a:spLocks noChangeShapeType="1"/>
            </p:cNvSpPr>
            <p:nvPr/>
          </p:nvSpPr>
          <p:spPr bwMode="auto">
            <a:xfrm flipH="1">
              <a:off x="624" y="1488"/>
              <a:ext cx="0" cy="2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5240" name="Line 5"/>
            <p:cNvSpPr>
              <a:spLocks noChangeShapeType="1"/>
            </p:cNvSpPr>
            <p:nvPr/>
          </p:nvSpPr>
          <p:spPr bwMode="auto">
            <a:xfrm>
              <a:off x="624" y="3744"/>
              <a:ext cx="20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5241" name="Freeform 6"/>
            <p:cNvSpPr>
              <a:spLocks/>
            </p:cNvSpPr>
            <p:nvPr/>
          </p:nvSpPr>
          <p:spPr bwMode="auto">
            <a:xfrm>
              <a:off x="624" y="3504"/>
              <a:ext cx="2016" cy="240"/>
            </a:xfrm>
            <a:custGeom>
              <a:avLst/>
              <a:gdLst>
                <a:gd name="T0" fmla="*/ 0 w 2016"/>
                <a:gd name="T1" fmla="*/ 240 h 240"/>
                <a:gd name="T2" fmla="*/ 1344 w 2016"/>
                <a:gd name="T3" fmla="*/ 144 h 240"/>
                <a:gd name="T4" fmla="*/ 2016 w 2016"/>
                <a:gd name="T5" fmla="*/ 0 h 240"/>
                <a:gd name="T6" fmla="*/ 0 60000 65536"/>
                <a:gd name="T7" fmla="*/ 0 60000 65536"/>
                <a:gd name="T8" fmla="*/ 0 60000 65536"/>
                <a:gd name="T9" fmla="*/ 0 w 2016"/>
                <a:gd name="T10" fmla="*/ 0 h 240"/>
                <a:gd name="T11" fmla="*/ 2016 w 2016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16" h="240">
                  <a:moveTo>
                    <a:pt x="0" y="240"/>
                  </a:moveTo>
                  <a:cubicBezTo>
                    <a:pt x="504" y="212"/>
                    <a:pt x="1008" y="184"/>
                    <a:pt x="1344" y="144"/>
                  </a:cubicBezTo>
                  <a:cubicBezTo>
                    <a:pt x="1680" y="104"/>
                    <a:pt x="1848" y="52"/>
                    <a:pt x="2016" y="0"/>
                  </a:cubicBezTo>
                </a:path>
              </a:pathLst>
            </a:custGeom>
            <a:noFill/>
            <a:ln w="9525">
              <a:solidFill>
                <a:srgbClr val="66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5242" name="Freeform 7"/>
            <p:cNvSpPr>
              <a:spLocks/>
            </p:cNvSpPr>
            <p:nvPr/>
          </p:nvSpPr>
          <p:spPr bwMode="auto">
            <a:xfrm>
              <a:off x="624" y="2976"/>
              <a:ext cx="1920" cy="768"/>
            </a:xfrm>
            <a:custGeom>
              <a:avLst/>
              <a:gdLst>
                <a:gd name="T0" fmla="*/ 0 w 1920"/>
                <a:gd name="T1" fmla="*/ 768 h 768"/>
                <a:gd name="T2" fmla="*/ 1200 w 1920"/>
                <a:gd name="T3" fmla="*/ 480 h 768"/>
                <a:gd name="T4" fmla="*/ 1920 w 1920"/>
                <a:gd name="T5" fmla="*/ 0 h 768"/>
                <a:gd name="T6" fmla="*/ 0 60000 65536"/>
                <a:gd name="T7" fmla="*/ 0 60000 65536"/>
                <a:gd name="T8" fmla="*/ 0 60000 65536"/>
                <a:gd name="T9" fmla="*/ 0 w 1920"/>
                <a:gd name="T10" fmla="*/ 0 h 768"/>
                <a:gd name="T11" fmla="*/ 1920 w 1920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0" h="768">
                  <a:moveTo>
                    <a:pt x="0" y="768"/>
                  </a:moveTo>
                  <a:cubicBezTo>
                    <a:pt x="440" y="688"/>
                    <a:pt x="880" y="608"/>
                    <a:pt x="1200" y="480"/>
                  </a:cubicBezTo>
                  <a:cubicBezTo>
                    <a:pt x="1520" y="352"/>
                    <a:pt x="1720" y="176"/>
                    <a:pt x="1920" y="0"/>
                  </a:cubicBezTo>
                </a:path>
              </a:pathLst>
            </a:custGeom>
            <a:noFill/>
            <a:ln w="9525">
              <a:solidFill>
                <a:srgbClr val="FF33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5243" name="Freeform 8"/>
            <p:cNvSpPr>
              <a:spLocks/>
            </p:cNvSpPr>
            <p:nvPr/>
          </p:nvSpPr>
          <p:spPr bwMode="auto">
            <a:xfrm>
              <a:off x="624" y="1776"/>
              <a:ext cx="1152" cy="1968"/>
            </a:xfrm>
            <a:custGeom>
              <a:avLst/>
              <a:gdLst>
                <a:gd name="T0" fmla="*/ 0 w 1152"/>
                <a:gd name="T1" fmla="*/ 1968 h 1968"/>
                <a:gd name="T2" fmla="*/ 576 w 1152"/>
                <a:gd name="T3" fmla="*/ 1728 h 1968"/>
                <a:gd name="T4" fmla="*/ 912 w 1152"/>
                <a:gd name="T5" fmla="*/ 1344 h 1968"/>
                <a:gd name="T6" fmla="*/ 1152 w 1152"/>
                <a:gd name="T7" fmla="*/ 0 h 196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52"/>
                <a:gd name="T13" fmla="*/ 0 h 1968"/>
                <a:gd name="T14" fmla="*/ 1152 w 1152"/>
                <a:gd name="T15" fmla="*/ 1968 h 196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52" h="1968">
                  <a:moveTo>
                    <a:pt x="0" y="1968"/>
                  </a:moveTo>
                  <a:cubicBezTo>
                    <a:pt x="212" y="1900"/>
                    <a:pt x="424" y="1832"/>
                    <a:pt x="576" y="1728"/>
                  </a:cubicBezTo>
                  <a:cubicBezTo>
                    <a:pt x="728" y="1624"/>
                    <a:pt x="816" y="1632"/>
                    <a:pt x="912" y="1344"/>
                  </a:cubicBezTo>
                  <a:cubicBezTo>
                    <a:pt x="1008" y="1056"/>
                    <a:pt x="1080" y="528"/>
                    <a:pt x="1152" y="0"/>
                  </a:cubicBezTo>
                </a:path>
              </a:pathLst>
            </a:custGeom>
            <a:noFill/>
            <a:ln w="9525">
              <a:solidFill>
                <a:srgbClr val="FF99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5244" name="Text Box 9"/>
            <p:cNvSpPr txBox="1">
              <a:spLocks noChangeArrowheads="1"/>
            </p:cNvSpPr>
            <p:nvPr/>
          </p:nvSpPr>
          <p:spPr bwMode="auto">
            <a:xfrm rot="-5400000">
              <a:off x="99" y="1934"/>
              <a:ext cx="5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Delay</a:t>
              </a:r>
            </a:p>
          </p:txBody>
        </p:sp>
        <p:sp>
          <p:nvSpPr>
            <p:cNvPr id="95245" name="Text Box 10"/>
            <p:cNvSpPr txBox="1">
              <a:spLocks noChangeArrowheads="1"/>
            </p:cNvSpPr>
            <p:nvPr/>
          </p:nvSpPr>
          <p:spPr bwMode="auto">
            <a:xfrm>
              <a:off x="902" y="3799"/>
              <a:ext cx="121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Per-class loads</a:t>
              </a:r>
            </a:p>
          </p:txBody>
        </p:sp>
      </p:grpSp>
      <p:sp>
        <p:nvSpPr>
          <p:cNvPr id="95237" name="Text Box 14"/>
          <p:cNvSpPr txBox="1">
            <a:spLocks noChangeArrowheads="1"/>
          </p:cNvSpPr>
          <p:nvPr/>
        </p:nvSpPr>
        <p:spPr bwMode="auto">
          <a:xfrm>
            <a:off x="1130300" y="3059113"/>
            <a:ext cx="2395538" cy="3968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buClr>
                <a:schemeClr val="bg1"/>
              </a:buClr>
            </a:pPr>
            <a:r>
              <a:rPr lang="en-US">
                <a:solidFill>
                  <a:srgbClr val="FF3300"/>
                </a:solidFill>
                <a:latin typeface="Times New Roman" pitchFamily="18" charset="0"/>
              </a:rPr>
              <a:t>(Note: Need labeling)</a:t>
            </a:r>
          </a:p>
        </p:txBody>
      </p:sp>
      <p:sp>
        <p:nvSpPr>
          <p:cNvPr id="95238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4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Earliest Due Date Scheduling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sz="half" idx="2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sz="2600" smtClean="0"/>
              <a:t>Queue in order of “due date”</a:t>
            </a:r>
          </a:p>
          <a:p>
            <a:pPr marL="742950" lvl="1" indent="-285750" eaLnBrk="1" hangingPunct="1"/>
            <a:r>
              <a:rPr lang="en-US" sz="2400" smtClean="0"/>
              <a:t>packets requiring low delay get earlier due date</a:t>
            </a:r>
          </a:p>
          <a:p>
            <a:pPr marL="742950" lvl="1" indent="-285750" eaLnBrk="1" hangingPunct="1"/>
            <a:r>
              <a:rPr lang="en-US" sz="2400" smtClean="0"/>
              <a:t>packets without delay get indefinite or very long due dates</a:t>
            </a:r>
          </a:p>
        </p:txBody>
      </p:sp>
      <p:grpSp>
        <p:nvGrpSpPr>
          <p:cNvPr id="96260" name="Group 23"/>
          <p:cNvGrpSpPr>
            <a:grpSpLocks/>
          </p:cNvGrpSpPr>
          <p:nvPr/>
        </p:nvGrpSpPr>
        <p:grpSpPr bwMode="auto">
          <a:xfrm>
            <a:off x="1046163" y="1806575"/>
            <a:ext cx="7005637" cy="1746250"/>
            <a:chOff x="507" y="1016"/>
            <a:chExt cx="4413" cy="1100"/>
          </a:xfrm>
        </p:grpSpPr>
        <p:sp>
          <p:nvSpPr>
            <p:cNvPr id="96262" name="Rectangle 24"/>
            <p:cNvSpPr>
              <a:spLocks noChangeArrowheads="1"/>
            </p:cNvSpPr>
            <p:nvPr/>
          </p:nvSpPr>
          <p:spPr bwMode="auto">
            <a:xfrm>
              <a:off x="3224" y="1296"/>
              <a:ext cx="688" cy="2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263" name="Line 25"/>
            <p:cNvSpPr>
              <a:spLocks noChangeShapeType="1"/>
            </p:cNvSpPr>
            <p:nvPr/>
          </p:nvSpPr>
          <p:spPr bwMode="auto">
            <a:xfrm>
              <a:off x="3756" y="1296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6264" name="Line 26"/>
            <p:cNvSpPr>
              <a:spLocks noChangeShapeType="1"/>
            </p:cNvSpPr>
            <p:nvPr/>
          </p:nvSpPr>
          <p:spPr bwMode="auto">
            <a:xfrm>
              <a:off x="3836" y="1296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6265" name="Line 27"/>
            <p:cNvSpPr>
              <a:spLocks noChangeShapeType="1"/>
            </p:cNvSpPr>
            <p:nvPr/>
          </p:nvSpPr>
          <p:spPr bwMode="auto">
            <a:xfrm>
              <a:off x="3580" y="1296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6266" name="Line 28"/>
            <p:cNvSpPr>
              <a:spLocks noChangeShapeType="1"/>
            </p:cNvSpPr>
            <p:nvPr/>
          </p:nvSpPr>
          <p:spPr bwMode="auto">
            <a:xfrm>
              <a:off x="3660" y="1296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6267" name="Line 29"/>
            <p:cNvSpPr>
              <a:spLocks noChangeShapeType="1"/>
            </p:cNvSpPr>
            <p:nvPr/>
          </p:nvSpPr>
          <p:spPr bwMode="auto">
            <a:xfrm>
              <a:off x="3404" y="1296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6268" name="Line 30"/>
            <p:cNvSpPr>
              <a:spLocks noChangeShapeType="1"/>
            </p:cNvSpPr>
            <p:nvPr/>
          </p:nvSpPr>
          <p:spPr bwMode="auto">
            <a:xfrm>
              <a:off x="3484" y="1296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6269" name="Oval 31"/>
            <p:cNvSpPr>
              <a:spLocks noChangeArrowheads="1"/>
            </p:cNvSpPr>
            <p:nvPr/>
          </p:nvSpPr>
          <p:spPr bwMode="auto">
            <a:xfrm>
              <a:off x="4120" y="1304"/>
              <a:ext cx="184" cy="176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270" name="Line 32"/>
            <p:cNvSpPr>
              <a:spLocks noChangeShapeType="1"/>
            </p:cNvSpPr>
            <p:nvPr/>
          </p:nvSpPr>
          <p:spPr bwMode="auto">
            <a:xfrm>
              <a:off x="3920" y="1396"/>
              <a:ext cx="192" cy="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6271" name="Line 33"/>
            <p:cNvSpPr>
              <a:spLocks noChangeShapeType="1"/>
            </p:cNvSpPr>
            <p:nvPr/>
          </p:nvSpPr>
          <p:spPr bwMode="auto">
            <a:xfrm>
              <a:off x="4312" y="1388"/>
              <a:ext cx="608" cy="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6272" name="Line 34"/>
            <p:cNvSpPr>
              <a:spLocks noChangeShapeType="1"/>
            </p:cNvSpPr>
            <p:nvPr/>
          </p:nvSpPr>
          <p:spPr bwMode="auto">
            <a:xfrm>
              <a:off x="2528" y="1388"/>
              <a:ext cx="672" cy="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6273" name="Rectangle 35"/>
            <p:cNvSpPr>
              <a:spLocks noChangeArrowheads="1"/>
            </p:cNvSpPr>
            <p:nvPr/>
          </p:nvSpPr>
          <p:spPr bwMode="auto">
            <a:xfrm>
              <a:off x="2731" y="1016"/>
              <a:ext cx="155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Sorted packet buffer</a:t>
              </a:r>
            </a:p>
          </p:txBody>
        </p:sp>
        <p:sp>
          <p:nvSpPr>
            <p:cNvPr id="96274" name="Rectangle 36"/>
            <p:cNvSpPr>
              <a:spLocks noChangeArrowheads="1"/>
            </p:cNvSpPr>
            <p:nvPr/>
          </p:nvSpPr>
          <p:spPr bwMode="auto">
            <a:xfrm>
              <a:off x="3655" y="1560"/>
              <a:ext cx="1066" cy="4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Transmission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link</a:t>
              </a:r>
            </a:p>
          </p:txBody>
        </p:sp>
        <p:sp>
          <p:nvSpPr>
            <p:cNvPr id="96275" name="Rectangle 37"/>
            <p:cNvSpPr>
              <a:spLocks noChangeArrowheads="1"/>
            </p:cNvSpPr>
            <p:nvPr/>
          </p:nvSpPr>
          <p:spPr bwMode="auto">
            <a:xfrm>
              <a:off x="507" y="1124"/>
              <a:ext cx="665" cy="4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Arriving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packets</a:t>
              </a:r>
            </a:p>
          </p:txBody>
        </p:sp>
        <p:sp>
          <p:nvSpPr>
            <p:cNvPr id="96276" name="Line 38"/>
            <p:cNvSpPr>
              <a:spLocks noChangeShapeType="1"/>
            </p:cNvSpPr>
            <p:nvPr/>
          </p:nvSpPr>
          <p:spPr bwMode="auto">
            <a:xfrm>
              <a:off x="2856" y="1448"/>
              <a:ext cx="0" cy="2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6277" name="Rectangle 39"/>
            <p:cNvSpPr>
              <a:spLocks noChangeArrowheads="1"/>
            </p:cNvSpPr>
            <p:nvPr/>
          </p:nvSpPr>
          <p:spPr bwMode="auto">
            <a:xfrm>
              <a:off x="2283" y="1676"/>
              <a:ext cx="1163" cy="4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Packet discard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when full</a:t>
              </a:r>
            </a:p>
          </p:txBody>
        </p:sp>
        <p:sp>
          <p:nvSpPr>
            <p:cNvPr id="96278" name="Line 40"/>
            <p:cNvSpPr>
              <a:spLocks noChangeShapeType="1"/>
            </p:cNvSpPr>
            <p:nvPr/>
          </p:nvSpPr>
          <p:spPr bwMode="auto">
            <a:xfrm>
              <a:off x="1184" y="1404"/>
              <a:ext cx="4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6279" name="Rectangle 41"/>
            <p:cNvSpPr>
              <a:spLocks noChangeArrowheads="1"/>
            </p:cNvSpPr>
            <p:nvPr/>
          </p:nvSpPr>
          <p:spPr bwMode="auto">
            <a:xfrm>
              <a:off x="1724" y="1196"/>
              <a:ext cx="764" cy="464"/>
            </a:xfrm>
            <a:prstGeom prst="rect">
              <a:avLst/>
            </a:prstGeom>
            <a:solidFill>
              <a:srgbClr val="B1CCCB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280" name="Rectangle 42"/>
            <p:cNvSpPr>
              <a:spLocks noChangeArrowheads="1"/>
            </p:cNvSpPr>
            <p:nvPr/>
          </p:nvSpPr>
          <p:spPr bwMode="auto">
            <a:xfrm>
              <a:off x="1754" y="1220"/>
              <a:ext cx="693" cy="4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Tagging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unit</a:t>
              </a:r>
            </a:p>
          </p:txBody>
        </p:sp>
      </p:grpSp>
      <p:sp>
        <p:nvSpPr>
          <p:cNvPr id="96261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42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" y="4179888"/>
            <a:ext cx="8229600" cy="22653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100" smtClean="0"/>
              <a:t>Each flow has its own logical queue:  prevents hogging; allows differential loss probabilities</a:t>
            </a:r>
          </a:p>
          <a:p>
            <a:pPr eaLnBrk="1" hangingPunct="1">
              <a:lnSpc>
                <a:spcPct val="90000"/>
              </a:lnSpc>
            </a:pPr>
            <a:r>
              <a:rPr lang="en-US" sz="2100" smtClean="0"/>
              <a:t>C bits/sec allocated equally among non-empty queues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transmission rate = C / n(t),  where n(t)=# non-empty queues</a:t>
            </a:r>
          </a:p>
          <a:p>
            <a:pPr eaLnBrk="1" hangingPunct="1">
              <a:lnSpc>
                <a:spcPct val="90000"/>
              </a:lnSpc>
            </a:pPr>
            <a:r>
              <a:rPr lang="en-US" sz="2100" smtClean="0"/>
              <a:t>Idealized system assumes fluid flow from queues</a:t>
            </a:r>
          </a:p>
          <a:p>
            <a:pPr eaLnBrk="1" hangingPunct="1">
              <a:lnSpc>
                <a:spcPct val="90000"/>
              </a:lnSpc>
            </a:pPr>
            <a:r>
              <a:rPr lang="en-US" sz="2100" smtClean="0"/>
              <a:t>Implementation requires approximation:  simulate fluid system; sort packets according to completion time in ideal system</a:t>
            </a:r>
          </a:p>
          <a:p>
            <a:pPr eaLnBrk="1" hangingPunct="1">
              <a:lnSpc>
                <a:spcPct val="90000"/>
              </a:lnSpc>
            </a:pPr>
            <a:endParaRPr lang="en-US" sz="2400" smtClean="0"/>
          </a:p>
        </p:txBody>
      </p:sp>
      <p:sp>
        <p:nvSpPr>
          <p:cNvPr id="97283" name="Rectangle 4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500" smtClean="0"/>
              <a:t>Fair Queueing / Generalized Processor Sharing</a:t>
            </a:r>
          </a:p>
        </p:txBody>
      </p:sp>
      <p:grpSp>
        <p:nvGrpSpPr>
          <p:cNvPr id="97284" name="Group 45"/>
          <p:cNvGrpSpPr>
            <a:grpSpLocks/>
          </p:cNvGrpSpPr>
          <p:nvPr/>
        </p:nvGrpSpPr>
        <p:grpSpPr bwMode="auto">
          <a:xfrm>
            <a:off x="773113" y="1390650"/>
            <a:ext cx="7553325" cy="2619375"/>
            <a:chOff x="335" y="797"/>
            <a:chExt cx="4758" cy="1650"/>
          </a:xfrm>
        </p:grpSpPr>
        <p:sp>
          <p:nvSpPr>
            <p:cNvPr id="97287" name="Rectangle 46"/>
            <p:cNvSpPr>
              <a:spLocks noChangeArrowheads="1"/>
            </p:cNvSpPr>
            <p:nvPr/>
          </p:nvSpPr>
          <p:spPr bwMode="auto">
            <a:xfrm>
              <a:off x="3743" y="1416"/>
              <a:ext cx="1083" cy="2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i="1"/>
                <a:t>C</a:t>
              </a:r>
              <a:r>
                <a:rPr lang="en-US"/>
                <a:t> bits/second</a:t>
              </a:r>
            </a:p>
          </p:txBody>
        </p:sp>
        <p:sp>
          <p:nvSpPr>
            <p:cNvPr id="97288" name="Rectangle 47"/>
            <p:cNvSpPr>
              <a:spLocks noChangeArrowheads="1"/>
            </p:cNvSpPr>
            <p:nvPr/>
          </p:nvSpPr>
          <p:spPr bwMode="auto">
            <a:xfrm>
              <a:off x="2173" y="817"/>
              <a:ext cx="745" cy="251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289" name="Line 48"/>
            <p:cNvSpPr>
              <a:spLocks noChangeShapeType="1"/>
            </p:cNvSpPr>
            <p:nvPr/>
          </p:nvSpPr>
          <p:spPr bwMode="auto">
            <a:xfrm>
              <a:off x="2736" y="817"/>
              <a:ext cx="0" cy="2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7290" name="Line 49"/>
            <p:cNvSpPr>
              <a:spLocks noChangeShapeType="1"/>
            </p:cNvSpPr>
            <p:nvPr/>
          </p:nvSpPr>
          <p:spPr bwMode="auto">
            <a:xfrm>
              <a:off x="2823" y="817"/>
              <a:ext cx="0" cy="2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7291" name="Line 50"/>
            <p:cNvSpPr>
              <a:spLocks noChangeShapeType="1"/>
            </p:cNvSpPr>
            <p:nvPr/>
          </p:nvSpPr>
          <p:spPr bwMode="auto">
            <a:xfrm>
              <a:off x="2559" y="817"/>
              <a:ext cx="0" cy="2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7292" name="Line 51"/>
            <p:cNvSpPr>
              <a:spLocks noChangeShapeType="1"/>
            </p:cNvSpPr>
            <p:nvPr/>
          </p:nvSpPr>
          <p:spPr bwMode="auto">
            <a:xfrm>
              <a:off x="2645" y="817"/>
              <a:ext cx="0" cy="2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7293" name="Line 52"/>
            <p:cNvSpPr>
              <a:spLocks noChangeShapeType="1"/>
            </p:cNvSpPr>
            <p:nvPr/>
          </p:nvSpPr>
          <p:spPr bwMode="auto">
            <a:xfrm>
              <a:off x="2368" y="817"/>
              <a:ext cx="0" cy="2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7294" name="Line 53"/>
            <p:cNvSpPr>
              <a:spLocks noChangeShapeType="1"/>
            </p:cNvSpPr>
            <p:nvPr/>
          </p:nvSpPr>
          <p:spPr bwMode="auto">
            <a:xfrm>
              <a:off x="2455" y="817"/>
              <a:ext cx="0" cy="2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7295" name="Oval 54"/>
            <p:cNvSpPr>
              <a:spLocks noChangeArrowheads="1"/>
            </p:cNvSpPr>
            <p:nvPr/>
          </p:nvSpPr>
          <p:spPr bwMode="auto">
            <a:xfrm>
              <a:off x="4066" y="1625"/>
              <a:ext cx="199" cy="220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296" name="Line 55"/>
            <p:cNvSpPr>
              <a:spLocks noChangeShapeType="1"/>
            </p:cNvSpPr>
            <p:nvPr/>
          </p:nvSpPr>
          <p:spPr bwMode="auto">
            <a:xfrm>
              <a:off x="3826" y="1732"/>
              <a:ext cx="232" cy="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7297" name="Line 56"/>
            <p:cNvSpPr>
              <a:spLocks noChangeShapeType="1"/>
            </p:cNvSpPr>
            <p:nvPr/>
          </p:nvSpPr>
          <p:spPr bwMode="auto">
            <a:xfrm>
              <a:off x="4252" y="1732"/>
              <a:ext cx="623" cy="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7298" name="Line 57"/>
            <p:cNvSpPr>
              <a:spLocks noChangeShapeType="1"/>
            </p:cNvSpPr>
            <p:nvPr/>
          </p:nvSpPr>
          <p:spPr bwMode="auto">
            <a:xfrm>
              <a:off x="1419" y="942"/>
              <a:ext cx="7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7299" name="Rectangle 58"/>
            <p:cNvSpPr>
              <a:spLocks noChangeArrowheads="1"/>
            </p:cNvSpPr>
            <p:nvPr/>
          </p:nvSpPr>
          <p:spPr bwMode="auto">
            <a:xfrm>
              <a:off x="3653" y="1812"/>
              <a:ext cx="1066" cy="4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Transmission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link</a:t>
              </a:r>
            </a:p>
          </p:txBody>
        </p:sp>
        <p:sp>
          <p:nvSpPr>
            <p:cNvPr id="97300" name="Line 59"/>
            <p:cNvSpPr>
              <a:spLocks noChangeShapeType="1"/>
            </p:cNvSpPr>
            <p:nvPr/>
          </p:nvSpPr>
          <p:spPr bwMode="auto">
            <a:xfrm>
              <a:off x="3070" y="1549"/>
              <a:ext cx="736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7301" name="Arc 60"/>
            <p:cNvSpPr>
              <a:spLocks/>
            </p:cNvSpPr>
            <p:nvPr/>
          </p:nvSpPr>
          <p:spPr bwMode="auto">
            <a:xfrm>
              <a:off x="3227" y="1400"/>
              <a:ext cx="238" cy="54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708"/>
                    <a:pt x="9611" y="54"/>
                    <a:pt x="21502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708"/>
                    <a:pt x="9611" y="54"/>
                    <a:pt x="21502" y="0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02" name="Line 61"/>
            <p:cNvSpPr>
              <a:spLocks noChangeShapeType="1"/>
            </p:cNvSpPr>
            <p:nvPr/>
          </p:nvSpPr>
          <p:spPr bwMode="auto">
            <a:xfrm>
              <a:off x="1800" y="932"/>
              <a:ext cx="0" cy="2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7303" name="Rectangle 62"/>
            <p:cNvSpPr>
              <a:spLocks noChangeArrowheads="1"/>
            </p:cNvSpPr>
            <p:nvPr/>
          </p:nvSpPr>
          <p:spPr bwMode="auto">
            <a:xfrm>
              <a:off x="2173" y="1268"/>
              <a:ext cx="745" cy="251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04" name="Line 63"/>
            <p:cNvSpPr>
              <a:spLocks noChangeShapeType="1"/>
            </p:cNvSpPr>
            <p:nvPr/>
          </p:nvSpPr>
          <p:spPr bwMode="auto">
            <a:xfrm>
              <a:off x="2736" y="1268"/>
              <a:ext cx="0" cy="2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7305" name="Line 64"/>
            <p:cNvSpPr>
              <a:spLocks noChangeShapeType="1"/>
            </p:cNvSpPr>
            <p:nvPr/>
          </p:nvSpPr>
          <p:spPr bwMode="auto">
            <a:xfrm>
              <a:off x="2823" y="1268"/>
              <a:ext cx="0" cy="2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7306" name="Line 65"/>
            <p:cNvSpPr>
              <a:spLocks noChangeShapeType="1"/>
            </p:cNvSpPr>
            <p:nvPr/>
          </p:nvSpPr>
          <p:spPr bwMode="auto">
            <a:xfrm>
              <a:off x="2559" y="1268"/>
              <a:ext cx="0" cy="2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7307" name="Line 66"/>
            <p:cNvSpPr>
              <a:spLocks noChangeShapeType="1"/>
            </p:cNvSpPr>
            <p:nvPr/>
          </p:nvSpPr>
          <p:spPr bwMode="auto">
            <a:xfrm>
              <a:off x="2645" y="1268"/>
              <a:ext cx="0" cy="2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7308" name="Line 67"/>
            <p:cNvSpPr>
              <a:spLocks noChangeShapeType="1"/>
            </p:cNvSpPr>
            <p:nvPr/>
          </p:nvSpPr>
          <p:spPr bwMode="auto">
            <a:xfrm>
              <a:off x="2368" y="1268"/>
              <a:ext cx="0" cy="2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7309" name="Line 68"/>
            <p:cNvSpPr>
              <a:spLocks noChangeShapeType="1"/>
            </p:cNvSpPr>
            <p:nvPr/>
          </p:nvSpPr>
          <p:spPr bwMode="auto">
            <a:xfrm>
              <a:off x="2455" y="1268"/>
              <a:ext cx="0" cy="2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7310" name="Line 69"/>
            <p:cNvSpPr>
              <a:spLocks noChangeShapeType="1"/>
            </p:cNvSpPr>
            <p:nvPr/>
          </p:nvSpPr>
          <p:spPr bwMode="auto">
            <a:xfrm>
              <a:off x="1419" y="1394"/>
              <a:ext cx="7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7311" name="Line 70"/>
            <p:cNvSpPr>
              <a:spLocks noChangeShapeType="1"/>
            </p:cNvSpPr>
            <p:nvPr/>
          </p:nvSpPr>
          <p:spPr bwMode="auto">
            <a:xfrm>
              <a:off x="1800" y="1384"/>
              <a:ext cx="0" cy="2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7312" name="Rectangle 71"/>
            <p:cNvSpPr>
              <a:spLocks noChangeArrowheads="1"/>
            </p:cNvSpPr>
            <p:nvPr/>
          </p:nvSpPr>
          <p:spPr bwMode="auto">
            <a:xfrm>
              <a:off x="2186" y="2096"/>
              <a:ext cx="745" cy="251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313" name="Line 72"/>
            <p:cNvSpPr>
              <a:spLocks noChangeShapeType="1"/>
            </p:cNvSpPr>
            <p:nvPr/>
          </p:nvSpPr>
          <p:spPr bwMode="auto">
            <a:xfrm>
              <a:off x="2749" y="2096"/>
              <a:ext cx="0" cy="2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7314" name="Line 73"/>
            <p:cNvSpPr>
              <a:spLocks noChangeShapeType="1"/>
            </p:cNvSpPr>
            <p:nvPr/>
          </p:nvSpPr>
          <p:spPr bwMode="auto">
            <a:xfrm>
              <a:off x="2836" y="2096"/>
              <a:ext cx="0" cy="2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7315" name="Line 74"/>
            <p:cNvSpPr>
              <a:spLocks noChangeShapeType="1"/>
            </p:cNvSpPr>
            <p:nvPr/>
          </p:nvSpPr>
          <p:spPr bwMode="auto">
            <a:xfrm>
              <a:off x="2572" y="2096"/>
              <a:ext cx="0" cy="2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7316" name="Line 75"/>
            <p:cNvSpPr>
              <a:spLocks noChangeShapeType="1"/>
            </p:cNvSpPr>
            <p:nvPr/>
          </p:nvSpPr>
          <p:spPr bwMode="auto">
            <a:xfrm>
              <a:off x="2658" y="2096"/>
              <a:ext cx="0" cy="2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7317" name="Line 76"/>
            <p:cNvSpPr>
              <a:spLocks noChangeShapeType="1"/>
            </p:cNvSpPr>
            <p:nvPr/>
          </p:nvSpPr>
          <p:spPr bwMode="auto">
            <a:xfrm>
              <a:off x="2381" y="2096"/>
              <a:ext cx="0" cy="2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7318" name="Line 77"/>
            <p:cNvSpPr>
              <a:spLocks noChangeShapeType="1"/>
            </p:cNvSpPr>
            <p:nvPr/>
          </p:nvSpPr>
          <p:spPr bwMode="auto">
            <a:xfrm>
              <a:off x="2468" y="2096"/>
              <a:ext cx="0" cy="2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7319" name="Line 78"/>
            <p:cNvSpPr>
              <a:spLocks noChangeShapeType="1"/>
            </p:cNvSpPr>
            <p:nvPr/>
          </p:nvSpPr>
          <p:spPr bwMode="auto">
            <a:xfrm>
              <a:off x="1432" y="2221"/>
              <a:ext cx="7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7320" name="Line 79"/>
            <p:cNvSpPr>
              <a:spLocks noChangeShapeType="1"/>
            </p:cNvSpPr>
            <p:nvPr/>
          </p:nvSpPr>
          <p:spPr bwMode="auto">
            <a:xfrm>
              <a:off x="1813" y="2211"/>
              <a:ext cx="0" cy="2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7321" name="Rectangle 80"/>
            <p:cNvSpPr>
              <a:spLocks noChangeArrowheads="1"/>
            </p:cNvSpPr>
            <p:nvPr/>
          </p:nvSpPr>
          <p:spPr bwMode="auto">
            <a:xfrm>
              <a:off x="335" y="797"/>
              <a:ext cx="1065" cy="2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Packet flow 1</a:t>
              </a:r>
            </a:p>
          </p:txBody>
        </p:sp>
        <p:sp>
          <p:nvSpPr>
            <p:cNvPr id="97322" name="Rectangle 81"/>
            <p:cNvSpPr>
              <a:spLocks noChangeArrowheads="1"/>
            </p:cNvSpPr>
            <p:nvPr/>
          </p:nvSpPr>
          <p:spPr bwMode="auto">
            <a:xfrm>
              <a:off x="348" y="1248"/>
              <a:ext cx="1065" cy="2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Packet flow 2</a:t>
              </a:r>
            </a:p>
          </p:txBody>
        </p:sp>
        <p:sp>
          <p:nvSpPr>
            <p:cNvPr id="97323" name="Rectangle 82"/>
            <p:cNvSpPr>
              <a:spLocks noChangeArrowheads="1"/>
            </p:cNvSpPr>
            <p:nvPr/>
          </p:nvSpPr>
          <p:spPr bwMode="auto">
            <a:xfrm>
              <a:off x="348" y="2046"/>
              <a:ext cx="1065" cy="2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Packet flow </a:t>
              </a:r>
              <a:r>
                <a:rPr lang="en-US" i="1"/>
                <a:t>n</a:t>
              </a:r>
              <a:endParaRPr lang="en-US"/>
            </a:p>
          </p:txBody>
        </p:sp>
        <p:sp>
          <p:nvSpPr>
            <p:cNvPr id="97324" name="Rectangle 83"/>
            <p:cNvSpPr>
              <a:spLocks noChangeArrowheads="1"/>
            </p:cNvSpPr>
            <p:nvPr/>
          </p:nvSpPr>
          <p:spPr bwMode="auto">
            <a:xfrm>
              <a:off x="2712" y="946"/>
              <a:ext cx="2381" cy="4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Approximated bit-level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round robin service</a:t>
              </a:r>
            </a:p>
          </p:txBody>
        </p:sp>
      </p:grpSp>
      <p:sp>
        <p:nvSpPr>
          <p:cNvPr id="97285" name="Text Box 84"/>
          <p:cNvSpPr txBox="1">
            <a:spLocks noChangeArrowheads="1"/>
          </p:cNvSpPr>
          <p:nvPr/>
        </p:nvSpPr>
        <p:spPr bwMode="auto">
          <a:xfrm rot="-5400000">
            <a:off x="1204913" y="2628900"/>
            <a:ext cx="8413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SzTx/>
              <a:buFontTx/>
              <a:buNone/>
            </a:pPr>
            <a:r>
              <a:rPr lang="en-US" b="1"/>
              <a:t>…</a:t>
            </a:r>
          </a:p>
        </p:txBody>
      </p:sp>
      <p:sp>
        <p:nvSpPr>
          <p:cNvPr id="97286" name="Text Box 85"/>
          <p:cNvSpPr txBox="1">
            <a:spLocks noChangeArrowheads="1"/>
          </p:cNvSpPr>
          <p:nvPr/>
        </p:nvSpPr>
        <p:spPr bwMode="auto">
          <a:xfrm rot="-5400000">
            <a:off x="3679825" y="2581275"/>
            <a:ext cx="8413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SzTx/>
              <a:buFontTx/>
              <a:buNone/>
            </a:pPr>
            <a:r>
              <a:rPr lang="en-US" b="1"/>
              <a:t>…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306" name="Group 2"/>
          <p:cNvGrpSpPr>
            <a:grpSpLocks/>
          </p:cNvGrpSpPr>
          <p:nvPr/>
        </p:nvGrpSpPr>
        <p:grpSpPr bwMode="auto">
          <a:xfrm>
            <a:off x="544513" y="315913"/>
            <a:ext cx="7999412" cy="5775325"/>
            <a:chOff x="263" y="199"/>
            <a:chExt cx="5039" cy="3638"/>
          </a:xfrm>
        </p:grpSpPr>
        <p:sp>
          <p:nvSpPr>
            <p:cNvPr id="98307" name="Rectangle 3"/>
            <p:cNvSpPr>
              <a:spLocks noChangeArrowheads="1"/>
            </p:cNvSpPr>
            <p:nvPr/>
          </p:nvSpPr>
          <p:spPr bwMode="auto">
            <a:xfrm>
              <a:off x="1073" y="519"/>
              <a:ext cx="485" cy="22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8308" name="Rectangle 4"/>
            <p:cNvSpPr>
              <a:spLocks noChangeArrowheads="1"/>
            </p:cNvSpPr>
            <p:nvPr/>
          </p:nvSpPr>
          <p:spPr bwMode="auto">
            <a:xfrm>
              <a:off x="1412" y="519"/>
              <a:ext cx="139" cy="216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8309" name="Rectangle 5"/>
            <p:cNvSpPr>
              <a:spLocks noChangeArrowheads="1"/>
            </p:cNvSpPr>
            <p:nvPr/>
          </p:nvSpPr>
          <p:spPr bwMode="auto">
            <a:xfrm>
              <a:off x="1067" y="954"/>
              <a:ext cx="485" cy="22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8310" name="Rectangle 6"/>
            <p:cNvSpPr>
              <a:spLocks noChangeArrowheads="1"/>
            </p:cNvSpPr>
            <p:nvPr/>
          </p:nvSpPr>
          <p:spPr bwMode="auto">
            <a:xfrm>
              <a:off x="1406" y="954"/>
              <a:ext cx="139" cy="216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8311" name="Rectangle 7"/>
            <p:cNvSpPr>
              <a:spLocks noChangeArrowheads="1"/>
            </p:cNvSpPr>
            <p:nvPr/>
          </p:nvSpPr>
          <p:spPr bwMode="auto">
            <a:xfrm>
              <a:off x="359" y="398"/>
              <a:ext cx="563" cy="36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Buffer 1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at </a:t>
              </a:r>
              <a:r>
                <a:rPr lang="en-US" sz="1600" i="1"/>
                <a:t>t</a:t>
              </a:r>
              <a:r>
                <a:rPr lang="en-US" sz="1600"/>
                <a:t>=0</a:t>
              </a:r>
            </a:p>
          </p:txBody>
        </p:sp>
        <p:sp>
          <p:nvSpPr>
            <p:cNvPr id="98312" name="Rectangle 8"/>
            <p:cNvSpPr>
              <a:spLocks noChangeArrowheads="1"/>
            </p:cNvSpPr>
            <p:nvPr/>
          </p:nvSpPr>
          <p:spPr bwMode="auto">
            <a:xfrm>
              <a:off x="359" y="916"/>
              <a:ext cx="563" cy="36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Buffer 2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at </a:t>
              </a:r>
              <a:r>
                <a:rPr lang="en-US" sz="1600" i="1"/>
                <a:t>t</a:t>
              </a:r>
              <a:r>
                <a:rPr lang="en-US" sz="1600"/>
                <a:t>=0</a:t>
              </a:r>
            </a:p>
          </p:txBody>
        </p:sp>
        <p:grpSp>
          <p:nvGrpSpPr>
            <p:cNvPr id="98313" name="Group 9"/>
            <p:cNvGrpSpPr>
              <a:grpSpLocks/>
            </p:cNvGrpSpPr>
            <p:nvPr/>
          </p:nvGrpSpPr>
          <p:grpSpPr bwMode="auto">
            <a:xfrm>
              <a:off x="2330" y="199"/>
              <a:ext cx="1334" cy="1389"/>
              <a:chOff x="2330" y="199"/>
              <a:chExt cx="1334" cy="1389"/>
            </a:xfrm>
          </p:grpSpPr>
          <p:grpSp>
            <p:nvGrpSpPr>
              <p:cNvPr id="98346" name="Group 10"/>
              <p:cNvGrpSpPr>
                <a:grpSpLocks/>
              </p:cNvGrpSpPr>
              <p:nvPr/>
            </p:nvGrpSpPr>
            <p:grpSpPr bwMode="auto">
              <a:xfrm>
                <a:off x="2330" y="199"/>
                <a:ext cx="1334" cy="1385"/>
                <a:chOff x="2330" y="199"/>
                <a:chExt cx="1334" cy="1385"/>
              </a:xfrm>
            </p:grpSpPr>
            <p:sp>
              <p:nvSpPr>
                <p:cNvPr id="98351" name="Line 11"/>
                <p:cNvSpPr>
                  <a:spLocks noChangeShapeType="1"/>
                </p:cNvSpPr>
                <p:nvPr/>
              </p:nvSpPr>
              <p:spPr bwMode="auto">
                <a:xfrm>
                  <a:off x="2330" y="199"/>
                  <a:ext cx="0" cy="136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triangle" w="med" len="med"/>
                  <a:tailEnd/>
                </a:ln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98352" name="Line 12"/>
                <p:cNvSpPr>
                  <a:spLocks noChangeShapeType="1"/>
                </p:cNvSpPr>
                <p:nvPr/>
              </p:nvSpPr>
              <p:spPr bwMode="auto">
                <a:xfrm>
                  <a:off x="2341" y="1584"/>
                  <a:ext cx="1323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98347" name="Line 13"/>
              <p:cNvSpPr>
                <a:spLocks noChangeShapeType="1"/>
              </p:cNvSpPr>
              <p:nvPr/>
            </p:nvSpPr>
            <p:spPr bwMode="auto">
              <a:xfrm>
                <a:off x="2334" y="1008"/>
                <a:ext cx="127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98348" name="Line 14"/>
              <p:cNvSpPr>
                <a:spLocks noChangeShapeType="1"/>
              </p:cNvSpPr>
              <p:nvPr/>
            </p:nvSpPr>
            <p:spPr bwMode="auto">
              <a:xfrm>
                <a:off x="2334" y="432"/>
                <a:ext cx="127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98349" name="Line 15"/>
              <p:cNvSpPr>
                <a:spLocks noChangeShapeType="1"/>
              </p:cNvSpPr>
              <p:nvPr/>
            </p:nvSpPr>
            <p:spPr bwMode="auto">
              <a:xfrm flipV="1">
                <a:off x="2906" y="278"/>
                <a:ext cx="0" cy="129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98350" name="Line 16"/>
              <p:cNvSpPr>
                <a:spLocks noChangeShapeType="1"/>
              </p:cNvSpPr>
              <p:nvPr/>
            </p:nvSpPr>
            <p:spPr bwMode="auto">
              <a:xfrm flipV="1">
                <a:off x="3488" y="294"/>
                <a:ext cx="0" cy="129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98314" name="Rectangle 17"/>
            <p:cNvSpPr>
              <a:spLocks noChangeArrowheads="1"/>
            </p:cNvSpPr>
            <p:nvPr/>
          </p:nvSpPr>
          <p:spPr bwMode="auto">
            <a:xfrm>
              <a:off x="2055" y="895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1</a:t>
              </a:r>
            </a:p>
          </p:txBody>
        </p:sp>
        <p:sp>
          <p:nvSpPr>
            <p:cNvPr id="98315" name="Rectangle 18"/>
            <p:cNvSpPr>
              <a:spLocks noChangeArrowheads="1"/>
            </p:cNvSpPr>
            <p:nvPr/>
          </p:nvSpPr>
          <p:spPr bwMode="auto">
            <a:xfrm>
              <a:off x="3667" y="1473"/>
              <a:ext cx="15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 i="1"/>
                <a:t>t</a:t>
              </a:r>
              <a:endParaRPr lang="en-US" sz="1800"/>
            </a:p>
          </p:txBody>
        </p:sp>
        <p:sp>
          <p:nvSpPr>
            <p:cNvPr id="98316" name="Line 19"/>
            <p:cNvSpPr>
              <a:spLocks noChangeShapeType="1"/>
            </p:cNvSpPr>
            <p:nvPr/>
          </p:nvSpPr>
          <p:spPr bwMode="auto">
            <a:xfrm>
              <a:off x="2340" y="1018"/>
              <a:ext cx="1144" cy="55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8317" name="Rectangle 20"/>
            <p:cNvSpPr>
              <a:spLocks noChangeArrowheads="1"/>
            </p:cNvSpPr>
            <p:nvPr/>
          </p:nvSpPr>
          <p:spPr bwMode="auto">
            <a:xfrm>
              <a:off x="2849" y="1656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1</a:t>
              </a:r>
            </a:p>
          </p:txBody>
        </p:sp>
        <p:sp>
          <p:nvSpPr>
            <p:cNvPr id="98318" name="Rectangle 21"/>
            <p:cNvSpPr>
              <a:spLocks noChangeArrowheads="1"/>
            </p:cNvSpPr>
            <p:nvPr/>
          </p:nvSpPr>
          <p:spPr bwMode="auto">
            <a:xfrm>
              <a:off x="3418" y="1644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2</a:t>
              </a:r>
            </a:p>
          </p:txBody>
        </p:sp>
        <p:sp>
          <p:nvSpPr>
            <p:cNvPr id="98319" name="Rectangle 22"/>
            <p:cNvSpPr>
              <a:spLocks noChangeArrowheads="1"/>
            </p:cNvSpPr>
            <p:nvPr/>
          </p:nvSpPr>
          <p:spPr bwMode="auto">
            <a:xfrm>
              <a:off x="3860" y="408"/>
              <a:ext cx="1442" cy="5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Fluid-flow system: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both packets served 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at rate 1/2</a:t>
              </a:r>
            </a:p>
          </p:txBody>
        </p:sp>
        <p:sp>
          <p:nvSpPr>
            <p:cNvPr id="98320" name="Line 23"/>
            <p:cNvSpPr>
              <a:spLocks noChangeShapeType="1"/>
            </p:cNvSpPr>
            <p:nvPr/>
          </p:nvSpPr>
          <p:spPr bwMode="auto">
            <a:xfrm flipH="1">
              <a:off x="3485" y="1181"/>
              <a:ext cx="601" cy="386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8321" name="Rectangle 24"/>
            <p:cNvSpPr>
              <a:spLocks noChangeArrowheads="1"/>
            </p:cNvSpPr>
            <p:nvPr/>
          </p:nvSpPr>
          <p:spPr bwMode="auto">
            <a:xfrm>
              <a:off x="4051" y="1030"/>
              <a:ext cx="1194" cy="5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Both packets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complete service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at </a:t>
              </a:r>
              <a:r>
                <a:rPr lang="en-US" sz="1800" i="1"/>
                <a:t>t </a:t>
              </a:r>
              <a:r>
                <a:rPr lang="en-US" sz="1800"/>
                <a:t>= 2</a:t>
              </a:r>
            </a:p>
          </p:txBody>
        </p:sp>
        <p:sp>
          <p:nvSpPr>
            <p:cNvPr id="98322" name="Rectangle 25"/>
            <p:cNvSpPr>
              <a:spLocks noChangeArrowheads="1"/>
            </p:cNvSpPr>
            <p:nvPr/>
          </p:nvSpPr>
          <p:spPr bwMode="auto">
            <a:xfrm>
              <a:off x="2228" y="1618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0</a:t>
              </a:r>
            </a:p>
          </p:txBody>
        </p:sp>
        <p:grpSp>
          <p:nvGrpSpPr>
            <p:cNvPr id="98323" name="Group 26"/>
            <p:cNvGrpSpPr>
              <a:grpSpLocks/>
            </p:cNvGrpSpPr>
            <p:nvPr/>
          </p:nvGrpSpPr>
          <p:grpSpPr bwMode="auto">
            <a:xfrm>
              <a:off x="1345" y="2004"/>
              <a:ext cx="1334" cy="1389"/>
              <a:chOff x="1345" y="2004"/>
              <a:chExt cx="1334" cy="1389"/>
            </a:xfrm>
          </p:grpSpPr>
          <p:grpSp>
            <p:nvGrpSpPr>
              <p:cNvPr id="98339" name="Group 27"/>
              <p:cNvGrpSpPr>
                <a:grpSpLocks/>
              </p:cNvGrpSpPr>
              <p:nvPr/>
            </p:nvGrpSpPr>
            <p:grpSpPr bwMode="auto">
              <a:xfrm>
                <a:off x="1345" y="2004"/>
                <a:ext cx="1334" cy="1385"/>
                <a:chOff x="1345" y="2004"/>
                <a:chExt cx="1334" cy="1385"/>
              </a:xfrm>
            </p:grpSpPr>
            <p:sp>
              <p:nvSpPr>
                <p:cNvPr id="98344" name="Line 28"/>
                <p:cNvSpPr>
                  <a:spLocks noChangeShapeType="1"/>
                </p:cNvSpPr>
                <p:nvPr/>
              </p:nvSpPr>
              <p:spPr bwMode="auto">
                <a:xfrm>
                  <a:off x="1345" y="2004"/>
                  <a:ext cx="0" cy="136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triangle" w="med" len="med"/>
                  <a:tailEnd/>
                </a:ln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98345" name="Line 29"/>
                <p:cNvSpPr>
                  <a:spLocks noChangeShapeType="1"/>
                </p:cNvSpPr>
                <p:nvPr/>
              </p:nvSpPr>
              <p:spPr bwMode="auto">
                <a:xfrm>
                  <a:off x="1356" y="3389"/>
                  <a:ext cx="1323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98340" name="Line 30"/>
              <p:cNvSpPr>
                <a:spLocks noChangeShapeType="1"/>
              </p:cNvSpPr>
              <p:nvPr/>
            </p:nvSpPr>
            <p:spPr bwMode="auto">
              <a:xfrm>
                <a:off x="1349" y="2813"/>
                <a:ext cx="127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98341" name="Line 31"/>
              <p:cNvSpPr>
                <a:spLocks noChangeShapeType="1"/>
              </p:cNvSpPr>
              <p:nvPr/>
            </p:nvSpPr>
            <p:spPr bwMode="auto">
              <a:xfrm>
                <a:off x="1349" y="2237"/>
                <a:ext cx="127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98342" name="Line 32"/>
              <p:cNvSpPr>
                <a:spLocks noChangeShapeType="1"/>
              </p:cNvSpPr>
              <p:nvPr/>
            </p:nvSpPr>
            <p:spPr bwMode="auto">
              <a:xfrm flipV="1">
                <a:off x="1921" y="2083"/>
                <a:ext cx="0" cy="129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98343" name="Line 33"/>
              <p:cNvSpPr>
                <a:spLocks noChangeShapeType="1"/>
              </p:cNvSpPr>
              <p:nvPr/>
            </p:nvSpPr>
            <p:spPr bwMode="auto">
              <a:xfrm flipV="1">
                <a:off x="2503" y="2099"/>
                <a:ext cx="0" cy="129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98324" name="Rectangle 34"/>
            <p:cNvSpPr>
              <a:spLocks noChangeArrowheads="1"/>
            </p:cNvSpPr>
            <p:nvPr/>
          </p:nvSpPr>
          <p:spPr bwMode="auto">
            <a:xfrm>
              <a:off x="1154" y="2700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1</a:t>
              </a:r>
            </a:p>
          </p:txBody>
        </p:sp>
        <p:sp>
          <p:nvSpPr>
            <p:cNvPr id="98325" name="Rectangle 35"/>
            <p:cNvSpPr>
              <a:spLocks noChangeArrowheads="1"/>
            </p:cNvSpPr>
            <p:nvPr/>
          </p:nvSpPr>
          <p:spPr bwMode="auto">
            <a:xfrm>
              <a:off x="2712" y="3296"/>
              <a:ext cx="15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 i="1"/>
                <a:t>t</a:t>
              </a:r>
              <a:endParaRPr lang="en-US" sz="1800"/>
            </a:p>
          </p:txBody>
        </p:sp>
        <p:sp>
          <p:nvSpPr>
            <p:cNvPr id="98326" name="Rectangle 36"/>
            <p:cNvSpPr>
              <a:spLocks noChangeArrowheads="1"/>
            </p:cNvSpPr>
            <p:nvPr/>
          </p:nvSpPr>
          <p:spPr bwMode="auto">
            <a:xfrm>
              <a:off x="1864" y="3461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1</a:t>
              </a:r>
            </a:p>
          </p:txBody>
        </p:sp>
        <p:sp>
          <p:nvSpPr>
            <p:cNvPr id="98327" name="Rectangle 37"/>
            <p:cNvSpPr>
              <a:spLocks noChangeArrowheads="1"/>
            </p:cNvSpPr>
            <p:nvPr/>
          </p:nvSpPr>
          <p:spPr bwMode="auto">
            <a:xfrm>
              <a:off x="2433" y="3449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2</a:t>
              </a:r>
            </a:p>
          </p:txBody>
        </p:sp>
        <p:sp>
          <p:nvSpPr>
            <p:cNvPr id="98328" name="Rectangle 38"/>
            <p:cNvSpPr>
              <a:spLocks noChangeArrowheads="1"/>
            </p:cNvSpPr>
            <p:nvPr/>
          </p:nvSpPr>
          <p:spPr bwMode="auto">
            <a:xfrm>
              <a:off x="2875" y="2213"/>
              <a:ext cx="2002" cy="5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Packet-by-packet system: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buffer 1 served first at rate 1;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then buffer 2 served at rate 1.</a:t>
              </a:r>
            </a:p>
          </p:txBody>
        </p:sp>
        <p:sp>
          <p:nvSpPr>
            <p:cNvPr id="98329" name="Line 39"/>
            <p:cNvSpPr>
              <a:spLocks noChangeShapeType="1"/>
            </p:cNvSpPr>
            <p:nvPr/>
          </p:nvSpPr>
          <p:spPr bwMode="auto">
            <a:xfrm flipH="1">
              <a:off x="2284" y="3018"/>
              <a:ext cx="770" cy="166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8330" name="Rectangle 40"/>
            <p:cNvSpPr>
              <a:spLocks noChangeArrowheads="1"/>
            </p:cNvSpPr>
            <p:nvPr/>
          </p:nvSpPr>
          <p:spPr bwMode="auto">
            <a:xfrm>
              <a:off x="3066" y="2835"/>
              <a:ext cx="1410" cy="40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Packet from buffer 2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being served</a:t>
              </a:r>
            </a:p>
          </p:txBody>
        </p:sp>
        <p:sp>
          <p:nvSpPr>
            <p:cNvPr id="98331" name="Line 41"/>
            <p:cNvSpPr>
              <a:spLocks noChangeShapeType="1"/>
            </p:cNvSpPr>
            <p:nvPr/>
          </p:nvSpPr>
          <p:spPr bwMode="auto">
            <a:xfrm>
              <a:off x="1354" y="2830"/>
              <a:ext cx="549" cy="54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8332" name="Line 42"/>
            <p:cNvSpPr>
              <a:spLocks noChangeShapeType="1"/>
            </p:cNvSpPr>
            <p:nvPr/>
          </p:nvSpPr>
          <p:spPr bwMode="auto">
            <a:xfrm>
              <a:off x="1367" y="2819"/>
              <a:ext cx="543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8333" name="Line 43"/>
            <p:cNvSpPr>
              <a:spLocks noChangeShapeType="1"/>
            </p:cNvSpPr>
            <p:nvPr/>
          </p:nvSpPr>
          <p:spPr bwMode="auto">
            <a:xfrm>
              <a:off x="1924" y="2836"/>
              <a:ext cx="568" cy="54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8334" name="Rectangle 44"/>
            <p:cNvSpPr>
              <a:spLocks noChangeArrowheads="1"/>
            </p:cNvSpPr>
            <p:nvPr/>
          </p:nvSpPr>
          <p:spPr bwMode="auto">
            <a:xfrm>
              <a:off x="327" y="3262"/>
              <a:ext cx="994" cy="5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r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Packet from</a:t>
              </a:r>
            </a:p>
            <a:p>
              <a:pPr algn="r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buffer 1 being</a:t>
              </a:r>
            </a:p>
            <a:p>
              <a:pPr algn="r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served</a:t>
              </a:r>
            </a:p>
          </p:txBody>
        </p:sp>
        <p:sp>
          <p:nvSpPr>
            <p:cNvPr id="98335" name="Line 45"/>
            <p:cNvSpPr>
              <a:spLocks noChangeShapeType="1"/>
            </p:cNvSpPr>
            <p:nvPr/>
          </p:nvSpPr>
          <p:spPr bwMode="auto">
            <a:xfrm flipV="1">
              <a:off x="1036" y="3037"/>
              <a:ext cx="497" cy="25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8336" name="Rectangle 46"/>
            <p:cNvSpPr>
              <a:spLocks noChangeArrowheads="1"/>
            </p:cNvSpPr>
            <p:nvPr/>
          </p:nvSpPr>
          <p:spPr bwMode="auto">
            <a:xfrm>
              <a:off x="263" y="2123"/>
              <a:ext cx="1090" cy="40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r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Packet from</a:t>
              </a:r>
            </a:p>
            <a:p>
              <a:pPr algn="r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buffer 2 waiting</a:t>
              </a:r>
            </a:p>
          </p:txBody>
        </p:sp>
        <p:sp>
          <p:nvSpPr>
            <p:cNvPr id="98337" name="Line 47"/>
            <p:cNvSpPr>
              <a:spLocks noChangeShapeType="1"/>
            </p:cNvSpPr>
            <p:nvPr/>
          </p:nvSpPr>
          <p:spPr bwMode="auto">
            <a:xfrm>
              <a:off x="1265" y="2529"/>
              <a:ext cx="354" cy="277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8338" name="Rectangle 48"/>
            <p:cNvSpPr>
              <a:spLocks noChangeArrowheads="1"/>
            </p:cNvSpPr>
            <p:nvPr/>
          </p:nvSpPr>
          <p:spPr bwMode="auto">
            <a:xfrm>
              <a:off x="1300" y="3443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0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330" name="Group 2"/>
          <p:cNvGrpSpPr>
            <a:grpSpLocks/>
          </p:cNvGrpSpPr>
          <p:nvPr/>
        </p:nvGrpSpPr>
        <p:grpSpPr bwMode="auto">
          <a:xfrm>
            <a:off x="582613" y="379413"/>
            <a:ext cx="7940675" cy="5514975"/>
            <a:chOff x="359" y="199"/>
            <a:chExt cx="5002" cy="3474"/>
          </a:xfrm>
        </p:grpSpPr>
        <p:sp>
          <p:nvSpPr>
            <p:cNvPr id="99331" name="Rectangle 3"/>
            <p:cNvSpPr>
              <a:spLocks noChangeArrowheads="1"/>
            </p:cNvSpPr>
            <p:nvPr/>
          </p:nvSpPr>
          <p:spPr bwMode="auto">
            <a:xfrm>
              <a:off x="1073" y="519"/>
              <a:ext cx="485" cy="22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332" name="Rectangle 4"/>
            <p:cNvSpPr>
              <a:spLocks noChangeArrowheads="1"/>
            </p:cNvSpPr>
            <p:nvPr/>
          </p:nvSpPr>
          <p:spPr bwMode="auto">
            <a:xfrm>
              <a:off x="1412" y="519"/>
              <a:ext cx="139" cy="216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333" name="Rectangle 5"/>
            <p:cNvSpPr>
              <a:spLocks noChangeArrowheads="1"/>
            </p:cNvSpPr>
            <p:nvPr/>
          </p:nvSpPr>
          <p:spPr bwMode="auto">
            <a:xfrm>
              <a:off x="1067" y="954"/>
              <a:ext cx="485" cy="22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334" name="Rectangle 6"/>
            <p:cNvSpPr>
              <a:spLocks noChangeArrowheads="1"/>
            </p:cNvSpPr>
            <p:nvPr/>
          </p:nvSpPr>
          <p:spPr bwMode="auto">
            <a:xfrm>
              <a:off x="1226" y="954"/>
              <a:ext cx="319" cy="216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335" name="Rectangle 7"/>
            <p:cNvSpPr>
              <a:spLocks noChangeArrowheads="1"/>
            </p:cNvSpPr>
            <p:nvPr/>
          </p:nvSpPr>
          <p:spPr bwMode="auto">
            <a:xfrm>
              <a:off x="359" y="398"/>
              <a:ext cx="563" cy="36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Buffer 1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at </a:t>
              </a:r>
              <a:r>
                <a:rPr lang="en-US" sz="1600" i="1"/>
                <a:t>t</a:t>
              </a:r>
              <a:r>
                <a:rPr lang="en-US" sz="1600"/>
                <a:t>=0</a:t>
              </a:r>
            </a:p>
          </p:txBody>
        </p:sp>
        <p:sp>
          <p:nvSpPr>
            <p:cNvPr id="99336" name="Rectangle 8"/>
            <p:cNvSpPr>
              <a:spLocks noChangeArrowheads="1"/>
            </p:cNvSpPr>
            <p:nvPr/>
          </p:nvSpPr>
          <p:spPr bwMode="auto">
            <a:xfrm>
              <a:off x="359" y="916"/>
              <a:ext cx="563" cy="36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Buffer 2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at </a:t>
              </a:r>
              <a:r>
                <a:rPr lang="en-US" sz="1600" i="1"/>
                <a:t>t</a:t>
              </a:r>
              <a:r>
                <a:rPr lang="en-US" sz="1600"/>
                <a:t>=0</a:t>
              </a:r>
            </a:p>
          </p:txBody>
        </p:sp>
        <p:sp>
          <p:nvSpPr>
            <p:cNvPr id="99337" name="Rectangle 9"/>
            <p:cNvSpPr>
              <a:spLocks noChangeArrowheads="1"/>
            </p:cNvSpPr>
            <p:nvPr/>
          </p:nvSpPr>
          <p:spPr bwMode="auto">
            <a:xfrm>
              <a:off x="2849" y="1624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2</a:t>
              </a:r>
            </a:p>
          </p:txBody>
        </p:sp>
        <p:grpSp>
          <p:nvGrpSpPr>
            <p:cNvPr id="99338" name="Group 10"/>
            <p:cNvGrpSpPr>
              <a:grpSpLocks/>
            </p:cNvGrpSpPr>
            <p:nvPr/>
          </p:nvGrpSpPr>
          <p:grpSpPr bwMode="auto">
            <a:xfrm>
              <a:off x="2330" y="199"/>
              <a:ext cx="1334" cy="1385"/>
              <a:chOff x="2330" y="199"/>
              <a:chExt cx="1334" cy="1385"/>
            </a:xfrm>
          </p:grpSpPr>
          <p:sp>
            <p:nvSpPr>
              <p:cNvPr id="99379" name="Line 11"/>
              <p:cNvSpPr>
                <a:spLocks noChangeShapeType="1"/>
              </p:cNvSpPr>
              <p:nvPr/>
            </p:nvSpPr>
            <p:spPr bwMode="auto">
              <a:xfrm>
                <a:off x="2330" y="199"/>
                <a:ext cx="0" cy="13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99380" name="Line 12"/>
              <p:cNvSpPr>
                <a:spLocks noChangeShapeType="1"/>
              </p:cNvSpPr>
              <p:nvPr/>
            </p:nvSpPr>
            <p:spPr bwMode="auto">
              <a:xfrm>
                <a:off x="2341" y="1584"/>
                <a:ext cx="132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99339" name="Line 13"/>
            <p:cNvSpPr>
              <a:spLocks noChangeShapeType="1"/>
            </p:cNvSpPr>
            <p:nvPr/>
          </p:nvSpPr>
          <p:spPr bwMode="auto">
            <a:xfrm>
              <a:off x="2334" y="1008"/>
              <a:ext cx="1278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9340" name="Line 14"/>
            <p:cNvSpPr>
              <a:spLocks noChangeShapeType="1"/>
            </p:cNvSpPr>
            <p:nvPr/>
          </p:nvSpPr>
          <p:spPr bwMode="auto">
            <a:xfrm>
              <a:off x="2334" y="432"/>
              <a:ext cx="1278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9341" name="Line 15"/>
            <p:cNvSpPr>
              <a:spLocks noChangeShapeType="1"/>
            </p:cNvSpPr>
            <p:nvPr/>
          </p:nvSpPr>
          <p:spPr bwMode="auto">
            <a:xfrm flipV="1">
              <a:off x="2906" y="278"/>
              <a:ext cx="0" cy="129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9342" name="Line 16"/>
            <p:cNvSpPr>
              <a:spLocks noChangeShapeType="1"/>
            </p:cNvSpPr>
            <p:nvPr/>
          </p:nvSpPr>
          <p:spPr bwMode="auto">
            <a:xfrm flipV="1">
              <a:off x="3488" y="294"/>
              <a:ext cx="0" cy="12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9343" name="Rectangle 17"/>
            <p:cNvSpPr>
              <a:spLocks noChangeArrowheads="1"/>
            </p:cNvSpPr>
            <p:nvPr/>
          </p:nvSpPr>
          <p:spPr bwMode="auto">
            <a:xfrm>
              <a:off x="2127" y="895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1</a:t>
              </a:r>
            </a:p>
          </p:txBody>
        </p:sp>
        <p:sp>
          <p:nvSpPr>
            <p:cNvPr id="99344" name="Rectangle 18"/>
            <p:cNvSpPr>
              <a:spLocks noChangeArrowheads="1"/>
            </p:cNvSpPr>
            <p:nvPr/>
          </p:nvSpPr>
          <p:spPr bwMode="auto">
            <a:xfrm>
              <a:off x="3679" y="1473"/>
              <a:ext cx="15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 i="1"/>
                <a:t>t</a:t>
              </a:r>
              <a:endParaRPr lang="en-US" sz="1800"/>
            </a:p>
          </p:txBody>
        </p:sp>
        <p:sp>
          <p:nvSpPr>
            <p:cNvPr id="99345" name="Line 19"/>
            <p:cNvSpPr>
              <a:spLocks noChangeShapeType="1"/>
            </p:cNvSpPr>
            <p:nvPr/>
          </p:nvSpPr>
          <p:spPr bwMode="auto">
            <a:xfrm>
              <a:off x="2340" y="1018"/>
              <a:ext cx="562" cy="562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9346" name="Rectangle 20"/>
            <p:cNvSpPr>
              <a:spLocks noChangeArrowheads="1"/>
            </p:cNvSpPr>
            <p:nvPr/>
          </p:nvSpPr>
          <p:spPr bwMode="auto">
            <a:xfrm>
              <a:off x="3181" y="1625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3</a:t>
              </a:r>
            </a:p>
          </p:txBody>
        </p:sp>
        <p:sp>
          <p:nvSpPr>
            <p:cNvPr id="99347" name="Rectangle 21"/>
            <p:cNvSpPr>
              <a:spLocks noChangeArrowheads="1"/>
            </p:cNvSpPr>
            <p:nvPr/>
          </p:nvSpPr>
          <p:spPr bwMode="auto">
            <a:xfrm>
              <a:off x="3783" y="312"/>
              <a:ext cx="1442" cy="5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Fluid-flow system: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both packets served 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at rate 1/2</a:t>
              </a:r>
            </a:p>
          </p:txBody>
        </p:sp>
        <p:sp>
          <p:nvSpPr>
            <p:cNvPr id="99348" name="Line 22"/>
            <p:cNvSpPr>
              <a:spLocks noChangeShapeType="1"/>
            </p:cNvSpPr>
            <p:nvPr/>
          </p:nvSpPr>
          <p:spPr bwMode="auto">
            <a:xfrm flipH="1">
              <a:off x="3129" y="1146"/>
              <a:ext cx="812" cy="247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9349" name="Rectangle 23"/>
            <p:cNvSpPr>
              <a:spLocks noChangeArrowheads="1"/>
            </p:cNvSpPr>
            <p:nvPr/>
          </p:nvSpPr>
          <p:spPr bwMode="auto">
            <a:xfrm>
              <a:off x="3930" y="1024"/>
              <a:ext cx="1431" cy="40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Packet from buffer 2 served at rate 1</a:t>
              </a:r>
            </a:p>
          </p:txBody>
        </p:sp>
        <p:sp>
          <p:nvSpPr>
            <p:cNvPr id="99350" name="Rectangle 24"/>
            <p:cNvSpPr>
              <a:spLocks noChangeArrowheads="1"/>
            </p:cNvSpPr>
            <p:nvPr/>
          </p:nvSpPr>
          <p:spPr bwMode="auto">
            <a:xfrm>
              <a:off x="2228" y="1618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0</a:t>
              </a:r>
            </a:p>
          </p:txBody>
        </p:sp>
        <p:sp>
          <p:nvSpPr>
            <p:cNvPr id="99351" name="Rectangle 25"/>
            <p:cNvSpPr>
              <a:spLocks noChangeArrowheads="1"/>
            </p:cNvSpPr>
            <p:nvPr/>
          </p:nvSpPr>
          <p:spPr bwMode="auto">
            <a:xfrm>
              <a:off x="2141" y="306"/>
              <a:ext cx="19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2</a:t>
              </a:r>
            </a:p>
          </p:txBody>
        </p:sp>
        <p:sp>
          <p:nvSpPr>
            <p:cNvPr id="99352" name="Line 26"/>
            <p:cNvSpPr>
              <a:spLocks noChangeShapeType="1"/>
            </p:cNvSpPr>
            <p:nvPr/>
          </p:nvSpPr>
          <p:spPr bwMode="auto">
            <a:xfrm>
              <a:off x="2340" y="436"/>
              <a:ext cx="568" cy="568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9353" name="Line 27"/>
            <p:cNvSpPr>
              <a:spLocks noChangeShapeType="1"/>
            </p:cNvSpPr>
            <p:nvPr/>
          </p:nvSpPr>
          <p:spPr bwMode="auto">
            <a:xfrm>
              <a:off x="2910" y="1018"/>
              <a:ext cx="324" cy="562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9354" name="Line 28"/>
            <p:cNvSpPr>
              <a:spLocks noChangeShapeType="1"/>
            </p:cNvSpPr>
            <p:nvPr/>
          </p:nvSpPr>
          <p:spPr bwMode="auto">
            <a:xfrm flipH="1">
              <a:off x="2706" y="538"/>
              <a:ext cx="991" cy="26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9355" name="Line 29"/>
            <p:cNvSpPr>
              <a:spLocks noChangeShapeType="1"/>
            </p:cNvSpPr>
            <p:nvPr/>
          </p:nvSpPr>
          <p:spPr bwMode="auto">
            <a:xfrm flipH="1">
              <a:off x="2635" y="634"/>
              <a:ext cx="1011" cy="66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grpSp>
          <p:nvGrpSpPr>
            <p:cNvPr id="99356" name="Group 30"/>
            <p:cNvGrpSpPr>
              <a:grpSpLocks/>
            </p:cNvGrpSpPr>
            <p:nvPr/>
          </p:nvGrpSpPr>
          <p:grpSpPr bwMode="auto">
            <a:xfrm>
              <a:off x="1979" y="1992"/>
              <a:ext cx="1328" cy="1389"/>
              <a:chOff x="1979" y="1992"/>
              <a:chExt cx="1328" cy="1389"/>
            </a:xfrm>
          </p:grpSpPr>
          <p:grpSp>
            <p:nvGrpSpPr>
              <p:cNvPr id="99372" name="Group 31"/>
              <p:cNvGrpSpPr>
                <a:grpSpLocks/>
              </p:cNvGrpSpPr>
              <p:nvPr/>
            </p:nvGrpSpPr>
            <p:grpSpPr bwMode="auto">
              <a:xfrm>
                <a:off x="1979" y="1992"/>
                <a:ext cx="1328" cy="1385"/>
                <a:chOff x="1979" y="1992"/>
                <a:chExt cx="1328" cy="1385"/>
              </a:xfrm>
            </p:grpSpPr>
            <p:sp>
              <p:nvSpPr>
                <p:cNvPr id="99377" name="Line 32"/>
                <p:cNvSpPr>
                  <a:spLocks noChangeShapeType="1"/>
                </p:cNvSpPr>
                <p:nvPr/>
              </p:nvSpPr>
              <p:spPr bwMode="auto">
                <a:xfrm>
                  <a:off x="1979" y="1992"/>
                  <a:ext cx="0" cy="136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triangle" w="med" len="med"/>
                  <a:tailEnd/>
                </a:ln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  <p:sp>
              <p:nvSpPr>
                <p:cNvPr id="99378" name="Line 33"/>
                <p:cNvSpPr>
                  <a:spLocks noChangeShapeType="1"/>
                </p:cNvSpPr>
                <p:nvPr/>
              </p:nvSpPr>
              <p:spPr bwMode="auto">
                <a:xfrm>
                  <a:off x="1990" y="3377"/>
                  <a:ext cx="1317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IN"/>
                </a:p>
              </p:txBody>
            </p:sp>
          </p:grpSp>
          <p:sp>
            <p:nvSpPr>
              <p:cNvPr id="99373" name="Line 34"/>
              <p:cNvSpPr>
                <a:spLocks noChangeShapeType="1"/>
              </p:cNvSpPr>
              <p:nvPr/>
            </p:nvSpPr>
            <p:spPr bwMode="auto">
              <a:xfrm>
                <a:off x="1983" y="2801"/>
                <a:ext cx="127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99374" name="Line 35"/>
              <p:cNvSpPr>
                <a:spLocks noChangeShapeType="1"/>
              </p:cNvSpPr>
              <p:nvPr/>
            </p:nvSpPr>
            <p:spPr bwMode="auto">
              <a:xfrm>
                <a:off x="1983" y="2225"/>
                <a:ext cx="127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99375" name="Line 36"/>
              <p:cNvSpPr>
                <a:spLocks noChangeShapeType="1"/>
              </p:cNvSpPr>
              <p:nvPr/>
            </p:nvSpPr>
            <p:spPr bwMode="auto">
              <a:xfrm flipV="1">
                <a:off x="2552" y="2071"/>
                <a:ext cx="0" cy="129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99376" name="Line 37"/>
              <p:cNvSpPr>
                <a:spLocks noChangeShapeType="1"/>
              </p:cNvSpPr>
              <p:nvPr/>
            </p:nvSpPr>
            <p:spPr bwMode="auto">
              <a:xfrm flipV="1">
                <a:off x="3132" y="2087"/>
                <a:ext cx="0" cy="129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99357" name="Rectangle 38"/>
            <p:cNvSpPr>
              <a:spLocks noChangeArrowheads="1"/>
            </p:cNvSpPr>
            <p:nvPr/>
          </p:nvSpPr>
          <p:spPr bwMode="auto">
            <a:xfrm>
              <a:off x="1776" y="2688"/>
              <a:ext cx="185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1</a:t>
              </a:r>
            </a:p>
          </p:txBody>
        </p:sp>
        <p:sp>
          <p:nvSpPr>
            <p:cNvPr id="99358" name="Rectangle 39"/>
            <p:cNvSpPr>
              <a:spLocks noChangeArrowheads="1"/>
            </p:cNvSpPr>
            <p:nvPr/>
          </p:nvSpPr>
          <p:spPr bwMode="auto">
            <a:xfrm>
              <a:off x="3304" y="3260"/>
              <a:ext cx="153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 i="1"/>
                <a:t>t</a:t>
              </a:r>
              <a:endParaRPr lang="en-US" sz="1800"/>
            </a:p>
          </p:txBody>
        </p:sp>
        <p:sp>
          <p:nvSpPr>
            <p:cNvPr id="99359" name="Rectangle 40"/>
            <p:cNvSpPr>
              <a:spLocks noChangeArrowheads="1"/>
            </p:cNvSpPr>
            <p:nvPr/>
          </p:nvSpPr>
          <p:spPr bwMode="auto">
            <a:xfrm>
              <a:off x="2159" y="3385"/>
              <a:ext cx="185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1</a:t>
              </a:r>
            </a:p>
          </p:txBody>
        </p:sp>
        <p:sp>
          <p:nvSpPr>
            <p:cNvPr id="99360" name="Rectangle 41"/>
            <p:cNvSpPr>
              <a:spLocks noChangeArrowheads="1"/>
            </p:cNvSpPr>
            <p:nvPr/>
          </p:nvSpPr>
          <p:spPr bwMode="auto">
            <a:xfrm>
              <a:off x="2459" y="3380"/>
              <a:ext cx="185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2</a:t>
              </a:r>
            </a:p>
          </p:txBody>
        </p:sp>
        <p:sp>
          <p:nvSpPr>
            <p:cNvPr id="99361" name="Rectangle 42"/>
            <p:cNvSpPr>
              <a:spLocks noChangeArrowheads="1"/>
            </p:cNvSpPr>
            <p:nvPr/>
          </p:nvSpPr>
          <p:spPr bwMode="auto">
            <a:xfrm>
              <a:off x="3431" y="2237"/>
              <a:ext cx="1667" cy="5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Packet-by-packet 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fair queueing: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buffer 2 served at rate 1</a:t>
              </a:r>
            </a:p>
          </p:txBody>
        </p:sp>
        <p:sp>
          <p:nvSpPr>
            <p:cNvPr id="99362" name="Line 43"/>
            <p:cNvSpPr>
              <a:spLocks noChangeShapeType="1"/>
            </p:cNvSpPr>
            <p:nvPr/>
          </p:nvSpPr>
          <p:spPr bwMode="auto">
            <a:xfrm flipH="1">
              <a:off x="2616" y="2412"/>
              <a:ext cx="738" cy="48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9363" name="Line 44"/>
            <p:cNvSpPr>
              <a:spLocks noChangeShapeType="1"/>
            </p:cNvSpPr>
            <p:nvPr/>
          </p:nvSpPr>
          <p:spPr bwMode="auto">
            <a:xfrm>
              <a:off x="1988" y="2818"/>
              <a:ext cx="266" cy="55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9364" name="Line 45"/>
            <p:cNvSpPr>
              <a:spLocks noChangeShapeType="1"/>
            </p:cNvSpPr>
            <p:nvPr/>
          </p:nvSpPr>
          <p:spPr bwMode="auto">
            <a:xfrm>
              <a:off x="2251" y="2236"/>
              <a:ext cx="603" cy="1136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9365" name="Rectangle 46"/>
            <p:cNvSpPr>
              <a:spLocks noChangeArrowheads="1"/>
            </p:cNvSpPr>
            <p:nvPr/>
          </p:nvSpPr>
          <p:spPr bwMode="auto">
            <a:xfrm>
              <a:off x="782" y="2925"/>
              <a:ext cx="986" cy="7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Packet from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buffer 1 served at rate 1</a:t>
              </a:r>
            </a:p>
          </p:txBody>
        </p:sp>
        <p:sp>
          <p:nvSpPr>
            <p:cNvPr id="99366" name="Line 47"/>
            <p:cNvSpPr>
              <a:spLocks noChangeShapeType="1"/>
            </p:cNvSpPr>
            <p:nvPr/>
          </p:nvSpPr>
          <p:spPr bwMode="auto">
            <a:xfrm>
              <a:off x="1586" y="3072"/>
              <a:ext cx="538" cy="3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9367" name="Rectangle 48"/>
            <p:cNvSpPr>
              <a:spLocks noChangeArrowheads="1"/>
            </p:cNvSpPr>
            <p:nvPr/>
          </p:nvSpPr>
          <p:spPr bwMode="auto">
            <a:xfrm>
              <a:off x="858" y="2220"/>
              <a:ext cx="1029" cy="5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Packet from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buffer 2 waiting</a:t>
              </a:r>
            </a:p>
          </p:txBody>
        </p:sp>
        <p:sp>
          <p:nvSpPr>
            <p:cNvPr id="99368" name="Line 49"/>
            <p:cNvSpPr>
              <a:spLocks noChangeShapeType="1"/>
            </p:cNvSpPr>
            <p:nvPr/>
          </p:nvSpPr>
          <p:spPr bwMode="auto">
            <a:xfrm flipV="1">
              <a:off x="1467" y="2219"/>
              <a:ext cx="651" cy="33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9369" name="Rectangle 50"/>
            <p:cNvSpPr>
              <a:spLocks noChangeArrowheads="1"/>
            </p:cNvSpPr>
            <p:nvPr/>
          </p:nvSpPr>
          <p:spPr bwMode="auto">
            <a:xfrm>
              <a:off x="1898" y="3371"/>
              <a:ext cx="185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0</a:t>
              </a:r>
            </a:p>
          </p:txBody>
        </p:sp>
        <p:sp>
          <p:nvSpPr>
            <p:cNvPr id="99370" name="Line 51"/>
            <p:cNvSpPr>
              <a:spLocks noChangeShapeType="1"/>
            </p:cNvSpPr>
            <p:nvPr/>
          </p:nvSpPr>
          <p:spPr bwMode="auto">
            <a:xfrm>
              <a:off x="1982" y="2218"/>
              <a:ext cx="247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9371" name="Rectangle 52"/>
            <p:cNvSpPr>
              <a:spLocks noChangeArrowheads="1"/>
            </p:cNvSpPr>
            <p:nvPr/>
          </p:nvSpPr>
          <p:spPr bwMode="auto">
            <a:xfrm>
              <a:off x="2792" y="3393"/>
              <a:ext cx="185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3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ChangeArrowheads="1"/>
          </p:cNvSpPr>
          <p:nvPr/>
        </p:nvSpPr>
        <p:spPr bwMode="auto">
          <a:xfrm>
            <a:off x="2141538" y="661988"/>
            <a:ext cx="769937" cy="3540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0355" name="Rectangle 3"/>
          <p:cNvSpPr>
            <a:spLocks noChangeArrowheads="1"/>
          </p:cNvSpPr>
          <p:nvPr/>
        </p:nvSpPr>
        <p:spPr bwMode="auto">
          <a:xfrm>
            <a:off x="2679700" y="661988"/>
            <a:ext cx="220663" cy="3429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0356" name="Rectangle 4"/>
          <p:cNvSpPr>
            <a:spLocks noChangeArrowheads="1"/>
          </p:cNvSpPr>
          <p:nvPr/>
        </p:nvSpPr>
        <p:spPr bwMode="auto">
          <a:xfrm>
            <a:off x="2132013" y="1352550"/>
            <a:ext cx="769937" cy="35401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0357" name="Rectangle 5"/>
          <p:cNvSpPr>
            <a:spLocks noChangeArrowheads="1"/>
          </p:cNvSpPr>
          <p:nvPr/>
        </p:nvSpPr>
        <p:spPr bwMode="auto">
          <a:xfrm>
            <a:off x="2670175" y="1352550"/>
            <a:ext cx="220663" cy="3429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0358" name="Rectangle 6"/>
          <p:cNvSpPr>
            <a:spLocks noChangeArrowheads="1"/>
          </p:cNvSpPr>
          <p:nvPr/>
        </p:nvSpPr>
        <p:spPr bwMode="auto">
          <a:xfrm>
            <a:off x="1008063" y="469900"/>
            <a:ext cx="893762" cy="5778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600"/>
              <a:t>Buffer 1</a:t>
            </a:r>
          </a:p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600"/>
              <a:t>at </a:t>
            </a:r>
            <a:r>
              <a:rPr lang="en-US" sz="1600" i="1"/>
              <a:t>t</a:t>
            </a:r>
            <a:r>
              <a:rPr lang="en-US" sz="1600"/>
              <a:t>=0</a:t>
            </a:r>
          </a:p>
        </p:txBody>
      </p:sp>
      <p:sp>
        <p:nvSpPr>
          <p:cNvPr id="100359" name="Rectangle 7"/>
          <p:cNvSpPr>
            <a:spLocks noChangeArrowheads="1"/>
          </p:cNvSpPr>
          <p:nvPr/>
        </p:nvSpPr>
        <p:spPr bwMode="auto">
          <a:xfrm>
            <a:off x="1008063" y="1292225"/>
            <a:ext cx="893762" cy="5778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600"/>
              <a:t>Buffer 2</a:t>
            </a:r>
          </a:p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600"/>
              <a:t>at </a:t>
            </a:r>
            <a:r>
              <a:rPr lang="en-US" sz="1600" i="1"/>
              <a:t>t</a:t>
            </a:r>
            <a:r>
              <a:rPr lang="en-US" sz="1600"/>
              <a:t>=0</a:t>
            </a:r>
          </a:p>
        </p:txBody>
      </p:sp>
      <p:grpSp>
        <p:nvGrpSpPr>
          <p:cNvPr id="100360" name="Group 8"/>
          <p:cNvGrpSpPr>
            <a:grpSpLocks/>
          </p:cNvGrpSpPr>
          <p:nvPr/>
        </p:nvGrpSpPr>
        <p:grpSpPr bwMode="auto">
          <a:xfrm>
            <a:off x="3698875" y="315913"/>
            <a:ext cx="2117725" cy="2198687"/>
            <a:chOff x="2330" y="199"/>
            <a:chExt cx="1334" cy="1385"/>
          </a:xfrm>
        </p:grpSpPr>
        <p:sp>
          <p:nvSpPr>
            <p:cNvPr id="100401" name="Line 9"/>
            <p:cNvSpPr>
              <a:spLocks noChangeShapeType="1"/>
            </p:cNvSpPr>
            <p:nvPr/>
          </p:nvSpPr>
          <p:spPr bwMode="auto">
            <a:xfrm>
              <a:off x="2330" y="199"/>
              <a:ext cx="0" cy="13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0402" name="Line 10"/>
            <p:cNvSpPr>
              <a:spLocks noChangeShapeType="1"/>
            </p:cNvSpPr>
            <p:nvPr/>
          </p:nvSpPr>
          <p:spPr bwMode="auto">
            <a:xfrm>
              <a:off x="2341" y="1584"/>
              <a:ext cx="132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00361" name="Line 11"/>
          <p:cNvSpPr>
            <a:spLocks noChangeShapeType="1"/>
          </p:cNvSpPr>
          <p:nvPr/>
        </p:nvSpPr>
        <p:spPr bwMode="auto">
          <a:xfrm>
            <a:off x="3705225" y="1600200"/>
            <a:ext cx="2028825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00362" name="Line 12"/>
          <p:cNvSpPr>
            <a:spLocks noChangeShapeType="1"/>
          </p:cNvSpPr>
          <p:nvPr/>
        </p:nvSpPr>
        <p:spPr bwMode="auto">
          <a:xfrm>
            <a:off x="3705225" y="685800"/>
            <a:ext cx="2028825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00363" name="Line 13"/>
          <p:cNvSpPr>
            <a:spLocks noChangeShapeType="1"/>
          </p:cNvSpPr>
          <p:nvPr/>
        </p:nvSpPr>
        <p:spPr bwMode="auto">
          <a:xfrm flipV="1">
            <a:off x="4613275" y="441325"/>
            <a:ext cx="0" cy="2054225"/>
          </a:xfrm>
          <a:prstGeom prst="line">
            <a:avLst/>
          </a:prstGeom>
          <a:noFill/>
          <a:ln w="12700">
            <a:solidFill>
              <a:schemeClr val="tx2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00364" name="Line 14"/>
          <p:cNvSpPr>
            <a:spLocks noChangeShapeType="1"/>
          </p:cNvSpPr>
          <p:nvPr/>
        </p:nvSpPr>
        <p:spPr bwMode="auto">
          <a:xfrm flipV="1">
            <a:off x="5537200" y="466725"/>
            <a:ext cx="0" cy="2054225"/>
          </a:xfrm>
          <a:prstGeom prst="line">
            <a:avLst/>
          </a:prstGeom>
          <a:noFill/>
          <a:ln w="12700">
            <a:solidFill>
              <a:schemeClr val="tx2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00365" name="Rectangle 15"/>
          <p:cNvSpPr>
            <a:spLocks noChangeArrowheads="1"/>
          </p:cNvSpPr>
          <p:nvPr/>
        </p:nvSpPr>
        <p:spPr bwMode="auto">
          <a:xfrm>
            <a:off x="3262313" y="1420813"/>
            <a:ext cx="3079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1</a:t>
            </a:r>
          </a:p>
        </p:txBody>
      </p:sp>
      <p:sp>
        <p:nvSpPr>
          <p:cNvPr id="100366" name="Rectangle 16"/>
          <p:cNvSpPr>
            <a:spLocks noChangeArrowheads="1"/>
          </p:cNvSpPr>
          <p:nvPr/>
        </p:nvSpPr>
        <p:spPr bwMode="auto">
          <a:xfrm>
            <a:off x="5792788" y="2347913"/>
            <a:ext cx="2444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 i="1"/>
              <a:t>t</a:t>
            </a:r>
            <a:endParaRPr lang="en-US" sz="1800"/>
          </a:p>
        </p:txBody>
      </p:sp>
      <p:sp>
        <p:nvSpPr>
          <p:cNvPr id="100367" name="Line 17"/>
          <p:cNvSpPr>
            <a:spLocks noChangeShapeType="1"/>
          </p:cNvSpPr>
          <p:nvPr/>
        </p:nvSpPr>
        <p:spPr bwMode="auto">
          <a:xfrm>
            <a:off x="3714750" y="1616075"/>
            <a:ext cx="1176338" cy="88265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00368" name="Rectangle 18"/>
          <p:cNvSpPr>
            <a:spLocks noChangeArrowheads="1"/>
          </p:cNvSpPr>
          <p:nvPr/>
        </p:nvSpPr>
        <p:spPr bwMode="auto">
          <a:xfrm>
            <a:off x="4522788" y="2628900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1</a:t>
            </a:r>
          </a:p>
        </p:txBody>
      </p:sp>
      <p:sp>
        <p:nvSpPr>
          <p:cNvPr id="100369" name="Rectangle 19"/>
          <p:cNvSpPr>
            <a:spLocks noChangeArrowheads="1"/>
          </p:cNvSpPr>
          <p:nvPr/>
        </p:nvSpPr>
        <p:spPr bwMode="auto">
          <a:xfrm>
            <a:off x="5426075" y="2609850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2</a:t>
            </a:r>
          </a:p>
        </p:txBody>
      </p:sp>
      <p:sp>
        <p:nvSpPr>
          <p:cNvPr id="100370" name="Rectangle 20"/>
          <p:cNvSpPr>
            <a:spLocks noChangeArrowheads="1"/>
          </p:cNvSpPr>
          <p:nvPr/>
        </p:nvSpPr>
        <p:spPr bwMode="auto">
          <a:xfrm>
            <a:off x="5864225" y="485775"/>
            <a:ext cx="2301875" cy="1736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Fluid-flow system:</a:t>
            </a:r>
          </a:p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packet from buffer 1</a:t>
            </a:r>
          </a:p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served at rate 1/4;</a:t>
            </a:r>
          </a:p>
          <a:p>
            <a:pPr algn="l" eaLnBrk="0" hangingPunct="0">
              <a:spcBef>
                <a:spcPct val="0"/>
              </a:spcBef>
              <a:buSzTx/>
              <a:buFontTx/>
              <a:buNone/>
            </a:pPr>
            <a:endParaRPr lang="en-US" sz="1800"/>
          </a:p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Packet from buffer 1 </a:t>
            </a:r>
          </a:p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served at rate 1</a:t>
            </a:r>
          </a:p>
        </p:txBody>
      </p:sp>
      <p:sp>
        <p:nvSpPr>
          <p:cNvPr id="100371" name="Line 21"/>
          <p:cNvSpPr>
            <a:spLocks noChangeShapeType="1"/>
          </p:cNvSpPr>
          <p:nvPr/>
        </p:nvSpPr>
        <p:spPr bwMode="auto">
          <a:xfrm flipH="1">
            <a:off x="4394200" y="981075"/>
            <a:ext cx="1519238" cy="84296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00372" name="Rectangle 22"/>
          <p:cNvSpPr>
            <a:spLocks noChangeArrowheads="1"/>
          </p:cNvSpPr>
          <p:nvPr/>
        </p:nvSpPr>
        <p:spPr bwMode="auto">
          <a:xfrm>
            <a:off x="1230313" y="2224088"/>
            <a:ext cx="2238375" cy="638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Packet from buffer 2</a:t>
            </a:r>
          </a:p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served at rate 3/4</a:t>
            </a:r>
          </a:p>
        </p:txBody>
      </p:sp>
      <p:sp>
        <p:nvSpPr>
          <p:cNvPr id="100373" name="Rectangle 23"/>
          <p:cNvSpPr>
            <a:spLocks noChangeArrowheads="1"/>
          </p:cNvSpPr>
          <p:nvPr/>
        </p:nvSpPr>
        <p:spPr bwMode="auto">
          <a:xfrm>
            <a:off x="3536950" y="2568575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0</a:t>
            </a:r>
          </a:p>
        </p:txBody>
      </p:sp>
      <p:grpSp>
        <p:nvGrpSpPr>
          <p:cNvPr id="100374" name="Group 24"/>
          <p:cNvGrpSpPr>
            <a:grpSpLocks/>
          </p:cNvGrpSpPr>
          <p:nvPr/>
        </p:nvGrpSpPr>
        <p:grpSpPr bwMode="auto">
          <a:xfrm>
            <a:off x="2135188" y="3181350"/>
            <a:ext cx="2117725" cy="2205038"/>
            <a:chOff x="1345" y="2004"/>
            <a:chExt cx="1334" cy="1389"/>
          </a:xfrm>
        </p:grpSpPr>
        <p:grpSp>
          <p:nvGrpSpPr>
            <p:cNvPr id="100394" name="Group 25"/>
            <p:cNvGrpSpPr>
              <a:grpSpLocks/>
            </p:cNvGrpSpPr>
            <p:nvPr/>
          </p:nvGrpSpPr>
          <p:grpSpPr bwMode="auto">
            <a:xfrm>
              <a:off x="1345" y="2004"/>
              <a:ext cx="1334" cy="1385"/>
              <a:chOff x="1345" y="2004"/>
              <a:chExt cx="1334" cy="1385"/>
            </a:xfrm>
          </p:grpSpPr>
          <p:sp>
            <p:nvSpPr>
              <p:cNvPr id="100399" name="Line 26"/>
              <p:cNvSpPr>
                <a:spLocks noChangeShapeType="1"/>
              </p:cNvSpPr>
              <p:nvPr/>
            </p:nvSpPr>
            <p:spPr bwMode="auto">
              <a:xfrm>
                <a:off x="1345" y="2004"/>
                <a:ext cx="0" cy="13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00400" name="Line 27"/>
              <p:cNvSpPr>
                <a:spLocks noChangeShapeType="1"/>
              </p:cNvSpPr>
              <p:nvPr/>
            </p:nvSpPr>
            <p:spPr bwMode="auto">
              <a:xfrm>
                <a:off x="1356" y="3389"/>
                <a:ext cx="132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100395" name="Line 28"/>
            <p:cNvSpPr>
              <a:spLocks noChangeShapeType="1"/>
            </p:cNvSpPr>
            <p:nvPr/>
          </p:nvSpPr>
          <p:spPr bwMode="auto">
            <a:xfrm>
              <a:off x="1349" y="2813"/>
              <a:ext cx="127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0396" name="Line 29"/>
            <p:cNvSpPr>
              <a:spLocks noChangeShapeType="1"/>
            </p:cNvSpPr>
            <p:nvPr/>
          </p:nvSpPr>
          <p:spPr bwMode="auto">
            <a:xfrm>
              <a:off x="1349" y="2237"/>
              <a:ext cx="127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0397" name="Line 30"/>
            <p:cNvSpPr>
              <a:spLocks noChangeShapeType="1"/>
            </p:cNvSpPr>
            <p:nvPr/>
          </p:nvSpPr>
          <p:spPr bwMode="auto">
            <a:xfrm flipV="1">
              <a:off x="1921" y="2083"/>
              <a:ext cx="0" cy="12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0398" name="Line 31"/>
            <p:cNvSpPr>
              <a:spLocks noChangeShapeType="1"/>
            </p:cNvSpPr>
            <p:nvPr/>
          </p:nvSpPr>
          <p:spPr bwMode="auto">
            <a:xfrm flipV="1">
              <a:off x="2503" y="2099"/>
              <a:ext cx="0" cy="12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00375" name="Rectangle 32"/>
          <p:cNvSpPr>
            <a:spLocks noChangeArrowheads="1"/>
          </p:cNvSpPr>
          <p:nvPr/>
        </p:nvSpPr>
        <p:spPr bwMode="auto">
          <a:xfrm>
            <a:off x="1698625" y="4286250"/>
            <a:ext cx="307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1</a:t>
            </a:r>
          </a:p>
        </p:txBody>
      </p:sp>
      <p:sp>
        <p:nvSpPr>
          <p:cNvPr id="100376" name="Rectangle 33"/>
          <p:cNvSpPr>
            <a:spLocks noChangeArrowheads="1"/>
          </p:cNvSpPr>
          <p:nvPr/>
        </p:nvSpPr>
        <p:spPr bwMode="auto">
          <a:xfrm>
            <a:off x="4248150" y="5203825"/>
            <a:ext cx="2444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 i="1"/>
              <a:t>t</a:t>
            </a:r>
            <a:endParaRPr lang="en-US" sz="1800"/>
          </a:p>
        </p:txBody>
      </p:sp>
      <p:sp>
        <p:nvSpPr>
          <p:cNvPr id="100377" name="Rectangle 34"/>
          <p:cNvSpPr>
            <a:spLocks noChangeArrowheads="1"/>
          </p:cNvSpPr>
          <p:nvPr/>
        </p:nvSpPr>
        <p:spPr bwMode="auto">
          <a:xfrm>
            <a:off x="2959100" y="5494338"/>
            <a:ext cx="3079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1</a:t>
            </a:r>
          </a:p>
        </p:txBody>
      </p:sp>
      <p:sp>
        <p:nvSpPr>
          <p:cNvPr id="100378" name="Rectangle 35"/>
          <p:cNvSpPr>
            <a:spLocks noChangeArrowheads="1"/>
          </p:cNvSpPr>
          <p:nvPr/>
        </p:nvSpPr>
        <p:spPr bwMode="auto">
          <a:xfrm>
            <a:off x="3862388" y="5475288"/>
            <a:ext cx="3079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2</a:t>
            </a:r>
          </a:p>
        </p:txBody>
      </p:sp>
      <p:sp>
        <p:nvSpPr>
          <p:cNvPr id="100379" name="Rectangle 36"/>
          <p:cNvSpPr>
            <a:spLocks noChangeArrowheads="1"/>
          </p:cNvSpPr>
          <p:nvPr/>
        </p:nvSpPr>
        <p:spPr bwMode="auto">
          <a:xfrm>
            <a:off x="4572000" y="4643438"/>
            <a:ext cx="38893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Packet from buffer 1 served at rate 1</a:t>
            </a:r>
          </a:p>
        </p:txBody>
      </p:sp>
      <p:sp>
        <p:nvSpPr>
          <p:cNvPr id="100380" name="Line 37"/>
          <p:cNvSpPr>
            <a:spLocks noChangeShapeType="1"/>
          </p:cNvSpPr>
          <p:nvPr/>
        </p:nvSpPr>
        <p:spPr bwMode="auto">
          <a:xfrm flipH="1">
            <a:off x="3435350" y="4841875"/>
            <a:ext cx="1136650" cy="317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00381" name="Line 38"/>
          <p:cNvSpPr>
            <a:spLocks noChangeShapeType="1"/>
          </p:cNvSpPr>
          <p:nvPr/>
        </p:nvSpPr>
        <p:spPr bwMode="auto">
          <a:xfrm>
            <a:off x="2149475" y="4492625"/>
            <a:ext cx="871538" cy="86042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00382" name="Line 39"/>
          <p:cNvSpPr>
            <a:spLocks noChangeShapeType="1"/>
          </p:cNvSpPr>
          <p:nvPr/>
        </p:nvSpPr>
        <p:spPr bwMode="auto">
          <a:xfrm>
            <a:off x="2170113" y="4475163"/>
            <a:ext cx="862012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00383" name="Line 40"/>
          <p:cNvSpPr>
            <a:spLocks noChangeShapeType="1"/>
          </p:cNvSpPr>
          <p:nvPr/>
        </p:nvSpPr>
        <p:spPr bwMode="auto">
          <a:xfrm>
            <a:off x="3054350" y="4502150"/>
            <a:ext cx="901700" cy="86042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00384" name="Rectangle 41"/>
          <p:cNvSpPr>
            <a:spLocks noChangeArrowheads="1"/>
          </p:cNvSpPr>
          <p:nvPr/>
        </p:nvSpPr>
        <p:spPr bwMode="auto">
          <a:xfrm>
            <a:off x="519113" y="5178425"/>
            <a:ext cx="1768475" cy="9128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Packet from</a:t>
            </a:r>
          </a:p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buffer 2 </a:t>
            </a:r>
          </a:p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served at rate 1</a:t>
            </a:r>
          </a:p>
        </p:txBody>
      </p:sp>
      <p:sp>
        <p:nvSpPr>
          <p:cNvPr id="100385" name="Line 42"/>
          <p:cNvSpPr>
            <a:spLocks noChangeShapeType="1"/>
          </p:cNvSpPr>
          <p:nvPr/>
        </p:nvSpPr>
        <p:spPr bwMode="auto">
          <a:xfrm flipV="1">
            <a:off x="1720850" y="4840288"/>
            <a:ext cx="750888" cy="41751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00386" name="Rectangle 43"/>
          <p:cNvSpPr>
            <a:spLocks noChangeArrowheads="1"/>
          </p:cNvSpPr>
          <p:nvPr/>
        </p:nvSpPr>
        <p:spPr bwMode="auto">
          <a:xfrm>
            <a:off x="417513" y="3370263"/>
            <a:ext cx="1730375" cy="638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Packet from</a:t>
            </a:r>
          </a:p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buffer 1 waiting</a:t>
            </a:r>
          </a:p>
        </p:txBody>
      </p:sp>
      <p:sp>
        <p:nvSpPr>
          <p:cNvPr id="100387" name="Line 44"/>
          <p:cNvSpPr>
            <a:spLocks noChangeShapeType="1"/>
          </p:cNvSpPr>
          <p:nvPr/>
        </p:nvSpPr>
        <p:spPr bwMode="auto">
          <a:xfrm>
            <a:off x="1827213" y="3976688"/>
            <a:ext cx="704850" cy="46831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00388" name="Rectangle 45"/>
          <p:cNvSpPr>
            <a:spLocks noChangeArrowheads="1"/>
          </p:cNvSpPr>
          <p:nvPr/>
        </p:nvSpPr>
        <p:spPr bwMode="auto">
          <a:xfrm>
            <a:off x="2063750" y="5465763"/>
            <a:ext cx="307975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0</a:t>
            </a:r>
          </a:p>
        </p:txBody>
      </p:sp>
      <p:sp>
        <p:nvSpPr>
          <p:cNvPr id="100389" name="Line 46"/>
          <p:cNvSpPr>
            <a:spLocks noChangeShapeType="1"/>
          </p:cNvSpPr>
          <p:nvPr/>
        </p:nvSpPr>
        <p:spPr bwMode="auto">
          <a:xfrm>
            <a:off x="3694113" y="1606550"/>
            <a:ext cx="1196975" cy="3429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00390" name="Line 47"/>
          <p:cNvSpPr>
            <a:spLocks noChangeShapeType="1"/>
          </p:cNvSpPr>
          <p:nvPr/>
        </p:nvSpPr>
        <p:spPr bwMode="auto">
          <a:xfrm>
            <a:off x="4913313" y="1962150"/>
            <a:ext cx="617537" cy="52546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00391" name="Line 48"/>
          <p:cNvSpPr>
            <a:spLocks noChangeShapeType="1"/>
          </p:cNvSpPr>
          <p:nvPr/>
        </p:nvSpPr>
        <p:spPr bwMode="auto">
          <a:xfrm flipV="1">
            <a:off x="3379788" y="1997075"/>
            <a:ext cx="798512" cy="45243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00392" name="Line 49"/>
          <p:cNvSpPr>
            <a:spLocks noChangeShapeType="1"/>
          </p:cNvSpPr>
          <p:nvPr/>
        </p:nvSpPr>
        <p:spPr bwMode="auto">
          <a:xfrm flipH="1">
            <a:off x="5292725" y="1831975"/>
            <a:ext cx="609600" cy="41592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00393" name="Text Box 50"/>
          <p:cNvSpPr txBox="1">
            <a:spLocks noChangeArrowheads="1"/>
          </p:cNvSpPr>
          <p:nvPr/>
        </p:nvSpPr>
        <p:spPr bwMode="auto">
          <a:xfrm>
            <a:off x="4572000" y="3462338"/>
            <a:ext cx="4375150" cy="782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buSzTx/>
              <a:buFontTx/>
              <a:buNone/>
            </a:pPr>
            <a:r>
              <a:rPr lang="en-US" sz="1800"/>
              <a:t>Packet-by-packet weighted fair queueing:</a:t>
            </a:r>
          </a:p>
          <a:p>
            <a:pPr algn="l">
              <a:lnSpc>
                <a:spcPct val="50000"/>
              </a:lnSpc>
              <a:spcBef>
                <a:spcPct val="50000"/>
              </a:spcBef>
              <a:buSzTx/>
              <a:buFontTx/>
              <a:buNone/>
            </a:pPr>
            <a:r>
              <a:rPr lang="en-US" sz="1800"/>
              <a:t>buffer 2 served first at rate 1;</a:t>
            </a:r>
          </a:p>
          <a:p>
            <a:pPr algn="l">
              <a:lnSpc>
                <a:spcPct val="50000"/>
              </a:lnSpc>
              <a:spcBef>
                <a:spcPct val="50000"/>
              </a:spcBef>
              <a:buSzTx/>
              <a:buFontTx/>
              <a:buNone/>
            </a:pPr>
            <a:r>
              <a:rPr lang="en-US" sz="1800"/>
              <a:t>then buffer 1 served at rate 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4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Packetized GPS/WFQ</a:t>
            </a:r>
          </a:p>
        </p:txBody>
      </p:sp>
      <p:sp>
        <p:nvSpPr>
          <p:cNvPr id="101379" name="Rectangle 45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/>
            <a:r>
              <a:rPr lang="en-US" sz="2600" smtClean="0"/>
              <a:t>Compute packet completion time in ideal system</a:t>
            </a:r>
          </a:p>
          <a:p>
            <a:pPr lvl="1" eaLnBrk="1" hangingPunct="1"/>
            <a:r>
              <a:rPr lang="en-US" sz="2200" smtClean="0"/>
              <a:t>add tag to packet</a:t>
            </a:r>
          </a:p>
          <a:p>
            <a:pPr lvl="1" eaLnBrk="1" hangingPunct="1"/>
            <a:r>
              <a:rPr lang="en-US" sz="2200" smtClean="0"/>
              <a:t>sort packet in queue according to tag</a:t>
            </a:r>
          </a:p>
          <a:p>
            <a:pPr lvl="1" eaLnBrk="1" hangingPunct="1"/>
            <a:r>
              <a:rPr lang="en-US" sz="2200" smtClean="0"/>
              <a:t>serve according to HOL</a:t>
            </a:r>
          </a:p>
          <a:p>
            <a:pPr eaLnBrk="1" hangingPunct="1"/>
            <a:endParaRPr lang="en-US" sz="2600" smtClean="0"/>
          </a:p>
        </p:txBody>
      </p:sp>
      <p:grpSp>
        <p:nvGrpSpPr>
          <p:cNvPr id="101380" name="Group 23"/>
          <p:cNvGrpSpPr>
            <a:grpSpLocks/>
          </p:cNvGrpSpPr>
          <p:nvPr/>
        </p:nvGrpSpPr>
        <p:grpSpPr bwMode="auto">
          <a:xfrm>
            <a:off x="1089025" y="1744663"/>
            <a:ext cx="7005638" cy="1746250"/>
            <a:chOff x="507" y="1016"/>
            <a:chExt cx="4413" cy="1100"/>
          </a:xfrm>
        </p:grpSpPr>
        <p:sp>
          <p:nvSpPr>
            <p:cNvPr id="101381" name="Rectangle 24"/>
            <p:cNvSpPr>
              <a:spLocks noChangeArrowheads="1"/>
            </p:cNvSpPr>
            <p:nvPr/>
          </p:nvSpPr>
          <p:spPr bwMode="auto">
            <a:xfrm>
              <a:off x="3224" y="1296"/>
              <a:ext cx="688" cy="2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382" name="Line 25"/>
            <p:cNvSpPr>
              <a:spLocks noChangeShapeType="1"/>
            </p:cNvSpPr>
            <p:nvPr/>
          </p:nvSpPr>
          <p:spPr bwMode="auto">
            <a:xfrm>
              <a:off x="3756" y="1296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1383" name="Line 26"/>
            <p:cNvSpPr>
              <a:spLocks noChangeShapeType="1"/>
            </p:cNvSpPr>
            <p:nvPr/>
          </p:nvSpPr>
          <p:spPr bwMode="auto">
            <a:xfrm>
              <a:off x="3836" y="1296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1384" name="Line 27"/>
            <p:cNvSpPr>
              <a:spLocks noChangeShapeType="1"/>
            </p:cNvSpPr>
            <p:nvPr/>
          </p:nvSpPr>
          <p:spPr bwMode="auto">
            <a:xfrm>
              <a:off x="3580" y="1296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1385" name="Line 28"/>
            <p:cNvSpPr>
              <a:spLocks noChangeShapeType="1"/>
            </p:cNvSpPr>
            <p:nvPr/>
          </p:nvSpPr>
          <p:spPr bwMode="auto">
            <a:xfrm>
              <a:off x="3660" y="1296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1386" name="Line 29"/>
            <p:cNvSpPr>
              <a:spLocks noChangeShapeType="1"/>
            </p:cNvSpPr>
            <p:nvPr/>
          </p:nvSpPr>
          <p:spPr bwMode="auto">
            <a:xfrm>
              <a:off x="3404" y="1296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1387" name="Line 30"/>
            <p:cNvSpPr>
              <a:spLocks noChangeShapeType="1"/>
            </p:cNvSpPr>
            <p:nvPr/>
          </p:nvSpPr>
          <p:spPr bwMode="auto">
            <a:xfrm>
              <a:off x="3484" y="1296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1388" name="Oval 31"/>
            <p:cNvSpPr>
              <a:spLocks noChangeArrowheads="1"/>
            </p:cNvSpPr>
            <p:nvPr/>
          </p:nvSpPr>
          <p:spPr bwMode="auto">
            <a:xfrm>
              <a:off x="4120" y="1304"/>
              <a:ext cx="184" cy="176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389" name="Line 32"/>
            <p:cNvSpPr>
              <a:spLocks noChangeShapeType="1"/>
            </p:cNvSpPr>
            <p:nvPr/>
          </p:nvSpPr>
          <p:spPr bwMode="auto">
            <a:xfrm>
              <a:off x="3920" y="1396"/>
              <a:ext cx="192" cy="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1390" name="Line 33"/>
            <p:cNvSpPr>
              <a:spLocks noChangeShapeType="1"/>
            </p:cNvSpPr>
            <p:nvPr/>
          </p:nvSpPr>
          <p:spPr bwMode="auto">
            <a:xfrm>
              <a:off x="4312" y="1388"/>
              <a:ext cx="608" cy="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1391" name="Line 34"/>
            <p:cNvSpPr>
              <a:spLocks noChangeShapeType="1"/>
            </p:cNvSpPr>
            <p:nvPr/>
          </p:nvSpPr>
          <p:spPr bwMode="auto">
            <a:xfrm>
              <a:off x="2528" y="1388"/>
              <a:ext cx="672" cy="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1392" name="Rectangle 35"/>
            <p:cNvSpPr>
              <a:spLocks noChangeArrowheads="1"/>
            </p:cNvSpPr>
            <p:nvPr/>
          </p:nvSpPr>
          <p:spPr bwMode="auto">
            <a:xfrm>
              <a:off x="2731" y="1016"/>
              <a:ext cx="155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Sorted packet buffer</a:t>
              </a:r>
            </a:p>
          </p:txBody>
        </p:sp>
        <p:sp>
          <p:nvSpPr>
            <p:cNvPr id="101393" name="Rectangle 36"/>
            <p:cNvSpPr>
              <a:spLocks noChangeArrowheads="1"/>
            </p:cNvSpPr>
            <p:nvPr/>
          </p:nvSpPr>
          <p:spPr bwMode="auto">
            <a:xfrm>
              <a:off x="3655" y="1560"/>
              <a:ext cx="1066" cy="4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Transmission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link</a:t>
              </a:r>
            </a:p>
          </p:txBody>
        </p:sp>
        <p:sp>
          <p:nvSpPr>
            <p:cNvPr id="101394" name="Rectangle 37"/>
            <p:cNvSpPr>
              <a:spLocks noChangeArrowheads="1"/>
            </p:cNvSpPr>
            <p:nvPr/>
          </p:nvSpPr>
          <p:spPr bwMode="auto">
            <a:xfrm>
              <a:off x="507" y="1124"/>
              <a:ext cx="665" cy="4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Arriving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packets</a:t>
              </a:r>
            </a:p>
          </p:txBody>
        </p:sp>
        <p:sp>
          <p:nvSpPr>
            <p:cNvPr id="101395" name="Line 38"/>
            <p:cNvSpPr>
              <a:spLocks noChangeShapeType="1"/>
            </p:cNvSpPr>
            <p:nvPr/>
          </p:nvSpPr>
          <p:spPr bwMode="auto">
            <a:xfrm>
              <a:off x="2856" y="1448"/>
              <a:ext cx="0" cy="2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1396" name="Rectangle 39"/>
            <p:cNvSpPr>
              <a:spLocks noChangeArrowheads="1"/>
            </p:cNvSpPr>
            <p:nvPr/>
          </p:nvSpPr>
          <p:spPr bwMode="auto">
            <a:xfrm>
              <a:off x="2283" y="1676"/>
              <a:ext cx="1163" cy="4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Packet discard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when full</a:t>
              </a:r>
            </a:p>
          </p:txBody>
        </p:sp>
        <p:sp>
          <p:nvSpPr>
            <p:cNvPr id="101397" name="Line 40"/>
            <p:cNvSpPr>
              <a:spLocks noChangeShapeType="1"/>
            </p:cNvSpPr>
            <p:nvPr/>
          </p:nvSpPr>
          <p:spPr bwMode="auto">
            <a:xfrm>
              <a:off x="1184" y="1404"/>
              <a:ext cx="4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1398" name="Rectangle 41"/>
            <p:cNvSpPr>
              <a:spLocks noChangeArrowheads="1"/>
            </p:cNvSpPr>
            <p:nvPr/>
          </p:nvSpPr>
          <p:spPr bwMode="auto">
            <a:xfrm>
              <a:off x="1724" y="1196"/>
              <a:ext cx="764" cy="464"/>
            </a:xfrm>
            <a:prstGeom prst="rect">
              <a:avLst/>
            </a:prstGeom>
            <a:solidFill>
              <a:srgbClr val="B1CCCB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399" name="Rectangle 42"/>
            <p:cNvSpPr>
              <a:spLocks noChangeArrowheads="1"/>
            </p:cNvSpPr>
            <p:nvPr/>
          </p:nvSpPr>
          <p:spPr bwMode="auto">
            <a:xfrm>
              <a:off x="1754" y="1220"/>
              <a:ext cx="693" cy="4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Tagging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unit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Bit-by-Bit Fair Queueing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88950" y="1128713"/>
            <a:ext cx="8655050" cy="1905000"/>
          </a:xfrm>
        </p:spPr>
        <p:txBody>
          <a:bodyPr/>
          <a:lstStyle/>
          <a:p>
            <a:pPr eaLnBrk="1" hangingPunct="1"/>
            <a:r>
              <a:rPr lang="en-US" sz="2200" smtClean="0"/>
              <a:t>Assume n flows, n queues</a:t>
            </a:r>
          </a:p>
          <a:p>
            <a:pPr eaLnBrk="1" hangingPunct="1"/>
            <a:r>
              <a:rPr lang="en-US" sz="2200" smtClean="0"/>
              <a:t>1 round = 1 cycle serving all n queues</a:t>
            </a:r>
          </a:p>
          <a:p>
            <a:pPr eaLnBrk="1" hangingPunct="1"/>
            <a:r>
              <a:rPr lang="en-US" sz="2200" smtClean="0"/>
              <a:t>If each queue gets 1 bit per cycle, then 1 round = # active queues</a:t>
            </a:r>
          </a:p>
          <a:p>
            <a:pPr eaLnBrk="1" hangingPunct="1"/>
            <a:r>
              <a:rPr lang="en-US" sz="2200" smtClean="0"/>
              <a:t>Round number = number of cycles of service that have been completed</a:t>
            </a:r>
          </a:p>
        </p:txBody>
      </p:sp>
      <p:sp>
        <p:nvSpPr>
          <p:cNvPr id="102404" name="Rectangle 4"/>
          <p:cNvSpPr>
            <a:spLocks noChangeArrowheads="1"/>
          </p:cNvSpPr>
          <p:nvPr/>
        </p:nvSpPr>
        <p:spPr bwMode="auto">
          <a:xfrm>
            <a:off x="366713" y="4895850"/>
            <a:ext cx="8596312" cy="160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/>
          <a:lstStyle/>
          <a:p>
            <a:pPr marL="342900" indent="-342900" algn="l">
              <a:buClr>
                <a:schemeClr val="tx2"/>
              </a:buClr>
              <a:buFont typeface="Wingdings" pitchFamily="2" charset="2"/>
              <a:buChar char="l"/>
            </a:pPr>
            <a:r>
              <a:rPr lang="en-US" sz="2200"/>
              <a:t>If packet arrives to idle queue:</a:t>
            </a:r>
          </a:p>
          <a:p>
            <a:pPr marL="342900" indent="-342900" algn="l">
              <a:buClr>
                <a:schemeClr val="tx2"/>
              </a:buClr>
            </a:pPr>
            <a:r>
              <a:rPr lang="en-US" sz="2200"/>
              <a:t>	Finishing time = round number + packet size in bits</a:t>
            </a:r>
          </a:p>
          <a:p>
            <a:pPr marL="342900" indent="-342900" algn="l">
              <a:buClr>
                <a:schemeClr val="tx2"/>
              </a:buClr>
              <a:buFont typeface="Wingdings" pitchFamily="2" charset="2"/>
              <a:buChar char="l"/>
            </a:pPr>
            <a:r>
              <a:rPr lang="en-US" sz="2200"/>
              <a:t>If packet arrives to active queue: </a:t>
            </a:r>
          </a:p>
          <a:p>
            <a:pPr marL="342900" indent="-342900" algn="l">
              <a:buClr>
                <a:schemeClr val="tx2"/>
              </a:buClr>
            </a:pPr>
            <a:r>
              <a:rPr lang="en-US" sz="2200"/>
              <a:t>Finishing time = finishing time of last packet in queue  + packet size</a:t>
            </a:r>
          </a:p>
        </p:txBody>
      </p:sp>
      <p:grpSp>
        <p:nvGrpSpPr>
          <p:cNvPr id="102405" name="Group 25"/>
          <p:cNvGrpSpPr>
            <a:grpSpLocks/>
          </p:cNvGrpSpPr>
          <p:nvPr/>
        </p:nvGrpSpPr>
        <p:grpSpPr bwMode="auto">
          <a:xfrm>
            <a:off x="2870200" y="2933700"/>
            <a:ext cx="4135438" cy="1828800"/>
            <a:chOff x="1808" y="1848"/>
            <a:chExt cx="2605" cy="1152"/>
          </a:xfrm>
        </p:grpSpPr>
        <p:sp>
          <p:nvSpPr>
            <p:cNvPr id="102406" name="Rectangle 5"/>
            <p:cNvSpPr>
              <a:spLocks noChangeArrowheads="1"/>
            </p:cNvSpPr>
            <p:nvPr/>
          </p:nvSpPr>
          <p:spPr bwMode="auto">
            <a:xfrm>
              <a:off x="2112" y="2232"/>
              <a:ext cx="816" cy="14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07" name="Rectangle 6"/>
            <p:cNvSpPr>
              <a:spLocks noChangeArrowheads="1"/>
            </p:cNvSpPr>
            <p:nvPr/>
          </p:nvSpPr>
          <p:spPr bwMode="auto">
            <a:xfrm>
              <a:off x="1824" y="2376"/>
              <a:ext cx="1104" cy="14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08" name="Rectangle 7"/>
            <p:cNvSpPr>
              <a:spLocks noChangeArrowheads="1"/>
            </p:cNvSpPr>
            <p:nvPr/>
          </p:nvSpPr>
          <p:spPr bwMode="auto">
            <a:xfrm>
              <a:off x="1968" y="2664"/>
              <a:ext cx="960" cy="14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09" name="Line 8"/>
            <p:cNvSpPr>
              <a:spLocks noChangeShapeType="1"/>
            </p:cNvSpPr>
            <p:nvPr/>
          </p:nvSpPr>
          <p:spPr bwMode="auto">
            <a:xfrm>
              <a:off x="2928" y="252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2410" name="Freeform 9"/>
            <p:cNvSpPr>
              <a:spLocks/>
            </p:cNvSpPr>
            <p:nvPr/>
          </p:nvSpPr>
          <p:spPr bwMode="auto">
            <a:xfrm>
              <a:off x="2776" y="2088"/>
              <a:ext cx="152" cy="912"/>
            </a:xfrm>
            <a:custGeom>
              <a:avLst/>
              <a:gdLst>
                <a:gd name="T0" fmla="*/ 104 w 152"/>
                <a:gd name="T1" fmla="*/ 0 h 912"/>
                <a:gd name="T2" fmla="*/ 8 w 152"/>
                <a:gd name="T3" fmla="*/ 432 h 912"/>
                <a:gd name="T4" fmla="*/ 152 w 152"/>
                <a:gd name="T5" fmla="*/ 912 h 912"/>
                <a:gd name="T6" fmla="*/ 0 60000 65536"/>
                <a:gd name="T7" fmla="*/ 0 60000 65536"/>
                <a:gd name="T8" fmla="*/ 0 60000 65536"/>
                <a:gd name="T9" fmla="*/ 0 w 152"/>
                <a:gd name="T10" fmla="*/ 0 h 912"/>
                <a:gd name="T11" fmla="*/ 152 w 152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" h="912">
                  <a:moveTo>
                    <a:pt x="104" y="0"/>
                  </a:moveTo>
                  <a:cubicBezTo>
                    <a:pt x="52" y="140"/>
                    <a:pt x="0" y="280"/>
                    <a:pt x="8" y="432"/>
                  </a:cubicBezTo>
                  <a:cubicBezTo>
                    <a:pt x="16" y="584"/>
                    <a:pt x="84" y="748"/>
                    <a:pt x="152" y="912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11" name="Freeform 10"/>
            <p:cNvSpPr>
              <a:spLocks/>
            </p:cNvSpPr>
            <p:nvPr/>
          </p:nvSpPr>
          <p:spPr bwMode="auto">
            <a:xfrm>
              <a:off x="2688" y="2088"/>
              <a:ext cx="152" cy="912"/>
            </a:xfrm>
            <a:custGeom>
              <a:avLst/>
              <a:gdLst>
                <a:gd name="T0" fmla="*/ 104 w 152"/>
                <a:gd name="T1" fmla="*/ 0 h 912"/>
                <a:gd name="T2" fmla="*/ 8 w 152"/>
                <a:gd name="T3" fmla="*/ 432 h 912"/>
                <a:gd name="T4" fmla="*/ 152 w 152"/>
                <a:gd name="T5" fmla="*/ 912 h 912"/>
                <a:gd name="T6" fmla="*/ 0 60000 65536"/>
                <a:gd name="T7" fmla="*/ 0 60000 65536"/>
                <a:gd name="T8" fmla="*/ 0 60000 65536"/>
                <a:gd name="T9" fmla="*/ 0 w 152"/>
                <a:gd name="T10" fmla="*/ 0 h 912"/>
                <a:gd name="T11" fmla="*/ 152 w 152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" h="912">
                  <a:moveTo>
                    <a:pt x="104" y="0"/>
                  </a:moveTo>
                  <a:cubicBezTo>
                    <a:pt x="52" y="140"/>
                    <a:pt x="0" y="280"/>
                    <a:pt x="8" y="432"/>
                  </a:cubicBezTo>
                  <a:cubicBezTo>
                    <a:pt x="16" y="584"/>
                    <a:pt x="84" y="748"/>
                    <a:pt x="152" y="912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12" name="Freeform 11"/>
            <p:cNvSpPr>
              <a:spLocks/>
            </p:cNvSpPr>
            <p:nvPr/>
          </p:nvSpPr>
          <p:spPr bwMode="auto">
            <a:xfrm>
              <a:off x="2600" y="2088"/>
              <a:ext cx="152" cy="912"/>
            </a:xfrm>
            <a:custGeom>
              <a:avLst/>
              <a:gdLst>
                <a:gd name="T0" fmla="*/ 104 w 152"/>
                <a:gd name="T1" fmla="*/ 0 h 912"/>
                <a:gd name="T2" fmla="*/ 8 w 152"/>
                <a:gd name="T3" fmla="*/ 432 h 912"/>
                <a:gd name="T4" fmla="*/ 152 w 152"/>
                <a:gd name="T5" fmla="*/ 912 h 912"/>
                <a:gd name="T6" fmla="*/ 0 60000 65536"/>
                <a:gd name="T7" fmla="*/ 0 60000 65536"/>
                <a:gd name="T8" fmla="*/ 0 60000 65536"/>
                <a:gd name="T9" fmla="*/ 0 w 152"/>
                <a:gd name="T10" fmla="*/ 0 h 912"/>
                <a:gd name="T11" fmla="*/ 152 w 152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" h="912">
                  <a:moveTo>
                    <a:pt x="104" y="0"/>
                  </a:moveTo>
                  <a:cubicBezTo>
                    <a:pt x="52" y="140"/>
                    <a:pt x="0" y="280"/>
                    <a:pt x="8" y="432"/>
                  </a:cubicBezTo>
                  <a:cubicBezTo>
                    <a:pt x="16" y="584"/>
                    <a:pt x="84" y="748"/>
                    <a:pt x="152" y="912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13" name="Freeform 12"/>
            <p:cNvSpPr>
              <a:spLocks/>
            </p:cNvSpPr>
            <p:nvPr/>
          </p:nvSpPr>
          <p:spPr bwMode="auto">
            <a:xfrm>
              <a:off x="2512" y="2088"/>
              <a:ext cx="152" cy="912"/>
            </a:xfrm>
            <a:custGeom>
              <a:avLst/>
              <a:gdLst>
                <a:gd name="T0" fmla="*/ 104 w 152"/>
                <a:gd name="T1" fmla="*/ 0 h 912"/>
                <a:gd name="T2" fmla="*/ 8 w 152"/>
                <a:gd name="T3" fmla="*/ 432 h 912"/>
                <a:gd name="T4" fmla="*/ 152 w 152"/>
                <a:gd name="T5" fmla="*/ 912 h 912"/>
                <a:gd name="T6" fmla="*/ 0 60000 65536"/>
                <a:gd name="T7" fmla="*/ 0 60000 65536"/>
                <a:gd name="T8" fmla="*/ 0 60000 65536"/>
                <a:gd name="T9" fmla="*/ 0 w 152"/>
                <a:gd name="T10" fmla="*/ 0 h 912"/>
                <a:gd name="T11" fmla="*/ 152 w 152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" h="912">
                  <a:moveTo>
                    <a:pt x="104" y="0"/>
                  </a:moveTo>
                  <a:cubicBezTo>
                    <a:pt x="52" y="140"/>
                    <a:pt x="0" y="280"/>
                    <a:pt x="8" y="432"/>
                  </a:cubicBezTo>
                  <a:cubicBezTo>
                    <a:pt x="16" y="584"/>
                    <a:pt x="84" y="748"/>
                    <a:pt x="152" y="912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14" name="Freeform 13"/>
            <p:cNvSpPr>
              <a:spLocks/>
            </p:cNvSpPr>
            <p:nvPr/>
          </p:nvSpPr>
          <p:spPr bwMode="auto">
            <a:xfrm>
              <a:off x="2424" y="2088"/>
              <a:ext cx="152" cy="912"/>
            </a:xfrm>
            <a:custGeom>
              <a:avLst/>
              <a:gdLst>
                <a:gd name="T0" fmla="*/ 104 w 152"/>
                <a:gd name="T1" fmla="*/ 0 h 912"/>
                <a:gd name="T2" fmla="*/ 8 w 152"/>
                <a:gd name="T3" fmla="*/ 432 h 912"/>
                <a:gd name="T4" fmla="*/ 152 w 152"/>
                <a:gd name="T5" fmla="*/ 912 h 912"/>
                <a:gd name="T6" fmla="*/ 0 60000 65536"/>
                <a:gd name="T7" fmla="*/ 0 60000 65536"/>
                <a:gd name="T8" fmla="*/ 0 60000 65536"/>
                <a:gd name="T9" fmla="*/ 0 w 152"/>
                <a:gd name="T10" fmla="*/ 0 h 912"/>
                <a:gd name="T11" fmla="*/ 152 w 152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" h="912">
                  <a:moveTo>
                    <a:pt x="104" y="0"/>
                  </a:moveTo>
                  <a:cubicBezTo>
                    <a:pt x="52" y="140"/>
                    <a:pt x="0" y="280"/>
                    <a:pt x="8" y="432"/>
                  </a:cubicBezTo>
                  <a:cubicBezTo>
                    <a:pt x="16" y="584"/>
                    <a:pt x="84" y="748"/>
                    <a:pt x="152" y="912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15" name="Freeform 14"/>
            <p:cNvSpPr>
              <a:spLocks/>
            </p:cNvSpPr>
            <p:nvPr/>
          </p:nvSpPr>
          <p:spPr bwMode="auto">
            <a:xfrm>
              <a:off x="2336" y="2088"/>
              <a:ext cx="152" cy="912"/>
            </a:xfrm>
            <a:custGeom>
              <a:avLst/>
              <a:gdLst>
                <a:gd name="T0" fmla="*/ 104 w 152"/>
                <a:gd name="T1" fmla="*/ 0 h 912"/>
                <a:gd name="T2" fmla="*/ 8 w 152"/>
                <a:gd name="T3" fmla="*/ 432 h 912"/>
                <a:gd name="T4" fmla="*/ 152 w 152"/>
                <a:gd name="T5" fmla="*/ 912 h 912"/>
                <a:gd name="T6" fmla="*/ 0 60000 65536"/>
                <a:gd name="T7" fmla="*/ 0 60000 65536"/>
                <a:gd name="T8" fmla="*/ 0 60000 65536"/>
                <a:gd name="T9" fmla="*/ 0 w 152"/>
                <a:gd name="T10" fmla="*/ 0 h 912"/>
                <a:gd name="T11" fmla="*/ 152 w 152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" h="912">
                  <a:moveTo>
                    <a:pt x="104" y="0"/>
                  </a:moveTo>
                  <a:cubicBezTo>
                    <a:pt x="52" y="140"/>
                    <a:pt x="0" y="280"/>
                    <a:pt x="8" y="432"/>
                  </a:cubicBezTo>
                  <a:cubicBezTo>
                    <a:pt x="16" y="584"/>
                    <a:pt x="84" y="748"/>
                    <a:pt x="152" y="912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16" name="Freeform 15"/>
            <p:cNvSpPr>
              <a:spLocks/>
            </p:cNvSpPr>
            <p:nvPr/>
          </p:nvSpPr>
          <p:spPr bwMode="auto">
            <a:xfrm>
              <a:off x="2248" y="2088"/>
              <a:ext cx="152" cy="912"/>
            </a:xfrm>
            <a:custGeom>
              <a:avLst/>
              <a:gdLst>
                <a:gd name="T0" fmla="*/ 104 w 152"/>
                <a:gd name="T1" fmla="*/ 0 h 912"/>
                <a:gd name="T2" fmla="*/ 8 w 152"/>
                <a:gd name="T3" fmla="*/ 432 h 912"/>
                <a:gd name="T4" fmla="*/ 152 w 152"/>
                <a:gd name="T5" fmla="*/ 912 h 912"/>
                <a:gd name="T6" fmla="*/ 0 60000 65536"/>
                <a:gd name="T7" fmla="*/ 0 60000 65536"/>
                <a:gd name="T8" fmla="*/ 0 60000 65536"/>
                <a:gd name="T9" fmla="*/ 0 w 152"/>
                <a:gd name="T10" fmla="*/ 0 h 912"/>
                <a:gd name="T11" fmla="*/ 152 w 152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" h="912">
                  <a:moveTo>
                    <a:pt x="104" y="0"/>
                  </a:moveTo>
                  <a:cubicBezTo>
                    <a:pt x="52" y="140"/>
                    <a:pt x="0" y="280"/>
                    <a:pt x="8" y="432"/>
                  </a:cubicBezTo>
                  <a:cubicBezTo>
                    <a:pt x="16" y="584"/>
                    <a:pt x="84" y="748"/>
                    <a:pt x="152" y="912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17" name="Freeform 16"/>
            <p:cNvSpPr>
              <a:spLocks/>
            </p:cNvSpPr>
            <p:nvPr/>
          </p:nvSpPr>
          <p:spPr bwMode="auto">
            <a:xfrm>
              <a:off x="2160" y="2088"/>
              <a:ext cx="152" cy="912"/>
            </a:xfrm>
            <a:custGeom>
              <a:avLst/>
              <a:gdLst>
                <a:gd name="T0" fmla="*/ 104 w 152"/>
                <a:gd name="T1" fmla="*/ 0 h 912"/>
                <a:gd name="T2" fmla="*/ 8 w 152"/>
                <a:gd name="T3" fmla="*/ 432 h 912"/>
                <a:gd name="T4" fmla="*/ 152 w 152"/>
                <a:gd name="T5" fmla="*/ 912 h 912"/>
                <a:gd name="T6" fmla="*/ 0 60000 65536"/>
                <a:gd name="T7" fmla="*/ 0 60000 65536"/>
                <a:gd name="T8" fmla="*/ 0 60000 65536"/>
                <a:gd name="T9" fmla="*/ 0 w 152"/>
                <a:gd name="T10" fmla="*/ 0 h 912"/>
                <a:gd name="T11" fmla="*/ 152 w 152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" h="912">
                  <a:moveTo>
                    <a:pt x="104" y="0"/>
                  </a:moveTo>
                  <a:cubicBezTo>
                    <a:pt x="52" y="140"/>
                    <a:pt x="0" y="280"/>
                    <a:pt x="8" y="432"/>
                  </a:cubicBezTo>
                  <a:cubicBezTo>
                    <a:pt x="16" y="584"/>
                    <a:pt x="84" y="748"/>
                    <a:pt x="152" y="912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18" name="Freeform 17"/>
            <p:cNvSpPr>
              <a:spLocks/>
            </p:cNvSpPr>
            <p:nvPr/>
          </p:nvSpPr>
          <p:spPr bwMode="auto">
            <a:xfrm>
              <a:off x="2072" y="2088"/>
              <a:ext cx="152" cy="912"/>
            </a:xfrm>
            <a:custGeom>
              <a:avLst/>
              <a:gdLst>
                <a:gd name="T0" fmla="*/ 104 w 152"/>
                <a:gd name="T1" fmla="*/ 0 h 912"/>
                <a:gd name="T2" fmla="*/ 8 w 152"/>
                <a:gd name="T3" fmla="*/ 432 h 912"/>
                <a:gd name="T4" fmla="*/ 152 w 152"/>
                <a:gd name="T5" fmla="*/ 912 h 912"/>
                <a:gd name="T6" fmla="*/ 0 60000 65536"/>
                <a:gd name="T7" fmla="*/ 0 60000 65536"/>
                <a:gd name="T8" fmla="*/ 0 60000 65536"/>
                <a:gd name="T9" fmla="*/ 0 w 152"/>
                <a:gd name="T10" fmla="*/ 0 h 912"/>
                <a:gd name="T11" fmla="*/ 152 w 152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" h="912">
                  <a:moveTo>
                    <a:pt x="104" y="0"/>
                  </a:moveTo>
                  <a:cubicBezTo>
                    <a:pt x="52" y="140"/>
                    <a:pt x="0" y="280"/>
                    <a:pt x="8" y="432"/>
                  </a:cubicBezTo>
                  <a:cubicBezTo>
                    <a:pt x="16" y="584"/>
                    <a:pt x="84" y="748"/>
                    <a:pt x="152" y="912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19" name="Freeform 18"/>
            <p:cNvSpPr>
              <a:spLocks/>
            </p:cNvSpPr>
            <p:nvPr/>
          </p:nvSpPr>
          <p:spPr bwMode="auto">
            <a:xfrm>
              <a:off x="1984" y="2088"/>
              <a:ext cx="152" cy="912"/>
            </a:xfrm>
            <a:custGeom>
              <a:avLst/>
              <a:gdLst>
                <a:gd name="T0" fmla="*/ 104 w 152"/>
                <a:gd name="T1" fmla="*/ 0 h 912"/>
                <a:gd name="T2" fmla="*/ 8 w 152"/>
                <a:gd name="T3" fmla="*/ 432 h 912"/>
                <a:gd name="T4" fmla="*/ 152 w 152"/>
                <a:gd name="T5" fmla="*/ 912 h 912"/>
                <a:gd name="T6" fmla="*/ 0 60000 65536"/>
                <a:gd name="T7" fmla="*/ 0 60000 65536"/>
                <a:gd name="T8" fmla="*/ 0 60000 65536"/>
                <a:gd name="T9" fmla="*/ 0 w 152"/>
                <a:gd name="T10" fmla="*/ 0 h 912"/>
                <a:gd name="T11" fmla="*/ 152 w 152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" h="912">
                  <a:moveTo>
                    <a:pt x="104" y="0"/>
                  </a:moveTo>
                  <a:cubicBezTo>
                    <a:pt x="52" y="140"/>
                    <a:pt x="0" y="280"/>
                    <a:pt x="8" y="432"/>
                  </a:cubicBezTo>
                  <a:cubicBezTo>
                    <a:pt x="16" y="584"/>
                    <a:pt x="84" y="748"/>
                    <a:pt x="152" y="912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20" name="Freeform 19"/>
            <p:cNvSpPr>
              <a:spLocks/>
            </p:cNvSpPr>
            <p:nvPr/>
          </p:nvSpPr>
          <p:spPr bwMode="auto">
            <a:xfrm>
              <a:off x="1896" y="2088"/>
              <a:ext cx="152" cy="912"/>
            </a:xfrm>
            <a:custGeom>
              <a:avLst/>
              <a:gdLst>
                <a:gd name="T0" fmla="*/ 104 w 152"/>
                <a:gd name="T1" fmla="*/ 0 h 912"/>
                <a:gd name="T2" fmla="*/ 8 w 152"/>
                <a:gd name="T3" fmla="*/ 432 h 912"/>
                <a:gd name="T4" fmla="*/ 152 w 152"/>
                <a:gd name="T5" fmla="*/ 912 h 912"/>
                <a:gd name="T6" fmla="*/ 0 60000 65536"/>
                <a:gd name="T7" fmla="*/ 0 60000 65536"/>
                <a:gd name="T8" fmla="*/ 0 60000 65536"/>
                <a:gd name="T9" fmla="*/ 0 w 152"/>
                <a:gd name="T10" fmla="*/ 0 h 912"/>
                <a:gd name="T11" fmla="*/ 152 w 152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" h="912">
                  <a:moveTo>
                    <a:pt x="104" y="0"/>
                  </a:moveTo>
                  <a:cubicBezTo>
                    <a:pt x="52" y="140"/>
                    <a:pt x="0" y="280"/>
                    <a:pt x="8" y="432"/>
                  </a:cubicBezTo>
                  <a:cubicBezTo>
                    <a:pt x="16" y="584"/>
                    <a:pt x="84" y="748"/>
                    <a:pt x="152" y="912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21" name="Freeform 20"/>
            <p:cNvSpPr>
              <a:spLocks/>
            </p:cNvSpPr>
            <p:nvPr/>
          </p:nvSpPr>
          <p:spPr bwMode="auto">
            <a:xfrm>
              <a:off x="1808" y="2088"/>
              <a:ext cx="152" cy="912"/>
            </a:xfrm>
            <a:custGeom>
              <a:avLst/>
              <a:gdLst>
                <a:gd name="T0" fmla="*/ 104 w 152"/>
                <a:gd name="T1" fmla="*/ 0 h 912"/>
                <a:gd name="T2" fmla="*/ 8 w 152"/>
                <a:gd name="T3" fmla="*/ 432 h 912"/>
                <a:gd name="T4" fmla="*/ 152 w 152"/>
                <a:gd name="T5" fmla="*/ 912 h 912"/>
                <a:gd name="T6" fmla="*/ 0 60000 65536"/>
                <a:gd name="T7" fmla="*/ 0 60000 65536"/>
                <a:gd name="T8" fmla="*/ 0 60000 65536"/>
                <a:gd name="T9" fmla="*/ 0 w 152"/>
                <a:gd name="T10" fmla="*/ 0 h 912"/>
                <a:gd name="T11" fmla="*/ 152 w 152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" h="912">
                  <a:moveTo>
                    <a:pt x="104" y="0"/>
                  </a:moveTo>
                  <a:cubicBezTo>
                    <a:pt x="52" y="140"/>
                    <a:pt x="0" y="280"/>
                    <a:pt x="8" y="432"/>
                  </a:cubicBezTo>
                  <a:cubicBezTo>
                    <a:pt x="16" y="584"/>
                    <a:pt x="84" y="748"/>
                    <a:pt x="152" y="912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22" name="Text Box 21"/>
            <p:cNvSpPr txBox="1">
              <a:spLocks noChangeArrowheads="1"/>
            </p:cNvSpPr>
            <p:nvPr/>
          </p:nvSpPr>
          <p:spPr bwMode="auto">
            <a:xfrm>
              <a:off x="2133" y="1896"/>
              <a:ext cx="60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rounds</a:t>
              </a:r>
            </a:p>
          </p:txBody>
        </p:sp>
        <p:sp>
          <p:nvSpPr>
            <p:cNvPr id="102423" name="Line 22"/>
            <p:cNvSpPr>
              <a:spLocks noChangeShapeType="1"/>
            </p:cNvSpPr>
            <p:nvPr/>
          </p:nvSpPr>
          <p:spPr bwMode="auto">
            <a:xfrm flipH="1">
              <a:off x="2976" y="1944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2424" name="Text Box 23"/>
            <p:cNvSpPr txBox="1">
              <a:spLocks noChangeArrowheads="1"/>
            </p:cNvSpPr>
            <p:nvPr/>
          </p:nvSpPr>
          <p:spPr bwMode="auto">
            <a:xfrm>
              <a:off x="3115" y="1848"/>
              <a:ext cx="129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Current Round #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426" name="Group 3"/>
          <p:cNvGrpSpPr>
            <a:grpSpLocks/>
          </p:cNvGrpSpPr>
          <p:nvPr/>
        </p:nvGrpSpPr>
        <p:grpSpPr bwMode="auto">
          <a:xfrm>
            <a:off x="1520825" y="711200"/>
            <a:ext cx="5238750" cy="4265613"/>
            <a:chOff x="1209" y="789"/>
            <a:chExt cx="3300" cy="2687"/>
          </a:xfrm>
        </p:grpSpPr>
        <p:sp>
          <p:nvSpPr>
            <p:cNvPr id="103428" name="Rectangle 4"/>
            <p:cNvSpPr>
              <a:spLocks noChangeArrowheads="1"/>
            </p:cNvSpPr>
            <p:nvPr/>
          </p:nvSpPr>
          <p:spPr bwMode="auto">
            <a:xfrm>
              <a:off x="2129" y="1539"/>
              <a:ext cx="1423" cy="204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29" name="Rectangle 5"/>
            <p:cNvSpPr>
              <a:spLocks noChangeArrowheads="1"/>
            </p:cNvSpPr>
            <p:nvPr/>
          </p:nvSpPr>
          <p:spPr bwMode="auto">
            <a:xfrm>
              <a:off x="2129" y="1742"/>
              <a:ext cx="1423" cy="205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30" name="Rectangle 6"/>
            <p:cNvSpPr>
              <a:spLocks noChangeArrowheads="1"/>
            </p:cNvSpPr>
            <p:nvPr/>
          </p:nvSpPr>
          <p:spPr bwMode="auto">
            <a:xfrm>
              <a:off x="2129" y="1945"/>
              <a:ext cx="1423" cy="205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31" name="Rectangle 7"/>
            <p:cNvSpPr>
              <a:spLocks noChangeArrowheads="1"/>
            </p:cNvSpPr>
            <p:nvPr/>
          </p:nvSpPr>
          <p:spPr bwMode="auto">
            <a:xfrm>
              <a:off x="2129" y="2149"/>
              <a:ext cx="1423" cy="204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32" name="Rectangle 8"/>
            <p:cNvSpPr>
              <a:spLocks noChangeArrowheads="1"/>
            </p:cNvSpPr>
            <p:nvPr/>
          </p:nvSpPr>
          <p:spPr bwMode="auto">
            <a:xfrm>
              <a:off x="2697" y="1742"/>
              <a:ext cx="855" cy="205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33" name="Rectangle 9"/>
            <p:cNvSpPr>
              <a:spLocks noChangeArrowheads="1"/>
            </p:cNvSpPr>
            <p:nvPr/>
          </p:nvSpPr>
          <p:spPr bwMode="auto">
            <a:xfrm>
              <a:off x="1317" y="1530"/>
              <a:ext cx="558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34" name="Rectangle 10"/>
            <p:cNvSpPr>
              <a:spLocks noChangeArrowheads="1"/>
            </p:cNvSpPr>
            <p:nvPr/>
          </p:nvSpPr>
          <p:spPr bwMode="auto">
            <a:xfrm>
              <a:off x="1421" y="1574"/>
              <a:ext cx="420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500">
                  <a:solidFill>
                    <a:srgbClr val="000000"/>
                  </a:solidFill>
                </a:rPr>
                <a:t>Buffer 1</a:t>
              </a:r>
              <a:endParaRPr lang="en-US" sz="1400"/>
            </a:p>
          </p:txBody>
        </p:sp>
        <p:sp>
          <p:nvSpPr>
            <p:cNvPr id="103435" name="Rectangle 11"/>
            <p:cNvSpPr>
              <a:spLocks noChangeArrowheads="1"/>
            </p:cNvSpPr>
            <p:nvPr/>
          </p:nvSpPr>
          <p:spPr bwMode="auto">
            <a:xfrm>
              <a:off x="1317" y="1692"/>
              <a:ext cx="558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36" name="Rectangle 12"/>
            <p:cNvSpPr>
              <a:spLocks noChangeArrowheads="1"/>
            </p:cNvSpPr>
            <p:nvPr/>
          </p:nvSpPr>
          <p:spPr bwMode="auto">
            <a:xfrm>
              <a:off x="1421" y="1737"/>
              <a:ext cx="420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500">
                  <a:solidFill>
                    <a:srgbClr val="000000"/>
                  </a:solidFill>
                </a:rPr>
                <a:t>Buffer 2</a:t>
              </a:r>
              <a:endParaRPr lang="en-US" sz="1400"/>
            </a:p>
          </p:txBody>
        </p:sp>
        <p:sp>
          <p:nvSpPr>
            <p:cNvPr id="103437" name="Rectangle 13"/>
            <p:cNvSpPr>
              <a:spLocks noChangeArrowheads="1"/>
            </p:cNvSpPr>
            <p:nvPr/>
          </p:nvSpPr>
          <p:spPr bwMode="auto">
            <a:xfrm>
              <a:off x="1317" y="2119"/>
              <a:ext cx="558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38" name="Rectangle 14"/>
            <p:cNvSpPr>
              <a:spLocks noChangeArrowheads="1"/>
            </p:cNvSpPr>
            <p:nvPr/>
          </p:nvSpPr>
          <p:spPr bwMode="auto">
            <a:xfrm>
              <a:off x="1421" y="2164"/>
              <a:ext cx="420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500">
                  <a:solidFill>
                    <a:srgbClr val="000000"/>
                  </a:solidFill>
                </a:rPr>
                <a:t>Buffer </a:t>
              </a:r>
              <a:r>
                <a:rPr lang="en-US" sz="1500" i="1">
                  <a:solidFill>
                    <a:srgbClr val="000000"/>
                  </a:solidFill>
                </a:rPr>
                <a:t>n</a:t>
              </a:r>
              <a:endParaRPr lang="en-US" sz="1400" i="1"/>
            </a:p>
          </p:txBody>
        </p:sp>
        <p:sp>
          <p:nvSpPr>
            <p:cNvPr id="103439" name="Rectangle 15"/>
            <p:cNvSpPr>
              <a:spLocks noChangeArrowheads="1"/>
            </p:cNvSpPr>
            <p:nvPr/>
          </p:nvSpPr>
          <p:spPr bwMode="auto">
            <a:xfrm>
              <a:off x="1627" y="789"/>
              <a:ext cx="2244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40" name="Rectangle 16"/>
            <p:cNvSpPr>
              <a:spLocks noChangeArrowheads="1"/>
            </p:cNvSpPr>
            <p:nvPr/>
          </p:nvSpPr>
          <p:spPr bwMode="auto">
            <a:xfrm>
              <a:off x="1209" y="833"/>
              <a:ext cx="3249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500">
                  <a:solidFill>
                    <a:srgbClr val="000000"/>
                  </a:solidFill>
                </a:rPr>
                <a:t>Number of rounds = Number of bit transmission opportunities</a:t>
              </a:r>
              <a:endParaRPr lang="en-US" sz="1400"/>
            </a:p>
          </p:txBody>
        </p:sp>
        <p:sp>
          <p:nvSpPr>
            <p:cNvPr id="103441" name="Rectangle 17"/>
            <p:cNvSpPr>
              <a:spLocks noChangeArrowheads="1"/>
            </p:cNvSpPr>
            <p:nvPr/>
          </p:nvSpPr>
          <p:spPr bwMode="auto">
            <a:xfrm>
              <a:off x="2611" y="1104"/>
              <a:ext cx="480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42" name="Rectangle 18"/>
            <p:cNvSpPr>
              <a:spLocks noChangeArrowheads="1"/>
            </p:cNvSpPr>
            <p:nvPr/>
          </p:nvSpPr>
          <p:spPr bwMode="auto">
            <a:xfrm>
              <a:off x="2678" y="1149"/>
              <a:ext cx="415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500">
                  <a:solidFill>
                    <a:srgbClr val="000000"/>
                  </a:solidFill>
                </a:rPr>
                <a:t>Rounds</a:t>
              </a:r>
              <a:endParaRPr lang="en-US" sz="1400"/>
            </a:p>
          </p:txBody>
        </p:sp>
        <p:grpSp>
          <p:nvGrpSpPr>
            <p:cNvPr id="103443" name="Group 19"/>
            <p:cNvGrpSpPr>
              <a:grpSpLocks/>
            </p:cNvGrpSpPr>
            <p:nvPr/>
          </p:nvGrpSpPr>
          <p:grpSpPr bwMode="auto">
            <a:xfrm>
              <a:off x="3362" y="1329"/>
              <a:ext cx="184" cy="1242"/>
              <a:chOff x="3362" y="1329"/>
              <a:chExt cx="184" cy="1242"/>
            </a:xfrm>
          </p:grpSpPr>
          <p:sp>
            <p:nvSpPr>
              <p:cNvPr id="104082" name="Freeform 20"/>
              <p:cNvSpPr>
                <a:spLocks/>
              </p:cNvSpPr>
              <p:nvPr/>
            </p:nvSpPr>
            <p:spPr bwMode="auto">
              <a:xfrm>
                <a:off x="3512" y="1329"/>
                <a:ext cx="13" cy="12"/>
              </a:xfrm>
              <a:custGeom>
                <a:avLst/>
                <a:gdLst>
                  <a:gd name="T0" fmla="*/ 13 w 13"/>
                  <a:gd name="T1" fmla="*/ 4 h 12"/>
                  <a:gd name="T2" fmla="*/ 4 w 13"/>
                  <a:gd name="T3" fmla="*/ 0 h 12"/>
                  <a:gd name="T4" fmla="*/ 0 w 13"/>
                  <a:gd name="T5" fmla="*/ 9 h 12"/>
                  <a:gd name="T6" fmla="*/ 9 w 13"/>
                  <a:gd name="T7" fmla="*/ 12 h 12"/>
                  <a:gd name="T8" fmla="*/ 13 w 13"/>
                  <a:gd name="T9" fmla="*/ 4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2"/>
                  <a:gd name="T17" fmla="*/ 13 w 13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2">
                    <a:moveTo>
                      <a:pt x="13" y="4"/>
                    </a:moveTo>
                    <a:lnTo>
                      <a:pt x="4" y="0"/>
                    </a:lnTo>
                    <a:lnTo>
                      <a:pt x="0" y="9"/>
                    </a:lnTo>
                    <a:lnTo>
                      <a:pt x="9" y="12"/>
                    </a:lnTo>
                    <a:lnTo>
                      <a:pt x="13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83" name="Freeform 21"/>
              <p:cNvSpPr>
                <a:spLocks/>
              </p:cNvSpPr>
              <p:nvPr/>
            </p:nvSpPr>
            <p:spPr bwMode="auto">
              <a:xfrm>
                <a:off x="3505" y="1347"/>
                <a:ext cx="12" cy="14"/>
              </a:xfrm>
              <a:custGeom>
                <a:avLst/>
                <a:gdLst>
                  <a:gd name="T0" fmla="*/ 12 w 12"/>
                  <a:gd name="T1" fmla="*/ 3 h 14"/>
                  <a:gd name="T2" fmla="*/ 3 w 12"/>
                  <a:gd name="T3" fmla="*/ 0 h 14"/>
                  <a:gd name="T4" fmla="*/ 0 w 12"/>
                  <a:gd name="T5" fmla="*/ 10 h 14"/>
                  <a:gd name="T6" fmla="*/ 8 w 12"/>
                  <a:gd name="T7" fmla="*/ 14 h 14"/>
                  <a:gd name="T8" fmla="*/ 12 w 12"/>
                  <a:gd name="T9" fmla="*/ 3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12" y="3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8" y="14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84" name="Freeform 22"/>
              <p:cNvSpPr>
                <a:spLocks/>
              </p:cNvSpPr>
              <p:nvPr/>
            </p:nvSpPr>
            <p:spPr bwMode="auto">
              <a:xfrm>
                <a:off x="3497" y="1366"/>
                <a:ext cx="13" cy="14"/>
              </a:xfrm>
              <a:custGeom>
                <a:avLst/>
                <a:gdLst>
                  <a:gd name="T0" fmla="*/ 13 w 13"/>
                  <a:gd name="T1" fmla="*/ 3 h 14"/>
                  <a:gd name="T2" fmla="*/ 4 w 13"/>
                  <a:gd name="T3" fmla="*/ 0 h 14"/>
                  <a:gd name="T4" fmla="*/ 0 w 13"/>
                  <a:gd name="T5" fmla="*/ 10 h 14"/>
                  <a:gd name="T6" fmla="*/ 9 w 13"/>
                  <a:gd name="T7" fmla="*/ 14 h 14"/>
                  <a:gd name="T8" fmla="*/ 13 w 13"/>
                  <a:gd name="T9" fmla="*/ 3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4"/>
                  <a:gd name="T17" fmla="*/ 13 w 13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4">
                    <a:moveTo>
                      <a:pt x="13" y="3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3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85" name="Freeform 23"/>
              <p:cNvSpPr>
                <a:spLocks/>
              </p:cNvSpPr>
              <p:nvPr/>
            </p:nvSpPr>
            <p:spPr bwMode="auto">
              <a:xfrm>
                <a:off x="3491" y="1385"/>
                <a:ext cx="11" cy="14"/>
              </a:xfrm>
              <a:custGeom>
                <a:avLst/>
                <a:gdLst>
                  <a:gd name="T0" fmla="*/ 11 w 11"/>
                  <a:gd name="T1" fmla="*/ 4 h 14"/>
                  <a:gd name="T2" fmla="*/ 2 w 11"/>
                  <a:gd name="T3" fmla="*/ 0 h 14"/>
                  <a:gd name="T4" fmla="*/ 0 w 11"/>
                  <a:gd name="T5" fmla="*/ 10 h 14"/>
                  <a:gd name="T6" fmla="*/ 9 w 11"/>
                  <a:gd name="T7" fmla="*/ 14 h 14"/>
                  <a:gd name="T8" fmla="*/ 11 w 11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4"/>
                  <a:gd name="T17" fmla="*/ 11 w 11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4">
                    <a:moveTo>
                      <a:pt x="11" y="4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1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86" name="Freeform 24"/>
              <p:cNvSpPr>
                <a:spLocks/>
              </p:cNvSpPr>
              <p:nvPr/>
            </p:nvSpPr>
            <p:spPr bwMode="auto">
              <a:xfrm>
                <a:off x="3483" y="1404"/>
                <a:ext cx="13" cy="14"/>
              </a:xfrm>
              <a:custGeom>
                <a:avLst/>
                <a:gdLst>
                  <a:gd name="T0" fmla="*/ 13 w 13"/>
                  <a:gd name="T1" fmla="*/ 4 h 14"/>
                  <a:gd name="T2" fmla="*/ 4 w 13"/>
                  <a:gd name="T3" fmla="*/ 0 h 14"/>
                  <a:gd name="T4" fmla="*/ 3 w 13"/>
                  <a:gd name="T5" fmla="*/ 4 h 14"/>
                  <a:gd name="T6" fmla="*/ 0 w 13"/>
                  <a:gd name="T7" fmla="*/ 10 h 14"/>
                  <a:gd name="T8" fmla="*/ 9 w 13"/>
                  <a:gd name="T9" fmla="*/ 14 h 14"/>
                  <a:gd name="T10" fmla="*/ 13 w 13"/>
                  <a:gd name="T11" fmla="*/ 4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14"/>
                  <a:gd name="T20" fmla="*/ 13 w 13"/>
                  <a:gd name="T21" fmla="*/ 14 h 1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14">
                    <a:moveTo>
                      <a:pt x="13" y="4"/>
                    </a:moveTo>
                    <a:lnTo>
                      <a:pt x="4" y="0"/>
                    </a:lnTo>
                    <a:lnTo>
                      <a:pt x="3" y="4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3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87" name="Freeform 25"/>
              <p:cNvSpPr>
                <a:spLocks/>
              </p:cNvSpPr>
              <p:nvPr/>
            </p:nvSpPr>
            <p:spPr bwMode="auto">
              <a:xfrm>
                <a:off x="3477" y="1423"/>
                <a:ext cx="11" cy="14"/>
              </a:xfrm>
              <a:custGeom>
                <a:avLst/>
                <a:gdLst>
                  <a:gd name="T0" fmla="*/ 11 w 11"/>
                  <a:gd name="T1" fmla="*/ 4 h 14"/>
                  <a:gd name="T2" fmla="*/ 2 w 11"/>
                  <a:gd name="T3" fmla="*/ 0 h 14"/>
                  <a:gd name="T4" fmla="*/ 0 w 11"/>
                  <a:gd name="T5" fmla="*/ 10 h 14"/>
                  <a:gd name="T6" fmla="*/ 9 w 11"/>
                  <a:gd name="T7" fmla="*/ 14 h 14"/>
                  <a:gd name="T8" fmla="*/ 11 w 11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4"/>
                  <a:gd name="T17" fmla="*/ 11 w 11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4">
                    <a:moveTo>
                      <a:pt x="11" y="4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1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88" name="Freeform 26"/>
              <p:cNvSpPr>
                <a:spLocks/>
              </p:cNvSpPr>
              <p:nvPr/>
            </p:nvSpPr>
            <p:spPr bwMode="auto">
              <a:xfrm>
                <a:off x="3469" y="1442"/>
                <a:ext cx="13" cy="14"/>
              </a:xfrm>
              <a:custGeom>
                <a:avLst/>
                <a:gdLst>
                  <a:gd name="T0" fmla="*/ 13 w 13"/>
                  <a:gd name="T1" fmla="*/ 4 h 14"/>
                  <a:gd name="T2" fmla="*/ 4 w 13"/>
                  <a:gd name="T3" fmla="*/ 0 h 14"/>
                  <a:gd name="T4" fmla="*/ 0 w 13"/>
                  <a:gd name="T5" fmla="*/ 10 h 14"/>
                  <a:gd name="T6" fmla="*/ 9 w 13"/>
                  <a:gd name="T7" fmla="*/ 14 h 14"/>
                  <a:gd name="T8" fmla="*/ 13 w 13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4"/>
                  <a:gd name="T17" fmla="*/ 13 w 13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4">
                    <a:moveTo>
                      <a:pt x="13" y="4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3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89" name="Freeform 27"/>
              <p:cNvSpPr>
                <a:spLocks/>
              </p:cNvSpPr>
              <p:nvPr/>
            </p:nvSpPr>
            <p:spPr bwMode="auto">
              <a:xfrm>
                <a:off x="3463" y="1461"/>
                <a:ext cx="11" cy="14"/>
              </a:xfrm>
              <a:custGeom>
                <a:avLst/>
                <a:gdLst>
                  <a:gd name="T0" fmla="*/ 11 w 11"/>
                  <a:gd name="T1" fmla="*/ 4 h 14"/>
                  <a:gd name="T2" fmla="*/ 2 w 11"/>
                  <a:gd name="T3" fmla="*/ 0 h 14"/>
                  <a:gd name="T4" fmla="*/ 0 w 11"/>
                  <a:gd name="T5" fmla="*/ 10 h 14"/>
                  <a:gd name="T6" fmla="*/ 9 w 11"/>
                  <a:gd name="T7" fmla="*/ 14 h 14"/>
                  <a:gd name="T8" fmla="*/ 11 w 11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4"/>
                  <a:gd name="T17" fmla="*/ 11 w 11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4">
                    <a:moveTo>
                      <a:pt x="11" y="4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1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90" name="Freeform 28"/>
              <p:cNvSpPr>
                <a:spLocks/>
              </p:cNvSpPr>
              <p:nvPr/>
            </p:nvSpPr>
            <p:spPr bwMode="auto">
              <a:xfrm>
                <a:off x="3455" y="1480"/>
                <a:ext cx="13" cy="14"/>
              </a:xfrm>
              <a:custGeom>
                <a:avLst/>
                <a:gdLst>
                  <a:gd name="T0" fmla="*/ 13 w 13"/>
                  <a:gd name="T1" fmla="*/ 4 h 14"/>
                  <a:gd name="T2" fmla="*/ 4 w 13"/>
                  <a:gd name="T3" fmla="*/ 0 h 14"/>
                  <a:gd name="T4" fmla="*/ 3 w 13"/>
                  <a:gd name="T5" fmla="*/ 5 h 14"/>
                  <a:gd name="T6" fmla="*/ 0 w 13"/>
                  <a:gd name="T7" fmla="*/ 11 h 14"/>
                  <a:gd name="T8" fmla="*/ 9 w 13"/>
                  <a:gd name="T9" fmla="*/ 14 h 14"/>
                  <a:gd name="T10" fmla="*/ 13 w 13"/>
                  <a:gd name="T11" fmla="*/ 5 h 14"/>
                  <a:gd name="T12" fmla="*/ 13 w 13"/>
                  <a:gd name="T13" fmla="*/ 4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"/>
                  <a:gd name="T22" fmla="*/ 0 h 14"/>
                  <a:gd name="T23" fmla="*/ 13 w 13"/>
                  <a:gd name="T24" fmla="*/ 14 h 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" h="14">
                    <a:moveTo>
                      <a:pt x="13" y="4"/>
                    </a:moveTo>
                    <a:lnTo>
                      <a:pt x="4" y="0"/>
                    </a:lnTo>
                    <a:lnTo>
                      <a:pt x="3" y="5"/>
                    </a:lnTo>
                    <a:lnTo>
                      <a:pt x="0" y="11"/>
                    </a:lnTo>
                    <a:lnTo>
                      <a:pt x="9" y="14"/>
                    </a:lnTo>
                    <a:lnTo>
                      <a:pt x="13" y="5"/>
                    </a:lnTo>
                    <a:lnTo>
                      <a:pt x="13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91" name="Freeform 29"/>
              <p:cNvSpPr>
                <a:spLocks/>
              </p:cNvSpPr>
              <p:nvPr/>
            </p:nvSpPr>
            <p:spPr bwMode="auto">
              <a:xfrm>
                <a:off x="3449" y="1500"/>
                <a:ext cx="12" cy="13"/>
              </a:xfrm>
              <a:custGeom>
                <a:avLst/>
                <a:gdLst>
                  <a:gd name="T0" fmla="*/ 12 w 12"/>
                  <a:gd name="T1" fmla="*/ 3 h 13"/>
                  <a:gd name="T2" fmla="*/ 4 w 12"/>
                  <a:gd name="T3" fmla="*/ 0 h 13"/>
                  <a:gd name="T4" fmla="*/ 0 w 12"/>
                  <a:gd name="T5" fmla="*/ 11 h 13"/>
                  <a:gd name="T6" fmla="*/ 9 w 12"/>
                  <a:gd name="T7" fmla="*/ 13 h 13"/>
                  <a:gd name="T8" fmla="*/ 12 w 12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3"/>
                    </a:moveTo>
                    <a:lnTo>
                      <a:pt x="4" y="0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92" name="Freeform 30"/>
              <p:cNvSpPr>
                <a:spLocks/>
              </p:cNvSpPr>
              <p:nvPr/>
            </p:nvSpPr>
            <p:spPr bwMode="auto">
              <a:xfrm>
                <a:off x="3442" y="1519"/>
                <a:ext cx="12" cy="13"/>
              </a:xfrm>
              <a:custGeom>
                <a:avLst/>
                <a:gdLst>
                  <a:gd name="T0" fmla="*/ 12 w 12"/>
                  <a:gd name="T1" fmla="*/ 3 h 13"/>
                  <a:gd name="T2" fmla="*/ 3 w 12"/>
                  <a:gd name="T3" fmla="*/ 0 h 13"/>
                  <a:gd name="T4" fmla="*/ 0 w 12"/>
                  <a:gd name="T5" fmla="*/ 11 h 13"/>
                  <a:gd name="T6" fmla="*/ 9 w 12"/>
                  <a:gd name="T7" fmla="*/ 13 h 13"/>
                  <a:gd name="T8" fmla="*/ 12 w 12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3"/>
                    </a:moveTo>
                    <a:lnTo>
                      <a:pt x="3" y="0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93" name="Freeform 31"/>
              <p:cNvSpPr>
                <a:spLocks/>
              </p:cNvSpPr>
              <p:nvPr/>
            </p:nvSpPr>
            <p:spPr bwMode="auto">
              <a:xfrm>
                <a:off x="3436" y="1539"/>
                <a:ext cx="11" cy="12"/>
              </a:xfrm>
              <a:custGeom>
                <a:avLst/>
                <a:gdLst>
                  <a:gd name="T0" fmla="*/ 11 w 11"/>
                  <a:gd name="T1" fmla="*/ 2 h 12"/>
                  <a:gd name="T2" fmla="*/ 3 w 11"/>
                  <a:gd name="T3" fmla="*/ 0 h 12"/>
                  <a:gd name="T4" fmla="*/ 0 w 11"/>
                  <a:gd name="T5" fmla="*/ 10 h 12"/>
                  <a:gd name="T6" fmla="*/ 9 w 11"/>
                  <a:gd name="T7" fmla="*/ 12 h 12"/>
                  <a:gd name="T8" fmla="*/ 11 w 11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11" y="2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2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94" name="Freeform 32"/>
              <p:cNvSpPr>
                <a:spLocks/>
              </p:cNvSpPr>
              <p:nvPr/>
            </p:nvSpPr>
            <p:spPr bwMode="auto">
              <a:xfrm>
                <a:off x="3430" y="1559"/>
                <a:ext cx="11" cy="11"/>
              </a:xfrm>
              <a:custGeom>
                <a:avLst/>
                <a:gdLst>
                  <a:gd name="T0" fmla="*/ 11 w 11"/>
                  <a:gd name="T1" fmla="*/ 2 h 11"/>
                  <a:gd name="T2" fmla="*/ 2 w 11"/>
                  <a:gd name="T3" fmla="*/ 0 h 11"/>
                  <a:gd name="T4" fmla="*/ 1 w 11"/>
                  <a:gd name="T5" fmla="*/ 4 h 11"/>
                  <a:gd name="T6" fmla="*/ 0 w 11"/>
                  <a:gd name="T7" fmla="*/ 9 h 11"/>
                  <a:gd name="T8" fmla="*/ 9 w 11"/>
                  <a:gd name="T9" fmla="*/ 11 h 11"/>
                  <a:gd name="T10" fmla="*/ 11 w 11"/>
                  <a:gd name="T11" fmla="*/ 4 h 11"/>
                  <a:gd name="T12" fmla="*/ 11 w 11"/>
                  <a:gd name="T13" fmla="*/ 2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"/>
                  <a:gd name="T22" fmla="*/ 0 h 11"/>
                  <a:gd name="T23" fmla="*/ 11 w 11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" h="11">
                    <a:moveTo>
                      <a:pt x="11" y="2"/>
                    </a:moveTo>
                    <a:lnTo>
                      <a:pt x="2" y="0"/>
                    </a:lnTo>
                    <a:lnTo>
                      <a:pt x="1" y="4"/>
                    </a:lnTo>
                    <a:lnTo>
                      <a:pt x="0" y="9"/>
                    </a:lnTo>
                    <a:lnTo>
                      <a:pt x="9" y="11"/>
                    </a:lnTo>
                    <a:lnTo>
                      <a:pt x="11" y="4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95" name="Freeform 33"/>
              <p:cNvSpPr>
                <a:spLocks/>
              </p:cNvSpPr>
              <p:nvPr/>
            </p:nvSpPr>
            <p:spPr bwMode="auto">
              <a:xfrm>
                <a:off x="3423" y="1578"/>
                <a:ext cx="13" cy="11"/>
              </a:xfrm>
              <a:custGeom>
                <a:avLst/>
                <a:gdLst>
                  <a:gd name="T0" fmla="*/ 13 w 13"/>
                  <a:gd name="T1" fmla="*/ 2 h 11"/>
                  <a:gd name="T2" fmla="*/ 4 w 13"/>
                  <a:gd name="T3" fmla="*/ 0 h 11"/>
                  <a:gd name="T4" fmla="*/ 0 w 13"/>
                  <a:gd name="T5" fmla="*/ 9 h 11"/>
                  <a:gd name="T6" fmla="*/ 9 w 13"/>
                  <a:gd name="T7" fmla="*/ 11 h 11"/>
                  <a:gd name="T8" fmla="*/ 13 w 13"/>
                  <a:gd name="T9" fmla="*/ 2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1"/>
                  <a:gd name="T17" fmla="*/ 13 w 13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1">
                    <a:moveTo>
                      <a:pt x="13" y="2"/>
                    </a:moveTo>
                    <a:lnTo>
                      <a:pt x="4" y="0"/>
                    </a:lnTo>
                    <a:lnTo>
                      <a:pt x="0" y="9"/>
                    </a:lnTo>
                    <a:lnTo>
                      <a:pt x="9" y="11"/>
                    </a:ln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96" name="Freeform 34"/>
              <p:cNvSpPr>
                <a:spLocks/>
              </p:cNvSpPr>
              <p:nvPr/>
            </p:nvSpPr>
            <p:spPr bwMode="auto">
              <a:xfrm>
                <a:off x="3418" y="1597"/>
                <a:ext cx="12" cy="13"/>
              </a:xfrm>
              <a:custGeom>
                <a:avLst/>
                <a:gdLst>
                  <a:gd name="T0" fmla="*/ 12 w 12"/>
                  <a:gd name="T1" fmla="*/ 3 h 13"/>
                  <a:gd name="T2" fmla="*/ 3 w 12"/>
                  <a:gd name="T3" fmla="*/ 0 h 13"/>
                  <a:gd name="T4" fmla="*/ 0 w 12"/>
                  <a:gd name="T5" fmla="*/ 10 h 13"/>
                  <a:gd name="T6" fmla="*/ 9 w 12"/>
                  <a:gd name="T7" fmla="*/ 13 h 13"/>
                  <a:gd name="T8" fmla="*/ 12 w 12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3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97" name="Freeform 35"/>
              <p:cNvSpPr>
                <a:spLocks/>
              </p:cNvSpPr>
              <p:nvPr/>
            </p:nvSpPr>
            <p:spPr bwMode="auto">
              <a:xfrm>
                <a:off x="3412" y="1616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3 w 11"/>
                  <a:gd name="T3" fmla="*/ 0 h 13"/>
                  <a:gd name="T4" fmla="*/ 0 w 11"/>
                  <a:gd name="T5" fmla="*/ 10 h 13"/>
                  <a:gd name="T6" fmla="*/ 9 w 11"/>
                  <a:gd name="T7" fmla="*/ 13 h 13"/>
                  <a:gd name="T8" fmla="*/ 11 w 11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3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98" name="Freeform 36"/>
              <p:cNvSpPr>
                <a:spLocks/>
              </p:cNvSpPr>
              <p:nvPr/>
            </p:nvSpPr>
            <p:spPr bwMode="auto">
              <a:xfrm>
                <a:off x="3407" y="1636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2 w 11"/>
                  <a:gd name="T3" fmla="*/ 0 h 13"/>
                  <a:gd name="T4" fmla="*/ 1 w 11"/>
                  <a:gd name="T5" fmla="*/ 4 h 13"/>
                  <a:gd name="T6" fmla="*/ 0 w 11"/>
                  <a:gd name="T7" fmla="*/ 11 h 13"/>
                  <a:gd name="T8" fmla="*/ 9 w 11"/>
                  <a:gd name="T9" fmla="*/ 13 h 13"/>
                  <a:gd name="T10" fmla="*/ 11 w 11"/>
                  <a:gd name="T11" fmla="*/ 4 h 13"/>
                  <a:gd name="T12" fmla="*/ 11 w 11"/>
                  <a:gd name="T13" fmla="*/ 3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"/>
                  <a:gd name="T22" fmla="*/ 0 h 13"/>
                  <a:gd name="T23" fmla="*/ 11 w 11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" h="13">
                    <a:moveTo>
                      <a:pt x="11" y="3"/>
                    </a:moveTo>
                    <a:lnTo>
                      <a:pt x="2" y="0"/>
                    </a:lnTo>
                    <a:lnTo>
                      <a:pt x="1" y="4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1" y="4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99" name="Freeform 37"/>
              <p:cNvSpPr>
                <a:spLocks/>
              </p:cNvSpPr>
              <p:nvPr/>
            </p:nvSpPr>
            <p:spPr bwMode="auto">
              <a:xfrm>
                <a:off x="3402" y="1655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2 w 11"/>
                  <a:gd name="T3" fmla="*/ 0 h 13"/>
                  <a:gd name="T4" fmla="*/ 0 w 11"/>
                  <a:gd name="T5" fmla="*/ 11 h 13"/>
                  <a:gd name="T6" fmla="*/ 9 w 11"/>
                  <a:gd name="T7" fmla="*/ 13 h 13"/>
                  <a:gd name="T8" fmla="*/ 11 w 11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3"/>
                    </a:moveTo>
                    <a:lnTo>
                      <a:pt x="2" y="0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00" name="Freeform 38"/>
              <p:cNvSpPr>
                <a:spLocks/>
              </p:cNvSpPr>
              <p:nvPr/>
            </p:nvSpPr>
            <p:spPr bwMode="auto">
              <a:xfrm>
                <a:off x="3397" y="1676"/>
                <a:ext cx="11" cy="13"/>
              </a:xfrm>
              <a:custGeom>
                <a:avLst/>
                <a:gdLst>
                  <a:gd name="T0" fmla="*/ 11 w 11"/>
                  <a:gd name="T1" fmla="*/ 2 h 13"/>
                  <a:gd name="T2" fmla="*/ 2 w 11"/>
                  <a:gd name="T3" fmla="*/ 0 h 13"/>
                  <a:gd name="T4" fmla="*/ 0 w 11"/>
                  <a:gd name="T5" fmla="*/ 10 h 13"/>
                  <a:gd name="T6" fmla="*/ 9 w 11"/>
                  <a:gd name="T7" fmla="*/ 13 h 13"/>
                  <a:gd name="T8" fmla="*/ 11 w 11"/>
                  <a:gd name="T9" fmla="*/ 2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2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01" name="Freeform 39"/>
              <p:cNvSpPr>
                <a:spLocks/>
              </p:cNvSpPr>
              <p:nvPr/>
            </p:nvSpPr>
            <p:spPr bwMode="auto">
              <a:xfrm>
                <a:off x="3392" y="1695"/>
                <a:ext cx="11" cy="13"/>
              </a:xfrm>
              <a:custGeom>
                <a:avLst/>
                <a:gdLst>
                  <a:gd name="T0" fmla="*/ 11 w 11"/>
                  <a:gd name="T1" fmla="*/ 2 h 13"/>
                  <a:gd name="T2" fmla="*/ 2 w 11"/>
                  <a:gd name="T3" fmla="*/ 0 h 13"/>
                  <a:gd name="T4" fmla="*/ 0 w 11"/>
                  <a:gd name="T5" fmla="*/ 10 h 13"/>
                  <a:gd name="T6" fmla="*/ 9 w 11"/>
                  <a:gd name="T7" fmla="*/ 13 h 13"/>
                  <a:gd name="T8" fmla="*/ 11 w 11"/>
                  <a:gd name="T9" fmla="*/ 2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2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02" name="Freeform 40"/>
              <p:cNvSpPr>
                <a:spLocks/>
              </p:cNvSpPr>
              <p:nvPr/>
            </p:nvSpPr>
            <p:spPr bwMode="auto">
              <a:xfrm>
                <a:off x="3387" y="1715"/>
                <a:ext cx="11" cy="12"/>
              </a:xfrm>
              <a:custGeom>
                <a:avLst/>
                <a:gdLst>
                  <a:gd name="T0" fmla="*/ 11 w 11"/>
                  <a:gd name="T1" fmla="*/ 3 h 12"/>
                  <a:gd name="T2" fmla="*/ 2 w 11"/>
                  <a:gd name="T3" fmla="*/ 0 h 12"/>
                  <a:gd name="T4" fmla="*/ 1 w 11"/>
                  <a:gd name="T5" fmla="*/ 3 h 12"/>
                  <a:gd name="T6" fmla="*/ 0 w 11"/>
                  <a:gd name="T7" fmla="*/ 10 h 12"/>
                  <a:gd name="T8" fmla="*/ 8 w 11"/>
                  <a:gd name="T9" fmla="*/ 12 h 12"/>
                  <a:gd name="T10" fmla="*/ 11 w 11"/>
                  <a:gd name="T11" fmla="*/ 3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1"/>
                  <a:gd name="T19" fmla="*/ 0 h 12"/>
                  <a:gd name="T20" fmla="*/ 11 w 11"/>
                  <a:gd name="T21" fmla="*/ 12 h 1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1" h="12">
                    <a:moveTo>
                      <a:pt x="11" y="3"/>
                    </a:moveTo>
                    <a:lnTo>
                      <a:pt x="2" y="0"/>
                    </a:lnTo>
                    <a:lnTo>
                      <a:pt x="1" y="3"/>
                    </a:lnTo>
                    <a:lnTo>
                      <a:pt x="0" y="10"/>
                    </a:lnTo>
                    <a:lnTo>
                      <a:pt x="8" y="12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03" name="Freeform 41"/>
              <p:cNvSpPr>
                <a:spLocks/>
              </p:cNvSpPr>
              <p:nvPr/>
            </p:nvSpPr>
            <p:spPr bwMode="auto">
              <a:xfrm>
                <a:off x="3383" y="1736"/>
                <a:ext cx="11" cy="11"/>
              </a:xfrm>
              <a:custGeom>
                <a:avLst/>
                <a:gdLst>
                  <a:gd name="T0" fmla="*/ 11 w 11"/>
                  <a:gd name="T1" fmla="*/ 1 h 11"/>
                  <a:gd name="T2" fmla="*/ 2 w 11"/>
                  <a:gd name="T3" fmla="*/ 0 h 11"/>
                  <a:gd name="T4" fmla="*/ 0 w 11"/>
                  <a:gd name="T5" fmla="*/ 10 h 11"/>
                  <a:gd name="T6" fmla="*/ 9 w 11"/>
                  <a:gd name="T7" fmla="*/ 11 h 11"/>
                  <a:gd name="T8" fmla="*/ 11 w 11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11" y="1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04" name="Freeform 42"/>
              <p:cNvSpPr>
                <a:spLocks/>
              </p:cNvSpPr>
              <p:nvPr/>
            </p:nvSpPr>
            <p:spPr bwMode="auto">
              <a:xfrm>
                <a:off x="3379" y="1756"/>
                <a:ext cx="11" cy="11"/>
              </a:xfrm>
              <a:custGeom>
                <a:avLst/>
                <a:gdLst>
                  <a:gd name="T0" fmla="*/ 11 w 11"/>
                  <a:gd name="T1" fmla="*/ 1 h 11"/>
                  <a:gd name="T2" fmla="*/ 3 w 11"/>
                  <a:gd name="T3" fmla="*/ 0 h 11"/>
                  <a:gd name="T4" fmla="*/ 1 w 11"/>
                  <a:gd name="T5" fmla="*/ 0 h 11"/>
                  <a:gd name="T6" fmla="*/ 0 w 11"/>
                  <a:gd name="T7" fmla="*/ 10 h 11"/>
                  <a:gd name="T8" fmla="*/ 10 w 11"/>
                  <a:gd name="T9" fmla="*/ 11 h 11"/>
                  <a:gd name="T10" fmla="*/ 11 w 11"/>
                  <a:gd name="T11" fmla="*/ 0 h 11"/>
                  <a:gd name="T12" fmla="*/ 11 w 11"/>
                  <a:gd name="T13" fmla="*/ 1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"/>
                  <a:gd name="T22" fmla="*/ 0 h 11"/>
                  <a:gd name="T23" fmla="*/ 11 w 11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" h="11">
                    <a:moveTo>
                      <a:pt x="11" y="1"/>
                    </a:moveTo>
                    <a:lnTo>
                      <a:pt x="3" y="0"/>
                    </a:lnTo>
                    <a:lnTo>
                      <a:pt x="1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1" y="0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05" name="Freeform 43"/>
              <p:cNvSpPr>
                <a:spLocks/>
              </p:cNvSpPr>
              <p:nvPr/>
            </p:nvSpPr>
            <p:spPr bwMode="auto">
              <a:xfrm>
                <a:off x="3375" y="1775"/>
                <a:ext cx="12" cy="11"/>
              </a:xfrm>
              <a:custGeom>
                <a:avLst/>
                <a:gdLst>
                  <a:gd name="T0" fmla="*/ 12 w 12"/>
                  <a:gd name="T1" fmla="*/ 1 h 11"/>
                  <a:gd name="T2" fmla="*/ 1 w 12"/>
                  <a:gd name="T3" fmla="*/ 0 h 11"/>
                  <a:gd name="T4" fmla="*/ 0 w 12"/>
                  <a:gd name="T5" fmla="*/ 10 h 11"/>
                  <a:gd name="T6" fmla="*/ 10 w 12"/>
                  <a:gd name="T7" fmla="*/ 11 h 11"/>
                  <a:gd name="T8" fmla="*/ 12 w 12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12" y="1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06" name="Freeform 44"/>
              <p:cNvSpPr>
                <a:spLocks/>
              </p:cNvSpPr>
              <p:nvPr/>
            </p:nvSpPr>
            <p:spPr bwMode="auto">
              <a:xfrm>
                <a:off x="3373" y="1795"/>
                <a:ext cx="11" cy="12"/>
              </a:xfrm>
              <a:custGeom>
                <a:avLst/>
                <a:gdLst>
                  <a:gd name="T0" fmla="*/ 11 w 11"/>
                  <a:gd name="T1" fmla="*/ 2 h 12"/>
                  <a:gd name="T2" fmla="*/ 1 w 11"/>
                  <a:gd name="T3" fmla="*/ 0 h 12"/>
                  <a:gd name="T4" fmla="*/ 0 w 11"/>
                  <a:gd name="T5" fmla="*/ 10 h 12"/>
                  <a:gd name="T6" fmla="*/ 10 w 11"/>
                  <a:gd name="T7" fmla="*/ 12 h 12"/>
                  <a:gd name="T8" fmla="*/ 11 w 11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11" y="2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2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07" name="Freeform 45"/>
              <p:cNvSpPr>
                <a:spLocks/>
              </p:cNvSpPr>
              <p:nvPr/>
            </p:nvSpPr>
            <p:spPr bwMode="auto">
              <a:xfrm>
                <a:off x="3369" y="1816"/>
                <a:ext cx="11" cy="11"/>
              </a:xfrm>
              <a:custGeom>
                <a:avLst/>
                <a:gdLst>
                  <a:gd name="T0" fmla="*/ 11 w 11"/>
                  <a:gd name="T1" fmla="*/ 1 h 11"/>
                  <a:gd name="T2" fmla="*/ 1 w 11"/>
                  <a:gd name="T3" fmla="*/ 0 h 11"/>
                  <a:gd name="T4" fmla="*/ 0 w 11"/>
                  <a:gd name="T5" fmla="*/ 10 h 11"/>
                  <a:gd name="T6" fmla="*/ 10 w 11"/>
                  <a:gd name="T7" fmla="*/ 11 h 11"/>
                  <a:gd name="T8" fmla="*/ 11 w 11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11" y="1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08" name="Freeform 46"/>
              <p:cNvSpPr>
                <a:spLocks/>
              </p:cNvSpPr>
              <p:nvPr/>
            </p:nvSpPr>
            <p:spPr bwMode="auto">
              <a:xfrm>
                <a:off x="3368" y="1836"/>
                <a:ext cx="10" cy="11"/>
              </a:xfrm>
              <a:custGeom>
                <a:avLst/>
                <a:gdLst>
                  <a:gd name="T0" fmla="*/ 10 w 10"/>
                  <a:gd name="T1" fmla="*/ 1 h 11"/>
                  <a:gd name="T2" fmla="*/ 0 w 10"/>
                  <a:gd name="T3" fmla="*/ 0 h 11"/>
                  <a:gd name="T4" fmla="*/ 0 w 10"/>
                  <a:gd name="T5" fmla="*/ 10 h 11"/>
                  <a:gd name="T6" fmla="*/ 10 w 10"/>
                  <a:gd name="T7" fmla="*/ 11 h 11"/>
                  <a:gd name="T8" fmla="*/ 10 w 10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1"/>
                  <a:gd name="T17" fmla="*/ 10 w 10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1">
                    <a:moveTo>
                      <a:pt x="10" y="1"/>
                    </a:moveTo>
                    <a:lnTo>
                      <a:pt x="0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09" name="Freeform 47"/>
              <p:cNvSpPr>
                <a:spLocks/>
              </p:cNvSpPr>
              <p:nvPr/>
            </p:nvSpPr>
            <p:spPr bwMode="auto">
              <a:xfrm>
                <a:off x="3365" y="1856"/>
                <a:ext cx="11" cy="12"/>
              </a:xfrm>
              <a:custGeom>
                <a:avLst/>
                <a:gdLst>
                  <a:gd name="T0" fmla="*/ 11 w 11"/>
                  <a:gd name="T1" fmla="*/ 2 h 12"/>
                  <a:gd name="T2" fmla="*/ 1 w 11"/>
                  <a:gd name="T3" fmla="*/ 0 h 12"/>
                  <a:gd name="T4" fmla="*/ 0 w 11"/>
                  <a:gd name="T5" fmla="*/ 10 h 12"/>
                  <a:gd name="T6" fmla="*/ 10 w 11"/>
                  <a:gd name="T7" fmla="*/ 12 h 12"/>
                  <a:gd name="T8" fmla="*/ 11 w 11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11" y="2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2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10" name="Freeform 48"/>
              <p:cNvSpPr>
                <a:spLocks/>
              </p:cNvSpPr>
              <p:nvPr/>
            </p:nvSpPr>
            <p:spPr bwMode="auto">
              <a:xfrm>
                <a:off x="3364" y="1877"/>
                <a:ext cx="11" cy="10"/>
              </a:xfrm>
              <a:custGeom>
                <a:avLst/>
                <a:gdLst>
                  <a:gd name="T0" fmla="*/ 11 w 11"/>
                  <a:gd name="T1" fmla="*/ 0 h 10"/>
                  <a:gd name="T2" fmla="*/ 1 w 11"/>
                  <a:gd name="T3" fmla="*/ 0 h 10"/>
                  <a:gd name="T4" fmla="*/ 0 w 11"/>
                  <a:gd name="T5" fmla="*/ 10 h 10"/>
                  <a:gd name="T6" fmla="*/ 10 w 11"/>
                  <a:gd name="T7" fmla="*/ 10 h 10"/>
                  <a:gd name="T8" fmla="*/ 11 w 1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0"/>
                  <a:gd name="T17" fmla="*/ 11 w 1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0">
                    <a:moveTo>
                      <a:pt x="11" y="0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0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11" name="Freeform 49"/>
              <p:cNvSpPr>
                <a:spLocks/>
              </p:cNvSpPr>
              <p:nvPr/>
            </p:nvSpPr>
            <p:spPr bwMode="auto">
              <a:xfrm>
                <a:off x="3362" y="1897"/>
                <a:ext cx="12" cy="10"/>
              </a:xfrm>
              <a:custGeom>
                <a:avLst/>
                <a:gdLst>
                  <a:gd name="T0" fmla="*/ 12 w 12"/>
                  <a:gd name="T1" fmla="*/ 0 h 10"/>
                  <a:gd name="T2" fmla="*/ 2 w 12"/>
                  <a:gd name="T3" fmla="*/ 0 h 10"/>
                  <a:gd name="T4" fmla="*/ 0 w 12"/>
                  <a:gd name="T5" fmla="*/ 10 h 10"/>
                  <a:gd name="T6" fmla="*/ 11 w 12"/>
                  <a:gd name="T7" fmla="*/ 10 h 10"/>
                  <a:gd name="T8" fmla="*/ 12 w 12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0"/>
                  <a:gd name="T17" fmla="*/ 12 w 12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0">
                    <a:moveTo>
                      <a:pt x="12" y="0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11" y="1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12" name="Rectangle 50"/>
              <p:cNvSpPr>
                <a:spLocks noChangeArrowheads="1"/>
              </p:cNvSpPr>
              <p:nvPr/>
            </p:nvSpPr>
            <p:spPr bwMode="auto">
              <a:xfrm>
                <a:off x="3362" y="1917"/>
                <a:ext cx="11" cy="10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13" name="Rectangle 51"/>
              <p:cNvSpPr>
                <a:spLocks noChangeArrowheads="1"/>
              </p:cNvSpPr>
              <p:nvPr/>
            </p:nvSpPr>
            <p:spPr bwMode="auto">
              <a:xfrm>
                <a:off x="3362" y="1938"/>
                <a:ext cx="11" cy="10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14" name="Freeform 52"/>
              <p:cNvSpPr>
                <a:spLocks/>
              </p:cNvSpPr>
              <p:nvPr/>
            </p:nvSpPr>
            <p:spPr bwMode="auto">
              <a:xfrm>
                <a:off x="3362" y="1958"/>
                <a:ext cx="12" cy="10"/>
              </a:xfrm>
              <a:custGeom>
                <a:avLst/>
                <a:gdLst>
                  <a:gd name="T0" fmla="*/ 11 w 12"/>
                  <a:gd name="T1" fmla="*/ 0 h 10"/>
                  <a:gd name="T2" fmla="*/ 0 w 12"/>
                  <a:gd name="T3" fmla="*/ 0 h 10"/>
                  <a:gd name="T4" fmla="*/ 2 w 12"/>
                  <a:gd name="T5" fmla="*/ 10 h 10"/>
                  <a:gd name="T6" fmla="*/ 12 w 12"/>
                  <a:gd name="T7" fmla="*/ 10 h 10"/>
                  <a:gd name="T8" fmla="*/ 11 w 12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0"/>
                  <a:gd name="T17" fmla="*/ 12 w 12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0">
                    <a:moveTo>
                      <a:pt x="11" y="0"/>
                    </a:moveTo>
                    <a:lnTo>
                      <a:pt x="0" y="0"/>
                    </a:lnTo>
                    <a:lnTo>
                      <a:pt x="2" y="10"/>
                    </a:lnTo>
                    <a:lnTo>
                      <a:pt x="12" y="10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15" name="Freeform 53"/>
              <p:cNvSpPr>
                <a:spLocks/>
              </p:cNvSpPr>
              <p:nvPr/>
            </p:nvSpPr>
            <p:spPr bwMode="auto">
              <a:xfrm>
                <a:off x="3364" y="1978"/>
                <a:ext cx="10" cy="12"/>
              </a:xfrm>
              <a:custGeom>
                <a:avLst/>
                <a:gdLst>
                  <a:gd name="T0" fmla="*/ 10 w 10"/>
                  <a:gd name="T1" fmla="*/ 0 h 12"/>
                  <a:gd name="T2" fmla="*/ 0 w 10"/>
                  <a:gd name="T3" fmla="*/ 0 h 12"/>
                  <a:gd name="T4" fmla="*/ 0 w 10"/>
                  <a:gd name="T5" fmla="*/ 7 h 12"/>
                  <a:gd name="T6" fmla="*/ 0 w 10"/>
                  <a:gd name="T7" fmla="*/ 12 h 12"/>
                  <a:gd name="T8" fmla="*/ 10 w 10"/>
                  <a:gd name="T9" fmla="*/ 10 h 12"/>
                  <a:gd name="T10" fmla="*/ 10 w 10"/>
                  <a:gd name="T11" fmla="*/ 7 h 12"/>
                  <a:gd name="T12" fmla="*/ 10 w 10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"/>
                  <a:gd name="T22" fmla="*/ 0 h 12"/>
                  <a:gd name="T23" fmla="*/ 10 w 10"/>
                  <a:gd name="T24" fmla="*/ 12 h 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" h="12">
                    <a:moveTo>
                      <a:pt x="10" y="0"/>
                    </a:moveTo>
                    <a:lnTo>
                      <a:pt x="0" y="0"/>
                    </a:lnTo>
                    <a:lnTo>
                      <a:pt x="0" y="7"/>
                    </a:lnTo>
                    <a:lnTo>
                      <a:pt x="0" y="12"/>
                    </a:lnTo>
                    <a:lnTo>
                      <a:pt x="10" y="10"/>
                    </a:lnTo>
                    <a:lnTo>
                      <a:pt x="10" y="7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16" name="Freeform 54"/>
              <p:cNvSpPr>
                <a:spLocks/>
              </p:cNvSpPr>
              <p:nvPr/>
            </p:nvSpPr>
            <p:spPr bwMode="auto">
              <a:xfrm>
                <a:off x="3365" y="1999"/>
                <a:ext cx="10" cy="11"/>
              </a:xfrm>
              <a:custGeom>
                <a:avLst/>
                <a:gdLst>
                  <a:gd name="T0" fmla="*/ 10 w 10"/>
                  <a:gd name="T1" fmla="*/ 0 h 11"/>
                  <a:gd name="T2" fmla="*/ 0 w 10"/>
                  <a:gd name="T3" fmla="*/ 1 h 11"/>
                  <a:gd name="T4" fmla="*/ 0 w 10"/>
                  <a:gd name="T5" fmla="*/ 11 h 11"/>
                  <a:gd name="T6" fmla="*/ 10 w 10"/>
                  <a:gd name="T7" fmla="*/ 10 h 11"/>
                  <a:gd name="T8" fmla="*/ 10 w 10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1"/>
                  <a:gd name="T17" fmla="*/ 10 w 10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1">
                    <a:moveTo>
                      <a:pt x="10" y="0"/>
                    </a:moveTo>
                    <a:lnTo>
                      <a:pt x="0" y="1"/>
                    </a:lnTo>
                    <a:lnTo>
                      <a:pt x="0" y="11"/>
                    </a:lnTo>
                    <a:lnTo>
                      <a:pt x="10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17" name="Freeform 55"/>
              <p:cNvSpPr>
                <a:spLocks/>
              </p:cNvSpPr>
              <p:nvPr/>
            </p:nvSpPr>
            <p:spPr bwMode="auto">
              <a:xfrm>
                <a:off x="3366" y="2019"/>
                <a:ext cx="12" cy="11"/>
              </a:xfrm>
              <a:custGeom>
                <a:avLst/>
                <a:gdLst>
                  <a:gd name="T0" fmla="*/ 10 w 12"/>
                  <a:gd name="T1" fmla="*/ 0 h 11"/>
                  <a:gd name="T2" fmla="*/ 0 w 12"/>
                  <a:gd name="T3" fmla="*/ 1 h 11"/>
                  <a:gd name="T4" fmla="*/ 2 w 12"/>
                  <a:gd name="T5" fmla="*/ 11 h 11"/>
                  <a:gd name="T6" fmla="*/ 12 w 12"/>
                  <a:gd name="T7" fmla="*/ 10 h 11"/>
                  <a:gd name="T8" fmla="*/ 10 w 12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10" y="0"/>
                    </a:moveTo>
                    <a:lnTo>
                      <a:pt x="0" y="1"/>
                    </a:lnTo>
                    <a:lnTo>
                      <a:pt x="2" y="11"/>
                    </a:lnTo>
                    <a:lnTo>
                      <a:pt x="12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18" name="Freeform 56"/>
              <p:cNvSpPr>
                <a:spLocks/>
              </p:cNvSpPr>
              <p:nvPr/>
            </p:nvSpPr>
            <p:spPr bwMode="auto">
              <a:xfrm>
                <a:off x="3369" y="2039"/>
                <a:ext cx="11" cy="12"/>
              </a:xfrm>
              <a:custGeom>
                <a:avLst/>
                <a:gdLst>
                  <a:gd name="T0" fmla="*/ 10 w 11"/>
                  <a:gd name="T1" fmla="*/ 0 h 12"/>
                  <a:gd name="T2" fmla="*/ 0 w 11"/>
                  <a:gd name="T3" fmla="*/ 2 h 12"/>
                  <a:gd name="T4" fmla="*/ 1 w 11"/>
                  <a:gd name="T5" fmla="*/ 12 h 12"/>
                  <a:gd name="T6" fmla="*/ 11 w 11"/>
                  <a:gd name="T7" fmla="*/ 11 h 12"/>
                  <a:gd name="T8" fmla="*/ 10 w 1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10" y="0"/>
                    </a:moveTo>
                    <a:lnTo>
                      <a:pt x="0" y="2"/>
                    </a:lnTo>
                    <a:lnTo>
                      <a:pt x="1" y="12"/>
                    </a:lnTo>
                    <a:lnTo>
                      <a:pt x="11" y="11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19" name="Freeform 57"/>
              <p:cNvSpPr>
                <a:spLocks/>
              </p:cNvSpPr>
              <p:nvPr/>
            </p:nvSpPr>
            <p:spPr bwMode="auto">
              <a:xfrm>
                <a:off x="3371" y="2058"/>
                <a:ext cx="12" cy="12"/>
              </a:xfrm>
              <a:custGeom>
                <a:avLst/>
                <a:gdLst>
                  <a:gd name="T0" fmla="*/ 9 w 12"/>
                  <a:gd name="T1" fmla="*/ 0 h 12"/>
                  <a:gd name="T2" fmla="*/ 0 w 12"/>
                  <a:gd name="T3" fmla="*/ 2 h 12"/>
                  <a:gd name="T4" fmla="*/ 3 w 12"/>
                  <a:gd name="T5" fmla="*/ 12 h 12"/>
                  <a:gd name="T6" fmla="*/ 12 w 12"/>
                  <a:gd name="T7" fmla="*/ 11 h 12"/>
                  <a:gd name="T8" fmla="*/ 9 w 12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9" y="0"/>
                    </a:moveTo>
                    <a:lnTo>
                      <a:pt x="0" y="2"/>
                    </a:lnTo>
                    <a:lnTo>
                      <a:pt x="3" y="12"/>
                    </a:lnTo>
                    <a:lnTo>
                      <a:pt x="12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20" name="Freeform 58"/>
              <p:cNvSpPr>
                <a:spLocks/>
              </p:cNvSpPr>
              <p:nvPr/>
            </p:nvSpPr>
            <p:spPr bwMode="auto">
              <a:xfrm>
                <a:off x="3375" y="2079"/>
                <a:ext cx="10" cy="11"/>
              </a:xfrm>
              <a:custGeom>
                <a:avLst/>
                <a:gdLst>
                  <a:gd name="T0" fmla="*/ 9 w 10"/>
                  <a:gd name="T1" fmla="*/ 0 h 11"/>
                  <a:gd name="T2" fmla="*/ 0 w 10"/>
                  <a:gd name="T3" fmla="*/ 1 h 11"/>
                  <a:gd name="T4" fmla="*/ 0 w 10"/>
                  <a:gd name="T5" fmla="*/ 7 h 11"/>
                  <a:gd name="T6" fmla="*/ 1 w 10"/>
                  <a:gd name="T7" fmla="*/ 11 h 11"/>
                  <a:gd name="T8" fmla="*/ 10 w 10"/>
                  <a:gd name="T9" fmla="*/ 10 h 11"/>
                  <a:gd name="T10" fmla="*/ 10 w 10"/>
                  <a:gd name="T11" fmla="*/ 7 h 11"/>
                  <a:gd name="T12" fmla="*/ 9 w 10"/>
                  <a:gd name="T13" fmla="*/ 0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"/>
                  <a:gd name="T22" fmla="*/ 0 h 11"/>
                  <a:gd name="T23" fmla="*/ 10 w 10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" h="11">
                    <a:moveTo>
                      <a:pt x="9" y="0"/>
                    </a:moveTo>
                    <a:lnTo>
                      <a:pt x="0" y="1"/>
                    </a:lnTo>
                    <a:lnTo>
                      <a:pt x="0" y="7"/>
                    </a:lnTo>
                    <a:lnTo>
                      <a:pt x="1" y="11"/>
                    </a:lnTo>
                    <a:lnTo>
                      <a:pt x="10" y="10"/>
                    </a:lnTo>
                    <a:lnTo>
                      <a:pt x="10" y="7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21" name="Freeform 59"/>
              <p:cNvSpPr>
                <a:spLocks/>
              </p:cNvSpPr>
              <p:nvPr/>
            </p:nvSpPr>
            <p:spPr bwMode="auto">
              <a:xfrm>
                <a:off x="3379" y="2099"/>
                <a:ext cx="10" cy="12"/>
              </a:xfrm>
              <a:custGeom>
                <a:avLst/>
                <a:gdLst>
                  <a:gd name="T0" fmla="*/ 9 w 10"/>
                  <a:gd name="T1" fmla="*/ 0 h 12"/>
                  <a:gd name="T2" fmla="*/ 0 w 10"/>
                  <a:gd name="T3" fmla="*/ 1 h 12"/>
                  <a:gd name="T4" fmla="*/ 1 w 10"/>
                  <a:gd name="T5" fmla="*/ 12 h 12"/>
                  <a:gd name="T6" fmla="*/ 10 w 10"/>
                  <a:gd name="T7" fmla="*/ 10 h 12"/>
                  <a:gd name="T8" fmla="*/ 9 w 10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2"/>
                  <a:gd name="T17" fmla="*/ 10 w 10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2">
                    <a:moveTo>
                      <a:pt x="9" y="0"/>
                    </a:moveTo>
                    <a:lnTo>
                      <a:pt x="0" y="1"/>
                    </a:lnTo>
                    <a:lnTo>
                      <a:pt x="1" y="12"/>
                    </a:lnTo>
                    <a:lnTo>
                      <a:pt x="10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22" name="Freeform 60"/>
              <p:cNvSpPr>
                <a:spLocks/>
              </p:cNvSpPr>
              <p:nvPr/>
            </p:nvSpPr>
            <p:spPr bwMode="auto">
              <a:xfrm>
                <a:off x="3383" y="2119"/>
                <a:ext cx="10" cy="12"/>
              </a:xfrm>
              <a:custGeom>
                <a:avLst/>
                <a:gdLst>
                  <a:gd name="T0" fmla="*/ 9 w 10"/>
                  <a:gd name="T1" fmla="*/ 0 h 12"/>
                  <a:gd name="T2" fmla="*/ 0 w 10"/>
                  <a:gd name="T3" fmla="*/ 2 h 12"/>
                  <a:gd name="T4" fmla="*/ 1 w 10"/>
                  <a:gd name="T5" fmla="*/ 12 h 12"/>
                  <a:gd name="T6" fmla="*/ 10 w 10"/>
                  <a:gd name="T7" fmla="*/ 11 h 12"/>
                  <a:gd name="T8" fmla="*/ 9 w 10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2"/>
                  <a:gd name="T17" fmla="*/ 10 w 10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2">
                    <a:moveTo>
                      <a:pt x="9" y="0"/>
                    </a:moveTo>
                    <a:lnTo>
                      <a:pt x="0" y="2"/>
                    </a:lnTo>
                    <a:lnTo>
                      <a:pt x="1" y="12"/>
                    </a:lnTo>
                    <a:lnTo>
                      <a:pt x="10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23" name="Freeform 61"/>
              <p:cNvSpPr>
                <a:spLocks/>
              </p:cNvSpPr>
              <p:nvPr/>
            </p:nvSpPr>
            <p:spPr bwMode="auto">
              <a:xfrm>
                <a:off x="3387" y="2138"/>
                <a:ext cx="11" cy="12"/>
              </a:xfrm>
              <a:custGeom>
                <a:avLst/>
                <a:gdLst>
                  <a:gd name="T0" fmla="*/ 8 w 11"/>
                  <a:gd name="T1" fmla="*/ 0 h 12"/>
                  <a:gd name="T2" fmla="*/ 0 w 11"/>
                  <a:gd name="T3" fmla="*/ 2 h 12"/>
                  <a:gd name="T4" fmla="*/ 2 w 11"/>
                  <a:gd name="T5" fmla="*/ 12 h 12"/>
                  <a:gd name="T6" fmla="*/ 11 w 11"/>
                  <a:gd name="T7" fmla="*/ 11 h 12"/>
                  <a:gd name="T8" fmla="*/ 8 w 1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8" y="0"/>
                    </a:moveTo>
                    <a:lnTo>
                      <a:pt x="0" y="2"/>
                    </a:lnTo>
                    <a:lnTo>
                      <a:pt x="2" y="12"/>
                    </a:lnTo>
                    <a:lnTo>
                      <a:pt x="11" y="11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24" name="Freeform 62"/>
              <p:cNvSpPr>
                <a:spLocks/>
              </p:cNvSpPr>
              <p:nvPr/>
            </p:nvSpPr>
            <p:spPr bwMode="auto">
              <a:xfrm>
                <a:off x="3390" y="2158"/>
                <a:ext cx="12" cy="12"/>
              </a:xfrm>
              <a:custGeom>
                <a:avLst/>
                <a:gdLst>
                  <a:gd name="T0" fmla="*/ 9 w 12"/>
                  <a:gd name="T1" fmla="*/ 0 h 12"/>
                  <a:gd name="T2" fmla="*/ 0 w 12"/>
                  <a:gd name="T3" fmla="*/ 2 h 12"/>
                  <a:gd name="T4" fmla="*/ 3 w 12"/>
                  <a:gd name="T5" fmla="*/ 12 h 12"/>
                  <a:gd name="T6" fmla="*/ 12 w 12"/>
                  <a:gd name="T7" fmla="*/ 10 h 12"/>
                  <a:gd name="T8" fmla="*/ 9 w 12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9" y="0"/>
                    </a:moveTo>
                    <a:lnTo>
                      <a:pt x="0" y="2"/>
                    </a:lnTo>
                    <a:lnTo>
                      <a:pt x="3" y="12"/>
                    </a:lnTo>
                    <a:lnTo>
                      <a:pt x="12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25" name="Freeform 63"/>
              <p:cNvSpPr>
                <a:spLocks/>
              </p:cNvSpPr>
              <p:nvPr/>
            </p:nvSpPr>
            <p:spPr bwMode="auto">
              <a:xfrm>
                <a:off x="3395" y="2178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2 h 13"/>
                  <a:gd name="T4" fmla="*/ 3 w 12"/>
                  <a:gd name="T5" fmla="*/ 13 h 13"/>
                  <a:gd name="T6" fmla="*/ 12 w 12"/>
                  <a:gd name="T7" fmla="*/ 10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2"/>
                    </a:lnTo>
                    <a:lnTo>
                      <a:pt x="3" y="13"/>
                    </a:lnTo>
                    <a:lnTo>
                      <a:pt x="12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26" name="Freeform 64"/>
              <p:cNvSpPr>
                <a:spLocks/>
              </p:cNvSpPr>
              <p:nvPr/>
            </p:nvSpPr>
            <p:spPr bwMode="auto">
              <a:xfrm>
                <a:off x="3401" y="2197"/>
                <a:ext cx="11" cy="13"/>
              </a:xfrm>
              <a:custGeom>
                <a:avLst/>
                <a:gdLst>
                  <a:gd name="T0" fmla="*/ 8 w 11"/>
                  <a:gd name="T1" fmla="*/ 0 h 13"/>
                  <a:gd name="T2" fmla="*/ 0 w 11"/>
                  <a:gd name="T3" fmla="*/ 3 h 13"/>
                  <a:gd name="T4" fmla="*/ 2 w 11"/>
                  <a:gd name="T5" fmla="*/ 13 h 13"/>
                  <a:gd name="T6" fmla="*/ 11 w 11"/>
                  <a:gd name="T7" fmla="*/ 10 h 13"/>
                  <a:gd name="T8" fmla="*/ 8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8" y="0"/>
                    </a:moveTo>
                    <a:lnTo>
                      <a:pt x="0" y="3"/>
                    </a:lnTo>
                    <a:lnTo>
                      <a:pt x="2" y="13"/>
                    </a:lnTo>
                    <a:lnTo>
                      <a:pt x="11" y="1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27" name="Freeform 65"/>
              <p:cNvSpPr>
                <a:spLocks/>
              </p:cNvSpPr>
              <p:nvPr/>
            </p:nvSpPr>
            <p:spPr bwMode="auto">
              <a:xfrm>
                <a:off x="3406" y="2217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3 h 13"/>
                  <a:gd name="T4" fmla="*/ 1 w 12"/>
                  <a:gd name="T5" fmla="*/ 4 h 13"/>
                  <a:gd name="T6" fmla="*/ 3 w 12"/>
                  <a:gd name="T7" fmla="*/ 13 h 13"/>
                  <a:gd name="T8" fmla="*/ 12 w 12"/>
                  <a:gd name="T9" fmla="*/ 10 h 13"/>
                  <a:gd name="T10" fmla="*/ 11 w 12"/>
                  <a:gd name="T11" fmla="*/ 4 h 13"/>
                  <a:gd name="T12" fmla="*/ 9 w 12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"/>
                  <a:gd name="T22" fmla="*/ 0 h 13"/>
                  <a:gd name="T23" fmla="*/ 12 w 12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" h="13">
                    <a:moveTo>
                      <a:pt x="9" y="0"/>
                    </a:moveTo>
                    <a:lnTo>
                      <a:pt x="0" y="3"/>
                    </a:lnTo>
                    <a:lnTo>
                      <a:pt x="1" y="4"/>
                    </a:lnTo>
                    <a:lnTo>
                      <a:pt x="3" y="13"/>
                    </a:lnTo>
                    <a:lnTo>
                      <a:pt x="12" y="10"/>
                    </a:lnTo>
                    <a:lnTo>
                      <a:pt x="11" y="4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28" name="Freeform 66"/>
              <p:cNvSpPr>
                <a:spLocks/>
              </p:cNvSpPr>
              <p:nvPr/>
            </p:nvSpPr>
            <p:spPr bwMode="auto">
              <a:xfrm>
                <a:off x="3412" y="2236"/>
                <a:ext cx="11" cy="13"/>
              </a:xfrm>
              <a:custGeom>
                <a:avLst/>
                <a:gdLst>
                  <a:gd name="T0" fmla="*/ 9 w 11"/>
                  <a:gd name="T1" fmla="*/ 0 h 13"/>
                  <a:gd name="T2" fmla="*/ 0 w 11"/>
                  <a:gd name="T3" fmla="*/ 3 h 13"/>
                  <a:gd name="T4" fmla="*/ 3 w 11"/>
                  <a:gd name="T5" fmla="*/ 13 h 13"/>
                  <a:gd name="T6" fmla="*/ 11 w 11"/>
                  <a:gd name="T7" fmla="*/ 11 h 13"/>
                  <a:gd name="T8" fmla="*/ 9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9" y="0"/>
                    </a:moveTo>
                    <a:lnTo>
                      <a:pt x="0" y="3"/>
                    </a:lnTo>
                    <a:lnTo>
                      <a:pt x="3" y="13"/>
                    </a:lnTo>
                    <a:lnTo>
                      <a:pt x="11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29" name="Freeform 67"/>
              <p:cNvSpPr>
                <a:spLocks/>
              </p:cNvSpPr>
              <p:nvPr/>
            </p:nvSpPr>
            <p:spPr bwMode="auto">
              <a:xfrm>
                <a:off x="3418" y="2257"/>
                <a:ext cx="12" cy="11"/>
              </a:xfrm>
              <a:custGeom>
                <a:avLst/>
                <a:gdLst>
                  <a:gd name="T0" fmla="*/ 9 w 12"/>
                  <a:gd name="T1" fmla="*/ 0 h 11"/>
                  <a:gd name="T2" fmla="*/ 0 w 12"/>
                  <a:gd name="T3" fmla="*/ 2 h 11"/>
                  <a:gd name="T4" fmla="*/ 3 w 12"/>
                  <a:gd name="T5" fmla="*/ 11 h 11"/>
                  <a:gd name="T6" fmla="*/ 12 w 12"/>
                  <a:gd name="T7" fmla="*/ 9 h 11"/>
                  <a:gd name="T8" fmla="*/ 9 w 12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9" y="0"/>
                    </a:moveTo>
                    <a:lnTo>
                      <a:pt x="0" y="2"/>
                    </a:lnTo>
                    <a:lnTo>
                      <a:pt x="3" y="11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30" name="Freeform 68"/>
              <p:cNvSpPr>
                <a:spLocks/>
              </p:cNvSpPr>
              <p:nvPr/>
            </p:nvSpPr>
            <p:spPr bwMode="auto">
              <a:xfrm>
                <a:off x="3425" y="2276"/>
                <a:ext cx="11" cy="11"/>
              </a:xfrm>
              <a:custGeom>
                <a:avLst/>
                <a:gdLst>
                  <a:gd name="T0" fmla="*/ 9 w 11"/>
                  <a:gd name="T1" fmla="*/ 0 h 11"/>
                  <a:gd name="T2" fmla="*/ 0 w 11"/>
                  <a:gd name="T3" fmla="*/ 2 h 11"/>
                  <a:gd name="T4" fmla="*/ 2 w 11"/>
                  <a:gd name="T5" fmla="*/ 11 h 11"/>
                  <a:gd name="T6" fmla="*/ 11 w 11"/>
                  <a:gd name="T7" fmla="*/ 9 h 11"/>
                  <a:gd name="T8" fmla="*/ 9 w 1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9" y="0"/>
                    </a:moveTo>
                    <a:lnTo>
                      <a:pt x="0" y="2"/>
                    </a:lnTo>
                    <a:lnTo>
                      <a:pt x="2" y="11"/>
                    </a:lnTo>
                    <a:lnTo>
                      <a:pt x="11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31" name="Freeform 69"/>
              <p:cNvSpPr>
                <a:spLocks/>
              </p:cNvSpPr>
              <p:nvPr/>
            </p:nvSpPr>
            <p:spPr bwMode="auto">
              <a:xfrm>
                <a:off x="3430" y="2295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2 h 13"/>
                  <a:gd name="T4" fmla="*/ 4 w 12"/>
                  <a:gd name="T5" fmla="*/ 13 h 13"/>
                  <a:gd name="T6" fmla="*/ 12 w 12"/>
                  <a:gd name="T7" fmla="*/ 10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2"/>
                    </a:lnTo>
                    <a:lnTo>
                      <a:pt x="4" y="13"/>
                    </a:lnTo>
                    <a:lnTo>
                      <a:pt x="12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32" name="Freeform 70"/>
              <p:cNvSpPr>
                <a:spLocks/>
              </p:cNvSpPr>
              <p:nvPr/>
            </p:nvSpPr>
            <p:spPr bwMode="auto">
              <a:xfrm>
                <a:off x="3437" y="2314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2 h 13"/>
                  <a:gd name="T4" fmla="*/ 3 w 12"/>
                  <a:gd name="T5" fmla="*/ 13 h 13"/>
                  <a:gd name="T6" fmla="*/ 12 w 12"/>
                  <a:gd name="T7" fmla="*/ 10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2"/>
                    </a:lnTo>
                    <a:lnTo>
                      <a:pt x="3" y="13"/>
                    </a:lnTo>
                    <a:lnTo>
                      <a:pt x="12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33" name="Freeform 71"/>
              <p:cNvSpPr>
                <a:spLocks/>
              </p:cNvSpPr>
              <p:nvPr/>
            </p:nvSpPr>
            <p:spPr bwMode="auto">
              <a:xfrm>
                <a:off x="3444" y="2333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3 h 13"/>
                  <a:gd name="T4" fmla="*/ 3 w 12"/>
                  <a:gd name="T5" fmla="*/ 13 h 13"/>
                  <a:gd name="T6" fmla="*/ 12 w 12"/>
                  <a:gd name="T7" fmla="*/ 10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3"/>
                    </a:lnTo>
                    <a:lnTo>
                      <a:pt x="3" y="13"/>
                    </a:lnTo>
                    <a:lnTo>
                      <a:pt x="12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34" name="Freeform 72"/>
              <p:cNvSpPr>
                <a:spLocks/>
              </p:cNvSpPr>
              <p:nvPr/>
            </p:nvSpPr>
            <p:spPr bwMode="auto">
              <a:xfrm>
                <a:off x="3450" y="2352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3 h 13"/>
                  <a:gd name="T4" fmla="*/ 1 w 13"/>
                  <a:gd name="T5" fmla="*/ 5 h 13"/>
                  <a:gd name="T6" fmla="*/ 4 w 13"/>
                  <a:gd name="T7" fmla="*/ 13 h 13"/>
                  <a:gd name="T8" fmla="*/ 13 w 13"/>
                  <a:gd name="T9" fmla="*/ 9 h 13"/>
                  <a:gd name="T10" fmla="*/ 11 w 13"/>
                  <a:gd name="T11" fmla="*/ 5 h 13"/>
                  <a:gd name="T12" fmla="*/ 9 w 13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"/>
                  <a:gd name="T22" fmla="*/ 0 h 13"/>
                  <a:gd name="T23" fmla="*/ 13 w 13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" h="13">
                    <a:moveTo>
                      <a:pt x="9" y="0"/>
                    </a:moveTo>
                    <a:lnTo>
                      <a:pt x="0" y="3"/>
                    </a:lnTo>
                    <a:lnTo>
                      <a:pt x="1" y="5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11" y="5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35" name="Freeform 73"/>
              <p:cNvSpPr>
                <a:spLocks/>
              </p:cNvSpPr>
              <p:nvPr/>
            </p:nvSpPr>
            <p:spPr bwMode="auto">
              <a:xfrm>
                <a:off x="3458" y="2371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4 h 13"/>
                  <a:gd name="T4" fmla="*/ 3 w 12"/>
                  <a:gd name="T5" fmla="*/ 13 h 13"/>
                  <a:gd name="T6" fmla="*/ 12 w 12"/>
                  <a:gd name="T7" fmla="*/ 9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4"/>
                    </a:lnTo>
                    <a:lnTo>
                      <a:pt x="3" y="13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36" name="Freeform 74"/>
              <p:cNvSpPr>
                <a:spLocks/>
              </p:cNvSpPr>
              <p:nvPr/>
            </p:nvSpPr>
            <p:spPr bwMode="auto">
              <a:xfrm>
                <a:off x="3465" y="2390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4 h 13"/>
                  <a:gd name="T4" fmla="*/ 3 w 12"/>
                  <a:gd name="T5" fmla="*/ 13 h 13"/>
                  <a:gd name="T6" fmla="*/ 12 w 12"/>
                  <a:gd name="T7" fmla="*/ 9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4"/>
                    </a:lnTo>
                    <a:lnTo>
                      <a:pt x="3" y="13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37" name="Freeform 75"/>
              <p:cNvSpPr>
                <a:spLocks/>
              </p:cNvSpPr>
              <p:nvPr/>
            </p:nvSpPr>
            <p:spPr bwMode="auto">
              <a:xfrm>
                <a:off x="3472" y="2409"/>
                <a:ext cx="12" cy="13"/>
              </a:xfrm>
              <a:custGeom>
                <a:avLst/>
                <a:gdLst>
                  <a:gd name="T0" fmla="*/ 8 w 12"/>
                  <a:gd name="T1" fmla="*/ 0 h 13"/>
                  <a:gd name="T2" fmla="*/ 0 w 12"/>
                  <a:gd name="T3" fmla="*/ 4 h 13"/>
                  <a:gd name="T4" fmla="*/ 3 w 12"/>
                  <a:gd name="T5" fmla="*/ 13 h 13"/>
                  <a:gd name="T6" fmla="*/ 12 w 12"/>
                  <a:gd name="T7" fmla="*/ 9 h 13"/>
                  <a:gd name="T8" fmla="*/ 8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8" y="0"/>
                    </a:moveTo>
                    <a:lnTo>
                      <a:pt x="0" y="4"/>
                    </a:lnTo>
                    <a:lnTo>
                      <a:pt x="3" y="13"/>
                    </a:lnTo>
                    <a:lnTo>
                      <a:pt x="12" y="9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38" name="Freeform 76"/>
              <p:cNvSpPr>
                <a:spLocks/>
              </p:cNvSpPr>
              <p:nvPr/>
            </p:nvSpPr>
            <p:spPr bwMode="auto">
              <a:xfrm>
                <a:off x="3479" y="2428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4 h 13"/>
                  <a:gd name="T4" fmla="*/ 4 w 13"/>
                  <a:gd name="T5" fmla="*/ 13 h 13"/>
                  <a:gd name="T6" fmla="*/ 13 w 13"/>
                  <a:gd name="T7" fmla="*/ 9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39" name="Freeform 77"/>
              <p:cNvSpPr>
                <a:spLocks/>
              </p:cNvSpPr>
              <p:nvPr/>
            </p:nvSpPr>
            <p:spPr bwMode="auto">
              <a:xfrm>
                <a:off x="3487" y="2447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4 h 13"/>
                  <a:gd name="T4" fmla="*/ 4 w 13"/>
                  <a:gd name="T5" fmla="*/ 13 h 13"/>
                  <a:gd name="T6" fmla="*/ 13 w 13"/>
                  <a:gd name="T7" fmla="*/ 9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40" name="Freeform 78"/>
              <p:cNvSpPr>
                <a:spLocks/>
              </p:cNvSpPr>
              <p:nvPr/>
            </p:nvSpPr>
            <p:spPr bwMode="auto">
              <a:xfrm>
                <a:off x="3494" y="2465"/>
                <a:ext cx="13" cy="14"/>
              </a:xfrm>
              <a:custGeom>
                <a:avLst/>
                <a:gdLst>
                  <a:gd name="T0" fmla="*/ 9 w 13"/>
                  <a:gd name="T1" fmla="*/ 0 h 14"/>
                  <a:gd name="T2" fmla="*/ 0 w 13"/>
                  <a:gd name="T3" fmla="*/ 4 h 14"/>
                  <a:gd name="T4" fmla="*/ 4 w 13"/>
                  <a:gd name="T5" fmla="*/ 14 h 14"/>
                  <a:gd name="T6" fmla="*/ 13 w 13"/>
                  <a:gd name="T7" fmla="*/ 10 h 14"/>
                  <a:gd name="T8" fmla="*/ 9 w 13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4"/>
                  <a:gd name="T17" fmla="*/ 13 w 13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4">
                    <a:moveTo>
                      <a:pt x="9" y="0"/>
                    </a:moveTo>
                    <a:lnTo>
                      <a:pt x="0" y="4"/>
                    </a:lnTo>
                    <a:lnTo>
                      <a:pt x="4" y="14"/>
                    </a:lnTo>
                    <a:lnTo>
                      <a:pt x="13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41" name="Freeform 79"/>
              <p:cNvSpPr>
                <a:spLocks/>
              </p:cNvSpPr>
              <p:nvPr/>
            </p:nvSpPr>
            <p:spPr bwMode="auto">
              <a:xfrm>
                <a:off x="3502" y="2484"/>
                <a:ext cx="11" cy="10"/>
              </a:xfrm>
              <a:custGeom>
                <a:avLst/>
                <a:gdLst>
                  <a:gd name="T0" fmla="*/ 9 w 11"/>
                  <a:gd name="T1" fmla="*/ 0 h 10"/>
                  <a:gd name="T2" fmla="*/ 0 w 11"/>
                  <a:gd name="T3" fmla="*/ 4 h 10"/>
                  <a:gd name="T4" fmla="*/ 3 w 11"/>
                  <a:gd name="T5" fmla="*/ 10 h 10"/>
                  <a:gd name="T6" fmla="*/ 11 w 11"/>
                  <a:gd name="T7" fmla="*/ 7 h 10"/>
                  <a:gd name="T8" fmla="*/ 9 w 1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0"/>
                  <a:gd name="T17" fmla="*/ 11 w 1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0">
                    <a:moveTo>
                      <a:pt x="9" y="0"/>
                    </a:moveTo>
                    <a:lnTo>
                      <a:pt x="0" y="4"/>
                    </a:lnTo>
                    <a:lnTo>
                      <a:pt x="3" y="10"/>
                    </a:lnTo>
                    <a:lnTo>
                      <a:pt x="11" y="7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142" name="Freeform 80"/>
              <p:cNvSpPr>
                <a:spLocks/>
              </p:cNvSpPr>
              <p:nvPr/>
            </p:nvSpPr>
            <p:spPr bwMode="auto">
              <a:xfrm>
                <a:off x="3468" y="2475"/>
                <a:ext cx="78" cy="96"/>
              </a:xfrm>
              <a:custGeom>
                <a:avLst/>
                <a:gdLst>
                  <a:gd name="T0" fmla="*/ 0 w 78"/>
                  <a:gd name="T1" fmla="*/ 33 h 96"/>
                  <a:gd name="T2" fmla="*/ 72 w 78"/>
                  <a:gd name="T3" fmla="*/ 96 h 96"/>
                  <a:gd name="T4" fmla="*/ 78 w 78"/>
                  <a:gd name="T5" fmla="*/ 0 h 96"/>
                  <a:gd name="T6" fmla="*/ 0 w 78"/>
                  <a:gd name="T7" fmla="*/ 33 h 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8"/>
                  <a:gd name="T13" fmla="*/ 0 h 96"/>
                  <a:gd name="T14" fmla="*/ 78 w 78"/>
                  <a:gd name="T15" fmla="*/ 96 h 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8" h="96">
                    <a:moveTo>
                      <a:pt x="0" y="33"/>
                    </a:moveTo>
                    <a:lnTo>
                      <a:pt x="72" y="96"/>
                    </a:lnTo>
                    <a:lnTo>
                      <a:pt x="78" y="0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44" name="Group 81"/>
            <p:cNvGrpSpPr>
              <a:grpSpLocks/>
            </p:cNvGrpSpPr>
            <p:nvPr/>
          </p:nvGrpSpPr>
          <p:grpSpPr bwMode="auto">
            <a:xfrm>
              <a:off x="3261" y="1329"/>
              <a:ext cx="184" cy="1242"/>
              <a:chOff x="3261" y="1329"/>
              <a:chExt cx="184" cy="1242"/>
            </a:xfrm>
          </p:grpSpPr>
          <p:sp>
            <p:nvSpPr>
              <p:cNvPr id="104021" name="Freeform 82"/>
              <p:cNvSpPr>
                <a:spLocks/>
              </p:cNvSpPr>
              <p:nvPr/>
            </p:nvSpPr>
            <p:spPr bwMode="auto">
              <a:xfrm>
                <a:off x="3411" y="1329"/>
                <a:ext cx="12" cy="12"/>
              </a:xfrm>
              <a:custGeom>
                <a:avLst/>
                <a:gdLst>
                  <a:gd name="T0" fmla="*/ 12 w 12"/>
                  <a:gd name="T1" fmla="*/ 4 h 12"/>
                  <a:gd name="T2" fmla="*/ 4 w 12"/>
                  <a:gd name="T3" fmla="*/ 0 h 12"/>
                  <a:gd name="T4" fmla="*/ 0 w 12"/>
                  <a:gd name="T5" fmla="*/ 9 h 12"/>
                  <a:gd name="T6" fmla="*/ 9 w 12"/>
                  <a:gd name="T7" fmla="*/ 12 h 12"/>
                  <a:gd name="T8" fmla="*/ 12 w 12"/>
                  <a:gd name="T9" fmla="*/ 4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12" y="4"/>
                    </a:moveTo>
                    <a:lnTo>
                      <a:pt x="4" y="0"/>
                    </a:lnTo>
                    <a:lnTo>
                      <a:pt x="0" y="9"/>
                    </a:lnTo>
                    <a:lnTo>
                      <a:pt x="9" y="12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22" name="Freeform 83"/>
              <p:cNvSpPr>
                <a:spLocks/>
              </p:cNvSpPr>
              <p:nvPr/>
            </p:nvSpPr>
            <p:spPr bwMode="auto">
              <a:xfrm>
                <a:off x="3403" y="1347"/>
                <a:ext cx="13" cy="14"/>
              </a:xfrm>
              <a:custGeom>
                <a:avLst/>
                <a:gdLst>
                  <a:gd name="T0" fmla="*/ 13 w 13"/>
                  <a:gd name="T1" fmla="*/ 3 h 14"/>
                  <a:gd name="T2" fmla="*/ 4 w 13"/>
                  <a:gd name="T3" fmla="*/ 0 h 14"/>
                  <a:gd name="T4" fmla="*/ 0 w 13"/>
                  <a:gd name="T5" fmla="*/ 10 h 14"/>
                  <a:gd name="T6" fmla="*/ 9 w 13"/>
                  <a:gd name="T7" fmla="*/ 14 h 14"/>
                  <a:gd name="T8" fmla="*/ 13 w 13"/>
                  <a:gd name="T9" fmla="*/ 3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4"/>
                  <a:gd name="T17" fmla="*/ 13 w 13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4">
                    <a:moveTo>
                      <a:pt x="13" y="3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3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23" name="Freeform 84"/>
              <p:cNvSpPr>
                <a:spLocks/>
              </p:cNvSpPr>
              <p:nvPr/>
            </p:nvSpPr>
            <p:spPr bwMode="auto">
              <a:xfrm>
                <a:off x="3395" y="1366"/>
                <a:ext cx="13" cy="14"/>
              </a:xfrm>
              <a:custGeom>
                <a:avLst/>
                <a:gdLst>
                  <a:gd name="T0" fmla="*/ 13 w 13"/>
                  <a:gd name="T1" fmla="*/ 3 h 14"/>
                  <a:gd name="T2" fmla="*/ 4 w 13"/>
                  <a:gd name="T3" fmla="*/ 0 h 14"/>
                  <a:gd name="T4" fmla="*/ 0 w 13"/>
                  <a:gd name="T5" fmla="*/ 10 h 14"/>
                  <a:gd name="T6" fmla="*/ 9 w 13"/>
                  <a:gd name="T7" fmla="*/ 14 h 14"/>
                  <a:gd name="T8" fmla="*/ 13 w 13"/>
                  <a:gd name="T9" fmla="*/ 3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4"/>
                  <a:gd name="T17" fmla="*/ 13 w 13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4">
                    <a:moveTo>
                      <a:pt x="13" y="3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3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24" name="Freeform 85"/>
              <p:cNvSpPr>
                <a:spLocks/>
              </p:cNvSpPr>
              <p:nvPr/>
            </p:nvSpPr>
            <p:spPr bwMode="auto">
              <a:xfrm>
                <a:off x="3389" y="1385"/>
                <a:ext cx="12" cy="14"/>
              </a:xfrm>
              <a:custGeom>
                <a:avLst/>
                <a:gdLst>
                  <a:gd name="T0" fmla="*/ 12 w 12"/>
                  <a:gd name="T1" fmla="*/ 4 h 14"/>
                  <a:gd name="T2" fmla="*/ 3 w 12"/>
                  <a:gd name="T3" fmla="*/ 0 h 14"/>
                  <a:gd name="T4" fmla="*/ 0 w 12"/>
                  <a:gd name="T5" fmla="*/ 10 h 14"/>
                  <a:gd name="T6" fmla="*/ 9 w 12"/>
                  <a:gd name="T7" fmla="*/ 14 h 14"/>
                  <a:gd name="T8" fmla="*/ 12 w 12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12" y="4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25" name="Freeform 86"/>
              <p:cNvSpPr>
                <a:spLocks/>
              </p:cNvSpPr>
              <p:nvPr/>
            </p:nvSpPr>
            <p:spPr bwMode="auto">
              <a:xfrm>
                <a:off x="3382" y="1404"/>
                <a:ext cx="12" cy="14"/>
              </a:xfrm>
              <a:custGeom>
                <a:avLst/>
                <a:gdLst>
                  <a:gd name="T0" fmla="*/ 12 w 12"/>
                  <a:gd name="T1" fmla="*/ 4 h 14"/>
                  <a:gd name="T2" fmla="*/ 3 w 12"/>
                  <a:gd name="T3" fmla="*/ 0 h 14"/>
                  <a:gd name="T4" fmla="*/ 2 w 12"/>
                  <a:gd name="T5" fmla="*/ 4 h 14"/>
                  <a:gd name="T6" fmla="*/ 0 w 12"/>
                  <a:gd name="T7" fmla="*/ 10 h 14"/>
                  <a:gd name="T8" fmla="*/ 8 w 12"/>
                  <a:gd name="T9" fmla="*/ 14 h 14"/>
                  <a:gd name="T10" fmla="*/ 12 w 12"/>
                  <a:gd name="T11" fmla="*/ 4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2"/>
                  <a:gd name="T19" fmla="*/ 0 h 14"/>
                  <a:gd name="T20" fmla="*/ 12 w 12"/>
                  <a:gd name="T21" fmla="*/ 14 h 1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2" h="14">
                    <a:moveTo>
                      <a:pt x="12" y="4"/>
                    </a:moveTo>
                    <a:lnTo>
                      <a:pt x="3" y="0"/>
                    </a:lnTo>
                    <a:lnTo>
                      <a:pt x="2" y="4"/>
                    </a:lnTo>
                    <a:lnTo>
                      <a:pt x="0" y="10"/>
                    </a:lnTo>
                    <a:lnTo>
                      <a:pt x="8" y="14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26" name="Freeform 87"/>
              <p:cNvSpPr>
                <a:spLocks/>
              </p:cNvSpPr>
              <p:nvPr/>
            </p:nvSpPr>
            <p:spPr bwMode="auto">
              <a:xfrm>
                <a:off x="3375" y="1423"/>
                <a:ext cx="12" cy="14"/>
              </a:xfrm>
              <a:custGeom>
                <a:avLst/>
                <a:gdLst>
                  <a:gd name="T0" fmla="*/ 12 w 12"/>
                  <a:gd name="T1" fmla="*/ 4 h 14"/>
                  <a:gd name="T2" fmla="*/ 3 w 12"/>
                  <a:gd name="T3" fmla="*/ 0 h 14"/>
                  <a:gd name="T4" fmla="*/ 0 w 12"/>
                  <a:gd name="T5" fmla="*/ 10 h 14"/>
                  <a:gd name="T6" fmla="*/ 9 w 12"/>
                  <a:gd name="T7" fmla="*/ 14 h 14"/>
                  <a:gd name="T8" fmla="*/ 12 w 12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12" y="4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27" name="Freeform 88"/>
              <p:cNvSpPr>
                <a:spLocks/>
              </p:cNvSpPr>
              <p:nvPr/>
            </p:nvSpPr>
            <p:spPr bwMode="auto">
              <a:xfrm>
                <a:off x="3368" y="1442"/>
                <a:ext cx="12" cy="14"/>
              </a:xfrm>
              <a:custGeom>
                <a:avLst/>
                <a:gdLst>
                  <a:gd name="T0" fmla="*/ 12 w 12"/>
                  <a:gd name="T1" fmla="*/ 4 h 14"/>
                  <a:gd name="T2" fmla="*/ 3 w 12"/>
                  <a:gd name="T3" fmla="*/ 0 h 14"/>
                  <a:gd name="T4" fmla="*/ 0 w 12"/>
                  <a:gd name="T5" fmla="*/ 10 h 14"/>
                  <a:gd name="T6" fmla="*/ 8 w 12"/>
                  <a:gd name="T7" fmla="*/ 14 h 14"/>
                  <a:gd name="T8" fmla="*/ 12 w 12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12" y="4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8" y="14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28" name="Freeform 89"/>
              <p:cNvSpPr>
                <a:spLocks/>
              </p:cNvSpPr>
              <p:nvPr/>
            </p:nvSpPr>
            <p:spPr bwMode="auto">
              <a:xfrm>
                <a:off x="3361" y="1461"/>
                <a:ext cx="12" cy="14"/>
              </a:xfrm>
              <a:custGeom>
                <a:avLst/>
                <a:gdLst>
                  <a:gd name="T0" fmla="*/ 12 w 12"/>
                  <a:gd name="T1" fmla="*/ 4 h 14"/>
                  <a:gd name="T2" fmla="*/ 3 w 12"/>
                  <a:gd name="T3" fmla="*/ 0 h 14"/>
                  <a:gd name="T4" fmla="*/ 0 w 12"/>
                  <a:gd name="T5" fmla="*/ 10 h 14"/>
                  <a:gd name="T6" fmla="*/ 9 w 12"/>
                  <a:gd name="T7" fmla="*/ 14 h 14"/>
                  <a:gd name="T8" fmla="*/ 12 w 12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12" y="4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29" name="Freeform 90"/>
              <p:cNvSpPr>
                <a:spLocks/>
              </p:cNvSpPr>
              <p:nvPr/>
            </p:nvSpPr>
            <p:spPr bwMode="auto">
              <a:xfrm>
                <a:off x="3354" y="1480"/>
                <a:ext cx="12" cy="14"/>
              </a:xfrm>
              <a:custGeom>
                <a:avLst/>
                <a:gdLst>
                  <a:gd name="T0" fmla="*/ 12 w 12"/>
                  <a:gd name="T1" fmla="*/ 4 h 14"/>
                  <a:gd name="T2" fmla="*/ 3 w 12"/>
                  <a:gd name="T3" fmla="*/ 0 h 14"/>
                  <a:gd name="T4" fmla="*/ 2 w 12"/>
                  <a:gd name="T5" fmla="*/ 5 h 14"/>
                  <a:gd name="T6" fmla="*/ 0 w 12"/>
                  <a:gd name="T7" fmla="*/ 11 h 14"/>
                  <a:gd name="T8" fmla="*/ 8 w 12"/>
                  <a:gd name="T9" fmla="*/ 14 h 14"/>
                  <a:gd name="T10" fmla="*/ 12 w 12"/>
                  <a:gd name="T11" fmla="*/ 5 h 14"/>
                  <a:gd name="T12" fmla="*/ 12 w 12"/>
                  <a:gd name="T13" fmla="*/ 4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"/>
                  <a:gd name="T22" fmla="*/ 0 h 14"/>
                  <a:gd name="T23" fmla="*/ 12 w 12"/>
                  <a:gd name="T24" fmla="*/ 14 h 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" h="14">
                    <a:moveTo>
                      <a:pt x="12" y="4"/>
                    </a:moveTo>
                    <a:lnTo>
                      <a:pt x="3" y="0"/>
                    </a:lnTo>
                    <a:lnTo>
                      <a:pt x="2" y="5"/>
                    </a:lnTo>
                    <a:lnTo>
                      <a:pt x="0" y="11"/>
                    </a:lnTo>
                    <a:lnTo>
                      <a:pt x="8" y="14"/>
                    </a:lnTo>
                    <a:lnTo>
                      <a:pt x="12" y="5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30" name="Freeform 91"/>
              <p:cNvSpPr>
                <a:spLocks/>
              </p:cNvSpPr>
              <p:nvPr/>
            </p:nvSpPr>
            <p:spPr bwMode="auto">
              <a:xfrm>
                <a:off x="3347" y="1500"/>
                <a:ext cx="13" cy="13"/>
              </a:xfrm>
              <a:custGeom>
                <a:avLst/>
                <a:gdLst>
                  <a:gd name="T0" fmla="*/ 13 w 13"/>
                  <a:gd name="T1" fmla="*/ 3 h 13"/>
                  <a:gd name="T2" fmla="*/ 4 w 13"/>
                  <a:gd name="T3" fmla="*/ 0 h 13"/>
                  <a:gd name="T4" fmla="*/ 0 w 13"/>
                  <a:gd name="T5" fmla="*/ 11 h 13"/>
                  <a:gd name="T6" fmla="*/ 9 w 13"/>
                  <a:gd name="T7" fmla="*/ 13 h 13"/>
                  <a:gd name="T8" fmla="*/ 13 w 13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13" y="3"/>
                    </a:moveTo>
                    <a:lnTo>
                      <a:pt x="4" y="0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3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31" name="Freeform 92"/>
              <p:cNvSpPr>
                <a:spLocks/>
              </p:cNvSpPr>
              <p:nvPr/>
            </p:nvSpPr>
            <p:spPr bwMode="auto">
              <a:xfrm>
                <a:off x="3341" y="1519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2 w 11"/>
                  <a:gd name="T3" fmla="*/ 0 h 13"/>
                  <a:gd name="T4" fmla="*/ 0 w 11"/>
                  <a:gd name="T5" fmla="*/ 11 h 13"/>
                  <a:gd name="T6" fmla="*/ 9 w 11"/>
                  <a:gd name="T7" fmla="*/ 13 h 13"/>
                  <a:gd name="T8" fmla="*/ 11 w 11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3"/>
                    </a:moveTo>
                    <a:lnTo>
                      <a:pt x="2" y="0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32" name="Freeform 93"/>
              <p:cNvSpPr>
                <a:spLocks/>
              </p:cNvSpPr>
              <p:nvPr/>
            </p:nvSpPr>
            <p:spPr bwMode="auto">
              <a:xfrm>
                <a:off x="3335" y="1539"/>
                <a:ext cx="11" cy="12"/>
              </a:xfrm>
              <a:custGeom>
                <a:avLst/>
                <a:gdLst>
                  <a:gd name="T0" fmla="*/ 11 w 11"/>
                  <a:gd name="T1" fmla="*/ 2 h 12"/>
                  <a:gd name="T2" fmla="*/ 2 w 11"/>
                  <a:gd name="T3" fmla="*/ 0 h 12"/>
                  <a:gd name="T4" fmla="*/ 0 w 11"/>
                  <a:gd name="T5" fmla="*/ 10 h 12"/>
                  <a:gd name="T6" fmla="*/ 8 w 11"/>
                  <a:gd name="T7" fmla="*/ 12 h 12"/>
                  <a:gd name="T8" fmla="*/ 11 w 11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11" y="2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8" y="12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33" name="Freeform 94"/>
              <p:cNvSpPr>
                <a:spLocks/>
              </p:cNvSpPr>
              <p:nvPr/>
            </p:nvSpPr>
            <p:spPr bwMode="auto">
              <a:xfrm>
                <a:off x="3328" y="1559"/>
                <a:ext cx="12" cy="11"/>
              </a:xfrm>
              <a:custGeom>
                <a:avLst/>
                <a:gdLst>
                  <a:gd name="T0" fmla="*/ 12 w 12"/>
                  <a:gd name="T1" fmla="*/ 2 h 11"/>
                  <a:gd name="T2" fmla="*/ 3 w 12"/>
                  <a:gd name="T3" fmla="*/ 0 h 11"/>
                  <a:gd name="T4" fmla="*/ 1 w 12"/>
                  <a:gd name="T5" fmla="*/ 4 h 11"/>
                  <a:gd name="T6" fmla="*/ 0 w 12"/>
                  <a:gd name="T7" fmla="*/ 9 h 11"/>
                  <a:gd name="T8" fmla="*/ 9 w 12"/>
                  <a:gd name="T9" fmla="*/ 11 h 11"/>
                  <a:gd name="T10" fmla="*/ 12 w 12"/>
                  <a:gd name="T11" fmla="*/ 4 h 11"/>
                  <a:gd name="T12" fmla="*/ 12 w 12"/>
                  <a:gd name="T13" fmla="*/ 2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"/>
                  <a:gd name="T22" fmla="*/ 0 h 11"/>
                  <a:gd name="T23" fmla="*/ 12 w 12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" h="11">
                    <a:moveTo>
                      <a:pt x="12" y="2"/>
                    </a:moveTo>
                    <a:lnTo>
                      <a:pt x="3" y="0"/>
                    </a:lnTo>
                    <a:lnTo>
                      <a:pt x="1" y="4"/>
                    </a:lnTo>
                    <a:lnTo>
                      <a:pt x="0" y="9"/>
                    </a:lnTo>
                    <a:lnTo>
                      <a:pt x="9" y="11"/>
                    </a:lnTo>
                    <a:lnTo>
                      <a:pt x="12" y="4"/>
                    </a:ln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34" name="Freeform 95"/>
              <p:cNvSpPr>
                <a:spLocks/>
              </p:cNvSpPr>
              <p:nvPr/>
            </p:nvSpPr>
            <p:spPr bwMode="auto">
              <a:xfrm>
                <a:off x="3322" y="1578"/>
                <a:ext cx="13" cy="11"/>
              </a:xfrm>
              <a:custGeom>
                <a:avLst/>
                <a:gdLst>
                  <a:gd name="T0" fmla="*/ 13 w 13"/>
                  <a:gd name="T1" fmla="*/ 2 h 11"/>
                  <a:gd name="T2" fmla="*/ 4 w 13"/>
                  <a:gd name="T3" fmla="*/ 0 h 11"/>
                  <a:gd name="T4" fmla="*/ 0 w 13"/>
                  <a:gd name="T5" fmla="*/ 9 h 11"/>
                  <a:gd name="T6" fmla="*/ 9 w 13"/>
                  <a:gd name="T7" fmla="*/ 11 h 11"/>
                  <a:gd name="T8" fmla="*/ 13 w 13"/>
                  <a:gd name="T9" fmla="*/ 2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1"/>
                  <a:gd name="T17" fmla="*/ 13 w 13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1">
                    <a:moveTo>
                      <a:pt x="13" y="2"/>
                    </a:moveTo>
                    <a:lnTo>
                      <a:pt x="4" y="0"/>
                    </a:lnTo>
                    <a:lnTo>
                      <a:pt x="0" y="9"/>
                    </a:lnTo>
                    <a:lnTo>
                      <a:pt x="9" y="11"/>
                    </a:ln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35" name="Freeform 96"/>
              <p:cNvSpPr>
                <a:spLocks/>
              </p:cNvSpPr>
              <p:nvPr/>
            </p:nvSpPr>
            <p:spPr bwMode="auto">
              <a:xfrm>
                <a:off x="3317" y="1597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2 w 11"/>
                  <a:gd name="T3" fmla="*/ 0 h 13"/>
                  <a:gd name="T4" fmla="*/ 0 w 11"/>
                  <a:gd name="T5" fmla="*/ 10 h 13"/>
                  <a:gd name="T6" fmla="*/ 9 w 11"/>
                  <a:gd name="T7" fmla="*/ 13 h 13"/>
                  <a:gd name="T8" fmla="*/ 11 w 11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3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36" name="Freeform 97"/>
              <p:cNvSpPr>
                <a:spLocks/>
              </p:cNvSpPr>
              <p:nvPr/>
            </p:nvSpPr>
            <p:spPr bwMode="auto">
              <a:xfrm>
                <a:off x="3310" y="1616"/>
                <a:ext cx="12" cy="13"/>
              </a:xfrm>
              <a:custGeom>
                <a:avLst/>
                <a:gdLst>
                  <a:gd name="T0" fmla="*/ 12 w 12"/>
                  <a:gd name="T1" fmla="*/ 3 h 13"/>
                  <a:gd name="T2" fmla="*/ 3 w 12"/>
                  <a:gd name="T3" fmla="*/ 0 h 13"/>
                  <a:gd name="T4" fmla="*/ 0 w 12"/>
                  <a:gd name="T5" fmla="*/ 10 h 13"/>
                  <a:gd name="T6" fmla="*/ 9 w 12"/>
                  <a:gd name="T7" fmla="*/ 13 h 13"/>
                  <a:gd name="T8" fmla="*/ 12 w 12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3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37" name="Freeform 98"/>
              <p:cNvSpPr>
                <a:spLocks/>
              </p:cNvSpPr>
              <p:nvPr/>
            </p:nvSpPr>
            <p:spPr bwMode="auto">
              <a:xfrm>
                <a:off x="3305" y="1636"/>
                <a:ext cx="12" cy="13"/>
              </a:xfrm>
              <a:custGeom>
                <a:avLst/>
                <a:gdLst>
                  <a:gd name="T0" fmla="*/ 12 w 12"/>
                  <a:gd name="T1" fmla="*/ 3 h 13"/>
                  <a:gd name="T2" fmla="*/ 3 w 12"/>
                  <a:gd name="T3" fmla="*/ 0 h 13"/>
                  <a:gd name="T4" fmla="*/ 2 w 12"/>
                  <a:gd name="T5" fmla="*/ 4 h 13"/>
                  <a:gd name="T6" fmla="*/ 0 w 12"/>
                  <a:gd name="T7" fmla="*/ 11 h 13"/>
                  <a:gd name="T8" fmla="*/ 9 w 12"/>
                  <a:gd name="T9" fmla="*/ 13 h 13"/>
                  <a:gd name="T10" fmla="*/ 12 w 12"/>
                  <a:gd name="T11" fmla="*/ 4 h 13"/>
                  <a:gd name="T12" fmla="*/ 12 w 12"/>
                  <a:gd name="T13" fmla="*/ 3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"/>
                  <a:gd name="T22" fmla="*/ 0 h 13"/>
                  <a:gd name="T23" fmla="*/ 12 w 12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" h="13">
                    <a:moveTo>
                      <a:pt x="12" y="3"/>
                    </a:moveTo>
                    <a:lnTo>
                      <a:pt x="3" y="0"/>
                    </a:lnTo>
                    <a:lnTo>
                      <a:pt x="2" y="4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2" y="4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38" name="Freeform 99"/>
              <p:cNvSpPr>
                <a:spLocks/>
              </p:cNvSpPr>
              <p:nvPr/>
            </p:nvSpPr>
            <p:spPr bwMode="auto">
              <a:xfrm>
                <a:off x="3300" y="1655"/>
                <a:ext cx="12" cy="13"/>
              </a:xfrm>
              <a:custGeom>
                <a:avLst/>
                <a:gdLst>
                  <a:gd name="T0" fmla="*/ 12 w 12"/>
                  <a:gd name="T1" fmla="*/ 3 h 13"/>
                  <a:gd name="T2" fmla="*/ 3 w 12"/>
                  <a:gd name="T3" fmla="*/ 0 h 13"/>
                  <a:gd name="T4" fmla="*/ 0 w 12"/>
                  <a:gd name="T5" fmla="*/ 11 h 13"/>
                  <a:gd name="T6" fmla="*/ 9 w 12"/>
                  <a:gd name="T7" fmla="*/ 13 h 13"/>
                  <a:gd name="T8" fmla="*/ 12 w 12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3"/>
                    </a:moveTo>
                    <a:lnTo>
                      <a:pt x="3" y="0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39" name="Freeform 100"/>
              <p:cNvSpPr>
                <a:spLocks/>
              </p:cNvSpPr>
              <p:nvPr/>
            </p:nvSpPr>
            <p:spPr bwMode="auto">
              <a:xfrm>
                <a:off x="3295" y="1676"/>
                <a:ext cx="12" cy="13"/>
              </a:xfrm>
              <a:custGeom>
                <a:avLst/>
                <a:gdLst>
                  <a:gd name="T0" fmla="*/ 12 w 12"/>
                  <a:gd name="T1" fmla="*/ 2 h 13"/>
                  <a:gd name="T2" fmla="*/ 3 w 12"/>
                  <a:gd name="T3" fmla="*/ 0 h 13"/>
                  <a:gd name="T4" fmla="*/ 0 w 12"/>
                  <a:gd name="T5" fmla="*/ 10 h 13"/>
                  <a:gd name="T6" fmla="*/ 9 w 12"/>
                  <a:gd name="T7" fmla="*/ 13 h 13"/>
                  <a:gd name="T8" fmla="*/ 12 w 12"/>
                  <a:gd name="T9" fmla="*/ 2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2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40" name="Freeform 101"/>
              <p:cNvSpPr>
                <a:spLocks/>
              </p:cNvSpPr>
              <p:nvPr/>
            </p:nvSpPr>
            <p:spPr bwMode="auto">
              <a:xfrm>
                <a:off x="3290" y="1695"/>
                <a:ext cx="12" cy="13"/>
              </a:xfrm>
              <a:custGeom>
                <a:avLst/>
                <a:gdLst>
                  <a:gd name="T0" fmla="*/ 12 w 12"/>
                  <a:gd name="T1" fmla="*/ 2 h 13"/>
                  <a:gd name="T2" fmla="*/ 3 w 12"/>
                  <a:gd name="T3" fmla="*/ 0 h 13"/>
                  <a:gd name="T4" fmla="*/ 0 w 12"/>
                  <a:gd name="T5" fmla="*/ 10 h 13"/>
                  <a:gd name="T6" fmla="*/ 9 w 12"/>
                  <a:gd name="T7" fmla="*/ 13 h 13"/>
                  <a:gd name="T8" fmla="*/ 12 w 12"/>
                  <a:gd name="T9" fmla="*/ 2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2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41" name="Freeform 102"/>
              <p:cNvSpPr>
                <a:spLocks/>
              </p:cNvSpPr>
              <p:nvPr/>
            </p:nvSpPr>
            <p:spPr bwMode="auto">
              <a:xfrm>
                <a:off x="3285" y="1715"/>
                <a:ext cx="11" cy="12"/>
              </a:xfrm>
              <a:custGeom>
                <a:avLst/>
                <a:gdLst>
                  <a:gd name="T0" fmla="*/ 11 w 11"/>
                  <a:gd name="T1" fmla="*/ 3 h 12"/>
                  <a:gd name="T2" fmla="*/ 3 w 11"/>
                  <a:gd name="T3" fmla="*/ 0 h 12"/>
                  <a:gd name="T4" fmla="*/ 1 w 11"/>
                  <a:gd name="T5" fmla="*/ 3 h 12"/>
                  <a:gd name="T6" fmla="*/ 0 w 11"/>
                  <a:gd name="T7" fmla="*/ 10 h 12"/>
                  <a:gd name="T8" fmla="*/ 9 w 11"/>
                  <a:gd name="T9" fmla="*/ 12 h 12"/>
                  <a:gd name="T10" fmla="*/ 11 w 11"/>
                  <a:gd name="T11" fmla="*/ 3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1"/>
                  <a:gd name="T19" fmla="*/ 0 h 12"/>
                  <a:gd name="T20" fmla="*/ 11 w 11"/>
                  <a:gd name="T21" fmla="*/ 12 h 1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1" h="12">
                    <a:moveTo>
                      <a:pt x="11" y="3"/>
                    </a:moveTo>
                    <a:lnTo>
                      <a:pt x="3" y="0"/>
                    </a:lnTo>
                    <a:lnTo>
                      <a:pt x="1" y="3"/>
                    </a:lnTo>
                    <a:lnTo>
                      <a:pt x="0" y="10"/>
                    </a:lnTo>
                    <a:lnTo>
                      <a:pt x="9" y="12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42" name="Freeform 103"/>
              <p:cNvSpPr>
                <a:spLocks/>
              </p:cNvSpPr>
              <p:nvPr/>
            </p:nvSpPr>
            <p:spPr bwMode="auto">
              <a:xfrm>
                <a:off x="3281" y="1736"/>
                <a:ext cx="12" cy="11"/>
              </a:xfrm>
              <a:custGeom>
                <a:avLst/>
                <a:gdLst>
                  <a:gd name="T0" fmla="*/ 12 w 12"/>
                  <a:gd name="T1" fmla="*/ 1 h 11"/>
                  <a:gd name="T2" fmla="*/ 3 w 12"/>
                  <a:gd name="T3" fmla="*/ 0 h 11"/>
                  <a:gd name="T4" fmla="*/ 0 w 12"/>
                  <a:gd name="T5" fmla="*/ 10 h 11"/>
                  <a:gd name="T6" fmla="*/ 9 w 12"/>
                  <a:gd name="T7" fmla="*/ 11 h 11"/>
                  <a:gd name="T8" fmla="*/ 12 w 12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12" y="1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1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43" name="Freeform 104"/>
              <p:cNvSpPr>
                <a:spLocks/>
              </p:cNvSpPr>
              <p:nvPr/>
            </p:nvSpPr>
            <p:spPr bwMode="auto">
              <a:xfrm>
                <a:off x="3277" y="1756"/>
                <a:ext cx="12" cy="11"/>
              </a:xfrm>
              <a:custGeom>
                <a:avLst/>
                <a:gdLst>
                  <a:gd name="T0" fmla="*/ 12 w 12"/>
                  <a:gd name="T1" fmla="*/ 1 h 11"/>
                  <a:gd name="T2" fmla="*/ 3 w 12"/>
                  <a:gd name="T3" fmla="*/ 0 h 11"/>
                  <a:gd name="T4" fmla="*/ 2 w 12"/>
                  <a:gd name="T5" fmla="*/ 0 h 11"/>
                  <a:gd name="T6" fmla="*/ 0 w 12"/>
                  <a:gd name="T7" fmla="*/ 10 h 11"/>
                  <a:gd name="T8" fmla="*/ 11 w 12"/>
                  <a:gd name="T9" fmla="*/ 11 h 11"/>
                  <a:gd name="T10" fmla="*/ 12 w 12"/>
                  <a:gd name="T11" fmla="*/ 0 h 11"/>
                  <a:gd name="T12" fmla="*/ 12 w 12"/>
                  <a:gd name="T13" fmla="*/ 1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"/>
                  <a:gd name="T22" fmla="*/ 0 h 11"/>
                  <a:gd name="T23" fmla="*/ 12 w 12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" h="11">
                    <a:moveTo>
                      <a:pt x="12" y="1"/>
                    </a:moveTo>
                    <a:lnTo>
                      <a:pt x="3" y="0"/>
                    </a:lnTo>
                    <a:lnTo>
                      <a:pt x="2" y="0"/>
                    </a:lnTo>
                    <a:lnTo>
                      <a:pt x="0" y="10"/>
                    </a:lnTo>
                    <a:lnTo>
                      <a:pt x="11" y="11"/>
                    </a:lnTo>
                    <a:lnTo>
                      <a:pt x="12" y="0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44" name="Freeform 105"/>
              <p:cNvSpPr>
                <a:spLocks/>
              </p:cNvSpPr>
              <p:nvPr/>
            </p:nvSpPr>
            <p:spPr bwMode="auto">
              <a:xfrm>
                <a:off x="3274" y="1775"/>
                <a:ext cx="11" cy="11"/>
              </a:xfrm>
              <a:custGeom>
                <a:avLst/>
                <a:gdLst>
                  <a:gd name="T0" fmla="*/ 11 w 11"/>
                  <a:gd name="T1" fmla="*/ 1 h 11"/>
                  <a:gd name="T2" fmla="*/ 1 w 11"/>
                  <a:gd name="T3" fmla="*/ 0 h 11"/>
                  <a:gd name="T4" fmla="*/ 0 w 11"/>
                  <a:gd name="T5" fmla="*/ 10 h 11"/>
                  <a:gd name="T6" fmla="*/ 10 w 11"/>
                  <a:gd name="T7" fmla="*/ 11 h 11"/>
                  <a:gd name="T8" fmla="*/ 11 w 11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11" y="1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45" name="Freeform 106"/>
              <p:cNvSpPr>
                <a:spLocks/>
              </p:cNvSpPr>
              <p:nvPr/>
            </p:nvSpPr>
            <p:spPr bwMode="auto">
              <a:xfrm>
                <a:off x="3271" y="1795"/>
                <a:ext cx="12" cy="12"/>
              </a:xfrm>
              <a:custGeom>
                <a:avLst/>
                <a:gdLst>
                  <a:gd name="T0" fmla="*/ 12 w 12"/>
                  <a:gd name="T1" fmla="*/ 2 h 12"/>
                  <a:gd name="T2" fmla="*/ 1 w 12"/>
                  <a:gd name="T3" fmla="*/ 0 h 12"/>
                  <a:gd name="T4" fmla="*/ 0 w 12"/>
                  <a:gd name="T5" fmla="*/ 10 h 12"/>
                  <a:gd name="T6" fmla="*/ 10 w 12"/>
                  <a:gd name="T7" fmla="*/ 12 h 12"/>
                  <a:gd name="T8" fmla="*/ 12 w 12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12" y="2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2"/>
                    </a:ln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46" name="Freeform 107"/>
              <p:cNvSpPr>
                <a:spLocks/>
              </p:cNvSpPr>
              <p:nvPr/>
            </p:nvSpPr>
            <p:spPr bwMode="auto">
              <a:xfrm>
                <a:off x="3267" y="1816"/>
                <a:ext cx="12" cy="11"/>
              </a:xfrm>
              <a:custGeom>
                <a:avLst/>
                <a:gdLst>
                  <a:gd name="T0" fmla="*/ 12 w 12"/>
                  <a:gd name="T1" fmla="*/ 1 h 11"/>
                  <a:gd name="T2" fmla="*/ 2 w 12"/>
                  <a:gd name="T3" fmla="*/ 0 h 11"/>
                  <a:gd name="T4" fmla="*/ 0 w 12"/>
                  <a:gd name="T5" fmla="*/ 10 h 11"/>
                  <a:gd name="T6" fmla="*/ 10 w 12"/>
                  <a:gd name="T7" fmla="*/ 11 h 11"/>
                  <a:gd name="T8" fmla="*/ 12 w 12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12" y="1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47" name="Freeform 108"/>
              <p:cNvSpPr>
                <a:spLocks/>
              </p:cNvSpPr>
              <p:nvPr/>
            </p:nvSpPr>
            <p:spPr bwMode="auto">
              <a:xfrm>
                <a:off x="3266" y="1836"/>
                <a:ext cx="10" cy="11"/>
              </a:xfrm>
              <a:custGeom>
                <a:avLst/>
                <a:gdLst>
                  <a:gd name="T0" fmla="*/ 10 w 10"/>
                  <a:gd name="T1" fmla="*/ 1 h 11"/>
                  <a:gd name="T2" fmla="*/ 0 w 10"/>
                  <a:gd name="T3" fmla="*/ 0 h 11"/>
                  <a:gd name="T4" fmla="*/ 0 w 10"/>
                  <a:gd name="T5" fmla="*/ 10 h 11"/>
                  <a:gd name="T6" fmla="*/ 10 w 10"/>
                  <a:gd name="T7" fmla="*/ 11 h 11"/>
                  <a:gd name="T8" fmla="*/ 10 w 10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1"/>
                  <a:gd name="T17" fmla="*/ 10 w 10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1">
                    <a:moveTo>
                      <a:pt x="10" y="1"/>
                    </a:moveTo>
                    <a:lnTo>
                      <a:pt x="0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48" name="Freeform 109"/>
              <p:cNvSpPr>
                <a:spLocks/>
              </p:cNvSpPr>
              <p:nvPr/>
            </p:nvSpPr>
            <p:spPr bwMode="auto">
              <a:xfrm>
                <a:off x="3263" y="1856"/>
                <a:ext cx="12" cy="12"/>
              </a:xfrm>
              <a:custGeom>
                <a:avLst/>
                <a:gdLst>
                  <a:gd name="T0" fmla="*/ 12 w 12"/>
                  <a:gd name="T1" fmla="*/ 2 h 12"/>
                  <a:gd name="T2" fmla="*/ 2 w 12"/>
                  <a:gd name="T3" fmla="*/ 0 h 12"/>
                  <a:gd name="T4" fmla="*/ 0 w 12"/>
                  <a:gd name="T5" fmla="*/ 10 h 12"/>
                  <a:gd name="T6" fmla="*/ 11 w 12"/>
                  <a:gd name="T7" fmla="*/ 12 h 12"/>
                  <a:gd name="T8" fmla="*/ 12 w 12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12" y="2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11" y="12"/>
                    </a:ln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49" name="Freeform 110"/>
              <p:cNvSpPr>
                <a:spLocks/>
              </p:cNvSpPr>
              <p:nvPr/>
            </p:nvSpPr>
            <p:spPr bwMode="auto">
              <a:xfrm>
                <a:off x="3262" y="1877"/>
                <a:ext cx="12" cy="10"/>
              </a:xfrm>
              <a:custGeom>
                <a:avLst/>
                <a:gdLst>
                  <a:gd name="T0" fmla="*/ 12 w 12"/>
                  <a:gd name="T1" fmla="*/ 0 h 10"/>
                  <a:gd name="T2" fmla="*/ 1 w 12"/>
                  <a:gd name="T3" fmla="*/ 0 h 10"/>
                  <a:gd name="T4" fmla="*/ 0 w 12"/>
                  <a:gd name="T5" fmla="*/ 10 h 10"/>
                  <a:gd name="T6" fmla="*/ 10 w 12"/>
                  <a:gd name="T7" fmla="*/ 10 h 10"/>
                  <a:gd name="T8" fmla="*/ 12 w 12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0"/>
                  <a:gd name="T17" fmla="*/ 12 w 12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0">
                    <a:moveTo>
                      <a:pt x="12" y="0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0" name="Freeform 111"/>
              <p:cNvSpPr>
                <a:spLocks/>
              </p:cNvSpPr>
              <p:nvPr/>
            </p:nvSpPr>
            <p:spPr bwMode="auto">
              <a:xfrm>
                <a:off x="3261" y="1897"/>
                <a:ext cx="11" cy="10"/>
              </a:xfrm>
              <a:custGeom>
                <a:avLst/>
                <a:gdLst>
                  <a:gd name="T0" fmla="*/ 11 w 11"/>
                  <a:gd name="T1" fmla="*/ 0 h 10"/>
                  <a:gd name="T2" fmla="*/ 1 w 11"/>
                  <a:gd name="T3" fmla="*/ 0 h 10"/>
                  <a:gd name="T4" fmla="*/ 0 w 11"/>
                  <a:gd name="T5" fmla="*/ 10 h 10"/>
                  <a:gd name="T6" fmla="*/ 10 w 11"/>
                  <a:gd name="T7" fmla="*/ 10 h 10"/>
                  <a:gd name="T8" fmla="*/ 11 w 1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0"/>
                  <a:gd name="T17" fmla="*/ 11 w 1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0">
                    <a:moveTo>
                      <a:pt x="11" y="0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0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1" name="Rectangle 112"/>
              <p:cNvSpPr>
                <a:spLocks noChangeArrowheads="1"/>
              </p:cNvSpPr>
              <p:nvPr/>
            </p:nvSpPr>
            <p:spPr bwMode="auto">
              <a:xfrm>
                <a:off x="3261" y="1917"/>
                <a:ext cx="10" cy="10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2" name="Rectangle 113"/>
              <p:cNvSpPr>
                <a:spLocks noChangeArrowheads="1"/>
              </p:cNvSpPr>
              <p:nvPr/>
            </p:nvSpPr>
            <p:spPr bwMode="auto">
              <a:xfrm>
                <a:off x="3261" y="1938"/>
                <a:ext cx="10" cy="10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3" name="Freeform 114"/>
              <p:cNvSpPr>
                <a:spLocks/>
              </p:cNvSpPr>
              <p:nvPr/>
            </p:nvSpPr>
            <p:spPr bwMode="auto">
              <a:xfrm>
                <a:off x="3261" y="1958"/>
                <a:ext cx="11" cy="10"/>
              </a:xfrm>
              <a:custGeom>
                <a:avLst/>
                <a:gdLst>
                  <a:gd name="T0" fmla="*/ 10 w 11"/>
                  <a:gd name="T1" fmla="*/ 0 h 10"/>
                  <a:gd name="T2" fmla="*/ 0 w 11"/>
                  <a:gd name="T3" fmla="*/ 0 h 10"/>
                  <a:gd name="T4" fmla="*/ 1 w 11"/>
                  <a:gd name="T5" fmla="*/ 10 h 10"/>
                  <a:gd name="T6" fmla="*/ 11 w 11"/>
                  <a:gd name="T7" fmla="*/ 10 h 10"/>
                  <a:gd name="T8" fmla="*/ 10 w 1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0"/>
                  <a:gd name="T17" fmla="*/ 11 w 1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0">
                    <a:moveTo>
                      <a:pt x="10" y="0"/>
                    </a:moveTo>
                    <a:lnTo>
                      <a:pt x="0" y="0"/>
                    </a:lnTo>
                    <a:lnTo>
                      <a:pt x="1" y="10"/>
                    </a:lnTo>
                    <a:lnTo>
                      <a:pt x="11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4" name="Freeform 115"/>
              <p:cNvSpPr>
                <a:spLocks/>
              </p:cNvSpPr>
              <p:nvPr/>
            </p:nvSpPr>
            <p:spPr bwMode="auto">
              <a:xfrm>
                <a:off x="3262" y="1978"/>
                <a:ext cx="10" cy="12"/>
              </a:xfrm>
              <a:custGeom>
                <a:avLst/>
                <a:gdLst>
                  <a:gd name="T0" fmla="*/ 10 w 10"/>
                  <a:gd name="T1" fmla="*/ 0 h 12"/>
                  <a:gd name="T2" fmla="*/ 0 w 10"/>
                  <a:gd name="T3" fmla="*/ 0 h 12"/>
                  <a:gd name="T4" fmla="*/ 0 w 10"/>
                  <a:gd name="T5" fmla="*/ 7 h 12"/>
                  <a:gd name="T6" fmla="*/ 0 w 10"/>
                  <a:gd name="T7" fmla="*/ 12 h 12"/>
                  <a:gd name="T8" fmla="*/ 10 w 10"/>
                  <a:gd name="T9" fmla="*/ 10 h 12"/>
                  <a:gd name="T10" fmla="*/ 10 w 10"/>
                  <a:gd name="T11" fmla="*/ 7 h 12"/>
                  <a:gd name="T12" fmla="*/ 10 w 10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"/>
                  <a:gd name="T22" fmla="*/ 0 h 12"/>
                  <a:gd name="T23" fmla="*/ 10 w 10"/>
                  <a:gd name="T24" fmla="*/ 12 h 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" h="12">
                    <a:moveTo>
                      <a:pt x="10" y="0"/>
                    </a:moveTo>
                    <a:lnTo>
                      <a:pt x="0" y="0"/>
                    </a:lnTo>
                    <a:lnTo>
                      <a:pt x="0" y="7"/>
                    </a:lnTo>
                    <a:lnTo>
                      <a:pt x="0" y="12"/>
                    </a:lnTo>
                    <a:lnTo>
                      <a:pt x="10" y="10"/>
                    </a:lnTo>
                    <a:lnTo>
                      <a:pt x="10" y="7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5" name="Freeform 116"/>
              <p:cNvSpPr>
                <a:spLocks/>
              </p:cNvSpPr>
              <p:nvPr/>
            </p:nvSpPr>
            <p:spPr bwMode="auto">
              <a:xfrm>
                <a:off x="3263" y="1999"/>
                <a:ext cx="11" cy="11"/>
              </a:xfrm>
              <a:custGeom>
                <a:avLst/>
                <a:gdLst>
                  <a:gd name="T0" fmla="*/ 11 w 11"/>
                  <a:gd name="T1" fmla="*/ 0 h 11"/>
                  <a:gd name="T2" fmla="*/ 0 w 11"/>
                  <a:gd name="T3" fmla="*/ 1 h 11"/>
                  <a:gd name="T4" fmla="*/ 0 w 11"/>
                  <a:gd name="T5" fmla="*/ 11 h 11"/>
                  <a:gd name="T6" fmla="*/ 11 w 11"/>
                  <a:gd name="T7" fmla="*/ 10 h 11"/>
                  <a:gd name="T8" fmla="*/ 11 w 1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11" y="0"/>
                    </a:moveTo>
                    <a:lnTo>
                      <a:pt x="0" y="1"/>
                    </a:lnTo>
                    <a:lnTo>
                      <a:pt x="0" y="11"/>
                    </a:lnTo>
                    <a:lnTo>
                      <a:pt x="11" y="10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6" name="Freeform 117"/>
              <p:cNvSpPr>
                <a:spLocks/>
              </p:cNvSpPr>
              <p:nvPr/>
            </p:nvSpPr>
            <p:spPr bwMode="auto">
              <a:xfrm>
                <a:off x="3265" y="2019"/>
                <a:ext cx="11" cy="11"/>
              </a:xfrm>
              <a:custGeom>
                <a:avLst/>
                <a:gdLst>
                  <a:gd name="T0" fmla="*/ 10 w 11"/>
                  <a:gd name="T1" fmla="*/ 0 h 11"/>
                  <a:gd name="T2" fmla="*/ 0 w 11"/>
                  <a:gd name="T3" fmla="*/ 1 h 11"/>
                  <a:gd name="T4" fmla="*/ 1 w 11"/>
                  <a:gd name="T5" fmla="*/ 11 h 11"/>
                  <a:gd name="T6" fmla="*/ 11 w 11"/>
                  <a:gd name="T7" fmla="*/ 10 h 11"/>
                  <a:gd name="T8" fmla="*/ 10 w 1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10" y="0"/>
                    </a:moveTo>
                    <a:lnTo>
                      <a:pt x="0" y="1"/>
                    </a:lnTo>
                    <a:lnTo>
                      <a:pt x="1" y="11"/>
                    </a:lnTo>
                    <a:lnTo>
                      <a:pt x="11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7" name="Freeform 118"/>
              <p:cNvSpPr>
                <a:spLocks/>
              </p:cNvSpPr>
              <p:nvPr/>
            </p:nvSpPr>
            <p:spPr bwMode="auto">
              <a:xfrm>
                <a:off x="3267" y="2039"/>
                <a:ext cx="12" cy="12"/>
              </a:xfrm>
              <a:custGeom>
                <a:avLst/>
                <a:gdLst>
                  <a:gd name="T0" fmla="*/ 10 w 12"/>
                  <a:gd name="T1" fmla="*/ 0 h 12"/>
                  <a:gd name="T2" fmla="*/ 0 w 12"/>
                  <a:gd name="T3" fmla="*/ 2 h 12"/>
                  <a:gd name="T4" fmla="*/ 2 w 12"/>
                  <a:gd name="T5" fmla="*/ 12 h 12"/>
                  <a:gd name="T6" fmla="*/ 12 w 12"/>
                  <a:gd name="T7" fmla="*/ 11 h 12"/>
                  <a:gd name="T8" fmla="*/ 10 w 12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10" y="0"/>
                    </a:moveTo>
                    <a:lnTo>
                      <a:pt x="0" y="2"/>
                    </a:lnTo>
                    <a:lnTo>
                      <a:pt x="2" y="12"/>
                    </a:lnTo>
                    <a:lnTo>
                      <a:pt x="12" y="11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8" name="Freeform 119"/>
              <p:cNvSpPr>
                <a:spLocks/>
              </p:cNvSpPr>
              <p:nvPr/>
            </p:nvSpPr>
            <p:spPr bwMode="auto">
              <a:xfrm>
                <a:off x="3270" y="2058"/>
                <a:ext cx="11" cy="12"/>
              </a:xfrm>
              <a:custGeom>
                <a:avLst/>
                <a:gdLst>
                  <a:gd name="T0" fmla="*/ 9 w 11"/>
                  <a:gd name="T1" fmla="*/ 0 h 12"/>
                  <a:gd name="T2" fmla="*/ 0 w 11"/>
                  <a:gd name="T3" fmla="*/ 2 h 12"/>
                  <a:gd name="T4" fmla="*/ 2 w 11"/>
                  <a:gd name="T5" fmla="*/ 12 h 12"/>
                  <a:gd name="T6" fmla="*/ 11 w 11"/>
                  <a:gd name="T7" fmla="*/ 11 h 12"/>
                  <a:gd name="T8" fmla="*/ 9 w 1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9" y="0"/>
                    </a:moveTo>
                    <a:lnTo>
                      <a:pt x="0" y="2"/>
                    </a:lnTo>
                    <a:lnTo>
                      <a:pt x="2" y="12"/>
                    </a:lnTo>
                    <a:lnTo>
                      <a:pt x="11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59" name="Freeform 120"/>
              <p:cNvSpPr>
                <a:spLocks/>
              </p:cNvSpPr>
              <p:nvPr/>
            </p:nvSpPr>
            <p:spPr bwMode="auto">
              <a:xfrm>
                <a:off x="3274" y="2079"/>
                <a:ext cx="10" cy="11"/>
              </a:xfrm>
              <a:custGeom>
                <a:avLst/>
                <a:gdLst>
                  <a:gd name="T0" fmla="*/ 9 w 10"/>
                  <a:gd name="T1" fmla="*/ 0 h 11"/>
                  <a:gd name="T2" fmla="*/ 0 w 10"/>
                  <a:gd name="T3" fmla="*/ 1 h 11"/>
                  <a:gd name="T4" fmla="*/ 0 w 10"/>
                  <a:gd name="T5" fmla="*/ 7 h 11"/>
                  <a:gd name="T6" fmla="*/ 1 w 10"/>
                  <a:gd name="T7" fmla="*/ 11 h 11"/>
                  <a:gd name="T8" fmla="*/ 10 w 10"/>
                  <a:gd name="T9" fmla="*/ 10 h 11"/>
                  <a:gd name="T10" fmla="*/ 10 w 10"/>
                  <a:gd name="T11" fmla="*/ 7 h 11"/>
                  <a:gd name="T12" fmla="*/ 9 w 10"/>
                  <a:gd name="T13" fmla="*/ 0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"/>
                  <a:gd name="T22" fmla="*/ 0 h 11"/>
                  <a:gd name="T23" fmla="*/ 10 w 10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" h="11">
                    <a:moveTo>
                      <a:pt x="9" y="0"/>
                    </a:moveTo>
                    <a:lnTo>
                      <a:pt x="0" y="1"/>
                    </a:lnTo>
                    <a:lnTo>
                      <a:pt x="0" y="7"/>
                    </a:lnTo>
                    <a:lnTo>
                      <a:pt x="1" y="11"/>
                    </a:lnTo>
                    <a:lnTo>
                      <a:pt x="10" y="10"/>
                    </a:lnTo>
                    <a:lnTo>
                      <a:pt x="10" y="7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0" name="Freeform 121"/>
              <p:cNvSpPr>
                <a:spLocks/>
              </p:cNvSpPr>
              <p:nvPr/>
            </p:nvSpPr>
            <p:spPr bwMode="auto">
              <a:xfrm>
                <a:off x="3277" y="2099"/>
                <a:ext cx="11" cy="12"/>
              </a:xfrm>
              <a:custGeom>
                <a:avLst/>
                <a:gdLst>
                  <a:gd name="T0" fmla="*/ 9 w 11"/>
                  <a:gd name="T1" fmla="*/ 0 h 12"/>
                  <a:gd name="T2" fmla="*/ 0 w 11"/>
                  <a:gd name="T3" fmla="*/ 1 h 12"/>
                  <a:gd name="T4" fmla="*/ 2 w 11"/>
                  <a:gd name="T5" fmla="*/ 12 h 12"/>
                  <a:gd name="T6" fmla="*/ 11 w 11"/>
                  <a:gd name="T7" fmla="*/ 10 h 12"/>
                  <a:gd name="T8" fmla="*/ 9 w 1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9" y="0"/>
                    </a:moveTo>
                    <a:lnTo>
                      <a:pt x="0" y="1"/>
                    </a:lnTo>
                    <a:lnTo>
                      <a:pt x="2" y="12"/>
                    </a:lnTo>
                    <a:lnTo>
                      <a:pt x="11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1" name="Freeform 122"/>
              <p:cNvSpPr>
                <a:spLocks/>
              </p:cNvSpPr>
              <p:nvPr/>
            </p:nvSpPr>
            <p:spPr bwMode="auto">
              <a:xfrm>
                <a:off x="3281" y="2119"/>
                <a:ext cx="10" cy="12"/>
              </a:xfrm>
              <a:custGeom>
                <a:avLst/>
                <a:gdLst>
                  <a:gd name="T0" fmla="*/ 9 w 10"/>
                  <a:gd name="T1" fmla="*/ 0 h 12"/>
                  <a:gd name="T2" fmla="*/ 0 w 10"/>
                  <a:gd name="T3" fmla="*/ 2 h 12"/>
                  <a:gd name="T4" fmla="*/ 2 w 10"/>
                  <a:gd name="T5" fmla="*/ 12 h 12"/>
                  <a:gd name="T6" fmla="*/ 10 w 10"/>
                  <a:gd name="T7" fmla="*/ 11 h 12"/>
                  <a:gd name="T8" fmla="*/ 9 w 10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2"/>
                  <a:gd name="T17" fmla="*/ 10 w 10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2">
                    <a:moveTo>
                      <a:pt x="9" y="0"/>
                    </a:moveTo>
                    <a:lnTo>
                      <a:pt x="0" y="2"/>
                    </a:lnTo>
                    <a:lnTo>
                      <a:pt x="2" y="12"/>
                    </a:lnTo>
                    <a:lnTo>
                      <a:pt x="10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2" name="Freeform 123"/>
              <p:cNvSpPr>
                <a:spLocks/>
              </p:cNvSpPr>
              <p:nvPr/>
            </p:nvSpPr>
            <p:spPr bwMode="auto">
              <a:xfrm>
                <a:off x="3285" y="2138"/>
                <a:ext cx="11" cy="12"/>
              </a:xfrm>
              <a:custGeom>
                <a:avLst/>
                <a:gdLst>
                  <a:gd name="T0" fmla="*/ 9 w 11"/>
                  <a:gd name="T1" fmla="*/ 0 h 12"/>
                  <a:gd name="T2" fmla="*/ 0 w 11"/>
                  <a:gd name="T3" fmla="*/ 2 h 12"/>
                  <a:gd name="T4" fmla="*/ 3 w 11"/>
                  <a:gd name="T5" fmla="*/ 12 h 12"/>
                  <a:gd name="T6" fmla="*/ 11 w 11"/>
                  <a:gd name="T7" fmla="*/ 11 h 12"/>
                  <a:gd name="T8" fmla="*/ 9 w 1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9" y="0"/>
                    </a:moveTo>
                    <a:lnTo>
                      <a:pt x="0" y="2"/>
                    </a:lnTo>
                    <a:lnTo>
                      <a:pt x="3" y="12"/>
                    </a:lnTo>
                    <a:lnTo>
                      <a:pt x="11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3" name="Freeform 124"/>
              <p:cNvSpPr>
                <a:spLocks/>
              </p:cNvSpPr>
              <p:nvPr/>
            </p:nvSpPr>
            <p:spPr bwMode="auto">
              <a:xfrm>
                <a:off x="3289" y="2158"/>
                <a:ext cx="11" cy="12"/>
              </a:xfrm>
              <a:custGeom>
                <a:avLst/>
                <a:gdLst>
                  <a:gd name="T0" fmla="*/ 9 w 11"/>
                  <a:gd name="T1" fmla="*/ 0 h 12"/>
                  <a:gd name="T2" fmla="*/ 0 w 11"/>
                  <a:gd name="T3" fmla="*/ 2 h 12"/>
                  <a:gd name="T4" fmla="*/ 2 w 11"/>
                  <a:gd name="T5" fmla="*/ 12 h 12"/>
                  <a:gd name="T6" fmla="*/ 11 w 11"/>
                  <a:gd name="T7" fmla="*/ 10 h 12"/>
                  <a:gd name="T8" fmla="*/ 9 w 1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9" y="0"/>
                    </a:moveTo>
                    <a:lnTo>
                      <a:pt x="0" y="2"/>
                    </a:lnTo>
                    <a:lnTo>
                      <a:pt x="2" y="12"/>
                    </a:lnTo>
                    <a:lnTo>
                      <a:pt x="11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4" name="Freeform 125"/>
              <p:cNvSpPr>
                <a:spLocks/>
              </p:cNvSpPr>
              <p:nvPr/>
            </p:nvSpPr>
            <p:spPr bwMode="auto">
              <a:xfrm>
                <a:off x="3294" y="2178"/>
                <a:ext cx="11" cy="13"/>
              </a:xfrm>
              <a:custGeom>
                <a:avLst/>
                <a:gdLst>
                  <a:gd name="T0" fmla="*/ 9 w 11"/>
                  <a:gd name="T1" fmla="*/ 0 h 13"/>
                  <a:gd name="T2" fmla="*/ 0 w 11"/>
                  <a:gd name="T3" fmla="*/ 2 h 13"/>
                  <a:gd name="T4" fmla="*/ 2 w 11"/>
                  <a:gd name="T5" fmla="*/ 13 h 13"/>
                  <a:gd name="T6" fmla="*/ 11 w 11"/>
                  <a:gd name="T7" fmla="*/ 10 h 13"/>
                  <a:gd name="T8" fmla="*/ 9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9" y="0"/>
                    </a:moveTo>
                    <a:lnTo>
                      <a:pt x="0" y="2"/>
                    </a:lnTo>
                    <a:lnTo>
                      <a:pt x="2" y="13"/>
                    </a:lnTo>
                    <a:lnTo>
                      <a:pt x="11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5" name="Freeform 126"/>
              <p:cNvSpPr>
                <a:spLocks/>
              </p:cNvSpPr>
              <p:nvPr/>
            </p:nvSpPr>
            <p:spPr bwMode="auto">
              <a:xfrm>
                <a:off x="3299" y="2197"/>
                <a:ext cx="11" cy="13"/>
              </a:xfrm>
              <a:custGeom>
                <a:avLst/>
                <a:gdLst>
                  <a:gd name="T0" fmla="*/ 9 w 11"/>
                  <a:gd name="T1" fmla="*/ 0 h 13"/>
                  <a:gd name="T2" fmla="*/ 0 w 11"/>
                  <a:gd name="T3" fmla="*/ 3 h 13"/>
                  <a:gd name="T4" fmla="*/ 3 w 11"/>
                  <a:gd name="T5" fmla="*/ 13 h 13"/>
                  <a:gd name="T6" fmla="*/ 11 w 11"/>
                  <a:gd name="T7" fmla="*/ 10 h 13"/>
                  <a:gd name="T8" fmla="*/ 9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9" y="0"/>
                    </a:moveTo>
                    <a:lnTo>
                      <a:pt x="0" y="3"/>
                    </a:lnTo>
                    <a:lnTo>
                      <a:pt x="3" y="13"/>
                    </a:lnTo>
                    <a:lnTo>
                      <a:pt x="11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6" name="Freeform 127"/>
              <p:cNvSpPr>
                <a:spLocks/>
              </p:cNvSpPr>
              <p:nvPr/>
            </p:nvSpPr>
            <p:spPr bwMode="auto">
              <a:xfrm>
                <a:off x="3304" y="2217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3 h 13"/>
                  <a:gd name="T4" fmla="*/ 1 w 13"/>
                  <a:gd name="T5" fmla="*/ 4 h 13"/>
                  <a:gd name="T6" fmla="*/ 4 w 13"/>
                  <a:gd name="T7" fmla="*/ 13 h 13"/>
                  <a:gd name="T8" fmla="*/ 13 w 13"/>
                  <a:gd name="T9" fmla="*/ 10 h 13"/>
                  <a:gd name="T10" fmla="*/ 12 w 13"/>
                  <a:gd name="T11" fmla="*/ 4 h 13"/>
                  <a:gd name="T12" fmla="*/ 9 w 13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"/>
                  <a:gd name="T22" fmla="*/ 0 h 13"/>
                  <a:gd name="T23" fmla="*/ 13 w 13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" h="13">
                    <a:moveTo>
                      <a:pt x="9" y="0"/>
                    </a:moveTo>
                    <a:lnTo>
                      <a:pt x="0" y="3"/>
                    </a:lnTo>
                    <a:lnTo>
                      <a:pt x="1" y="4"/>
                    </a:lnTo>
                    <a:lnTo>
                      <a:pt x="4" y="13"/>
                    </a:lnTo>
                    <a:lnTo>
                      <a:pt x="13" y="10"/>
                    </a:lnTo>
                    <a:lnTo>
                      <a:pt x="12" y="4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7" name="Freeform 128"/>
              <p:cNvSpPr>
                <a:spLocks/>
              </p:cNvSpPr>
              <p:nvPr/>
            </p:nvSpPr>
            <p:spPr bwMode="auto">
              <a:xfrm>
                <a:off x="3310" y="2236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3 h 13"/>
                  <a:gd name="T4" fmla="*/ 3 w 12"/>
                  <a:gd name="T5" fmla="*/ 13 h 13"/>
                  <a:gd name="T6" fmla="*/ 12 w 12"/>
                  <a:gd name="T7" fmla="*/ 11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3"/>
                    </a:lnTo>
                    <a:lnTo>
                      <a:pt x="3" y="13"/>
                    </a:lnTo>
                    <a:lnTo>
                      <a:pt x="12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8" name="Freeform 129"/>
              <p:cNvSpPr>
                <a:spLocks/>
              </p:cNvSpPr>
              <p:nvPr/>
            </p:nvSpPr>
            <p:spPr bwMode="auto">
              <a:xfrm>
                <a:off x="3317" y="2257"/>
                <a:ext cx="11" cy="11"/>
              </a:xfrm>
              <a:custGeom>
                <a:avLst/>
                <a:gdLst>
                  <a:gd name="T0" fmla="*/ 9 w 11"/>
                  <a:gd name="T1" fmla="*/ 0 h 11"/>
                  <a:gd name="T2" fmla="*/ 0 w 11"/>
                  <a:gd name="T3" fmla="*/ 2 h 11"/>
                  <a:gd name="T4" fmla="*/ 2 w 11"/>
                  <a:gd name="T5" fmla="*/ 11 h 11"/>
                  <a:gd name="T6" fmla="*/ 11 w 11"/>
                  <a:gd name="T7" fmla="*/ 9 h 11"/>
                  <a:gd name="T8" fmla="*/ 9 w 1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9" y="0"/>
                    </a:moveTo>
                    <a:lnTo>
                      <a:pt x="0" y="2"/>
                    </a:lnTo>
                    <a:lnTo>
                      <a:pt x="2" y="11"/>
                    </a:lnTo>
                    <a:lnTo>
                      <a:pt x="11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69" name="Freeform 130"/>
              <p:cNvSpPr>
                <a:spLocks/>
              </p:cNvSpPr>
              <p:nvPr/>
            </p:nvSpPr>
            <p:spPr bwMode="auto">
              <a:xfrm>
                <a:off x="3323" y="2276"/>
                <a:ext cx="12" cy="11"/>
              </a:xfrm>
              <a:custGeom>
                <a:avLst/>
                <a:gdLst>
                  <a:gd name="T0" fmla="*/ 9 w 12"/>
                  <a:gd name="T1" fmla="*/ 0 h 11"/>
                  <a:gd name="T2" fmla="*/ 0 w 12"/>
                  <a:gd name="T3" fmla="*/ 2 h 11"/>
                  <a:gd name="T4" fmla="*/ 3 w 12"/>
                  <a:gd name="T5" fmla="*/ 11 h 11"/>
                  <a:gd name="T6" fmla="*/ 12 w 12"/>
                  <a:gd name="T7" fmla="*/ 9 h 11"/>
                  <a:gd name="T8" fmla="*/ 9 w 12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9" y="0"/>
                    </a:moveTo>
                    <a:lnTo>
                      <a:pt x="0" y="2"/>
                    </a:lnTo>
                    <a:lnTo>
                      <a:pt x="3" y="11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70" name="Freeform 131"/>
              <p:cNvSpPr>
                <a:spLocks/>
              </p:cNvSpPr>
              <p:nvPr/>
            </p:nvSpPr>
            <p:spPr bwMode="auto">
              <a:xfrm>
                <a:off x="3328" y="2295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2 h 13"/>
                  <a:gd name="T4" fmla="*/ 4 w 13"/>
                  <a:gd name="T5" fmla="*/ 13 h 13"/>
                  <a:gd name="T6" fmla="*/ 13 w 13"/>
                  <a:gd name="T7" fmla="*/ 10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2"/>
                    </a:lnTo>
                    <a:lnTo>
                      <a:pt x="4" y="13"/>
                    </a:lnTo>
                    <a:lnTo>
                      <a:pt x="13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71" name="Freeform 132"/>
              <p:cNvSpPr>
                <a:spLocks/>
              </p:cNvSpPr>
              <p:nvPr/>
            </p:nvSpPr>
            <p:spPr bwMode="auto">
              <a:xfrm>
                <a:off x="3336" y="2314"/>
                <a:ext cx="11" cy="13"/>
              </a:xfrm>
              <a:custGeom>
                <a:avLst/>
                <a:gdLst>
                  <a:gd name="T0" fmla="*/ 9 w 11"/>
                  <a:gd name="T1" fmla="*/ 0 h 13"/>
                  <a:gd name="T2" fmla="*/ 0 w 11"/>
                  <a:gd name="T3" fmla="*/ 2 h 13"/>
                  <a:gd name="T4" fmla="*/ 2 w 11"/>
                  <a:gd name="T5" fmla="*/ 13 h 13"/>
                  <a:gd name="T6" fmla="*/ 11 w 11"/>
                  <a:gd name="T7" fmla="*/ 10 h 13"/>
                  <a:gd name="T8" fmla="*/ 9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9" y="0"/>
                    </a:moveTo>
                    <a:lnTo>
                      <a:pt x="0" y="2"/>
                    </a:lnTo>
                    <a:lnTo>
                      <a:pt x="2" y="13"/>
                    </a:lnTo>
                    <a:lnTo>
                      <a:pt x="11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72" name="Freeform 133"/>
              <p:cNvSpPr>
                <a:spLocks/>
              </p:cNvSpPr>
              <p:nvPr/>
            </p:nvSpPr>
            <p:spPr bwMode="auto">
              <a:xfrm>
                <a:off x="3342" y="2333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3 h 13"/>
                  <a:gd name="T4" fmla="*/ 4 w 13"/>
                  <a:gd name="T5" fmla="*/ 13 h 13"/>
                  <a:gd name="T6" fmla="*/ 13 w 13"/>
                  <a:gd name="T7" fmla="*/ 10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3"/>
                    </a:lnTo>
                    <a:lnTo>
                      <a:pt x="4" y="13"/>
                    </a:lnTo>
                    <a:lnTo>
                      <a:pt x="13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73" name="Freeform 134"/>
              <p:cNvSpPr>
                <a:spLocks/>
              </p:cNvSpPr>
              <p:nvPr/>
            </p:nvSpPr>
            <p:spPr bwMode="auto">
              <a:xfrm>
                <a:off x="3349" y="2352"/>
                <a:ext cx="12" cy="13"/>
              </a:xfrm>
              <a:custGeom>
                <a:avLst/>
                <a:gdLst>
                  <a:gd name="T0" fmla="*/ 8 w 12"/>
                  <a:gd name="T1" fmla="*/ 0 h 13"/>
                  <a:gd name="T2" fmla="*/ 0 w 12"/>
                  <a:gd name="T3" fmla="*/ 3 h 13"/>
                  <a:gd name="T4" fmla="*/ 1 w 12"/>
                  <a:gd name="T5" fmla="*/ 5 h 13"/>
                  <a:gd name="T6" fmla="*/ 3 w 12"/>
                  <a:gd name="T7" fmla="*/ 13 h 13"/>
                  <a:gd name="T8" fmla="*/ 12 w 12"/>
                  <a:gd name="T9" fmla="*/ 9 h 13"/>
                  <a:gd name="T10" fmla="*/ 11 w 12"/>
                  <a:gd name="T11" fmla="*/ 5 h 13"/>
                  <a:gd name="T12" fmla="*/ 8 w 12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"/>
                  <a:gd name="T22" fmla="*/ 0 h 13"/>
                  <a:gd name="T23" fmla="*/ 12 w 12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" h="13">
                    <a:moveTo>
                      <a:pt x="8" y="0"/>
                    </a:moveTo>
                    <a:lnTo>
                      <a:pt x="0" y="3"/>
                    </a:lnTo>
                    <a:lnTo>
                      <a:pt x="1" y="5"/>
                    </a:lnTo>
                    <a:lnTo>
                      <a:pt x="3" y="13"/>
                    </a:lnTo>
                    <a:lnTo>
                      <a:pt x="12" y="9"/>
                    </a:lnTo>
                    <a:lnTo>
                      <a:pt x="11" y="5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74" name="Freeform 135"/>
              <p:cNvSpPr>
                <a:spLocks/>
              </p:cNvSpPr>
              <p:nvPr/>
            </p:nvSpPr>
            <p:spPr bwMode="auto">
              <a:xfrm>
                <a:off x="3356" y="2371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4 h 13"/>
                  <a:gd name="T4" fmla="*/ 4 w 13"/>
                  <a:gd name="T5" fmla="*/ 13 h 13"/>
                  <a:gd name="T6" fmla="*/ 13 w 13"/>
                  <a:gd name="T7" fmla="*/ 9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75" name="Freeform 136"/>
              <p:cNvSpPr>
                <a:spLocks/>
              </p:cNvSpPr>
              <p:nvPr/>
            </p:nvSpPr>
            <p:spPr bwMode="auto">
              <a:xfrm>
                <a:off x="3364" y="2390"/>
                <a:ext cx="11" cy="13"/>
              </a:xfrm>
              <a:custGeom>
                <a:avLst/>
                <a:gdLst>
                  <a:gd name="T0" fmla="*/ 9 w 11"/>
                  <a:gd name="T1" fmla="*/ 0 h 13"/>
                  <a:gd name="T2" fmla="*/ 0 w 11"/>
                  <a:gd name="T3" fmla="*/ 4 h 13"/>
                  <a:gd name="T4" fmla="*/ 2 w 11"/>
                  <a:gd name="T5" fmla="*/ 13 h 13"/>
                  <a:gd name="T6" fmla="*/ 11 w 11"/>
                  <a:gd name="T7" fmla="*/ 9 h 13"/>
                  <a:gd name="T8" fmla="*/ 9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9" y="0"/>
                    </a:moveTo>
                    <a:lnTo>
                      <a:pt x="0" y="4"/>
                    </a:lnTo>
                    <a:lnTo>
                      <a:pt x="2" y="13"/>
                    </a:lnTo>
                    <a:lnTo>
                      <a:pt x="11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76" name="Freeform 137"/>
              <p:cNvSpPr>
                <a:spLocks/>
              </p:cNvSpPr>
              <p:nvPr/>
            </p:nvSpPr>
            <p:spPr bwMode="auto">
              <a:xfrm>
                <a:off x="3370" y="2409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4 h 13"/>
                  <a:gd name="T4" fmla="*/ 4 w 13"/>
                  <a:gd name="T5" fmla="*/ 13 h 13"/>
                  <a:gd name="T6" fmla="*/ 13 w 13"/>
                  <a:gd name="T7" fmla="*/ 9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77" name="Freeform 138"/>
              <p:cNvSpPr>
                <a:spLocks/>
              </p:cNvSpPr>
              <p:nvPr/>
            </p:nvSpPr>
            <p:spPr bwMode="auto">
              <a:xfrm>
                <a:off x="3378" y="2428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4 h 13"/>
                  <a:gd name="T4" fmla="*/ 4 w 12"/>
                  <a:gd name="T5" fmla="*/ 13 h 13"/>
                  <a:gd name="T6" fmla="*/ 12 w 12"/>
                  <a:gd name="T7" fmla="*/ 9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78" name="Freeform 139"/>
              <p:cNvSpPr>
                <a:spLocks/>
              </p:cNvSpPr>
              <p:nvPr/>
            </p:nvSpPr>
            <p:spPr bwMode="auto">
              <a:xfrm>
                <a:off x="3385" y="2447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4 h 13"/>
                  <a:gd name="T4" fmla="*/ 4 w 13"/>
                  <a:gd name="T5" fmla="*/ 13 h 13"/>
                  <a:gd name="T6" fmla="*/ 13 w 13"/>
                  <a:gd name="T7" fmla="*/ 9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79" name="Freeform 140"/>
              <p:cNvSpPr>
                <a:spLocks/>
              </p:cNvSpPr>
              <p:nvPr/>
            </p:nvSpPr>
            <p:spPr bwMode="auto">
              <a:xfrm>
                <a:off x="3393" y="2465"/>
                <a:ext cx="13" cy="14"/>
              </a:xfrm>
              <a:custGeom>
                <a:avLst/>
                <a:gdLst>
                  <a:gd name="T0" fmla="*/ 9 w 13"/>
                  <a:gd name="T1" fmla="*/ 0 h 14"/>
                  <a:gd name="T2" fmla="*/ 0 w 13"/>
                  <a:gd name="T3" fmla="*/ 4 h 14"/>
                  <a:gd name="T4" fmla="*/ 4 w 13"/>
                  <a:gd name="T5" fmla="*/ 14 h 14"/>
                  <a:gd name="T6" fmla="*/ 13 w 13"/>
                  <a:gd name="T7" fmla="*/ 10 h 14"/>
                  <a:gd name="T8" fmla="*/ 9 w 13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4"/>
                  <a:gd name="T17" fmla="*/ 13 w 13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4">
                    <a:moveTo>
                      <a:pt x="9" y="0"/>
                    </a:moveTo>
                    <a:lnTo>
                      <a:pt x="0" y="4"/>
                    </a:lnTo>
                    <a:lnTo>
                      <a:pt x="4" y="14"/>
                    </a:lnTo>
                    <a:lnTo>
                      <a:pt x="13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80" name="Freeform 141"/>
              <p:cNvSpPr>
                <a:spLocks/>
              </p:cNvSpPr>
              <p:nvPr/>
            </p:nvSpPr>
            <p:spPr bwMode="auto">
              <a:xfrm>
                <a:off x="3401" y="2484"/>
                <a:ext cx="11" cy="10"/>
              </a:xfrm>
              <a:custGeom>
                <a:avLst/>
                <a:gdLst>
                  <a:gd name="T0" fmla="*/ 8 w 11"/>
                  <a:gd name="T1" fmla="*/ 0 h 10"/>
                  <a:gd name="T2" fmla="*/ 0 w 11"/>
                  <a:gd name="T3" fmla="*/ 4 h 10"/>
                  <a:gd name="T4" fmla="*/ 2 w 11"/>
                  <a:gd name="T5" fmla="*/ 10 h 10"/>
                  <a:gd name="T6" fmla="*/ 11 w 11"/>
                  <a:gd name="T7" fmla="*/ 7 h 10"/>
                  <a:gd name="T8" fmla="*/ 8 w 1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0"/>
                  <a:gd name="T17" fmla="*/ 11 w 1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0">
                    <a:moveTo>
                      <a:pt x="8" y="0"/>
                    </a:moveTo>
                    <a:lnTo>
                      <a:pt x="0" y="4"/>
                    </a:lnTo>
                    <a:lnTo>
                      <a:pt x="2" y="10"/>
                    </a:lnTo>
                    <a:lnTo>
                      <a:pt x="11" y="7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81" name="Freeform 142"/>
              <p:cNvSpPr>
                <a:spLocks/>
              </p:cNvSpPr>
              <p:nvPr/>
            </p:nvSpPr>
            <p:spPr bwMode="auto">
              <a:xfrm>
                <a:off x="3366" y="2475"/>
                <a:ext cx="79" cy="96"/>
              </a:xfrm>
              <a:custGeom>
                <a:avLst/>
                <a:gdLst>
                  <a:gd name="T0" fmla="*/ 0 w 79"/>
                  <a:gd name="T1" fmla="*/ 33 h 96"/>
                  <a:gd name="T2" fmla="*/ 73 w 79"/>
                  <a:gd name="T3" fmla="*/ 96 h 96"/>
                  <a:gd name="T4" fmla="*/ 79 w 79"/>
                  <a:gd name="T5" fmla="*/ 0 h 96"/>
                  <a:gd name="T6" fmla="*/ 0 w 79"/>
                  <a:gd name="T7" fmla="*/ 33 h 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9"/>
                  <a:gd name="T13" fmla="*/ 0 h 96"/>
                  <a:gd name="T14" fmla="*/ 79 w 79"/>
                  <a:gd name="T15" fmla="*/ 96 h 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9" h="96">
                    <a:moveTo>
                      <a:pt x="0" y="33"/>
                    </a:moveTo>
                    <a:lnTo>
                      <a:pt x="73" y="96"/>
                    </a:lnTo>
                    <a:lnTo>
                      <a:pt x="79" y="0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45" name="Group 143"/>
            <p:cNvGrpSpPr>
              <a:grpSpLocks/>
            </p:cNvGrpSpPr>
            <p:nvPr/>
          </p:nvGrpSpPr>
          <p:grpSpPr bwMode="auto">
            <a:xfrm>
              <a:off x="3149" y="1329"/>
              <a:ext cx="184" cy="1242"/>
              <a:chOff x="3149" y="1329"/>
              <a:chExt cx="184" cy="1242"/>
            </a:xfrm>
          </p:grpSpPr>
          <p:sp>
            <p:nvSpPr>
              <p:cNvPr id="103960" name="Freeform 144"/>
              <p:cNvSpPr>
                <a:spLocks/>
              </p:cNvSpPr>
              <p:nvPr/>
            </p:nvSpPr>
            <p:spPr bwMode="auto">
              <a:xfrm>
                <a:off x="3299" y="1329"/>
                <a:ext cx="13" cy="12"/>
              </a:xfrm>
              <a:custGeom>
                <a:avLst/>
                <a:gdLst>
                  <a:gd name="T0" fmla="*/ 13 w 13"/>
                  <a:gd name="T1" fmla="*/ 4 h 12"/>
                  <a:gd name="T2" fmla="*/ 4 w 13"/>
                  <a:gd name="T3" fmla="*/ 0 h 12"/>
                  <a:gd name="T4" fmla="*/ 0 w 13"/>
                  <a:gd name="T5" fmla="*/ 9 h 12"/>
                  <a:gd name="T6" fmla="*/ 9 w 13"/>
                  <a:gd name="T7" fmla="*/ 12 h 12"/>
                  <a:gd name="T8" fmla="*/ 13 w 13"/>
                  <a:gd name="T9" fmla="*/ 4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2"/>
                  <a:gd name="T17" fmla="*/ 13 w 13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2">
                    <a:moveTo>
                      <a:pt x="13" y="4"/>
                    </a:moveTo>
                    <a:lnTo>
                      <a:pt x="4" y="0"/>
                    </a:lnTo>
                    <a:lnTo>
                      <a:pt x="0" y="9"/>
                    </a:lnTo>
                    <a:lnTo>
                      <a:pt x="9" y="12"/>
                    </a:lnTo>
                    <a:lnTo>
                      <a:pt x="13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61" name="Freeform 145"/>
              <p:cNvSpPr>
                <a:spLocks/>
              </p:cNvSpPr>
              <p:nvPr/>
            </p:nvSpPr>
            <p:spPr bwMode="auto">
              <a:xfrm>
                <a:off x="3291" y="1347"/>
                <a:ext cx="13" cy="14"/>
              </a:xfrm>
              <a:custGeom>
                <a:avLst/>
                <a:gdLst>
                  <a:gd name="T0" fmla="*/ 13 w 13"/>
                  <a:gd name="T1" fmla="*/ 3 h 14"/>
                  <a:gd name="T2" fmla="*/ 4 w 13"/>
                  <a:gd name="T3" fmla="*/ 0 h 14"/>
                  <a:gd name="T4" fmla="*/ 0 w 13"/>
                  <a:gd name="T5" fmla="*/ 10 h 14"/>
                  <a:gd name="T6" fmla="*/ 9 w 13"/>
                  <a:gd name="T7" fmla="*/ 14 h 14"/>
                  <a:gd name="T8" fmla="*/ 13 w 13"/>
                  <a:gd name="T9" fmla="*/ 3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4"/>
                  <a:gd name="T17" fmla="*/ 13 w 13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4">
                    <a:moveTo>
                      <a:pt x="13" y="3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3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62" name="Freeform 146"/>
              <p:cNvSpPr>
                <a:spLocks/>
              </p:cNvSpPr>
              <p:nvPr/>
            </p:nvSpPr>
            <p:spPr bwMode="auto">
              <a:xfrm>
                <a:off x="3284" y="1366"/>
                <a:ext cx="12" cy="14"/>
              </a:xfrm>
              <a:custGeom>
                <a:avLst/>
                <a:gdLst>
                  <a:gd name="T0" fmla="*/ 12 w 12"/>
                  <a:gd name="T1" fmla="*/ 3 h 14"/>
                  <a:gd name="T2" fmla="*/ 4 w 12"/>
                  <a:gd name="T3" fmla="*/ 0 h 14"/>
                  <a:gd name="T4" fmla="*/ 0 w 12"/>
                  <a:gd name="T5" fmla="*/ 10 h 14"/>
                  <a:gd name="T6" fmla="*/ 9 w 12"/>
                  <a:gd name="T7" fmla="*/ 14 h 14"/>
                  <a:gd name="T8" fmla="*/ 12 w 12"/>
                  <a:gd name="T9" fmla="*/ 3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12" y="3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63" name="Freeform 147"/>
              <p:cNvSpPr>
                <a:spLocks/>
              </p:cNvSpPr>
              <p:nvPr/>
            </p:nvSpPr>
            <p:spPr bwMode="auto">
              <a:xfrm>
                <a:off x="3277" y="1385"/>
                <a:ext cx="12" cy="14"/>
              </a:xfrm>
              <a:custGeom>
                <a:avLst/>
                <a:gdLst>
                  <a:gd name="T0" fmla="*/ 12 w 12"/>
                  <a:gd name="T1" fmla="*/ 4 h 14"/>
                  <a:gd name="T2" fmla="*/ 3 w 12"/>
                  <a:gd name="T3" fmla="*/ 0 h 14"/>
                  <a:gd name="T4" fmla="*/ 0 w 12"/>
                  <a:gd name="T5" fmla="*/ 10 h 14"/>
                  <a:gd name="T6" fmla="*/ 9 w 12"/>
                  <a:gd name="T7" fmla="*/ 14 h 14"/>
                  <a:gd name="T8" fmla="*/ 12 w 12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12" y="4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64" name="Freeform 148"/>
              <p:cNvSpPr>
                <a:spLocks/>
              </p:cNvSpPr>
              <p:nvPr/>
            </p:nvSpPr>
            <p:spPr bwMode="auto">
              <a:xfrm>
                <a:off x="3270" y="1404"/>
                <a:ext cx="13" cy="14"/>
              </a:xfrm>
              <a:custGeom>
                <a:avLst/>
                <a:gdLst>
                  <a:gd name="T0" fmla="*/ 13 w 13"/>
                  <a:gd name="T1" fmla="*/ 4 h 14"/>
                  <a:gd name="T2" fmla="*/ 4 w 13"/>
                  <a:gd name="T3" fmla="*/ 0 h 14"/>
                  <a:gd name="T4" fmla="*/ 2 w 13"/>
                  <a:gd name="T5" fmla="*/ 4 h 14"/>
                  <a:gd name="T6" fmla="*/ 0 w 13"/>
                  <a:gd name="T7" fmla="*/ 10 h 14"/>
                  <a:gd name="T8" fmla="*/ 9 w 13"/>
                  <a:gd name="T9" fmla="*/ 14 h 14"/>
                  <a:gd name="T10" fmla="*/ 13 w 13"/>
                  <a:gd name="T11" fmla="*/ 4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14"/>
                  <a:gd name="T20" fmla="*/ 13 w 13"/>
                  <a:gd name="T21" fmla="*/ 14 h 1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14">
                    <a:moveTo>
                      <a:pt x="13" y="4"/>
                    </a:moveTo>
                    <a:lnTo>
                      <a:pt x="4" y="0"/>
                    </a:lnTo>
                    <a:lnTo>
                      <a:pt x="2" y="4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3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65" name="Freeform 149"/>
              <p:cNvSpPr>
                <a:spLocks/>
              </p:cNvSpPr>
              <p:nvPr/>
            </p:nvSpPr>
            <p:spPr bwMode="auto">
              <a:xfrm>
                <a:off x="3263" y="1423"/>
                <a:ext cx="12" cy="14"/>
              </a:xfrm>
              <a:custGeom>
                <a:avLst/>
                <a:gdLst>
                  <a:gd name="T0" fmla="*/ 12 w 12"/>
                  <a:gd name="T1" fmla="*/ 4 h 14"/>
                  <a:gd name="T2" fmla="*/ 3 w 12"/>
                  <a:gd name="T3" fmla="*/ 0 h 14"/>
                  <a:gd name="T4" fmla="*/ 0 w 12"/>
                  <a:gd name="T5" fmla="*/ 10 h 14"/>
                  <a:gd name="T6" fmla="*/ 9 w 12"/>
                  <a:gd name="T7" fmla="*/ 14 h 14"/>
                  <a:gd name="T8" fmla="*/ 12 w 12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12" y="4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66" name="Freeform 150"/>
              <p:cNvSpPr>
                <a:spLocks/>
              </p:cNvSpPr>
              <p:nvPr/>
            </p:nvSpPr>
            <p:spPr bwMode="auto">
              <a:xfrm>
                <a:off x="3256" y="1442"/>
                <a:ext cx="13" cy="14"/>
              </a:xfrm>
              <a:custGeom>
                <a:avLst/>
                <a:gdLst>
                  <a:gd name="T0" fmla="*/ 13 w 13"/>
                  <a:gd name="T1" fmla="*/ 4 h 14"/>
                  <a:gd name="T2" fmla="*/ 4 w 13"/>
                  <a:gd name="T3" fmla="*/ 0 h 14"/>
                  <a:gd name="T4" fmla="*/ 0 w 13"/>
                  <a:gd name="T5" fmla="*/ 10 h 14"/>
                  <a:gd name="T6" fmla="*/ 9 w 13"/>
                  <a:gd name="T7" fmla="*/ 14 h 14"/>
                  <a:gd name="T8" fmla="*/ 13 w 13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4"/>
                  <a:gd name="T17" fmla="*/ 13 w 13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4">
                    <a:moveTo>
                      <a:pt x="13" y="4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3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67" name="Freeform 151"/>
              <p:cNvSpPr>
                <a:spLocks/>
              </p:cNvSpPr>
              <p:nvPr/>
            </p:nvSpPr>
            <p:spPr bwMode="auto">
              <a:xfrm>
                <a:off x="3250" y="1461"/>
                <a:ext cx="11" cy="14"/>
              </a:xfrm>
              <a:custGeom>
                <a:avLst/>
                <a:gdLst>
                  <a:gd name="T0" fmla="*/ 11 w 11"/>
                  <a:gd name="T1" fmla="*/ 4 h 14"/>
                  <a:gd name="T2" fmla="*/ 2 w 11"/>
                  <a:gd name="T3" fmla="*/ 0 h 14"/>
                  <a:gd name="T4" fmla="*/ 0 w 11"/>
                  <a:gd name="T5" fmla="*/ 10 h 14"/>
                  <a:gd name="T6" fmla="*/ 8 w 11"/>
                  <a:gd name="T7" fmla="*/ 14 h 14"/>
                  <a:gd name="T8" fmla="*/ 11 w 11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4"/>
                  <a:gd name="T17" fmla="*/ 11 w 11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4">
                    <a:moveTo>
                      <a:pt x="11" y="4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8" y="14"/>
                    </a:lnTo>
                    <a:lnTo>
                      <a:pt x="11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68" name="Freeform 152"/>
              <p:cNvSpPr>
                <a:spLocks/>
              </p:cNvSpPr>
              <p:nvPr/>
            </p:nvSpPr>
            <p:spPr bwMode="auto">
              <a:xfrm>
                <a:off x="3242" y="1480"/>
                <a:ext cx="13" cy="14"/>
              </a:xfrm>
              <a:custGeom>
                <a:avLst/>
                <a:gdLst>
                  <a:gd name="T0" fmla="*/ 13 w 13"/>
                  <a:gd name="T1" fmla="*/ 4 h 14"/>
                  <a:gd name="T2" fmla="*/ 4 w 13"/>
                  <a:gd name="T3" fmla="*/ 0 h 14"/>
                  <a:gd name="T4" fmla="*/ 2 w 13"/>
                  <a:gd name="T5" fmla="*/ 5 h 14"/>
                  <a:gd name="T6" fmla="*/ 0 w 13"/>
                  <a:gd name="T7" fmla="*/ 11 h 14"/>
                  <a:gd name="T8" fmla="*/ 9 w 13"/>
                  <a:gd name="T9" fmla="*/ 14 h 14"/>
                  <a:gd name="T10" fmla="*/ 13 w 13"/>
                  <a:gd name="T11" fmla="*/ 5 h 14"/>
                  <a:gd name="T12" fmla="*/ 13 w 13"/>
                  <a:gd name="T13" fmla="*/ 4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"/>
                  <a:gd name="T22" fmla="*/ 0 h 14"/>
                  <a:gd name="T23" fmla="*/ 13 w 13"/>
                  <a:gd name="T24" fmla="*/ 14 h 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" h="14">
                    <a:moveTo>
                      <a:pt x="13" y="4"/>
                    </a:moveTo>
                    <a:lnTo>
                      <a:pt x="4" y="0"/>
                    </a:lnTo>
                    <a:lnTo>
                      <a:pt x="2" y="5"/>
                    </a:lnTo>
                    <a:lnTo>
                      <a:pt x="0" y="11"/>
                    </a:lnTo>
                    <a:lnTo>
                      <a:pt x="9" y="14"/>
                    </a:lnTo>
                    <a:lnTo>
                      <a:pt x="13" y="5"/>
                    </a:lnTo>
                    <a:lnTo>
                      <a:pt x="13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69" name="Freeform 153"/>
              <p:cNvSpPr>
                <a:spLocks/>
              </p:cNvSpPr>
              <p:nvPr/>
            </p:nvSpPr>
            <p:spPr bwMode="auto">
              <a:xfrm>
                <a:off x="3236" y="1500"/>
                <a:ext cx="12" cy="13"/>
              </a:xfrm>
              <a:custGeom>
                <a:avLst/>
                <a:gdLst>
                  <a:gd name="T0" fmla="*/ 12 w 12"/>
                  <a:gd name="T1" fmla="*/ 3 h 13"/>
                  <a:gd name="T2" fmla="*/ 3 w 12"/>
                  <a:gd name="T3" fmla="*/ 0 h 13"/>
                  <a:gd name="T4" fmla="*/ 0 w 12"/>
                  <a:gd name="T5" fmla="*/ 11 h 13"/>
                  <a:gd name="T6" fmla="*/ 8 w 12"/>
                  <a:gd name="T7" fmla="*/ 13 h 13"/>
                  <a:gd name="T8" fmla="*/ 12 w 12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3"/>
                    </a:moveTo>
                    <a:lnTo>
                      <a:pt x="3" y="0"/>
                    </a:lnTo>
                    <a:lnTo>
                      <a:pt x="0" y="11"/>
                    </a:lnTo>
                    <a:lnTo>
                      <a:pt x="8" y="13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70" name="Freeform 154"/>
              <p:cNvSpPr>
                <a:spLocks/>
              </p:cNvSpPr>
              <p:nvPr/>
            </p:nvSpPr>
            <p:spPr bwMode="auto">
              <a:xfrm>
                <a:off x="3229" y="1519"/>
                <a:ext cx="12" cy="13"/>
              </a:xfrm>
              <a:custGeom>
                <a:avLst/>
                <a:gdLst>
                  <a:gd name="T0" fmla="*/ 12 w 12"/>
                  <a:gd name="T1" fmla="*/ 3 h 13"/>
                  <a:gd name="T2" fmla="*/ 3 w 12"/>
                  <a:gd name="T3" fmla="*/ 0 h 13"/>
                  <a:gd name="T4" fmla="*/ 0 w 12"/>
                  <a:gd name="T5" fmla="*/ 11 h 13"/>
                  <a:gd name="T6" fmla="*/ 9 w 12"/>
                  <a:gd name="T7" fmla="*/ 13 h 13"/>
                  <a:gd name="T8" fmla="*/ 12 w 12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3"/>
                    </a:moveTo>
                    <a:lnTo>
                      <a:pt x="3" y="0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71" name="Freeform 155"/>
              <p:cNvSpPr>
                <a:spLocks/>
              </p:cNvSpPr>
              <p:nvPr/>
            </p:nvSpPr>
            <p:spPr bwMode="auto">
              <a:xfrm>
                <a:off x="3223" y="1539"/>
                <a:ext cx="11" cy="12"/>
              </a:xfrm>
              <a:custGeom>
                <a:avLst/>
                <a:gdLst>
                  <a:gd name="T0" fmla="*/ 11 w 11"/>
                  <a:gd name="T1" fmla="*/ 2 h 12"/>
                  <a:gd name="T2" fmla="*/ 2 w 11"/>
                  <a:gd name="T3" fmla="*/ 0 h 12"/>
                  <a:gd name="T4" fmla="*/ 0 w 11"/>
                  <a:gd name="T5" fmla="*/ 10 h 12"/>
                  <a:gd name="T6" fmla="*/ 9 w 11"/>
                  <a:gd name="T7" fmla="*/ 12 h 12"/>
                  <a:gd name="T8" fmla="*/ 11 w 11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11" y="2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2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72" name="Freeform 156"/>
              <p:cNvSpPr>
                <a:spLocks/>
              </p:cNvSpPr>
              <p:nvPr/>
            </p:nvSpPr>
            <p:spPr bwMode="auto">
              <a:xfrm>
                <a:off x="3217" y="1559"/>
                <a:ext cx="11" cy="11"/>
              </a:xfrm>
              <a:custGeom>
                <a:avLst/>
                <a:gdLst>
                  <a:gd name="T0" fmla="*/ 11 w 11"/>
                  <a:gd name="T1" fmla="*/ 2 h 11"/>
                  <a:gd name="T2" fmla="*/ 2 w 11"/>
                  <a:gd name="T3" fmla="*/ 0 h 11"/>
                  <a:gd name="T4" fmla="*/ 1 w 11"/>
                  <a:gd name="T5" fmla="*/ 4 h 11"/>
                  <a:gd name="T6" fmla="*/ 0 w 11"/>
                  <a:gd name="T7" fmla="*/ 9 h 11"/>
                  <a:gd name="T8" fmla="*/ 8 w 11"/>
                  <a:gd name="T9" fmla="*/ 11 h 11"/>
                  <a:gd name="T10" fmla="*/ 11 w 11"/>
                  <a:gd name="T11" fmla="*/ 4 h 11"/>
                  <a:gd name="T12" fmla="*/ 11 w 11"/>
                  <a:gd name="T13" fmla="*/ 2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"/>
                  <a:gd name="T22" fmla="*/ 0 h 11"/>
                  <a:gd name="T23" fmla="*/ 11 w 11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" h="11">
                    <a:moveTo>
                      <a:pt x="11" y="2"/>
                    </a:moveTo>
                    <a:lnTo>
                      <a:pt x="2" y="0"/>
                    </a:lnTo>
                    <a:lnTo>
                      <a:pt x="1" y="4"/>
                    </a:lnTo>
                    <a:lnTo>
                      <a:pt x="0" y="9"/>
                    </a:lnTo>
                    <a:lnTo>
                      <a:pt x="8" y="11"/>
                    </a:lnTo>
                    <a:lnTo>
                      <a:pt x="11" y="4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73" name="Freeform 157"/>
              <p:cNvSpPr>
                <a:spLocks/>
              </p:cNvSpPr>
              <p:nvPr/>
            </p:nvSpPr>
            <p:spPr bwMode="auto">
              <a:xfrm>
                <a:off x="3210" y="1578"/>
                <a:ext cx="13" cy="11"/>
              </a:xfrm>
              <a:custGeom>
                <a:avLst/>
                <a:gdLst>
                  <a:gd name="T0" fmla="*/ 13 w 13"/>
                  <a:gd name="T1" fmla="*/ 2 h 11"/>
                  <a:gd name="T2" fmla="*/ 4 w 13"/>
                  <a:gd name="T3" fmla="*/ 0 h 11"/>
                  <a:gd name="T4" fmla="*/ 0 w 13"/>
                  <a:gd name="T5" fmla="*/ 9 h 11"/>
                  <a:gd name="T6" fmla="*/ 9 w 13"/>
                  <a:gd name="T7" fmla="*/ 11 h 11"/>
                  <a:gd name="T8" fmla="*/ 13 w 13"/>
                  <a:gd name="T9" fmla="*/ 2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1"/>
                  <a:gd name="T17" fmla="*/ 13 w 13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1">
                    <a:moveTo>
                      <a:pt x="13" y="2"/>
                    </a:moveTo>
                    <a:lnTo>
                      <a:pt x="4" y="0"/>
                    </a:lnTo>
                    <a:lnTo>
                      <a:pt x="0" y="9"/>
                    </a:lnTo>
                    <a:lnTo>
                      <a:pt x="9" y="11"/>
                    </a:ln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74" name="Freeform 158"/>
              <p:cNvSpPr>
                <a:spLocks/>
              </p:cNvSpPr>
              <p:nvPr/>
            </p:nvSpPr>
            <p:spPr bwMode="auto">
              <a:xfrm>
                <a:off x="3205" y="1597"/>
                <a:ext cx="12" cy="13"/>
              </a:xfrm>
              <a:custGeom>
                <a:avLst/>
                <a:gdLst>
                  <a:gd name="T0" fmla="*/ 12 w 12"/>
                  <a:gd name="T1" fmla="*/ 3 h 13"/>
                  <a:gd name="T2" fmla="*/ 3 w 12"/>
                  <a:gd name="T3" fmla="*/ 0 h 13"/>
                  <a:gd name="T4" fmla="*/ 0 w 12"/>
                  <a:gd name="T5" fmla="*/ 10 h 13"/>
                  <a:gd name="T6" fmla="*/ 9 w 12"/>
                  <a:gd name="T7" fmla="*/ 13 h 13"/>
                  <a:gd name="T8" fmla="*/ 12 w 12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3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75" name="Freeform 159"/>
              <p:cNvSpPr>
                <a:spLocks/>
              </p:cNvSpPr>
              <p:nvPr/>
            </p:nvSpPr>
            <p:spPr bwMode="auto">
              <a:xfrm>
                <a:off x="3199" y="1616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2 w 11"/>
                  <a:gd name="T3" fmla="*/ 0 h 13"/>
                  <a:gd name="T4" fmla="*/ 0 w 11"/>
                  <a:gd name="T5" fmla="*/ 10 h 13"/>
                  <a:gd name="T6" fmla="*/ 9 w 11"/>
                  <a:gd name="T7" fmla="*/ 13 h 13"/>
                  <a:gd name="T8" fmla="*/ 11 w 11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3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76" name="Freeform 160"/>
              <p:cNvSpPr>
                <a:spLocks/>
              </p:cNvSpPr>
              <p:nvPr/>
            </p:nvSpPr>
            <p:spPr bwMode="auto">
              <a:xfrm>
                <a:off x="3194" y="1636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2 w 11"/>
                  <a:gd name="T3" fmla="*/ 0 h 13"/>
                  <a:gd name="T4" fmla="*/ 1 w 11"/>
                  <a:gd name="T5" fmla="*/ 4 h 13"/>
                  <a:gd name="T6" fmla="*/ 0 w 11"/>
                  <a:gd name="T7" fmla="*/ 11 h 13"/>
                  <a:gd name="T8" fmla="*/ 9 w 11"/>
                  <a:gd name="T9" fmla="*/ 13 h 13"/>
                  <a:gd name="T10" fmla="*/ 11 w 11"/>
                  <a:gd name="T11" fmla="*/ 4 h 13"/>
                  <a:gd name="T12" fmla="*/ 11 w 11"/>
                  <a:gd name="T13" fmla="*/ 3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"/>
                  <a:gd name="T22" fmla="*/ 0 h 13"/>
                  <a:gd name="T23" fmla="*/ 11 w 11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" h="13">
                    <a:moveTo>
                      <a:pt x="11" y="3"/>
                    </a:moveTo>
                    <a:lnTo>
                      <a:pt x="2" y="0"/>
                    </a:lnTo>
                    <a:lnTo>
                      <a:pt x="1" y="4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1" y="4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77" name="Freeform 161"/>
              <p:cNvSpPr>
                <a:spLocks/>
              </p:cNvSpPr>
              <p:nvPr/>
            </p:nvSpPr>
            <p:spPr bwMode="auto">
              <a:xfrm>
                <a:off x="3189" y="1655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2 w 11"/>
                  <a:gd name="T3" fmla="*/ 0 h 13"/>
                  <a:gd name="T4" fmla="*/ 0 w 11"/>
                  <a:gd name="T5" fmla="*/ 11 h 13"/>
                  <a:gd name="T6" fmla="*/ 8 w 11"/>
                  <a:gd name="T7" fmla="*/ 13 h 13"/>
                  <a:gd name="T8" fmla="*/ 11 w 11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3"/>
                    </a:moveTo>
                    <a:lnTo>
                      <a:pt x="2" y="0"/>
                    </a:lnTo>
                    <a:lnTo>
                      <a:pt x="0" y="11"/>
                    </a:lnTo>
                    <a:lnTo>
                      <a:pt x="8" y="13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78" name="Freeform 162"/>
              <p:cNvSpPr>
                <a:spLocks/>
              </p:cNvSpPr>
              <p:nvPr/>
            </p:nvSpPr>
            <p:spPr bwMode="auto">
              <a:xfrm>
                <a:off x="3184" y="1676"/>
                <a:ext cx="11" cy="13"/>
              </a:xfrm>
              <a:custGeom>
                <a:avLst/>
                <a:gdLst>
                  <a:gd name="T0" fmla="*/ 11 w 11"/>
                  <a:gd name="T1" fmla="*/ 2 h 13"/>
                  <a:gd name="T2" fmla="*/ 2 w 11"/>
                  <a:gd name="T3" fmla="*/ 0 h 13"/>
                  <a:gd name="T4" fmla="*/ 0 w 11"/>
                  <a:gd name="T5" fmla="*/ 10 h 13"/>
                  <a:gd name="T6" fmla="*/ 8 w 11"/>
                  <a:gd name="T7" fmla="*/ 13 h 13"/>
                  <a:gd name="T8" fmla="*/ 11 w 11"/>
                  <a:gd name="T9" fmla="*/ 2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2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8" y="13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79" name="Freeform 163"/>
              <p:cNvSpPr>
                <a:spLocks/>
              </p:cNvSpPr>
              <p:nvPr/>
            </p:nvSpPr>
            <p:spPr bwMode="auto">
              <a:xfrm>
                <a:off x="3178" y="1695"/>
                <a:ext cx="12" cy="13"/>
              </a:xfrm>
              <a:custGeom>
                <a:avLst/>
                <a:gdLst>
                  <a:gd name="T0" fmla="*/ 12 w 12"/>
                  <a:gd name="T1" fmla="*/ 2 h 13"/>
                  <a:gd name="T2" fmla="*/ 3 w 12"/>
                  <a:gd name="T3" fmla="*/ 0 h 13"/>
                  <a:gd name="T4" fmla="*/ 0 w 12"/>
                  <a:gd name="T5" fmla="*/ 10 h 13"/>
                  <a:gd name="T6" fmla="*/ 9 w 12"/>
                  <a:gd name="T7" fmla="*/ 13 h 13"/>
                  <a:gd name="T8" fmla="*/ 12 w 12"/>
                  <a:gd name="T9" fmla="*/ 2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2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80" name="Freeform 164"/>
              <p:cNvSpPr>
                <a:spLocks/>
              </p:cNvSpPr>
              <p:nvPr/>
            </p:nvSpPr>
            <p:spPr bwMode="auto">
              <a:xfrm>
                <a:off x="3173" y="1715"/>
                <a:ext cx="12" cy="12"/>
              </a:xfrm>
              <a:custGeom>
                <a:avLst/>
                <a:gdLst>
                  <a:gd name="T0" fmla="*/ 12 w 12"/>
                  <a:gd name="T1" fmla="*/ 3 h 12"/>
                  <a:gd name="T2" fmla="*/ 3 w 12"/>
                  <a:gd name="T3" fmla="*/ 0 h 12"/>
                  <a:gd name="T4" fmla="*/ 2 w 12"/>
                  <a:gd name="T5" fmla="*/ 3 h 12"/>
                  <a:gd name="T6" fmla="*/ 0 w 12"/>
                  <a:gd name="T7" fmla="*/ 10 h 12"/>
                  <a:gd name="T8" fmla="*/ 9 w 12"/>
                  <a:gd name="T9" fmla="*/ 12 h 12"/>
                  <a:gd name="T10" fmla="*/ 12 w 12"/>
                  <a:gd name="T11" fmla="*/ 3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2"/>
                  <a:gd name="T19" fmla="*/ 0 h 12"/>
                  <a:gd name="T20" fmla="*/ 12 w 12"/>
                  <a:gd name="T21" fmla="*/ 12 h 1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2" h="12">
                    <a:moveTo>
                      <a:pt x="12" y="3"/>
                    </a:moveTo>
                    <a:lnTo>
                      <a:pt x="3" y="0"/>
                    </a:lnTo>
                    <a:lnTo>
                      <a:pt x="2" y="3"/>
                    </a:lnTo>
                    <a:lnTo>
                      <a:pt x="0" y="10"/>
                    </a:lnTo>
                    <a:lnTo>
                      <a:pt x="9" y="12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81" name="Freeform 165"/>
              <p:cNvSpPr>
                <a:spLocks/>
              </p:cNvSpPr>
              <p:nvPr/>
            </p:nvSpPr>
            <p:spPr bwMode="auto">
              <a:xfrm>
                <a:off x="3170" y="1736"/>
                <a:ext cx="11" cy="11"/>
              </a:xfrm>
              <a:custGeom>
                <a:avLst/>
                <a:gdLst>
                  <a:gd name="T0" fmla="*/ 11 w 11"/>
                  <a:gd name="T1" fmla="*/ 1 h 11"/>
                  <a:gd name="T2" fmla="*/ 2 w 11"/>
                  <a:gd name="T3" fmla="*/ 0 h 11"/>
                  <a:gd name="T4" fmla="*/ 0 w 11"/>
                  <a:gd name="T5" fmla="*/ 10 h 11"/>
                  <a:gd name="T6" fmla="*/ 8 w 11"/>
                  <a:gd name="T7" fmla="*/ 11 h 11"/>
                  <a:gd name="T8" fmla="*/ 11 w 11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11" y="1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8" y="1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82" name="Freeform 166"/>
              <p:cNvSpPr>
                <a:spLocks/>
              </p:cNvSpPr>
              <p:nvPr/>
            </p:nvSpPr>
            <p:spPr bwMode="auto">
              <a:xfrm>
                <a:off x="3166" y="1756"/>
                <a:ext cx="11" cy="11"/>
              </a:xfrm>
              <a:custGeom>
                <a:avLst/>
                <a:gdLst>
                  <a:gd name="T0" fmla="*/ 11 w 11"/>
                  <a:gd name="T1" fmla="*/ 1 h 11"/>
                  <a:gd name="T2" fmla="*/ 2 w 11"/>
                  <a:gd name="T3" fmla="*/ 0 h 11"/>
                  <a:gd name="T4" fmla="*/ 1 w 11"/>
                  <a:gd name="T5" fmla="*/ 0 h 11"/>
                  <a:gd name="T6" fmla="*/ 0 w 11"/>
                  <a:gd name="T7" fmla="*/ 10 h 11"/>
                  <a:gd name="T8" fmla="*/ 10 w 11"/>
                  <a:gd name="T9" fmla="*/ 11 h 11"/>
                  <a:gd name="T10" fmla="*/ 11 w 11"/>
                  <a:gd name="T11" fmla="*/ 0 h 11"/>
                  <a:gd name="T12" fmla="*/ 11 w 11"/>
                  <a:gd name="T13" fmla="*/ 1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"/>
                  <a:gd name="T22" fmla="*/ 0 h 11"/>
                  <a:gd name="T23" fmla="*/ 11 w 11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" h="11">
                    <a:moveTo>
                      <a:pt x="11" y="1"/>
                    </a:moveTo>
                    <a:lnTo>
                      <a:pt x="2" y="0"/>
                    </a:lnTo>
                    <a:lnTo>
                      <a:pt x="1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1" y="0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83" name="Freeform 167"/>
              <p:cNvSpPr>
                <a:spLocks/>
              </p:cNvSpPr>
              <p:nvPr/>
            </p:nvSpPr>
            <p:spPr bwMode="auto">
              <a:xfrm>
                <a:off x="3162" y="1775"/>
                <a:ext cx="11" cy="11"/>
              </a:xfrm>
              <a:custGeom>
                <a:avLst/>
                <a:gdLst>
                  <a:gd name="T0" fmla="*/ 11 w 11"/>
                  <a:gd name="T1" fmla="*/ 1 h 11"/>
                  <a:gd name="T2" fmla="*/ 1 w 11"/>
                  <a:gd name="T3" fmla="*/ 0 h 11"/>
                  <a:gd name="T4" fmla="*/ 0 w 11"/>
                  <a:gd name="T5" fmla="*/ 10 h 11"/>
                  <a:gd name="T6" fmla="*/ 10 w 11"/>
                  <a:gd name="T7" fmla="*/ 11 h 11"/>
                  <a:gd name="T8" fmla="*/ 11 w 11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11" y="1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84" name="Freeform 168"/>
              <p:cNvSpPr>
                <a:spLocks/>
              </p:cNvSpPr>
              <p:nvPr/>
            </p:nvSpPr>
            <p:spPr bwMode="auto">
              <a:xfrm>
                <a:off x="3159" y="1795"/>
                <a:ext cx="12" cy="12"/>
              </a:xfrm>
              <a:custGeom>
                <a:avLst/>
                <a:gdLst>
                  <a:gd name="T0" fmla="*/ 12 w 12"/>
                  <a:gd name="T1" fmla="*/ 2 h 12"/>
                  <a:gd name="T2" fmla="*/ 2 w 12"/>
                  <a:gd name="T3" fmla="*/ 0 h 12"/>
                  <a:gd name="T4" fmla="*/ 0 w 12"/>
                  <a:gd name="T5" fmla="*/ 10 h 12"/>
                  <a:gd name="T6" fmla="*/ 11 w 12"/>
                  <a:gd name="T7" fmla="*/ 12 h 12"/>
                  <a:gd name="T8" fmla="*/ 12 w 12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12" y="2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11" y="12"/>
                    </a:ln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85" name="Freeform 169"/>
              <p:cNvSpPr>
                <a:spLocks/>
              </p:cNvSpPr>
              <p:nvPr/>
            </p:nvSpPr>
            <p:spPr bwMode="auto">
              <a:xfrm>
                <a:off x="3156" y="1816"/>
                <a:ext cx="11" cy="11"/>
              </a:xfrm>
              <a:custGeom>
                <a:avLst/>
                <a:gdLst>
                  <a:gd name="T0" fmla="*/ 11 w 11"/>
                  <a:gd name="T1" fmla="*/ 1 h 11"/>
                  <a:gd name="T2" fmla="*/ 1 w 11"/>
                  <a:gd name="T3" fmla="*/ 0 h 11"/>
                  <a:gd name="T4" fmla="*/ 0 w 11"/>
                  <a:gd name="T5" fmla="*/ 10 h 11"/>
                  <a:gd name="T6" fmla="*/ 10 w 11"/>
                  <a:gd name="T7" fmla="*/ 11 h 11"/>
                  <a:gd name="T8" fmla="*/ 11 w 11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11" y="1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86" name="Freeform 170"/>
              <p:cNvSpPr>
                <a:spLocks/>
              </p:cNvSpPr>
              <p:nvPr/>
            </p:nvSpPr>
            <p:spPr bwMode="auto">
              <a:xfrm>
                <a:off x="3154" y="1836"/>
                <a:ext cx="10" cy="11"/>
              </a:xfrm>
              <a:custGeom>
                <a:avLst/>
                <a:gdLst>
                  <a:gd name="T0" fmla="*/ 10 w 10"/>
                  <a:gd name="T1" fmla="*/ 1 h 11"/>
                  <a:gd name="T2" fmla="*/ 0 w 10"/>
                  <a:gd name="T3" fmla="*/ 0 h 11"/>
                  <a:gd name="T4" fmla="*/ 0 w 10"/>
                  <a:gd name="T5" fmla="*/ 10 h 11"/>
                  <a:gd name="T6" fmla="*/ 10 w 10"/>
                  <a:gd name="T7" fmla="*/ 11 h 11"/>
                  <a:gd name="T8" fmla="*/ 10 w 10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1"/>
                  <a:gd name="T17" fmla="*/ 10 w 10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1">
                    <a:moveTo>
                      <a:pt x="10" y="1"/>
                    </a:moveTo>
                    <a:lnTo>
                      <a:pt x="0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87" name="Freeform 171"/>
              <p:cNvSpPr>
                <a:spLocks/>
              </p:cNvSpPr>
              <p:nvPr/>
            </p:nvSpPr>
            <p:spPr bwMode="auto">
              <a:xfrm>
                <a:off x="3152" y="1856"/>
                <a:ext cx="11" cy="12"/>
              </a:xfrm>
              <a:custGeom>
                <a:avLst/>
                <a:gdLst>
                  <a:gd name="T0" fmla="*/ 11 w 11"/>
                  <a:gd name="T1" fmla="*/ 2 h 12"/>
                  <a:gd name="T2" fmla="*/ 1 w 11"/>
                  <a:gd name="T3" fmla="*/ 0 h 12"/>
                  <a:gd name="T4" fmla="*/ 0 w 11"/>
                  <a:gd name="T5" fmla="*/ 10 h 12"/>
                  <a:gd name="T6" fmla="*/ 10 w 11"/>
                  <a:gd name="T7" fmla="*/ 12 h 12"/>
                  <a:gd name="T8" fmla="*/ 11 w 11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11" y="2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2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88" name="Freeform 172"/>
              <p:cNvSpPr>
                <a:spLocks/>
              </p:cNvSpPr>
              <p:nvPr/>
            </p:nvSpPr>
            <p:spPr bwMode="auto">
              <a:xfrm>
                <a:off x="3151" y="1877"/>
                <a:ext cx="11" cy="10"/>
              </a:xfrm>
              <a:custGeom>
                <a:avLst/>
                <a:gdLst>
                  <a:gd name="T0" fmla="*/ 11 w 11"/>
                  <a:gd name="T1" fmla="*/ 0 h 10"/>
                  <a:gd name="T2" fmla="*/ 1 w 11"/>
                  <a:gd name="T3" fmla="*/ 0 h 10"/>
                  <a:gd name="T4" fmla="*/ 0 w 11"/>
                  <a:gd name="T5" fmla="*/ 10 h 10"/>
                  <a:gd name="T6" fmla="*/ 10 w 11"/>
                  <a:gd name="T7" fmla="*/ 10 h 10"/>
                  <a:gd name="T8" fmla="*/ 11 w 1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0"/>
                  <a:gd name="T17" fmla="*/ 11 w 1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0">
                    <a:moveTo>
                      <a:pt x="11" y="0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0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89" name="Freeform 173"/>
              <p:cNvSpPr>
                <a:spLocks/>
              </p:cNvSpPr>
              <p:nvPr/>
            </p:nvSpPr>
            <p:spPr bwMode="auto">
              <a:xfrm>
                <a:off x="3149" y="1897"/>
                <a:ext cx="12" cy="10"/>
              </a:xfrm>
              <a:custGeom>
                <a:avLst/>
                <a:gdLst>
                  <a:gd name="T0" fmla="*/ 12 w 12"/>
                  <a:gd name="T1" fmla="*/ 0 h 10"/>
                  <a:gd name="T2" fmla="*/ 2 w 12"/>
                  <a:gd name="T3" fmla="*/ 0 h 10"/>
                  <a:gd name="T4" fmla="*/ 0 w 12"/>
                  <a:gd name="T5" fmla="*/ 10 h 10"/>
                  <a:gd name="T6" fmla="*/ 10 w 12"/>
                  <a:gd name="T7" fmla="*/ 10 h 10"/>
                  <a:gd name="T8" fmla="*/ 12 w 12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0"/>
                  <a:gd name="T17" fmla="*/ 12 w 12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0">
                    <a:moveTo>
                      <a:pt x="12" y="0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10" y="1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90" name="Rectangle 174"/>
              <p:cNvSpPr>
                <a:spLocks noChangeArrowheads="1"/>
              </p:cNvSpPr>
              <p:nvPr/>
            </p:nvSpPr>
            <p:spPr bwMode="auto">
              <a:xfrm>
                <a:off x="3149" y="1917"/>
                <a:ext cx="10" cy="10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91" name="Rectangle 175"/>
              <p:cNvSpPr>
                <a:spLocks noChangeArrowheads="1"/>
              </p:cNvSpPr>
              <p:nvPr/>
            </p:nvSpPr>
            <p:spPr bwMode="auto">
              <a:xfrm>
                <a:off x="3149" y="1938"/>
                <a:ext cx="10" cy="10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92" name="Freeform 176"/>
              <p:cNvSpPr>
                <a:spLocks/>
              </p:cNvSpPr>
              <p:nvPr/>
            </p:nvSpPr>
            <p:spPr bwMode="auto">
              <a:xfrm>
                <a:off x="3149" y="1958"/>
                <a:ext cx="12" cy="10"/>
              </a:xfrm>
              <a:custGeom>
                <a:avLst/>
                <a:gdLst>
                  <a:gd name="T0" fmla="*/ 10 w 12"/>
                  <a:gd name="T1" fmla="*/ 0 h 10"/>
                  <a:gd name="T2" fmla="*/ 0 w 12"/>
                  <a:gd name="T3" fmla="*/ 0 h 10"/>
                  <a:gd name="T4" fmla="*/ 2 w 12"/>
                  <a:gd name="T5" fmla="*/ 10 h 10"/>
                  <a:gd name="T6" fmla="*/ 12 w 12"/>
                  <a:gd name="T7" fmla="*/ 10 h 10"/>
                  <a:gd name="T8" fmla="*/ 10 w 12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0"/>
                  <a:gd name="T17" fmla="*/ 12 w 12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0">
                    <a:moveTo>
                      <a:pt x="10" y="0"/>
                    </a:moveTo>
                    <a:lnTo>
                      <a:pt x="0" y="0"/>
                    </a:lnTo>
                    <a:lnTo>
                      <a:pt x="2" y="10"/>
                    </a:lnTo>
                    <a:lnTo>
                      <a:pt x="12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93" name="Freeform 177"/>
              <p:cNvSpPr>
                <a:spLocks/>
              </p:cNvSpPr>
              <p:nvPr/>
            </p:nvSpPr>
            <p:spPr bwMode="auto">
              <a:xfrm>
                <a:off x="3151" y="1978"/>
                <a:ext cx="10" cy="12"/>
              </a:xfrm>
              <a:custGeom>
                <a:avLst/>
                <a:gdLst>
                  <a:gd name="T0" fmla="*/ 10 w 10"/>
                  <a:gd name="T1" fmla="*/ 0 h 12"/>
                  <a:gd name="T2" fmla="*/ 0 w 10"/>
                  <a:gd name="T3" fmla="*/ 0 h 12"/>
                  <a:gd name="T4" fmla="*/ 0 w 10"/>
                  <a:gd name="T5" fmla="*/ 7 h 12"/>
                  <a:gd name="T6" fmla="*/ 0 w 10"/>
                  <a:gd name="T7" fmla="*/ 12 h 12"/>
                  <a:gd name="T8" fmla="*/ 10 w 10"/>
                  <a:gd name="T9" fmla="*/ 10 h 12"/>
                  <a:gd name="T10" fmla="*/ 10 w 10"/>
                  <a:gd name="T11" fmla="*/ 7 h 12"/>
                  <a:gd name="T12" fmla="*/ 10 w 10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"/>
                  <a:gd name="T22" fmla="*/ 0 h 12"/>
                  <a:gd name="T23" fmla="*/ 10 w 10"/>
                  <a:gd name="T24" fmla="*/ 12 h 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" h="12">
                    <a:moveTo>
                      <a:pt x="10" y="0"/>
                    </a:moveTo>
                    <a:lnTo>
                      <a:pt x="0" y="0"/>
                    </a:lnTo>
                    <a:lnTo>
                      <a:pt x="0" y="7"/>
                    </a:lnTo>
                    <a:lnTo>
                      <a:pt x="0" y="12"/>
                    </a:lnTo>
                    <a:lnTo>
                      <a:pt x="10" y="10"/>
                    </a:lnTo>
                    <a:lnTo>
                      <a:pt x="10" y="7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94" name="Freeform 178"/>
              <p:cNvSpPr>
                <a:spLocks/>
              </p:cNvSpPr>
              <p:nvPr/>
            </p:nvSpPr>
            <p:spPr bwMode="auto">
              <a:xfrm>
                <a:off x="3152" y="1999"/>
                <a:ext cx="10" cy="11"/>
              </a:xfrm>
              <a:custGeom>
                <a:avLst/>
                <a:gdLst>
                  <a:gd name="T0" fmla="*/ 10 w 10"/>
                  <a:gd name="T1" fmla="*/ 0 h 11"/>
                  <a:gd name="T2" fmla="*/ 0 w 10"/>
                  <a:gd name="T3" fmla="*/ 1 h 11"/>
                  <a:gd name="T4" fmla="*/ 0 w 10"/>
                  <a:gd name="T5" fmla="*/ 11 h 11"/>
                  <a:gd name="T6" fmla="*/ 10 w 10"/>
                  <a:gd name="T7" fmla="*/ 10 h 11"/>
                  <a:gd name="T8" fmla="*/ 10 w 10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1"/>
                  <a:gd name="T17" fmla="*/ 10 w 10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1">
                    <a:moveTo>
                      <a:pt x="10" y="0"/>
                    </a:moveTo>
                    <a:lnTo>
                      <a:pt x="0" y="1"/>
                    </a:lnTo>
                    <a:lnTo>
                      <a:pt x="0" y="11"/>
                    </a:lnTo>
                    <a:lnTo>
                      <a:pt x="10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95" name="Freeform 179"/>
              <p:cNvSpPr>
                <a:spLocks/>
              </p:cNvSpPr>
              <p:nvPr/>
            </p:nvSpPr>
            <p:spPr bwMode="auto">
              <a:xfrm>
                <a:off x="3153" y="2019"/>
                <a:ext cx="11" cy="11"/>
              </a:xfrm>
              <a:custGeom>
                <a:avLst/>
                <a:gdLst>
                  <a:gd name="T0" fmla="*/ 10 w 11"/>
                  <a:gd name="T1" fmla="*/ 0 h 11"/>
                  <a:gd name="T2" fmla="*/ 0 w 11"/>
                  <a:gd name="T3" fmla="*/ 1 h 11"/>
                  <a:gd name="T4" fmla="*/ 1 w 11"/>
                  <a:gd name="T5" fmla="*/ 11 h 11"/>
                  <a:gd name="T6" fmla="*/ 11 w 11"/>
                  <a:gd name="T7" fmla="*/ 10 h 11"/>
                  <a:gd name="T8" fmla="*/ 10 w 1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10" y="0"/>
                    </a:moveTo>
                    <a:lnTo>
                      <a:pt x="0" y="1"/>
                    </a:lnTo>
                    <a:lnTo>
                      <a:pt x="1" y="11"/>
                    </a:lnTo>
                    <a:lnTo>
                      <a:pt x="11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96" name="Freeform 180"/>
              <p:cNvSpPr>
                <a:spLocks/>
              </p:cNvSpPr>
              <p:nvPr/>
            </p:nvSpPr>
            <p:spPr bwMode="auto">
              <a:xfrm>
                <a:off x="3156" y="2039"/>
                <a:ext cx="11" cy="12"/>
              </a:xfrm>
              <a:custGeom>
                <a:avLst/>
                <a:gdLst>
                  <a:gd name="T0" fmla="*/ 10 w 11"/>
                  <a:gd name="T1" fmla="*/ 0 h 12"/>
                  <a:gd name="T2" fmla="*/ 0 w 11"/>
                  <a:gd name="T3" fmla="*/ 2 h 12"/>
                  <a:gd name="T4" fmla="*/ 1 w 11"/>
                  <a:gd name="T5" fmla="*/ 12 h 12"/>
                  <a:gd name="T6" fmla="*/ 11 w 11"/>
                  <a:gd name="T7" fmla="*/ 11 h 12"/>
                  <a:gd name="T8" fmla="*/ 10 w 1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10" y="0"/>
                    </a:moveTo>
                    <a:lnTo>
                      <a:pt x="0" y="2"/>
                    </a:lnTo>
                    <a:lnTo>
                      <a:pt x="1" y="12"/>
                    </a:lnTo>
                    <a:lnTo>
                      <a:pt x="11" y="11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97" name="Freeform 181"/>
              <p:cNvSpPr>
                <a:spLocks/>
              </p:cNvSpPr>
              <p:nvPr/>
            </p:nvSpPr>
            <p:spPr bwMode="auto">
              <a:xfrm>
                <a:off x="3158" y="2058"/>
                <a:ext cx="12" cy="12"/>
              </a:xfrm>
              <a:custGeom>
                <a:avLst/>
                <a:gdLst>
                  <a:gd name="T0" fmla="*/ 9 w 12"/>
                  <a:gd name="T1" fmla="*/ 0 h 12"/>
                  <a:gd name="T2" fmla="*/ 0 w 12"/>
                  <a:gd name="T3" fmla="*/ 2 h 12"/>
                  <a:gd name="T4" fmla="*/ 3 w 12"/>
                  <a:gd name="T5" fmla="*/ 12 h 12"/>
                  <a:gd name="T6" fmla="*/ 12 w 12"/>
                  <a:gd name="T7" fmla="*/ 11 h 12"/>
                  <a:gd name="T8" fmla="*/ 9 w 12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9" y="0"/>
                    </a:moveTo>
                    <a:lnTo>
                      <a:pt x="0" y="2"/>
                    </a:lnTo>
                    <a:lnTo>
                      <a:pt x="3" y="12"/>
                    </a:lnTo>
                    <a:lnTo>
                      <a:pt x="12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98" name="Freeform 182"/>
              <p:cNvSpPr>
                <a:spLocks/>
              </p:cNvSpPr>
              <p:nvPr/>
            </p:nvSpPr>
            <p:spPr bwMode="auto">
              <a:xfrm>
                <a:off x="3162" y="2079"/>
                <a:ext cx="10" cy="11"/>
              </a:xfrm>
              <a:custGeom>
                <a:avLst/>
                <a:gdLst>
                  <a:gd name="T0" fmla="*/ 9 w 10"/>
                  <a:gd name="T1" fmla="*/ 0 h 11"/>
                  <a:gd name="T2" fmla="*/ 0 w 10"/>
                  <a:gd name="T3" fmla="*/ 1 h 11"/>
                  <a:gd name="T4" fmla="*/ 0 w 10"/>
                  <a:gd name="T5" fmla="*/ 7 h 11"/>
                  <a:gd name="T6" fmla="*/ 1 w 10"/>
                  <a:gd name="T7" fmla="*/ 11 h 11"/>
                  <a:gd name="T8" fmla="*/ 10 w 10"/>
                  <a:gd name="T9" fmla="*/ 10 h 11"/>
                  <a:gd name="T10" fmla="*/ 10 w 10"/>
                  <a:gd name="T11" fmla="*/ 7 h 11"/>
                  <a:gd name="T12" fmla="*/ 9 w 10"/>
                  <a:gd name="T13" fmla="*/ 0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"/>
                  <a:gd name="T22" fmla="*/ 0 h 11"/>
                  <a:gd name="T23" fmla="*/ 10 w 10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" h="11">
                    <a:moveTo>
                      <a:pt x="9" y="0"/>
                    </a:moveTo>
                    <a:lnTo>
                      <a:pt x="0" y="1"/>
                    </a:lnTo>
                    <a:lnTo>
                      <a:pt x="0" y="7"/>
                    </a:lnTo>
                    <a:lnTo>
                      <a:pt x="1" y="11"/>
                    </a:lnTo>
                    <a:lnTo>
                      <a:pt x="10" y="10"/>
                    </a:lnTo>
                    <a:lnTo>
                      <a:pt x="10" y="7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99" name="Freeform 183"/>
              <p:cNvSpPr>
                <a:spLocks/>
              </p:cNvSpPr>
              <p:nvPr/>
            </p:nvSpPr>
            <p:spPr bwMode="auto">
              <a:xfrm>
                <a:off x="3166" y="2099"/>
                <a:ext cx="10" cy="12"/>
              </a:xfrm>
              <a:custGeom>
                <a:avLst/>
                <a:gdLst>
                  <a:gd name="T0" fmla="*/ 9 w 10"/>
                  <a:gd name="T1" fmla="*/ 0 h 12"/>
                  <a:gd name="T2" fmla="*/ 0 w 10"/>
                  <a:gd name="T3" fmla="*/ 1 h 12"/>
                  <a:gd name="T4" fmla="*/ 1 w 10"/>
                  <a:gd name="T5" fmla="*/ 12 h 12"/>
                  <a:gd name="T6" fmla="*/ 10 w 10"/>
                  <a:gd name="T7" fmla="*/ 10 h 12"/>
                  <a:gd name="T8" fmla="*/ 9 w 10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2"/>
                  <a:gd name="T17" fmla="*/ 10 w 10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2">
                    <a:moveTo>
                      <a:pt x="9" y="0"/>
                    </a:moveTo>
                    <a:lnTo>
                      <a:pt x="0" y="1"/>
                    </a:lnTo>
                    <a:lnTo>
                      <a:pt x="1" y="12"/>
                    </a:lnTo>
                    <a:lnTo>
                      <a:pt x="10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00" name="Freeform 184"/>
              <p:cNvSpPr>
                <a:spLocks/>
              </p:cNvSpPr>
              <p:nvPr/>
            </p:nvSpPr>
            <p:spPr bwMode="auto">
              <a:xfrm>
                <a:off x="3170" y="2119"/>
                <a:ext cx="10" cy="12"/>
              </a:xfrm>
              <a:custGeom>
                <a:avLst/>
                <a:gdLst>
                  <a:gd name="T0" fmla="*/ 8 w 10"/>
                  <a:gd name="T1" fmla="*/ 0 h 12"/>
                  <a:gd name="T2" fmla="*/ 0 w 10"/>
                  <a:gd name="T3" fmla="*/ 2 h 12"/>
                  <a:gd name="T4" fmla="*/ 1 w 10"/>
                  <a:gd name="T5" fmla="*/ 12 h 12"/>
                  <a:gd name="T6" fmla="*/ 10 w 10"/>
                  <a:gd name="T7" fmla="*/ 11 h 12"/>
                  <a:gd name="T8" fmla="*/ 8 w 10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2"/>
                  <a:gd name="T17" fmla="*/ 10 w 10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2">
                    <a:moveTo>
                      <a:pt x="8" y="0"/>
                    </a:moveTo>
                    <a:lnTo>
                      <a:pt x="0" y="2"/>
                    </a:lnTo>
                    <a:lnTo>
                      <a:pt x="1" y="12"/>
                    </a:lnTo>
                    <a:lnTo>
                      <a:pt x="10" y="11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01" name="Freeform 185"/>
              <p:cNvSpPr>
                <a:spLocks/>
              </p:cNvSpPr>
              <p:nvPr/>
            </p:nvSpPr>
            <p:spPr bwMode="auto">
              <a:xfrm>
                <a:off x="3173" y="2138"/>
                <a:ext cx="12" cy="12"/>
              </a:xfrm>
              <a:custGeom>
                <a:avLst/>
                <a:gdLst>
                  <a:gd name="T0" fmla="*/ 9 w 12"/>
                  <a:gd name="T1" fmla="*/ 0 h 12"/>
                  <a:gd name="T2" fmla="*/ 0 w 12"/>
                  <a:gd name="T3" fmla="*/ 2 h 12"/>
                  <a:gd name="T4" fmla="*/ 3 w 12"/>
                  <a:gd name="T5" fmla="*/ 12 h 12"/>
                  <a:gd name="T6" fmla="*/ 12 w 12"/>
                  <a:gd name="T7" fmla="*/ 11 h 12"/>
                  <a:gd name="T8" fmla="*/ 9 w 12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9" y="0"/>
                    </a:moveTo>
                    <a:lnTo>
                      <a:pt x="0" y="2"/>
                    </a:lnTo>
                    <a:lnTo>
                      <a:pt x="3" y="12"/>
                    </a:lnTo>
                    <a:lnTo>
                      <a:pt x="12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02" name="Freeform 186"/>
              <p:cNvSpPr>
                <a:spLocks/>
              </p:cNvSpPr>
              <p:nvPr/>
            </p:nvSpPr>
            <p:spPr bwMode="auto">
              <a:xfrm>
                <a:off x="3177" y="2158"/>
                <a:ext cx="12" cy="12"/>
              </a:xfrm>
              <a:custGeom>
                <a:avLst/>
                <a:gdLst>
                  <a:gd name="T0" fmla="*/ 9 w 12"/>
                  <a:gd name="T1" fmla="*/ 0 h 12"/>
                  <a:gd name="T2" fmla="*/ 0 w 12"/>
                  <a:gd name="T3" fmla="*/ 2 h 12"/>
                  <a:gd name="T4" fmla="*/ 3 w 12"/>
                  <a:gd name="T5" fmla="*/ 12 h 12"/>
                  <a:gd name="T6" fmla="*/ 12 w 12"/>
                  <a:gd name="T7" fmla="*/ 10 h 12"/>
                  <a:gd name="T8" fmla="*/ 9 w 12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9" y="0"/>
                    </a:moveTo>
                    <a:lnTo>
                      <a:pt x="0" y="2"/>
                    </a:lnTo>
                    <a:lnTo>
                      <a:pt x="3" y="12"/>
                    </a:lnTo>
                    <a:lnTo>
                      <a:pt x="12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03" name="Freeform 187"/>
              <p:cNvSpPr>
                <a:spLocks/>
              </p:cNvSpPr>
              <p:nvPr/>
            </p:nvSpPr>
            <p:spPr bwMode="auto">
              <a:xfrm>
                <a:off x="3182" y="2178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2 h 13"/>
                  <a:gd name="T4" fmla="*/ 3 w 12"/>
                  <a:gd name="T5" fmla="*/ 13 h 13"/>
                  <a:gd name="T6" fmla="*/ 12 w 12"/>
                  <a:gd name="T7" fmla="*/ 10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2"/>
                    </a:lnTo>
                    <a:lnTo>
                      <a:pt x="3" y="13"/>
                    </a:lnTo>
                    <a:lnTo>
                      <a:pt x="12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04" name="Freeform 188"/>
              <p:cNvSpPr>
                <a:spLocks/>
              </p:cNvSpPr>
              <p:nvPr/>
            </p:nvSpPr>
            <p:spPr bwMode="auto">
              <a:xfrm>
                <a:off x="3187" y="2197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3 h 13"/>
                  <a:gd name="T4" fmla="*/ 3 w 12"/>
                  <a:gd name="T5" fmla="*/ 13 h 13"/>
                  <a:gd name="T6" fmla="*/ 12 w 12"/>
                  <a:gd name="T7" fmla="*/ 10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3"/>
                    </a:lnTo>
                    <a:lnTo>
                      <a:pt x="3" y="13"/>
                    </a:lnTo>
                    <a:lnTo>
                      <a:pt x="12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05" name="Freeform 189"/>
              <p:cNvSpPr>
                <a:spLocks/>
              </p:cNvSpPr>
              <p:nvPr/>
            </p:nvSpPr>
            <p:spPr bwMode="auto">
              <a:xfrm>
                <a:off x="3192" y="2217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3 h 13"/>
                  <a:gd name="T4" fmla="*/ 2 w 13"/>
                  <a:gd name="T5" fmla="*/ 4 h 13"/>
                  <a:gd name="T6" fmla="*/ 4 w 13"/>
                  <a:gd name="T7" fmla="*/ 13 h 13"/>
                  <a:gd name="T8" fmla="*/ 13 w 13"/>
                  <a:gd name="T9" fmla="*/ 10 h 13"/>
                  <a:gd name="T10" fmla="*/ 12 w 13"/>
                  <a:gd name="T11" fmla="*/ 4 h 13"/>
                  <a:gd name="T12" fmla="*/ 9 w 13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"/>
                  <a:gd name="T22" fmla="*/ 0 h 13"/>
                  <a:gd name="T23" fmla="*/ 13 w 13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" h="13">
                    <a:moveTo>
                      <a:pt x="9" y="0"/>
                    </a:moveTo>
                    <a:lnTo>
                      <a:pt x="0" y="3"/>
                    </a:lnTo>
                    <a:lnTo>
                      <a:pt x="2" y="4"/>
                    </a:lnTo>
                    <a:lnTo>
                      <a:pt x="4" y="13"/>
                    </a:lnTo>
                    <a:lnTo>
                      <a:pt x="13" y="10"/>
                    </a:lnTo>
                    <a:lnTo>
                      <a:pt x="12" y="4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06" name="Freeform 190"/>
              <p:cNvSpPr>
                <a:spLocks/>
              </p:cNvSpPr>
              <p:nvPr/>
            </p:nvSpPr>
            <p:spPr bwMode="auto">
              <a:xfrm>
                <a:off x="3199" y="2236"/>
                <a:ext cx="11" cy="13"/>
              </a:xfrm>
              <a:custGeom>
                <a:avLst/>
                <a:gdLst>
                  <a:gd name="T0" fmla="*/ 9 w 11"/>
                  <a:gd name="T1" fmla="*/ 0 h 13"/>
                  <a:gd name="T2" fmla="*/ 0 w 11"/>
                  <a:gd name="T3" fmla="*/ 3 h 13"/>
                  <a:gd name="T4" fmla="*/ 2 w 11"/>
                  <a:gd name="T5" fmla="*/ 13 h 13"/>
                  <a:gd name="T6" fmla="*/ 11 w 11"/>
                  <a:gd name="T7" fmla="*/ 11 h 13"/>
                  <a:gd name="T8" fmla="*/ 9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9" y="0"/>
                    </a:moveTo>
                    <a:lnTo>
                      <a:pt x="0" y="3"/>
                    </a:lnTo>
                    <a:lnTo>
                      <a:pt x="2" y="13"/>
                    </a:lnTo>
                    <a:lnTo>
                      <a:pt x="11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07" name="Freeform 191"/>
              <p:cNvSpPr>
                <a:spLocks/>
              </p:cNvSpPr>
              <p:nvPr/>
            </p:nvSpPr>
            <p:spPr bwMode="auto">
              <a:xfrm>
                <a:off x="3205" y="2257"/>
                <a:ext cx="12" cy="11"/>
              </a:xfrm>
              <a:custGeom>
                <a:avLst/>
                <a:gdLst>
                  <a:gd name="T0" fmla="*/ 9 w 12"/>
                  <a:gd name="T1" fmla="*/ 0 h 11"/>
                  <a:gd name="T2" fmla="*/ 0 w 12"/>
                  <a:gd name="T3" fmla="*/ 2 h 11"/>
                  <a:gd name="T4" fmla="*/ 3 w 12"/>
                  <a:gd name="T5" fmla="*/ 11 h 11"/>
                  <a:gd name="T6" fmla="*/ 12 w 12"/>
                  <a:gd name="T7" fmla="*/ 9 h 11"/>
                  <a:gd name="T8" fmla="*/ 9 w 12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9" y="0"/>
                    </a:moveTo>
                    <a:lnTo>
                      <a:pt x="0" y="2"/>
                    </a:lnTo>
                    <a:lnTo>
                      <a:pt x="3" y="11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08" name="Freeform 192"/>
              <p:cNvSpPr>
                <a:spLocks/>
              </p:cNvSpPr>
              <p:nvPr/>
            </p:nvSpPr>
            <p:spPr bwMode="auto">
              <a:xfrm>
                <a:off x="3211" y="2276"/>
                <a:ext cx="12" cy="11"/>
              </a:xfrm>
              <a:custGeom>
                <a:avLst/>
                <a:gdLst>
                  <a:gd name="T0" fmla="*/ 9 w 12"/>
                  <a:gd name="T1" fmla="*/ 0 h 11"/>
                  <a:gd name="T2" fmla="*/ 0 w 12"/>
                  <a:gd name="T3" fmla="*/ 2 h 11"/>
                  <a:gd name="T4" fmla="*/ 3 w 12"/>
                  <a:gd name="T5" fmla="*/ 11 h 11"/>
                  <a:gd name="T6" fmla="*/ 12 w 12"/>
                  <a:gd name="T7" fmla="*/ 9 h 11"/>
                  <a:gd name="T8" fmla="*/ 9 w 12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9" y="0"/>
                    </a:moveTo>
                    <a:lnTo>
                      <a:pt x="0" y="2"/>
                    </a:lnTo>
                    <a:lnTo>
                      <a:pt x="3" y="11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09" name="Freeform 193"/>
              <p:cNvSpPr>
                <a:spLocks/>
              </p:cNvSpPr>
              <p:nvPr/>
            </p:nvSpPr>
            <p:spPr bwMode="auto">
              <a:xfrm>
                <a:off x="3217" y="2295"/>
                <a:ext cx="12" cy="13"/>
              </a:xfrm>
              <a:custGeom>
                <a:avLst/>
                <a:gdLst>
                  <a:gd name="T0" fmla="*/ 8 w 12"/>
                  <a:gd name="T1" fmla="*/ 0 h 13"/>
                  <a:gd name="T2" fmla="*/ 0 w 12"/>
                  <a:gd name="T3" fmla="*/ 2 h 13"/>
                  <a:gd name="T4" fmla="*/ 3 w 12"/>
                  <a:gd name="T5" fmla="*/ 13 h 13"/>
                  <a:gd name="T6" fmla="*/ 12 w 12"/>
                  <a:gd name="T7" fmla="*/ 10 h 13"/>
                  <a:gd name="T8" fmla="*/ 8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8" y="0"/>
                    </a:moveTo>
                    <a:lnTo>
                      <a:pt x="0" y="2"/>
                    </a:lnTo>
                    <a:lnTo>
                      <a:pt x="3" y="13"/>
                    </a:lnTo>
                    <a:lnTo>
                      <a:pt x="12" y="1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10" name="Freeform 194"/>
              <p:cNvSpPr>
                <a:spLocks/>
              </p:cNvSpPr>
              <p:nvPr/>
            </p:nvSpPr>
            <p:spPr bwMode="auto">
              <a:xfrm>
                <a:off x="3224" y="2314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2 h 13"/>
                  <a:gd name="T4" fmla="*/ 3 w 12"/>
                  <a:gd name="T5" fmla="*/ 13 h 13"/>
                  <a:gd name="T6" fmla="*/ 12 w 12"/>
                  <a:gd name="T7" fmla="*/ 10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2"/>
                    </a:lnTo>
                    <a:lnTo>
                      <a:pt x="3" y="13"/>
                    </a:lnTo>
                    <a:lnTo>
                      <a:pt x="12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11" name="Freeform 195"/>
              <p:cNvSpPr>
                <a:spLocks/>
              </p:cNvSpPr>
              <p:nvPr/>
            </p:nvSpPr>
            <p:spPr bwMode="auto">
              <a:xfrm>
                <a:off x="3230" y="2333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3 h 13"/>
                  <a:gd name="T4" fmla="*/ 4 w 13"/>
                  <a:gd name="T5" fmla="*/ 13 h 13"/>
                  <a:gd name="T6" fmla="*/ 13 w 13"/>
                  <a:gd name="T7" fmla="*/ 10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3"/>
                    </a:lnTo>
                    <a:lnTo>
                      <a:pt x="4" y="13"/>
                    </a:lnTo>
                    <a:lnTo>
                      <a:pt x="13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12" name="Freeform 196"/>
              <p:cNvSpPr>
                <a:spLocks/>
              </p:cNvSpPr>
              <p:nvPr/>
            </p:nvSpPr>
            <p:spPr bwMode="auto">
              <a:xfrm>
                <a:off x="3237" y="2352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3 h 13"/>
                  <a:gd name="T4" fmla="*/ 1 w 13"/>
                  <a:gd name="T5" fmla="*/ 5 h 13"/>
                  <a:gd name="T6" fmla="*/ 4 w 13"/>
                  <a:gd name="T7" fmla="*/ 13 h 13"/>
                  <a:gd name="T8" fmla="*/ 13 w 13"/>
                  <a:gd name="T9" fmla="*/ 9 h 13"/>
                  <a:gd name="T10" fmla="*/ 11 w 13"/>
                  <a:gd name="T11" fmla="*/ 5 h 13"/>
                  <a:gd name="T12" fmla="*/ 9 w 13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"/>
                  <a:gd name="T22" fmla="*/ 0 h 13"/>
                  <a:gd name="T23" fmla="*/ 13 w 13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" h="13">
                    <a:moveTo>
                      <a:pt x="9" y="0"/>
                    </a:moveTo>
                    <a:lnTo>
                      <a:pt x="0" y="3"/>
                    </a:lnTo>
                    <a:lnTo>
                      <a:pt x="1" y="5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11" y="5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13" name="Freeform 197"/>
              <p:cNvSpPr>
                <a:spLocks/>
              </p:cNvSpPr>
              <p:nvPr/>
            </p:nvSpPr>
            <p:spPr bwMode="auto">
              <a:xfrm>
                <a:off x="3244" y="2371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4 h 13"/>
                  <a:gd name="T4" fmla="*/ 4 w 13"/>
                  <a:gd name="T5" fmla="*/ 13 h 13"/>
                  <a:gd name="T6" fmla="*/ 13 w 13"/>
                  <a:gd name="T7" fmla="*/ 9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14" name="Freeform 198"/>
              <p:cNvSpPr>
                <a:spLocks/>
              </p:cNvSpPr>
              <p:nvPr/>
            </p:nvSpPr>
            <p:spPr bwMode="auto">
              <a:xfrm>
                <a:off x="3252" y="2390"/>
                <a:ext cx="11" cy="13"/>
              </a:xfrm>
              <a:custGeom>
                <a:avLst/>
                <a:gdLst>
                  <a:gd name="T0" fmla="*/ 9 w 11"/>
                  <a:gd name="T1" fmla="*/ 0 h 13"/>
                  <a:gd name="T2" fmla="*/ 0 w 11"/>
                  <a:gd name="T3" fmla="*/ 4 h 13"/>
                  <a:gd name="T4" fmla="*/ 3 w 11"/>
                  <a:gd name="T5" fmla="*/ 13 h 13"/>
                  <a:gd name="T6" fmla="*/ 11 w 11"/>
                  <a:gd name="T7" fmla="*/ 9 h 13"/>
                  <a:gd name="T8" fmla="*/ 9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9" y="0"/>
                    </a:moveTo>
                    <a:lnTo>
                      <a:pt x="0" y="4"/>
                    </a:lnTo>
                    <a:lnTo>
                      <a:pt x="3" y="13"/>
                    </a:lnTo>
                    <a:lnTo>
                      <a:pt x="11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15" name="Freeform 199"/>
              <p:cNvSpPr>
                <a:spLocks/>
              </p:cNvSpPr>
              <p:nvPr/>
            </p:nvSpPr>
            <p:spPr bwMode="auto">
              <a:xfrm>
                <a:off x="3258" y="2409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4 h 13"/>
                  <a:gd name="T4" fmla="*/ 4 w 13"/>
                  <a:gd name="T5" fmla="*/ 13 h 13"/>
                  <a:gd name="T6" fmla="*/ 13 w 13"/>
                  <a:gd name="T7" fmla="*/ 9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16" name="Freeform 200"/>
              <p:cNvSpPr>
                <a:spLocks/>
              </p:cNvSpPr>
              <p:nvPr/>
            </p:nvSpPr>
            <p:spPr bwMode="auto">
              <a:xfrm>
                <a:off x="3266" y="2428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4 h 13"/>
                  <a:gd name="T4" fmla="*/ 4 w 13"/>
                  <a:gd name="T5" fmla="*/ 13 h 13"/>
                  <a:gd name="T6" fmla="*/ 13 w 13"/>
                  <a:gd name="T7" fmla="*/ 9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17" name="Freeform 201"/>
              <p:cNvSpPr>
                <a:spLocks/>
              </p:cNvSpPr>
              <p:nvPr/>
            </p:nvSpPr>
            <p:spPr bwMode="auto">
              <a:xfrm>
                <a:off x="3274" y="2447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4 h 13"/>
                  <a:gd name="T4" fmla="*/ 3 w 12"/>
                  <a:gd name="T5" fmla="*/ 13 h 13"/>
                  <a:gd name="T6" fmla="*/ 12 w 12"/>
                  <a:gd name="T7" fmla="*/ 9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4"/>
                    </a:lnTo>
                    <a:lnTo>
                      <a:pt x="3" y="13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18" name="Freeform 202"/>
              <p:cNvSpPr>
                <a:spLocks/>
              </p:cNvSpPr>
              <p:nvPr/>
            </p:nvSpPr>
            <p:spPr bwMode="auto">
              <a:xfrm>
                <a:off x="3281" y="2465"/>
                <a:ext cx="13" cy="14"/>
              </a:xfrm>
              <a:custGeom>
                <a:avLst/>
                <a:gdLst>
                  <a:gd name="T0" fmla="*/ 9 w 13"/>
                  <a:gd name="T1" fmla="*/ 0 h 14"/>
                  <a:gd name="T2" fmla="*/ 0 w 13"/>
                  <a:gd name="T3" fmla="*/ 4 h 14"/>
                  <a:gd name="T4" fmla="*/ 4 w 13"/>
                  <a:gd name="T5" fmla="*/ 14 h 14"/>
                  <a:gd name="T6" fmla="*/ 13 w 13"/>
                  <a:gd name="T7" fmla="*/ 10 h 14"/>
                  <a:gd name="T8" fmla="*/ 9 w 13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4"/>
                  <a:gd name="T17" fmla="*/ 13 w 13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4">
                    <a:moveTo>
                      <a:pt x="9" y="0"/>
                    </a:moveTo>
                    <a:lnTo>
                      <a:pt x="0" y="4"/>
                    </a:lnTo>
                    <a:lnTo>
                      <a:pt x="4" y="14"/>
                    </a:lnTo>
                    <a:lnTo>
                      <a:pt x="13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19" name="Freeform 203"/>
              <p:cNvSpPr>
                <a:spLocks/>
              </p:cNvSpPr>
              <p:nvPr/>
            </p:nvSpPr>
            <p:spPr bwMode="auto">
              <a:xfrm>
                <a:off x="3289" y="2484"/>
                <a:ext cx="11" cy="10"/>
              </a:xfrm>
              <a:custGeom>
                <a:avLst/>
                <a:gdLst>
                  <a:gd name="T0" fmla="*/ 9 w 11"/>
                  <a:gd name="T1" fmla="*/ 0 h 10"/>
                  <a:gd name="T2" fmla="*/ 0 w 11"/>
                  <a:gd name="T3" fmla="*/ 4 h 10"/>
                  <a:gd name="T4" fmla="*/ 2 w 11"/>
                  <a:gd name="T5" fmla="*/ 10 h 10"/>
                  <a:gd name="T6" fmla="*/ 11 w 11"/>
                  <a:gd name="T7" fmla="*/ 7 h 10"/>
                  <a:gd name="T8" fmla="*/ 9 w 1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0"/>
                  <a:gd name="T17" fmla="*/ 11 w 1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0">
                    <a:moveTo>
                      <a:pt x="9" y="0"/>
                    </a:moveTo>
                    <a:lnTo>
                      <a:pt x="0" y="4"/>
                    </a:lnTo>
                    <a:lnTo>
                      <a:pt x="2" y="10"/>
                    </a:lnTo>
                    <a:lnTo>
                      <a:pt x="11" y="7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020" name="Freeform 204"/>
              <p:cNvSpPr>
                <a:spLocks/>
              </p:cNvSpPr>
              <p:nvPr/>
            </p:nvSpPr>
            <p:spPr bwMode="auto">
              <a:xfrm>
                <a:off x="3255" y="2475"/>
                <a:ext cx="78" cy="96"/>
              </a:xfrm>
              <a:custGeom>
                <a:avLst/>
                <a:gdLst>
                  <a:gd name="T0" fmla="*/ 0 w 78"/>
                  <a:gd name="T1" fmla="*/ 33 h 96"/>
                  <a:gd name="T2" fmla="*/ 72 w 78"/>
                  <a:gd name="T3" fmla="*/ 96 h 96"/>
                  <a:gd name="T4" fmla="*/ 78 w 78"/>
                  <a:gd name="T5" fmla="*/ 0 h 96"/>
                  <a:gd name="T6" fmla="*/ 0 w 78"/>
                  <a:gd name="T7" fmla="*/ 33 h 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8"/>
                  <a:gd name="T13" fmla="*/ 0 h 96"/>
                  <a:gd name="T14" fmla="*/ 78 w 78"/>
                  <a:gd name="T15" fmla="*/ 96 h 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8" h="96">
                    <a:moveTo>
                      <a:pt x="0" y="33"/>
                    </a:moveTo>
                    <a:lnTo>
                      <a:pt x="72" y="96"/>
                    </a:lnTo>
                    <a:lnTo>
                      <a:pt x="78" y="0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46" name="Group 205"/>
            <p:cNvGrpSpPr>
              <a:grpSpLocks/>
            </p:cNvGrpSpPr>
            <p:nvPr/>
          </p:nvGrpSpPr>
          <p:grpSpPr bwMode="auto">
            <a:xfrm>
              <a:off x="3038" y="1329"/>
              <a:ext cx="184" cy="1242"/>
              <a:chOff x="3038" y="1329"/>
              <a:chExt cx="184" cy="1242"/>
            </a:xfrm>
          </p:grpSpPr>
          <p:sp>
            <p:nvSpPr>
              <p:cNvPr id="103899" name="Freeform 206"/>
              <p:cNvSpPr>
                <a:spLocks/>
              </p:cNvSpPr>
              <p:nvPr/>
            </p:nvSpPr>
            <p:spPr bwMode="auto">
              <a:xfrm>
                <a:off x="3187" y="1329"/>
                <a:ext cx="13" cy="12"/>
              </a:xfrm>
              <a:custGeom>
                <a:avLst/>
                <a:gdLst>
                  <a:gd name="T0" fmla="*/ 13 w 13"/>
                  <a:gd name="T1" fmla="*/ 4 h 12"/>
                  <a:gd name="T2" fmla="*/ 4 w 13"/>
                  <a:gd name="T3" fmla="*/ 0 h 12"/>
                  <a:gd name="T4" fmla="*/ 0 w 13"/>
                  <a:gd name="T5" fmla="*/ 9 h 12"/>
                  <a:gd name="T6" fmla="*/ 9 w 13"/>
                  <a:gd name="T7" fmla="*/ 12 h 12"/>
                  <a:gd name="T8" fmla="*/ 13 w 13"/>
                  <a:gd name="T9" fmla="*/ 4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2"/>
                  <a:gd name="T17" fmla="*/ 13 w 13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2">
                    <a:moveTo>
                      <a:pt x="13" y="4"/>
                    </a:moveTo>
                    <a:lnTo>
                      <a:pt x="4" y="0"/>
                    </a:lnTo>
                    <a:lnTo>
                      <a:pt x="0" y="9"/>
                    </a:lnTo>
                    <a:lnTo>
                      <a:pt x="9" y="12"/>
                    </a:lnTo>
                    <a:lnTo>
                      <a:pt x="13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00" name="Freeform 207"/>
              <p:cNvSpPr>
                <a:spLocks/>
              </p:cNvSpPr>
              <p:nvPr/>
            </p:nvSpPr>
            <p:spPr bwMode="auto">
              <a:xfrm>
                <a:off x="3180" y="1347"/>
                <a:ext cx="12" cy="14"/>
              </a:xfrm>
              <a:custGeom>
                <a:avLst/>
                <a:gdLst>
                  <a:gd name="T0" fmla="*/ 12 w 12"/>
                  <a:gd name="T1" fmla="*/ 3 h 14"/>
                  <a:gd name="T2" fmla="*/ 4 w 12"/>
                  <a:gd name="T3" fmla="*/ 0 h 14"/>
                  <a:gd name="T4" fmla="*/ 0 w 12"/>
                  <a:gd name="T5" fmla="*/ 10 h 14"/>
                  <a:gd name="T6" fmla="*/ 9 w 12"/>
                  <a:gd name="T7" fmla="*/ 14 h 14"/>
                  <a:gd name="T8" fmla="*/ 12 w 12"/>
                  <a:gd name="T9" fmla="*/ 3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12" y="3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01" name="Freeform 208"/>
              <p:cNvSpPr>
                <a:spLocks/>
              </p:cNvSpPr>
              <p:nvPr/>
            </p:nvSpPr>
            <p:spPr bwMode="auto">
              <a:xfrm>
                <a:off x="3172" y="1366"/>
                <a:ext cx="13" cy="14"/>
              </a:xfrm>
              <a:custGeom>
                <a:avLst/>
                <a:gdLst>
                  <a:gd name="T0" fmla="*/ 13 w 13"/>
                  <a:gd name="T1" fmla="*/ 3 h 14"/>
                  <a:gd name="T2" fmla="*/ 4 w 13"/>
                  <a:gd name="T3" fmla="*/ 0 h 14"/>
                  <a:gd name="T4" fmla="*/ 0 w 13"/>
                  <a:gd name="T5" fmla="*/ 10 h 14"/>
                  <a:gd name="T6" fmla="*/ 9 w 13"/>
                  <a:gd name="T7" fmla="*/ 14 h 14"/>
                  <a:gd name="T8" fmla="*/ 13 w 13"/>
                  <a:gd name="T9" fmla="*/ 3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4"/>
                  <a:gd name="T17" fmla="*/ 13 w 13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4">
                    <a:moveTo>
                      <a:pt x="13" y="3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3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02" name="Freeform 209"/>
              <p:cNvSpPr>
                <a:spLocks/>
              </p:cNvSpPr>
              <p:nvPr/>
            </p:nvSpPr>
            <p:spPr bwMode="auto">
              <a:xfrm>
                <a:off x="3166" y="1385"/>
                <a:ext cx="11" cy="14"/>
              </a:xfrm>
              <a:custGeom>
                <a:avLst/>
                <a:gdLst>
                  <a:gd name="T0" fmla="*/ 11 w 11"/>
                  <a:gd name="T1" fmla="*/ 4 h 14"/>
                  <a:gd name="T2" fmla="*/ 2 w 11"/>
                  <a:gd name="T3" fmla="*/ 0 h 14"/>
                  <a:gd name="T4" fmla="*/ 0 w 11"/>
                  <a:gd name="T5" fmla="*/ 10 h 14"/>
                  <a:gd name="T6" fmla="*/ 9 w 11"/>
                  <a:gd name="T7" fmla="*/ 14 h 14"/>
                  <a:gd name="T8" fmla="*/ 11 w 11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4"/>
                  <a:gd name="T17" fmla="*/ 11 w 11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4">
                    <a:moveTo>
                      <a:pt x="11" y="4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1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03" name="Freeform 210"/>
              <p:cNvSpPr>
                <a:spLocks/>
              </p:cNvSpPr>
              <p:nvPr/>
            </p:nvSpPr>
            <p:spPr bwMode="auto">
              <a:xfrm>
                <a:off x="3158" y="1404"/>
                <a:ext cx="13" cy="14"/>
              </a:xfrm>
              <a:custGeom>
                <a:avLst/>
                <a:gdLst>
                  <a:gd name="T0" fmla="*/ 13 w 13"/>
                  <a:gd name="T1" fmla="*/ 4 h 14"/>
                  <a:gd name="T2" fmla="*/ 4 w 13"/>
                  <a:gd name="T3" fmla="*/ 0 h 14"/>
                  <a:gd name="T4" fmla="*/ 3 w 13"/>
                  <a:gd name="T5" fmla="*/ 4 h 14"/>
                  <a:gd name="T6" fmla="*/ 0 w 13"/>
                  <a:gd name="T7" fmla="*/ 10 h 14"/>
                  <a:gd name="T8" fmla="*/ 9 w 13"/>
                  <a:gd name="T9" fmla="*/ 14 h 14"/>
                  <a:gd name="T10" fmla="*/ 13 w 13"/>
                  <a:gd name="T11" fmla="*/ 4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14"/>
                  <a:gd name="T20" fmla="*/ 13 w 13"/>
                  <a:gd name="T21" fmla="*/ 14 h 1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14">
                    <a:moveTo>
                      <a:pt x="13" y="4"/>
                    </a:moveTo>
                    <a:lnTo>
                      <a:pt x="4" y="0"/>
                    </a:lnTo>
                    <a:lnTo>
                      <a:pt x="3" y="4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3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04" name="Freeform 211"/>
              <p:cNvSpPr>
                <a:spLocks/>
              </p:cNvSpPr>
              <p:nvPr/>
            </p:nvSpPr>
            <p:spPr bwMode="auto">
              <a:xfrm>
                <a:off x="3152" y="1423"/>
                <a:ext cx="11" cy="14"/>
              </a:xfrm>
              <a:custGeom>
                <a:avLst/>
                <a:gdLst>
                  <a:gd name="T0" fmla="*/ 11 w 11"/>
                  <a:gd name="T1" fmla="*/ 4 h 14"/>
                  <a:gd name="T2" fmla="*/ 2 w 11"/>
                  <a:gd name="T3" fmla="*/ 0 h 14"/>
                  <a:gd name="T4" fmla="*/ 0 w 11"/>
                  <a:gd name="T5" fmla="*/ 10 h 14"/>
                  <a:gd name="T6" fmla="*/ 9 w 11"/>
                  <a:gd name="T7" fmla="*/ 14 h 14"/>
                  <a:gd name="T8" fmla="*/ 11 w 11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4"/>
                  <a:gd name="T17" fmla="*/ 11 w 11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4">
                    <a:moveTo>
                      <a:pt x="11" y="4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1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05" name="Freeform 212"/>
              <p:cNvSpPr>
                <a:spLocks/>
              </p:cNvSpPr>
              <p:nvPr/>
            </p:nvSpPr>
            <p:spPr bwMode="auto">
              <a:xfrm>
                <a:off x="3144" y="1442"/>
                <a:ext cx="13" cy="14"/>
              </a:xfrm>
              <a:custGeom>
                <a:avLst/>
                <a:gdLst>
                  <a:gd name="T0" fmla="*/ 13 w 13"/>
                  <a:gd name="T1" fmla="*/ 4 h 14"/>
                  <a:gd name="T2" fmla="*/ 4 w 13"/>
                  <a:gd name="T3" fmla="*/ 0 h 14"/>
                  <a:gd name="T4" fmla="*/ 0 w 13"/>
                  <a:gd name="T5" fmla="*/ 10 h 14"/>
                  <a:gd name="T6" fmla="*/ 9 w 13"/>
                  <a:gd name="T7" fmla="*/ 14 h 14"/>
                  <a:gd name="T8" fmla="*/ 13 w 13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4"/>
                  <a:gd name="T17" fmla="*/ 13 w 13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4">
                    <a:moveTo>
                      <a:pt x="13" y="4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3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06" name="Freeform 213"/>
              <p:cNvSpPr>
                <a:spLocks/>
              </p:cNvSpPr>
              <p:nvPr/>
            </p:nvSpPr>
            <p:spPr bwMode="auto">
              <a:xfrm>
                <a:off x="3138" y="1461"/>
                <a:ext cx="11" cy="14"/>
              </a:xfrm>
              <a:custGeom>
                <a:avLst/>
                <a:gdLst>
                  <a:gd name="T0" fmla="*/ 11 w 11"/>
                  <a:gd name="T1" fmla="*/ 4 h 14"/>
                  <a:gd name="T2" fmla="*/ 2 w 11"/>
                  <a:gd name="T3" fmla="*/ 0 h 14"/>
                  <a:gd name="T4" fmla="*/ 0 w 11"/>
                  <a:gd name="T5" fmla="*/ 10 h 14"/>
                  <a:gd name="T6" fmla="*/ 9 w 11"/>
                  <a:gd name="T7" fmla="*/ 14 h 14"/>
                  <a:gd name="T8" fmla="*/ 11 w 11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4"/>
                  <a:gd name="T17" fmla="*/ 11 w 11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4">
                    <a:moveTo>
                      <a:pt x="11" y="4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1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07" name="Freeform 214"/>
              <p:cNvSpPr>
                <a:spLocks/>
              </p:cNvSpPr>
              <p:nvPr/>
            </p:nvSpPr>
            <p:spPr bwMode="auto">
              <a:xfrm>
                <a:off x="3130" y="1480"/>
                <a:ext cx="13" cy="14"/>
              </a:xfrm>
              <a:custGeom>
                <a:avLst/>
                <a:gdLst>
                  <a:gd name="T0" fmla="*/ 13 w 13"/>
                  <a:gd name="T1" fmla="*/ 4 h 14"/>
                  <a:gd name="T2" fmla="*/ 4 w 13"/>
                  <a:gd name="T3" fmla="*/ 0 h 14"/>
                  <a:gd name="T4" fmla="*/ 3 w 13"/>
                  <a:gd name="T5" fmla="*/ 5 h 14"/>
                  <a:gd name="T6" fmla="*/ 0 w 13"/>
                  <a:gd name="T7" fmla="*/ 11 h 14"/>
                  <a:gd name="T8" fmla="*/ 9 w 13"/>
                  <a:gd name="T9" fmla="*/ 14 h 14"/>
                  <a:gd name="T10" fmla="*/ 13 w 13"/>
                  <a:gd name="T11" fmla="*/ 5 h 14"/>
                  <a:gd name="T12" fmla="*/ 13 w 13"/>
                  <a:gd name="T13" fmla="*/ 4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"/>
                  <a:gd name="T22" fmla="*/ 0 h 14"/>
                  <a:gd name="T23" fmla="*/ 13 w 13"/>
                  <a:gd name="T24" fmla="*/ 14 h 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" h="14">
                    <a:moveTo>
                      <a:pt x="13" y="4"/>
                    </a:moveTo>
                    <a:lnTo>
                      <a:pt x="4" y="0"/>
                    </a:lnTo>
                    <a:lnTo>
                      <a:pt x="3" y="5"/>
                    </a:lnTo>
                    <a:lnTo>
                      <a:pt x="0" y="11"/>
                    </a:lnTo>
                    <a:lnTo>
                      <a:pt x="9" y="14"/>
                    </a:lnTo>
                    <a:lnTo>
                      <a:pt x="13" y="5"/>
                    </a:lnTo>
                    <a:lnTo>
                      <a:pt x="13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08" name="Freeform 215"/>
              <p:cNvSpPr>
                <a:spLocks/>
              </p:cNvSpPr>
              <p:nvPr/>
            </p:nvSpPr>
            <p:spPr bwMode="auto">
              <a:xfrm>
                <a:off x="3124" y="1500"/>
                <a:ext cx="13" cy="13"/>
              </a:xfrm>
              <a:custGeom>
                <a:avLst/>
                <a:gdLst>
                  <a:gd name="T0" fmla="*/ 13 w 13"/>
                  <a:gd name="T1" fmla="*/ 3 h 13"/>
                  <a:gd name="T2" fmla="*/ 4 w 13"/>
                  <a:gd name="T3" fmla="*/ 0 h 13"/>
                  <a:gd name="T4" fmla="*/ 0 w 13"/>
                  <a:gd name="T5" fmla="*/ 11 h 13"/>
                  <a:gd name="T6" fmla="*/ 9 w 13"/>
                  <a:gd name="T7" fmla="*/ 13 h 13"/>
                  <a:gd name="T8" fmla="*/ 13 w 13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13" y="3"/>
                    </a:moveTo>
                    <a:lnTo>
                      <a:pt x="4" y="0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3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09" name="Freeform 216"/>
              <p:cNvSpPr>
                <a:spLocks/>
              </p:cNvSpPr>
              <p:nvPr/>
            </p:nvSpPr>
            <p:spPr bwMode="auto">
              <a:xfrm>
                <a:off x="3118" y="1519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2 w 11"/>
                  <a:gd name="T3" fmla="*/ 0 h 13"/>
                  <a:gd name="T4" fmla="*/ 0 w 11"/>
                  <a:gd name="T5" fmla="*/ 11 h 13"/>
                  <a:gd name="T6" fmla="*/ 8 w 11"/>
                  <a:gd name="T7" fmla="*/ 13 h 13"/>
                  <a:gd name="T8" fmla="*/ 11 w 11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3"/>
                    </a:moveTo>
                    <a:lnTo>
                      <a:pt x="2" y="0"/>
                    </a:lnTo>
                    <a:lnTo>
                      <a:pt x="0" y="11"/>
                    </a:lnTo>
                    <a:lnTo>
                      <a:pt x="8" y="13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10" name="Freeform 217"/>
              <p:cNvSpPr>
                <a:spLocks/>
              </p:cNvSpPr>
              <p:nvPr/>
            </p:nvSpPr>
            <p:spPr bwMode="auto">
              <a:xfrm>
                <a:off x="3111" y="1539"/>
                <a:ext cx="12" cy="12"/>
              </a:xfrm>
              <a:custGeom>
                <a:avLst/>
                <a:gdLst>
                  <a:gd name="T0" fmla="*/ 12 w 12"/>
                  <a:gd name="T1" fmla="*/ 2 h 12"/>
                  <a:gd name="T2" fmla="*/ 3 w 12"/>
                  <a:gd name="T3" fmla="*/ 0 h 12"/>
                  <a:gd name="T4" fmla="*/ 0 w 12"/>
                  <a:gd name="T5" fmla="*/ 10 h 12"/>
                  <a:gd name="T6" fmla="*/ 9 w 12"/>
                  <a:gd name="T7" fmla="*/ 12 h 12"/>
                  <a:gd name="T8" fmla="*/ 12 w 12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12" y="2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2"/>
                    </a:ln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11" name="Freeform 218"/>
              <p:cNvSpPr>
                <a:spLocks/>
              </p:cNvSpPr>
              <p:nvPr/>
            </p:nvSpPr>
            <p:spPr bwMode="auto">
              <a:xfrm>
                <a:off x="3105" y="1559"/>
                <a:ext cx="11" cy="11"/>
              </a:xfrm>
              <a:custGeom>
                <a:avLst/>
                <a:gdLst>
                  <a:gd name="T0" fmla="*/ 11 w 11"/>
                  <a:gd name="T1" fmla="*/ 2 h 11"/>
                  <a:gd name="T2" fmla="*/ 2 w 11"/>
                  <a:gd name="T3" fmla="*/ 0 h 11"/>
                  <a:gd name="T4" fmla="*/ 1 w 11"/>
                  <a:gd name="T5" fmla="*/ 4 h 11"/>
                  <a:gd name="T6" fmla="*/ 0 w 11"/>
                  <a:gd name="T7" fmla="*/ 9 h 11"/>
                  <a:gd name="T8" fmla="*/ 9 w 11"/>
                  <a:gd name="T9" fmla="*/ 11 h 11"/>
                  <a:gd name="T10" fmla="*/ 11 w 11"/>
                  <a:gd name="T11" fmla="*/ 4 h 11"/>
                  <a:gd name="T12" fmla="*/ 11 w 11"/>
                  <a:gd name="T13" fmla="*/ 2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"/>
                  <a:gd name="T22" fmla="*/ 0 h 11"/>
                  <a:gd name="T23" fmla="*/ 11 w 11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" h="11">
                    <a:moveTo>
                      <a:pt x="11" y="2"/>
                    </a:moveTo>
                    <a:lnTo>
                      <a:pt x="2" y="0"/>
                    </a:lnTo>
                    <a:lnTo>
                      <a:pt x="1" y="4"/>
                    </a:lnTo>
                    <a:lnTo>
                      <a:pt x="0" y="9"/>
                    </a:lnTo>
                    <a:lnTo>
                      <a:pt x="9" y="11"/>
                    </a:lnTo>
                    <a:lnTo>
                      <a:pt x="11" y="4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12" name="Freeform 219"/>
              <p:cNvSpPr>
                <a:spLocks/>
              </p:cNvSpPr>
              <p:nvPr/>
            </p:nvSpPr>
            <p:spPr bwMode="auto">
              <a:xfrm>
                <a:off x="3098" y="1578"/>
                <a:ext cx="13" cy="11"/>
              </a:xfrm>
              <a:custGeom>
                <a:avLst/>
                <a:gdLst>
                  <a:gd name="T0" fmla="*/ 13 w 13"/>
                  <a:gd name="T1" fmla="*/ 2 h 11"/>
                  <a:gd name="T2" fmla="*/ 4 w 13"/>
                  <a:gd name="T3" fmla="*/ 0 h 11"/>
                  <a:gd name="T4" fmla="*/ 0 w 13"/>
                  <a:gd name="T5" fmla="*/ 9 h 11"/>
                  <a:gd name="T6" fmla="*/ 9 w 13"/>
                  <a:gd name="T7" fmla="*/ 11 h 11"/>
                  <a:gd name="T8" fmla="*/ 13 w 13"/>
                  <a:gd name="T9" fmla="*/ 2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1"/>
                  <a:gd name="T17" fmla="*/ 13 w 13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1">
                    <a:moveTo>
                      <a:pt x="13" y="2"/>
                    </a:moveTo>
                    <a:lnTo>
                      <a:pt x="4" y="0"/>
                    </a:lnTo>
                    <a:lnTo>
                      <a:pt x="0" y="9"/>
                    </a:lnTo>
                    <a:lnTo>
                      <a:pt x="9" y="11"/>
                    </a:ln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13" name="Freeform 220"/>
              <p:cNvSpPr>
                <a:spLocks/>
              </p:cNvSpPr>
              <p:nvPr/>
            </p:nvSpPr>
            <p:spPr bwMode="auto">
              <a:xfrm>
                <a:off x="3093" y="1597"/>
                <a:ext cx="12" cy="13"/>
              </a:xfrm>
              <a:custGeom>
                <a:avLst/>
                <a:gdLst>
                  <a:gd name="T0" fmla="*/ 12 w 12"/>
                  <a:gd name="T1" fmla="*/ 3 h 13"/>
                  <a:gd name="T2" fmla="*/ 3 w 12"/>
                  <a:gd name="T3" fmla="*/ 0 h 13"/>
                  <a:gd name="T4" fmla="*/ 0 w 12"/>
                  <a:gd name="T5" fmla="*/ 10 h 13"/>
                  <a:gd name="T6" fmla="*/ 9 w 12"/>
                  <a:gd name="T7" fmla="*/ 13 h 13"/>
                  <a:gd name="T8" fmla="*/ 12 w 12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3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14" name="Freeform 221"/>
              <p:cNvSpPr>
                <a:spLocks/>
              </p:cNvSpPr>
              <p:nvPr/>
            </p:nvSpPr>
            <p:spPr bwMode="auto">
              <a:xfrm>
                <a:off x="3087" y="1616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3 w 11"/>
                  <a:gd name="T3" fmla="*/ 0 h 13"/>
                  <a:gd name="T4" fmla="*/ 0 w 11"/>
                  <a:gd name="T5" fmla="*/ 10 h 13"/>
                  <a:gd name="T6" fmla="*/ 9 w 11"/>
                  <a:gd name="T7" fmla="*/ 13 h 13"/>
                  <a:gd name="T8" fmla="*/ 11 w 11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3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15" name="Freeform 222"/>
              <p:cNvSpPr>
                <a:spLocks/>
              </p:cNvSpPr>
              <p:nvPr/>
            </p:nvSpPr>
            <p:spPr bwMode="auto">
              <a:xfrm>
                <a:off x="3082" y="1636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3 w 11"/>
                  <a:gd name="T3" fmla="*/ 0 h 13"/>
                  <a:gd name="T4" fmla="*/ 1 w 11"/>
                  <a:gd name="T5" fmla="*/ 4 h 13"/>
                  <a:gd name="T6" fmla="*/ 0 w 11"/>
                  <a:gd name="T7" fmla="*/ 11 h 13"/>
                  <a:gd name="T8" fmla="*/ 9 w 11"/>
                  <a:gd name="T9" fmla="*/ 13 h 13"/>
                  <a:gd name="T10" fmla="*/ 11 w 11"/>
                  <a:gd name="T11" fmla="*/ 4 h 13"/>
                  <a:gd name="T12" fmla="*/ 11 w 11"/>
                  <a:gd name="T13" fmla="*/ 3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"/>
                  <a:gd name="T22" fmla="*/ 0 h 13"/>
                  <a:gd name="T23" fmla="*/ 11 w 11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" h="13">
                    <a:moveTo>
                      <a:pt x="11" y="3"/>
                    </a:moveTo>
                    <a:lnTo>
                      <a:pt x="3" y="0"/>
                    </a:lnTo>
                    <a:lnTo>
                      <a:pt x="1" y="4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1" y="4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16" name="Freeform 223"/>
              <p:cNvSpPr>
                <a:spLocks/>
              </p:cNvSpPr>
              <p:nvPr/>
            </p:nvSpPr>
            <p:spPr bwMode="auto">
              <a:xfrm>
                <a:off x="3077" y="1655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2 w 11"/>
                  <a:gd name="T3" fmla="*/ 0 h 13"/>
                  <a:gd name="T4" fmla="*/ 0 w 11"/>
                  <a:gd name="T5" fmla="*/ 11 h 13"/>
                  <a:gd name="T6" fmla="*/ 9 w 11"/>
                  <a:gd name="T7" fmla="*/ 13 h 13"/>
                  <a:gd name="T8" fmla="*/ 11 w 11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3"/>
                    </a:moveTo>
                    <a:lnTo>
                      <a:pt x="2" y="0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17" name="Freeform 224"/>
              <p:cNvSpPr>
                <a:spLocks/>
              </p:cNvSpPr>
              <p:nvPr/>
            </p:nvSpPr>
            <p:spPr bwMode="auto">
              <a:xfrm>
                <a:off x="3072" y="1676"/>
                <a:ext cx="11" cy="13"/>
              </a:xfrm>
              <a:custGeom>
                <a:avLst/>
                <a:gdLst>
                  <a:gd name="T0" fmla="*/ 11 w 11"/>
                  <a:gd name="T1" fmla="*/ 2 h 13"/>
                  <a:gd name="T2" fmla="*/ 2 w 11"/>
                  <a:gd name="T3" fmla="*/ 0 h 13"/>
                  <a:gd name="T4" fmla="*/ 0 w 11"/>
                  <a:gd name="T5" fmla="*/ 10 h 13"/>
                  <a:gd name="T6" fmla="*/ 9 w 11"/>
                  <a:gd name="T7" fmla="*/ 13 h 13"/>
                  <a:gd name="T8" fmla="*/ 11 w 11"/>
                  <a:gd name="T9" fmla="*/ 2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2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18" name="Freeform 225"/>
              <p:cNvSpPr>
                <a:spLocks/>
              </p:cNvSpPr>
              <p:nvPr/>
            </p:nvSpPr>
            <p:spPr bwMode="auto">
              <a:xfrm>
                <a:off x="3067" y="1695"/>
                <a:ext cx="11" cy="13"/>
              </a:xfrm>
              <a:custGeom>
                <a:avLst/>
                <a:gdLst>
                  <a:gd name="T0" fmla="*/ 11 w 11"/>
                  <a:gd name="T1" fmla="*/ 2 h 13"/>
                  <a:gd name="T2" fmla="*/ 2 w 11"/>
                  <a:gd name="T3" fmla="*/ 0 h 13"/>
                  <a:gd name="T4" fmla="*/ 0 w 11"/>
                  <a:gd name="T5" fmla="*/ 10 h 13"/>
                  <a:gd name="T6" fmla="*/ 9 w 11"/>
                  <a:gd name="T7" fmla="*/ 13 h 13"/>
                  <a:gd name="T8" fmla="*/ 11 w 11"/>
                  <a:gd name="T9" fmla="*/ 2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2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19" name="Freeform 226"/>
              <p:cNvSpPr>
                <a:spLocks/>
              </p:cNvSpPr>
              <p:nvPr/>
            </p:nvSpPr>
            <p:spPr bwMode="auto">
              <a:xfrm>
                <a:off x="3062" y="1715"/>
                <a:ext cx="11" cy="12"/>
              </a:xfrm>
              <a:custGeom>
                <a:avLst/>
                <a:gdLst>
                  <a:gd name="T0" fmla="*/ 11 w 11"/>
                  <a:gd name="T1" fmla="*/ 3 h 12"/>
                  <a:gd name="T2" fmla="*/ 2 w 11"/>
                  <a:gd name="T3" fmla="*/ 0 h 12"/>
                  <a:gd name="T4" fmla="*/ 1 w 11"/>
                  <a:gd name="T5" fmla="*/ 3 h 12"/>
                  <a:gd name="T6" fmla="*/ 0 w 11"/>
                  <a:gd name="T7" fmla="*/ 10 h 12"/>
                  <a:gd name="T8" fmla="*/ 9 w 11"/>
                  <a:gd name="T9" fmla="*/ 12 h 12"/>
                  <a:gd name="T10" fmla="*/ 11 w 11"/>
                  <a:gd name="T11" fmla="*/ 3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1"/>
                  <a:gd name="T19" fmla="*/ 0 h 12"/>
                  <a:gd name="T20" fmla="*/ 11 w 11"/>
                  <a:gd name="T21" fmla="*/ 12 h 1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1" h="12">
                    <a:moveTo>
                      <a:pt x="11" y="3"/>
                    </a:moveTo>
                    <a:lnTo>
                      <a:pt x="2" y="0"/>
                    </a:lnTo>
                    <a:lnTo>
                      <a:pt x="1" y="3"/>
                    </a:lnTo>
                    <a:lnTo>
                      <a:pt x="0" y="10"/>
                    </a:lnTo>
                    <a:lnTo>
                      <a:pt x="9" y="12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20" name="Freeform 227"/>
              <p:cNvSpPr>
                <a:spLocks/>
              </p:cNvSpPr>
              <p:nvPr/>
            </p:nvSpPr>
            <p:spPr bwMode="auto">
              <a:xfrm>
                <a:off x="3058" y="1736"/>
                <a:ext cx="11" cy="11"/>
              </a:xfrm>
              <a:custGeom>
                <a:avLst/>
                <a:gdLst>
                  <a:gd name="T0" fmla="*/ 11 w 11"/>
                  <a:gd name="T1" fmla="*/ 1 h 11"/>
                  <a:gd name="T2" fmla="*/ 2 w 11"/>
                  <a:gd name="T3" fmla="*/ 0 h 11"/>
                  <a:gd name="T4" fmla="*/ 0 w 11"/>
                  <a:gd name="T5" fmla="*/ 10 h 11"/>
                  <a:gd name="T6" fmla="*/ 9 w 11"/>
                  <a:gd name="T7" fmla="*/ 11 h 11"/>
                  <a:gd name="T8" fmla="*/ 11 w 11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11" y="1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21" name="Freeform 228"/>
              <p:cNvSpPr>
                <a:spLocks/>
              </p:cNvSpPr>
              <p:nvPr/>
            </p:nvSpPr>
            <p:spPr bwMode="auto">
              <a:xfrm>
                <a:off x="3054" y="1756"/>
                <a:ext cx="11" cy="11"/>
              </a:xfrm>
              <a:custGeom>
                <a:avLst/>
                <a:gdLst>
                  <a:gd name="T0" fmla="*/ 11 w 11"/>
                  <a:gd name="T1" fmla="*/ 1 h 11"/>
                  <a:gd name="T2" fmla="*/ 3 w 11"/>
                  <a:gd name="T3" fmla="*/ 0 h 11"/>
                  <a:gd name="T4" fmla="*/ 1 w 11"/>
                  <a:gd name="T5" fmla="*/ 0 h 11"/>
                  <a:gd name="T6" fmla="*/ 0 w 11"/>
                  <a:gd name="T7" fmla="*/ 10 h 11"/>
                  <a:gd name="T8" fmla="*/ 10 w 11"/>
                  <a:gd name="T9" fmla="*/ 11 h 11"/>
                  <a:gd name="T10" fmla="*/ 11 w 11"/>
                  <a:gd name="T11" fmla="*/ 0 h 11"/>
                  <a:gd name="T12" fmla="*/ 11 w 11"/>
                  <a:gd name="T13" fmla="*/ 1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"/>
                  <a:gd name="T22" fmla="*/ 0 h 11"/>
                  <a:gd name="T23" fmla="*/ 11 w 11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" h="11">
                    <a:moveTo>
                      <a:pt x="11" y="1"/>
                    </a:moveTo>
                    <a:lnTo>
                      <a:pt x="3" y="0"/>
                    </a:lnTo>
                    <a:lnTo>
                      <a:pt x="1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1" y="0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22" name="Freeform 229"/>
              <p:cNvSpPr>
                <a:spLocks/>
              </p:cNvSpPr>
              <p:nvPr/>
            </p:nvSpPr>
            <p:spPr bwMode="auto">
              <a:xfrm>
                <a:off x="3050" y="1775"/>
                <a:ext cx="12" cy="11"/>
              </a:xfrm>
              <a:custGeom>
                <a:avLst/>
                <a:gdLst>
                  <a:gd name="T0" fmla="*/ 12 w 12"/>
                  <a:gd name="T1" fmla="*/ 1 h 11"/>
                  <a:gd name="T2" fmla="*/ 2 w 12"/>
                  <a:gd name="T3" fmla="*/ 0 h 11"/>
                  <a:gd name="T4" fmla="*/ 0 w 12"/>
                  <a:gd name="T5" fmla="*/ 10 h 11"/>
                  <a:gd name="T6" fmla="*/ 10 w 12"/>
                  <a:gd name="T7" fmla="*/ 11 h 11"/>
                  <a:gd name="T8" fmla="*/ 12 w 12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12" y="1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23" name="Freeform 230"/>
              <p:cNvSpPr>
                <a:spLocks/>
              </p:cNvSpPr>
              <p:nvPr/>
            </p:nvSpPr>
            <p:spPr bwMode="auto">
              <a:xfrm>
                <a:off x="3048" y="1795"/>
                <a:ext cx="11" cy="12"/>
              </a:xfrm>
              <a:custGeom>
                <a:avLst/>
                <a:gdLst>
                  <a:gd name="T0" fmla="*/ 11 w 11"/>
                  <a:gd name="T1" fmla="*/ 2 h 12"/>
                  <a:gd name="T2" fmla="*/ 1 w 11"/>
                  <a:gd name="T3" fmla="*/ 0 h 12"/>
                  <a:gd name="T4" fmla="*/ 0 w 11"/>
                  <a:gd name="T5" fmla="*/ 10 h 12"/>
                  <a:gd name="T6" fmla="*/ 10 w 11"/>
                  <a:gd name="T7" fmla="*/ 12 h 12"/>
                  <a:gd name="T8" fmla="*/ 11 w 11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11" y="2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2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24" name="Freeform 231"/>
              <p:cNvSpPr>
                <a:spLocks/>
              </p:cNvSpPr>
              <p:nvPr/>
            </p:nvSpPr>
            <p:spPr bwMode="auto">
              <a:xfrm>
                <a:off x="3044" y="1816"/>
                <a:ext cx="11" cy="11"/>
              </a:xfrm>
              <a:custGeom>
                <a:avLst/>
                <a:gdLst>
                  <a:gd name="T0" fmla="*/ 11 w 11"/>
                  <a:gd name="T1" fmla="*/ 1 h 11"/>
                  <a:gd name="T2" fmla="*/ 1 w 11"/>
                  <a:gd name="T3" fmla="*/ 0 h 11"/>
                  <a:gd name="T4" fmla="*/ 0 w 11"/>
                  <a:gd name="T5" fmla="*/ 10 h 11"/>
                  <a:gd name="T6" fmla="*/ 10 w 11"/>
                  <a:gd name="T7" fmla="*/ 11 h 11"/>
                  <a:gd name="T8" fmla="*/ 11 w 11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11" y="1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25" name="Freeform 232"/>
              <p:cNvSpPr>
                <a:spLocks/>
              </p:cNvSpPr>
              <p:nvPr/>
            </p:nvSpPr>
            <p:spPr bwMode="auto">
              <a:xfrm>
                <a:off x="3043" y="1836"/>
                <a:ext cx="10" cy="11"/>
              </a:xfrm>
              <a:custGeom>
                <a:avLst/>
                <a:gdLst>
                  <a:gd name="T0" fmla="*/ 10 w 10"/>
                  <a:gd name="T1" fmla="*/ 1 h 11"/>
                  <a:gd name="T2" fmla="*/ 0 w 10"/>
                  <a:gd name="T3" fmla="*/ 0 h 11"/>
                  <a:gd name="T4" fmla="*/ 0 w 10"/>
                  <a:gd name="T5" fmla="*/ 10 h 11"/>
                  <a:gd name="T6" fmla="*/ 10 w 10"/>
                  <a:gd name="T7" fmla="*/ 11 h 11"/>
                  <a:gd name="T8" fmla="*/ 10 w 10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1"/>
                  <a:gd name="T17" fmla="*/ 10 w 10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1">
                    <a:moveTo>
                      <a:pt x="10" y="1"/>
                    </a:moveTo>
                    <a:lnTo>
                      <a:pt x="0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26" name="Freeform 233"/>
              <p:cNvSpPr>
                <a:spLocks/>
              </p:cNvSpPr>
              <p:nvPr/>
            </p:nvSpPr>
            <p:spPr bwMode="auto">
              <a:xfrm>
                <a:off x="3040" y="1856"/>
                <a:ext cx="12" cy="12"/>
              </a:xfrm>
              <a:custGeom>
                <a:avLst/>
                <a:gdLst>
                  <a:gd name="T0" fmla="*/ 12 w 12"/>
                  <a:gd name="T1" fmla="*/ 2 h 12"/>
                  <a:gd name="T2" fmla="*/ 1 w 12"/>
                  <a:gd name="T3" fmla="*/ 0 h 12"/>
                  <a:gd name="T4" fmla="*/ 0 w 12"/>
                  <a:gd name="T5" fmla="*/ 10 h 12"/>
                  <a:gd name="T6" fmla="*/ 10 w 12"/>
                  <a:gd name="T7" fmla="*/ 12 h 12"/>
                  <a:gd name="T8" fmla="*/ 12 w 12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12" y="2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2"/>
                    </a:ln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27" name="Freeform 234"/>
              <p:cNvSpPr>
                <a:spLocks/>
              </p:cNvSpPr>
              <p:nvPr/>
            </p:nvSpPr>
            <p:spPr bwMode="auto">
              <a:xfrm>
                <a:off x="3039" y="1877"/>
                <a:ext cx="11" cy="10"/>
              </a:xfrm>
              <a:custGeom>
                <a:avLst/>
                <a:gdLst>
                  <a:gd name="T0" fmla="*/ 11 w 11"/>
                  <a:gd name="T1" fmla="*/ 0 h 10"/>
                  <a:gd name="T2" fmla="*/ 1 w 11"/>
                  <a:gd name="T3" fmla="*/ 0 h 10"/>
                  <a:gd name="T4" fmla="*/ 0 w 11"/>
                  <a:gd name="T5" fmla="*/ 10 h 10"/>
                  <a:gd name="T6" fmla="*/ 10 w 11"/>
                  <a:gd name="T7" fmla="*/ 10 h 10"/>
                  <a:gd name="T8" fmla="*/ 11 w 1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0"/>
                  <a:gd name="T17" fmla="*/ 11 w 1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0">
                    <a:moveTo>
                      <a:pt x="11" y="0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0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28" name="Freeform 235"/>
              <p:cNvSpPr>
                <a:spLocks/>
              </p:cNvSpPr>
              <p:nvPr/>
            </p:nvSpPr>
            <p:spPr bwMode="auto">
              <a:xfrm>
                <a:off x="3038" y="1897"/>
                <a:ext cx="11" cy="10"/>
              </a:xfrm>
              <a:custGeom>
                <a:avLst/>
                <a:gdLst>
                  <a:gd name="T0" fmla="*/ 11 w 11"/>
                  <a:gd name="T1" fmla="*/ 0 h 10"/>
                  <a:gd name="T2" fmla="*/ 1 w 11"/>
                  <a:gd name="T3" fmla="*/ 0 h 10"/>
                  <a:gd name="T4" fmla="*/ 0 w 11"/>
                  <a:gd name="T5" fmla="*/ 10 h 10"/>
                  <a:gd name="T6" fmla="*/ 10 w 11"/>
                  <a:gd name="T7" fmla="*/ 10 h 10"/>
                  <a:gd name="T8" fmla="*/ 11 w 1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0"/>
                  <a:gd name="T17" fmla="*/ 11 w 1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0">
                    <a:moveTo>
                      <a:pt x="11" y="0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0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29" name="Rectangle 236"/>
              <p:cNvSpPr>
                <a:spLocks noChangeArrowheads="1"/>
              </p:cNvSpPr>
              <p:nvPr/>
            </p:nvSpPr>
            <p:spPr bwMode="auto">
              <a:xfrm>
                <a:off x="3038" y="1917"/>
                <a:ext cx="10" cy="10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30" name="Rectangle 237"/>
              <p:cNvSpPr>
                <a:spLocks noChangeArrowheads="1"/>
              </p:cNvSpPr>
              <p:nvPr/>
            </p:nvSpPr>
            <p:spPr bwMode="auto">
              <a:xfrm>
                <a:off x="3038" y="1938"/>
                <a:ext cx="10" cy="10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31" name="Freeform 238"/>
              <p:cNvSpPr>
                <a:spLocks/>
              </p:cNvSpPr>
              <p:nvPr/>
            </p:nvSpPr>
            <p:spPr bwMode="auto">
              <a:xfrm>
                <a:off x="3038" y="1958"/>
                <a:ext cx="11" cy="10"/>
              </a:xfrm>
              <a:custGeom>
                <a:avLst/>
                <a:gdLst>
                  <a:gd name="T0" fmla="*/ 10 w 11"/>
                  <a:gd name="T1" fmla="*/ 0 h 10"/>
                  <a:gd name="T2" fmla="*/ 0 w 11"/>
                  <a:gd name="T3" fmla="*/ 0 h 10"/>
                  <a:gd name="T4" fmla="*/ 1 w 11"/>
                  <a:gd name="T5" fmla="*/ 10 h 10"/>
                  <a:gd name="T6" fmla="*/ 11 w 11"/>
                  <a:gd name="T7" fmla="*/ 10 h 10"/>
                  <a:gd name="T8" fmla="*/ 10 w 1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0"/>
                  <a:gd name="T17" fmla="*/ 11 w 1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0">
                    <a:moveTo>
                      <a:pt x="10" y="0"/>
                    </a:moveTo>
                    <a:lnTo>
                      <a:pt x="0" y="0"/>
                    </a:lnTo>
                    <a:lnTo>
                      <a:pt x="1" y="10"/>
                    </a:lnTo>
                    <a:lnTo>
                      <a:pt x="11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32" name="Freeform 239"/>
              <p:cNvSpPr>
                <a:spLocks/>
              </p:cNvSpPr>
              <p:nvPr/>
            </p:nvSpPr>
            <p:spPr bwMode="auto">
              <a:xfrm>
                <a:off x="3039" y="1978"/>
                <a:ext cx="10" cy="12"/>
              </a:xfrm>
              <a:custGeom>
                <a:avLst/>
                <a:gdLst>
                  <a:gd name="T0" fmla="*/ 10 w 10"/>
                  <a:gd name="T1" fmla="*/ 0 h 12"/>
                  <a:gd name="T2" fmla="*/ 0 w 10"/>
                  <a:gd name="T3" fmla="*/ 0 h 12"/>
                  <a:gd name="T4" fmla="*/ 0 w 10"/>
                  <a:gd name="T5" fmla="*/ 7 h 12"/>
                  <a:gd name="T6" fmla="*/ 0 w 10"/>
                  <a:gd name="T7" fmla="*/ 12 h 12"/>
                  <a:gd name="T8" fmla="*/ 10 w 10"/>
                  <a:gd name="T9" fmla="*/ 10 h 12"/>
                  <a:gd name="T10" fmla="*/ 10 w 10"/>
                  <a:gd name="T11" fmla="*/ 7 h 12"/>
                  <a:gd name="T12" fmla="*/ 10 w 10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"/>
                  <a:gd name="T22" fmla="*/ 0 h 12"/>
                  <a:gd name="T23" fmla="*/ 10 w 10"/>
                  <a:gd name="T24" fmla="*/ 12 h 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" h="12">
                    <a:moveTo>
                      <a:pt x="10" y="0"/>
                    </a:moveTo>
                    <a:lnTo>
                      <a:pt x="0" y="0"/>
                    </a:lnTo>
                    <a:lnTo>
                      <a:pt x="0" y="7"/>
                    </a:lnTo>
                    <a:lnTo>
                      <a:pt x="0" y="12"/>
                    </a:lnTo>
                    <a:lnTo>
                      <a:pt x="10" y="10"/>
                    </a:lnTo>
                    <a:lnTo>
                      <a:pt x="10" y="7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33" name="Freeform 240"/>
              <p:cNvSpPr>
                <a:spLocks/>
              </p:cNvSpPr>
              <p:nvPr/>
            </p:nvSpPr>
            <p:spPr bwMode="auto">
              <a:xfrm>
                <a:off x="3040" y="1999"/>
                <a:ext cx="10" cy="11"/>
              </a:xfrm>
              <a:custGeom>
                <a:avLst/>
                <a:gdLst>
                  <a:gd name="T0" fmla="*/ 10 w 10"/>
                  <a:gd name="T1" fmla="*/ 0 h 11"/>
                  <a:gd name="T2" fmla="*/ 0 w 10"/>
                  <a:gd name="T3" fmla="*/ 1 h 11"/>
                  <a:gd name="T4" fmla="*/ 0 w 10"/>
                  <a:gd name="T5" fmla="*/ 11 h 11"/>
                  <a:gd name="T6" fmla="*/ 10 w 10"/>
                  <a:gd name="T7" fmla="*/ 10 h 11"/>
                  <a:gd name="T8" fmla="*/ 10 w 10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1"/>
                  <a:gd name="T17" fmla="*/ 10 w 10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1">
                    <a:moveTo>
                      <a:pt x="10" y="0"/>
                    </a:moveTo>
                    <a:lnTo>
                      <a:pt x="0" y="1"/>
                    </a:lnTo>
                    <a:lnTo>
                      <a:pt x="0" y="11"/>
                    </a:lnTo>
                    <a:lnTo>
                      <a:pt x="10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34" name="Freeform 241"/>
              <p:cNvSpPr>
                <a:spLocks/>
              </p:cNvSpPr>
              <p:nvPr/>
            </p:nvSpPr>
            <p:spPr bwMode="auto">
              <a:xfrm>
                <a:off x="3041" y="2019"/>
                <a:ext cx="12" cy="11"/>
              </a:xfrm>
              <a:custGeom>
                <a:avLst/>
                <a:gdLst>
                  <a:gd name="T0" fmla="*/ 11 w 12"/>
                  <a:gd name="T1" fmla="*/ 0 h 11"/>
                  <a:gd name="T2" fmla="*/ 0 w 12"/>
                  <a:gd name="T3" fmla="*/ 1 h 11"/>
                  <a:gd name="T4" fmla="*/ 2 w 12"/>
                  <a:gd name="T5" fmla="*/ 11 h 11"/>
                  <a:gd name="T6" fmla="*/ 12 w 12"/>
                  <a:gd name="T7" fmla="*/ 10 h 11"/>
                  <a:gd name="T8" fmla="*/ 11 w 12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11" y="0"/>
                    </a:moveTo>
                    <a:lnTo>
                      <a:pt x="0" y="1"/>
                    </a:lnTo>
                    <a:lnTo>
                      <a:pt x="2" y="11"/>
                    </a:lnTo>
                    <a:lnTo>
                      <a:pt x="12" y="10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35" name="Freeform 242"/>
              <p:cNvSpPr>
                <a:spLocks/>
              </p:cNvSpPr>
              <p:nvPr/>
            </p:nvSpPr>
            <p:spPr bwMode="auto">
              <a:xfrm>
                <a:off x="3044" y="2039"/>
                <a:ext cx="11" cy="12"/>
              </a:xfrm>
              <a:custGeom>
                <a:avLst/>
                <a:gdLst>
                  <a:gd name="T0" fmla="*/ 10 w 11"/>
                  <a:gd name="T1" fmla="*/ 0 h 12"/>
                  <a:gd name="T2" fmla="*/ 0 w 11"/>
                  <a:gd name="T3" fmla="*/ 2 h 12"/>
                  <a:gd name="T4" fmla="*/ 1 w 11"/>
                  <a:gd name="T5" fmla="*/ 12 h 12"/>
                  <a:gd name="T6" fmla="*/ 11 w 11"/>
                  <a:gd name="T7" fmla="*/ 11 h 12"/>
                  <a:gd name="T8" fmla="*/ 10 w 1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10" y="0"/>
                    </a:moveTo>
                    <a:lnTo>
                      <a:pt x="0" y="2"/>
                    </a:lnTo>
                    <a:lnTo>
                      <a:pt x="1" y="12"/>
                    </a:lnTo>
                    <a:lnTo>
                      <a:pt x="11" y="11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36" name="Freeform 243"/>
              <p:cNvSpPr>
                <a:spLocks/>
              </p:cNvSpPr>
              <p:nvPr/>
            </p:nvSpPr>
            <p:spPr bwMode="auto">
              <a:xfrm>
                <a:off x="3046" y="2058"/>
                <a:ext cx="12" cy="12"/>
              </a:xfrm>
              <a:custGeom>
                <a:avLst/>
                <a:gdLst>
                  <a:gd name="T0" fmla="*/ 9 w 12"/>
                  <a:gd name="T1" fmla="*/ 0 h 12"/>
                  <a:gd name="T2" fmla="*/ 0 w 12"/>
                  <a:gd name="T3" fmla="*/ 2 h 12"/>
                  <a:gd name="T4" fmla="*/ 3 w 12"/>
                  <a:gd name="T5" fmla="*/ 12 h 12"/>
                  <a:gd name="T6" fmla="*/ 12 w 12"/>
                  <a:gd name="T7" fmla="*/ 11 h 12"/>
                  <a:gd name="T8" fmla="*/ 9 w 12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9" y="0"/>
                    </a:moveTo>
                    <a:lnTo>
                      <a:pt x="0" y="2"/>
                    </a:lnTo>
                    <a:lnTo>
                      <a:pt x="3" y="12"/>
                    </a:lnTo>
                    <a:lnTo>
                      <a:pt x="12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37" name="Freeform 244"/>
              <p:cNvSpPr>
                <a:spLocks/>
              </p:cNvSpPr>
              <p:nvPr/>
            </p:nvSpPr>
            <p:spPr bwMode="auto">
              <a:xfrm>
                <a:off x="3050" y="2079"/>
                <a:ext cx="10" cy="11"/>
              </a:xfrm>
              <a:custGeom>
                <a:avLst/>
                <a:gdLst>
                  <a:gd name="T0" fmla="*/ 9 w 10"/>
                  <a:gd name="T1" fmla="*/ 0 h 11"/>
                  <a:gd name="T2" fmla="*/ 0 w 10"/>
                  <a:gd name="T3" fmla="*/ 1 h 11"/>
                  <a:gd name="T4" fmla="*/ 0 w 10"/>
                  <a:gd name="T5" fmla="*/ 7 h 11"/>
                  <a:gd name="T6" fmla="*/ 2 w 10"/>
                  <a:gd name="T7" fmla="*/ 11 h 11"/>
                  <a:gd name="T8" fmla="*/ 10 w 10"/>
                  <a:gd name="T9" fmla="*/ 10 h 11"/>
                  <a:gd name="T10" fmla="*/ 10 w 10"/>
                  <a:gd name="T11" fmla="*/ 7 h 11"/>
                  <a:gd name="T12" fmla="*/ 9 w 10"/>
                  <a:gd name="T13" fmla="*/ 0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"/>
                  <a:gd name="T22" fmla="*/ 0 h 11"/>
                  <a:gd name="T23" fmla="*/ 10 w 10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" h="11">
                    <a:moveTo>
                      <a:pt x="9" y="0"/>
                    </a:moveTo>
                    <a:lnTo>
                      <a:pt x="0" y="1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10" y="10"/>
                    </a:lnTo>
                    <a:lnTo>
                      <a:pt x="10" y="7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38" name="Freeform 245"/>
              <p:cNvSpPr>
                <a:spLocks/>
              </p:cNvSpPr>
              <p:nvPr/>
            </p:nvSpPr>
            <p:spPr bwMode="auto">
              <a:xfrm>
                <a:off x="3054" y="2099"/>
                <a:ext cx="10" cy="12"/>
              </a:xfrm>
              <a:custGeom>
                <a:avLst/>
                <a:gdLst>
                  <a:gd name="T0" fmla="*/ 9 w 10"/>
                  <a:gd name="T1" fmla="*/ 0 h 12"/>
                  <a:gd name="T2" fmla="*/ 0 w 10"/>
                  <a:gd name="T3" fmla="*/ 1 h 12"/>
                  <a:gd name="T4" fmla="*/ 1 w 10"/>
                  <a:gd name="T5" fmla="*/ 12 h 12"/>
                  <a:gd name="T6" fmla="*/ 10 w 10"/>
                  <a:gd name="T7" fmla="*/ 10 h 12"/>
                  <a:gd name="T8" fmla="*/ 9 w 10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2"/>
                  <a:gd name="T17" fmla="*/ 10 w 10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2">
                    <a:moveTo>
                      <a:pt x="9" y="0"/>
                    </a:moveTo>
                    <a:lnTo>
                      <a:pt x="0" y="1"/>
                    </a:lnTo>
                    <a:lnTo>
                      <a:pt x="1" y="12"/>
                    </a:lnTo>
                    <a:lnTo>
                      <a:pt x="10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39" name="Freeform 246"/>
              <p:cNvSpPr>
                <a:spLocks/>
              </p:cNvSpPr>
              <p:nvPr/>
            </p:nvSpPr>
            <p:spPr bwMode="auto">
              <a:xfrm>
                <a:off x="3058" y="2119"/>
                <a:ext cx="10" cy="12"/>
              </a:xfrm>
              <a:custGeom>
                <a:avLst/>
                <a:gdLst>
                  <a:gd name="T0" fmla="*/ 9 w 10"/>
                  <a:gd name="T1" fmla="*/ 0 h 12"/>
                  <a:gd name="T2" fmla="*/ 0 w 10"/>
                  <a:gd name="T3" fmla="*/ 2 h 12"/>
                  <a:gd name="T4" fmla="*/ 1 w 10"/>
                  <a:gd name="T5" fmla="*/ 12 h 12"/>
                  <a:gd name="T6" fmla="*/ 10 w 10"/>
                  <a:gd name="T7" fmla="*/ 11 h 12"/>
                  <a:gd name="T8" fmla="*/ 9 w 10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2"/>
                  <a:gd name="T17" fmla="*/ 10 w 10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2">
                    <a:moveTo>
                      <a:pt x="9" y="0"/>
                    </a:moveTo>
                    <a:lnTo>
                      <a:pt x="0" y="2"/>
                    </a:lnTo>
                    <a:lnTo>
                      <a:pt x="1" y="12"/>
                    </a:lnTo>
                    <a:lnTo>
                      <a:pt x="10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40" name="Freeform 247"/>
              <p:cNvSpPr>
                <a:spLocks/>
              </p:cNvSpPr>
              <p:nvPr/>
            </p:nvSpPr>
            <p:spPr bwMode="auto">
              <a:xfrm>
                <a:off x="3062" y="2138"/>
                <a:ext cx="11" cy="12"/>
              </a:xfrm>
              <a:custGeom>
                <a:avLst/>
                <a:gdLst>
                  <a:gd name="T0" fmla="*/ 9 w 11"/>
                  <a:gd name="T1" fmla="*/ 0 h 12"/>
                  <a:gd name="T2" fmla="*/ 0 w 11"/>
                  <a:gd name="T3" fmla="*/ 2 h 12"/>
                  <a:gd name="T4" fmla="*/ 2 w 11"/>
                  <a:gd name="T5" fmla="*/ 12 h 12"/>
                  <a:gd name="T6" fmla="*/ 11 w 11"/>
                  <a:gd name="T7" fmla="*/ 11 h 12"/>
                  <a:gd name="T8" fmla="*/ 9 w 1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9" y="0"/>
                    </a:moveTo>
                    <a:lnTo>
                      <a:pt x="0" y="2"/>
                    </a:lnTo>
                    <a:lnTo>
                      <a:pt x="2" y="12"/>
                    </a:lnTo>
                    <a:lnTo>
                      <a:pt x="11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41" name="Freeform 248"/>
              <p:cNvSpPr>
                <a:spLocks/>
              </p:cNvSpPr>
              <p:nvPr/>
            </p:nvSpPr>
            <p:spPr bwMode="auto">
              <a:xfrm>
                <a:off x="3065" y="2158"/>
                <a:ext cx="12" cy="12"/>
              </a:xfrm>
              <a:custGeom>
                <a:avLst/>
                <a:gdLst>
                  <a:gd name="T0" fmla="*/ 9 w 12"/>
                  <a:gd name="T1" fmla="*/ 0 h 12"/>
                  <a:gd name="T2" fmla="*/ 0 w 12"/>
                  <a:gd name="T3" fmla="*/ 2 h 12"/>
                  <a:gd name="T4" fmla="*/ 3 w 12"/>
                  <a:gd name="T5" fmla="*/ 12 h 12"/>
                  <a:gd name="T6" fmla="*/ 12 w 12"/>
                  <a:gd name="T7" fmla="*/ 10 h 12"/>
                  <a:gd name="T8" fmla="*/ 9 w 12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9" y="0"/>
                    </a:moveTo>
                    <a:lnTo>
                      <a:pt x="0" y="2"/>
                    </a:lnTo>
                    <a:lnTo>
                      <a:pt x="3" y="12"/>
                    </a:lnTo>
                    <a:lnTo>
                      <a:pt x="12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42" name="Freeform 249"/>
              <p:cNvSpPr>
                <a:spLocks/>
              </p:cNvSpPr>
              <p:nvPr/>
            </p:nvSpPr>
            <p:spPr bwMode="auto">
              <a:xfrm>
                <a:off x="3071" y="2178"/>
                <a:ext cx="11" cy="13"/>
              </a:xfrm>
              <a:custGeom>
                <a:avLst/>
                <a:gdLst>
                  <a:gd name="T0" fmla="*/ 8 w 11"/>
                  <a:gd name="T1" fmla="*/ 0 h 13"/>
                  <a:gd name="T2" fmla="*/ 0 w 11"/>
                  <a:gd name="T3" fmla="*/ 2 h 13"/>
                  <a:gd name="T4" fmla="*/ 2 w 11"/>
                  <a:gd name="T5" fmla="*/ 13 h 13"/>
                  <a:gd name="T6" fmla="*/ 11 w 11"/>
                  <a:gd name="T7" fmla="*/ 10 h 13"/>
                  <a:gd name="T8" fmla="*/ 8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8" y="0"/>
                    </a:moveTo>
                    <a:lnTo>
                      <a:pt x="0" y="2"/>
                    </a:lnTo>
                    <a:lnTo>
                      <a:pt x="2" y="13"/>
                    </a:lnTo>
                    <a:lnTo>
                      <a:pt x="11" y="1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43" name="Freeform 250"/>
              <p:cNvSpPr>
                <a:spLocks/>
              </p:cNvSpPr>
              <p:nvPr/>
            </p:nvSpPr>
            <p:spPr bwMode="auto">
              <a:xfrm>
                <a:off x="3076" y="2197"/>
                <a:ext cx="11" cy="13"/>
              </a:xfrm>
              <a:custGeom>
                <a:avLst/>
                <a:gdLst>
                  <a:gd name="T0" fmla="*/ 9 w 11"/>
                  <a:gd name="T1" fmla="*/ 0 h 13"/>
                  <a:gd name="T2" fmla="*/ 0 w 11"/>
                  <a:gd name="T3" fmla="*/ 3 h 13"/>
                  <a:gd name="T4" fmla="*/ 2 w 11"/>
                  <a:gd name="T5" fmla="*/ 13 h 13"/>
                  <a:gd name="T6" fmla="*/ 11 w 11"/>
                  <a:gd name="T7" fmla="*/ 10 h 13"/>
                  <a:gd name="T8" fmla="*/ 9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9" y="0"/>
                    </a:moveTo>
                    <a:lnTo>
                      <a:pt x="0" y="3"/>
                    </a:lnTo>
                    <a:lnTo>
                      <a:pt x="2" y="13"/>
                    </a:lnTo>
                    <a:lnTo>
                      <a:pt x="11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44" name="Freeform 251"/>
              <p:cNvSpPr>
                <a:spLocks/>
              </p:cNvSpPr>
              <p:nvPr/>
            </p:nvSpPr>
            <p:spPr bwMode="auto">
              <a:xfrm>
                <a:off x="3081" y="2217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3 h 13"/>
                  <a:gd name="T4" fmla="*/ 1 w 12"/>
                  <a:gd name="T5" fmla="*/ 4 h 13"/>
                  <a:gd name="T6" fmla="*/ 4 w 12"/>
                  <a:gd name="T7" fmla="*/ 13 h 13"/>
                  <a:gd name="T8" fmla="*/ 12 w 12"/>
                  <a:gd name="T9" fmla="*/ 10 h 13"/>
                  <a:gd name="T10" fmla="*/ 11 w 12"/>
                  <a:gd name="T11" fmla="*/ 4 h 13"/>
                  <a:gd name="T12" fmla="*/ 9 w 12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"/>
                  <a:gd name="T22" fmla="*/ 0 h 13"/>
                  <a:gd name="T23" fmla="*/ 12 w 12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" h="13">
                    <a:moveTo>
                      <a:pt x="9" y="0"/>
                    </a:moveTo>
                    <a:lnTo>
                      <a:pt x="0" y="3"/>
                    </a:lnTo>
                    <a:lnTo>
                      <a:pt x="1" y="4"/>
                    </a:lnTo>
                    <a:lnTo>
                      <a:pt x="4" y="13"/>
                    </a:lnTo>
                    <a:lnTo>
                      <a:pt x="12" y="10"/>
                    </a:lnTo>
                    <a:lnTo>
                      <a:pt x="11" y="4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45" name="Freeform 252"/>
              <p:cNvSpPr>
                <a:spLocks/>
              </p:cNvSpPr>
              <p:nvPr/>
            </p:nvSpPr>
            <p:spPr bwMode="auto">
              <a:xfrm>
                <a:off x="3087" y="2236"/>
                <a:ext cx="11" cy="13"/>
              </a:xfrm>
              <a:custGeom>
                <a:avLst/>
                <a:gdLst>
                  <a:gd name="T0" fmla="*/ 9 w 11"/>
                  <a:gd name="T1" fmla="*/ 0 h 13"/>
                  <a:gd name="T2" fmla="*/ 0 w 11"/>
                  <a:gd name="T3" fmla="*/ 3 h 13"/>
                  <a:gd name="T4" fmla="*/ 3 w 11"/>
                  <a:gd name="T5" fmla="*/ 13 h 13"/>
                  <a:gd name="T6" fmla="*/ 11 w 11"/>
                  <a:gd name="T7" fmla="*/ 11 h 13"/>
                  <a:gd name="T8" fmla="*/ 9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9" y="0"/>
                    </a:moveTo>
                    <a:lnTo>
                      <a:pt x="0" y="3"/>
                    </a:lnTo>
                    <a:lnTo>
                      <a:pt x="3" y="13"/>
                    </a:lnTo>
                    <a:lnTo>
                      <a:pt x="11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46" name="Freeform 253"/>
              <p:cNvSpPr>
                <a:spLocks/>
              </p:cNvSpPr>
              <p:nvPr/>
            </p:nvSpPr>
            <p:spPr bwMode="auto">
              <a:xfrm>
                <a:off x="3093" y="2257"/>
                <a:ext cx="12" cy="11"/>
              </a:xfrm>
              <a:custGeom>
                <a:avLst/>
                <a:gdLst>
                  <a:gd name="T0" fmla="*/ 9 w 12"/>
                  <a:gd name="T1" fmla="*/ 0 h 11"/>
                  <a:gd name="T2" fmla="*/ 0 w 12"/>
                  <a:gd name="T3" fmla="*/ 2 h 11"/>
                  <a:gd name="T4" fmla="*/ 3 w 12"/>
                  <a:gd name="T5" fmla="*/ 11 h 11"/>
                  <a:gd name="T6" fmla="*/ 12 w 12"/>
                  <a:gd name="T7" fmla="*/ 9 h 11"/>
                  <a:gd name="T8" fmla="*/ 9 w 12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9" y="0"/>
                    </a:moveTo>
                    <a:lnTo>
                      <a:pt x="0" y="2"/>
                    </a:lnTo>
                    <a:lnTo>
                      <a:pt x="3" y="11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47" name="Freeform 254"/>
              <p:cNvSpPr>
                <a:spLocks/>
              </p:cNvSpPr>
              <p:nvPr/>
            </p:nvSpPr>
            <p:spPr bwMode="auto">
              <a:xfrm>
                <a:off x="3100" y="2276"/>
                <a:ext cx="11" cy="11"/>
              </a:xfrm>
              <a:custGeom>
                <a:avLst/>
                <a:gdLst>
                  <a:gd name="T0" fmla="*/ 9 w 11"/>
                  <a:gd name="T1" fmla="*/ 0 h 11"/>
                  <a:gd name="T2" fmla="*/ 0 w 11"/>
                  <a:gd name="T3" fmla="*/ 2 h 11"/>
                  <a:gd name="T4" fmla="*/ 2 w 11"/>
                  <a:gd name="T5" fmla="*/ 11 h 11"/>
                  <a:gd name="T6" fmla="*/ 11 w 11"/>
                  <a:gd name="T7" fmla="*/ 9 h 11"/>
                  <a:gd name="T8" fmla="*/ 9 w 1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9" y="0"/>
                    </a:moveTo>
                    <a:lnTo>
                      <a:pt x="0" y="2"/>
                    </a:lnTo>
                    <a:lnTo>
                      <a:pt x="2" y="11"/>
                    </a:lnTo>
                    <a:lnTo>
                      <a:pt x="11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48" name="Freeform 255"/>
              <p:cNvSpPr>
                <a:spLocks/>
              </p:cNvSpPr>
              <p:nvPr/>
            </p:nvSpPr>
            <p:spPr bwMode="auto">
              <a:xfrm>
                <a:off x="3105" y="2295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2 h 13"/>
                  <a:gd name="T4" fmla="*/ 4 w 13"/>
                  <a:gd name="T5" fmla="*/ 13 h 13"/>
                  <a:gd name="T6" fmla="*/ 13 w 13"/>
                  <a:gd name="T7" fmla="*/ 10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2"/>
                    </a:lnTo>
                    <a:lnTo>
                      <a:pt x="4" y="13"/>
                    </a:lnTo>
                    <a:lnTo>
                      <a:pt x="13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49" name="Freeform 256"/>
              <p:cNvSpPr>
                <a:spLocks/>
              </p:cNvSpPr>
              <p:nvPr/>
            </p:nvSpPr>
            <p:spPr bwMode="auto">
              <a:xfrm>
                <a:off x="3112" y="2314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2 h 13"/>
                  <a:gd name="T4" fmla="*/ 3 w 12"/>
                  <a:gd name="T5" fmla="*/ 13 h 13"/>
                  <a:gd name="T6" fmla="*/ 12 w 12"/>
                  <a:gd name="T7" fmla="*/ 10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2"/>
                    </a:lnTo>
                    <a:lnTo>
                      <a:pt x="3" y="13"/>
                    </a:lnTo>
                    <a:lnTo>
                      <a:pt x="12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50" name="Freeform 257"/>
              <p:cNvSpPr>
                <a:spLocks/>
              </p:cNvSpPr>
              <p:nvPr/>
            </p:nvSpPr>
            <p:spPr bwMode="auto">
              <a:xfrm>
                <a:off x="3119" y="2333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3 h 13"/>
                  <a:gd name="T4" fmla="*/ 4 w 12"/>
                  <a:gd name="T5" fmla="*/ 13 h 13"/>
                  <a:gd name="T6" fmla="*/ 12 w 12"/>
                  <a:gd name="T7" fmla="*/ 10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3"/>
                    </a:lnTo>
                    <a:lnTo>
                      <a:pt x="4" y="13"/>
                    </a:lnTo>
                    <a:lnTo>
                      <a:pt x="12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51" name="Freeform 258"/>
              <p:cNvSpPr>
                <a:spLocks/>
              </p:cNvSpPr>
              <p:nvPr/>
            </p:nvSpPr>
            <p:spPr bwMode="auto">
              <a:xfrm>
                <a:off x="3125" y="2352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3 h 13"/>
                  <a:gd name="T4" fmla="*/ 1 w 13"/>
                  <a:gd name="T5" fmla="*/ 5 h 13"/>
                  <a:gd name="T6" fmla="*/ 4 w 13"/>
                  <a:gd name="T7" fmla="*/ 13 h 13"/>
                  <a:gd name="T8" fmla="*/ 13 w 13"/>
                  <a:gd name="T9" fmla="*/ 9 h 13"/>
                  <a:gd name="T10" fmla="*/ 12 w 13"/>
                  <a:gd name="T11" fmla="*/ 5 h 13"/>
                  <a:gd name="T12" fmla="*/ 9 w 13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"/>
                  <a:gd name="T22" fmla="*/ 0 h 13"/>
                  <a:gd name="T23" fmla="*/ 13 w 13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" h="13">
                    <a:moveTo>
                      <a:pt x="9" y="0"/>
                    </a:moveTo>
                    <a:lnTo>
                      <a:pt x="0" y="3"/>
                    </a:lnTo>
                    <a:lnTo>
                      <a:pt x="1" y="5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12" y="5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52" name="Freeform 259"/>
              <p:cNvSpPr>
                <a:spLocks/>
              </p:cNvSpPr>
              <p:nvPr/>
            </p:nvSpPr>
            <p:spPr bwMode="auto">
              <a:xfrm>
                <a:off x="3133" y="2371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4 h 13"/>
                  <a:gd name="T4" fmla="*/ 4 w 12"/>
                  <a:gd name="T5" fmla="*/ 13 h 13"/>
                  <a:gd name="T6" fmla="*/ 12 w 12"/>
                  <a:gd name="T7" fmla="*/ 9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53" name="Freeform 260"/>
              <p:cNvSpPr>
                <a:spLocks/>
              </p:cNvSpPr>
              <p:nvPr/>
            </p:nvSpPr>
            <p:spPr bwMode="auto">
              <a:xfrm>
                <a:off x="3140" y="2390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4 h 13"/>
                  <a:gd name="T4" fmla="*/ 3 w 12"/>
                  <a:gd name="T5" fmla="*/ 13 h 13"/>
                  <a:gd name="T6" fmla="*/ 12 w 12"/>
                  <a:gd name="T7" fmla="*/ 9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4"/>
                    </a:lnTo>
                    <a:lnTo>
                      <a:pt x="3" y="13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54" name="Freeform 261"/>
              <p:cNvSpPr>
                <a:spLocks/>
              </p:cNvSpPr>
              <p:nvPr/>
            </p:nvSpPr>
            <p:spPr bwMode="auto">
              <a:xfrm>
                <a:off x="3147" y="2409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4 h 13"/>
                  <a:gd name="T4" fmla="*/ 4 w 12"/>
                  <a:gd name="T5" fmla="*/ 13 h 13"/>
                  <a:gd name="T6" fmla="*/ 12 w 12"/>
                  <a:gd name="T7" fmla="*/ 9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55" name="Freeform 262"/>
              <p:cNvSpPr>
                <a:spLocks/>
              </p:cNvSpPr>
              <p:nvPr/>
            </p:nvSpPr>
            <p:spPr bwMode="auto">
              <a:xfrm>
                <a:off x="3154" y="2428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4 h 13"/>
                  <a:gd name="T4" fmla="*/ 4 w 13"/>
                  <a:gd name="T5" fmla="*/ 13 h 13"/>
                  <a:gd name="T6" fmla="*/ 13 w 13"/>
                  <a:gd name="T7" fmla="*/ 9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56" name="Freeform 263"/>
              <p:cNvSpPr>
                <a:spLocks/>
              </p:cNvSpPr>
              <p:nvPr/>
            </p:nvSpPr>
            <p:spPr bwMode="auto">
              <a:xfrm>
                <a:off x="3162" y="2447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4 h 13"/>
                  <a:gd name="T4" fmla="*/ 4 w 13"/>
                  <a:gd name="T5" fmla="*/ 13 h 13"/>
                  <a:gd name="T6" fmla="*/ 13 w 13"/>
                  <a:gd name="T7" fmla="*/ 9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57" name="Freeform 264"/>
              <p:cNvSpPr>
                <a:spLocks/>
              </p:cNvSpPr>
              <p:nvPr/>
            </p:nvSpPr>
            <p:spPr bwMode="auto">
              <a:xfrm>
                <a:off x="3170" y="2465"/>
                <a:ext cx="12" cy="14"/>
              </a:xfrm>
              <a:custGeom>
                <a:avLst/>
                <a:gdLst>
                  <a:gd name="T0" fmla="*/ 8 w 12"/>
                  <a:gd name="T1" fmla="*/ 0 h 14"/>
                  <a:gd name="T2" fmla="*/ 0 w 12"/>
                  <a:gd name="T3" fmla="*/ 4 h 14"/>
                  <a:gd name="T4" fmla="*/ 3 w 12"/>
                  <a:gd name="T5" fmla="*/ 14 h 14"/>
                  <a:gd name="T6" fmla="*/ 12 w 12"/>
                  <a:gd name="T7" fmla="*/ 10 h 14"/>
                  <a:gd name="T8" fmla="*/ 8 w 12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8" y="0"/>
                    </a:moveTo>
                    <a:lnTo>
                      <a:pt x="0" y="4"/>
                    </a:lnTo>
                    <a:lnTo>
                      <a:pt x="3" y="14"/>
                    </a:lnTo>
                    <a:lnTo>
                      <a:pt x="12" y="1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58" name="Freeform 265"/>
              <p:cNvSpPr>
                <a:spLocks/>
              </p:cNvSpPr>
              <p:nvPr/>
            </p:nvSpPr>
            <p:spPr bwMode="auto">
              <a:xfrm>
                <a:off x="3177" y="2484"/>
                <a:ext cx="12" cy="10"/>
              </a:xfrm>
              <a:custGeom>
                <a:avLst/>
                <a:gdLst>
                  <a:gd name="T0" fmla="*/ 9 w 12"/>
                  <a:gd name="T1" fmla="*/ 0 h 10"/>
                  <a:gd name="T2" fmla="*/ 0 w 12"/>
                  <a:gd name="T3" fmla="*/ 4 h 10"/>
                  <a:gd name="T4" fmla="*/ 3 w 12"/>
                  <a:gd name="T5" fmla="*/ 10 h 10"/>
                  <a:gd name="T6" fmla="*/ 12 w 12"/>
                  <a:gd name="T7" fmla="*/ 7 h 10"/>
                  <a:gd name="T8" fmla="*/ 9 w 12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0"/>
                  <a:gd name="T17" fmla="*/ 12 w 12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0">
                    <a:moveTo>
                      <a:pt x="9" y="0"/>
                    </a:moveTo>
                    <a:lnTo>
                      <a:pt x="0" y="4"/>
                    </a:lnTo>
                    <a:lnTo>
                      <a:pt x="3" y="10"/>
                    </a:lnTo>
                    <a:lnTo>
                      <a:pt x="12" y="7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59" name="Freeform 266"/>
              <p:cNvSpPr>
                <a:spLocks/>
              </p:cNvSpPr>
              <p:nvPr/>
            </p:nvSpPr>
            <p:spPr bwMode="auto">
              <a:xfrm>
                <a:off x="3143" y="2475"/>
                <a:ext cx="79" cy="96"/>
              </a:xfrm>
              <a:custGeom>
                <a:avLst/>
                <a:gdLst>
                  <a:gd name="T0" fmla="*/ 0 w 79"/>
                  <a:gd name="T1" fmla="*/ 33 h 96"/>
                  <a:gd name="T2" fmla="*/ 72 w 79"/>
                  <a:gd name="T3" fmla="*/ 96 h 96"/>
                  <a:gd name="T4" fmla="*/ 79 w 79"/>
                  <a:gd name="T5" fmla="*/ 0 h 96"/>
                  <a:gd name="T6" fmla="*/ 0 w 79"/>
                  <a:gd name="T7" fmla="*/ 33 h 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9"/>
                  <a:gd name="T13" fmla="*/ 0 h 96"/>
                  <a:gd name="T14" fmla="*/ 79 w 79"/>
                  <a:gd name="T15" fmla="*/ 96 h 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9" h="96">
                    <a:moveTo>
                      <a:pt x="0" y="33"/>
                    </a:moveTo>
                    <a:lnTo>
                      <a:pt x="72" y="96"/>
                    </a:lnTo>
                    <a:lnTo>
                      <a:pt x="79" y="0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47" name="Group 267"/>
            <p:cNvGrpSpPr>
              <a:grpSpLocks/>
            </p:cNvGrpSpPr>
            <p:nvPr/>
          </p:nvGrpSpPr>
          <p:grpSpPr bwMode="auto">
            <a:xfrm>
              <a:off x="2936" y="1329"/>
              <a:ext cx="184" cy="1242"/>
              <a:chOff x="2936" y="1329"/>
              <a:chExt cx="184" cy="1242"/>
            </a:xfrm>
          </p:grpSpPr>
          <p:sp>
            <p:nvSpPr>
              <p:cNvPr id="103838" name="Freeform 268"/>
              <p:cNvSpPr>
                <a:spLocks/>
              </p:cNvSpPr>
              <p:nvPr/>
            </p:nvSpPr>
            <p:spPr bwMode="auto">
              <a:xfrm>
                <a:off x="3086" y="1329"/>
                <a:ext cx="12" cy="12"/>
              </a:xfrm>
              <a:custGeom>
                <a:avLst/>
                <a:gdLst>
                  <a:gd name="T0" fmla="*/ 12 w 12"/>
                  <a:gd name="T1" fmla="*/ 4 h 12"/>
                  <a:gd name="T2" fmla="*/ 4 w 12"/>
                  <a:gd name="T3" fmla="*/ 0 h 12"/>
                  <a:gd name="T4" fmla="*/ 0 w 12"/>
                  <a:gd name="T5" fmla="*/ 9 h 12"/>
                  <a:gd name="T6" fmla="*/ 9 w 12"/>
                  <a:gd name="T7" fmla="*/ 12 h 12"/>
                  <a:gd name="T8" fmla="*/ 12 w 12"/>
                  <a:gd name="T9" fmla="*/ 4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12" y="4"/>
                    </a:moveTo>
                    <a:lnTo>
                      <a:pt x="4" y="0"/>
                    </a:lnTo>
                    <a:lnTo>
                      <a:pt x="0" y="9"/>
                    </a:lnTo>
                    <a:lnTo>
                      <a:pt x="9" y="12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9" name="Freeform 269"/>
              <p:cNvSpPr>
                <a:spLocks/>
              </p:cNvSpPr>
              <p:nvPr/>
            </p:nvSpPr>
            <p:spPr bwMode="auto">
              <a:xfrm>
                <a:off x="3078" y="1347"/>
                <a:ext cx="13" cy="14"/>
              </a:xfrm>
              <a:custGeom>
                <a:avLst/>
                <a:gdLst>
                  <a:gd name="T0" fmla="*/ 13 w 13"/>
                  <a:gd name="T1" fmla="*/ 3 h 14"/>
                  <a:gd name="T2" fmla="*/ 4 w 13"/>
                  <a:gd name="T3" fmla="*/ 0 h 14"/>
                  <a:gd name="T4" fmla="*/ 0 w 13"/>
                  <a:gd name="T5" fmla="*/ 10 h 14"/>
                  <a:gd name="T6" fmla="*/ 9 w 13"/>
                  <a:gd name="T7" fmla="*/ 14 h 14"/>
                  <a:gd name="T8" fmla="*/ 13 w 13"/>
                  <a:gd name="T9" fmla="*/ 3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4"/>
                  <a:gd name="T17" fmla="*/ 13 w 13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4">
                    <a:moveTo>
                      <a:pt x="13" y="3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3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0" name="Freeform 270"/>
              <p:cNvSpPr>
                <a:spLocks/>
              </p:cNvSpPr>
              <p:nvPr/>
            </p:nvSpPr>
            <p:spPr bwMode="auto">
              <a:xfrm>
                <a:off x="3071" y="1366"/>
                <a:ext cx="12" cy="14"/>
              </a:xfrm>
              <a:custGeom>
                <a:avLst/>
                <a:gdLst>
                  <a:gd name="T0" fmla="*/ 12 w 12"/>
                  <a:gd name="T1" fmla="*/ 3 h 14"/>
                  <a:gd name="T2" fmla="*/ 3 w 12"/>
                  <a:gd name="T3" fmla="*/ 0 h 14"/>
                  <a:gd name="T4" fmla="*/ 0 w 12"/>
                  <a:gd name="T5" fmla="*/ 10 h 14"/>
                  <a:gd name="T6" fmla="*/ 8 w 12"/>
                  <a:gd name="T7" fmla="*/ 14 h 14"/>
                  <a:gd name="T8" fmla="*/ 12 w 12"/>
                  <a:gd name="T9" fmla="*/ 3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12" y="3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8" y="14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1" name="Freeform 271"/>
              <p:cNvSpPr>
                <a:spLocks/>
              </p:cNvSpPr>
              <p:nvPr/>
            </p:nvSpPr>
            <p:spPr bwMode="auto">
              <a:xfrm>
                <a:off x="3064" y="1385"/>
                <a:ext cx="12" cy="14"/>
              </a:xfrm>
              <a:custGeom>
                <a:avLst/>
                <a:gdLst>
                  <a:gd name="T0" fmla="*/ 12 w 12"/>
                  <a:gd name="T1" fmla="*/ 4 h 14"/>
                  <a:gd name="T2" fmla="*/ 3 w 12"/>
                  <a:gd name="T3" fmla="*/ 0 h 14"/>
                  <a:gd name="T4" fmla="*/ 0 w 12"/>
                  <a:gd name="T5" fmla="*/ 10 h 14"/>
                  <a:gd name="T6" fmla="*/ 9 w 12"/>
                  <a:gd name="T7" fmla="*/ 14 h 14"/>
                  <a:gd name="T8" fmla="*/ 12 w 12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12" y="4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2" name="Freeform 272"/>
              <p:cNvSpPr>
                <a:spLocks/>
              </p:cNvSpPr>
              <p:nvPr/>
            </p:nvSpPr>
            <p:spPr bwMode="auto">
              <a:xfrm>
                <a:off x="3057" y="1404"/>
                <a:ext cx="12" cy="14"/>
              </a:xfrm>
              <a:custGeom>
                <a:avLst/>
                <a:gdLst>
                  <a:gd name="T0" fmla="*/ 12 w 12"/>
                  <a:gd name="T1" fmla="*/ 4 h 14"/>
                  <a:gd name="T2" fmla="*/ 3 w 12"/>
                  <a:gd name="T3" fmla="*/ 0 h 14"/>
                  <a:gd name="T4" fmla="*/ 2 w 12"/>
                  <a:gd name="T5" fmla="*/ 4 h 14"/>
                  <a:gd name="T6" fmla="*/ 0 w 12"/>
                  <a:gd name="T7" fmla="*/ 10 h 14"/>
                  <a:gd name="T8" fmla="*/ 8 w 12"/>
                  <a:gd name="T9" fmla="*/ 14 h 14"/>
                  <a:gd name="T10" fmla="*/ 12 w 12"/>
                  <a:gd name="T11" fmla="*/ 4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2"/>
                  <a:gd name="T19" fmla="*/ 0 h 14"/>
                  <a:gd name="T20" fmla="*/ 12 w 12"/>
                  <a:gd name="T21" fmla="*/ 14 h 1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2" h="14">
                    <a:moveTo>
                      <a:pt x="12" y="4"/>
                    </a:moveTo>
                    <a:lnTo>
                      <a:pt x="3" y="0"/>
                    </a:lnTo>
                    <a:lnTo>
                      <a:pt x="2" y="4"/>
                    </a:lnTo>
                    <a:lnTo>
                      <a:pt x="0" y="10"/>
                    </a:lnTo>
                    <a:lnTo>
                      <a:pt x="8" y="14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3" name="Freeform 273"/>
              <p:cNvSpPr>
                <a:spLocks/>
              </p:cNvSpPr>
              <p:nvPr/>
            </p:nvSpPr>
            <p:spPr bwMode="auto">
              <a:xfrm>
                <a:off x="3050" y="1423"/>
                <a:ext cx="12" cy="14"/>
              </a:xfrm>
              <a:custGeom>
                <a:avLst/>
                <a:gdLst>
                  <a:gd name="T0" fmla="*/ 12 w 12"/>
                  <a:gd name="T1" fmla="*/ 4 h 14"/>
                  <a:gd name="T2" fmla="*/ 3 w 12"/>
                  <a:gd name="T3" fmla="*/ 0 h 14"/>
                  <a:gd name="T4" fmla="*/ 0 w 12"/>
                  <a:gd name="T5" fmla="*/ 10 h 14"/>
                  <a:gd name="T6" fmla="*/ 9 w 12"/>
                  <a:gd name="T7" fmla="*/ 14 h 14"/>
                  <a:gd name="T8" fmla="*/ 12 w 12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12" y="4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4" name="Freeform 274"/>
              <p:cNvSpPr>
                <a:spLocks/>
              </p:cNvSpPr>
              <p:nvPr/>
            </p:nvSpPr>
            <p:spPr bwMode="auto">
              <a:xfrm>
                <a:off x="3043" y="1442"/>
                <a:ext cx="12" cy="14"/>
              </a:xfrm>
              <a:custGeom>
                <a:avLst/>
                <a:gdLst>
                  <a:gd name="T0" fmla="*/ 12 w 12"/>
                  <a:gd name="T1" fmla="*/ 4 h 14"/>
                  <a:gd name="T2" fmla="*/ 3 w 12"/>
                  <a:gd name="T3" fmla="*/ 0 h 14"/>
                  <a:gd name="T4" fmla="*/ 0 w 12"/>
                  <a:gd name="T5" fmla="*/ 10 h 14"/>
                  <a:gd name="T6" fmla="*/ 9 w 12"/>
                  <a:gd name="T7" fmla="*/ 14 h 14"/>
                  <a:gd name="T8" fmla="*/ 12 w 12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12" y="4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5" name="Freeform 275"/>
              <p:cNvSpPr>
                <a:spLocks/>
              </p:cNvSpPr>
              <p:nvPr/>
            </p:nvSpPr>
            <p:spPr bwMode="auto">
              <a:xfrm>
                <a:off x="3036" y="1461"/>
                <a:ext cx="12" cy="14"/>
              </a:xfrm>
              <a:custGeom>
                <a:avLst/>
                <a:gdLst>
                  <a:gd name="T0" fmla="*/ 12 w 12"/>
                  <a:gd name="T1" fmla="*/ 4 h 14"/>
                  <a:gd name="T2" fmla="*/ 3 w 12"/>
                  <a:gd name="T3" fmla="*/ 0 h 14"/>
                  <a:gd name="T4" fmla="*/ 0 w 12"/>
                  <a:gd name="T5" fmla="*/ 10 h 14"/>
                  <a:gd name="T6" fmla="*/ 9 w 12"/>
                  <a:gd name="T7" fmla="*/ 14 h 14"/>
                  <a:gd name="T8" fmla="*/ 12 w 12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12" y="4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6" name="Freeform 276"/>
              <p:cNvSpPr>
                <a:spLocks/>
              </p:cNvSpPr>
              <p:nvPr/>
            </p:nvSpPr>
            <p:spPr bwMode="auto">
              <a:xfrm>
                <a:off x="3029" y="1480"/>
                <a:ext cx="12" cy="14"/>
              </a:xfrm>
              <a:custGeom>
                <a:avLst/>
                <a:gdLst>
                  <a:gd name="T0" fmla="*/ 12 w 12"/>
                  <a:gd name="T1" fmla="*/ 4 h 14"/>
                  <a:gd name="T2" fmla="*/ 3 w 12"/>
                  <a:gd name="T3" fmla="*/ 0 h 14"/>
                  <a:gd name="T4" fmla="*/ 2 w 12"/>
                  <a:gd name="T5" fmla="*/ 5 h 14"/>
                  <a:gd name="T6" fmla="*/ 0 w 12"/>
                  <a:gd name="T7" fmla="*/ 11 h 14"/>
                  <a:gd name="T8" fmla="*/ 9 w 12"/>
                  <a:gd name="T9" fmla="*/ 14 h 14"/>
                  <a:gd name="T10" fmla="*/ 12 w 12"/>
                  <a:gd name="T11" fmla="*/ 5 h 14"/>
                  <a:gd name="T12" fmla="*/ 12 w 12"/>
                  <a:gd name="T13" fmla="*/ 4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"/>
                  <a:gd name="T22" fmla="*/ 0 h 14"/>
                  <a:gd name="T23" fmla="*/ 12 w 12"/>
                  <a:gd name="T24" fmla="*/ 14 h 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" h="14">
                    <a:moveTo>
                      <a:pt x="12" y="4"/>
                    </a:moveTo>
                    <a:lnTo>
                      <a:pt x="3" y="0"/>
                    </a:lnTo>
                    <a:lnTo>
                      <a:pt x="2" y="5"/>
                    </a:lnTo>
                    <a:lnTo>
                      <a:pt x="0" y="11"/>
                    </a:lnTo>
                    <a:lnTo>
                      <a:pt x="9" y="14"/>
                    </a:lnTo>
                    <a:lnTo>
                      <a:pt x="12" y="5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7" name="Freeform 277"/>
              <p:cNvSpPr>
                <a:spLocks/>
              </p:cNvSpPr>
              <p:nvPr/>
            </p:nvSpPr>
            <p:spPr bwMode="auto">
              <a:xfrm>
                <a:off x="3022" y="1500"/>
                <a:ext cx="13" cy="13"/>
              </a:xfrm>
              <a:custGeom>
                <a:avLst/>
                <a:gdLst>
                  <a:gd name="T0" fmla="*/ 13 w 13"/>
                  <a:gd name="T1" fmla="*/ 3 h 13"/>
                  <a:gd name="T2" fmla="*/ 4 w 13"/>
                  <a:gd name="T3" fmla="*/ 0 h 13"/>
                  <a:gd name="T4" fmla="*/ 0 w 13"/>
                  <a:gd name="T5" fmla="*/ 11 h 13"/>
                  <a:gd name="T6" fmla="*/ 9 w 13"/>
                  <a:gd name="T7" fmla="*/ 13 h 13"/>
                  <a:gd name="T8" fmla="*/ 13 w 13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13" y="3"/>
                    </a:moveTo>
                    <a:lnTo>
                      <a:pt x="4" y="0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3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8" name="Freeform 278"/>
              <p:cNvSpPr>
                <a:spLocks/>
              </p:cNvSpPr>
              <p:nvPr/>
            </p:nvSpPr>
            <p:spPr bwMode="auto">
              <a:xfrm>
                <a:off x="3016" y="1519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3 w 11"/>
                  <a:gd name="T3" fmla="*/ 0 h 13"/>
                  <a:gd name="T4" fmla="*/ 0 w 11"/>
                  <a:gd name="T5" fmla="*/ 11 h 13"/>
                  <a:gd name="T6" fmla="*/ 9 w 11"/>
                  <a:gd name="T7" fmla="*/ 13 h 13"/>
                  <a:gd name="T8" fmla="*/ 11 w 11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3"/>
                    </a:moveTo>
                    <a:lnTo>
                      <a:pt x="3" y="0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49" name="Freeform 279"/>
              <p:cNvSpPr>
                <a:spLocks/>
              </p:cNvSpPr>
              <p:nvPr/>
            </p:nvSpPr>
            <p:spPr bwMode="auto">
              <a:xfrm>
                <a:off x="3010" y="1539"/>
                <a:ext cx="11" cy="12"/>
              </a:xfrm>
              <a:custGeom>
                <a:avLst/>
                <a:gdLst>
                  <a:gd name="T0" fmla="*/ 11 w 11"/>
                  <a:gd name="T1" fmla="*/ 2 h 12"/>
                  <a:gd name="T2" fmla="*/ 2 w 11"/>
                  <a:gd name="T3" fmla="*/ 0 h 12"/>
                  <a:gd name="T4" fmla="*/ 0 w 11"/>
                  <a:gd name="T5" fmla="*/ 10 h 12"/>
                  <a:gd name="T6" fmla="*/ 9 w 11"/>
                  <a:gd name="T7" fmla="*/ 12 h 12"/>
                  <a:gd name="T8" fmla="*/ 11 w 11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11" y="2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2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0" name="Freeform 280"/>
              <p:cNvSpPr>
                <a:spLocks/>
              </p:cNvSpPr>
              <p:nvPr/>
            </p:nvSpPr>
            <p:spPr bwMode="auto">
              <a:xfrm>
                <a:off x="3003" y="1559"/>
                <a:ext cx="12" cy="11"/>
              </a:xfrm>
              <a:custGeom>
                <a:avLst/>
                <a:gdLst>
                  <a:gd name="T0" fmla="*/ 12 w 12"/>
                  <a:gd name="T1" fmla="*/ 2 h 11"/>
                  <a:gd name="T2" fmla="*/ 3 w 12"/>
                  <a:gd name="T3" fmla="*/ 0 h 11"/>
                  <a:gd name="T4" fmla="*/ 2 w 12"/>
                  <a:gd name="T5" fmla="*/ 4 h 11"/>
                  <a:gd name="T6" fmla="*/ 0 w 12"/>
                  <a:gd name="T7" fmla="*/ 9 h 11"/>
                  <a:gd name="T8" fmla="*/ 9 w 12"/>
                  <a:gd name="T9" fmla="*/ 11 h 11"/>
                  <a:gd name="T10" fmla="*/ 12 w 12"/>
                  <a:gd name="T11" fmla="*/ 4 h 11"/>
                  <a:gd name="T12" fmla="*/ 12 w 12"/>
                  <a:gd name="T13" fmla="*/ 2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"/>
                  <a:gd name="T22" fmla="*/ 0 h 11"/>
                  <a:gd name="T23" fmla="*/ 12 w 12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" h="11">
                    <a:moveTo>
                      <a:pt x="12" y="2"/>
                    </a:moveTo>
                    <a:lnTo>
                      <a:pt x="3" y="0"/>
                    </a:lnTo>
                    <a:lnTo>
                      <a:pt x="2" y="4"/>
                    </a:lnTo>
                    <a:lnTo>
                      <a:pt x="0" y="9"/>
                    </a:lnTo>
                    <a:lnTo>
                      <a:pt x="9" y="11"/>
                    </a:lnTo>
                    <a:lnTo>
                      <a:pt x="12" y="4"/>
                    </a:ln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1" name="Freeform 281"/>
              <p:cNvSpPr>
                <a:spLocks/>
              </p:cNvSpPr>
              <p:nvPr/>
            </p:nvSpPr>
            <p:spPr bwMode="auto">
              <a:xfrm>
                <a:off x="2997" y="1578"/>
                <a:ext cx="13" cy="11"/>
              </a:xfrm>
              <a:custGeom>
                <a:avLst/>
                <a:gdLst>
                  <a:gd name="T0" fmla="*/ 13 w 13"/>
                  <a:gd name="T1" fmla="*/ 2 h 11"/>
                  <a:gd name="T2" fmla="*/ 4 w 13"/>
                  <a:gd name="T3" fmla="*/ 0 h 11"/>
                  <a:gd name="T4" fmla="*/ 0 w 13"/>
                  <a:gd name="T5" fmla="*/ 9 h 11"/>
                  <a:gd name="T6" fmla="*/ 9 w 13"/>
                  <a:gd name="T7" fmla="*/ 11 h 11"/>
                  <a:gd name="T8" fmla="*/ 13 w 13"/>
                  <a:gd name="T9" fmla="*/ 2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1"/>
                  <a:gd name="T17" fmla="*/ 13 w 13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1">
                    <a:moveTo>
                      <a:pt x="13" y="2"/>
                    </a:moveTo>
                    <a:lnTo>
                      <a:pt x="4" y="0"/>
                    </a:lnTo>
                    <a:lnTo>
                      <a:pt x="0" y="9"/>
                    </a:lnTo>
                    <a:lnTo>
                      <a:pt x="9" y="11"/>
                    </a:ln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2" name="Freeform 282"/>
              <p:cNvSpPr>
                <a:spLocks/>
              </p:cNvSpPr>
              <p:nvPr/>
            </p:nvSpPr>
            <p:spPr bwMode="auto">
              <a:xfrm>
                <a:off x="2992" y="1597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2 w 11"/>
                  <a:gd name="T3" fmla="*/ 0 h 13"/>
                  <a:gd name="T4" fmla="*/ 0 w 11"/>
                  <a:gd name="T5" fmla="*/ 10 h 13"/>
                  <a:gd name="T6" fmla="*/ 9 w 11"/>
                  <a:gd name="T7" fmla="*/ 13 h 13"/>
                  <a:gd name="T8" fmla="*/ 11 w 11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3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3" name="Freeform 283"/>
              <p:cNvSpPr>
                <a:spLocks/>
              </p:cNvSpPr>
              <p:nvPr/>
            </p:nvSpPr>
            <p:spPr bwMode="auto">
              <a:xfrm>
                <a:off x="2986" y="1616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2 w 11"/>
                  <a:gd name="T3" fmla="*/ 0 h 13"/>
                  <a:gd name="T4" fmla="*/ 0 w 11"/>
                  <a:gd name="T5" fmla="*/ 10 h 13"/>
                  <a:gd name="T6" fmla="*/ 8 w 11"/>
                  <a:gd name="T7" fmla="*/ 13 h 13"/>
                  <a:gd name="T8" fmla="*/ 11 w 11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3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8" y="13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4" name="Freeform 284"/>
              <p:cNvSpPr>
                <a:spLocks/>
              </p:cNvSpPr>
              <p:nvPr/>
            </p:nvSpPr>
            <p:spPr bwMode="auto">
              <a:xfrm>
                <a:off x="2980" y="1636"/>
                <a:ext cx="12" cy="13"/>
              </a:xfrm>
              <a:custGeom>
                <a:avLst/>
                <a:gdLst>
                  <a:gd name="T0" fmla="*/ 12 w 12"/>
                  <a:gd name="T1" fmla="*/ 3 h 13"/>
                  <a:gd name="T2" fmla="*/ 3 w 12"/>
                  <a:gd name="T3" fmla="*/ 0 h 13"/>
                  <a:gd name="T4" fmla="*/ 2 w 12"/>
                  <a:gd name="T5" fmla="*/ 4 h 13"/>
                  <a:gd name="T6" fmla="*/ 0 w 12"/>
                  <a:gd name="T7" fmla="*/ 11 h 13"/>
                  <a:gd name="T8" fmla="*/ 9 w 12"/>
                  <a:gd name="T9" fmla="*/ 13 h 13"/>
                  <a:gd name="T10" fmla="*/ 12 w 12"/>
                  <a:gd name="T11" fmla="*/ 4 h 13"/>
                  <a:gd name="T12" fmla="*/ 12 w 12"/>
                  <a:gd name="T13" fmla="*/ 3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"/>
                  <a:gd name="T22" fmla="*/ 0 h 13"/>
                  <a:gd name="T23" fmla="*/ 12 w 12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" h="13">
                    <a:moveTo>
                      <a:pt x="12" y="3"/>
                    </a:moveTo>
                    <a:lnTo>
                      <a:pt x="3" y="0"/>
                    </a:lnTo>
                    <a:lnTo>
                      <a:pt x="2" y="4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2" y="4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5" name="Freeform 285"/>
              <p:cNvSpPr>
                <a:spLocks/>
              </p:cNvSpPr>
              <p:nvPr/>
            </p:nvSpPr>
            <p:spPr bwMode="auto">
              <a:xfrm>
                <a:off x="2975" y="1655"/>
                <a:ext cx="12" cy="13"/>
              </a:xfrm>
              <a:custGeom>
                <a:avLst/>
                <a:gdLst>
                  <a:gd name="T0" fmla="*/ 12 w 12"/>
                  <a:gd name="T1" fmla="*/ 3 h 13"/>
                  <a:gd name="T2" fmla="*/ 3 w 12"/>
                  <a:gd name="T3" fmla="*/ 0 h 13"/>
                  <a:gd name="T4" fmla="*/ 0 w 12"/>
                  <a:gd name="T5" fmla="*/ 11 h 13"/>
                  <a:gd name="T6" fmla="*/ 9 w 12"/>
                  <a:gd name="T7" fmla="*/ 13 h 13"/>
                  <a:gd name="T8" fmla="*/ 12 w 12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3"/>
                    </a:moveTo>
                    <a:lnTo>
                      <a:pt x="3" y="0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6" name="Freeform 286"/>
              <p:cNvSpPr>
                <a:spLocks/>
              </p:cNvSpPr>
              <p:nvPr/>
            </p:nvSpPr>
            <p:spPr bwMode="auto">
              <a:xfrm>
                <a:off x="2970" y="1676"/>
                <a:ext cx="12" cy="13"/>
              </a:xfrm>
              <a:custGeom>
                <a:avLst/>
                <a:gdLst>
                  <a:gd name="T0" fmla="*/ 12 w 12"/>
                  <a:gd name="T1" fmla="*/ 2 h 13"/>
                  <a:gd name="T2" fmla="*/ 3 w 12"/>
                  <a:gd name="T3" fmla="*/ 0 h 13"/>
                  <a:gd name="T4" fmla="*/ 0 w 12"/>
                  <a:gd name="T5" fmla="*/ 10 h 13"/>
                  <a:gd name="T6" fmla="*/ 9 w 12"/>
                  <a:gd name="T7" fmla="*/ 13 h 13"/>
                  <a:gd name="T8" fmla="*/ 12 w 12"/>
                  <a:gd name="T9" fmla="*/ 2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2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7" name="Freeform 287"/>
              <p:cNvSpPr>
                <a:spLocks/>
              </p:cNvSpPr>
              <p:nvPr/>
            </p:nvSpPr>
            <p:spPr bwMode="auto">
              <a:xfrm>
                <a:off x="2965" y="1695"/>
                <a:ext cx="12" cy="13"/>
              </a:xfrm>
              <a:custGeom>
                <a:avLst/>
                <a:gdLst>
                  <a:gd name="T0" fmla="*/ 12 w 12"/>
                  <a:gd name="T1" fmla="*/ 2 h 13"/>
                  <a:gd name="T2" fmla="*/ 3 w 12"/>
                  <a:gd name="T3" fmla="*/ 0 h 13"/>
                  <a:gd name="T4" fmla="*/ 0 w 12"/>
                  <a:gd name="T5" fmla="*/ 10 h 13"/>
                  <a:gd name="T6" fmla="*/ 9 w 12"/>
                  <a:gd name="T7" fmla="*/ 13 h 13"/>
                  <a:gd name="T8" fmla="*/ 12 w 12"/>
                  <a:gd name="T9" fmla="*/ 2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2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8" name="Freeform 288"/>
              <p:cNvSpPr>
                <a:spLocks/>
              </p:cNvSpPr>
              <p:nvPr/>
            </p:nvSpPr>
            <p:spPr bwMode="auto">
              <a:xfrm>
                <a:off x="2960" y="1715"/>
                <a:ext cx="12" cy="12"/>
              </a:xfrm>
              <a:custGeom>
                <a:avLst/>
                <a:gdLst>
                  <a:gd name="T0" fmla="*/ 12 w 12"/>
                  <a:gd name="T1" fmla="*/ 3 h 12"/>
                  <a:gd name="T2" fmla="*/ 3 w 12"/>
                  <a:gd name="T3" fmla="*/ 0 h 12"/>
                  <a:gd name="T4" fmla="*/ 1 w 12"/>
                  <a:gd name="T5" fmla="*/ 3 h 12"/>
                  <a:gd name="T6" fmla="*/ 0 w 12"/>
                  <a:gd name="T7" fmla="*/ 10 h 12"/>
                  <a:gd name="T8" fmla="*/ 9 w 12"/>
                  <a:gd name="T9" fmla="*/ 12 h 12"/>
                  <a:gd name="T10" fmla="*/ 12 w 12"/>
                  <a:gd name="T11" fmla="*/ 3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2"/>
                  <a:gd name="T19" fmla="*/ 0 h 12"/>
                  <a:gd name="T20" fmla="*/ 12 w 12"/>
                  <a:gd name="T21" fmla="*/ 12 h 1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2" h="12">
                    <a:moveTo>
                      <a:pt x="12" y="3"/>
                    </a:moveTo>
                    <a:lnTo>
                      <a:pt x="3" y="0"/>
                    </a:lnTo>
                    <a:lnTo>
                      <a:pt x="1" y="3"/>
                    </a:lnTo>
                    <a:lnTo>
                      <a:pt x="0" y="10"/>
                    </a:lnTo>
                    <a:lnTo>
                      <a:pt x="9" y="12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59" name="Freeform 289"/>
              <p:cNvSpPr>
                <a:spLocks/>
              </p:cNvSpPr>
              <p:nvPr/>
            </p:nvSpPr>
            <p:spPr bwMode="auto">
              <a:xfrm>
                <a:off x="2956" y="1736"/>
                <a:ext cx="12" cy="11"/>
              </a:xfrm>
              <a:custGeom>
                <a:avLst/>
                <a:gdLst>
                  <a:gd name="T0" fmla="*/ 12 w 12"/>
                  <a:gd name="T1" fmla="*/ 1 h 11"/>
                  <a:gd name="T2" fmla="*/ 3 w 12"/>
                  <a:gd name="T3" fmla="*/ 0 h 11"/>
                  <a:gd name="T4" fmla="*/ 0 w 12"/>
                  <a:gd name="T5" fmla="*/ 10 h 11"/>
                  <a:gd name="T6" fmla="*/ 9 w 12"/>
                  <a:gd name="T7" fmla="*/ 11 h 11"/>
                  <a:gd name="T8" fmla="*/ 12 w 12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12" y="1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1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0" name="Freeform 290"/>
              <p:cNvSpPr>
                <a:spLocks/>
              </p:cNvSpPr>
              <p:nvPr/>
            </p:nvSpPr>
            <p:spPr bwMode="auto">
              <a:xfrm>
                <a:off x="2953" y="1756"/>
                <a:ext cx="11" cy="11"/>
              </a:xfrm>
              <a:custGeom>
                <a:avLst/>
                <a:gdLst>
                  <a:gd name="T0" fmla="*/ 11 w 11"/>
                  <a:gd name="T1" fmla="*/ 1 h 11"/>
                  <a:gd name="T2" fmla="*/ 2 w 11"/>
                  <a:gd name="T3" fmla="*/ 0 h 11"/>
                  <a:gd name="T4" fmla="*/ 1 w 11"/>
                  <a:gd name="T5" fmla="*/ 0 h 11"/>
                  <a:gd name="T6" fmla="*/ 0 w 11"/>
                  <a:gd name="T7" fmla="*/ 10 h 11"/>
                  <a:gd name="T8" fmla="*/ 10 w 11"/>
                  <a:gd name="T9" fmla="*/ 11 h 11"/>
                  <a:gd name="T10" fmla="*/ 11 w 11"/>
                  <a:gd name="T11" fmla="*/ 0 h 11"/>
                  <a:gd name="T12" fmla="*/ 11 w 11"/>
                  <a:gd name="T13" fmla="*/ 1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"/>
                  <a:gd name="T22" fmla="*/ 0 h 11"/>
                  <a:gd name="T23" fmla="*/ 11 w 11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" h="11">
                    <a:moveTo>
                      <a:pt x="11" y="1"/>
                    </a:moveTo>
                    <a:lnTo>
                      <a:pt x="2" y="0"/>
                    </a:lnTo>
                    <a:lnTo>
                      <a:pt x="1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1" y="0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1" name="Freeform 291"/>
              <p:cNvSpPr>
                <a:spLocks/>
              </p:cNvSpPr>
              <p:nvPr/>
            </p:nvSpPr>
            <p:spPr bwMode="auto">
              <a:xfrm>
                <a:off x="2949" y="1775"/>
                <a:ext cx="11" cy="11"/>
              </a:xfrm>
              <a:custGeom>
                <a:avLst/>
                <a:gdLst>
                  <a:gd name="T0" fmla="*/ 11 w 11"/>
                  <a:gd name="T1" fmla="*/ 1 h 11"/>
                  <a:gd name="T2" fmla="*/ 1 w 11"/>
                  <a:gd name="T3" fmla="*/ 0 h 11"/>
                  <a:gd name="T4" fmla="*/ 0 w 11"/>
                  <a:gd name="T5" fmla="*/ 10 h 11"/>
                  <a:gd name="T6" fmla="*/ 10 w 11"/>
                  <a:gd name="T7" fmla="*/ 11 h 11"/>
                  <a:gd name="T8" fmla="*/ 11 w 11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11" y="1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2" name="Freeform 292"/>
              <p:cNvSpPr>
                <a:spLocks/>
              </p:cNvSpPr>
              <p:nvPr/>
            </p:nvSpPr>
            <p:spPr bwMode="auto">
              <a:xfrm>
                <a:off x="2946" y="1795"/>
                <a:ext cx="12" cy="12"/>
              </a:xfrm>
              <a:custGeom>
                <a:avLst/>
                <a:gdLst>
                  <a:gd name="T0" fmla="*/ 12 w 12"/>
                  <a:gd name="T1" fmla="*/ 2 h 12"/>
                  <a:gd name="T2" fmla="*/ 1 w 12"/>
                  <a:gd name="T3" fmla="*/ 0 h 12"/>
                  <a:gd name="T4" fmla="*/ 0 w 12"/>
                  <a:gd name="T5" fmla="*/ 10 h 12"/>
                  <a:gd name="T6" fmla="*/ 10 w 12"/>
                  <a:gd name="T7" fmla="*/ 12 h 12"/>
                  <a:gd name="T8" fmla="*/ 12 w 12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12" y="2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2"/>
                    </a:ln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3" name="Freeform 293"/>
              <p:cNvSpPr>
                <a:spLocks/>
              </p:cNvSpPr>
              <p:nvPr/>
            </p:nvSpPr>
            <p:spPr bwMode="auto">
              <a:xfrm>
                <a:off x="2942" y="1816"/>
                <a:ext cx="12" cy="11"/>
              </a:xfrm>
              <a:custGeom>
                <a:avLst/>
                <a:gdLst>
                  <a:gd name="T0" fmla="*/ 12 w 12"/>
                  <a:gd name="T1" fmla="*/ 1 h 11"/>
                  <a:gd name="T2" fmla="*/ 2 w 12"/>
                  <a:gd name="T3" fmla="*/ 0 h 11"/>
                  <a:gd name="T4" fmla="*/ 0 w 12"/>
                  <a:gd name="T5" fmla="*/ 10 h 11"/>
                  <a:gd name="T6" fmla="*/ 11 w 12"/>
                  <a:gd name="T7" fmla="*/ 11 h 11"/>
                  <a:gd name="T8" fmla="*/ 12 w 12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12" y="1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11" y="11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4" name="Freeform 294"/>
              <p:cNvSpPr>
                <a:spLocks/>
              </p:cNvSpPr>
              <p:nvPr/>
            </p:nvSpPr>
            <p:spPr bwMode="auto">
              <a:xfrm>
                <a:off x="2941" y="1836"/>
                <a:ext cx="10" cy="11"/>
              </a:xfrm>
              <a:custGeom>
                <a:avLst/>
                <a:gdLst>
                  <a:gd name="T0" fmla="*/ 10 w 10"/>
                  <a:gd name="T1" fmla="*/ 1 h 11"/>
                  <a:gd name="T2" fmla="*/ 0 w 10"/>
                  <a:gd name="T3" fmla="*/ 0 h 11"/>
                  <a:gd name="T4" fmla="*/ 0 w 10"/>
                  <a:gd name="T5" fmla="*/ 10 h 11"/>
                  <a:gd name="T6" fmla="*/ 10 w 10"/>
                  <a:gd name="T7" fmla="*/ 11 h 11"/>
                  <a:gd name="T8" fmla="*/ 10 w 10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1"/>
                  <a:gd name="T17" fmla="*/ 10 w 10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1">
                    <a:moveTo>
                      <a:pt x="10" y="1"/>
                    </a:moveTo>
                    <a:lnTo>
                      <a:pt x="0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5" name="Freeform 295"/>
              <p:cNvSpPr>
                <a:spLocks/>
              </p:cNvSpPr>
              <p:nvPr/>
            </p:nvSpPr>
            <p:spPr bwMode="auto">
              <a:xfrm>
                <a:off x="2939" y="1856"/>
                <a:ext cx="11" cy="12"/>
              </a:xfrm>
              <a:custGeom>
                <a:avLst/>
                <a:gdLst>
                  <a:gd name="T0" fmla="*/ 11 w 11"/>
                  <a:gd name="T1" fmla="*/ 2 h 12"/>
                  <a:gd name="T2" fmla="*/ 1 w 11"/>
                  <a:gd name="T3" fmla="*/ 0 h 12"/>
                  <a:gd name="T4" fmla="*/ 0 w 11"/>
                  <a:gd name="T5" fmla="*/ 10 h 12"/>
                  <a:gd name="T6" fmla="*/ 10 w 11"/>
                  <a:gd name="T7" fmla="*/ 12 h 12"/>
                  <a:gd name="T8" fmla="*/ 11 w 11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11" y="2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2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6" name="Freeform 296"/>
              <p:cNvSpPr>
                <a:spLocks/>
              </p:cNvSpPr>
              <p:nvPr/>
            </p:nvSpPr>
            <p:spPr bwMode="auto">
              <a:xfrm>
                <a:off x="2937" y="1877"/>
                <a:ext cx="12" cy="10"/>
              </a:xfrm>
              <a:custGeom>
                <a:avLst/>
                <a:gdLst>
                  <a:gd name="T0" fmla="*/ 12 w 12"/>
                  <a:gd name="T1" fmla="*/ 0 h 10"/>
                  <a:gd name="T2" fmla="*/ 2 w 12"/>
                  <a:gd name="T3" fmla="*/ 0 h 10"/>
                  <a:gd name="T4" fmla="*/ 0 w 12"/>
                  <a:gd name="T5" fmla="*/ 10 h 10"/>
                  <a:gd name="T6" fmla="*/ 10 w 12"/>
                  <a:gd name="T7" fmla="*/ 10 h 10"/>
                  <a:gd name="T8" fmla="*/ 12 w 12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0"/>
                  <a:gd name="T17" fmla="*/ 12 w 12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0">
                    <a:moveTo>
                      <a:pt x="12" y="0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10" y="1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7" name="Freeform 297"/>
              <p:cNvSpPr>
                <a:spLocks/>
              </p:cNvSpPr>
              <p:nvPr/>
            </p:nvSpPr>
            <p:spPr bwMode="auto">
              <a:xfrm>
                <a:off x="2936" y="1897"/>
                <a:ext cx="11" cy="10"/>
              </a:xfrm>
              <a:custGeom>
                <a:avLst/>
                <a:gdLst>
                  <a:gd name="T0" fmla="*/ 11 w 11"/>
                  <a:gd name="T1" fmla="*/ 0 h 10"/>
                  <a:gd name="T2" fmla="*/ 1 w 11"/>
                  <a:gd name="T3" fmla="*/ 0 h 10"/>
                  <a:gd name="T4" fmla="*/ 0 w 11"/>
                  <a:gd name="T5" fmla="*/ 10 h 10"/>
                  <a:gd name="T6" fmla="*/ 10 w 11"/>
                  <a:gd name="T7" fmla="*/ 10 h 10"/>
                  <a:gd name="T8" fmla="*/ 11 w 1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0"/>
                  <a:gd name="T17" fmla="*/ 11 w 1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0">
                    <a:moveTo>
                      <a:pt x="11" y="0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0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8" name="Rectangle 298"/>
              <p:cNvSpPr>
                <a:spLocks noChangeArrowheads="1"/>
              </p:cNvSpPr>
              <p:nvPr/>
            </p:nvSpPr>
            <p:spPr bwMode="auto">
              <a:xfrm>
                <a:off x="2936" y="1917"/>
                <a:ext cx="10" cy="10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69" name="Rectangle 299"/>
              <p:cNvSpPr>
                <a:spLocks noChangeArrowheads="1"/>
              </p:cNvSpPr>
              <p:nvPr/>
            </p:nvSpPr>
            <p:spPr bwMode="auto">
              <a:xfrm>
                <a:off x="2936" y="1938"/>
                <a:ext cx="10" cy="10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0" name="Freeform 300"/>
              <p:cNvSpPr>
                <a:spLocks/>
              </p:cNvSpPr>
              <p:nvPr/>
            </p:nvSpPr>
            <p:spPr bwMode="auto">
              <a:xfrm>
                <a:off x="2936" y="1958"/>
                <a:ext cx="11" cy="10"/>
              </a:xfrm>
              <a:custGeom>
                <a:avLst/>
                <a:gdLst>
                  <a:gd name="T0" fmla="*/ 10 w 11"/>
                  <a:gd name="T1" fmla="*/ 0 h 10"/>
                  <a:gd name="T2" fmla="*/ 0 w 11"/>
                  <a:gd name="T3" fmla="*/ 0 h 10"/>
                  <a:gd name="T4" fmla="*/ 1 w 11"/>
                  <a:gd name="T5" fmla="*/ 10 h 10"/>
                  <a:gd name="T6" fmla="*/ 11 w 11"/>
                  <a:gd name="T7" fmla="*/ 10 h 10"/>
                  <a:gd name="T8" fmla="*/ 10 w 1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0"/>
                  <a:gd name="T17" fmla="*/ 11 w 1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0">
                    <a:moveTo>
                      <a:pt x="10" y="0"/>
                    </a:moveTo>
                    <a:lnTo>
                      <a:pt x="0" y="0"/>
                    </a:lnTo>
                    <a:lnTo>
                      <a:pt x="1" y="10"/>
                    </a:lnTo>
                    <a:lnTo>
                      <a:pt x="11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1" name="Freeform 301"/>
              <p:cNvSpPr>
                <a:spLocks/>
              </p:cNvSpPr>
              <p:nvPr/>
            </p:nvSpPr>
            <p:spPr bwMode="auto">
              <a:xfrm>
                <a:off x="2937" y="1978"/>
                <a:ext cx="10" cy="12"/>
              </a:xfrm>
              <a:custGeom>
                <a:avLst/>
                <a:gdLst>
                  <a:gd name="T0" fmla="*/ 10 w 10"/>
                  <a:gd name="T1" fmla="*/ 0 h 12"/>
                  <a:gd name="T2" fmla="*/ 0 w 10"/>
                  <a:gd name="T3" fmla="*/ 0 h 12"/>
                  <a:gd name="T4" fmla="*/ 0 w 10"/>
                  <a:gd name="T5" fmla="*/ 7 h 12"/>
                  <a:gd name="T6" fmla="*/ 0 w 10"/>
                  <a:gd name="T7" fmla="*/ 12 h 12"/>
                  <a:gd name="T8" fmla="*/ 10 w 10"/>
                  <a:gd name="T9" fmla="*/ 10 h 12"/>
                  <a:gd name="T10" fmla="*/ 10 w 10"/>
                  <a:gd name="T11" fmla="*/ 7 h 12"/>
                  <a:gd name="T12" fmla="*/ 10 w 10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"/>
                  <a:gd name="T22" fmla="*/ 0 h 12"/>
                  <a:gd name="T23" fmla="*/ 10 w 10"/>
                  <a:gd name="T24" fmla="*/ 12 h 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" h="12">
                    <a:moveTo>
                      <a:pt x="10" y="0"/>
                    </a:moveTo>
                    <a:lnTo>
                      <a:pt x="0" y="0"/>
                    </a:lnTo>
                    <a:lnTo>
                      <a:pt x="0" y="7"/>
                    </a:lnTo>
                    <a:lnTo>
                      <a:pt x="0" y="12"/>
                    </a:lnTo>
                    <a:lnTo>
                      <a:pt x="10" y="10"/>
                    </a:lnTo>
                    <a:lnTo>
                      <a:pt x="10" y="7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2" name="Freeform 302"/>
              <p:cNvSpPr>
                <a:spLocks/>
              </p:cNvSpPr>
              <p:nvPr/>
            </p:nvSpPr>
            <p:spPr bwMode="auto">
              <a:xfrm>
                <a:off x="2939" y="1999"/>
                <a:ext cx="10" cy="11"/>
              </a:xfrm>
              <a:custGeom>
                <a:avLst/>
                <a:gdLst>
                  <a:gd name="T0" fmla="*/ 10 w 10"/>
                  <a:gd name="T1" fmla="*/ 0 h 11"/>
                  <a:gd name="T2" fmla="*/ 0 w 10"/>
                  <a:gd name="T3" fmla="*/ 1 h 11"/>
                  <a:gd name="T4" fmla="*/ 0 w 10"/>
                  <a:gd name="T5" fmla="*/ 11 h 11"/>
                  <a:gd name="T6" fmla="*/ 10 w 10"/>
                  <a:gd name="T7" fmla="*/ 10 h 11"/>
                  <a:gd name="T8" fmla="*/ 10 w 10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1"/>
                  <a:gd name="T17" fmla="*/ 10 w 10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1">
                    <a:moveTo>
                      <a:pt x="10" y="0"/>
                    </a:moveTo>
                    <a:lnTo>
                      <a:pt x="0" y="1"/>
                    </a:lnTo>
                    <a:lnTo>
                      <a:pt x="0" y="11"/>
                    </a:lnTo>
                    <a:lnTo>
                      <a:pt x="10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3" name="Freeform 303"/>
              <p:cNvSpPr>
                <a:spLocks/>
              </p:cNvSpPr>
              <p:nvPr/>
            </p:nvSpPr>
            <p:spPr bwMode="auto">
              <a:xfrm>
                <a:off x="2940" y="2019"/>
                <a:ext cx="11" cy="11"/>
              </a:xfrm>
              <a:custGeom>
                <a:avLst/>
                <a:gdLst>
                  <a:gd name="T0" fmla="*/ 10 w 11"/>
                  <a:gd name="T1" fmla="*/ 0 h 11"/>
                  <a:gd name="T2" fmla="*/ 0 w 11"/>
                  <a:gd name="T3" fmla="*/ 1 h 11"/>
                  <a:gd name="T4" fmla="*/ 1 w 11"/>
                  <a:gd name="T5" fmla="*/ 11 h 11"/>
                  <a:gd name="T6" fmla="*/ 11 w 11"/>
                  <a:gd name="T7" fmla="*/ 10 h 11"/>
                  <a:gd name="T8" fmla="*/ 10 w 1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10" y="0"/>
                    </a:moveTo>
                    <a:lnTo>
                      <a:pt x="0" y="1"/>
                    </a:lnTo>
                    <a:lnTo>
                      <a:pt x="1" y="11"/>
                    </a:lnTo>
                    <a:lnTo>
                      <a:pt x="11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4" name="Freeform 304"/>
              <p:cNvSpPr>
                <a:spLocks/>
              </p:cNvSpPr>
              <p:nvPr/>
            </p:nvSpPr>
            <p:spPr bwMode="auto">
              <a:xfrm>
                <a:off x="2942" y="2039"/>
                <a:ext cx="12" cy="12"/>
              </a:xfrm>
              <a:custGeom>
                <a:avLst/>
                <a:gdLst>
                  <a:gd name="T0" fmla="*/ 11 w 12"/>
                  <a:gd name="T1" fmla="*/ 0 h 12"/>
                  <a:gd name="T2" fmla="*/ 0 w 12"/>
                  <a:gd name="T3" fmla="*/ 2 h 12"/>
                  <a:gd name="T4" fmla="*/ 2 w 12"/>
                  <a:gd name="T5" fmla="*/ 12 h 12"/>
                  <a:gd name="T6" fmla="*/ 12 w 12"/>
                  <a:gd name="T7" fmla="*/ 11 h 12"/>
                  <a:gd name="T8" fmla="*/ 11 w 12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11" y="0"/>
                    </a:moveTo>
                    <a:lnTo>
                      <a:pt x="0" y="2"/>
                    </a:lnTo>
                    <a:lnTo>
                      <a:pt x="2" y="12"/>
                    </a:lnTo>
                    <a:lnTo>
                      <a:pt x="12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5" name="Freeform 305"/>
              <p:cNvSpPr>
                <a:spLocks/>
              </p:cNvSpPr>
              <p:nvPr/>
            </p:nvSpPr>
            <p:spPr bwMode="auto">
              <a:xfrm>
                <a:off x="2945" y="2058"/>
                <a:ext cx="11" cy="12"/>
              </a:xfrm>
              <a:custGeom>
                <a:avLst/>
                <a:gdLst>
                  <a:gd name="T0" fmla="*/ 9 w 11"/>
                  <a:gd name="T1" fmla="*/ 0 h 12"/>
                  <a:gd name="T2" fmla="*/ 0 w 11"/>
                  <a:gd name="T3" fmla="*/ 2 h 12"/>
                  <a:gd name="T4" fmla="*/ 2 w 11"/>
                  <a:gd name="T5" fmla="*/ 12 h 12"/>
                  <a:gd name="T6" fmla="*/ 11 w 11"/>
                  <a:gd name="T7" fmla="*/ 11 h 12"/>
                  <a:gd name="T8" fmla="*/ 9 w 1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9" y="0"/>
                    </a:moveTo>
                    <a:lnTo>
                      <a:pt x="0" y="2"/>
                    </a:lnTo>
                    <a:lnTo>
                      <a:pt x="2" y="12"/>
                    </a:lnTo>
                    <a:lnTo>
                      <a:pt x="11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6" name="Freeform 306"/>
              <p:cNvSpPr>
                <a:spLocks/>
              </p:cNvSpPr>
              <p:nvPr/>
            </p:nvSpPr>
            <p:spPr bwMode="auto">
              <a:xfrm>
                <a:off x="2949" y="2079"/>
                <a:ext cx="10" cy="11"/>
              </a:xfrm>
              <a:custGeom>
                <a:avLst/>
                <a:gdLst>
                  <a:gd name="T0" fmla="*/ 9 w 10"/>
                  <a:gd name="T1" fmla="*/ 0 h 11"/>
                  <a:gd name="T2" fmla="*/ 0 w 10"/>
                  <a:gd name="T3" fmla="*/ 1 h 11"/>
                  <a:gd name="T4" fmla="*/ 0 w 10"/>
                  <a:gd name="T5" fmla="*/ 7 h 11"/>
                  <a:gd name="T6" fmla="*/ 1 w 10"/>
                  <a:gd name="T7" fmla="*/ 11 h 11"/>
                  <a:gd name="T8" fmla="*/ 10 w 10"/>
                  <a:gd name="T9" fmla="*/ 10 h 11"/>
                  <a:gd name="T10" fmla="*/ 10 w 10"/>
                  <a:gd name="T11" fmla="*/ 7 h 11"/>
                  <a:gd name="T12" fmla="*/ 9 w 10"/>
                  <a:gd name="T13" fmla="*/ 0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"/>
                  <a:gd name="T22" fmla="*/ 0 h 11"/>
                  <a:gd name="T23" fmla="*/ 10 w 10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" h="11">
                    <a:moveTo>
                      <a:pt x="9" y="0"/>
                    </a:moveTo>
                    <a:lnTo>
                      <a:pt x="0" y="1"/>
                    </a:lnTo>
                    <a:lnTo>
                      <a:pt x="0" y="7"/>
                    </a:lnTo>
                    <a:lnTo>
                      <a:pt x="1" y="11"/>
                    </a:lnTo>
                    <a:lnTo>
                      <a:pt x="10" y="10"/>
                    </a:lnTo>
                    <a:lnTo>
                      <a:pt x="10" y="7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7" name="Freeform 307"/>
              <p:cNvSpPr>
                <a:spLocks/>
              </p:cNvSpPr>
              <p:nvPr/>
            </p:nvSpPr>
            <p:spPr bwMode="auto">
              <a:xfrm>
                <a:off x="2953" y="2099"/>
                <a:ext cx="10" cy="12"/>
              </a:xfrm>
              <a:custGeom>
                <a:avLst/>
                <a:gdLst>
                  <a:gd name="T0" fmla="*/ 8 w 10"/>
                  <a:gd name="T1" fmla="*/ 0 h 12"/>
                  <a:gd name="T2" fmla="*/ 0 w 10"/>
                  <a:gd name="T3" fmla="*/ 1 h 12"/>
                  <a:gd name="T4" fmla="*/ 1 w 10"/>
                  <a:gd name="T5" fmla="*/ 12 h 12"/>
                  <a:gd name="T6" fmla="*/ 10 w 10"/>
                  <a:gd name="T7" fmla="*/ 10 h 12"/>
                  <a:gd name="T8" fmla="*/ 8 w 10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2"/>
                  <a:gd name="T17" fmla="*/ 10 w 10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2">
                    <a:moveTo>
                      <a:pt x="8" y="0"/>
                    </a:moveTo>
                    <a:lnTo>
                      <a:pt x="0" y="1"/>
                    </a:lnTo>
                    <a:lnTo>
                      <a:pt x="1" y="12"/>
                    </a:lnTo>
                    <a:lnTo>
                      <a:pt x="10" y="1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8" name="Freeform 308"/>
              <p:cNvSpPr>
                <a:spLocks/>
              </p:cNvSpPr>
              <p:nvPr/>
            </p:nvSpPr>
            <p:spPr bwMode="auto">
              <a:xfrm>
                <a:off x="2956" y="2119"/>
                <a:ext cx="10" cy="12"/>
              </a:xfrm>
              <a:custGeom>
                <a:avLst/>
                <a:gdLst>
                  <a:gd name="T0" fmla="*/ 9 w 10"/>
                  <a:gd name="T1" fmla="*/ 0 h 12"/>
                  <a:gd name="T2" fmla="*/ 0 w 10"/>
                  <a:gd name="T3" fmla="*/ 2 h 12"/>
                  <a:gd name="T4" fmla="*/ 2 w 10"/>
                  <a:gd name="T5" fmla="*/ 12 h 12"/>
                  <a:gd name="T6" fmla="*/ 10 w 10"/>
                  <a:gd name="T7" fmla="*/ 11 h 12"/>
                  <a:gd name="T8" fmla="*/ 9 w 10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2"/>
                  <a:gd name="T17" fmla="*/ 10 w 10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2">
                    <a:moveTo>
                      <a:pt x="9" y="0"/>
                    </a:moveTo>
                    <a:lnTo>
                      <a:pt x="0" y="2"/>
                    </a:lnTo>
                    <a:lnTo>
                      <a:pt x="2" y="12"/>
                    </a:lnTo>
                    <a:lnTo>
                      <a:pt x="10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79" name="Freeform 309"/>
              <p:cNvSpPr>
                <a:spLocks/>
              </p:cNvSpPr>
              <p:nvPr/>
            </p:nvSpPr>
            <p:spPr bwMode="auto">
              <a:xfrm>
                <a:off x="2960" y="2138"/>
                <a:ext cx="12" cy="12"/>
              </a:xfrm>
              <a:custGeom>
                <a:avLst/>
                <a:gdLst>
                  <a:gd name="T0" fmla="*/ 9 w 12"/>
                  <a:gd name="T1" fmla="*/ 0 h 12"/>
                  <a:gd name="T2" fmla="*/ 0 w 12"/>
                  <a:gd name="T3" fmla="*/ 2 h 12"/>
                  <a:gd name="T4" fmla="*/ 3 w 12"/>
                  <a:gd name="T5" fmla="*/ 12 h 12"/>
                  <a:gd name="T6" fmla="*/ 12 w 12"/>
                  <a:gd name="T7" fmla="*/ 11 h 12"/>
                  <a:gd name="T8" fmla="*/ 9 w 12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9" y="0"/>
                    </a:moveTo>
                    <a:lnTo>
                      <a:pt x="0" y="2"/>
                    </a:lnTo>
                    <a:lnTo>
                      <a:pt x="3" y="12"/>
                    </a:lnTo>
                    <a:lnTo>
                      <a:pt x="12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0" name="Freeform 310"/>
              <p:cNvSpPr>
                <a:spLocks/>
              </p:cNvSpPr>
              <p:nvPr/>
            </p:nvSpPr>
            <p:spPr bwMode="auto">
              <a:xfrm>
                <a:off x="2964" y="2158"/>
                <a:ext cx="11" cy="12"/>
              </a:xfrm>
              <a:custGeom>
                <a:avLst/>
                <a:gdLst>
                  <a:gd name="T0" fmla="*/ 9 w 11"/>
                  <a:gd name="T1" fmla="*/ 0 h 12"/>
                  <a:gd name="T2" fmla="*/ 0 w 11"/>
                  <a:gd name="T3" fmla="*/ 2 h 12"/>
                  <a:gd name="T4" fmla="*/ 2 w 11"/>
                  <a:gd name="T5" fmla="*/ 12 h 12"/>
                  <a:gd name="T6" fmla="*/ 11 w 11"/>
                  <a:gd name="T7" fmla="*/ 10 h 12"/>
                  <a:gd name="T8" fmla="*/ 9 w 1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9" y="0"/>
                    </a:moveTo>
                    <a:lnTo>
                      <a:pt x="0" y="2"/>
                    </a:lnTo>
                    <a:lnTo>
                      <a:pt x="2" y="12"/>
                    </a:lnTo>
                    <a:lnTo>
                      <a:pt x="11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1" name="Freeform 311"/>
              <p:cNvSpPr>
                <a:spLocks/>
              </p:cNvSpPr>
              <p:nvPr/>
            </p:nvSpPr>
            <p:spPr bwMode="auto">
              <a:xfrm>
                <a:off x="2969" y="2178"/>
                <a:ext cx="11" cy="13"/>
              </a:xfrm>
              <a:custGeom>
                <a:avLst/>
                <a:gdLst>
                  <a:gd name="T0" fmla="*/ 9 w 11"/>
                  <a:gd name="T1" fmla="*/ 0 h 13"/>
                  <a:gd name="T2" fmla="*/ 0 w 11"/>
                  <a:gd name="T3" fmla="*/ 2 h 13"/>
                  <a:gd name="T4" fmla="*/ 3 w 11"/>
                  <a:gd name="T5" fmla="*/ 13 h 13"/>
                  <a:gd name="T6" fmla="*/ 11 w 11"/>
                  <a:gd name="T7" fmla="*/ 10 h 13"/>
                  <a:gd name="T8" fmla="*/ 9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9" y="0"/>
                    </a:moveTo>
                    <a:lnTo>
                      <a:pt x="0" y="2"/>
                    </a:lnTo>
                    <a:lnTo>
                      <a:pt x="3" y="13"/>
                    </a:lnTo>
                    <a:lnTo>
                      <a:pt x="11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2" name="Freeform 312"/>
              <p:cNvSpPr>
                <a:spLocks/>
              </p:cNvSpPr>
              <p:nvPr/>
            </p:nvSpPr>
            <p:spPr bwMode="auto">
              <a:xfrm>
                <a:off x="2974" y="2197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3 h 13"/>
                  <a:gd name="T4" fmla="*/ 3 w 12"/>
                  <a:gd name="T5" fmla="*/ 13 h 13"/>
                  <a:gd name="T6" fmla="*/ 12 w 12"/>
                  <a:gd name="T7" fmla="*/ 10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3"/>
                    </a:lnTo>
                    <a:lnTo>
                      <a:pt x="3" y="13"/>
                    </a:lnTo>
                    <a:lnTo>
                      <a:pt x="12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3" name="Freeform 313"/>
              <p:cNvSpPr>
                <a:spLocks/>
              </p:cNvSpPr>
              <p:nvPr/>
            </p:nvSpPr>
            <p:spPr bwMode="auto">
              <a:xfrm>
                <a:off x="2979" y="2217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3 h 13"/>
                  <a:gd name="T4" fmla="*/ 1 w 13"/>
                  <a:gd name="T5" fmla="*/ 4 h 13"/>
                  <a:gd name="T6" fmla="*/ 4 w 13"/>
                  <a:gd name="T7" fmla="*/ 13 h 13"/>
                  <a:gd name="T8" fmla="*/ 13 w 13"/>
                  <a:gd name="T9" fmla="*/ 10 h 13"/>
                  <a:gd name="T10" fmla="*/ 12 w 13"/>
                  <a:gd name="T11" fmla="*/ 4 h 13"/>
                  <a:gd name="T12" fmla="*/ 9 w 13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"/>
                  <a:gd name="T22" fmla="*/ 0 h 13"/>
                  <a:gd name="T23" fmla="*/ 13 w 13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" h="13">
                    <a:moveTo>
                      <a:pt x="9" y="0"/>
                    </a:moveTo>
                    <a:lnTo>
                      <a:pt x="0" y="3"/>
                    </a:lnTo>
                    <a:lnTo>
                      <a:pt x="1" y="4"/>
                    </a:lnTo>
                    <a:lnTo>
                      <a:pt x="4" y="13"/>
                    </a:lnTo>
                    <a:lnTo>
                      <a:pt x="13" y="10"/>
                    </a:lnTo>
                    <a:lnTo>
                      <a:pt x="12" y="4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4" name="Freeform 314"/>
              <p:cNvSpPr>
                <a:spLocks/>
              </p:cNvSpPr>
              <p:nvPr/>
            </p:nvSpPr>
            <p:spPr bwMode="auto">
              <a:xfrm>
                <a:off x="2986" y="2236"/>
                <a:ext cx="11" cy="13"/>
              </a:xfrm>
              <a:custGeom>
                <a:avLst/>
                <a:gdLst>
                  <a:gd name="T0" fmla="*/ 8 w 11"/>
                  <a:gd name="T1" fmla="*/ 0 h 13"/>
                  <a:gd name="T2" fmla="*/ 0 w 11"/>
                  <a:gd name="T3" fmla="*/ 3 h 13"/>
                  <a:gd name="T4" fmla="*/ 2 w 11"/>
                  <a:gd name="T5" fmla="*/ 13 h 13"/>
                  <a:gd name="T6" fmla="*/ 11 w 11"/>
                  <a:gd name="T7" fmla="*/ 11 h 13"/>
                  <a:gd name="T8" fmla="*/ 8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8" y="0"/>
                    </a:moveTo>
                    <a:lnTo>
                      <a:pt x="0" y="3"/>
                    </a:lnTo>
                    <a:lnTo>
                      <a:pt x="2" y="13"/>
                    </a:lnTo>
                    <a:lnTo>
                      <a:pt x="11" y="11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5" name="Freeform 315"/>
              <p:cNvSpPr>
                <a:spLocks/>
              </p:cNvSpPr>
              <p:nvPr/>
            </p:nvSpPr>
            <p:spPr bwMode="auto">
              <a:xfrm>
                <a:off x="2992" y="2257"/>
                <a:ext cx="11" cy="11"/>
              </a:xfrm>
              <a:custGeom>
                <a:avLst/>
                <a:gdLst>
                  <a:gd name="T0" fmla="*/ 9 w 11"/>
                  <a:gd name="T1" fmla="*/ 0 h 11"/>
                  <a:gd name="T2" fmla="*/ 0 w 11"/>
                  <a:gd name="T3" fmla="*/ 2 h 11"/>
                  <a:gd name="T4" fmla="*/ 2 w 11"/>
                  <a:gd name="T5" fmla="*/ 11 h 11"/>
                  <a:gd name="T6" fmla="*/ 11 w 11"/>
                  <a:gd name="T7" fmla="*/ 9 h 11"/>
                  <a:gd name="T8" fmla="*/ 9 w 1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9" y="0"/>
                    </a:moveTo>
                    <a:lnTo>
                      <a:pt x="0" y="2"/>
                    </a:lnTo>
                    <a:lnTo>
                      <a:pt x="2" y="11"/>
                    </a:lnTo>
                    <a:lnTo>
                      <a:pt x="11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6" name="Freeform 316"/>
              <p:cNvSpPr>
                <a:spLocks/>
              </p:cNvSpPr>
              <p:nvPr/>
            </p:nvSpPr>
            <p:spPr bwMode="auto">
              <a:xfrm>
                <a:off x="2998" y="2276"/>
                <a:ext cx="12" cy="11"/>
              </a:xfrm>
              <a:custGeom>
                <a:avLst/>
                <a:gdLst>
                  <a:gd name="T0" fmla="*/ 9 w 12"/>
                  <a:gd name="T1" fmla="*/ 0 h 11"/>
                  <a:gd name="T2" fmla="*/ 0 w 12"/>
                  <a:gd name="T3" fmla="*/ 2 h 11"/>
                  <a:gd name="T4" fmla="*/ 3 w 12"/>
                  <a:gd name="T5" fmla="*/ 11 h 11"/>
                  <a:gd name="T6" fmla="*/ 12 w 12"/>
                  <a:gd name="T7" fmla="*/ 9 h 11"/>
                  <a:gd name="T8" fmla="*/ 9 w 12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9" y="0"/>
                    </a:moveTo>
                    <a:lnTo>
                      <a:pt x="0" y="2"/>
                    </a:lnTo>
                    <a:lnTo>
                      <a:pt x="3" y="11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7" name="Freeform 317"/>
              <p:cNvSpPr>
                <a:spLocks/>
              </p:cNvSpPr>
              <p:nvPr/>
            </p:nvSpPr>
            <p:spPr bwMode="auto">
              <a:xfrm>
                <a:off x="3003" y="2295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2 h 13"/>
                  <a:gd name="T4" fmla="*/ 4 w 13"/>
                  <a:gd name="T5" fmla="*/ 13 h 13"/>
                  <a:gd name="T6" fmla="*/ 13 w 13"/>
                  <a:gd name="T7" fmla="*/ 10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2"/>
                    </a:lnTo>
                    <a:lnTo>
                      <a:pt x="4" y="13"/>
                    </a:lnTo>
                    <a:lnTo>
                      <a:pt x="13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8" name="Freeform 318"/>
              <p:cNvSpPr>
                <a:spLocks/>
              </p:cNvSpPr>
              <p:nvPr/>
            </p:nvSpPr>
            <p:spPr bwMode="auto">
              <a:xfrm>
                <a:off x="3011" y="2314"/>
                <a:ext cx="11" cy="13"/>
              </a:xfrm>
              <a:custGeom>
                <a:avLst/>
                <a:gdLst>
                  <a:gd name="T0" fmla="*/ 9 w 11"/>
                  <a:gd name="T1" fmla="*/ 0 h 13"/>
                  <a:gd name="T2" fmla="*/ 0 w 11"/>
                  <a:gd name="T3" fmla="*/ 2 h 13"/>
                  <a:gd name="T4" fmla="*/ 2 w 11"/>
                  <a:gd name="T5" fmla="*/ 13 h 13"/>
                  <a:gd name="T6" fmla="*/ 11 w 11"/>
                  <a:gd name="T7" fmla="*/ 10 h 13"/>
                  <a:gd name="T8" fmla="*/ 9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9" y="0"/>
                    </a:moveTo>
                    <a:lnTo>
                      <a:pt x="0" y="2"/>
                    </a:lnTo>
                    <a:lnTo>
                      <a:pt x="2" y="13"/>
                    </a:lnTo>
                    <a:lnTo>
                      <a:pt x="11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89" name="Freeform 319"/>
              <p:cNvSpPr>
                <a:spLocks/>
              </p:cNvSpPr>
              <p:nvPr/>
            </p:nvSpPr>
            <p:spPr bwMode="auto">
              <a:xfrm>
                <a:off x="3017" y="2333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3 h 13"/>
                  <a:gd name="T4" fmla="*/ 4 w 13"/>
                  <a:gd name="T5" fmla="*/ 13 h 13"/>
                  <a:gd name="T6" fmla="*/ 13 w 13"/>
                  <a:gd name="T7" fmla="*/ 10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3"/>
                    </a:lnTo>
                    <a:lnTo>
                      <a:pt x="4" y="13"/>
                    </a:lnTo>
                    <a:lnTo>
                      <a:pt x="13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90" name="Freeform 320"/>
              <p:cNvSpPr>
                <a:spLocks/>
              </p:cNvSpPr>
              <p:nvPr/>
            </p:nvSpPr>
            <p:spPr bwMode="auto">
              <a:xfrm>
                <a:off x="3024" y="2352"/>
                <a:ext cx="12" cy="13"/>
              </a:xfrm>
              <a:custGeom>
                <a:avLst/>
                <a:gdLst>
                  <a:gd name="T0" fmla="*/ 8 w 12"/>
                  <a:gd name="T1" fmla="*/ 0 h 13"/>
                  <a:gd name="T2" fmla="*/ 0 w 12"/>
                  <a:gd name="T3" fmla="*/ 3 h 13"/>
                  <a:gd name="T4" fmla="*/ 1 w 12"/>
                  <a:gd name="T5" fmla="*/ 5 h 13"/>
                  <a:gd name="T6" fmla="*/ 3 w 12"/>
                  <a:gd name="T7" fmla="*/ 13 h 13"/>
                  <a:gd name="T8" fmla="*/ 12 w 12"/>
                  <a:gd name="T9" fmla="*/ 9 h 13"/>
                  <a:gd name="T10" fmla="*/ 11 w 12"/>
                  <a:gd name="T11" fmla="*/ 5 h 13"/>
                  <a:gd name="T12" fmla="*/ 8 w 12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"/>
                  <a:gd name="T22" fmla="*/ 0 h 13"/>
                  <a:gd name="T23" fmla="*/ 12 w 12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" h="13">
                    <a:moveTo>
                      <a:pt x="8" y="0"/>
                    </a:moveTo>
                    <a:lnTo>
                      <a:pt x="0" y="3"/>
                    </a:lnTo>
                    <a:lnTo>
                      <a:pt x="1" y="5"/>
                    </a:lnTo>
                    <a:lnTo>
                      <a:pt x="3" y="13"/>
                    </a:lnTo>
                    <a:lnTo>
                      <a:pt x="12" y="9"/>
                    </a:lnTo>
                    <a:lnTo>
                      <a:pt x="11" y="5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91" name="Freeform 321"/>
              <p:cNvSpPr>
                <a:spLocks/>
              </p:cNvSpPr>
              <p:nvPr/>
            </p:nvSpPr>
            <p:spPr bwMode="auto">
              <a:xfrm>
                <a:off x="3031" y="2371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4 h 13"/>
                  <a:gd name="T4" fmla="*/ 4 w 13"/>
                  <a:gd name="T5" fmla="*/ 13 h 13"/>
                  <a:gd name="T6" fmla="*/ 13 w 13"/>
                  <a:gd name="T7" fmla="*/ 9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92" name="Freeform 322"/>
              <p:cNvSpPr>
                <a:spLocks/>
              </p:cNvSpPr>
              <p:nvPr/>
            </p:nvSpPr>
            <p:spPr bwMode="auto">
              <a:xfrm>
                <a:off x="3039" y="2390"/>
                <a:ext cx="11" cy="13"/>
              </a:xfrm>
              <a:custGeom>
                <a:avLst/>
                <a:gdLst>
                  <a:gd name="T0" fmla="*/ 9 w 11"/>
                  <a:gd name="T1" fmla="*/ 0 h 13"/>
                  <a:gd name="T2" fmla="*/ 0 w 11"/>
                  <a:gd name="T3" fmla="*/ 4 h 13"/>
                  <a:gd name="T4" fmla="*/ 2 w 11"/>
                  <a:gd name="T5" fmla="*/ 13 h 13"/>
                  <a:gd name="T6" fmla="*/ 11 w 11"/>
                  <a:gd name="T7" fmla="*/ 9 h 13"/>
                  <a:gd name="T8" fmla="*/ 9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9" y="0"/>
                    </a:moveTo>
                    <a:lnTo>
                      <a:pt x="0" y="4"/>
                    </a:lnTo>
                    <a:lnTo>
                      <a:pt x="2" y="13"/>
                    </a:lnTo>
                    <a:lnTo>
                      <a:pt x="11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93" name="Freeform 323"/>
              <p:cNvSpPr>
                <a:spLocks/>
              </p:cNvSpPr>
              <p:nvPr/>
            </p:nvSpPr>
            <p:spPr bwMode="auto">
              <a:xfrm>
                <a:off x="3045" y="2409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4 h 13"/>
                  <a:gd name="T4" fmla="*/ 4 w 13"/>
                  <a:gd name="T5" fmla="*/ 13 h 13"/>
                  <a:gd name="T6" fmla="*/ 13 w 13"/>
                  <a:gd name="T7" fmla="*/ 9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94" name="Freeform 324"/>
              <p:cNvSpPr>
                <a:spLocks/>
              </p:cNvSpPr>
              <p:nvPr/>
            </p:nvSpPr>
            <p:spPr bwMode="auto">
              <a:xfrm>
                <a:off x="3053" y="2428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4 h 13"/>
                  <a:gd name="T4" fmla="*/ 4 w 12"/>
                  <a:gd name="T5" fmla="*/ 13 h 13"/>
                  <a:gd name="T6" fmla="*/ 12 w 12"/>
                  <a:gd name="T7" fmla="*/ 9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95" name="Freeform 325"/>
              <p:cNvSpPr>
                <a:spLocks/>
              </p:cNvSpPr>
              <p:nvPr/>
            </p:nvSpPr>
            <p:spPr bwMode="auto">
              <a:xfrm>
                <a:off x="3060" y="2447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4 h 13"/>
                  <a:gd name="T4" fmla="*/ 4 w 13"/>
                  <a:gd name="T5" fmla="*/ 13 h 13"/>
                  <a:gd name="T6" fmla="*/ 13 w 13"/>
                  <a:gd name="T7" fmla="*/ 9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96" name="Freeform 326"/>
              <p:cNvSpPr>
                <a:spLocks/>
              </p:cNvSpPr>
              <p:nvPr/>
            </p:nvSpPr>
            <p:spPr bwMode="auto">
              <a:xfrm>
                <a:off x="3068" y="2465"/>
                <a:ext cx="13" cy="14"/>
              </a:xfrm>
              <a:custGeom>
                <a:avLst/>
                <a:gdLst>
                  <a:gd name="T0" fmla="*/ 9 w 13"/>
                  <a:gd name="T1" fmla="*/ 0 h 14"/>
                  <a:gd name="T2" fmla="*/ 0 w 13"/>
                  <a:gd name="T3" fmla="*/ 4 h 14"/>
                  <a:gd name="T4" fmla="*/ 4 w 13"/>
                  <a:gd name="T5" fmla="*/ 14 h 14"/>
                  <a:gd name="T6" fmla="*/ 13 w 13"/>
                  <a:gd name="T7" fmla="*/ 10 h 14"/>
                  <a:gd name="T8" fmla="*/ 9 w 13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4"/>
                  <a:gd name="T17" fmla="*/ 13 w 13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4">
                    <a:moveTo>
                      <a:pt x="9" y="0"/>
                    </a:moveTo>
                    <a:lnTo>
                      <a:pt x="0" y="4"/>
                    </a:lnTo>
                    <a:lnTo>
                      <a:pt x="4" y="14"/>
                    </a:lnTo>
                    <a:lnTo>
                      <a:pt x="13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97" name="Freeform 327"/>
              <p:cNvSpPr>
                <a:spLocks/>
              </p:cNvSpPr>
              <p:nvPr/>
            </p:nvSpPr>
            <p:spPr bwMode="auto">
              <a:xfrm>
                <a:off x="3076" y="2484"/>
                <a:ext cx="11" cy="10"/>
              </a:xfrm>
              <a:custGeom>
                <a:avLst/>
                <a:gdLst>
                  <a:gd name="T0" fmla="*/ 9 w 11"/>
                  <a:gd name="T1" fmla="*/ 0 h 10"/>
                  <a:gd name="T2" fmla="*/ 0 w 11"/>
                  <a:gd name="T3" fmla="*/ 4 h 10"/>
                  <a:gd name="T4" fmla="*/ 2 w 11"/>
                  <a:gd name="T5" fmla="*/ 10 h 10"/>
                  <a:gd name="T6" fmla="*/ 11 w 11"/>
                  <a:gd name="T7" fmla="*/ 7 h 10"/>
                  <a:gd name="T8" fmla="*/ 9 w 1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0"/>
                  <a:gd name="T17" fmla="*/ 11 w 1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0">
                    <a:moveTo>
                      <a:pt x="9" y="0"/>
                    </a:moveTo>
                    <a:lnTo>
                      <a:pt x="0" y="4"/>
                    </a:lnTo>
                    <a:lnTo>
                      <a:pt x="2" y="10"/>
                    </a:lnTo>
                    <a:lnTo>
                      <a:pt x="11" y="7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98" name="Freeform 328"/>
              <p:cNvSpPr>
                <a:spLocks/>
              </p:cNvSpPr>
              <p:nvPr/>
            </p:nvSpPr>
            <p:spPr bwMode="auto">
              <a:xfrm>
                <a:off x="3041" y="2475"/>
                <a:ext cx="79" cy="96"/>
              </a:xfrm>
              <a:custGeom>
                <a:avLst/>
                <a:gdLst>
                  <a:gd name="T0" fmla="*/ 0 w 79"/>
                  <a:gd name="T1" fmla="*/ 33 h 96"/>
                  <a:gd name="T2" fmla="*/ 73 w 79"/>
                  <a:gd name="T3" fmla="*/ 96 h 96"/>
                  <a:gd name="T4" fmla="*/ 79 w 79"/>
                  <a:gd name="T5" fmla="*/ 0 h 96"/>
                  <a:gd name="T6" fmla="*/ 0 w 79"/>
                  <a:gd name="T7" fmla="*/ 33 h 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9"/>
                  <a:gd name="T13" fmla="*/ 0 h 96"/>
                  <a:gd name="T14" fmla="*/ 79 w 79"/>
                  <a:gd name="T15" fmla="*/ 96 h 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9" h="96">
                    <a:moveTo>
                      <a:pt x="0" y="33"/>
                    </a:moveTo>
                    <a:lnTo>
                      <a:pt x="73" y="96"/>
                    </a:lnTo>
                    <a:lnTo>
                      <a:pt x="79" y="0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48" name="Group 329"/>
            <p:cNvGrpSpPr>
              <a:grpSpLocks/>
            </p:cNvGrpSpPr>
            <p:nvPr/>
          </p:nvGrpSpPr>
          <p:grpSpPr bwMode="auto">
            <a:xfrm>
              <a:off x="2824" y="1329"/>
              <a:ext cx="184" cy="1242"/>
              <a:chOff x="2824" y="1329"/>
              <a:chExt cx="184" cy="1242"/>
            </a:xfrm>
          </p:grpSpPr>
          <p:sp>
            <p:nvSpPr>
              <p:cNvPr id="103777" name="Freeform 330"/>
              <p:cNvSpPr>
                <a:spLocks/>
              </p:cNvSpPr>
              <p:nvPr/>
            </p:nvSpPr>
            <p:spPr bwMode="auto">
              <a:xfrm>
                <a:off x="2974" y="1329"/>
                <a:ext cx="13" cy="12"/>
              </a:xfrm>
              <a:custGeom>
                <a:avLst/>
                <a:gdLst>
                  <a:gd name="T0" fmla="*/ 13 w 13"/>
                  <a:gd name="T1" fmla="*/ 4 h 12"/>
                  <a:gd name="T2" fmla="*/ 4 w 13"/>
                  <a:gd name="T3" fmla="*/ 0 h 12"/>
                  <a:gd name="T4" fmla="*/ 0 w 13"/>
                  <a:gd name="T5" fmla="*/ 9 h 12"/>
                  <a:gd name="T6" fmla="*/ 9 w 13"/>
                  <a:gd name="T7" fmla="*/ 12 h 12"/>
                  <a:gd name="T8" fmla="*/ 13 w 13"/>
                  <a:gd name="T9" fmla="*/ 4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2"/>
                  <a:gd name="T17" fmla="*/ 13 w 13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2">
                    <a:moveTo>
                      <a:pt x="13" y="4"/>
                    </a:moveTo>
                    <a:lnTo>
                      <a:pt x="4" y="0"/>
                    </a:lnTo>
                    <a:lnTo>
                      <a:pt x="0" y="9"/>
                    </a:lnTo>
                    <a:lnTo>
                      <a:pt x="9" y="12"/>
                    </a:lnTo>
                    <a:lnTo>
                      <a:pt x="13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8" name="Freeform 331"/>
              <p:cNvSpPr>
                <a:spLocks/>
              </p:cNvSpPr>
              <p:nvPr/>
            </p:nvSpPr>
            <p:spPr bwMode="auto">
              <a:xfrm>
                <a:off x="2966" y="1347"/>
                <a:ext cx="13" cy="14"/>
              </a:xfrm>
              <a:custGeom>
                <a:avLst/>
                <a:gdLst>
                  <a:gd name="T0" fmla="*/ 13 w 13"/>
                  <a:gd name="T1" fmla="*/ 3 h 14"/>
                  <a:gd name="T2" fmla="*/ 4 w 13"/>
                  <a:gd name="T3" fmla="*/ 0 h 14"/>
                  <a:gd name="T4" fmla="*/ 0 w 13"/>
                  <a:gd name="T5" fmla="*/ 10 h 14"/>
                  <a:gd name="T6" fmla="*/ 9 w 13"/>
                  <a:gd name="T7" fmla="*/ 14 h 14"/>
                  <a:gd name="T8" fmla="*/ 13 w 13"/>
                  <a:gd name="T9" fmla="*/ 3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4"/>
                  <a:gd name="T17" fmla="*/ 13 w 13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4">
                    <a:moveTo>
                      <a:pt x="13" y="3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3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9" name="Freeform 332"/>
              <p:cNvSpPr>
                <a:spLocks/>
              </p:cNvSpPr>
              <p:nvPr/>
            </p:nvSpPr>
            <p:spPr bwMode="auto">
              <a:xfrm>
                <a:off x="2959" y="1366"/>
                <a:ext cx="13" cy="14"/>
              </a:xfrm>
              <a:custGeom>
                <a:avLst/>
                <a:gdLst>
                  <a:gd name="T0" fmla="*/ 13 w 13"/>
                  <a:gd name="T1" fmla="*/ 3 h 14"/>
                  <a:gd name="T2" fmla="*/ 4 w 13"/>
                  <a:gd name="T3" fmla="*/ 0 h 14"/>
                  <a:gd name="T4" fmla="*/ 0 w 13"/>
                  <a:gd name="T5" fmla="*/ 10 h 14"/>
                  <a:gd name="T6" fmla="*/ 9 w 13"/>
                  <a:gd name="T7" fmla="*/ 14 h 14"/>
                  <a:gd name="T8" fmla="*/ 13 w 13"/>
                  <a:gd name="T9" fmla="*/ 3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4"/>
                  <a:gd name="T17" fmla="*/ 13 w 13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4">
                    <a:moveTo>
                      <a:pt x="13" y="3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3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0" name="Freeform 333"/>
              <p:cNvSpPr>
                <a:spLocks/>
              </p:cNvSpPr>
              <p:nvPr/>
            </p:nvSpPr>
            <p:spPr bwMode="auto">
              <a:xfrm>
                <a:off x="2953" y="1385"/>
                <a:ext cx="11" cy="14"/>
              </a:xfrm>
              <a:custGeom>
                <a:avLst/>
                <a:gdLst>
                  <a:gd name="T0" fmla="*/ 11 w 11"/>
                  <a:gd name="T1" fmla="*/ 4 h 14"/>
                  <a:gd name="T2" fmla="*/ 2 w 11"/>
                  <a:gd name="T3" fmla="*/ 0 h 14"/>
                  <a:gd name="T4" fmla="*/ 0 w 11"/>
                  <a:gd name="T5" fmla="*/ 10 h 14"/>
                  <a:gd name="T6" fmla="*/ 8 w 11"/>
                  <a:gd name="T7" fmla="*/ 14 h 14"/>
                  <a:gd name="T8" fmla="*/ 11 w 11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4"/>
                  <a:gd name="T17" fmla="*/ 11 w 11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4">
                    <a:moveTo>
                      <a:pt x="11" y="4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8" y="14"/>
                    </a:lnTo>
                    <a:lnTo>
                      <a:pt x="11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1" name="Freeform 334"/>
              <p:cNvSpPr>
                <a:spLocks/>
              </p:cNvSpPr>
              <p:nvPr/>
            </p:nvSpPr>
            <p:spPr bwMode="auto">
              <a:xfrm>
                <a:off x="2945" y="1404"/>
                <a:ext cx="13" cy="14"/>
              </a:xfrm>
              <a:custGeom>
                <a:avLst/>
                <a:gdLst>
                  <a:gd name="T0" fmla="*/ 13 w 13"/>
                  <a:gd name="T1" fmla="*/ 4 h 14"/>
                  <a:gd name="T2" fmla="*/ 4 w 13"/>
                  <a:gd name="T3" fmla="*/ 0 h 14"/>
                  <a:gd name="T4" fmla="*/ 2 w 13"/>
                  <a:gd name="T5" fmla="*/ 4 h 14"/>
                  <a:gd name="T6" fmla="*/ 0 w 13"/>
                  <a:gd name="T7" fmla="*/ 10 h 14"/>
                  <a:gd name="T8" fmla="*/ 9 w 13"/>
                  <a:gd name="T9" fmla="*/ 14 h 14"/>
                  <a:gd name="T10" fmla="*/ 13 w 13"/>
                  <a:gd name="T11" fmla="*/ 4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14"/>
                  <a:gd name="T20" fmla="*/ 13 w 13"/>
                  <a:gd name="T21" fmla="*/ 14 h 1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14">
                    <a:moveTo>
                      <a:pt x="13" y="4"/>
                    </a:moveTo>
                    <a:lnTo>
                      <a:pt x="4" y="0"/>
                    </a:lnTo>
                    <a:lnTo>
                      <a:pt x="2" y="4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3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2" name="Freeform 335"/>
              <p:cNvSpPr>
                <a:spLocks/>
              </p:cNvSpPr>
              <p:nvPr/>
            </p:nvSpPr>
            <p:spPr bwMode="auto">
              <a:xfrm>
                <a:off x="2939" y="1423"/>
                <a:ext cx="11" cy="14"/>
              </a:xfrm>
              <a:custGeom>
                <a:avLst/>
                <a:gdLst>
                  <a:gd name="T0" fmla="*/ 11 w 11"/>
                  <a:gd name="T1" fmla="*/ 4 h 14"/>
                  <a:gd name="T2" fmla="*/ 2 w 11"/>
                  <a:gd name="T3" fmla="*/ 0 h 14"/>
                  <a:gd name="T4" fmla="*/ 0 w 11"/>
                  <a:gd name="T5" fmla="*/ 10 h 14"/>
                  <a:gd name="T6" fmla="*/ 8 w 11"/>
                  <a:gd name="T7" fmla="*/ 14 h 14"/>
                  <a:gd name="T8" fmla="*/ 11 w 11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4"/>
                  <a:gd name="T17" fmla="*/ 11 w 11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4">
                    <a:moveTo>
                      <a:pt x="11" y="4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8" y="14"/>
                    </a:lnTo>
                    <a:lnTo>
                      <a:pt x="11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3" name="Freeform 336"/>
              <p:cNvSpPr>
                <a:spLocks/>
              </p:cNvSpPr>
              <p:nvPr/>
            </p:nvSpPr>
            <p:spPr bwMode="auto">
              <a:xfrm>
                <a:off x="2931" y="1442"/>
                <a:ext cx="13" cy="14"/>
              </a:xfrm>
              <a:custGeom>
                <a:avLst/>
                <a:gdLst>
                  <a:gd name="T0" fmla="*/ 13 w 13"/>
                  <a:gd name="T1" fmla="*/ 4 h 14"/>
                  <a:gd name="T2" fmla="*/ 4 w 13"/>
                  <a:gd name="T3" fmla="*/ 0 h 14"/>
                  <a:gd name="T4" fmla="*/ 0 w 13"/>
                  <a:gd name="T5" fmla="*/ 10 h 14"/>
                  <a:gd name="T6" fmla="*/ 9 w 13"/>
                  <a:gd name="T7" fmla="*/ 14 h 14"/>
                  <a:gd name="T8" fmla="*/ 13 w 13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4"/>
                  <a:gd name="T17" fmla="*/ 13 w 13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4">
                    <a:moveTo>
                      <a:pt x="13" y="4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3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4" name="Freeform 337"/>
              <p:cNvSpPr>
                <a:spLocks/>
              </p:cNvSpPr>
              <p:nvPr/>
            </p:nvSpPr>
            <p:spPr bwMode="auto">
              <a:xfrm>
                <a:off x="2925" y="1461"/>
                <a:ext cx="11" cy="14"/>
              </a:xfrm>
              <a:custGeom>
                <a:avLst/>
                <a:gdLst>
                  <a:gd name="T0" fmla="*/ 11 w 11"/>
                  <a:gd name="T1" fmla="*/ 4 h 14"/>
                  <a:gd name="T2" fmla="*/ 2 w 11"/>
                  <a:gd name="T3" fmla="*/ 0 h 14"/>
                  <a:gd name="T4" fmla="*/ 0 w 11"/>
                  <a:gd name="T5" fmla="*/ 10 h 14"/>
                  <a:gd name="T6" fmla="*/ 8 w 11"/>
                  <a:gd name="T7" fmla="*/ 14 h 14"/>
                  <a:gd name="T8" fmla="*/ 11 w 11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4"/>
                  <a:gd name="T17" fmla="*/ 11 w 11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4">
                    <a:moveTo>
                      <a:pt x="11" y="4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8" y="14"/>
                    </a:lnTo>
                    <a:lnTo>
                      <a:pt x="11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5" name="Freeform 338"/>
              <p:cNvSpPr>
                <a:spLocks/>
              </p:cNvSpPr>
              <p:nvPr/>
            </p:nvSpPr>
            <p:spPr bwMode="auto">
              <a:xfrm>
                <a:off x="2917" y="1480"/>
                <a:ext cx="13" cy="14"/>
              </a:xfrm>
              <a:custGeom>
                <a:avLst/>
                <a:gdLst>
                  <a:gd name="T0" fmla="*/ 13 w 13"/>
                  <a:gd name="T1" fmla="*/ 4 h 14"/>
                  <a:gd name="T2" fmla="*/ 4 w 13"/>
                  <a:gd name="T3" fmla="*/ 0 h 14"/>
                  <a:gd name="T4" fmla="*/ 3 w 13"/>
                  <a:gd name="T5" fmla="*/ 5 h 14"/>
                  <a:gd name="T6" fmla="*/ 0 w 13"/>
                  <a:gd name="T7" fmla="*/ 11 h 14"/>
                  <a:gd name="T8" fmla="*/ 9 w 13"/>
                  <a:gd name="T9" fmla="*/ 14 h 14"/>
                  <a:gd name="T10" fmla="*/ 13 w 13"/>
                  <a:gd name="T11" fmla="*/ 5 h 14"/>
                  <a:gd name="T12" fmla="*/ 13 w 13"/>
                  <a:gd name="T13" fmla="*/ 4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"/>
                  <a:gd name="T22" fmla="*/ 0 h 14"/>
                  <a:gd name="T23" fmla="*/ 13 w 13"/>
                  <a:gd name="T24" fmla="*/ 14 h 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" h="14">
                    <a:moveTo>
                      <a:pt x="13" y="4"/>
                    </a:moveTo>
                    <a:lnTo>
                      <a:pt x="4" y="0"/>
                    </a:lnTo>
                    <a:lnTo>
                      <a:pt x="3" y="5"/>
                    </a:lnTo>
                    <a:lnTo>
                      <a:pt x="0" y="11"/>
                    </a:lnTo>
                    <a:lnTo>
                      <a:pt x="9" y="14"/>
                    </a:lnTo>
                    <a:lnTo>
                      <a:pt x="13" y="5"/>
                    </a:lnTo>
                    <a:lnTo>
                      <a:pt x="13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6" name="Freeform 339"/>
              <p:cNvSpPr>
                <a:spLocks/>
              </p:cNvSpPr>
              <p:nvPr/>
            </p:nvSpPr>
            <p:spPr bwMode="auto">
              <a:xfrm>
                <a:off x="2911" y="1500"/>
                <a:ext cx="12" cy="13"/>
              </a:xfrm>
              <a:custGeom>
                <a:avLst/>
                <a:gdLst>
                  <a:gd name="T0" fmla="*/ 12 w 12"/>
                  <a:gd name="T1" fmla="*/ 3 h 13"/>
                  <a:gd name="T2" fmla="*/ 3 w 12"/>
                  <a:gd name="T3" fmla="*/ 0 h 13"/>
                  <a:gd name="T4" fmla="*/ 0 w 12"/>
                  <a:gd name="T5" fmla="*/ 11 h 13"/>
                  <a:gd name="T6" fmla="*/ 9 w 12"/>
                  <a:gd name="T7" fmla="*/ 13 h 13"/>
                  <a:gd name="T8" fmla="*/ 12 w 12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3"/>
                    </a:moveTo>
                    <a:lnTo>
                      <a:pt x="3" y="0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7" name="Freeform 340"/>
              <p:cNvSpPr>
                <a:spLocks/>
              </p:cNvSpPr>
              <p:nvPr/>
            </p:nvSpPr>
            <p:spPr bwMode="auto">
              <a:xfrm>
                <a:off x="2904" y="1519"/>
                <a:ext cx="12" cy="13"/>
              </a:xfrm>
              <a:custGeom>
                <a:avLst/>
                <a:gdLst>
                  <a:gd name="T0" fmla="*/ 12 w 12"/>
                  <a:gd name="T1" fmla="*/ 3 h 13"/>
                  <a:gd name="T2" fmla="*/ 3 w 12"/>
                  <a:gd name="T3" fmla="*/ 0 h 13"/>
                  <a:gd name="T4" fmla="*/ 0 w 12"/>
                  <a:gd name="T5" fmla="*/ 11 h 13"/>
                  <a:gd name="T6" fmla="*/ 9 w 12"/>
                  <a:gd name="T7" fmla="*/ 13 h 13"/>
                  <a:gd name="T8" fmla="*/ 12 w 12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3"/>
                    </a:moveTo>
                    <a:lnTo>
                      <a:pt x="3" y="0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8" name="Freeform 341"/>
              <p:cNvSpPr>
                <a:spLocks/>
              </p:cNvSpPr>
              <p:nvPr/>
            </p:nvSpPr>
            <p:spPr bwMode="auto">
              <a:xfrm>
                <a:off x="2898" y="1539"/>
                <a:ext cx="11" cy="12"/>
              </a:xfrm>
              <a:custGeom>
                <a:avLst/>
                <a:gdLst>
                  <a:gd name="T0" fmla="*/ 11 w 11"/>
                  <a:gd name="T1" fmla="*/ 2 h 12"/>
                  <a:gd name="T2" fmla="*/ 2 w 11"/>
                  <a:gd name="T3" fmla="*/ 0 h 12"/>
                  <a:gd name="T4" fmla="*/ 0 w 11"/>
                  <a:gd name="T5" fmla="*/ 10 h 12"/>
                  <a:gd name="T6" fmla="*/ 9 w 11"/>
                  <a:gd name="T7" fmla="*/ 12 h 12"/>
                  <a:gd name="T8" fmla="*/ 11 w 11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11" y="2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2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89" name="Freeform 342"/>
              <p:cNvSpPr>
                <a:spLocks/>
              </p:cNvSpPr>
              <p:nvPr/>
            </p:nvSpPr>
            <p:spPr bwMode="auto">
              <a:xfrm>
                <a:off x="2892" y="1559"/>
                <a:ext cx="11" cy="11"/>
              </a:xfrm>
              <a:custGeom>
                <a:avLst/>
                <a:gdLst>
                  <a:gd name="T0" fmla="*/ 11 w 11"/>
                  <a:gd name="T1" fmla="*/ 2 h 11"/>
                  <a:gd name="T2" fmla="*/ 2 w 11"/>
                  <a:gd name="T3" fmla="*/ 0 h 11"/>
                  <a:gd name="T4" fmla="*/ 1 w 11"/>
                  <a:gd name="T5" fmla="*/ 4 h 11"/>
                  <a:gd name="T6" fmla="*/ 0 w 11"/>
                  <a:gd name="T7" fmla="*/ 9 h 11"/>
                  <a:gd name="T8" fmla="*/ 8 w 11"/>
                  <a:gd name="T9" fmla="*/ 11 h 11"/>
                  <a:gd name="T10" fmla="*/ 11 w 11"/>
                  <a:gd name="T11" fmla="*/ 4 h 11"/>
                  <a:gd name="T12" fmla="*/ 11 w 11"/>
                  <a:gd name="T13" fmla="*/ 2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"/>
                  <a:gd name="T22" fmla="*/ 0 h 11"/>
                  <a:gd name="T23" fmla="*/ 11 w 11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" h="11">
                    <a:moveTo>
                      <a:pt x="11" y="2"/>
                    </a:moveTo>
                    <a:lnTo>
                      <a:pt x="2" y="0"/>
                    </a:lnTo>
                    <a:lnTo>
                      <a:pt x="1" y="4"/>
                    </a:lnTo>
                    <a:lnTo>
                      <a:pt x="0" y="9"/>
                    </a:lnTo>
                    <a:lnTo>
                      <a:pt x="8" y="11"/>
                    </a:lnTo>
                    <a:lnTo>
                      <a:pt x="11" y="4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0" name="Freeform 343"/>
              <p:cNvSpPr>
                <a:spLocks/>
              </p:cNvSpPr>
              <p:nvPr/>
            </p:nvSpPr>
            <p:spPr bwMode="auto">
              <a:xfrm>
                <a:off x="2885" y="1578"/>
                <a:ext cx="13" cy="11"/>
              </a:xfrm>
              <a:custGeom>
                <a:avLst/>
                <a:gdLst>
                  <a:gd name="T0" fmla="*/ 13 w 13"/>
                  <a:gd name="T1" fmla="*/ 2 h 11"/>
                  <a:gd name="T2" fmla="*/ 4 w 13"/>
                  <a:gd name="T3" fmla="*/ 0 h 11"/>
                  <a:gd name="T4" fmla="*/ 0 w 13"/>
                  <a:gd name="T5" fmla="*/ 9 h 11"/>
                  <a:gd name="T6" fmla="*/ 9 w 13"/>
                  <a:gd name="T7" fmla="*/ 11 h 11"/>
                  <a:gd name="T8" fmla="*/ 13 w 13"/>
                  <a:gd name="T9" fmla="*/ 2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1"/>
                  <a:gd name="T17" fmla="*/ 13 w 13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1">
                    <a:moveTo>
                      <a:pt x="13" y="2"/>
                    </a:moveTo>
                    <a:lnTo>
                      <a:pt x="4" y="0"/>
                    </a:lnTo>
                    <a:lnTo>
                      <a:pt x="0" y="9"/>
                    </a:lnTo>
                    <a:lnTo>
                      <a:pt x="9" y="11"/>
                    </a:ln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1" name="Freeform 344"/>
              <p:cNvSpPr>
                <a:spLocks/>
              </p:cNvSpPr>
              <p:nvPr/>
            </p:nvSpPr>
            <p:spPr bwMode="auto">
              <a:xfrm>
                <a:off x="2880" y="1597"/>
                <a:ext cx="12" cy="13"/>
              </a:xfrm>
              <a:custGeom>
                <a:avLst/>
                <a:gdLst>
                  <a:gd name="T0" fmla="*/ 12 w 12"/>
                  <a:gd name="T1" fmla="*/ 3 h 13"/>
                  <a:gd name="T2" fmla="*/ 3 w 12"/>
                  <a:gd name="T3" fmla="*/ 0 h 13"/>
                  <a:gd name="T4" fmla="*/ 0 w 12"/>
                  <a:gd name="T5" fmla="*/ 10 h 13"/>
                  <a:gd name="T6" fmla="*/ 9 w 12"/>
                  <a:gd name="T7" fmla="*/ 13 h 13"/>
                  <a:gd name="T8" fmla="*/ 12 w 12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3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2" name="Freeform 345"/>
              <p:cNvSpPr>
                <a:spLocks/>
              </p:cNvSpPr>
              <p:nvPr/>
            </p:nvSpPr>
            <p:spPr bwMode="auto">
              <a:xfrm>
                <a:off x="2874" y="1616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2 w 11"/>
                  <a:gd name="T3" fmla="*/ 0 h 13"/>
                  <a:gd name="T4" fmla="*/ 0 w 11"/>
                  <a:gd name="T5" fmla="*/ 10 h 13"/>
                  <a:gd name="T6" fmla="*/ 9 w 11"/>
                  <a:gd name="T7" fmla="*/ 13 h 13"/>
                  <a:gd name="T8" fmla="*/ 11 w 11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3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3" name="Freeform 346"/>
              <p:cNvSpPr>
                <a:spLocks/>
              </p:cNvSpPr>
              <p:nvPr/>
            </p:nvSpPr>
            <p:spPr bwMode="auto">
              <a:xfrm>
                <a:off x="2869" y="1636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2 w 11"/>
                  <a:gd name="T3" fmla="*/ 0 h 13"/>
                  <a:gd name="T4" fmla="*/ 1 w 11"/>
                  <a:gd name="T5" fmla="*/ 4 h 13"/>
                  <a:gd name="T6" fmla="*/ 0 w 11"/>
                  <a:gd name="T7" fmla="*/ 11 h 13"/>
                  <a:gd name="T8" fmla="*/ 9 w 11"/>
                  <a:gd name="T9" fmla="*/ 13 h 13"/>
                  <a:gd name="T10" fmla="*/ 11 w 11"/>
                  <a:gd name="T11" fmla="*/ 4 h 13"/>
                  <a:gd name="T12" fmla="*/ 11 w 11"/>
                  <a:gd name="T13" fmla="*/ 3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"/>
                  <a:gd name="T22" fmla="*/ 0 h 13"/>
                  <a:gd name="T23" fmla="*/ 11 w 11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" h="13">
                    <a:moveTo>
                      <a:pt x="11" y="3"/>
                    </a:moveTo>
                    <a:lnTo>
                      <a:pt x="2" y="0"/>
                    </a:lnTo>
                    <a:lnTo>
                      <a:pt x="1" y="4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1" y="4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4" name="Freeform 347"/>
              <p:cNvSpPr>
                <a:spLocks/>
              </p:cNvSpPr>
              <p:nvPr/>
            </p:nvSpPr>
            <p:spPr bwMode="auto">
              <a:xfrm>
                <a:off x="2864" y="1655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2 w 11"/>
                  <a:gd name="T3" fmla="*/ 0 h 13"/>
                  <a:gd name="T4" fmla="*/ 0 w 11"/>
                  <a:gd name="T5" fmla="*/ 11 h 13"/>
                  <a:gd name="T6" fmla="*/ 9 w 11"/>
                  <a:gd name="T7" fmla="*/ 13 h 13"/>
                  <a:gd name="T8" fmla="*/ 11 w 11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3"/>
                    </a:moveTo>
                    <a:lnTo>
                      <a:pt x="2" y="0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5" name="Freeform 348"/>
              <p:cNvSpPr>
                <a:spLocks/>
              </p:cNvSpPr>
              <p:nvPr/>
            </p:nvSpPr>
            <p:spPr bwMode="auto">
              <a:xfrm>
                <a:off x="2859" y="1676"/>
                <a:ext cx="11" cy="13"/>
              </a:xfrm>
              <a:custGeom>
                <a:avLst/>
                <a:gdLst>
                  <a:gd name="T0" fmla="*/ 11 w 11"/>
                  <a:gd name="T1" fmla="*/ 2 h 13"/>
                  <a:gd name="T2" fmla="*/ 2 w 11"/>
                  <a:gd name="T3" fmla="*/ 0 h 13"/>
                  <a:gd name="T4" fmla="*/ 0 w 11"/>
                  <a:gd name="T5" fmla="*/ 10 h 13"/>
                  <a:gd name="T6" fmla="*/ 8 w 11"/>
                  <a:gd name="T7" fmla="*/ 13 h 13"/>
                  <a:gd name="T8" fmla="*/ 11 w 11"/>
                  <a:gd name="T9" fmla="*/ 2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2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8" y="13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6" name="Freeform 349"/>
              <p:cNvSpPr>
                <a:spLocks/>
              </p:cNvSpPr>
              <p:nvPr/>
            </p:nvSpPr>
            <p:spPr bwMode="auto">
              <a:xfrm>
                <a:off x="2854" y="1695"/>
                <a:ext cx="11" cy="13"/>
              </a:xfrm>
              <a:custGeom>
                <a:avLst/>
                <a:gdLst>
                  <a:gd name="T0" fmla="*/ 11 w 11"/>
                  <a:gd name="T1" fmla="*/ 2 h 13"/>
                  <a:gd name="T2" fmla="*/ 2 w 11"/>
                  <a:gd name="T3" fmla="*/ 0 h 13"/>
                  <a:gd name="T4" fmla="*/ 0 w 11"/>
                  <a:gd name="T5" fmla="*/ 10 h 13"/>
                  <a:gd name="T6" fmla="*/ 8 w 11"/>
                  <a:gd name="T7" fmla="*/ 13 h 13"/>
                  <a:gd name="T8" fmla="*/ 11 w 11"/>
                  <a:gd name="T9" fmla="*/ 2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2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8" y="13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7" name="Freeform 350"/>
              <p:cNvSpPr>
                <a:spLocks/>
              </p:cNvSpPr>
              <p:nvPr/>
            </p:nvSpPr>
            <p:spPr bwMode="auto">
              <a:xfrm>
                <a:off x="2848" y="1715"/>
                <a:ext cx="12" cy="12"/>
              </a:xfrm>
              <a:custGeom>
                <a:avLst/>
                <a:gdLst>
                  <a:gd name="T0" fmla="*/ 12 w 12"/>
                  <a:gd name="T1" fmla="*/ 3 h 12"/>
                  <a:gd name="T2" fmla="*/ 3 w 12"/>
                  <a:gd name="T3" fmla="*/ 0 h 12"/>
                  <a:gd name="T4" fmla="*/ 2 w 12"/>
                  <a:gd name="T5" fmla="*/ 3 h 12"/>
                  <a:gd name="T6" fmla="*/ 0 w 12"/>
                  <a:gd name="T7" fmla="*/ 10 h 12"/>
                  <a:gd name="T8" fmla="*/ 9 w 12"/>
                  <a:gd name="T9" fmla="*/ 12 h 12"/>
                  <a:gd name="T10" fmla="*/ 12 w 12"/>
                  <a:gd name="T11" fmla="*/ 3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2"/>
                  <a:gd name="T19" fmla="*/ 0 h 12"/>
                  <a:gd name="T20" fmla="*/ 12 w 12"/>
                  <a:gd name="T21" fmla="*/ 12 h 1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2" h="12">
                    <a:moveTo>
                      <a:pt x="12" y="3"/>
                    </a:moveTo>
                    <a:lnTo>
                      <a:pt x="3" y="0"/>
                    </a:lnTo>
                    <a:lnTo>
                      <a:pt x="2" y="3"/>
                    </a:lnTo>
                    <a:lnTo>
                      <a:pt x="0" y="10"/>
                    </a:lnTo>
                    <a:lnTo>
                      <a:pt x="9" y="12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8" name="Freeform 351"/>
              <p:cNvSpPr>
                <a:spLocks/>
              </p:cNvSpPr>
              <p:nvPr/>
            </p:nvSpPr>
            <p:spPr bwMode="auto">
              <a:xfrm>
                <a:off x="2845" y="1736"/>
                <a:ext cx="11" cy="11"/>
              </a:xfrm>
              <a:custGeom>
                <a:avLst/>
                <a:gdLst>
                  <a:gd name="T0" fmla="*/ 11 w 11"/>
                  <a:gd name="T1" fmla="*/ 1 h 11"/>
                  <a:gd name="T2" fmla="*/ 2 w 11"/>
                  <a:gd name="T3" fmla="*/ 0 h 11"/>
                  <a:gd name="T4" fmla="*/ 0 w 11"/>
                  <a:gd name="T5" fmla="*/ 10 h 11"/>
                  <a:gd name="T6" fmla="*/ 9 w 11"/>
                  <a:gd name="T7" fmla="*/ 11 h 11"/>
                  <a:gd name="T8" fmla="*/ 11 w 11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11" y="1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99" name="Freeform 352"/>
              <p:cNvSpPr>
                <a:spLocks/>
              </p:cNvSpPr>
              <p:nvPr/>
            </p:nvSpPr>
            <p:spPr bwMode="auto">
              <a:xfrm>
                <a:off x="2841" y="1756"/>
                <a:ext cx="11" cy="11"/>
              </a:xfrm>
              <a:custGeom>
                <a:avLst/>
                <a:gdLst>
                  <a:gd name="T0" fmla="*/ 11 w 11"/>
                  <a:gd name="T1" fmla="*/ 1 h 11"/>
                  <a:gd name="T2" fmla="*/ 2 w 11"/>
                  <a:gd name="T3" fmla="*/ 0 h 11"/>
                  <a:gd name="T4" fmla="*/ 1 w 11"/>
                  <a:gd name="T5" fmla="*/ 0 h 11"/>
                  <a:gd name="T6" fmla="*/ 0 w 11"/>
                  <a:gd name="T7" fmla="*/ 10 h 11"/>
                  <a:gd name="T8" fmla="*/ 10 w 11"/>
                  <a:gd name="T9" fmla="*/ 11 h 11"/>
                  <a:gd name="T10" fmla="*/ 11 w 11"/>
                  <a:gd name="T11" fmla="*/ 0 h 11"/>
                  <a:gd name="T12" fmla="*/ 11 w 11"/>
                  <a:gd name="T13" fmla="*/ 1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"/>
                  <a:gd name="T22" fmla="*/ 0 h 11"/>
                  <a:gd name="T23" fmla="*/ 11 w 11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" h="11">
                    <a:moveTo>
                      <a:pt x="11" y="1"/>
                    </a:moveTo>
                    <a:lnTo>
                      <a:pt x="2" y="0"/>
                    </a:lnTo>
                    <a:lnTo>
                      <a:pt x="1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1" y="0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0" name="Freeform 353"/>
              <p:cNvSpPr>
                <a:spLocks/>
              </p:cNvSpPr>
              <p:nvPr/>
            </p:nvSpPr>
            <p:spPr bwMode="auto">
              <a:xfrm>
                <a:off x="2837" y="1775"/>
                <a:ext cx="11" cy="11"/>
              </a:xfrm>
              <a:custGeom>
                <a:avLst/>
                <a:gdLst>
                  <a:gd name="T0" fmla="*/ 11 w 11"/>
                  <a:gd name="T1" fmla="*/ 1 h 11"/>
                  <a:gd name="T2" fmla="*/ 1 w 11"/>
                  <a:gd name="T3" fmla="*/ 0 h 11"/>
                  <a:gd name="T4" fmla="*/ 0 w 11"/>
                  <a:gd name="T5" fmla="*/ 10 h 11"/>
                  <a:gd name="T6" fmla="*/ 10 w 11"/>
                  <a:gd name="T7" fmla="*/ 11 h 11"/>
                  <a:gd name="T8" fmla="*/ 11 w 11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11" y="1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1" name="Freeform 354"/>
              <p:cNvSpPr>
                <a:spLocks/>
              </p:cNvSpPr>
              <p:nvPr/>
            </p:nvSpPr>
            <p:spPr bwMode="auto">
              <a:xfrm>
                <a:off x="2834" y="1795"/>
                <a:ext cx="12" cy="12"/>
              </a:xfrm>
              <a:custGeom>
                <a:avLst/>
                <a:gdLst>
                  <a:gd name="T0" fmla="*/ 12 w 12"/>
                  <a:gd name="T1" fmla="*/ 2 h 12"/>
                  <a:gd name="T2" fmla="*/ 2 w 12"/>
                  <a:gd name="T3" fmla="*/ 0 h 12"/>
                  <a:gd name="T4" fmla="*/ 0 w 12"/>
                  <a:gd name="T5" fmla="*/ 10 h 12"/>
                  <a:gd name="T6" fmla="*/ 11 w 12"/>
                  <a:gd name="T7" fmla="*/ 12 h 12"/>
                  <a:gd name="T8" fmla="*/ 12 w 12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12" y="2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11" y="12"/>
                    </a:ln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2" name="Freeform 355"/>
              <p:cNvSpPr>
                <a:spLocks/>
              </p:cNvSpPr>
              <p:nvPr/>
            </p:nvSpPr>
            <p:spPr bwMode="auto">
              <a:xfrm>
                <a:off x="2831" y="1816"/>
                <a:ext cx="11" cy="11"/>
              </a:xfrm>
              <a:custGeom>
                <a:avLst/>
                <a:gdLst>
                  <a:gd name="T0" fmla="*/ 11 w 11"/>
                  <a:gd name="T1" fmla="*/ 1 h 11"/>
                  <a:gd name="T2" fmla="*/ 1 w 11"/>
                  <a:gd name="T3" fmla="*/ 0 h 11"/>
                  <a:gd name="T4" fmla="*/ 0 w 11"/>
                  <a:gd name="T5" fmla="*/ 10 h 11"/>
                  <a:gd name="T6" fmla="*/ 10 w 11"/>
                  <a:gd name="T7" fmla="*/ 11 h 11"/>
                  <a:gd name="T8" fmla="*/ 11 w 11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11" y="1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3" name="Freeform 356"/>
              <p:cNvSpPr>
                <a:spLocks/>
              </p:cNvSpPr>
              <p:nvPr/>
            </p:nvSpPr>
            <p:spPr bwMode="auto">
              <a:xfrm>
                <a:off x="2829" y="1836"/>
                <a:ext cx="11" cy="11"/>
              </a:xfrm>
              <a:custGeom>
                <a:avLst/>
                <a:gdLst>
                  <a:gd name="T0" fmla="*/ 11 w 11"/>
                  <a:gd name="T1" fmla="*/ 1 h 11"/>
                  <a:gd name="T2" fmla="*/ 0 w 11"/>
                  <a:gd name="T3" fmla="*/ 0 h 11"/>
                  <a:gd name="T4" fmla="*/ 0 w 11"/>
                  <a:gd name="T5" fmla="*/ 10 h 11"/>
                  <a:gd name="T6" fmla="*/ 11 w 11"/>
                  <a:gd name="T7" fmla="*/ 11 h 11"/>
                  <a:gd name="T8" fmla="*/ 11 w 11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11" y="1"/>
                    </a:moveTo>
                    <a:lnTo>
                      <a:pt x="0" y="0"/>
                    </a:lnTo>
                    <a:lnTo>
                      <a:pt x="0" y="10"/>
                    </a:lnTo>
                    <a:lnTo>
                      <a:pt x="11" y="1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4" name="Freeform 357"/>
              <p:cNvSpPr>
                <a:spLocks/>
              </p:cNvSpPr>
              <p:nvPr/>
            </p:nvSpPr>
            <p:spPr bwMode="auto">
              <a:xfrm>
                <a:off x="2827" y="1856"/>
                <a:ext cx="11" cy="12"/>
              </a:xfrm>
              <a:custGeom>
                <a:avLst/>
                <a:gdLst>
                  <a:gd name="T0" fmla="*/ 11 w 11"/>
                  <a:gd name="T1" fmla="*/ 2 h 12"/>
                  <a:gd name="T2" fmla="*/ 1 w 11"/>
                  <a:gd name="T3" fmla="*/ 0 h 12"/>
                  <a:gd name="T4" fmla="*/ 0 w 11"/>
                  <a:gd name="T5" fmla="*/ 10 h 12"/>
                  <a:gd name="T6" fmla="*/ 10 w 11"/>
                  <a:gd name="T7" fmla="*/ 12 h 12"/>
                  <a:gd name="T8" fmla="*/ 11 w 11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11" y="2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2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5" name="Freeform 358"/>
              <p:cNvSpPr>
                <a:spLocks/>
              </p:cNvSpPr>
              <p:nvPr/>
            </p:nvSpPr>
            <p:spPr bwMode="auto">
              <a:xfrm>
                <a:off x="2826" y="1877"/>
                <a:ext cx="11" cy="10"/>
              </a:xfrm>
              <a:custGeom>
                <a:avLst/>
                <a:gdLst>
                  <a:gd name="T0" fmla="*/ 11 w 11"/>
                  <a:gd name="T1" fmla="*/ 0 h 10"/>
                  <a:gd name="T2" fmla="*/ 1 w 11"/>
                  <a:gd name="T3" fmla="*/ 0 h 10"/>
                  <a:gd name="T4" fmla="*/ 0 w 11"/>
                  <a:gd name="T5" fmla="*/ 10 h 10"/>
                  <a:gd name="T6" fmla="*/ 10 w 11"/>
                  <a:gd name="T7" fmla="*/ 10 h 10"/>
                  <a:gd name="T8" fmla="*/ 11 w 1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0"/>
                  <a:gd name="T17" fmla="*/ 11 w 1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0">
                    <a:moveTo>
                      <a:pt x="11" y="0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0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6" name="Freeform 359"/>
              <p:cNvSpPr>
                <a:spLocks/>
              </p:cNvSpPr>
              <p:nvPr/>
            </p:nvSpPr>
            <p:spPr bwMode="auto">
              <a:xfrm>
                <a:off x="2824" y="1897"/>
                <a:ext cx="12" cy="10"/>
              </a:xfrm>
              <a:custGeom>
                <a:avLst/>
                <a:gdLst>
                  <a:gd name="T0" fmla="*/ 12 w 12"/>
                  <a:gd name="T1" fmla="*/ 0 h 10"/>
                  <a:gd name="T2" fmla="*/ 2 w 12"/>
                  <a:gd name="T3" fmla="*/ 0 h 10"/>
                  <a:gd name="T4" fmla="*/ 0 w 12"/>
                  <a:gd name="T5" fmla="*/ 10 h 10"/>
                  <a:gd name="T6" fmla="*/ 10 w 12"/>
                  <a:gd name="T7" fmla="*/ 10 h 10"/>
                  <a:gd name="T8" fmla="*/ 12 w 12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0"/>
                  <a:gd name="T17" fmla="*/ 12 w 12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0">
                    <a:moveTo>
                      <a:pt x="12" y="0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10" y="1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7" name="Rectangle 360"/>
              <p:cNvSpPr>
                <a:spLocks noChangeArrowheads="1"/>
              </p:cNvSpPr>
              <p:nvPr/>
            </p:nvSpPr>
            <p:spPr bwMode="auto">
              <a:xfrm>
                <a:off x="2824" y="1917"/>
                <a:ext cx="10" cy="10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8" name="Rectangle 361"/>
              <p:cNvSpPr>
                <a:spLocks noChangeArrowheads="1"/>
              </p:cNvSpPr>
              <p:nvPr/>
            </p:nvSpPr>
            <p:spPr bwMode="auto">
              <a:xfrm>
                <a:off x="2824" y="1938"/>
                <a:ext cx="10" cy="10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09" name="Freeform 362"/>
              <p:cNvSpPr>
                <a:spLocks/>
              </p:cNvSpPr>
              <p:nvPr/>
            </p:nvSpPr>
            <p:spPr bwMode="auto">
              <a:xfrm>
                <a:off x="2824" y="1958"/>
                <a:ext cx="12" cy="10"/>
              </a:xfrm>
              <a:custGeom>
                <a:avLst/>
                <a:gdLst>
                  <a:gd name="T0" fmla="*/ 10 w 12"/>
                  <a:gd name="T1" fmla="*/ 0 h 10"/>
                  <a:gd name="T2" fmla="*/ 0 w 12"/>
                  <a:gd name="T3" fmla="*/ 0 h 10"/>
                  <a:gd name="T4" fmla="*/ 2 w 12"/>
                  <a:gd name="T5" fmla="*/ 10 h 10"/>
                  <a:gd name="T6" fmla="*/ 12 w 12"/>
                  <a:gd name="T7" fmla="*/ 10 h 10"/>
                  <a:gd name="T8" fmla="*/ 10 w 12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0"/>
                  <a:gd name="T17" fmla="*/ 12 w 12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0">
                    <a:moveTo>
                      <a:pt x="10" y="0"/>
                    </a:moveTo>
                    <a:lnTo>
                      <a:pt x="0" y="0"/>
                    </a:lnTo>
                    <a:lnTo>
                      <a:pt x="2" y="10"/>
                    </a:lnTo>
                    <a:lnTo>
                      <a:pt x="12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0" name="Freeform 363"/>
              <p:cNvSpPr>
                <a:spLocks/>
              </p:cNvSpPr>
              <p:nvPr/>
            </p:nvSpPr>
            <p:spPr bwMode="auto">
              <a:xfrm>
                <a:off x="2826" y="1978"/>
                <a:ext cx="10" cy="12"/>
              </a:xfrm>
              <a:custGeom>
                <a:avLst/>
                <a:gdLst>
                  <a:gd name="T0" fmla="*/ 10 w 10"/>
                  <a:gd name="T1" fmla="*/ 0 h 12"/>
                  <a:gd name="T2" fmla="*/ 0 w 10"/>
                  <a:gd name="T3" fmla="*/ 0 h 12"/>
                  <a:gd name="T4" fmla="*/ 0 w 10"/>
                  <a:gd name="T5" fmla="*/ 7 h 12"/>
                  <a:gd name="T6" fmla="*/ 0 w 10"/>
                  <a:gd name="T7" fmla="*/ 12 h 12"/>
                  <a:gd name="T8" fmla="*/ 10 w 10"/>
                  <a:gd name="T9" fmla="*/ 10 h 12"/>
                  <a:gd name="T10" fmla="*/ 10 w 10"/>
                  <a:gd name="T11" fmla="*/ 7 h 12"/>
                  <a:gd name="T12" fmla="*/ 10 w 10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"/>
                  <a:gd name="T22" fmla="*/ 0 h 12"/>
                  <a:gd name="T23" fmla="*/ 10 w 10"/>
                  <a:gd name="T24" fmla="*/ 12 h 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" h="12">
                    <a:moveTo>
                      <a:pt x="10" y="0"/>
                    </a:moveTo>
                    <a:lnTo>
                      <a:pt x="0" y="0"/>
                    </a:lnTo>
                    <a:lnTo>
                      <a:pt x="0" y="7"/>
                    </a:lnTo>
                    <a:lnTo>
                      <a:pt x="0" y="12"/>
                    </a:lnTo>
                    <a:lnTo>
                      <a:pt x="10" y="10"/>
                    </a:lnTo>
                    <a:lnTo>
                      <a:pt x="10" y="7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1" name="Freeform 364"/>
              <p:cNvSpPr>
                <a:spLocks/>
              </p:cNvSpPr>
              <p:nvPr/>
            </p:nvSpPr>
            <p:spPr bwMode="auto">
              <a:xfrm>
                <a:off x="2827" y="1999"/>
                <a:ext cx="10" cy="11"/>
              </a:xfrm>
              <a:custGeom>
                <a:avLst/>
                <a:gdLst>
                  <a:gd name="T0" fmla="*/ 10 w 10"/>
                  <a:gd name="T1" fmla="*/ 0 h 11"/>
                  <a:gd name="T2" fmla="*/ 0 w 10"/>
                  <a:gd name="T3" fmla="*/ 1 h 11"/>
                  <a:gd name="T4" fmla="*/ 0 w 10"/>
                  <a:gd name="T5" fmla="*/ 11 h 11"/>
                  <a:gd name="T6" fmla="*/ 10 w 10"/>
                  <a:gd name="T7" fmla="*/ 10 h 11"/>
                  <a:gd name="T8" fmla="*/ 10 w 10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1"/>
                  <a:gd name="T17" fmla="*/ 10 w 10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1">
                    <a:moveTo>
                      <a:pt x="10" y="0"/>
                    </a:moveTo>
                    <a:lnTo>
                      <a:pt x="0" y="1"/>
                    </a:lnTo>
                    <a:lnTo>
                      <a:pt x="0" y="11"/>
                    </a:lnTo>
                    <a:lnTo>
                      <a:pt x="10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2" name="Freeform 365"/>
              <p:cNvSpPr>
                <a:spLocks/>
              </p:cNvSpPr>
              <p:nvPr/>
            </p:nvSpPr>
            <p:spPr bwMode="auto">
              <a:xfrm>
                <a:off x="2828" y="2019"/>
                <a:ext cx="12" cy="11"/>
              </a:xfrm>
              <a:custGeom>
                <a:avLst/>
                <a:gdLst>
                  <a:gd name="T0" fmla="*/ 10 w 12"/>
                  <a:gd name="T1" fmla="*/ 0 h 11"/>
                  <a:gd name="T2" fmla="*/ 0 w 12"/>
                  <a:gd name="T3" fmla="*/ 1 h 11"/>
                  <a:gd name="T4" fmla="*/ 1 w 12"/>
                  <a:gd name="T5" fmla="*/ 11 h 11"/>
                  <a:gd name="T6" fmla="*/ 12 w 12"/>
                  <a:gd name="T7" fmla="*/ 10 h 11"/>
                  <a:gd name="T8" fmla="*/ 10 w 12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10" y="0"/>
                    </a:moveTo>
                    <a:lnTo>
                      <a:pt x="0" y="1"/>
                    </a:lnTo>
                    <a:lnTo>
                      <a:pt x="1" y="11"/>
                    </a:lnTo>
                    <a:lnTo>
                      <a:pt x="12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3" name="Freeform 366"/>
              <p:cNvSpPr>
                <a:spLocks/>
              </p:cNvSpPr>
              <p:nvPr/>
            </p:nvSpPr>
            <p:spPr bwMode="auto">
              <a:xfrm>
                <a:off x="2831" y="2039"/>
                <a:ext cx="11" cy="12"/>
              </a:xfrm>
              <a:custGeom>
                <a:avLst/>
                <a:gdLst>
                  <a:gd name="T0" fmla="*/ 10 w 11"/>
                  <a:gd name="T1" fmla="*/ 0 h 12"/>
                  <a:gd name="T2" fmla="*/ 0 w 11"/>
                  <a:gd name="T3" fmla="*/ 2 h 12"/>
                  <a:gd name="T4" fmla="*/ 1 w 11"/>
                  <a:gd name="T5" fmla="*/ 12 h 12"/>
                  <a:gd name="T6" fmla="*/ 11 w 11"/>
                  <a:gd name="T7" fmla="*/ 11 h 12"/>
                  <a:gd name="T8" fmla="*/ 10 w 1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10" y="0"/>
                    </a:moveTo>
                    <a:lnTo>
                      <a:pt x="0" y="2"/>
                    </a:lnTo>
                    <a:lnTo>
                      <a:pt x="1" y="12"/>
                    </a:lnTo>
                    <a:lnTo>
                      <a:pt x="11" y="11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4" name="Freeform 367"/>
              <p:cNvSpPr>
                <a:spLocks/>
              </p:cNvSpPr>
              <p:nvPr/>
            </p:nvSpPr>
            <p:spPr bwMode="auto">
              <a:xfrm>
                <a:off x="2833" y="2058"/>
                <a:ext cx="12" cy="12"/>
              </a:xfrm>
              <a:custGeom>
                <a:avLst/>
                <a:gdLst>
                  <a:gd name="T0" fmla="*/ 9 w 12"/>
                  <a:gd name="T1" fmla="*/ 0 h 12"/>
                  <a:gd name="T2" fmla="*/ 0 w 12"/>
                  <a:gd name="T3" fmla="*/ 2 h 12"/>
                  <a:gd name="T4" fmla="*/ 3 w 12"/>
                  <a:gd name="T5" fmla="*/ 12 h 12"/>
                  <a:gd name="T6" fmla="*/ 12 w 12"/>
                  <a:gd name="T7" fmla="*/ 11 h 12"/>
                  <a:gd name="T8" fmla="*/ 9 w 12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9" y="0"/>
                    </a:moveTo>
                    <a:lnTo>
                      <a:pt x="0" y="2"/>
                    </a:lnTo>
                    <a:lnTo>
                      <a:pt x="3" y="12"/>
                    </a:lnTo>
                    <a:lnTo>
                      <a:pt x="12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5" name="Freeform 368"/>
              <p:cNvSpPr>
                <a:spLocks/>
              </p:cNvSpPr>
              <p:nvPr/>
            </p:nvSpPr>
            <p:spPr bwMode="auto">
              <a:xfrm>
                <a:off x="2837" y="2079"/>
                <a:ext cx="10" cy="11"/>
              </a:xfrm>
              <a:custGeom>
                <a:avLst/>
                <a:gdLst>
                  <a:gd name="T0" fmla="*/ 9 w 10"/>
                  <a:gd name="T1" fmla="*/ 0 h 11"/>
                  <a:gd name="T2" fmla="*/ 0 w 10"/>
                  <a:gd name="T3" fmla="*/ 1 h 11"/>
                  <a:gd name="T4" fmla="*/ 0 w 10"/>
                  <a:gd name="T5" fmla="*/ 7 h 11"/>
                  <a:gd name="T6" fmla="*/ 1 w 10"/>
                  <a:gd name="T7" fmla="*/ 11 h 11"/>
                  <a:gd name="T8" fmla="*/ 10 w 10"/>
                  <a:gd name="T9" fmla="*/ 10 h 11"/>
                  <a:gd name="T10" fmla="*/ 10 w 10"/>
                  <a:gd name="T11" fmla="*/ 7 h 11"/>
                  <a:gd name="T12" fmla="*/ 9 w 10"/>
                  <a:gd name="T13" fmla="*/ 0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"/>
                  <a:gd name="T22" fmla="*/ 0 h 11"/>
                  <a:gd name="T23" fmla="*/ 10 w 10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" h="11">
                    <a:moveTo>
                      <a:pt x="9" y="0"/>
                    </a:moveTo>
                    <a:lnTo>
                      <a:pt x="0" y="1"/>
                    </a:lnTo>
                    <a:lnTo>
                      <a:pt x="0" y="7"/>
                    </a:lnTo>
                    <a:lnTo>
                      <a:pt x="1" y="11"/>
                    </a:lnTo>
                    <a:lnTo>
                      <a:pt x="10" y="10"/>
                    </a:lnTo>
                    <a:lnTo>
                      <a:pt x="10" y="7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6" name="Freeform 369"/>
              <p:cNvSpPr>
                <a:spLocks/>
              </p:cNvSpPr>
              <p:nvPr/>
            </p:nvSpPr>
            <p:spPr bwMode="auto">
              <a:xfrm>
                <a:off x="2841" y="2099"/>
                <a:ext cx="10" cy="12"/>
              </a:xfrm>
              <a:custGeom>
                <a:avLst/>
                <a:gdLst>
                  <a:gd name="T0" fmla="*/ 9 w 10"/>
                  <a:gd name="T1" fmla="*/ 0 h 12"/>
                  <a:gd name="T2" fmla="*/ 0 w 10"/>
                  <a:gd name="T3" fmla="*/ 1 h 12"/>
                  <a:gd name="T4" fmla="*/ 1 w 10"/>
                  <a:gd name="T5" fmla="*/ 12 h 12"/>
                  <a:gd name="T6" fmla="*/ 10 w 10"/>
                  <a:gd name="T7" fmla="*/ 10 h 12"/>
                  <a:gd name="T8" fmla="*/ 9 w 10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2"/>
                  <a:gd name="T17" fmla="*/ 10 w 10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2">
                    <a:moveTo>
                      <a:pt x="9" y="0"/>
                    </a:moveTo>
                    <a:lnTo>
                      <a:pt x="0" y="1"/>
                    </a:lnTo>
                    <a:lnTo>
                      <a:pt x="1" y="12"/>
                    </a:lnTo>
                    <a:lnTo>
                      <a:pt x="10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7" name="Freeform 370"/>
              <p:cNvSpPr>
                <a:spLocks/>
              </p:cNvSpPr>
              <p:nvPr/>
            </p:nvSpPr>
            <p:spPr bwMode="auto">
              <a:xfrm>
                <a:off x="2845" y="2119"/>
                <a:ext cx="10" cy="12"/>
              </a:xfrm>
              <a:custGeom>
                <a:avLst/>
                <a:gdLst>
                  <a:gd name="T0" fmla="*/ 9 w 10"/>
                  <a:gd name="T1" fmla="*/ 0 h 12"/>
                  <a:gd name="T2" fmla="*/ 0 w 10"/>
                  <a:gd name="T3" fmla="*/ 2 h 12"/>
                  <a:gd name="T4" fmla="*/ 1 w 10"/>
                  <a:gd name="T5" fmla="*/ 12 h 12"/>
                  <a:gd name="T6" fmla="*/ 10 w 10"/>
                  <a:gd name="T7" fmla="*/ 11 h 12"/>
                  <a:gd name="T8" fmla="*/ 9 w 10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2"/>
                  <a:gd name="T17" fmla="*/ 10 w 10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2">
                    <a:moveTo>
                      <a:pt x="9" y="0"/>
                    </a:moveTo>
                    <a:lnTo>
                      <a:pt x="0" y="2"/>
                    </a:lnTo>
                    <a:lnTo>
                      <a:pt x="1" y="12"/>
                    </a:lnTo>
                    <a:lnTo>
                      <a:pt x="10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8" name="Freeform 371"/>
              <p:cNvSpPr>
                <a:spLocks/>
              </p:cNvSpPr>
              <p:nvPr/>
            </p:nvSpPr>
            <p:spPr bwMode="auto">
              <a:xfrm>
                <a:off x="2848" y="2138"/>
                <a:ext cx="12" cy="12"/>
              </a:xfrm>
              <a:custGeom>
                <a:avLst/>
                <a:gdLst>
                  <a:gd name="T0" fmla="*/ 9 w 12"/>
                  <a:gd name="T1" fmla="*/ 0 h 12"/>
                  <a:gd name="T2" fmla="*/ 0 w 12"/>
                  <a:gd name="T3" fmla="*/ 2 h 12"/>
                  <a:gd name="T4" fmla="*/ 3 w 12"/>
                  <a:gd name="T5" fmla="*/ 12 h 12"/>
                  <a:gd name="T6" fmla="*/ 12 w 12"/>
                  <a:gd name="T7" fmla="*/ 11 h 12"/>
                  <a:gd name="T8" fmla="*/ 9 w 12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9" y="0"/>
                    </a:moveTo>
                    <a:lnTo>
                      <a:pt x="0" y="2"/>
                    </a:lnTo>
                    <a:lnTo>
                      <a:pt x="3" y="12"/>
                    </a:lnTo>
                    <a:lnTo>
                      <a:pt x="12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19" name="Freeform 372"/>
              <p:cNvSpPr>
                <a:spLocks/>
              </p:cNvSpPr>
              <p:nvPr/>
            </p:nvSpPr>
            <p:spPr bwMode="auto">
              <a:xfrm>
                <a:off x="2852" y="2158"/>
                <a:ext cx="12" cy="12"/>
              </a:xfrm>
              <a:custGeom>
                <a:avLst/>
                <a:gdLst>
                  <a:gd name="T0" fmla="*/ 9 w 12"/>
                  <a:gd name="T1" fmla="*/ 0 h 12"/>
                  <a:gd name="T2" fmla="*/ 0 w 12"/>
                  <a:gd name="T3" fmla="*/ 2 h 12"/>
                  <a:gd name="T4" fmla="*/ 3 w 12"/>
                  <a:gd name="T5" fmla="*/ 12 h 12"/>
                  <a:gd name="T6" fmla="*/ 12 w 12"/>
                  <a:gd name="T7" fmla="*/ 10 h 12"/>
                  <a:gd name="T8" fmla="*/ 9 w 12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9" y="0"/>
                    </a:moveTo>
                    <a:lnTo>
                      <a:pt x="0" y="2"/>
                    </a:lnTo>
                    <a:lnTo>
                      <a:pt x="3" y="12"/>
                    </a:lnTo>
                    <a:lnTo>
                      <a:pt x="12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0" name="Freeform 373"/>
              <p:cNvSpPr>
                <a:spLocks/>
              </p:cNvSpPr>
              <p:nvPr/>
            </p:nvSpPr>
            <p:spPr bwMode="auto">
              <a:xfrm>
                <a:off x="2857" y="2178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2 h 13"/>
                  <a:gd name="T4" fmla="*/ 3 w 12"/>
                  <a:gd name="T5" fmla="*/ 13 h 13"/>
                  <a:gd name="T6" fmla="*/ 12 w 12"/>
                  <a:gd name="T7" fmla="*/ 10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2"/>
                    </a:lnTo>
                    <a:lnTo>
                      <a:pt x="3" y="13"/>
                    </a:lnTo>
                    <a:lnTo>
                      <a:pt x="12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1" name="Freeform 374"/>
              <p:cNvSpPr>
                <a:spLocks/>
              </p:cNvSpPr>
              <p:nvPr/>
            </p:nvSpPr>
            <p:spPr bwMode="auto">
              <a:xfrm>
                <a:off x="2862" y="2197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3 h 13"/>
                  <a:gd name="T4" fmla="*/ 3 w 12"/>
                  <a:gd name="T5" fmla="*/ 13 h 13"/>
                  <a:gd name="T6" fmla="*/ 12 w 12"/>
                  <a:gd name="T7" fmla="*/ 10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3"/>
                    </a:lnTo>
                    <a:lnTo>
                      <a:pt x="3" y="13"/>
                    </a:lnTo>
                    <a:lnTo>
                      <a:pt x="12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2" name="Freeform 375"/>
              <p:cNvSpPr>
                <a:spLocks/>
              </p:cNvSpPr>
              <p:nvPr/>
            </p:nvSpPr>
            <p:spPr bwMode="auto">
              <a:xfrm>
                <a:off x="2867" y="2217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3 h 13"/>
                  <a:gd name="T4" fmla="*/ 2 w 13"/>
                  <a:gd name="T5" fmla="*/ 4 h 13"/>
                  <a:gd name="T6" fmla="*/ 4 w 13"/>
                  <a:gd name="T7" fmla="*/ 13 h 13"/>
                  <a:gd name="T8" fmla="*/ 13 w 13"/>
                  <a:gd name="T9" fmla="*/ 10 h 13"/>
                  <a:gd name="T10" fmla="*/ 12 w 13"/>
                  <a:gd name="T11" fmla="*/ 4 h 13"/>
                  <a:gd name="T12" fmla="*/ 9 w 13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"/>
                  <a:gd name="T22" fmla="*/ 0 h 13"/>
                  <a:gd name="T23" fmla="*/ 13 w 13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" h="13">
                    <a:moveTo>
                      <a:pt x="9" y="0"/>
                    </a:moveTo>
                    <a:lnTo>
                      <a:pt x="0" y="3"/>
                    </a:lnTo>
                    <a:lnTo>
                      <a:pt x="2" y="4"/>
                    </a:lnTo>
                    <a:lnTo>
                      <a:pt x="4" y="13"/>
                    </a:lnTo>
                    <a:lnTo>
                      <a:pt x="13" y="10"/>
                    </a:lnTo>
                    <a:lnTo>
                      <a:pt x="12" y="4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3" name="Freeform 376"/>
              <p:cNvSpPr>
                <a:spLocks/>
              </p:cNvSpPr>
              <p:nvPr/>
            </p:nvSpPr>
            <p:spPr bwMode="auto">
              <a:xfrm>
                <a:off x="2874" y="2236"/>
                <a:ext cx="11" cy="13"/>
              </a:xfrm>
              <a:custGeom>
                <a:avLst/>
                <a:gdLst>
                  <a:gd name="T0" fmla="*/ 9 w 11"/>
                  <a:gd name="T1" fmla="*/ 0 h 13"/>
                  <a:gd name="T2" fmla="*/ 0 w 11"/>
                  <a:gd name="T3" fmla="*/ 3 h 13"/>
                  <a:gd name="T4" fmla="*/ 2 w 11"/>
                  <a:gd name="T5" fmla="*/ 13 h 13"/>
                  <a:gd name="T6" fmla="*/ 11 w 11"/>
                  <a:gd name="T7" fmla="*/ 11 h 13"/>
                  <a:gd name="T8" fmla="*/ 9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9" y="0"/>
                    </a:moveTo>
                    <a:lnTo>
                      <a:pt x="0" y="3"/>
                    </a:lnTo>
                    <a:lnTo>
                      <a:pt x="2" y="13"/>
                    </a:lnTo>
                    <a:lnTo>
                      <a:pt x="11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4" name="Freeform 377"/>
              <p:cNvSpPr>
                <a:spLocks/>
              </p:cNvSpPr>
              <p:nvPr/>
            </p:nvSpPr>
            <p:spPr bwMode="auto">
              <a:xfrm>
                <a:off x="2880" y="2257"/>
                <a:ext cx="12" cy="11"/>
              </a:xfrm>
              <a:custGeom>
                <a:avLst/>
                <a:gdLst>
                  <a:gd name="T0" fmla="*/ 9 w 12"/>
                  <a:gd name="T1" fmla="*/ 0 h 11"/>
                  <a:gd name="T2" fmla="*/ 0 w 12"/>
                  <a:gd name="T3" fmla="*/ 2 h 11"/>
                  <a:gd name="T4" fmla="*/ 3 w 12"/>
                  <a:gd name="T5" fmla="*/ 11 h 11"/>
                  <a:gd name="T6" fmla="*/ 12 w 12"/>
                  <a:gd name="T7" fmla="*/ 9 h 11"/>
                  <a:gd name="T8" fmla="*/ 9 w 12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9" y="0"/>
                    </a:moveTo>
                    <a:lnTo>
                      <a:pt x="0" y="2"/>
                    </a:lnTo>
                    <a:lnTo>
                      <a:pt x="3" y="11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5" name="Freeform 378"/>
              <p:cNvSpPr>
                <a:spLocks/>
              </p:cNvSpPr>
              <p:nvPr/>
            </p:nvSpPr>
            <p:spPr bwMode="auto">
              <a:xfrm>
                <a:off x="2887" y="2276"/>
                <a:ext cx="11" cy="11"/>
              </a:xfrm>
              <a:custGeom>
                <a:avLst/>
                <a:gdLst>
                  <a:gd name="T0" fmla="*/ 8 w 11"/>
                  <a:gd name="T1" fmla="*/ 0 h 11"/>
                  <a:gd name="T2" fmla="*/ 0 w 11"/>
                  <a:gd name="T3" fmla="*/ 2 h 11"/>
                  <a:gd name="T4" fmla="*/ 2 w 11"/>
                  <a:gd name="T5" fmla="*/ 11 h 11"/>
                  <a:gd name="T6" fmla="*/ 11 w 11"/>
                  <a:gd name="T7" fmla="*/ 9 h 11"/>
                  <a:gd name="T8" fmla="*/ 8 w 1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8" y="0"/>
                    </a:moveTo>
                    <a:lnTo>
                      <a:pt x="0" y="2"/>
                    </a:lnTo>
                    <a:lnTo>
                      <a:pt x="2" y="11"/>
                    </a:lnTo>
                    <a:lnTo>
                      <a:pt x="11" y="9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6" name="Freeform 379"/>
              <p:cNvSpPr>
                <a:spLocks/>
              </p:cNvSpPr>
              <p:nvPr/>
            </p:nvSpPr>
            <p:spPr bwMode="auto">
              <a:xfrm>
                <a:off x="2892" y="2295"/>
                <a:ext cx="12" cy="13"/>
              </a:xfrm>
              <a:custGeom>
                <a:avLst/>
                <a:gdLst>
                  <a:gd name="T0" fmla="*/ 8 w 12"/>
                  <a:gd name="T1" fmla="*/ 0 h 13"/>
                  <a:gd name="T2" fmla="*/ 0 w 12"/>
                  <a:gd name="T3" fmla="*/ 2 h 13"/>
                  <a:gd name="T4" fmla="*/ 3 w 12"/>
                  <a:gd name="T5" fmla="*/ 13 h 13"/>
                  <a:gd name="T6" fmla="*/ 12 w 12"/>
                  <a:gd name="T7" fmla="*/ 10 h 13"/>
                  <a:gd name="T8" fmla="*/ 8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8" y="0"/>
                    </a:moveTo>
                    <a:lnTo>
                      <a:pt x="0" y="2"/>
                    </a:lnTo>
                    <a:lnTo>
                      <a:pt x="3" y="13"/>
                    </a:lnTo>
                    <a:lnTo>
                      <a:pt x="12" y="1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7" name="Freeform 380"/>
              <p:cNvSpPr>
                <a:spLocks/>
              </p:cNvSpPr>
              <p:nvPr/>
            </p:nvSpPr>
            <p:spPr bwMode="auto">
              <a:xfrm>
                <a:off x="2899" y="2314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2 h 13"/>
                  <a:gd name="T4" fmla="*/ 3 w 12"/>
                  <a:gd name="T5" fmla="*/ 13 h 13"/>
                  <a:gd name="T6" fmla="*/ 12 w 12"/>
                  <a:gd name="T7" fmla="*/ 10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2"/>
                    </a:lnTo>
                    <a:lnTo>
                      <a:pt x="3" y="13"/>
                    </a:lnTo>
                    <a:lnTo>
                      <a:pt x="12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8" name="Freeform 381"/>
              <p:cNvSpPr>
                <a:spLocks/>
              </p:cNvSpPr>
              <p:nvPr/>
            </p:nvSpPr>
            <p:spPr bwMode="auto">
              <a:xfrm>
                <a:off x="2906" y="2333"/>
                <a:ext cx="12" cy="13"/>
              </a:xfrm>
              <a:custGeom>
                <a:avLst/>
                <a:gdLst>
                  <a:gd name="T0" fmla="*/ 8 w 12"/>
                  <a:gd name="T1" fmla="*/ 0 h 13"/>
                  <a:gd name="T2" fmla="*/ 0 w 12"/>
                  <a:gd name="T3" fmla="*/ 3 h 13"/>
                  <a:gd name="T4" fmla="*/ 3 w 12"/>
                  <a:gd name="T5" fmla="*/ 13 h 13"/>
                  <a:gd name="T6" fmla="*/ 12 w 12"/>
                  <a:gd name="T7" fmla="*/ 10 h 13"/>
                  <a:gd name="T8" fmla="*/ 8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8" y="0"/>
                    </a:moveTo>
                    <a:lnTo>
                      <a:pt x="0" y="3"/>
                    </a:lnTo>
                    <a:lnTo>
                      <a:pt x="3" y="13"/>
                    </a:lnTo>
                    <a:lnTo>
                      <a:pt x="12" y="1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29" name="Freeform 382"/>
              <p:cNvSpPr>
                <a:spLocks/>
              </p:cNvSpPr>
              <p:nvPr/>
            </p:nvSpPr>
            <p:spPr bwMode="auto">
              <a:xfrm>
                <a:off x="2912" y="2352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3 h 13"/>
                  <a:gd name="T4" fmla="*/ 1 w 13"/>
                  <a:gd name="T5" fmla="*/ 5 h 13"/>
                  <a:gd name="T6" fmla="*/ 4 w 13"/>
                  <a:gd name="T7" fmla="*/ 13 h 13"/>
                  <a:gd name="T8" fmla="*/ 13 w 13"/>
                  <a:gd name="T9" fmla="*/ 9 h 13"/>
                  <a:gd name="T10" fmla="*/ 11 w 13"/>
                  <a:gd name="T11" fmla="*/ 5 h 13"/>
                  <a:gd name="T12" fmla="*/ 9 w 13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"/>
                  <a:gd name="T22" fmla="*/ 0 h 13"/>
                  <a:gd name="T23" fmla="*/ 13 w 13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" h="13">
                    <a:moveTo>
                      <a:pt x="9" y="0"/>
                    </a:moveTo>
                    <a:lnTo>
                      <a:pt x="0" y="3"/>
                    </a:lnTo>
                    <a:lnTo>
                      <a:pt x="1" y="5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11" y="5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0" name="Freeform 383"/>
              <p:cNvSpPr>
                <a:spLocks/>
              </p:cNvSpPr>
              <p:nvPr/>
            </p:nvSpPr>
            <p:spPr bwMode="auto">
              <a:xfrm>
                <a:off x="2920" y="2371"/>
                <a:ext cx="12" cy="13"/>
              </a:xfrm>
              <a:custGeom>
                <a:avLst/>
                <a:gdLst>
                  <a:gd name="T0" fmla="*/ 8 w 12"/>
                  <a:gd name="T1" fmla="*/ 0 h 13"/>
                  <a:gd name="T2" fmla="*/ 0 w 12"/>
                  <a:gd name="T3" fmla="*/ 4 h 13"/>
                  <a:gd name="T4" fmla="*/ 3 w 12"/>
                  <a:gd name="T5" fmla="*/ 13 h 13"/>
                  <a:gd name="T6" fmla="*/ 12 w 12"/>
                  <a:gd name="T7" fmla="*/ 9 h 13"/>
                  <a:gd name="T8" fmla="*/ 8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8" y="0"/>
                    </a:moveTo>
                    <a:lnTo>
                      <a:pt x="0" y="4"/>
                    </a:lnTo>
                    <a:lnTo>
                      <a:pt x="3" y="13"/>
                    </a:lnTo>
                    <a:lnTo>
                      <a:pt x="12" y="9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1" name="Freeform 384"/>
              <p:cNvSpPr>
                <a:spLocks/>
              </p:cNvSpPr>
              <p:nvPr/>
            </p:nvSpPr>
            <p:spPr bwMode="auto">
              <a:xfrm>
                <a:off x="2927" y="2390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4 h 13"/>
                  <a:gd name="T4" fmla="*/ 3 w 12"/>
                  <a:gd name="T5" fmla="*/ 13 h 13"/>
                  <a:gd name="T6" fmla="*/ 12 w 12"/>
                  <a:gd name="T7" fmla="*/ 9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4"/>
                    </a:lnTo>
                    <a:lnTo>
                      <a:pt x="3" y="13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2" name="Freeform 385"/>
              <p:cNvSpPr>
                <a:spLocks/>
              </p:cNvSpPr>
              <p:nvPr/>
            </p:nvSpPr>
            <p:spPr bwMode="auto">
              <a:xfrm>
                <a:off x="2933" y="2409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4 h 13"/>
                  <a:gd name="T4" fmla="*/ 4 w 13"/>
                  <a:gd name="T5" fmla="*/ 13 h 13"/>
                  <a:gd name="T6" fmla="*/ 13 w 13"/>
                  <a:gd name="T7" fmla="*/ 9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3" name="Freeform 386"/>
              <p:cNvSpPr>
                <a:spLocks/>
              </p:cNvSpPr>
              <p:nvPr/>
            </p:nvSpPr>
            <p:spPr bwMode="auto">
              <a:xfrm>
                <a:off x="2941" y="2428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4 h 13"/>
                  <a:gd name="T4" fmla="*/ 4 w 13"/>
                  <a:gd name="T5" fmla="*/ 13 h 13"/>
                  <a:gd name="T6" fmla="*/ 13 w 13"/>
                  <a:gd name="T7" fmla="*/ 9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4" name="Freeform 387"/>
              <p:cNvSpPr>
                <a:spLocks/>
              </p:cNvSpPr>
              <p:nvPr/>
            </p:nvSpPr>
            <p:spPr bwMode="auto">
              <a:xfrm>
                <a:off x="2949" y="2447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4 h 13"/>
                  <a:gd name="T4" fmla="*/ 4 w 12"/>
                  <a:gd name="T5" fmla="*/ 13 h 13"/>
                  <a:gd name="T6" fmla="*/ 12 w 12"/>
                  <a:gd name="T7" fmla="*/ 9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5" name="Freeform 388"/>
              <p:cNvSpPr>
                <a:spLocks/>
              </p:cNvSpPr>
              <p:nvPr/>
            </p:nvSpPr>
            <p:spPr bwMode="auto">
              <a:xfrm>
                <a:off x="2956" y="2465"/>
                <a:ext cx="13" cy="14"/>
              </a:xfrm>
              <a:custGeom>
                <a:avLst/>
                <a:gdLst>
                  <a:gd name="T0" fmla="*/ 9 w 13"/>
                  <a:gd name="T1" fmla="*/ 0 h 14"/>
                  <a:gd name="T2" fmla="*/ 0 w 13"/>
                  <a:gd name="T3" fmla="*/ 4 h 14"/>
                  <a:gd name="T4" fmla="*/ 4 w 13"/>
                  <a:gd name="T5" fmla="*/ 14 h 14"/>
                  <a:gd name="T6" fmla="*/ 13 w 13"/>
                  <a:gd name="T7" fmla="*/ 10 h 14"/>
                  <a:gd name="T8" fmla="*/ 9 w 13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4"/>
                  <a:gd name="T17" fmla="*/ 13 w 13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4">
                    <a:moveTo>
                      <a:pt x="9" y="0"/>
                    </a:moveTo>
                    <a:lnTo>
                      <a:pt x="0" y="4"/>
                    </a:lnTo>
                    <a:lnTo>
                      <a:pt x="4" y="14"/>
                    </a:lnTo>
                    <a:lnTo>
                      <a:pt x="13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6" name="Freeform 389"/>
              <p:cNvSpPr>
                <a:spLocks/>
              </p:cNvSpPr>
              <p:nvPr/>
            </p:nvSpPr>
            <p:spPr bwMode="auto">
              <a:xfrm>
                <a:off x="2964" y="2484"/>
                <a:ext cx="11" cy="10"/>
              </a:xfrm>
              <a:custGeom>
                <a:avLst/>
                <a:gdLst>
                  <a:gd name="T0" fmla="*/ 9 w 11"/>
                  <a:gd name="T1" fmla="*/ 0 h 10"/>
                  <a:gd name="T2" fmla="*/ 0 w 11"/>
                  <a:gd name="T3" fmla="*/ 4 h 10"/>
                  <a:gd name="T4" fmla="*/ 2 w 11"/>
                  <a:gd name="T5" fmla="*/ 10 h 10"/>
                  <a:gd name="T6" fmla="*/ 11 w 11"/>
                  <a:gd name="T7" fmla="*/ 7 h 10"/>
                  <a:gd name="T8" fmla="*/ 9 w 1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0"/>
                  <a:gd name="T17" fmla="*/ 11 w 1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0">
                    <a:moveTo>
                      <a:pt x="9" y="0"/>
                    </a:moveTo>
                    <a:lnTo>
                      <a:pt x="0" y="4"/>
                    </a:lnTo>
                    <a:lnTo>
                      <a:pt x="2" y="10"/>
                    </a:lnTo>
                    <a:lnTo>
                      <a:pt x="11" y="7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37" name="Freeform 390"/>
              <p:cNvSpPr>
                <a:spLocks/>
              </p:cNvSpPr>
              <p:nvPr/>
            </p:nvSpPr>
            <p:spPr bwMode="auto">
              <a:xfrm>
                <a:off x="2930" y="2475"/>
                <a:ext cx="78" cy="96"/>
              </a:xfrm>
              <a:custGeom>
                <a:avLst/>
                <a:gdLst>
                  <a:gd name="T0" fmla="*/ 0 w 78"/>
                  <a:gd name="T1" fmla="*/ 33 h 96"/>
                  <a:gd name="T2" fmla="*/ 72 w 78"/>
                  <a:gd name="T3" fmla="*/ 96 h 96"/>
                  <a:gd name="T4" fmla="*/ 78 w 78"/>
                  <a:gd name="T5" fmla="*/ 0 h 96"/>
                  <a:gd name="T6" fmla="*/ 0 w 78"/>
                  <a:gd name="T7" fmla="*/ 33 h 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8"/>
                  <a:gd name="T13" fmla="*/ 0 h 96"/>
                  <a:gd name="T14" fmla="*/ 78 w 78"/>
                  <a:gd name="T15" fmla="*/ 96 h 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8" h="96">
                    <a:moveTo>
                      <a:pt x="0" y="33"/>
                    </a:moveTo>
                    <a:lnTo>
                      <a:pt x="72" y="96"/>
                    </a:lnTo>
                    <a:lnTo>
                      <a:pt x="78" y="0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49" name="Group 391"/>
            <p:cNvGrpSpPr>
              <a:grpSpLocks/>
            </p:cNvGrpSpPr>
            <p:nvPr/>
          </p:nvGrpSpPr>
          <p:grpSpPr bwMode="auto">
            <a:xfrm>
              <a:off x="2713" y="1329"/>
              <a:ext cx="184" cy="1242"/>
              <a:chOff x="2713" y="1329"/>
              <a:chExt cx="184" cy="1242"/>
            </a:xfrm>
          </p:grpSpPr>
          <p:sp>
            <p:nvSpPr>
              <p:cNvPr id="103716" name="Freeform 392"/>
              <p:cNvSpPr>
                <a:spLocks/>
              </p:cNvSpPr>
              <p:nvPr/>
            </p:nvSpPr>
            <p:spPr bwMode="auto">
              <a:xfrm>
                <a:off x="2862" y="1329"/>
                <a:ext cx="13" cy="12"/>
              </a:xfrm>
              <a:custGeom>
                <a:avLst/>
                <a:gdLst>
                  <a:gd name="T0" fmla="*/ 13 w 13"/>
                  <a:gd name="T1" fmla="*/ 4 h 12"/>
                  <a:gd name="T2" fmla="*/ 4 w 13"/>
                  <a:gd name="T3" fmla="*/ 0 h 12"/>
                  <a:gd name="T4" fmla="*/ 0 w 13"/>
                  <a:gd name="T5" fmla="*/ 9 h 12"/>
                  <a:gd name="T6" fmla="*/ 9 w 13"/>
                  <a:gd name="T7" fmla="*/ 12 h 12"/>
                  <a:gd name="T8" fmla="*/ 13 w 13"/>
                  <a:gd name="T9" fmla="*/ 4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2"/>
                  <a:gd name="T17" fmla="*/ 13 w 13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2">
                    <a:moveTo>
                      <a:pt x="13" y="4"/>
                    </a:moveTo>
                    <a:lnTo>
                      <a:pt x="4" y="0"/>
                    </a:lnTo>
                    <a:lnTo>
                      <a:pt x="0" y="9"/>
                    </a:lnTo>
                    <a:lnTo>
                      <a:pt x="9" y="12"/>
                    </a:lnTo>
                    <a:lnTo>
                      <a:pt x="13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7" name="Freeform 393"/>
              <p:cNvSpPr>
                <a:spLocks/>
              </p:cNvSpPr>
              <p:nvPr/>
            </p:nvSpPr>
            <p:spPr bwMode="auto">
              <a:xfrm>
                <a:off x="2855" y="1347"/>
                <a:ext cx="12" cy="14"/>
              </a:xfrm>
              <a:custGeom>
                <a:avLst/>
                <a:gdLst>
                  <a:gd name="T0" fmla="*/ 12 w 12"/>
                  <a:gd name="T1" fmla="*/ 3 h 14"/>
                  <a:gd name="T2" fmla="*/ 4 w 12"/>
                  <a:gd name="T3" fmla="*/ 0 h 14"/>
                  <a:gd name="T4" fmla="*/ 0 w 12"/>
                  <a:gd name="T5" fmla="*/ 10 h 14"/>
                  <a:gd name="T6" fmla="*/ 9 w 12"/>
                  <a:gd name="T7" fmla="*/ 14 h 14"/>
                  <a:gd name="T8" fmla="*/ 12 w 12"/>
                  <a:gd name="T9" fmla="*/ 3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12" y="3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8" name="Freeform 394"/>
              <p:cNvSpPr>
                <a:spLocks/>
              </p:cNvSpPr>
              <p:nvPr/>
            </p:nvSpPr>
            <p:spPr bwMode="auto">
              <a:xfrm>
                <a:off x="2847" y="1366"/>
                <a:ext cx="13" cy="14"/>
              </a:xfrm>
              <a:custGeom>
                <a:avLst/>
                <a:gdLst>
                  <a:gd name="T0" fmla="*/ 13 w 13"/>
                  <a:gd name="T1" fmla="*/ 3 h 14"/>
                  <a:gd name="T2" fmla="*/ 4 w 13"/>
                  <a:gd name="T3" fmla="*/ 0 h 14"/>
                  <a:gd name="T4" fmla="*/ 0 w 13"/>
                  <a:gd name="T5" fmla="*/ 10 h 14"/>
                  <a:gd name="T6" fmla="*/ 9 w 13"/>
                  <a:gd name="T7" fmla="*/ 14 h 14"/>
                  <a:gd name="T8" fmla="*/ 13 w 13"/>
                  <a:gd name="T9" fmla="*/ 3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4"/>
                  <a:gd name="T17" fmla="*/ 13 w 13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4">
                    <a:moveTo>
                      <a:pt x="13" y="3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3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9" name="Freeform 395"/>
              <p:cNvSpPr>
                <a:spLocks/>
              </p:cNvSpPr>
              <p:nvPr/>
            </p:nvSpPr>
            <p:spPr bwMode="auto">
              <a:xfrm>
                <a:off x="2841" y="1385"/>
                <a:ext cx="11" cy="14"/>
              </a:xfrm>
              <a:custGeom>
                <a:avLst/>
                <a:gdLst>
                  <a:gd name="T0" fmla="*/ 11 w 11"/>
                  <a:gd name="T1" fmla="*/ 4 h 14"/>
                  <a:gd name="T2" fmla="*/ 2 w 11"/>
                  <a:gd name="T3" fmla="*/ 0 h 14"/>
                  <a:gd name="T4" fmla="*/ 0 w 11"/>
                  <a:gd name="T5" fmla="*/ 10 h 14"/>
                  <a:gd name="T6" fmla="*/ 9 w 11"/>
                  <a:gd name="T7" fmla="*/ 14 h 14"/>
                  <a:gd name="T8" fmla="*/ 11 w 11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4"/>
                  <a:gd name="T17" fmla="*/ 11 w 11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4">
                    <a:moveTo>
                      <a:pt x="11" y="4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1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0" name="Freeform 396"/>
              <p:cNvSpPr>
                <a:spLocks/>
              </p:cNvSpPr>
              <p:nvPr/>
            </p:nvSpPr>
            <p:spPr bwMode="auto">
              <a:xfrm>
                <a:off x="2833" y="1404"/>
                <a:ext cx="13" cy="14"/>
              </a:xfrm>
              <a:custGeom>
                <a:avLst/>
                <a:gdLst>
                  <a:gd name="T0" fmla="*/ 13 w 13"/>
                  <a:gd name="T1" fmla="*/ 4 h 14"/>
                  <a:gd name="T2" fmla="*/ 4 w 13"/>
                  <a:gd name="T3" fmla="*/ 0 h 14"/>
                  <a:gd name="T4" fmla="*/ 3 w 13"/>
                  <a:gd name="T5" fmla="*/ 4 h 14"/>
                  <a:gd name="T6" fmla="*/ 0 w 13"/>
                  <a:gd name="T7" fmla="*/ 10 h 14"/>
                  <a:gd name="T8" fmla="*/ 9 w 13"/>
                  <a:gd name="T9" fmla="*/ 14 h 14"/>
                  <a:gd name="T10" fmla="*/ 13 w 13"/>
                  <a:gd name="T11" fmla="*/ 4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14"/>
                  <a:gd name="T20" fmla="*/ 13 w 13"/>
                  <a:gd name="T21" fmla="*/ 14 h 1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14">
                    <a:moveTo>
                      <a:pt x="13" y="4"/>
                    </a:moveTo>
                    <a:lnTo>
                      <a:pt x="4" y="0"/>
                    </a:lnTo>
                    <a:lnTo>
                      <a:pt x="3" y="4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3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1" name="Freeform 397"/>
              <p:cNvSpPr>
                <a:spLocks/>
              </p:cNvSpPr>
              <p:nvPr/>
            </p:nvSpPr>
            <p:spPr bwMode="auto">
              <a:xfrm>
                <a:off x="2827" y="1423"/>
                <a:ext cx="11" cy="14"/>
              </a:xfrm>
              <a:custGeom>
                <a:avLst/>
                <a:gdLst>
                  <a:gd name="T0" fmla="*/ 11 w 11"/>
                  <a:gd name="T1" fmla="*/ 4 h 14"/>
                  <a:gd name="T2" fmla="*/ 2 w 11"/>
                  <a:gd name="T3" fmla="*/ 0 h 14"/>
                  <a:gd name="T4" fmla="*/ 0 w 11"/>
                  <a:gd name="T5" fmla="*/ 10 h 14"/>
                  <a:gd name="T6" fmla="*/ 9 w 11"/>
                  <a:gd name="T7" fmla="*/ 14 h 14"/>
                  <a:gd name="T8" fmla="*/ 11 w 11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4"/>
                  <a:gd name="T17" fmla="*/ 11 w 11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4">
                    <a:moveTo>
                      <a:pt x="11" y="4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1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2" name="Freeform 398"/>
              <p:cNvSpPr>
                <a:spLocks/>
              </p:cNvSpPr>
              <p:nvPr/>
            </p:nvSpPr>
            <p:spPr bwMode="auto">
              <a:xfrm>
                <a:off x="2819" y="1442"/>
                <a:ext cx="13" cy="14"/>
              </a:xfrm>
              <a:custGeom>
                <a:avLst/>
                <a:gdLst>
                  <a:gd name="T0" fmla="*/ 13 w 13"/>
                  <a:gd name="T1" fmla="*/ 4 h 14"/>
                  <a:gd name="T2" fmla="*/ 4 w 13"/>
                  <a:gd name="T3" fmla="*/ 0 h 14"/>
                  <a:gd name="T4" fmla="*/ 0 w 13"/>
                  <a:gd name="T5" fmla="*/ 10 h 14"/>
                  <a:gd name="T6" fmla="*/ 9 w 13"/>
                  <a:gd name="T7" fmla="*/ 14 h 14"/>
                  <a:gd name="T8" fmla="*/ 13 w 13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4"/>
                  <a:gd name="T17" fmla="*/ 13 w 13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4">
                    <a:moveTo>
                      <a:pt x="13" y="4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3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3" name="Freeform 399"/>
              <p:cNvSpPr>
                <a:spLocks/>
              </p:cNvSpPr>
              <p:nvPr/>
            </p:nvSpPr>
            <p:spPr bwMode="auto">
              <a:xfrm>
                <a:off x="2813" y="1461"/>
                <a:ext cx="11" cy="14"/>
              </a:xfrm>
              <a:custGeom>
                <a:avLst/>
                <a:gdLst>
                  <a:gd name="T0" fmla="*/ 11 w 11"/>
                  <a:gd name="T1" fmla="*/ 4 h 14"/>
                  <a:gd name="T2" fmla="*/ 2 w 11"/>
                  <a:gd name="T3" fmla="*/ 0 h 14"/>
                  <a:gd name="T4" fmla="*/ 0 w 11"/>
                  <a:gd name="T5" fmla="*/ 10 h 14"/>
                  <a:gd name="T6" fmla="*/ 9 w 11"/>
                  <a:gd name="T7" fmla="*/ 14 h 14"/>
                  <a:gd name="T8" fmla="*/ 11 w 11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4"/>
                  <a:gd name="T17" fmla="*/ 11 w 11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4">
                    <a:moveTo>
                      <a:pt x="11" y="4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1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4" name="Freeform 400"/>
              <p:cNvSpPr>
                <a:spLocks/>
              </p:cNvSpPr>
              <p:nvPr/>
            </p:nvSpPr>
            <p:spPr bwMode="auto">
              <a:xfrm>
                <a:off x="2805" y="1480"/>
                <a:ext cx="13" cy="14"/>
              </a:xfrm>
              <a:custGeom>
                <a:avLst/>
                <a:gdLst>
                  <a:gd name="T0" fmla="*/ 13 w 13"/>
                  <a:gd name="T1" fmla="*/ 4 h 14"/>
                  <a:gd name="T2" fmla="*/ 4 w 13"/>
                  <a:gd name="T3" fmla="*/ 0 h 14"/>
                  <a:gd name="T4" fmla="*/ 3 w 13"/>
                  <a:gd name="T5" fmla="*/ 5 h 14"/>
                  <a:gd name="T6" fmla="*/ 0 w 13"/>
                  <a:gd name="T7" fmla="*/ 11 h 14"/>
                  <a:gd name="T8" fmla="*/ 9 w 13"/>
                  <a:gd name="T9" fmla="*/ 14 h 14"/>
                  <a:gd name="T10" fmla="*/ 13 w 13"/>
                  <a:gd name="T11" fmla="*/ 5 h 14"/>
                  <a:gd name="T12" fmla="*/ 13 w 13"/>
                  <a:gd name="T13" fmla="*/ 4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"/>
                  <a:gd name="T22" fmla="*/ 0 h 14"/>
                  <a:gd name="T23" fmla="*/ 13 w 13"/>
                  <a:gd name="T24" fmla="*/ 14 h 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" h="14">
                    <a:moveTo>
                      <a:pt x="13" y="4"/>
                    </a:moveTo>
                    <a:lnTo>
                      <a:pt x="4" y="0"/>
                    </a:lnTo>
                    <a:lnTo>
                      <a:pt x="3" y="5"/>
                    </a:lnTo>
                    <a:lnTo>
                      <a:pt x="0" y="11"/>
                    </a:lnTo>
                    <a:lnTo>
                      <a:pt x="9" y="14"/>
                    </a:lnTo>
                    <a:lnTo>
                      <a:pt x="13" y="5"/>
                    </a:lnTo>
                    <a:lnTo>
                      <a:pt x="13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5" name="Freeform 401"/>
              <p:cNvSpPr>
                <a:spLocks/>
              </p:cNvSpPr>
              <p:nvPr/>
            </p:nvSpPr>
            <p:spPr bwMode="auto">
              <a:xfrm>
                <a:off x="2799" y="1500"/>
                <a:ext cx="13" cy="13"/>
              </a:xfrm>
              <a:custGeom>
                <a:avLst/>
                <a:gdLst>
                  <a:gd name="T0" fmla="*/ 13 w 13"/>
                  <a:gd name="T1" fmla="*/ 3 h 13"/>
                  <a:gd name="T2" fmla="*/ 4 w 13"/>
                  <a:gd name="T3" fmla="*/ 0 h 13"/>
                  <a:gd name="T4" fmla="*/ 0 w 13"/>
                  <a:gd name="T5" fmla="*/ 11 h 13"/>
                  <a:gd name="T6" fmla="*/ 9 w 13"/>
                  <a:gd name="T7" fmla="*/ 13 h 13"/>
                  <a:gd name="T8" fmla="*/ 13 w 13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13" y="3"/>
                    </a:moveTo>
                    <a:lnTo>
                      <a:pt x="4" y="0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3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6" name="Freeform 402"/>
              <p:cNvSpPr>
                <a:spLocks/>
              </p:cNvSpPr>
              <p:nvPr/>
            </p:nvSpPr>
            <p:spPr bwMode="auto">
              <a:xfrm>
                <a:off x="2793" y="1519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2 w 11"/>
                  <a:gd name="T3" fmla="*/ 0 h 13"/>
                  <a:gd name="T4" fmla="*/ 0 w 11"/>
                  <a:gd name="T5" fmla="*/ 11 h 13"/>
                  <a:gd name="T6" fmla="*/ 8 w 11"/>
                  <a:gd name="T7" fmla="*/ 13 h 13"/>
                  <a:gd name="T8" fmla="*/ 11 w 11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3"/>
                    </a:moveTo>
                    <a:lnTo>
                      <a:pt x="2" y="0"/>
                    </a:lnTo>
                    <a:lnTo>
                      <a:pt x="0" y="11"/>
                    </a:lnTo>
                    <a:lnTo>
                      <a:pt x="8" y="13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7" name="Freeform 403"/>
              <p:cNvSpPr>
                <a:spLocks/>
              </p:cNvSpPr>
              <p:nvPr/>
            </p:nvSpPr>
            <p:spPr bwMode="auto">
              <a:xfrm>
                <a:off x="2786" y="1539"/>
                <a:ext cx="12" cy="12"/>
              </a:xfrm>
              <a:custGeom>
                <a:avLst/>
                <a:gdLst>
                  <a:gd name="T0" fmla="*/ 12 w 12"/>
                  <a:gd name="T1" fmla="*/ 2 h 12"/>
                  <a:gd name="T2" fmla="*/ 3 w 12"/>
                  <a:gd name="T3" fmla="*/ 0 h 12"/>
                  <a:gd name="T4" fmla="*/ 0 w 12"/>
                  <a:gd name="T5" fmla="*/ 10 h 12"/>
                  <a:gd name="T6" fmla="*/ 9 w 12"/>
                  <a:gd name="T7" fmla="*/ 12 h 12"/>
                  <a:gd name="T8" fmla="*/ 12 w 12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12" y="2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2"/>
                    </a:ln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8" name="Freeform 404"/>
              <p:cNvSpPr>
                <a:spLocks/>
              </p:cNvSpPr>
              <p:nvPr/>
            </p:nvSpPr>
            <p:spPr bwMode="auto">
              <a:xfrm>
                <a:off x="2780" y="1559"/>
                <a:ext cx="11" cy="11"/>
              </a:xfrm>
              <a:custGeom>
                <a:avLst/>
                <a:gdLst>
                  <a:gd name="T0" fmla="*/ 11 w 11"/>
                  <a:gd name="T1" fmla="*/ 2 h 11"/>
                  <a:gd name="T2" fmla="*/ 2 w 11"/>
                  <a:gd name="T3" fmla="*/ 0 h 11"/>
                  <a:gd name="T4" fmla="*/ 1 w 11"/>
                  <a:gd name="T5" fmla="*/ 4 h 11"/>
                  <a:gd name="T6" fmla="*/ 0 w 11"/>
                  <a:gd name="T7" fmla="*/ 9 h 11"/>
                  <a:gd name="T8" fmla="*/ 9 w 11"/>
                  <a:gd name="T9" fmla="*/ 11 h 11"/>
                  <a:gd name="T10" fmla="*/ 11 w 11"/>
                  <a:gd name="T11" fmla="*/ 4 h 11"/>
                  <a:gd name="T12" fmla="*/ 11 w 11"/>
                  <a:gd name="T13" fmla="*/ 2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"/>
                  <a:gd name="T22" fmla="*/ 0 h 11"/>
                  <a:gd name="T23" fmla="*/ 11 w 11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" h="11">
                    <a:moveTo>
                      <a:pt x="11" y="2"/>
                    </a:moveTo>
                    <a:lnTo>
                      <a:pt x="2" y="0"/>
                    </a:lnTo>
                    <a:lnTo>
                      <a:pt x="1" y="4"/>
                    </a:lnTo>
                    <a:lnTo>
                      <a:pt x="0" y="9"/>
                    </a:lnTo>
                    <a:lnTo>
                      <a:pt x="9" y="11"/>
                    </a:lnTo>
                    <a:lnTo>
                      <a:pt x="11" y="4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29" name="Freeform 405"/>
              <p:cNvSpPr>
                <a:spLocks/>
              </p:cNvSpPr>
              <p:nvPr/>
            </p:nvSpPr>
            <p:spPr bwMode="auto">
              <a:xfrm>
                <a:off x="2774" y="1578"/>
                <a:ext cx="12" cy="11"/>
              </a:xfrm>
              <a:custGeom>
                <a:avLst/>
                <a:gdLst>
                  <a:gd name="T0" fmla="*/ 12 w 12"/>
                  <a:gd name="T1" fmla="*/ 2 h 11"/>
                  <a:gd name="T2" fmla="*/ 3 w 12"/>
                  <a:gd name="T3" fmla="*/ 0 h 11"/>
                  <a:gd name="T4" fmla="*/ 0 w 12"/>
                  <a:gd name="T5" fmla="*/ 9 h 11"/>
                  <a:gd name="T6" fmla="*/ 8 w 12"/>
                  <a:gd name="T7" fmla="*/ 11 h 11"/>
                  <a:gd name="T8" fmla="*/ 12 w 12"/>
                  <a:gd name="T9" fmla="*/ 2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12" y="2"/>
                    </a:moveTo>
                    <a:lnTo>
                      <a:pt x="3" y="0"/>
                    </a:lnTo>
                    <a:lnTo>
                      <a:pt x="0" y="9"/>
                    </a:lnTo>
                    <a:lnTo>
                      <a:pt x="8" y="11"/>
                    </a:ln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0" name="Freeform 406"/>
              <p:cNvSpPr>
                <a:spLocks/>
              </p:cNvSpPr>
              <p:nvPr/>
            </p:nvSpPr>
            <p:spPr bwMode="auto">
              <a:xfrm>
                <a:off x="2768" y="1597"/>
                <a:ext cx="12" cy="13"/>
              </a:xfrm>
              <a:custGeom>
                <a:avLst/>
                <a:gdLst>
                  <a:gd name="T0" fmla="*/ 12 w 12"/>
                  <a:gd name="T1" fmla="*/ 3 h 13"/>
                  <a:gd name="T2" fmla="*/ 3 w 12"/>
                  <a:gd name="T3" fmla="*/ 0 h 13"/>
                  <a:gd name="T4" fmla="*/ 0 w 12"/>
                  <a:gd name="T5" fmla="*/ 10 h 13"/>
                  <a:gd name="T6" fmla="*/ 9 w 12"/>
                  <a:gd name="T7" fmla="*/ 13 h 13"/>
                  <a:gd name="T8" fmla="*/ 12 w 12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3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1" name="Freeform 407"/>
              <p:cNvSpPr>
                <a:spLocks/>
              </p:cNvSpPr>
              <p:nvPr/>
            </p:nvSpPr>
            <p:spPr bwMode="auto">
              <a:xfrm>
                <a:off x="2762" y="1616"/>
                <a:ext cx="12" cy="13"/>
              </a:xfrm>
              <a:custGeom>
                <a:avLst/>
                <a:gdLst>
                  <a:gd name="T0" fmla="*/ 12 w 12"/>
                  <a:gd name="T1" fmla="*/ 3 h 13"/>
                  <a:gd name="T2" fmla="*/ 3 w 12"/>
                  <a:gd name="T3" fmla="*/ 0 h 13"/>
                  <a:gd name="T4" fmla="*/ 0 w 12"/>
                  <a:gd name="T5" fmla="*/ 10 h 13"/>
                  <a:gd name="T6" fmla="*/ 9 w 12"/>
                  <a:gd name="T7" fmla="*/ 13 h 13"/>
                  <a:gd name="T8" fmla="*/ 12 w 12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3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2" name="Freeform 408"/>
              <p:cNvSpPr>
                <a:spLocks/>
              </p:cNvSpPr>
              <p:nvPr/>
            </p:nvSpPr>
            <p:spPr bwMode="auto">
              <a:xfrm>
                <a:off x="2757" y="1636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3 w 11"/>
                  <a:gd name="T3" fmla="*/ 0 h 13"/>
                  <a:gd name="T4" fmla="*/ 1 w 11"/>
                  <a:gd name="T5" fmla="*/ 4 h 13"/>
                  <a:gd name="T6" fmla="*/ 0 w 11"/>
                  <a:gd name="T7" fmla="*/ 11 h 13"/>
                  <a:gd name="T8" fmla="*/ 9 w 11"/>
                  <a:gd name="T9" fmla="*/ 13 h 13"/>
                  <a:gd name="T10" fmla="*/ 11 w 11"/>
                  <a:gd name="T11" fmla="*/ 4 h 13"/>
                  <a:gd name="T12" fmla="*/ 11 w 11"/>
                  <a:gd name="T13" fmla="*/ 3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"/>
                  <a:gd name="T22" fmla="*/ 0 h 13"/>
                  <a:gd name="T23" fmla="*/ 11 w 11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" h="13">
                    <a:moveTo>
                      <a:pt x="11" y="3"/>
                    </a:moveTo>
                    <a:lnTo>
                      <a:pt x="3" y="0"/>
                    </a:lnTo>
                    <a:lnTo>
                      <a:pt x="1" y="4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1" y="4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3" name="Freeform 409"/>
              <p:cNvSpPr>
                <a:spLocks/>
              </p:cNvSpPr>
              <p:nvPr/>
            </p:nvSpPr>
            <p:spPr bwMode="auto">
              <a:xfrm>
                <a:off x="2752" y="1655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3 w 11"/>
                  <a:gd name="T3" fmla="*/ 0 h 13"/>
                  <a:gd name="T4" fmla="*/ 0 w 11"/>
                  <a:gd name="T5" fmla="*/ 11 h 13"/>
                  <a:gd name="T6" fmla="*/ 9 w 11"/>
                  <a:gd name="T7" fmla="*/ 13 h 13"/>
                  <a:gd name="T8" fmla="*/ 11 w 11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3"/>
                    </a:moveTo>
                    <a:lnTo>
                      <a:pt x="3" y="0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4" name="Freeform 410"/>
              <p:cNvSpPr>
                <a:spLocks/>
              </p:cNvSpPr>
              <p:nvPr/>
            </p:nvSpPr>
            <p:spPr bwMode="auto">
              <a:xfrm>
                <a:off x="2747" y="1676"/>
                <a:ext cx="11" cy="13"/>
              </a:xfrm>
              <a:custGeom>
                <a:avLst/>
                <a:gdLst>
                  <a:gd name="T0" fmla="*/ 11 w 11"/>
                  <a:gd name="T1" fmla="*/ 2 h 13"/>
                  <a:gd name="T2" fmla="*/ 2 w 11"/>
                  <a:gd name="T3" fmla="*/ 0 h 13"/>
                  <a:gd name="T4" fmla="*/ 0 w 11"/>
                  <a:gd name="T5" fmla="*/ 10 h 13"/>
                  <a:gd name="T6" fmla="*/ 9 w 11"/>
                  <a:gd name="T7" fmla="*/ 13 h 13"/>
                  <a:gd name="T8" fmla="*/ 11 w 11"/>
                  <a:gd name="T9" fmla="*/ 2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2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5" name="Freeform 411"/>
              <p:cNvSpPr>
                <a:spLocks/>
              </p:cNvSpPr>
              <p:nvPr/>
            </p:nvSpPr>
            <p:spPr bwMode="auto">
              <a:xfrm>
                <a:off x="2742" y="1695"/>
                <a:ext cx="11" cy="13"/>
              </a:xfrm>
              <a:custGeom>
                <a:avLst/>
                <a:gdLst>
                  <a:gd name="T0" fmla="*/ 11 w 11"/>
                  <a:gd name="T1" fmla="*/ 2 h 13"/>
                  <a:gd name="T2" fmla="*/ 2 w 11"/>
                  <a:gd name="T3" fmla="*/ 0 h 13"/>
                  <a:gd name="T4" fmla="*/ 0 w 11"/>
                  <a:gd name="T5" fmla="*/ 10 h 13"/>
                  <a:gd name="T6" fmla="*/ 9 w 11"/>
                  <a:gd name="T7" fmla="*/ 13 h 13"/>
                  <a:gd name="T8" fmla="*/ 11 w 11"/>
                  <a:gd name="T9" fmla="*/ 2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2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6" name="Freeform 412"/>
              <p:cNvSpPr>
                <a:spLocks/>
              </p:cNvSpPr>
              <p:nvPr/>
            </p:nvSpPr>
            <p:spPr bwMode="auto">
              <a:xfrm>
                <a:off x="2737" y="1715"/>
                <a:ext cx="11" cy="12"/>
              </a:xfrm>
              <a:custGeom>
                <a:avLst/>
                <a:gdLst>
                  <a:gd name="T0" fmla="*/ 11 w 11"/>
                  <a:gd name="T1" fmla="*/ 3 h 12"/>
                  <a:gd name="T2" fmla="*/ 2 w 11"/>
                  <a:gd name="T3" fmla="*/ 0 h 12"/>
                  <a:gd name="T4" fmla="*/ 1 w 11"/>
                  <a:gd name="T5" fmla="*/ 3 h 12"/>
                  <a:gd name="T6" fmla="*/ 0 w 11"/>
                  <a:gd name="T7" fmla="*/ 10 h 12"/>
                  <a:gd name="T8" fmla="*/ 9 w 11"/>
                  <a:gd name="T9" fmla="*/ 12 h 12"/>
                  <a:gd name="T10" fmla="*/ 11 w 11"/>
                  <a:gd name="T11" fmla="*/ 3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1"/>
                  <a:gd name="T19" fmla="*/ 0 h 12"/>
                  <a:gd name="T20" fmla="*/ 11 w 11"/>
                  <a:gd name="T21" fmla="*/ 12 h 1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1" h="12">
                    <a:moveTo>
                      <a:pt x="11" y="3"/>
                    </a:moveTo>
                    <a:lnTo>
                      <a:pt x="2" y="0"/>
                    </a:lnTo>
                    <a:lnTo>
                      <a:pt x="1" y="3"/>
                    </a:lnTo>
                    <a:lnTo>
                      <a:pt x="0" y="10"/>
                    </a:lnTo>
                    <a:lnTo>
                      <a:pt x="9" y="12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7" name="Freeform 413"/>
              <p:cNvSpPr>
                <a:spLocks/>
              </p:cNvSpPr>
              <p:nvPr/>
            </p:nvSpPr>
            <p:spPr bwMode="auto">
              <a:xfrm>
                <a:off x="2733" y="1736"/>
                <a:ext cx="11" cy="11"/>
              </a:xfrm>
              <a:custGeom>
                <a:avLst/>
                <a:gdLst>
                  <a:gd name="T0" fmla="*/ 11 w 11"/>
                  <a:gd name="T1" fmla="*/ 1 h 11"/>
                  <a:gd name="T2" fmla="*/ 2 w 11"/>
                  <a:gd name="T3" fmla="*/ 0 h 11"/>
                  <a:gd name="T4" fmla="*/ 0 w 11"/>
                  <a:gd name="T5" fmla="*/ 10 h 11"/>
                  <a:gd name="T6" fmla="*/ 9 w 11"/>
                  <a:gd name="T7" fmla="*/ 11 h 11"/>
                  <a:gd name="T8" fmla="*/ 11 w 11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11" y="1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8" name="Freeform 414"/>
              <p:cNvSpPr>
                <a:spLocks/>
              </p:cNvSpPr>
              <p:nvPr/>
            </p:nvSpPr>
            <p:spPr bwMode="auto">
              <a:xfrm>
                <a:off x="2729" y="1756"/>
                <a:ext cx="12" cy="11"/>
              </a:xfrm>
              <a:custGeom>
                <a:avLst/>
                <a:gdLst>
                  <a:gd name="T0" fmla="*/ 12 w 12"/>
                  <a:gd name="T1" fmla="*/ 1 h 11"/>
                  <a:gd name="T2" fmla="*/ 3 w 12"/>
                  <a:gd name="T3" fmla="*/ 0 h 11"/>
                  <a:gd name="T4" fmla="*/ 1 w 12"/>
                  <a:gd name="T5" fmla="*/ 0 h 11"/>
                  <a:gd name="T6" fmla="*/ 0 w 12"/>
                  <a:gd name="T7" fmla="*/ 10 h 11"/>
                  <a:gd name="T8" fmla="*/ 10 w 12"/>
                  <a:gd name="T9" fmla="*/ 11 h 11"/>
                  <a:gd name="T10" fmla="*/ 12 w 12"/>
                  <a:gd name="T11" fmla="*/ 0 h 11"/>
                  <a:gd name="T12" fmla="*/ 12 w 12"/>
                  <a:gd name="T13" fmla="*/ 1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"/>
                  <a:gd name="T22" fmla="*/ 0 h 11"/>
                  <a:gd name="T23" fmla="*/ 12 w 12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" h="11">
                    <a:moveTo>
                      <a:pt x="12" y="1"/>
                    </a:moveTo>
                    <a:lnTo>
                      <a:pt x="3" y="0"/>
                    </a:lnTo>
                    <a:lnTo>
                      <a:pt x="1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2" y="0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39" name="Freeform 415"/>
              <p:cNvSpPr>
                <a:spLocks/>
              </p:cNvSpPr>
              <p:nvPr/>
            </p:nvSpPr>
            <p:spPr bwMode="auto">
              <a:xfrm>
                <a:off x="2725" y="1775"/>
                <a:ext cx="12" cy="11"/>
              </a:xfrm>
              <a:custGeom>
                <a:avLst/>
                <a:gdLst>
                  <a:gd name="T0" fmla="*/ 12 w 12"/>
                  <a:gd name="T1" fmla="*/ 1 h 11"/>
                  <a:gd name="T2" fmla="*/ 2 w 12"/>
                  <a:gd name="T3" fmla="*/ 0 h 11"/>
                  <a:gd name="T4" fmla="*/ 0 w 12"/>
                  <a:gd name="T5" fmla="*/ 10 h 11"/>
                  <a:gd name="T6" fmla="*/ 10 w 12"/>
                  <a:gd name="T7" fmla="*/ 11 h 11"/>
                  <a:gd name="T8" fmla="*/ 12 w 12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12" y="1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0" name="Freeform 416"/>
              <p:cNvSpPr>
                <a:spLocks/>
              </p:cNvSpPr>
              <p:nvPr/>
            </p:nvSpPr>
            <p:spPr bwMode="auto">
              <a:xfrm>
                <a:off x="2723" y="1795"/>
                <a:ext cx="11" cy="12"/>
              </a:xfrm>
              <a:custGeom>
                <a:avLst/>
                <a:gdLst>
                  <a:gd name="T0" fmla="*/ 11 w 11"/>
                  <a:gd name="T1" fmla="*/ 2 h 12"/>
                  <a:gd name="T2" fmla="*/ 1 w 11"/>
                  <a:gd name="T3" fmla="*/ 0 h 12"/>
                  <a:gd name="T4" fmla="*/ 0 w 11"/>
                  <a:gd name="T5" fmla="*/ 10 h 12"/>
                  <a:gd name="T6" fmla="*/ 10 w 11"/>
                  <a:gd name="T7" fmla="*/ 12 h 12"/>
                  <a:gd name="T8" fmla="*/ 11 w 11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11" y="2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2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1" name="Freeform 417"/>
              <p:cNvSpPr>
                <a:spLocks/>
              </p:cNvSpPr>
              <p:nvPr/>
            </p:nvSpPr>
            <p:spPr bwMode="auto">
              <a:xfrm>
                <a:off x="2719" y="1816"/>
                <a:ext cx="11" cy="11"/>
              </a:xfrm>
              <a:custGeom>
                <a:avLst/>
                <a:gdLst>
                  <a:gd name="T0" fmla="*/ 11 w 11"/>
                  <a:gd name="T1" fmla="*/ 1 h 11"/>
                  <a:gd name="T2" fmla="*/ 1 w 11"/>
                  <a:gd name="T3" fmla="*/ 0 h 11"/>
                  <a:gd name="T4" fmla="*/ 0 w 11"/>
                  <a:gd name="T5" fmla="*/ 10 h 11"/>
                  <a:gd name="T6" fmla="*/ 10 w 11"/>
                  <a:gd name="T7" fmla="*/ 11 h 11"/>
                  <a:gd name="T8" fmla="*/ 11 w 11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11" y="1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2" name="Freeform 418"/>
              <p:cNvSpPr>
                <a:spLocks/>
              </p:cNvSpPr>
              <p:nvPr/>
            </p:nvSpPr>
            <p:spPr bwMode="auto">
              <a:xfrm>
                <a:off x="2718" y="1836"/>
                <a:ext cx="10" cy="11"/>
              </a:xfrm>
              <a:custGeom>
                <a:avLst/>
                <a:gdLst>
                  <a:gd name="T0" fmla="*/ 10 w 10"/>
                  <a:gd name="T1" fmla="*/ 1 h 11"/>
                  <a:gd name="T2" fmla="*/ 0 w 10"/>
                  <a:gd name="T3" fmla="*/ 0 h 11"/>
                  <a:gd name="T4" fmla="*/ 0 w 10"/>
                  <a:gd name="T5" fmla="*/ 10 h 11"/>
                  <a:gd name="T6" fmla="*/ 10 w 10"/>
                  <a:gd name="T7" fmla="*/ 11 h 11"/>
                  <a:gd name="T8" fmla="*/ 10 w 10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1"/>
                  <a:gd name="T17" fmla="*/ 10 w 10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1">
                    <a:moveTo>
                      <a:pt x="10" y="1"/>
                    </a:moveTo>
                    <a:lnTo>
                      <a:pt x="0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3" name="Freeform 419"/>
              <p:cNvSpPr>
                <a:spLocks/>
              </p:cNvSpPr>
              <p:nvPr/>
            </p:nvSpPr>
            <p:spPr bwMode="auto">
              <a:xfrm>
                <a:off x="2715" y="1856"/>
                <a:ext cx="12" cy="12"/>
              </a:xfrm>
              <a:custGeom>
                <a:avLst/>
                <a:gdLst>
                  <a:gd name="T0" fmla="*/ 12 w 12"/>
                  <a:gd name="T1" fmla="*/ 2 h 12"/>
                  <a:gd name="T2" fmla="*/ 1 w 12"/>
                  <a:gd name="T3" fmla="*/ 0 h 12"/>
                  <a:gd name="T4" fmla="*/ 0 w 12"/>
                  <a:gd name="T5" fmla="*/ 10 h 12"/>
                  <a:gd name="T6" fmla="*/ 10 w 12"/>
                  <a:gd name="T7" fmla="*/ 12 h 12"/>
                  <a:gd name="T8" fmla="*/ 12 w 12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12" y="2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2"/>
                    </a:ln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4" name="Freeform 420"/>
              <p:cNvSpPr>
                <a:spLocks/>
              </p:cNvSpPr>
              <p:nvPr/>
            </p:nvSpPr>
            <p:spPr bwMode="auto">
              <a:xfrm>
                <a:off x="2714" y="1877"/>
                <a:ext cx="11" cy="10"/>
              </a:xfrm>
              <a:custGeom>
                <a:avLst/>
                <a:gdLst>
                  <a:gd name="T0" fmla="*/ 11 w 11"/>
                  <a:gd name="T1" fmla="*/ 0 h 10"/>
                  <a:gd name="T2" fmla="*/ 1 w 11"/>
                  <a:gd name="T3" fmla="*/ 0 h 10"/>
                  <a:gd name="T4" fmla="*/ 0 w 11"/>
                  <a:gd name="T5" fmla="*/ 10 h 10"/>
                  <a:gd name="T6" fmla="*/ 10 w 11"/>
                  <a:gd name="T7" fmla="*/ 10 h 10"/>
                  <a:gd name="T8" fmla="*/ 11 w 1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0"/>
                  <a:gd name="T17" fmla="*/ 11 w 1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0">
                    <a:moveTo>
                      <a:pt x="11" y="0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0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5" name="Freeform 421"/>
              <p:cNvSpPr>
                <a:spLocks/>
              </p:cNvSpPr>
              <p:nvPr/>
            </p:nvSpPr>
            <p:spPr bwMode="auto">
              <a:xfrm>
                <a:off x="2713" y="1897"/>
                <a:ext cx="11" cy="10"/>
              </a:xfrm>
              <a:custGeom>
                <a:avLst/>
                <a:gdLst>
                  <a:gd name="T0" fmla="*/ 11 w 11"/>
                  <a:gd name="T1" fmla="*/ 0 h 10"/>
                  <a:gd name="T2" fmla="*/ 1 w 11"/>
                  <a:gd name="T3" fmla="*/ 0 h 10"/>
                  <a:gd name="T4" fmla="*/ 0 w 11"/>
                  <a:gd name="T5" fmla="*/ 10 h 10"/>
                  <a:gd name="T6" fmla="*/ 10 w 11"/>
                  <a:gd name="T7" fmla="*/ 10 h 10"/>
                  <a:gd name="T8" fmla="*/ 11 w 1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0"/>
                  <a:gd name="T17" fmla="*/ 11 w 1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0">
                    <a:moveTo>
                      <a:pt x="11" y="0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0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6" name="Rectangle 422"/>
              <p:cNvSpPr>
                <a:spLocks noChangeArrowheads="1"/>
              </p:cNvSpPr>
              <p:nvPr/>
            </p:nvSpPr>
            <p:spPr bwMode="auto">
              <a:xfrm>
                <a:off x="2713" y="1917"/>
                <a:ext cx="10" cy="10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7" name="Rectangle 423"/>
              <p:cNvSpPr>
                <a:spLocks noChangeArrowheads="1"/>
              </p:cNvSpPr>
              <p:nvPr/>
            </p:nvSpPr>
            <p:spPr bwMode="auto">
              <a:xfrm>
                <a:off x="2713" y="1938"/>
                <a:ext cx="10" cy="10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8" name="Freeform 424"/>
              <p:cNvSpPr>
                <a:spLocks/>
              </p:cNvSpPr>
              <p:nvPr/>
            </p:nvSpPr>
            <p:spPr bwMode="auto">
              <a:xfrm>
                <a:off x="2713" y="1958"/>
                <a:ext cx="11" cy="10"/>
              </a:xfrm>
              <a:custGeom>
                <a:avLst/>
                <a:gdLst>
                  <a:gd name="T0" fmla="*/ 10 w 11"/>
                  <a:gd name="T1" fmla="*/ 0 h 10"/>
                  <a:gd name="T2" fmla="*/ 0 w 11"/>
                  <a:gd name="T3" fmla="*/ 0 h 10"/>
                  <a:gd name="T4" fmla="*/ 1 w 11"/>
                  <a:gd name="T5" fmla="*/ 10 h 10"/>
                  <a:gd name="T6" fmla="*/ 11 w 11"/>
                  <a:gd name="T7" fmla="*/ 10 h 10"/>
                  <a:gd name="T8" fmla="*/ 10 w 1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0"/>
                  <a:gd name="T17" fmla="*/ 11 w 1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0">
                    <a:moveTo>
                      <a:pt x="10" y="0"/>
                    </a:moveTo>
                    <a:lnTo>
                      <a:pt x="0" y="0"/>
                    </a:lnTo>
                    <a:lnTo>
                      <a:pt x="1" y="10"/>
                    </a:lnTo>
                    <a:lnTo>
                      <a:pt x="11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49" name="Freeform 425"/>
              <p:cNvSpPr>
                <a:spLocks/>
              </p:cNvSpPr>
              <p:nvPr/>
            </p:nvSpPr>
            <p:spPr bwMode="auto">
              <a:xfrm>
                <a:off x="2714" y="1978"/>
                <a:ext cx="10" cy="12"/>
              </a:xfrm>
              <a:custGeom>
                <a:avLst/>
                <a:gdLst>
                  <a:gd name="T0" fmla="*/ 10 w 10"/>
                  <a:gd name="T1" fmla="*/ 0 h 12"/>
                  <a:gd name="T2" fmla="*/ 0 w 10"/>
                  <a:gd name="T3" fmla="*/ 0 h 12"/>
                  <a:gd name="T4" fmla="*/ 0 w 10"/>
                  <a:gd name="T5" fmla="*/ 7 h 12"/>
                  <a:gd name="T6" fmla="*/ 0 w 10"/>
                  <a:gd name="T7" fmla="*/ 12 h 12"/>
                  <a:gd name="T8" fmla="*/ 10 w 10"/>
                  <a:gd name="T9" fmla="*/ 10 h 12"/>
                  <a:gd name="T10" fmla="*/ 10 w 10"/>
                  <a:gd name="T11" fmla="*/ 7 h 12"/>
                  <a:gd name="T12" fmla="*/ 10 w 10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"/>
                  <a:gd name="T22" fmla="*/ 0 h 12"/>
                  <a:gd name="T23" fmla="*/ 10 w 10"/>
                  <a:gd name="T24" fmla="*/ 12 h 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" h="12">
                    <a:moveTo>
                      <a:pt x="10" y="0"/>
                    </a:moveTo>
                    <a:lnTo>
                      <a:pt x="0" y="0"/>
                    </a:lnTo>
                    <a:lnTo>
                      <a:pt x="0" y="7"/>
                    </a:lnTo>
                    <a:lnTo>
                      <a:pt x="0" y="12"/>
                    </a:lnTo>
                    <a:lnTo>
                      <a:pt x="10" y="10"/>
                    </a:lnTo>
                    <a:lnTo>
                      <a:pt x="10" y="7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0" name="Freeform 426"/>
              <p:cNvSpPr>
                <a:spLocks/>
              </p:cNvSpPr>
              <p:nvPr/>
            </p:nvSpPr>
            <p:spPr bwMode="auto">
              <a:xfrm>
                <a:off x="2715" y="1999"/>
                <a:ext cx="10" cy="11"/>
              </a:xfrm>
              <a:custGeom>
                <a:avLst/>
                <a:gdLst>
                  <a:gd name="T0" fmla="*/ 10 w 10"/>
                  <a:gd name="T1" fmla="*/ 0 h 11"/>
                  <a:gd name="T2" fmla="*/ 0 w 10"/>
                  <a:gd name="T3" fmla="*/ 1 h 11"/>
                  <a:gd name="T4" fmla="*/ 0 w 10"/>
                  <a:gd name="T5" fmla="*/ 11 h 11"/>
                  <a:gd name="T6" fmla="*/ 10 w 10"/>
                  <a:gd name="T7" fmla="*/ 10 h 11"/>
                  <a:gd name="T8" fmla="*/ 10 w 10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1"/>
                  <a:gd name="T17" fmla="*/ 10 w 10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1">
                    <a:moveTo>
                      <a:pt x="10" y="0"/>
                    </a:moveTo>
                    <a:lnTo>
                      <a:pt x="0" y="1"/>
                    </a:lnTo>
                    <a:lnTo>
                      <a:pt x="0" y="11"/>
                    </a:lnTo>
                    <a:lnTo>
                      <a:pt x="10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1" name="Freeform 427"/>
              <p:cNvSpPr>
                <a:spLocks/>
              </p:cNvSpPr>
              <p:nvPr/>
            </p:nvSpPr>
            <p:spPr bwMode="auto">
              <a:xfrm>
                <a:off x="2716" y="2019"/>
                <a:ext cx="12" cy="11"/>
              </a:xfrm>
              <a:custGeom>
                <a:avLst/>
                <a:gdLst>
                  <a:gd name="T0" fmla="*/ 11 w 12"/>
                  <a:gd name="T1" fmla="*/ 0 h 11"/>
                  <a:gd name="T2" fmla="*/ 0 w 12"/>
                  <a:gd name="T3" fmla="*/ 1 h 11"/>
                  <a:gd name="T4" fmla="*/ 2 w 12"/>
                  <a:gd name="T5" fmla="*/ 11 h 11"/>
                  <a:gd name="T6" fmla="*/ 12 w 12"/>
                  <a:gd name="T7" fmla="*/ 10 h 11"/>
                  <a:gd name="T8" fmla="*/ 11 w 12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11" y="0"/>
                    </a:moveTo>
                    <a:lnTo>
                      <a:pt x="0" y="1"/>
                    </a:lnTo>
                    <a:lnTo>
                      <a:pt x="2" y="11"/>
                    </a:lnTo>
                    <a:lnTo>
                      <a:pt x="12" y="10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2" name="Freeform 428"/>
              <p:cNvSpPr>
                <a:spLocks/>
              </p:cNvSpPr>
              <p:nvPr/>
            </p:nvSpPr>
            <p:spPr bwMode="auto">
              <a:xfrm>
                <a:off x="2719" y="2039"/>
                <a:ext cx="11" cy="12"/>
              </a:xfrm>
              <a:custGeom>
                <a:avLst/>
                <a:gdLst>
                  <a:gd name="T0" fmla="*/ 10 w 11"/>
                  <a:gd name="T1" fmla="*/ 0 h 12"/>
                  <a:gd name="T2" fmla="*/ 0 w 11"/>
                  <a:gd name="T3" fmla="*/ 2 h 12"/>
                  <a:gd name="T4" fmla="*/ 1 w 11"/>
                  <a:gd name="T5" fmla="*/ 12 h 12"/>
                  <a:gd name="T6" fmla="*/ 11 w 11"/>
                  <a:gd name="T7" fmla="*/ 11 h 12"/>
                  <a:gd name="T8" fmla="*/ 10 w 1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10" y="0"/>
                    </a:moveTo>
                    <a:lnTo>
                      <a:pt x="0" y="2"/>
                    </a:lnTo>
                    <a:lnTo>
                      <a:pt x="1" y="12"/>
                    </a:lnTo>
                    <a:lnTo>
                      <a:pt x="11" y="11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3" name="Freeform 429"/>
              <p:cNvSpPr>
                <a:spLocks/>
              </p:cNvSpPr>
              <p:nvPr/>
            </p:nvSpPr>
            <p:spPr bwMode="auto">
              <a:xfrm>
                <a:off x="2722" y="2058"/>
                <a:ext cx="11" cy="12"/>
              </a:xfrm>
              <a:custGeom>
                <a:avLst/>
                <a:gdLst>
                  <a:gd name="T0" fmla="*/ 8 w 11"/>
                  <a:gd name="T1" fmla="*/ 0 h 12"/>
                  <a:gd name="T2" fmla="*/ 0 w 11"/>
                  <a:gd name="T3" fmla="*/ 2 h 12"/>
                  <a:gd name="T4" fmla="*/ 2 w 11"/>
                  <a:gd name="T5" fmla="*/ 12 h 12"/>
                  <a:gd name="T6" fmla="*/ 11 w 11"/>
                  <a:gd name="T7" fmla="*/ 11 h 12"/>
                  <a:gd name="T8" fmla="*/ 8 w 1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8" y="0"/>
                    </a:moveTo>
                    <a:lnTo>
                      <a:pt x="0" y="2"/>
                    </a:lnTo>
                    <a:lnTo>
                      <a:pt x="2" y="12"/>
                    </a:lnTo>
                    <a:lnTo>
                      <a:pt x="11" y="11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4" name="Freeform 430"/>
              <p:cNvSpPr>
                <a:spLocks/>
              </p:cNvSpPr>
              <p:nvPr/>
            </p:nvSpPr>
            <p:spPr bwMode="auto">
              <a:xfrm>
                <a:off x="2725" y="2079"/>
                <a:ext cx="10" cy="11"/>
              </a:xfrm>
              <a:custGeom>
                <a:avLst/>
                <a:gdLst>
                  <a:gd name="T0" fmla="*/ 9 w 10"/>
                  <a:gd name="T1" fmla="*/ 0 h 11"/>
                  <a:gd name="T2" fmla="*/ 0 w 10"/>
                  <a:gd name="T3" fmla="*/ 1 h 11"/>
                  <a:gd name="T4" fmla="*/ 0 w 10"/>
                  <a:gd name="T5" fmla="*/ 7 h 11"/>
                  <a:gd name="T6" fmla="*/ 2 w 10"/>
                  <a:gd name="T7" fmla="*/ 11 h 11"/>
                  <a:gd name="T8" fmla="*/ 10 w 10"/>
                  <a:gd name="T9" fmla="*/ 10 h 11"/>
                  <a:gd name="T10" fmla="*/ 10 w 10"/>
                  <a:gd name="T11" fmla="*/ 7 h 11"/>
                  <a:gd name="T12" fmla="*/ 9 w 10"/>
                  <a:gd name="T13" fmla="*/ 0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"/>
                  <a:gd name="T22" fmla="*/ 0 h 11"/>
                  <a:gd name="T23" fmla="*/ 10 w 10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" h="11">
                    <a:moveTo>
                      <a:pt x="9" y="0"/>
                    </a:moveTo>
                    <a:lnTo>
                      <a:pt x="0" y="1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10" y="10"/>
                    </a:lnTo>
                    <a:lnTo>
                      <a:pt x="10" y="7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5" name="Freeform 431"/>
              <p:cNvSpPr>
                <a:spLocks/>
              </p:cNvSpPr>
              <p:nvPr/>
            </p:nvSpPr>
            <p:spPr bwMode="auto">
              <a:xfrm>
                <a:off x="2729" y="2099"/>
                <a:ext cx="10" cy="12"/>
              </a:xfrm>
              <a:custGeom>
                <a:avLst/>
                <a:gdLst>
                  <a:gd name="T0" fmla="*/ 9 w 10"/>
                  <a:gd name="T1" fmla="*/ 0 h 12"/>
                  <a:gd name="T2" fmla="*/ 0 w 10"/>
                  <a:gd name="T3" fmla="*/ 1 h 12"/>
                  <a:gd name="T4" fmla="*/ 1 w 10"/>
                  <a:gd name="T5" fmla="*/ 12 h 12"/>
                  <a:gd name="T6" fmla="*/ 10 w 10"/>
                  <a:gd name="T7" fmla="*/ 10 h 12"/>
                  <a:gd name="T8" fmla="*/ 9 w 10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2"/>
                  <a:gd name="T17" fmla="*/ 10 w 10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2">
                    <a:moveTo>
                      <a:pt x="9" y="0"/>
                    </a:moveTo>
                    <a:lnTo>
                      <a:pt x="0" y="1"/>
                    </a:lnTo>
                    <a:lnTo>
                      <a:pt x="1" y="12"/>
                    </a:lnTo>
                    <a:lnTo>
                      <a:pt x="10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6" name="Freeform 432"/>
              <p:cNvSpPr>
                <a:spLocks/>
              </p:cNvSpPr>
              <p:nvPr/>
            </p:nvSpPr>
            <p:spPr bwMode="auto">
              <a:xfrm>
                <a:off x="2733" y="2119"/>
                <a:ext cx="10" cy="12"/>
              </a:xfrm>
              <a:custGeom>
                <a:avLst/>
                <a:gdLst>
                  <a:gd name="T0" fmla="*/ 9 w 10"/>
                  <a:gd name="T1" fmla="*/ 0 h 12"/>
                  <a:gd name="T2" fmla="*/ 0 w 10"/>
                  <a:gd name="T3" fmla="*/ 2 h 12"/>
                  <a:gd name="T4" fmla="*/ 1 w 10"/>
                  <a:gd name="T5" fmla="*/ 12 h 12"/>
                  <a:gd name="T6" fmla="*/ 10 w 10"/>
                  <a:gd name="T7" fmla="*/ 11 h 12"/>
                  <a:gd name="T8" fmla="*/ 9 w 10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2"/>
                  <a:gd name="T17" fmla="*/ 10 w 10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2">
                    <a:moveTo>
                      <a:pt x="9" y="0"/>
                    </a:moveTo>
                    <a:lnTo>
                      <a:pt x="0" y="2"/>
                    </a:lnTo>
                    <a:lnTo>
                      <a:pt x="1" y="12"/>
                    </a:lnTo>
                    <a:lnTo>
                      <a:pt x="10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7" name="Freeform 433"/>
              <p:cNvSpPr>
                <a:spLocks/>
              </p:cNvSpPr>
              <p:nvPr/>
            </p:nvSpPr>
            <p:spPr bwMode="auto">
              <a:xfrm>
                <a:off x="2737" y="2138"/>
                <a:ext cx="11" cy="12"/>
              </a:xfrm>
              <a:custGeom>
                <a:avLst/>
                <a:gdLst>
                  <a:gd name="T0" fmla="*/ 9 w 11"/>
                  <a:gd name="T1" fmla="*/ 0 h 12"/>
                  <a:gd name="T2" fmla="*/ 0 w 11"/>
                  <a:gd name="T3" fmla="*/ 2 h 12"/>
                  <a:gd name="T4" fmla="*/ 2 w 11"/>
                  <a:gd name="T5" fmla="*/ 12 h 12"/>
                  <a:gd name="T6" fmla="*/ 11 w 11"/>
                  <a:gd name="T7" fmla="*/ 11 h 12"/>
                  <a:gd name="T8" fmla="*/ 9 w 1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9" y="0"/>
                    </a:moveTo>
                    <a:lnTo>
                      <a:pt x="0" y="2"/>
                    </a:lnTo>
                    <a:lnTo>
                      <a:pt x="2" y="12"/>
                    </a:lnTo>
                    <a:lnTo>
                      <a:pt x="11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8" name="Freeform 434"/>
              <p:cNvSpPr>
                <a:spLocks/>
              </p:cNvSpPr>
              <p:nvPr/>
            </p:nvSpPr>
            <p:spPr bwMode="auto">
              <a:xfrm>
                <a:off x="2741" y="2158"/>
                <a:ext cx="11" cy="12"/>
              </a:xfrm>
              <a:custGeom>
                <a:avLst/>
                <a:gdLst>
                  <a:gd name="T0" fmla="*/ 8 w 11"/>
                  <a:gd name="T1" fmla="*/ 0 h 12"/>
                  <a:gd name="T2" fmla="*/ 0 w 11"/>
                  <a:gd name="T3" fmla="*/ 2 h 12"/>
                  <a:gd name="T4" fmla="*/ 2 w 11"/>
                  <a:gd name="T5" fmla="*/ 12 h 12"/>
                  <a:gd name="T6" fmla="*/ 11 w 11"/>
                  <a:gd name="T7" fmla="*/ 10 h 12"/>
                  <a:gd name="T8" fmla="*/ 8 w 1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8" y="0"/>
                    </a:moveTo>
                    <a:lnTo>
                      <a:pt x="0" y="2"/>
                    </a:lnTo>
                    <a:lnTo>
                      <a:pt x="2" y="12"/>
                    </a:lnTo>
                    <a:lnTo>
                      <a:pt x="11" y="1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59" name="Freeform 435"/>
              <p:cNvSpPr>
                <a:spLocks/>
              </p:cNvSpPr>
              <p:nvPr/>
            </p:nvSpPr>
            <p:spPr bwMode="auto">
              <a:xfrm>
                <a:off x="2746" y="2178"/>
                <a:ext cx="11" cy="13"/>
              </a:xfrm>
              <a:custGeom>
                <a:avLst/>
                <a:gdLst>
                  <a:gd name="T0" fmla="*/ 9 w 11"/>
                  <a:gd name="T1" fmla="*/ 0 h 13"/>
                  <a:gd name="T2" fmla="*/ 0 w 11"/>
                  <a:gd name="T3" fmla="*/ 2 h 13"/>
                  <a:gd name="T4" fmla="*/ 2 w 11"/>
                  <a:gd name="T5" fmla="*/ 13 h 13"/>
                  <a:gd name="T6" fmla="*/ 11 w 11"/>
                  <a:gd name="T7" fmla="*/ 10 h 13"/>
                  <a:gd name="T8" fmla="*/ 9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9" y="0"/>
                    </a:moveTo>
                    <a:lnTo>
                      <a:pt x="0" y="2"/>
                    </a:lnTo>
                    <a:lnTo>
                      <a:pt x="2" y="13"/>
                    </a:lnTo>
                    <a:lnTo>
                      <a:pt x="11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0" name="Freeform 436"/>
              <p:cNvSpPr>
                <a:spLocks/>
              </p:cNvSpPr>
              <p:nvPr/>
            </p:nvSpPr>
            <p:spPr bwMode="auto">
              <a:xfrm>
                <a:off x="2751" y="2197"/>
                <a:ext cx="11" cy="13"/>
              </a:xfrm>
              <a:custGeom>
                <a:avLst/>
                <a:gdLst>
                  <a:gd name="T0" fmla="*/ 9 w 11"/>
                  <a:gd name="T1" fmla="*/ 0 h 13"/>
                  <a:gd name="T2" fmla="*/ 0 w 11"/>
                  <a:gd name="T3" fmla="*/ 3 h 13"/>
                  <a:gd name="T4" fmla="*/ 2 w 11"/>
                  <a:gd name="T5" fmla="*/ 13 h 13"/>
                  <a:gd name="T6" fmla="*/ 11 w 11"/>
                  <a:gd name="T7" fmla="*/ 10 h 13"/>
                  <a:gd name="T8" fmla="*/ 9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9" y="0"/>
                    </a:moveTo>
                    <a:lnTo>
                      <a:pt x="0" y="3"/>
                    </a:lnTo>
                    <a:lnTo>
                      <a:pt x="2" y="13"/>
                    </a:lnTo>
                    <a:lnTo>
                      <a:pt x="11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1" name="Freeform 437"/>
              <p:cNvSpPr>
                <a:spLocks/>
              </p:cNvSpPr>
              <p:nvPr/>
            </p:nvSpPr>
            <p:spPr bwMode="auto">
              <a:xfrm>
                <a:off x="2756" y="2217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3 h 13"/>
                  <a:gd name="T4" fmla="*/ 1 w 12"/>
                  <a:gd name="T5" fmla="*/ 4 h 13"/>
                  <a:gd name="T6" fmla="*/ 4 w 12"/>
                  <a:gd name="T7" fmla="*/ 13 h 13"/>
                  <a:gd name="T8" fmla="*/ 12 w 12"/>
                  <a:gd name="T9" fmla="*/ 10 h 13"/>
                  <a:gd name="T10" fmla="*/ 11 w 12"/>
                  <a:gd name="T11" fmla="*/ 4 h 13"/>
                  <a:gd name="T12" fmla="*/ 9 w 12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"/>
                  <a:gd name="T22" fmla="*/ 0 h 13"/>
                  <a:gd name="T23" fmla="*/ 12 w 12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" h="13">
                    <a:moveTo>
                      <a:pt x="9" y="0"/>
                    </a:moveTo>
                    <a:lnTo>
                      <a:pt x="0" y="3"/>
                    </a:lnTo>
                    <a:lnTo>
                      <a:pt x="1" y="4"/>
                    </a:lnTo>
                    <a:lnTo>
                      <a:pt x="4" y="13"/>
                    </a:lnTo>
                    <a:lnTo>
                      <a:pt x="12" y="10"/>
                    </a:lnTo>
                    <a:lnTo>
                      <a:pt x="11" y="4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2" name="Freeform 438"/>
              <p:cNvSpPr>
                <a:spLocks/>
              </p:cNvSpPr>
              <p:nvPr/>
            </p:nvSpPr>
            <p:spPr bwMode="auto">
              <a:xfrm>
                <a:off x="2762" y="2236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3 h 13"/>
                  <a:gd name="T4" fmla="*/ 3 w 12"/>
                  <a:gd name="T5" fmla="*/ 13 h 13"/>
                  <a:gd name="T6" fmla="*/ 12 w 12"/>
                  <a:gd name="T7" fmla="*/ 11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3"/>
                    </a:lnTo>
                    <a:lnTo>
                      <a:pt x="3" y="13"/>
                    </a:lnTo>
                    <a:lnTo>
                      <a:pt x="12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3" name="Freeform 439"/>
              <p:cNvSpPr>
                <a:spLocks/>
              </p:cNvSpPr>
              <p:nvPr/>
            </p:nvSpPr>
            <p:spPr bwMode="auto">
              <a:xfrm>
                <a:off x="2768" y="2257"/>
                <a:ext cx="12" cy="11"/>
              </a:xfrm>
              <a:custGeom>
                <a:avLst/>
                <a:gdLst>
                  <a:gd name="T0" fmla="*/ 9 w 12"/>
                  <a:gd name="T1" fmla="*/ 0 h 11"/>
                  <a:gd name="T2" fmla="*/ 0 w 12"/>
                  <a:gd name="T3" fmla="*/ 2 h 11"/>
                  <a:gd name="T4" fmla="*/ 3 w 12"/>
                  <a:gd name="T5" fmla="*/ 11 h 11"/>
                  <a:gd name="T6" fmla="*/ 12 w 12"/>
                  <a:gd name="T7" fmla="*/ 9 h 11"/>
                  <a:gd name="T8" fmla="*/ 9 w 12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9" y="0"/>
                    </a:moveTo>
                    <a:lnTo>
                      <a:pt x="0" y="2"/>
                    </a:lnTo>
                    <a:lnTo>
                      <a:pt x="3" y="11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4" name="Freeform 440"/>
              <p:cNvSpPr>
                <a:spLocks/>
              </p:cNvSpPr>
              <p:nvPr/>
            </p:nvSpPr>
            <p:spPr bwMode="auto">
              <a:xfrm>
                <a:off x="2775" y="2276"/>
                <a:ext cx="11" cy="11"/>
              </a:xfrm>
              <a:custGeom>
                <a:avLst/>
                <a:gdLst>
                  <a:gd name="T0" fmla="*/ 9 w 11"/>
                  <a:gd name="T1" fmla="*/ 0 h 11"/>
                  <a:gd name="T2" fmla="*/ 0 w 11"/>
                  <a:gd name="T3" fmla="*/ 2 h 11"/>
                  <a:gd name="T4" fmla="*/ 2 w 11"/>
                  <a:gd name="T5" fmla="*/ 11 h 11"/>
                  <a:gd name="T6" fmla="*/ 11 w 11"/>
                  <a:gd name="T7" fmla="*/ 9 h 11"/>
                  <a:gd name="T8" fmla="*/ 9 w 1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9" y="0"/>
                    </a:moveTo>
                    <a:lnTo>
                      <a:pt x="0" y="2"/>
                    </a:lnTo>
                    <a:lnTo>
                      <a:pt x="2" y="11"/>
                    </a:lnTo>
                    <a:lnTo>
                      <a:pt x="11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5" name="Freeform 441"/>
              <p:cNvSpPr>
                <a:spLocks/>
              </p:cNvSpPr>
              <p:nvPr/>
            </p:nvSpPr>
            <p:spPr bwMode="auto">
              <a:xfrm>
                <a:off x="2780" y="2295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2 h 13"/>
                  <a:gd name="T4" fmla="*/ 4 w 13"/>
                  <a:gd name="T5" fmla="*/ 13 h 13"/>
                  <a:gd name="T6" fmla="*/ 13 w 13"/>
                  <a:gd name="T7" fmla="*/ 10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2"/>
                    </a:lnTo>
                    <a:lnTo>
                      <a:pt x="4" y="13"/>
                    </a:lnTo>
                    <a:lnTo>
                      <a:pt x="13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6" name="Freeform 442"/>
              <p:cNvSpPr>
                <a:spLocks/>
              </p:cNvSpPr>
              <p:nvPr/>
            </p:nvSpPr>
            <p:spPr bwMode="auto">
              <a:xfrm>
                <a:off x="2788" y="2314"/>
                <a:ext cx="11" cy="13"/>
              </a:xfrm>
              <a:custGeom>
                <a:avLst/>
                <a:gdLst>
                  <a:gd name="T0" fmla="*/ 8 w 11"/>
                  <a:gd name="T1" fmla="*/ 0 h 13"/>
                  <a:gd name="T2" fmla="*/ 0 w 11"/>
                  <a:gd name="T3" fmla="*/ 2 h 13"/>
                  <a:gd name="T4" fmla="*/ 2 w 11"/>
                  <a:gd name="T5" fmla="*/ 13 h 13"/>
                  <a:gd name="T6" fmla="*/ 11 w 11"/>
                  <a:gd name="T7" fmla="*/ 10 h 13"/>
                  <a:gd name="T8" fmla="*/ 8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8" y="0"/>
                    </a:moveTo>
                    <a:lnTo>
                      <a:pt x="0" y="2"/>
                    </a:lnTo>
                    <a:lnTo>
                      <a:pt x="2" y="13"/>
                    </a:lnTo>
                    <a:lnTo>
                      <a:pt x="11" y="1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7" name="Freeform 443"/>
              <p:cNvSpPr>
                <a:spLocks/>
              </p:cNvSpPr>
              <p:nvPr/>
            </p:nvSpPr>
            <p:spPr bwMode="auto">
              <a:xfrm>
                <a:off x="2794" y="2333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3 h 13"/>
                  <a:gd name="T4" fmla="*/ 4 w 13"/>
                  <a:gd name="T5" fmla="*/ 13 h 13"/>
                  <a:gd name="T6" fmla="*/ 13 w 13"/>
                  <a:gd name="T7" fmla="*/ 10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3"/>
                    </a:lnTo>
                    <a:lnTo>
                      <a:pt x="4" y="13"/>
                    </a:lnTo>
                    <a:lnTo>
                      <a:pt x="13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8" name="Freeform 444"/>
              <p:cNvSpPr>
                <a:spLocks/>
              </p:cNvSpPr>
              <p:nvPr/>
            </p:nvSpPr>
            <p:spPr bwMode="auto">
              <a:xfrm>
                <a:off x="2800" y="2352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3 h 13"/>
                  <a:gd name="T4" fmla="*/ 1 w 13"/>
                  <a:gd name="T5" fmla="*/ 5 h 13"/>
                  <a:gd name="T6" fmla="*/ 4 w 13"/>
                  <a:gd name="T7" fmla="*/ 13 h 13"/>
                  <a:gd name="T8" fmla="*/ 13 w 13"/>
                  <a:gd name="T9" fmla="*/ 9 h 13"/>
                  <a:gd name="T10" fmla="*/ 12 w 13"/>
                  <a:gd name="T11" fmla="*/ 5 h 13"/>
                  <a:gd name="T12" fmla="*/ 9 w 13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"/>
                  <a:gd name="T22" fmla="*/ 0 h 13"/>
                  <a:gd name="T23" fmla="*/ 13 w 13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" h="13">
                    <a:moveTo>
                      <a:pt x="9" y="0"/>
                    </a:moveTo>
                    <a:lnTo>
                      <a:pt x="0" y="3"/>
                    </a:lnTo>
                    <a:lnTo>
                      <a:pt x="1" y="5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12" y="5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69" name="Freeform 445"/>
              <p:cNvSpPr>
                <a:spLocks/>
              </p:cNvSpPr>
              <p:nvPr/>
            </p:nvSpPr>
            <p:spPr bwMode="auto">
              <a:xfrm>
                <a:off x="2808" y="2371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4 h 13"/>
                  <a:gd name="T4" fmla="*/ 4 w 13"/>
                  <a:gd name="T5" fmla="*/ 13 h 13"/>
                  <a:gd name="T6" fmla="*/ 13 w 13"/>
                  <a:gd name="T7" fmla="*/ 9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0" name="Freeform 446"/>
              <p:cNvSpPr>
                <a:spLocks/>
              </p:cNvSpPr>
              <p:nvPr/>
            </p:nvSpPr>
            <p:spPr bwMode="auto">
              <a:xfrm>
                <a:off x="2815" y="2390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4 h 13"/>
                  <a:gd name="T4" fmla="*/ 3 w 12"/>
                  <a:gd name="T5" fmla="*/ 13 h 13"/>
                  <a:gd name="T6" fmla="*/ 12 w 12"/>
                  <a:gd name="T7" fmla="*/ 9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4"/>
                    </a:lnTo>
                    <a:lnTo>
                      <a:pt x="3" y="13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1" name="Freeform 447"/>
              <p:cNvSpPr>
                <a:spLocks/>
              </p:cNvSpPr>
              <p:nvPr/>
            </p:nvSpPr>
            <p:spPr bwMode="auto">
              <a:xfrm>
                <a:off x="2822" y="2409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4 h 13"/>
                  <a:gd name="T4" fmla="*/ 4 w 12"/>
                  <a:gd name="T5" fmla="*/ 13 h 13"/>
                  <a:gd name="T6" fmla="*/ 12 w 12"/>
                  <a:gd name="T7" fmla="*/ 9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2" name="Freeform 448"/>
              <p:cNvSpPr>
                <a:spLocks/>
              </p:cNvSpPr>
              <p:nvPr/>
            </p:nvSpPr>
            <p:spPr bwMode="auto">
              <a:xfrm>
                <a:off x="2829" y="2428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4 h 13"/>
                  <a:gd name="T4" fmla="*/ 4 w 13"/>
                  <a:gd name="T5" fmla="*/ 13 h 13"/>
                  <a:gd name="T6" fmla="*/ 13 w 13"/>
                  <a:gd name="T7" fmla="*/ 9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3" name="Freeform 449"/>
              <p:cNvSpPr>
                <a:spLocks/>
              </p:cNvSpPr>
              <p:nvPr/>
            </p:nvSpPr>
            <p:spPr bwMode="auto">
              <a:xfrm>
                <a:off x="2837" y="2447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4 h 13"/>
                  <a:gd name="T4" fmla="*/ 4 w 13"/>
                  <a:gd name="T5" fmla="*/ 13 h 13"/>
                  <a:gd name="T6" fmla="*/ 13 w 13"/>
                  <a:gd name="T7" fmla="*/ 9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4" name="Freeform 450"/>
              <p:cNvSpPr>
                <a:spLocks/>
              </p:cNvSpPr>
              <p:nvPr/>
            </p:nvSpPr>
            <p:spPr bwMode="auto">
              <a:xfrm>
                <a:off x="2845" y="2465"/>
                <a:ext cx="12" cy="14"/>
              </a:xfrm>
              <a:custGeom>
                <a:avLst/>
                <a:gdLst>
                  <a:gd name="T0" fmla="*/ 9 w 12"/>
                  <a:gd name="T1" fmla="*/ 0 h 14"/>
                  <a:gd name="T2" fmla="*/ 0 w 12"/>
                  <a:gd name="T3" fmla="*/ 4 h 14"/>
                  <a:gd name="T4" fmla="*/ 3 w 12"/>
                  <a:gd name="T5" fmla="*/ 14 h 14"/>
                  <a:gd name="T6" fmla="*/ 12 w 12"/>
                  <a:gd name="T7" fmla="*/ 10 h 14"/>
                  <a:gd name="T8" fmla="*/ 9 w 12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9" y="0"/>
                    </a:moveTo>
                    <a:lnTo>
                      <a:pt x="0" y="4"/>
                    </a:lnTo>
                    <a:lnTo>
                      <a:pt x="3" y="14"/>
                    </a:lnTo>
                    <a:lnTo>
                      <a:pt x="12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5" name="Freeform 451"/>
              <p:cNvSpPr>
                <a:spLocks/>
              </p:cNvSpPr>
              <p:nvPr/>
            </p:nvSpPr>
            <p:spPr bwMode="auto">
              <a:xfrm>
                <a:off x="2852" y="2484"/>
                <a:ext cx="12" cy="10"/>
              </a:xfrm>
              <a:custGeom>
                <a:avLst/>
                <a:gdLst>
                  <a:gd name="T0" fmla="*/ 9 w 12"/>
                  <a:gd name="T1" fmla="*/ 0 h 10"/>
                  <a:gd name="T2" fmla="*/ 0 w 12"/>
                  <a:gd name="T3" fmla="*/ 4 h 10"/>
                  <a:gd name="T4" fmla="*/ 3 w 12"/>
                  <a:gd name="T5" fmla="*/ 10 h 10"/>
                  <a:gd name="T6" fmla="*/ 12 w 12"/>
                  <a:gd name="T7" fmla="*/ 7 h 10"/>
                  <a:gd name="T8" fmla="*/ 9 w 12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0"/>
                  <a:gd name="T17" fmla="*/ 12 w 12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0">
                    <a:moveTo>
                      <a:pt x="9" y="0"/>
                    </a:moveTo>
                    <a:lnTo>
                      <a:pt x="0" y="4"/>
                    </a:lnTo>
                    <a:lnTo>
                      <a:pt x="3" y="10"/>
                    </a:lnTo>
                    <a:lnTo>
                      <a:pt x="12" y="7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76" name="Freeform 452"/>
              <p:cNvSpPr>
                <a:spLocks/>
              </p:cNvSpPr>
              <p:nvPr/>
            </p:nvSpPr>
            <p:spPr bwMode="auto">
              <a:xfrm>
                <a:off x="2818" y="2475"/>
                <a:ext cx="79" cy="96"/>
              </a:xfrm>
              <a:custGeom>
                <a:avLst/>
                <a:gdLst>
                  <a:gd name="T0" fmla="*/ 0 w 79"/>
                  <a:gd name="T1" fmla="*/ 33 h 96"/>
                  <a:gd name="T2" fmla="*/ 72 w 79"/>
                  <a:gd name="T3" fmla="*/ 96 h 96"/>
                  <a:gd name="T4" fmla="*/ 79 w 79"/>
                  <a:gd name="T5" fmla="*/ 0 h 96"/>
                  <a:gd name="T6" fmla="*/ 0 w 79"/>
                  <a:gd name="T7" fmla="*/ 33 h 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9"/>
                  <a:gd name="T13" fmla="*/ 0 h 96"/>
                  <a:gd name="T14" fmla="*/ 79 w 79"/>
                  <a:gd name="T15" fmla="*/ 96 h 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9" h="96">
                    <a:moveTo>
                      <a:pt x="0" y="33"/>
                    </a:moveTo>
                    <a:lnTo>
                      <a:pt x="72" y="96"/>
                    </a:lnTo>
                    <a:lnTo>
                      <a:pt x="79" y="0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50" name="Group 453"/>
            <p:cNvGrpSpPr>
              <a:grpSpLocks/>
            </p:cNvGrpSpPr>
            <p:nvPr/>
          </p:nvGrpSpPr>
          <p:grpSpPr bwMode="auto">
            <a:xfrm>
              <a:off x="2601" y="1329"/>
              <a:ext cx="184" cy="1242"/>
              <a:chOff x="2601" y="1329"/>
              <a:chExt cx="184" cy="1242"/>
            </a:xfrm>
          </p:grpSpPr>
          <p:sp>
            <p:nvSpPr>
              <p:cNvPr id="103655" name="Freeform 454"/>
              <p:cNvSpPr>
                <a:spLocks/>
              </p:cNvSpPr>
              <p:nvPr/>
            </p:nvSpPr>
            <p:spPr bwMode="auto">
              <a:xfrm>
                <a:off x="2751" y="1329"/>
                <a:ext cx="12" cy="12"/>
              </a:xfrm>
              <a:custGeom>
                <a:avLst/>
                <a:gdLst>
                  <a:gd name="T0" fmla="*/ 12 w 12"/>
                  <a:gd name="T1" fmla="*/ 4 h 12"/>
                  <a:gd name="T2" fmla="*/ 4 w 12"/>
                  <a:gd name="T3" fmla="*/ 0 h 12"/>
                  <a:gd name="T4" fmla="*/ 0 w 12"/>
                  <a:gd name="T5" fmla="*/ 9 h 12"/>
                  <a:gd name="T6" fmla="*/ 9 w 12"/>
                  <a:gd name="T7" fmla="*/ 12 h 12"/>
                  <a:gd name="T8" fmla="*/ 12 w 12"/>
                  <a:gd name="T9" fmla="*/ 4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12" y="4"/>
                    </a:moveTo>
                    <a:lnTo>
                      <a:pt x="4" y="0"/>
                    </a:lnTo>
                    <a:lnTo>
                      <a:pt x="0" y="9"/>
                    </a:lnTo>
                    <a:lnTo>
                      <a:pt x="9" y="12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56" name="Freeform 455"/>
              <p:cNvSpPr>
                <a:spLocks/>
              </p:cNvSpPr>
              <p:nvPr/>
            </p:nvSpPr>
            <p:spPr bwMode="auto">
              <a:xfrm>
                <a:off x="2743" y="1347"/>
                <a:ext cx="13" cy="14"/>
              </a:xfrm>
              <a:custGeom>
                <a:avLst/>
                <a:gdLst>
                  <a:gd name="T0" fmla="*/ 13 w 13"/>
                  <a:gd name="T1" fmla="*/ 3 h 14"/>
                  <a:gd name="T2" fmla="*/ 4 w 13"/>
                  <a:gd name="T3" fmla="*/ 0 h 14"/>
                  <a:gd name="T4" fmla="*/ 0 w 13"/>
                  <a:gd name="T5" fmla="*/ 10 h 14"/>
                  <a:gd name="T6" fmla="*/ 9 w 13"/>
                  <a:gd name="T7" fmla="*/ 14 h 14"/>
                  <a:gd name="T8" fmla="*/ 13 w 13"/>
                  <a:gd name="T9" fmla="*/ 3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4"/>
                  <a:gd name="T17" fmla="*/ 13 w 13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4">
                    <a:moveTo>
                      <a:pt x="13" y="3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3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57" name="Freeform 456"/>
              <p:cNvSpPr>
                <a:spLocks/>
              </p:cNvSpPr>
              <p:nvPr/>
            </p:nvSpPr>
            <p:spPr bwMode="auto">
              <a:xfrm>
                <a:off x="2735" y="1366"/>
                <a:ext cx="13" cy="14"/>
              </a:xfrm>
              <a:custGeom>
                <a:avLst/>
                <a:gdLst>
                  <a:gd name="T0" fmla="*/ 13 w 13"/>
                  <a:gd name="T1" fmla="*/ 3 h 14"/>
                  <a:gd name="T2" fmla="*/ 4 w 13"/>
                  <a:gd name="T3" fmla="*/ 0 h 14"/>
                  <a:gd name="T4" fmla="*/ 0 w 13"/>
                  <a:gd name="T5" fmla="*/ 10 h 14"/>
                  <a:gd name="T6" fmla="*/ 9 w 13"/>
                  <a:gd name="T7" fmla="*/ 14 h 14"/>
                  <a:gd name="T8" fmla="*/ 13 w 13"/>
                  <a:gd name="T9" fmla="*/ 3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4"/>
                  <a:gd name="T17" fmla="*/ 13 w 13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4">
                    <a:moveTo>
                      <a:pt x="13" y="3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3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58" name="Freeform 457"/>
              <p:cNvSpPr>
                <a:spLocks/>
              </p:cNvSpPr>
              <p:nvPr/>
            </p:nvSpPr>
            <p:spPr bwMode="auto">
              <a:xfrm>
                <a:off x="2729" y="1385"/>
                <a:ext cx="12" cy="14"/>
              </a:xfrm>
              <a:custGeom>
                <a:avLst/>
                <a:gdLst>
                  <a:gd name="T0" fmla="*/ 12 w 12"/>
                  <a:gd name="T1" fmla="*/ 4 h 14"/>
                  <a:gd name="T2" fmla="*/ 3 w 12"/>
                  <a:gd name="T3" fmla="*/ 0 h 14"/>
                  <a:gd name="T4" fmla="*/ 0 w 12"/>
                  <a:gd name="T5" fmla="*/ 10 h 14"/>
                  <a:gd name="T6" fmla="*/ 9 w 12"/>
                  <a:gd name="T7" fmla="*/ 14 h 14"/>
                  <a:gd name="T8" fmla="*/ 12 w 12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12" y="4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59" name="Freeform 458"/>
              <p:cNvSpPr>
                <a:spLocks/>
              </p:cNvSpPr>
              <p:nvPr/>
            </p:nvSpPr>
            <p:spPr bwMode="auto">
              <a:xfrm>
                <a:off x="2722" y="1404"/>
                <a:ext cx="12" cy="14"/>
              </a:xfrm>
              <a:custGeom>
                <a:avLst/>
                <a:gdLst>
                  <a:gd name="T0" fmla="*/ 12 w 12"/>
                  <a:gd name="T1" fmla="*/ 4 h 14"/>
                  <a:gd name="T2" fmla="*/ 3 w 12"/>
                  <a:gd name="T3" fmla="*/ 0 h 14"/>
                  <a:gd name="T4" fmla="*/ 2 w 12"/>
                  <a:gd name="T5" fmla="*/ 4 h 14"/>
                  <a:gd name="T6" fmla="*/ 0 w 12"/>
                  <a:gd name="T7" fmla="*/ 10 h 14"/>
                  <a:gd name="T8" fmla="*/ 8 w 12"/>
                  <a:gd name="T9" fmla="*/ 14 h 14"/>
                  <a:gd name="T10" fmla="*/ 12 w 12"/>
                  <a:gd name="T11" fmla="*/ 4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2"/>
                  <a:gd name="T19" fmla="*/ 0 h 14"/>
                  <a:gd name="T20" fmla="*/ 12 w 12"/>
                  <a:gd name="T21" fmla="*/ 14 h 1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2" h="14">
                    <a:moveTo>
                      <a:pt x="12" y="4"/>
                    </a:moveTo>
                    <a:lnTo>
                      <a:pt x="3" y="0"/>
                    </a:lnTo>
                    <a:lnTo>
                      <a:pt x="2" y="4"/>
                    </a:lnTo>
                    <a:lnTo>
                      <a:pt x="0" y="10"/>
                    </a:lnTo>
                    <a:lnTo>
                      <a:pt x="8" y="14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60" name="Freeform 459"/>
              <p:cNvSpPr>
                <a:spLocks/>
              </p:cNvSpPr>
              <p:nvPr/>
            </p:nvSpPr>
            <p:spPr bwMode="auto">
              <a:xfrm>
                <a:off x="2715" y="1423"/>
                <a:ext cx="12" cy="14"/>
              </a:xfrm>
              <a:custGeom>
                <a:avLst/>
                <a:gdLst>
                  <a:gd name="T0" fmla="*/ 12 w 12"/>
                  <a:gd name="T1" fmla="*/ 4 h 14"/>
                  <a:gd name="T2" fmla="*/ 3 w 12"/>
                  <a:gd name="T3" fmla="*/ 0 h 14"/>
                  <a:gd name="T4" fmla="*/ 0 w 12"/>
                  <a:gd name="T5" fmla="*/ 10 h 14"/>
                  <a:gd name="T6" fmla="*/ 9 w 12"/>
                  <a:gd name="T7" fmla="*/ 14 h 14"/>
                  <a:gd name="T8" fmla="*/ 12 w 12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12" y="4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61" name="Freeform 460"/>
              <p:cNvSpPr>
                <a:spLocks/>
              </p:cNvSpPr>
              <p:nvPr/>
            </p:nvSpPr>
            <p:spPr bwMode="auto">
              <a:xfrm>
                <a:off x="2708" y="1442"/>
                <a:ext cx="12" cy="14"/>
              </a:xfrm>
              <a:custGeom>
                <a:avLst/>
                <a:gdLst>
                  <a:gd name="T0" fmla="*/ 12 w 12"/>
                  <a:gd name="T1" fmla="*/ 4 h 14"/>
                  <a:gd name="T2" fmla="*/ 3 w 12"/>
                  <a:gd name="T3" fmla="*/ 0 h 14"/>
                  <a:gd name="T4" fmla="*/ 0 w 12"/>
                  <a:gd name="T5" fmla="*/ 10 h 14"/>
                  <a:gd name="T6" fmla="*/ 8 w 12"/>
                  <a:gd name="T7" fmla="*/ 14 h 14"/>
                  <a:gd name="T8" fmla="*/ 12 w 12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12" y="4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8" y="14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62" name="Freeform 461"/>
              <p:cNvSpPr>
                <a:spLocks/>
              </p:cNvSpPr>
              <p:nvPr/>
            </p:nvSpPr>
            <p:spPr bwMode="auto">
              <a:xfrm>
                <a:off x="2701" y="1461"/>
                <a:ext cx="12" cy="14"/>
              </a:xfrm>
              <a:custGeom>
                <a:avLst/>
                <a:gdLst>
                  <a:gd name="T0" fmla="*/ 12 w 12"/>
                  <a:gd name="T1" fmla="*/ 4 h 14"/>
                  <a:gd name="T2" fmla="*/ 3 w 12"/>
                  <a:gd name="T3" fmla="*/ 0 h 14"/>
                  <a:gd name="T4" fmla="*/ 0 w 12"/>
                  <a:gd name="T5" fmla="*/ 10 h 14"/>
                  <a:gd name="T6" fmla="*/ 9 w 12"/>
                  <a:gd name="T7" fmla="*/ 14 h 14"/>
                  <a:gd name="T8" fmla="*/ 12 w 12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12" y="4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63" name="Freeform 462"/>
              <p:cNvSpPr>
                <a:spLocks/>
              </p:cNvSpPr>
              <p:nvPr/>
            </p:nvSpPr>
            <p:spPr bwMode="auto">
              <a:xfrm>
                <a:off x="2694" y="1480"/>
                <a:ext cx="12" cy="14"/>
              </a:xfrm>
              <a:custGeom>
                <a:avLst/>
                <a:gdLst>
                  <a:gd name="T0" fmla="*/ 12 w 12"/>
                  <a:gd name="T1" fmla="*/ 4 h 14"/>
                  <a:gd name="T2" fmla="*/ 3 w 12"/>
                  <a:gd name="T3" fmla="*/ 0 h 14"/>
                  <a:gd name="T4" fmla="*/ 2 w 12"/>
                  <a:gd name="T5" fmla="*/ 5 h 14"/>
                  <a:gd name="T6" fmla="*/ 0 w 12"/>
                  <a:gd name="T7" fmla="*/ 11 h 14"/>
                  <a:gd name="T8" fmla="*/ 8 w 12"/>
                  <a:gd name="T9" fmla="*/ 14 h 14"/>
                  <a:gd name="T10" fmla="*/ 12 w 12"/>
                  <a:gd name="T11" fmla="*/ 5 h 14"/>
                  <a:gd name="T12" fmla="*/ 12 w 12"/>
                  <a:gd name="T13" fmla="*/ 4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"/>
                  <a:gd name="T22" fmla="*/ 0 h 14"/>
                  <a:gd name="T23" fmla="*/ 12 w 12"/>
                  <a:gd name="T24" fmla="*/ 14 h 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" h="14">
                    <a:moveTo>
                      <a:pt x="12" y="4"/>
                    </a:moveTo>
                    <a:lnTo>
                      <a:pt x="3" y="0"/>
                    </a:lnTo>
                    <a:lnTo>
                      <a:pt x="2" y="5"/>
                    </a:lnTo>
                    <a:lnTo>
                      <a:pt x="0" y="11"/>
                    </a:lnTo>
                    <a:lnTo>
                      <a:pt x="8" y="14"/>
                    </a:lnTo>
                    <a:lnTo>
                      <a:pt x="12" y="5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64" name="Freeform 463"/>
              <p:cNvSpPr>
                <a:spLocks/>
              </p:cNvSpPr>
              <p:nvPr/>
            </p:nvSpPr>
            <p:spPr bwMode="auto">
              <a:xfrm>
                <a:off x="2687" y="1500"/>
                <a:ext cx="13" cy="13"/>
              </a:xfrm>
              <a:custGeom>
                <a:avLst/>
                <a:gdLst>
                  <a:gd name="T0" fmla="*/ 13 w 13"/>
                  <a:gd name="T1" fmla="*/ 3 h 13"/>
                  <a:gd name="T2" fmla="*/ 4 w 13"/>
                  <a:gd name="T3" fmla="*/ 0 h 13"/>
                  <a:gd name="T4" fmla="*/ 0 w 13"/>
                  <a:gd name="T5" fmla="*/ 11 h 13"/>
                  <a:gd name="T6" fmla="*/ 9 w 13"/>
                  <a:gd name="T7" fmla="*/ 13 h 13"/>
                  <a:gd name="T8" fmla="*/ 13 w 13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13" y="3"/>
                    </a:moveTo>
                    <a:lnTo>
                      <a:pt x="4" y="0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3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65" name="Freeform 464"/>
              <p:cNvSpPr>
                <a:spLocks/>
              </p:cNvSpPr>
              <p:nvPr/>
            </p:nvSpPr>
            <p:spPr bwMode="auto">
              <a:xfrm>
                <a:off x="2681" y="1519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2 w 11"/>
                  <a:gd name="T3" fmla="*/ 0 h 13"/>
                  <a:gd name="T4" fmla="*/ 0 w 11"/>
                  <a:gd name="T5" fmla="*/ 11 h 13"/>
                  <a:gd name="T6" fmla="*/ 9 w 11"/>
                  <a:gd name="T7" fmla="*/ 13 h 13"/>
                  <a:gd name="T8" fmla="*/ 11 w 11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3"/>
                    </a:moveTo>
                    <a:lnTo>
                      <a:pt x="2" y="0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66" name="Freeform 465"/>
              <p:cNvSpPr>
                <a:spLocks/>
              </p:cNvSpPr>
              <p:nvPr/>
            </p:nvSpPr>
            <p:spPr bwMode="auto">
              <a:xfrm>
                <a:off x="2675" y="1539"/>
                <a:ext cx="11" cy="12"/>
              </a:xfrm>
              <a:custGeom>
                <a:avLst/>
                <a:gdLst>
                  <a:gd name="T0" fmla="*/ 11 w 11"/>
                  <a:gd name="T1" fmla="*/ 2 h 12"/>
                  <a:gd name="T2" fmla="*/ 2 w 11"/>
                  <a:gd name="T3" fmla="*/ 0 h 12"/>
                  <a:gd name="T4" fmla="*/ 0 w 11"/>
                  <a:gd name="T5" fmla="*/ 10 h 12"/>
                  <a:gd name="T6" fmla="*/ 8 w 11"/>
                  <a:gd name="T7" fmla="*/ 12 h 12"/>
                  <a:gd name="T8" fmla="*/ 11 w 11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11" y="2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8" y="12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67" name="Freeform 466"/>
              <p:cNvSpPr>
                <a:spLocks/>
              </p:cNvSpPr>
              <p:nvPr/>
            </p:nvSpPr>
            <p:spPr bwMode="auto">
              <a:xfrm>
                <a:off x="2668" y="1559"/>
                <a:ext cx="12" cy="11"/>
              </a:xfrm>
              <a:custGeom>
                <a:avLst/>
                <a:gdLst>
                  <a:gd name="T0" fmla="*/ 12 w 12"/>
                  <a:gd name="T1" fmla="*/ 2 h 11"/>
                  <a:gd name="T2" fmla="*/ 3 w 12"/>
                  <a:gd name="T3" fmla="*/ 0 h 11"/>
                  <a:gd name="T4" fmla="*/ 1 w 12"/>
                  <a:gd name="T5" fmla="*/ 4 h 11"/>
                  <a:gd name="T6" fmla="*/ 0 w 12"/>
                  <a:gd name="T7" fmla="*/ 9 h 11"/>
                  <a:gd name="T8" fmla="*/ 9 w 12"/>
                  <a:gd name="T9" fmla="*/ 11 h 11"/>
                  <a:gd name="T10" fmla="*/ 12 w 12"/>
                  <a:gd name="T11" fmla="*/ 4 h 11"/>
                  <a:gd name="T12" fmla="*/ 12 w 12"/>
                  <a:gd name="T13" fmla="*/ 2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"/>
                  <a:gd name="T22" fmla="*/ 0 h 11"/>
                  <a:gd name="T23" fmla="*/ 12 w 12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" h="11">
                    <a:moveTo>
                      <a:pt x="12" y="2"/>
                    </a:moveTo>
                    <a:lnTo>
                      <a:pt x="3" y="0"/>
                    </a:lnTo>
                    <a:lnTo>
                      <a:pt x="1" y="4"/>
                    </a:lnTo>
                    <a:lnTo>
                      <a:pt x="0" y="9"/>
                    </a:lnTo>
                    <a:lnTo>
                      <a:pt x="9" y="11"/>
                    </a:lnTo>
                    <a:lnTo>
                      <a:pt x="12" y="4"/>
                    </a:ln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68" name="Freeform 467"/>
              <p:cNvSpPr>
                <a:spLocks/>
              </p:cNvSpPr>
              <p:nvPr/>
            </p:nvSpPr>
            <p:spPr bwMode="auto">
              <a:xfrm>
                <a:off x="2662" y="1578"/>
                <a:ext cx="13" cy="11"/>
              </a:xfrm>
              <a:custGeom>
                <a:avLst/>
                <a:gdLst>
                  <a:gd name="T0" fmla="*/ 13 w 13"/>
                  <a:gd name="T1" fmla="*/ 2 h 11"/>
                  <a:gd name="T2" fmla="*/ 4 w 13"/>
                  <a:gd name="T3" fmla="*/ 0 h 11"/>
                  <a:gd name="T4" fmla="*/ 0 w 13"/>
                  <a:gd name="T5" fmla="*/ 9 h 11"/>
                  <a:gd name="T6" fmla="*/ 9 w 13"/>
                  <a:gd name="T7" fmla="*/ 11 h 11"/>
                  <a:gd name="T8" fmla="*/ 13 w 13"/>
                  <a:gd name="T9" fmla="*/ 2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1"/>
                  <a:gd name="T17" fmla="*/ 13 w 13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1">
                    <a:moveTo>
                      <a:pt x="13" y="2"/>
                    </a:moveTo>
                    <a:lnTo>
                      <a:pt x="4" y="0"/>
                    </a:lnTo>
                    <a:lnTo>
                      <a:pt x="0" y="9"/>
                    </a:lnTo>
                    <a:lnTo>
                      <a:pt x="9" y="11"/>
                    </a:ln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69" name="Freeform 468"/>
              <p:cNvSpPr>
                <a:spLocks/>
              </p:cNvSpPr>
              <p:nvPr/>
            </p:nvSpPr>
            <p:spPr bwMode="auto">
              <a:xfrm>
                <a:off x="2657" y="1597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2 w 11"/>
                  <a:gd name="T3" fmla="*/ 0 h 13"/>
                  <a:gd name="T4" fmla="*/ 0 w 11"/>
                  <a:gd name="T5" fmla="*/ 10 h 13"/>
                  <a:gd name="T6" fmla="*/ 9 w 11"/>
                  <a:gd name="T7" fmla="*/ 13 h 13"/>
                  <a:gd name="T8" fmla="*/ 11 w 11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3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0" name="Freeform 469"/>
              <p:cNvSpPr>
                <a:spLocks/>
              </p:cNvSpPr>
              <p:nvPr/>
            </p:nvSpPr>
            <p:spPr bwMode="auto">
              <a:xfrm>
                <a:off x="2650" y="1616"/>
                <a:ext cx="12" cy="13"/>
              </a:xfrm>
              <a:custGeom>
                <a:avLst/>
                <a:gdLst>
                  <a:gd name="T0" fmla="*/ 12 w 12"/>
                  <a:gd name="T1" fmla="*/ 3 h 13"/>
                  <a:gd name="T2" fmla="*/ 3 w 12"/>
                  <a:gd name="T3" fmla="*/ 0 h 13"/>
                  <a:gd name="T4" fmla="*/ 0 w 12"/>
                  <a:gd name="T5" fmla="*/ 10 h 13"/>
                  <a:gd name="T6" fmla="*/ 9 w 12"/>
                  <a:gd name="T7" fmla="*/ 13 h 13"/>
                  <a:gd name="T8" fmla="*/ 12 w 12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3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1" name="Freeform 470"/>
              <p:cNvSpPr>
                <a:spLocks/>
              </p:cNvSpPr>
              <p:nvPr/>
            </p:nvSpPr>
            <p:spPr bwMode="auto">
              <a:xfrm>
                <a:off x="2645" y="1636"/>
                <a:ext cx="12" cy="13"/>
              </a:xfrm>
              <a:custGeom>
                <a:avLst/>
                <a:gdLst>
                  <a:gd name="T0" fmla="*/ 12 w 12"/>
                  <a:gd name="T1" fmla="*/ 3 h 13"/>
                  <a:gd name="T2" fmla="*/ 3 w 12"/>
                  <a:gd name="T3" fmla="*/ 0 h 13"/>
                  <a:gd name="T4" fmla="*/ 2 w 12"/>
                  <a:gd name="T5" fmla="*/ 4 h 13"/>
                  <a:gd name="T6" fmla="*/ 0 w 12"/>
                  <a:gd name="T7" fmla="*/ 11 h 13"/>
                  <a:gd name="T8" fmla="*/ 9 w 12"/>
                  <a:gd name="T9" fmla="*/ 13 h 13"/>
                  <a:gd name="T10" fmla="*/ 12 w 12"/>
                  <a:gd name="T11" fmla="*/ 4 h 13"/>
                  <a:gd name="T12" fmla="*/ 12 w 12"/>
                  <a:gd name="T13" fmla="*/ 3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"/>
                  <a:gd name="T22" fmla="*/ 0 h 13"/>
                  <a:gd name="T23" fmla="*/ 12 w 12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" h="13">
                    <a:moveTo>
                      <a:pt x="12" y="3"/>
                    </a:moveTo>
                    <a:lnTo>
                      <a:pt x="3" y="0"/>
                    </a:lnTo>
                    <a:lnTo>
                      <a:pt x="2" y="4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2" y="4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2" name="Freeform 471"/>
              <p:cNvSpPr>
                <a:spLocks/>
              </p:cNvSpPr>
              <p:nvPr/>
            </p:nvSpPr>
            <p:spPr bwMode="auto">
              <a:xfrm>
                <a:off x="2640" y="1655"/>
                <a:ext cx="12" cy="13"/>
              </a:xfrm>
              <a:custGeom>
                <a:avLst/>
                <a:gdLst>
                  <a:gd name="T0" fmla="*/ 12 w 12"/>
                  <a:gd name="T1" fmla="*/ 3 h 13"/>
                  <a:gd name="T2" fmla="*/ 3 w 12"/>
                  <a:gd name="T3" fmla="*/ 0 h 13"/>
                  <a:gd name="T4" fmla="*/ 0 w 12"/>
                  <a:gd name="T5" fmla="*/ 11 h 13"/>
                  <a:gd name="T6" fmla="*/ 9 w 12"/>
                  <a:gd name="T7" fmla="*/ 13 h 13"/>
                  <a:gd name="T8" fmla="*/ 12 w 12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3"/>
                    </a:moveTo>
                    <a:lnTo>
                      <a:pt x="3" y="0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3" name="Freeform 472"/>
              <p:cNvSpPr>
                <a:spLocks/>
              </p:cNvSpPr>
              <p:nvPr/>
            </p:nvSpPr>
            <p:spPr bwMode="auto">
              <a:xfrm>
                <a:off x="2635" y="1676"/>
                <a:ext cx="12" cy="13"/>
              </a:xfrm>
              <a:custGeom>
                <a:avLst/>
                <a:gdLst>
                  <a:gd name="T0" fmla="*/ 12 w 12"/>
                  <a:gd name="T1" fmla="*/ 2 h 13"/>
                  <a:gd name="T2" fmla="*/ 3 w 12"/>
                  <a:gd name="T3" fmla="*/ 0 h 13"/>
                  <a:gd name="T4" fmla="*/ 0 w 12"/>
                  <a:gd name="T5" fmla="*/ 10 h 13"/>
                  <a:gd name="T6" fmla="*/ 9 w 12"/>
                  <a:gd name="T7" fmla="*/ 13 h 13"/>
                  <a:gd name="T8" fmla="*/ 12 w 12"/>
                  <a:gd name="T9" fmla="*/ 2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2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4" name="Freeform 473"/>
              <p:cNvSpPr>
                <a:spLocks/>
              </p:cNvSpPr>
              <p:nvPr/>
            </p:nvSpPr>
            <p:spPr bwMode="auto">
              <a:xfrm>
                <a:off x="2630" y="1695"/>
                <a:ext cx="12" cy="13"/>
              </a:xfrm>
              <a:custGeom>
                <a:avLst/>
                <a:gdLst>
                  <a:gd name="T0" fmla="*/ 12 w 12"/>
                  <a:gd name="T1" fmla="*/ 2 h 13"/>
                  <a:gd name="T2" fmla="*/ 3 w 12"/>
                  <a:gd name="T3" fmla="*/ 0 h 13"/>
                  <a:gd name="T4" fmla="*/ 0 w 12"/>
                  <a:gd name="T5" fmla="*/ 10 h 13"/>
                  <a:gd name="T6" fmla="*/ 9 w 12"/>
                  <a:gd name="T7" fmla="*/ 13 h 13"/>
                  <a:gd name="T8" fmla="*/ 12 w 12"/>
                  <a:gd name="T9" fmla="*/ 2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2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5" name="Freeform 474"/>
              <p:cNvSpPr>
                <a:spLocks/>
              </p:cNvSpPr>
              <p:nvPr/>
            </p:nvSpPr>
            <p:spPr bwMode="auto">
              <a:xfrm>
                <a:off x="2625" y="1715"/>
                <a:ext cx="11" cy="12"/>
              </a:xfrm>
              <a:custGeom>
                <a:avLst/>
                <a:gdLst>
                  <a:gd name="T0" fmla="*/ 11 w 11"/>
                  <a:gd name="T1" fmla="*/ 3 h 12"/>
                  <a:gd name="T2" fmla="*/ 3 w 11"/>
                  <a:gd name="T3" fmla="*/ 0 h 12"/>
                  <a:gd name="T4" fmla="*/ 1 w 11"/>
                  <a:gd name="T5" fmla="*/ 3 h 12"/>
                  <a:gd name="T6" fmla="*/ 0 w 11"/>
                  <a:gd name="T7" fmla="*/ 10 h 12"/>
                  <a:gd name="T8" fmla="*/ 9 w 11"/>
                  <a:gd name="T9" fmla="*/ 12 h 12"/>
                  <a:gd name="T10" fmla="*/ 11 w 11"/>
                  <a:gd name="T11" fmla="*/ 3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1"/>
                  <a:gd name="T19" fmla="*/ 0 h 12"/>
                  <a:gd name="T20" fmla="*/ 11 w 11"/>
                  <a:gd name="T21" fmla="*/ 12 h 1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1" h="12">
                    <a:moveTo>
                      <a:pt x="11" y="3"/>
                    </a:moveTo>
                    <a:lnTo>
                      <a:pt x="3" y="0"/>
                    </a:lnTo>
                    <a:lnTo>
                      <a:pt x="1" y="3"/>
                    </a:lnTo>
                    <a:lnTo>
                      <a:pt x="0" y="10"/>
                    </a:lnTo>
                    <a:lnTo>
                      <a:pt x="9" y="12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6" name="Freeform 475"/>
              <p:cNvSpPr>
                <a:spLocks/>
              </p:cNvSpPr>
              <p:nvPr/>
            </p:nvSpPr>
            <p:spPr bwMode="auto">
              <a:xfrm>
                <a:off x="2621" y="1736"/>
                <a:ext cx="12" cy="11"/>
              </a:xfrm>
              <a:custGeom>
                <a:avLst/>
                <a:gdLst>
                  <a:gd name="T0" fmla="*/ 12 w 12"/>
                  <a:gd name="T1" fmla="*/ 1 h 11"/>
                  <a:gd name="T2" fmla="*/ 3 w 12"/>
                  <a:gd name="T3" fmla="*/ 0 h 11"/>
                  <a:gd name="T4" fmla="*/ 0 w 12"/>
                  <a:gd name="T5" fmla="*/ 10 h 11"/>
                  <a:gd name="T6" fmla="*/ 9 w 12"/>
                  <a:gd name="T7" fmla="*/ 11 h 11"/>
                  <a:gd name="T8" fmla="*/ 12 w 12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12" y="1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1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7" name="Freeform 476"/>
              <p:cNvSpPr>
                <a:spLocks/>
              </p:cNvSpPr>
              <p:nvPr/>
            </p:nvSpPr>
            <p:spPr bwMode="auto">
              <a:xfrm>
                <a:off x="2617" y="1756"/>
                <a:ext cx="12" cy="11"/>
              </a:xfrm>
              <a:custGeom>
                <a:avLst/>
                <a:gdLst>
                  <a:gd name="T0" fmla="*/ 12 w 12"/>
                  <a:gd name="T1" fmla="*/ 1 h 11"/>
                  <a:gd name="T2" fmla="*/ 3 w 12"/>
                  <a:gd name="T3" fmla="*/ 0 h 11"/>
                  <a:gd name="T4" fmla="*/ 2 w 12"/>
                  <a:gd name="T5" fmla="*/ 0 h 11"/>
                  <a:gd name="T6" fmla="*/ 0 w 12"/>
                  <a:gd name="T7" fmla="*/ 10 h 11"/>
                  <a:gd name="T8" fmla="*/ 11 w 12"/>
                  <a:gd name="T9" fmla="*/ 11 h 11"/>
                  <a:gd name="T10" fmla="*/ 12 w 12"/>
                  <a:gd name="T11" fmla="*/ 0 h 11"/>
                  <a:gd name="T12" fmla="*/ 12 w 12"/>
                  <a:gd name="T13" fmla="*/ 1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"/>
                  <a:gd name="T22" fmla="*/ 0 h 11"/>
                  <a:gd name="T23" fmla="*/ 12 w 12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" h="11">
                    <a:moveTo>
                      <a:pt x="12" y="1"/>
                    </a:moveTo>
                    <a:lnTo>
                      <a:pt x="3" y="0"/>
                    </a:lnTo>
                    <a:lnTo>
                      <a:pt x="2" y="0"/>
                    </a:lnTo>
                    <a:lnTo>
                      <a:pt x="0" y="10"/>
                    </a:lnTo>
                    <a:lnTo>
                      <a:pt x="11" y="11"/>
                    </a:lnTo>
                    <a:lnTo>
                      <a:pt x="12" y="0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8" name="Freeform 477"/>
              <p:cNvSpPr>
                <a:spLocks/>
              </p:cNvSpPr>
              <p:nvPr/>
            </p:nvSpPr>
            <p:spPr bwMode="auto">
              <a:xfrm>
                <a:off x="2614" y="1775"/>
                <a:ext cx="11" cy="11"/>
              </a:xfrm>
              <a:custGeom>
                <a:avLst/>
                <a:gdLst>
                  <a:gd name="T0" fmla="*/ 11 w 11"/>
                  <a:gd name="T1" fmla="*/ 1 h 11"/>
                  <a:gd name="T2" fmla="*/ 1 w 11"/>
                  <a:gd name="T3" fmla="*/ 0 h 11"/>
                  <a:gd name="T4" fmla="*/ 0 w 11"/>
                  <a:gd name="T5" fmla="*/ 10 h 11"/>
                  <a:gd name="T6" fmla="*/ 10 w 11"/>
                  <a:gd name="T7" fmla="*/ 11 h 11"/>
                  <a:gd name="T8" fmla="*/ 11 w 11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11" y="1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79" name="Freeform 478"/>
              <p:cNvSpPr>
                <a:spLocks/>
              </p:cNvSpPr>
              <p:nvPr/>
            </p:nvSpPr>
            <p:spPr bwMode="auto">
              <a:xfrm>
                <a:off x="2611" y="1795"/>
                <a:ext cx="12" cy="12"/>
              </a:xfrm>
              <a:custGeom>
                <a:avLst/>
                <a:gdLst>
                  <a:gd name="T0" fmla="*/ 12 w 12"/>
                  <a:gd name="T1" fmla="*/ 2 h 12"/>
                  <a:gd name="T2" fmla="*/ 1 w 12"/>
                  <a:gd name="T3" fmla="*/ 0 h 12"/>
                  <a:gd name="T4" fmla="*/ 0 w 12"/>
                  <a:gd name="T5" fmla="*/ 10 h 12"/>
                  <a:gd name="T6" fmla="*/ 10 w 12"/>
                  <a:gd name="T7" fmla="*/ 12 h 12"/>
                  <a:gd name="T8" fmla="*/ 12 w 12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12" y="2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2"/>
                    </a:ln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0" name="Freeform 479"/>
              <p:cNvSpPr>
                <a:spLocks/>
              </p:cNvSpPr>
              <p:nvPr/>
            </p:nvSpPr>
            <p:spPr bwMode="auto">
              <a:xfrm>
                <a:off x="2607" y="1816"/>
                <a:ext cx="12" cy="11"/>
              </a:xfrm>
              <a:custGeom>
                <a:avLst/>
                <a:gdLst>
                  <a:gd name="T0" fmla="*/ 12 w 12"/>
                  <a:gd name="T1" fmla="*/ 1 h 11"/>
                  <a:gd name="T2" fmla="*/ 2 w 12"/>
                  <a:gd name="T3" fmla="*/ 0 h 11"/>
                  <a:gd name="T4" fmla="*/ 0 w 12"/>
                  <a:gd name="T5" fmla="*/ 10 h 11"/>
                  <a:gd name="T6" fmla="*/ 10 w 12"/>
                  <a:gd name="T7" fmla="*/ 11 h 11"/>
                  <a:gd name="T8" fmla="*/ 12 w 12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12" y="1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1" name="Freeform 480"/>
              <p:cNvSpPr>
                <a:spLocks/>
              </p:cNvSpPr>
              <p:nvPr/>
            </p:nvSpPr>
            <p:spPr bwMode="auto">
              <a:xfrm>
                <a:off x="2606" y="1836"/>
                <a:ext cx="10" cy="11"/>
              </a:xfrm>
              <a:custGeom>
                <a:avLst/>
                <a:gdLst>
                  <a:gd name="T0" fmla="*/ 10 w 10"/>
                  <a:gd name="T1" fmla="*/ 1 h 11"/>
                  <a:gd name="T2" fmla="*/ 0 w 10"/>
                  <a:gd name="T3" fmla="*/ 0 h 11"/>
                  <a:gd name="T4" fmla="*/ 0 w 10"/>
                  <a:gd name="T5" fmla="*/ 10 h 11"/>
                  <a:gd name="T6" fmla="*/ 10 w 10"/>
                  <a:gd name="T7" fmla="*/ 11 h 11"/>
                  <a:gd name="T8" fmla="*/ 10 w 10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1"/>
                  <a:gd name="T17" fmla="*/ 10 w 10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1">
                    <a:moveTo>
                      <a:pt x="10" y="1"/>
                    </a:moveTo>
                    <a:lnTo>
                      <a:pt x="0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2" name="Freeform 481"/>
              <p:cNvSpPr>
                <a:spLocks/>
              </p:cNvSpPr>
              <p:nvPr/>
            </p:nvSpPr>
            <p:spPr bwMode="auto">
              <a:xfrm>
                <a:off x="2603" y="1856"/>
                <a:ext cx="12" cy="12"/>
              </a:xfrm>
              <a:custGeom>
                <a:avLst/>
                <a:gdLst>
                  <a:gd name="T0" fmla="*/ 12 w 12"/>
                  <a:gd name="T1" fmla="*/ 2 h 12"/>
                  <a:gd name="T2" fmla="*/ 2 w 12"/>
                  <a:gd name="T3" fmla="*/ 0 h 12"/>
                  <a:gd name="T4" fmla="*/ 0 w 12"/>
                  <a:gd name="T5" fmla="*/ 10 h 12"/>
                  <a:gd name="T6" fmla="*/ 11 w 12"/>
                  <a:gd name="T7" fmla="*/ 12 h 12"/>
                  <a:gd name="T8" fmla="*/ 12 w 12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12" y="2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11" y="12"/>
                    </a:ln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3" name="Freeform 482"/>
              <p:cNvSpPr>
                <a:spLocks/>
              </p:cNvSpPr>
              <p:nvPr/>
            </p:nvSpPr>
            <p:spPr bwMode="auto">
              <a:xfrm>
                <a:off x="2602" y="1877"/>
                <a:ext cx="12" cy="10"/>
              </a:xfrm>
              <a:custGeom>
                <a:avLst/>
                <a:gdLst>
                  <a:gd name="T0" fmla="*/ 12 w 12"/>
                  <a:gd name="T1" fmla="*/ 0 h 10"/>
                  <a:gd name="T2" fmla="*/ 1 w 12"/>
                  <a:gd name="T3" fmla="*/ 0 h 10"/>
                  <a:gd name="T4" fmla="*/ 0 w 12"/>
                  <a:gd name="T5" fmla="*/ 10 h 10"/>
                  <a:gd name="T6" fmla="*/ 10 w 12"/>
                  <a:gd name="T7" fmla="*/ 10 h 10"/>
                  <a:gd name="T8" fmla="*/ 12 w 12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0"/>
                  <a:gd name="T17" fmla="*/ 12 w 12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0">
                    <a:moveTo>
                      <a:pt x="12" y="0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4" name="Freeform 483"/>
              <p:cNvSpPr>
                <a:spLocks/>
              </p:cNvSpPr>
              <p:nvPr/>
            </p:nvSpPr>
            <p:spPr bwMode="auto">
              <a:xfrm>
                <a:off x="2601" y="1897"/>
                <a:ext cx="11" cy="10"/>
              </a:xfrm>
              <a:custGeom>
                <a:avLst/>
                <a:gdLst>
                  <a:gd name="T0" fmla="*/ 11 w 11"/>
                  <a:gd name="T1" fmla="*/ 0 h 10"/>
                  <a:gd name="T2" fmla="*/ 1 w 11"/>
                  <a:gd name="T3" fmla="*/ 0 h 10"/>
                  <a:gd name="T4" fmla="*/ 0 w 11"/>
                  <a:gd name="T5" fmla="*/ 10 h 10"/>
                  <a:gd name="T6" fmla="*/ 10 w 11"/>
                  <a:gd name="T7" fmla="*/ 10 h 10"/>
                  <a:gd name="T8" fmla="*/ 11 w 1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0"/>
                  <a:gd name="T17" fmla="*/ 11 w 1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0">
                    <a:moveTo>
                      <a:pt x="11" y="0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0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5" name="Rectangle 484"/>
              <p:cNvSpPr>
                <a:spLocks noChangeArrowheads="1"/>
              </p:cNvSpPr>
              <p:nvPr/>
            </p:nvSpPr>
            <p:spPr bwMode="auto">
              <a:xfrm>
                <a:off x="2601" y="1917"/>
                <a:ext cx="10" cy="10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6" name="Rectangle 485"/>
              <p:cNvSpPr>
                <a:spLocks noChangeArrowheads="1"/>
              </p:cNvSpPr>
              <p:nvPr/>
            </p:nvSpPr>
            <p:spPr bwMode="auto">
              <a:xfrm>
                <a:off x="2601" y="1938"/>
                <a:ext cx="10" cy="10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7" name="Freeform 486"/>
              <p:cNvSpPr>
                <a:spLocks/>
              </p:cNvSpPr>
              <p:nvPr/>
            </p:nvSpPr>
            <p:spPr bwMode="auto">
              <a:xfrm>
                <a:off x="2601" y="1958"/>
                <a:ext cx="11" cy="10"/>
              </a:xfrm>
              <a:custGeom>
                <a:avLst/>
                <a:gdLst>
                  <a:gd name="T0" fmla="*/ 10 w 11"/>
                  <a:gd name="T1" fmla="*/ 0 h 10"/>
                  <a:gd name="T2" fmla="*/ 0 w 11"/>
                  <a:gd name="T3" fmla="*/ 0 h 10"/>
                  <a:gd name="T4" fmla="*/ 1 w 11"/>
                  <a:gd name="T5" fmla="*/ 10 h 10"/>
                  <a:gd name="T6" fmla="*/ 11 w 11"/>
                  <a:gd name="T7" fmla="*/ 10 h 10"/>
                  <a:gd name="T8" fmla="*/ 10 w 1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0"/>
                  <a:gd name="T17" fmla="*/ 11 w 1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0">
                    <a:moveTo>
                      <a:pt x="10" y="0"/>
                    </a:moveTo>
                    <a:lnTo>
                      <a:pt x="0" y="0"/>
                    </a:lnTo>
                    <a:lnTo>
                      <a:pt x="1" y="10"/>
                    </a:lnTo>
                    <a:lnTo>
                      <a:pt x="11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8" name="Freeform 487"/>
              <p:cNvSpPr>
                <a:spLocks/>
              </p:cNvSpPr>
              <p:nvPr/>
            </p:nvSpPr>
            <p:spPr bwMode="auto">
              <a:xfrm>
                <a:off x="2602" y="1978"/>
                <a:ext cx="10" cy="12"/>
              </a:xfrm>
              <a:custGeom>
                <a:avLst/>
                <a:gdLst>
                  <a:gd name="T0" fmla="*/ 10 w 10"/>
                  <a:gd name="T1" fmla="*/ 0 h 12"/>
                  <a:gd name="T2" fmla="*/ 0 w 10"/>
                  <a:gd name="T3" fmla="*/ 0 h 12"/>
                  <a:gd name="T4" fmla="*/ 0 w 10"/>
                  <a:gd name="T5" fmla="*/ 7 h 12"/>
                  <a:gd name="T6" fmla="*/ 0 w 10"/>
                  <a:gd name="T7" fmla="*/ 12 h 12"/>
                  <a:gd name="T8" fmla="*/ 10 w 10"/>
                  <a:gd name="T9" fmla="*/ 10 h 12"/>
                  <a:gd name="T10" fmla="*/ 10 w 10"/>
                  <a:gd name="T11" fmla="*/ 7 h 12"/>
                  <a:gd name="T12" fmla="*/ 10 w 10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"/>
                  <a:gd name="T22" fmla="*/ 0 h 12"/>
                  <a:gd name="T23" fmla="*/ 10 w 10"/>
                  <a:gd name="T24" fmla="*/ 12 h 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" h="12">
                    <a:moveTo>
                      <a:pt x="10" y="0"/>
                    </a:moveTo>
                    <a:lnTo>
                      <a:pt x="0" y="0"/>
                    </a:lnTo>
                    <a:lnTo>
                      <a:pt x="0" y="7"/>
                    </a:lnTo>
                    <a:lnTo>
                      <a:pt x="0" y="12"/>
                    </a:lnTo>
                    <a:lnTo>
                      <a:pt x="10" y="10"/>
                    </a:lnTo>
                    <a:lnTo>
                      <a:pt x="10" y="7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89" name="Freeform 488"/>
              <p:cNvSpPr>
                <a:spLocks/>
              </p:cNvSpPr>
              <p:nvPr/>
            </p:nvSpPr>
            <p:spPr bwMode="auto">
              <a:xfrm>
                <a:off x="2603" y="1999"/>
                <a:ext cx="11" cy="11"/>
              </a:xfrm>
              <a:custGeom>
                <a:avLst/>
                <a:gdLst>
                  <a:gd name="T0" fmla="*/ 11 w 11"/>
                  <a:gd name="T1" fmla="*/ 0 h 11"/>
                  <a:gd name="T2" fmla="*/ 0 w 11"/>
                  <a:gd name="T3" fmla="*/ 1 h 11"/>
                  <a:gd name="T4" fmla="*/ 0 w 11"/>
                  <a:gd name="T5" fmla="*/ 11 h 11"/>
                  <a:gd name="T6" fmla="*/ 11 w 11"/>
                  <a:gd name="T7" fmla="*/ 10 h 11"/>
                  <a:gd name="T8" fmla="*/ 11 w 1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11" y="0"/>
                    </a:moveTo>
                    <a:lnTo>
                      <a:pt x="0" y="1"/>
                    </a:lnTo>
                    <a:lnTo>
                      <a:pt x="0" y="11"/>
                    </a:lnTo>
                    <a:lnTo>
                      <a:pt x="11" y="10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0" name="Freeform 489"/>
              <p:cNvSpPr>
                <a:spLocks/>
              </p:cNvSpPr>
              <p:nvPr/>
            </p:nvSpPr>
            <p:spPr bwMode="auto">
              <a:xfrm>
                <a:off x="2605" y="2019"/>
                <a:ext cx="11" cy="11"/>
              </a:xfrm>
              <a:custGeom>
                <a:avLst/>
                <a:gdLst>
                  <a:gd name="T0" fmla="*/ 10 w 11"/>
                  <a:gd name="T1" fmla="*/ 0 h 11"/>
                  <a:gd name="T2" fmla="*/ 0 w 11"/>
                  <a:gd name="T3" fmla="*/ 1 h 11"/>
                  <a:gd name="T4" fmla="*/ 1 w 11"/>
                  <a:gd name="T5" fmla="*/ 11 h 11"/>
                  <a:gd name="T6" fmla="*/ 11 w 11"/>
                  <a:gd name="T7" fmla="*/ 10 h 11"/>
                  <a:gd name="T8" fmla="*/ 10 w 1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10" y="0"/>
                    </a:moveTo>
                    <a:lnTo>
                      <a:pt x="0" y="1"/>
                    </a:lnTo>
                    <a:lnTo>
                      <a:pt x="1" y="11"/>
                    </a:lnTo>
                    <a:lnTo>
                      <a:pt x="11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1" name="Freeform 490"/>
              <p:cNvSpPr>
                <a:spLocks/>
              </p:cNvSpPr>
              <p:nvPr/>
            </p:nvSpPr>
            <p:spPr bwMode="auto">
              <a:xfrm>
                <a:off x="2607" y="2039"/>
                <a:ext cx="12" cy="12"/>
              </a:xfrm>
              <a:custGeom>
                <a:avLst/>
                <a:gdLst>
                  <a:gd name="T0" fmla="*/ 10 w 12"/>
                  <a:gd name="T1" fmla="*/ 0 h 12"/>
                  <a:gd name="T2" fmla="*/ 0 w 12"/>
                  <a:gd name="T3" fmla="*/ 2 h 12"/>
                  <a:gd name="T4" fmla="*/ 2 w 12"/>
                  <a:gd name="T5" fmla="*/ 12 h 12"/>
                  <a:gd name="T6" fmla="*/ 12 w 12"/>
                  <a:gd name="T7" fmla="*/ 11 h 12"/>
                  <a:gd name="T8" fmla="*/ 10 w 12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10" y="0"/>
                    </a:moveTo>
                    <a:lnTo>
                      <a:pt x="0" y="2"/>
                    </a:lnTo>
                    <a:lnTo>
                      <a:pt x="2" y="12"/>
                    </a:lnTo>
                    <a:lnTo>
                      <a:pt x="12" y="11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2" name="Freeform 491"/>
              <p:cNvSpPr>
                <a:spLocks/>
              </p:cNvSpPr>
              <p:nvPr/>
            </p:nvSpPr>
            <p:spPr bwMode="auto">
              <a:xfrm>
                <a:off x="2610" y="2058"/>
                <a:ext cx="11" cy="12"/>
              </a:xfrm>
              <a:custGeom>
                <a:avLst/>
                <a:gdLst>
                  <a:gd name="T0" fmla="*/ 9 w 11"/>
                  <a:gd name="T1" fmla="*/ 0 h 12"/>
                  <a:gd name="T2" fmla="*/ 0 w 11"/>
                  <a:gd name="T3" fmla="*/ 2 h 12"/>
                  <a:gd name="T4" fmla="*/ 2 w 11"/>
                  <a:gd name="T5" fmla="*/ 12 h 12"/>
                  <a:gd name="T6" fmla="*/ 11 w 11"/>
                  <a:gd name="T7" fmla="*/ 11 h 12"/>
                  <a:gd name="T8" fmla="*/ 9 w 1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9" y="0"/>
                    </a:moveTo>
                    <a:lnTo>
                      <a:pt x="0" y="2"/>
                    </a:lnTo>
                    <a:lnTo>
                      <a:pt x="2" y="12"/>
                    </a:lnTo>
                    <a:lnTo>
                      <a:pt x="11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3" name="Freeform 492"/>
              <p:cNvSpPr>
                <a:spLocks/>
              </p:cNvSpPr>
              <p:nvPr/>
            </p:nvSpPr>
            <p:spPr bwMode="auto">
              <a:xfrm>
                <a:off x="2614" y="2079"/>
                <a:ext cx="10" cy="11"/>
              </a:xfrm>
              <a:custGeom>
                <a:avLst/>
                <a:gdLst>
                  <a:gd name="T0" fmla="*/ 9 w 10"/>
                  <a:gd name="T1" fmla="*/ 0 h 11"/>
                  <a:gd name="T2" fmla="*/ 0 w 10"/>
                  <a:gd name="T3" fmla="*/ 1 h 11"/>
                  <a:gd name="T4" fmla="*/ 0 w 10"/>
                  <a:gd name="T5" fmla="*/ 7 h 11"/>
                  <a:gd name="T6" fmla="*/ 1 w 10"/>
                  <a:gd name="T7" fmla="*/ 11 h 11"/>
                  <a:gd name="T8" fmla="*/ 10 w 10"/>
                  <a:gd name="T9" fmla="*/ 10 h 11"/>
                  <a:gd name="T10" fmla="*/ 10 w 10"/>
                  <a:gd name="T11" fmla="*/ 7 h 11"/>
                  <a:gd name="T12" fmla="*/ 9 w 10"/>
                  <a:gd name="T13" fmla="*/ 0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"/>
                  <a:gd name="T22" fmla="*/ 0 h 11"/>
                  <a:gd name="T23" fmla="*/ 10 w 10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" h="11">
                    <a:moveTo>
                      <a:pt x="9" y="0"/>
                    </a:moveTo>
                    <a:lnTo>
                      <a:pt x="0" y="1"/>
                    </a:lnTo>
                    <a:lnTo>
                      <a:pt x="0" y="7"/>
                    </a:lnTo>
                    <a:lnTo>
                      <a:pt x="1" y="11"/>
                    </a:lnTo>
                    <a:lnTo>
                      <a:pt x="10" y="10"/>
                    </a:lnTo>
                    <a:lnTo>
                      <a:pt x="10" y="7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4" name="Freeform 493"/>
              <p:cNvSpPr>
                <a:spLocks/>
              </p:cNvSpPr>
              <p:nvPr/>
            </p:nvSpPr>
            <p:spPr bwMode="auto">
              <a:xfrm>
                <a:off x="2617" y="2099"/>
                <a:ext cx="11" cy="12"/>
              </a:xfrm>
              <a:custGeom>
                <a:avLst/>
                <a:gdLst>
                  <a:gd name="T0" fmla="*/ 9 w 11"/>
                  <a:gd name="T1" fmla="*/ 0 h 12"/>
                  <a:gd name="T2" fmla="*/ 0 w 11"/>
                  <a:gd name="T3" fmla="*/ 1 h 12"/>
                  <a:gd name="T4" fmla="*/ 2 w 11"/>
                  <a:gd name="T5" fmla="*/ 12 h 12"/>
                  <a:gd name="T6" fmla="*/ 11 w 11"/>
                  <a:gd name="T7" fmla="*/ 10 h 12"/>
                  <a:gd name="T8" fmla="*/ 9 w 1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9" y="0"/>
                    </a:moveTo>
                    <a:lnTo>
                      <a:pt x="0" y="1"/>
                    </a:lnTo>
                    <a:lnTo>
                      <a:pt x="2" y="12"/>
                    </a:lnTo>
                    <a:lnTo>
                      <a:pt x="11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5" name="Freeform 494"/>
              <p:cNvSpPr>
                <a:spLocks/>
              </p:cNvSpPr>
              <p:nvPr/>
            </p:nvSpPr>
            <p:spPr bwMode="auto">
              <a:xfrm>
                <a:off x="2621" y="2119"/>
                <a:ext cx="10" cy="12"/>
              </a:xfrm>
              <a:custGeom>
                <a:avLst/>
                <a:gdLst>
                  <a:gd name="T0" fmla="*/ 9 w 10"/>
                  <a:gd name="T1" fmla="*/ 0 h 12"/>
                  <a:gd name="T2" fmla="*/ 0 w 10"/>
                  <a:gd name="T3" fmla="*/ 2 h 12"/>
                  <a:gd name="T4" fmla="*/ 2 w 10"/>
                  <a:gd name="T5" fmla="*/ 12 h 12"/>
                  <a:gd name="T6" fmla="*/ 10 w 10"/>
                  <a:gd name="T7" fmla="*/ 11 h 12"/>
                  <a:gd name="T8" fmla="*/ 9 w 10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2"/>
                  <a:gd name="T17" fmla="*/ 10 w 10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2">
                    <a:moveTo>
                      <a:pt x="9" y="0"/>
                    </a:moveTo>
                    <a:lnTo>
                      <a:pt x="0" y="2"/>
                    </a:lnTo>
                    <a:lnTo>
                      <a:pt x="2" y="12"/>
                    </a:lnTo>
                    <a:lnTo>
                      <a:pt x="10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6" name="Freeform 495"/>
              <p:cNvSpPr>
                <a:spLocks/>
              </p:cNvSpPr>
              <p:nvPr/>
            </p:nvSpPr>
            <p:spPr bwMode="auto">
              <a:xfrm>
                <a:off x="2625" y="2138"/>
                <a:ext cx="11" cy="12"/>
              </a:xfrm>
              <a:custGeom>
                <a:avLst/>
                <a:gdLst>
                  <a:gd name="T0" fmla="*/ 9 w 11"/>
                  <a:gd name="T1" fmla="*/ 0 h 12"/>
                  <a:gd name="T2" fmla="*/ 0 w 11"/>
                  <a:gd name="T3" fmla="*/ 2 h 12"/>
                  <a:gd name="T4" fmla="*/ 3 w 11"/>
                  <a:gd name="T5" fmla="*/ 12 h 12"/>
                  <a:gd name="T6" fmla="*/ 11 w 11"/>
                  <a:gd name="T7" fmla="*/ 11 h 12"/>
                  <a:gd name="T8" fmla="*/ 9 w 1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9" y="0"/>
                    </a:moveTo>
                    <a:lnTo>
                      <a:pt x="0" y="2"/>
                    </a:lnTo>
                    <a:lnTo>
                      <a:pt x="3" y="12"/>
                    </a:lnTo>
                    <a:lnTo>
                      <a:pt x="11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7" name="Freeform 496"/>
              <p:cNvSpPr>
                <a:spLocks/>
              </p:cNvSpPr>
              <p:nvPr/>
            </p:nvSpPr>
            <p:spPr bwMode="auto">
              <a:xfrm>
                <a:off x="2629" y="2158"/>
                <a:ext cx="11" cy="12"/>
              </a:xfrm>
              <a:custGeom>
                <a:avLst/>
                <a:gdLst>
                  <a:gd name="T0" fmla="*/ 9 w 11"/>
                  <a:gd name="T1" fmla="*/ 0 h 12"/>
                  <a:gd name="T2" fmla="*/ 0 w 11"/>
                  <a:gd name="T3" fmla="*/ 2 h 12"/>
                  <a:gd name="T4" fmla="*/ 2 w 11"/>
                  <a:gd name="T5" fmla="*/ 12 h 12"/>
                  <a:gd name="T6" fmla="*/ 11 w 11"/>
                  <a:gd name="T7" fmla="*/ 10 h 12"/>
                  <a:gd name="T8" fmla="*/ 9 w 1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9" y="0"/>
                    </a:moveTo>
                    <a:lnTo>
                      <a:pt x="0" y="2"/>
                    </a:lnTo>
                    <a:lnTo>
                      <a:pt x="2" y="12"/>
                    </a:lnTo>
                    <a:lnTo>
                      <a:pt x="11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8" name="Freeform 497"/>
              <p:cNvSpPr>
                <a:spLocks/>
              </p:cNvSpPr>
              <p:nvPr/>
            </p:nvSpPr>
            <p:spPr bwMode="auto">
              <a:xfrm>
                <a:off x="2634" y="2178"/>
                <a:ext cx="11" cy="13"/>
              </a:xfrm>
              <a:custGeom>
                <a:avLst/>
                <a:gdLst>
                  <a:gd name="T0" fmla="*/ 9 w 11"/>
                  <a:gd name="T1" fmla="*/ 0 h 13"/>
                  <a:gd name="T2" fmla="*/ 0 w 11"/>
                  <a:gd name="T3" fmla="*/ 2 h 13"/>
                  <a:gd name="T4" fmla="*/ 2 w 11"/>
                  <a:gd name="T5" fmla="*/ 13 h 13"/>
                  <a:gd name="T6" fmla="*/ 11 w 11"/>
                  <a:gd name="T7" fmla="*/ 10 h 13"/>
                  <a:gd name="T8" fmla="*/ 9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9" y="0"/>
                    </a:moveTo>
                    <a:lnTo>
                      <a:pt x="0" y="2"/>
                    </a:lnTo>
                    <a:lnTo>
                      <a:pt x="2" y="13"/>
                    </a:lnTo>
                    <a:lnTo>
                      <a:pt x="11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99" name="Freeform 498"/>
              <p:cNvSpPr>
                <a:spLocks/>
              </p:cNvSpPr>
              <p:nvPr/>
            </p:nvSpPr>
            <p:spPr bwMode="auto">
              <a:xfrm>
                <a:off x="2639" y="2197"/>
                <a:ext cx="11" cy="13"/>
              </a:xfrm>
              <a:custGeom>
                <a:avLst/>
                <a:gdLst>
                  <a:gd name="T0" fmla="*/ 9 w 11"/>
                  <a:gd name="T1" fmla="*/ 0 h 13"/>
                  <a:gd name="T2" fmla="*/ 0 w 11"/>
                  <a:gd name="T3" fmla="*/ 3 h 13"/>
                  <a:gd name="T4" fmla="*/ 3 w 11"/>
                  <a:gd name="T5" fmla="*/ 13 h 13"/>
                  <a:gd name="T6" fmla="*/ 11 w 11"/>
                  <a:gd name="T7" fmla="*/ 10 h 13"/>
                  <a:gd name="T8" fmla="*/ 9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9" y="0"/>
                    </a:moveTo>
                    <a:lnTo>
                      <a:pt x="0" y="3"/>
                    </a:lnTo>
                    <a:lnTo>
                      <a:pt x="3" y="13"/>
                    </a:lnTo>
                    <a:lnTo>
                      <a:pt x="11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0" name="Freeform 499"/>
              <p:cNvSpPr>
                <a:spLocks/>
              </p:cNvSpPr>
              <p:nvPr/>
            </p:nvSpPr>
            <p:spPr bwMode="auto">
              <a:xfrm>
                <a:off x="2644" y="2217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3 h 13"/>
                  <a:gd name="T4" fmla="*/ 1 w 13"/>
                  <a:gd name="T5" fmla="*/ 4 h 13"/>
                  <a:gd name="T6" fmla="*/ 4 w 13"/>
                  <a:gd name="T7" fmla="*/ 13 h 13"/>
                  <a:gd name="T8" fmla="*/ 13 w 13"/>
                  <a:gd name="T9" fmla="*/ 10 h 13"/>
                  <a:gd name="T10" fmla="*/ 12 w 13"/>
                  <a:gd name="T11" fmla="*/ 4 h 13"/>
                  <a:gd name="T12" fmla="*/ 9 w 13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"/>
                  <a:gd name="T22" fmla="*/ 0 h 13"/>
                  <a:gd name="T23" fmla="*/ 13 w 13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" h="13">
                    <a:moveTo>
                      <a:pt x="9" y="0"/>
                    </a:moveTo>
                    <a:lnTo>
                      <a:pt x="0" y="3"/>
                    </a:lnTo>
                    <a:lnTo>
                      <a:pt x="1" y="4"/>
                    </a:lnTo>
                    <a:lnTo>
                      <a:pt x="4" y="13"/>
                    </a:lnTo>
                    <a:lnTo>
                      <a:pt x="13" y="10"/>
                    </a:lnTo>
                    <a:lnTo>
                      <a:pt x="12" y="4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1" name="Freeform 500"/>
              <p:cNvSpPr>
                <a:spLocks/>
              </p:cNvSpPr>
              <p:nvPr/>
            </p:nvSpPr>
            <p:spPr bwMode="auto">
              <a:xfrm>
                <a:off x="2650" y="2236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3 h 13"/>
                  <a:gd name="T4" fmla="*/ 3 w 12"/>
                  <a:gd name="T5" fmla="*/ 13 h 13"/>
                  <a:gd name="T6" fmla="*/ 12 w 12"/>
                  <a:gd name="T7" fmla="*/ 11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3"/>
                    </a:lnTo>
                    <a:lnTo>
                      <a:pt x="3" y="13"/>
                    </a:lnTo>
                    <a:lnTo>
                      <a:pt x="12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2" name="Freeform 501"/>
              <p:cNvSpPr>
                <a:spLocks/>
              </p:cNvSpPr>
              <p:nvPr/>
            </p:nvSpPr>
            <p:spPr bwMode="auto">
              <a:xfrm>
                <a:off x="2657" y="2257"/>
                <a:ext cx="11" cy="11"/>
              </a:xfrm>
              <a:custGeom>
                <a:avLst/>
                <a:gdLst>
                  <a:gd name="T0" fmla="*/ 9 w 11"/>
                  <a:gd name="T1" fmla="*/ 0 h 11"/>
                  <a:gd name="T2" fmla="*/ 0 w 11"/>
                  <a:gd name="T3" fmla="*/ 2 h 11"/>
                  <a:gd name="T4" fmla="*/ 2 w 11"/>
                  <a:gd name="T5" fmla="*/ 11 h 11"/>
                  <a:gd name="T6" fmla="*/ 11 w 11"/>
                  <a:gd name="T7" fmla="*/ 9 h 11"/>
                  <a:gd name="T8" fmla="*/ 9 w 1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9" y="0"/>
                    </a:moveTo>
                    <a:lnTo>
                      <a:pt x="0" y="2"/>
                    </a:lnTo>
                    <a:lnTo>
                      <a:pt x="2" y="11"/>
                    </a:lnTo>
                    <a:lnTo>
                      <a:pt x="11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3" name="Freeform 502"/>
              <p:cNvSpPr>
                <a:spLocks/>
              </p:cNvSpPr>
              <p:nvPr/>
            </p:nvSpPr>
            <p:spPr bwMode="auto">
              <a:xfrm>
                <a:off x="2663" y="2276"/>
                <a:ext cx="12" cy="11"/>
              </a:xfrm>
              <a:custGeom>
                <a:avLst/>
                <a:gdLst>
                  <a:gd name="T0" fmla="*/ 9 w 12"/>
                  <a:gd name="T1" fmla="*/ 0 h 11"/>
                  <a:gd name="T2" fmla="*/ 0 w 12"/>
                  <a:gd name="T3" fmla="*/ 2 h 11"/>
                  <a:gd name="T4" fmla="*/ 3 w 12"/>
                  <a:gd name="T5" fmla="*/ 11 h 11"/>
                  <a:gd name="T6" fmla="*/ 12 w 12"/>
                  <a:gd name="T7" fmla="*/ 9 h 11"/>
                  <a:gd name="T8" fmla="*/ 9 w 12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9" y="0"/>
                    </a:moveTo>
                    <a:lnTo>
                      <a:pt x="0" y="2"/>
                    </a:lnTo>
                    <a:lnTo>
                      <a:pt x="3" y="11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4" name="Freeform 503"/>
              <p:cNvSpPr>
                <a:spLocks/>
              </p:cNvSpPr>
              <p:nvPr/>
            </p:nvSpPr>
            <p:spPr bwMode="auto">
              <a:xfrm>
                <a:off x="2668" y="2295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2 h 13"/>
                  <a:gd name="T4" fmla="*/ 4 w 13"/>
                  <a:gd name="T5" fmla="*/ 13 h 13"/>
                  <a:gd name="T6" fmla="*/ 13 w 13"/>
                  <a:gd name="T7" fmla="*/ 10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2"/>
                    </a:lnTo>
                    <a:lnTo>
                      <a:pt x="4" y="13"/>
                    </a:lnTo>
                    <a:lnTo>
                      <a:pt x="13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5" name="Freeform 504"/>
              <p:cNvSpPr>
                <a:spLocks/>
              </p:cNvSpPr>
              <p:nvPr/>
            </p:nvSpPr>
            <p:spPr bwMode="auto">
              <a:xfrm>
                <a:off x="2676" y="2314"/>
                <a:ext cx="11" cy="13"/>
              </a:xfrm>
              <a:custGeom>
                <a:avLst/>
                <a:gdLst>
                  <a:gd name="T0" fmla="*/ 9 w 11"/>
                  <a:gd name="T1" fmla="*/ 0 h 13"/>
                  <a:gd name="T2" fmla="*/ 0 w 11"/>
                  <a:gd name="T3" fmla="*/ 2 h 13"/>
                  <a:gd name="T4" fmla="*/ 2 w 11"/>
                  <a:gd name="T5" fmla="*/ 13 h 13"/>
                  <a:gd name="T6" fmla="*/ 11 w 11"/>
                  <a:gd name="T7" fmla="*/ 10 h 13"/>
                  <a:gd name="T8" fmla="*/ 9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9" y="0"/>
                    </a:moveTo>
                    <a:lnTo>
                      <a:pt x="0" y="2"/>
                    </a:lnTo>
                    <a:lnTo>
                      <a:pt x="2" y="13"/>
                    </a:lnTo>
                    <a:lnTo>
                      <a:pt x="11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6" name="Freeform 505"/>
              <p:cNvSpPr>
                <a:spLocks/>
              </p:cNvSpPr>
              <p:nvPr/>
            </p:nvSpPr>
            <p:spPr bwMode="auto">
              <a:xfrm>
                <a:off x="2682" y="2333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3 h 13"/>
                  <a:gd name="T4" fmla="*/ 4 w 13"/>
                  <a:gd name="T5" fmla="*/ 13 h 13"/>
                  <a:gd name="T6" fmla="*/ 13 w 13"/>
                  <a:gd name="T7" fmla="*/ 10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3"/>
                    </a:lnTo>
                    <a:lnTo>
                      <a:pt x="4" y="13"/>
                    </a:lnTo>
                    <a:lnTo>
                      <a:pt x="13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7" name="Freeform 506"/>
              <p:cNvSpPr>
                <a:spLocks/>
              </p:cNvSpPr>
              <p:nvPr/>
            </p:nvSpPr>
            <p:spPr bwMode="auto">
              <a:xfrm>
                <a:off x="2689" y="2352"/>
                <a:ext cx="12" cy="13"/>
              </a:xfrm>
              <a:custGeom>
                <a:avLst/>
                <a:gdLst>
                  <a:gd name="T0" fmla="*/ 8 w 12"/>
                  <a:gd name="T1" fmla="*/ 0 h 13"/>
                  <a:gd name="T2" fmla="*/ 0 w 12"/>
                  <a:gd name="T3" fmla="*/ 3 h 13"/>
                  <a:gd name="T4" fmla="*/ 1 w 12"/>
                  <a:gd name="T5" fmla="*/ 5 h 13"/>
                  <a:gd name="T6" fmla="*/ 3 w 12"/>
                  <a:gd name="T7" fmla="*/ 13 h 13"/>
                  <a:gd name="T8" fmla="*/ 12 w 12"/>
                  <a:gd name="T9" fmla="*/ 9 h 13"/>
                  <a:gd name="T10" fmla="*/ 11 w 12"/>
                  <a:gd name="T11" fmla="*/ 5 h 13"/>
                  <a:gd name="T12" fmla="*/ 8 w 12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"/>
                  <a:gd name="T22" fmla="*/ 0 h 13"/>
                  <a:gd name="T23" fmla="*/ 12 w 12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" h="13">
                    <a:moveTo>
                      <a:pt x="8" y="0"/>
                    </a:moveTo>
                    <a:lnTo>
                      <a:pt x="0" y="3"/>
                    </a:lnTo>
                    <a:lnTo>
                      <a:pt x="1" y="5"/>
                    </a:lnTo>
                    <a:lnTo>
                      <a:pt x="3" y="13"/>
                    </a:lnTo>
                    <a:lnTo>
                      <a:pt x="12" y="9"/>
                    </a:lnTo>
                    <a:lnTo>
                      <a:pt x="11" y="5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8" name="Freeform 507"/>
              <p:cNvSpPr>
                <a:spLocks/>
              </p:cNvSpPr>
              <p:nvPr/>
            </p:nvSpPr>
            <p:spPr bwMode="auto">
              <a:xfrm>
                <a:off x="2696" y="2371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4 h 13"/>
                  <a:gd name="T4" fmla="*/ 4 w 13"/>
                  <a:gd name="T5" fmla="*/ 13 h 13"/>
                  <a:gd name="T6" fmla="*/ 13 w 13"/>
                  <a:gd name="T7" fmla="*/ 9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09" name="Freeform 508"/>
              <p:cNvSpPr>
                <a:spLocks/>
              </p:cNvSpPr>
              <p:nvPr/>
            </p:nvSpPr>
            <p:spPr bwMode="auto">
              <a:xfrm>
                <a:off x="2704" y="2390"/>
                <a:ext cx="11" cy="13"/>
              </a:xfrm>
              <a:custGeom>
                <a:avLst/>
                <a:gdLst>
                  <a:gd name="T0" fmla="*/ 9 w 11"/>
                  <a:gd name="T1" fmla="*/ 0 h 13"/>
                  <a:gd name="T2" fmla="*/ 0 w 11"/>
                  <a:gd name="T3" fmla="*/ 4 h 13"/>
                  <a:gd name="T4" fmla="*/ 2 w 11"/>
                  <a:gd name="T5" fmla="*/ 13 h 13"/>
                  <a:gd name="T6" fmla="*/ 11 w 11"/>
                  <a:gd name="T7" fmla="*/ 9 h 13"/>
                  <a:gd name="T8" fmla="*/ 9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9" y="0"/>
                    </a:moveTo>
                    <a:lnTo>
                      <a:pt x="0" y="4"/>
                    </a:lnTo>
                    <a:lnTo>
                      <a:pt x="2" y="13"/>
                    </a:lnTo>
                    <a:lnTo>
                      <a:pt x="11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0" name="Freeform 509"/>
              <p:cNvSpPr>
                <a:spLocks/>
              </p:cNvSpPr>
              <p:nvPr/>
            </p:nvSpPr>
            <p:spPr bwMode="auto">
              <a:xfrm>
                <a:off x="2710" y="2409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4 h 13"/>
                  <a:gd name="T4" fmla="*/ 4 w 13"/>
                  <a:gd name="T5" fmla="*/ 13 h 13"/>
                  <a:gd name="T6" fmla="*/ 13 w 13"/>
                  <a:gd name="T7" fmla="*/ 9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1" name="Freeform 510"/>
              <p:cNvSpPr>
                <a:spLocks/>
              </p:cNvSpPr>
              <p:nvPr/>
            </p:nvSpPr>
            <p:spPr bwMode="auto">
              <a:xfrm>
                <a:off x="2718" y="2428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4 h 13"/>
                  <a:gd name="T4" fmla="*/ 4 w 12"/>
                  <a:gd name="T5" fmla="*/ 13 h 13"/>
                  <a:gd name="T6" fmla="*/ 12 w 12"/>
                  <a:gd name="T7" fmla="*/ 9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2" name="Freeform 511"/>
              <p:cNvSpPr>
                <a:spLocks/>
              </p:cNvSpPr>
              <p:nvPr/>
            </p:nvSpPr>
            <p:spPr bwMode="auto">
              <a:xfrm>
                <a:off x="2725" y="2447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4 h 13"/>
                  <a:gd name="T4" fmla="*/ 4 w 13"/>
                  <a:gd name="T5" fmla="*/ 13 h 13"/>
                  <a:gd name="T6" fmla="*/ 13 w 13"/>
                  <a:gd name="T7" fmla="*/ 9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3" name="Freeform 512"/>
              <p:cNvSpPr>
                <a:spLocks/>
              </p:cNvSpPr>
              <p:nvPr/>
            </p:nvSpPr>
            <p:spPr bwMode="auto">
              <a:xfrm>
                <a:off x="2733" y="2465"/>
                <a:ext cx="13" cy="14"/>
              </a:xfrm>
              <a:custGeom>
                <a:avLst/>
                <a:gdLst>
                  <a:gd name="T0" fmla="*/ 9 w 13"/>
                  <a:gd name="T1" fmla="*/ 0 h 14"/>
                  <a:gd name="T2" fmla="*/ 0 w 13"/>
                  <a:gd name="T3" fmla="*/ 4 h 14"/>
                  <a:gd name="T4" fmla="*/ 4 w 13"/>
                  <a:gd name="T5" fmla="*/ 14 h 14"/>
                  <a:gd name="T6" fmla="*/ 13 w 13"/>
                  <a:gd name="T7" fmla="*/ 10 h 14"/>
                  <a:gd name="T8" fmla="*/ 9 w 13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4"/>
                  <a:gd name="T17" fmla="*/ 13 w 13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4">
                    <a:moveTo>
                      <a:pt x="9" y="0"/>
                    </a:moveTo>
                    <a:lnTo>
                      <a:pt x="0" y="4"/>
                    </a:lnTo>
                    <a:lnTo>
                      <a:pt x="4" y="14"/>
                    </a:lnTo>
                    <a:lnTo>
                      <a:pt x="13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4" name="Freeform 513"/>
              <p:cNvSpPr>
                <a:spLocks/>
              </p:cNvSpPr>
              <p:nvPr/>
            </p:nvSpPr>
            <p:spPr bwMode="auto">
              <a:xfrm>
                <a:off x="2741" y="2484"/>
                <a:ext cx="11" cy="10"/>
              </a:xfrm>
              <a:custGeom>
                <a:avLst/>
                <a:gdLst>
                  <a:gd name="T0" fmla="*/ 8 w 11"/>
                  <a:gd name="T1" fmla="*/ 0 h 10"/>
                  <a:gd name="T2" fmla="*/ 0 w 11"/>
                  <a:gd name="T3" fmla="*/ 4 h 10"/>
                  <a:gd name="T4" fmla="*/ 2 w 11"/>
                  <a:gd name="T5" fmla="*/ 10 h 10"/>
                  <a:gd name="T6" fmla="*/ 11 w 11"/>
                  <a:gd name="T7" fmla="*/ 7 h 10"/>
                  <a:gd name="T8" fmla="*/ 8 w 1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0"/>
                  <a:gd name="T17" fmla="*/ 11 w 1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0">
                    <a:moveTo>
                      <a:pt x="8" y="0"/>
                    </a:moveTo>
                    <a:lnTo>
                      <a:pt x="0" y="4"/>
                    </a:lnTo>
                    <a:lnTo>
                      <a:pt x="2" y="10"/>
                    </a:lnTo>
                    <a:lnTo>
                      <a:pt x="11" y="7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15" name="Freeform 514"/>
              <p:cNvSpPr>
                <a:spLocks/>
              </p:cNvSpPr>
              <p:nvPr/>
            </p:nvSpPr>
            <p:spPr bwMode="auto">
              <a:xfrm>
                <a:off x="2706" y="2475"/>
                <a:ext cx="79" cy="96"/>
              </a:xfrm>
              <a:custGeom>
                <a:avLst/>
                <a:gdLst>
                  <a:gd name="T0" fmla="*/ 0 w 79"/>
                  <a:gd name="T1" fmla="*/ 33 h 96"/>
                  <a:gd name="T2" fmla="*/ 73 w 79"/>
                  <a:gd name="T3" fmla="*/ 96 h 96"/>
                  <a:gd name="T4" fmla="*/ 79 w 79"/>
                  <a:gd name="T5" fmla="*/ 0 h 96"/>
                  <a:gd name="T6" fmla="*/ 0 w 79"/>
                  <a:gd name="T7" fmla="*/ 33 h 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9"/>
                  <a:gd name="T13" fmla="*/ 0 h 96"/>
                  <a:gd name="T14" fmla="*/ 79 w 79"/>
                  <a:gd name="T15" fmla="*/ 96 h 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9" h="96">
                    <a:moveTo>
                      <a:pt x="0" y="33"/>
                    </a:moveTo>
                    <a:lnTo>
                      <a:pt x="73" y="96"/>
                    </a:lnTo>
                    <a:lnTo>
                      <a:pt x="79" y="0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51" name="Group 515"/>
            <p:cNvGrpSpPr>
              <a:grpSpLocks/>
            </p:cNvGrpSpPr>
            <p:nvPr/>
          </p:nvGrpSpPr>
          <p:grpSpPr bwMode="auto">
            <a:xfrm>
              <a:off x="2489" y="1329"/>
              <a:ext cx="184" cy="1242"/>
              <a:chOff x="2489" y="1329"/>
              <a:chExt cx="184" cy="1242"/>
            </a:xfrm>
          </p:grpSpPr>
          <p:sp>
            <p:nvSpPr>
              <p:cNvPr id="103594" name="Freeform 516"/>
              <p:cNvSpPr>
                <a:spLocks/>
              </p:cNvSpPr>
              <p:nvPr/>
            </p:nvSpPr>
            <p:spPr bwMode="auto">
              <a:xfrm>
                <a:off x="2639" y="1329"/>
                <a:ext cx="13" cy="12"/>
              </a:xfrm>
              <a:custGeom>
                <a:avLst/>
                <a:gdLst>
                  <a:gd name="T0" fmla="*/ 13 w 13"/>
                  <a:gd name="T1" fmla="*/ 4 h 12"/>
                  <a:gd name="T2" fmla="*/ 4 w 13"/>
                  <a:gd name="T3" fmla="*/ 0 h 12"/>
                  <a:gd name="T4" fmla="*/ 0 w 13"/>
                  <a:gd name="T5" fmla="*/ 9 h 12"/>
                  <a:gd name="T6" fmla="*/ 9 w 13"/>
                  <a:gd name="T7" fmla="*/ 12 h 12"/>
                  <a:gd name="T8" fmla="*/ 13 w 13"/>
                  <a:gd name="T9" fmla="*/ 4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2"/>
                  <a:gd name="T17" fmla="*/ 13 w 13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2">
                    <a:moveTo>
                      <a:pt x="13" y="4"/>
                    </a:moveTo>
                    <a:lnTo>
                      <a:pt x="4" y="0"/>
                    </a:lnTo>
                    <a:lnTo>
                      <a:pt x="0" y="9"/>
                    </a:lnTo>
                    <a:lnTo>
                      <a:pt x="9" y="12"/>
                    </a:lnTo>
                    <a:lnTo>
                      <a:pt x="13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95" name="Freeform 517"/>
              <p:cNvSpPr>
                <a:spLocks/>
              </p:cNvSpPr>
              <p:nvPr/>
            </p:nvSpPr>
            <p:spPr bwMode="auto">
              <a:xfrm>
                <a:off x="2631" y="1347"/>
                <a:ext cx="13" cy="14"/>
              </a:xfrm>
              <a:custGeom>
                <a:avLst/>
                <a:gdLst>
                  <a:gd name="T0" fmla="*/ 13 w 13"/>
                  <a:gd name="T1" fmla="*/ 3 h 14"/>
                  <a:gd name="T2" fmla="*/ 4 w 13"/>
                  <a:gd name="T3" fmla="*/ 0 h 14"/>
                  <a:gd name="T4" fmla="*/ 0 w 13"/>
                  <a:gd name="T5" fmla="*/ 10 h 14"/>
                  <a:gd name="T6" fmla="*/ 9 w 13"/>
                  <a:gd name="T7" fmla="*/ 14 h 14"/>
                  <a:gd name="T8" fmla="*/ 13 w 13"/>
                  <a:gd name="T9" fmla="*/ 3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4"/>
                  <a:gd name="T17" fmla="*/ 13 w 13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4">
                    <a:moveTo>
                      <a:pt x="13" y="3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3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96" name="Freeform 518"/>
              <p:cNvSpPr>
                <a:spLocks/>
              </p:cNvSpPr>
              <p:nvPr/>
            </p:nvSpPr>
            <p:spPr bwMode="auto">
              <a:xfrm>
                <a:off x="2624" y="1366"/>
                <a:ext cx="12" cy="14"/>
              </a:xfrm>
              <a:custGeom>
                <a:avLst/>
                <a:gdLst>
                  <a:gd name="T0" fmla="*/ 12 w 12"/>
                  <a:gd name="T1" fmla="*/ 3 h 14"/>
                  <a:gd name="T2" fmla="*/ 4 w 12"/>
                  <a:gd name="T3" fmla="*/ 0 h 14"/>
                  <a:gd name="T4" fmla="*/ 0 w 12"/>
                  <a:gd name="T5" fmla="*/ 10 h 14"/>
                  <a:gd name="T6" fmla="*/ 9 w 12"/>
                  <a:gd name="T7" fmla="*/ 14 h 14"/>
                  <a:gd name="T8" fmla="*/ 12 w 12"/>
                  <a:gd name="T9" fmla="*/ 3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12" y="3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97" name="Freeform 519"/>
              <p:cNvSpPr>
                <a:spLocks/>
              </p:cNvSpPr>
              <p:nvPr/>
            </p:nvSpPr>
            <p:spPr bwMode="auto">
              <a:xfrm>
                <a:off x="2617" y="1385"/>
                <a:ext cx="12" cy="14"/>
              </a:xfrm>
              <a:custGeom>
                <a:avLst/>
                <a:gdLst>
                  <a:gd name="T0" fmla="*/ 12 w 12"/>
                  <a:gd name="T1" fmla="*/ 4 h 14"/>
                  <a:gd name="T2" fmla="*/ 3 w 12"/>
                  <a:gd name="T3" fmla="*/ 0 h 14"/>
                  <a:gd name="T4" fmla="*/ 0 w 12"/>
                  <a:gd name="T5" fmla="*/ 10 h 14"/>
                  <a:gd name="T6" fmla="*/ 9 w 12"/>
                  <a:gd name="T7" fmla="*/ 14 h 14"/>
                  <a:gd name="T8" fmla="*/ 12 w 12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12" y="4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98" name="Freeform 520"/>
              <p:cNvSpPr>
                <a:spLocks/>
              </p:cNvSpPr>
              <p:nvPr/>
            </p:nvSpPr>
            <p:spPr bwMode="auto">
              <a:xfrm>
                <a:off x="2610" y="1404"/>
                <a:ext cx="13" cy="14"/>
              </a:xfrm>
              <a:custGeom>
                <a:avLst/>
                <a:gdLst>
                  <a:gd name="T0" fmla="*/ 13 w 13"/>
                  <a:gd name="T1" fmla="*/ 4 h 14"/>
                  <a:gd name="T2" fmla="*/ 4 w 13"/>
                  <a:gd name="T3" fmla="*/ 0 h 14"/>
                  <a:gd name="T4" fmla="*/ 2 w 13"/>
                  <a:gd name="T5" fmla="*/ 4 h 14"/>
                  <a:gd name="T6" fmla="*/ 0 w 13"/>
                  <a:gd name="T7" fmla="*/ 10 h 14"/>
                  <a:gd name="T8" fmla="*/ 9 w 13"/>
                  <a:gd name="T9" fmla="*/ 14 h 14"/>
                  <a:gd name="T10" fmla="*/ 13 w 13"/>
                  <a:gd name="T11" fmla="*/ 4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14"/>
                  <a:gd name="T20" fmla="*/ 13 w 13"/>
                  <a:gd name="T21" fmla="*/ 14 h 1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14">
                    <a:moveTo>
                      <a:pt x="13" y="4"/>
                    </a:moveTo>
                    <a:lnTo>
                      <a:pt x="4" y="0"/>
                    </a:lnTo>
                    <a:lnTo>
                      <a:pt x="2" y="4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3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99" name="Freeform 521"/>
              <p:cNvSpPr>
                <a:spLocks/>
              </p:cNvSpPr>
              <p:nvPr/>
            </p:nvSpPr>
            <p:spPr bwMode="auto">
              <a:xfrm>
                <a:off x="2603" y="1423"/>
                <a:ext cx="12" cy="14"/>
              </a:xfrm>
              <a:custGeom>
                <a:avLst/>
                <a:gdLst>
                  <a:gd name="T0" fmla="*/ 12 w 12"/>
                  <a:gd name="T1" fmla="*/ 4 h 14"/>
                  <a:gd name="T2" fmla="*/ 3 w 12"/>
                  <a:gd name="T3" fmla="*/ 0 h 14"/>
                  <a:gd name="T4" fmla="*/ 0 w 12"/>
                  <a:gd name="T5" fmla="*/ 10 h 14"/>
                  <a:gd name="T6" fmla="*/ 9 w 12"/>
                  <a:gd name="T7" fmla="*/ 14 h 14"/>
                  <a:gd name="T8" fmla="*/ 12 w 12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12" y="4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00" name="Freeform 522"/>
              <p:cNvSpPr>
                <a:spLocks/>
              </p:cNvSpPr>
              <p:nvPr/>
            </p:nvSpPr>
            <p:spPr bwMode="auto">
              <a:xfrm>
                <a:off x="2596" y="1442"/>
                <a:ext cx="13" cy="14"/>
              </a:xfrm>
              <a:custGeom>
                <a:avLst/>
                <a:gdLst>
                  <a:gd name="T0" fmla="*/ 13 w 13"/>
                  <a:gd name="T1" fmla="*/ 4 h 14"/>
                  <a:gd name="T2" fmla="*/ 4 w 13"/>
                  <a:gd name="T3" fmla="*/ 0 h 14"/>
                  <a:gd name="T4" fmla="*/ 0 w 13"/>
                  <a:gd name="T5" fmla="*/ 10 h 14"/>
                  <a:gd name="T6" fmla="*/ 9 w 13"/>
                  <a:gd name="T7" fmla="*/ 14 h 14"/>
                  <a:gd name="T8" fmla="*/ 13 w 13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4"/>
                  <a:gd name="T17" fmla="*/ 13 w 13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4">
                    <a:moveTo>
                      <a:pt x="13" y="4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3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01" name="Freeform 523"/>
              <p:cNvSpPr>
                <a:spLocks/>
              </p:cNvSpPr>
              <p:nvPr/>
            </p:nvSpPr>
            <p:spPr bwMode="auto">
              <a:xfrm>
                <a:off x="2590" y="1461"/>
                <a:ext cx="11" cy="14"/>
              </a:xfrm>
              <a:custGeom>
                <a:avLst/>
                <a:gdLst>
                  <a:gd name="T0" fmla="*/ 11 w 11"/>
                  <a:gd name="T1" fmla="*/ 4 h 14"/>
                  <a:gd name="T2" fmla="*/ 2 w 11"/>
                  <a:gd name="T3" fmla="*/ 0 h 14"/>
                  <a:gd name="T4" fmla="*/ 0 w 11"/>
                  <a:gd name="T5" fmla="*/ 10 h 14"/>
                  <a:gd name="T6" fmla="*/ 8 w 11"/>
                  <a:gd name="T7" fmla="*/ 14 h 14"/>
                  <a:gd name="T8" fmla="*/ 11 w 11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4"/>
                  <a:gd name="T17" fmla="*/ 11 w 11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4">
                    <a:moveTo>
                      <a:pt x="11" y="4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8" y="14"/>
                    </a:lnTo>
                    <a:lnTo>
                      <a:pt x="11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02" name="Freeform 524"/>
              <p:cNvSpPr>
                <a:spLocks/>
              </p:cNvSpPr>
              <p:nvPr/>
            </p:nvSpPr>
            <p:spPr bwMode="auto">
              <a:xfrm>
                <a:off x="2582" y="1480"/>
                <a:ext cx="13" cy="14"/>
              </a:xfrm>
              <a:custGeom>
                <a:avLst/>
                <a:gdLst>
                  <a:gd name="T0" fmla="*/ 13 w 13"/>
                  <a:gd name="T1" fmla="*/ 4 h 14"/>
                  <a:gd name="T2" fmla="*/ 4 w 13"/>
                  <a:gd name="T3" fmla="*/ 0 h 14"/>
                  <a:gd name="T4" fmla="*/ 2 w 13"/>
                  <a:gd name="T5" fmla="*/ 5 h 14"/>
                  <a:gd name="T6" fmla="*/ 0 w 13"/>
                  <a:gd name="T7" fmla="*/ 11 h 14"/>
                  <a:gd name="T8" fmla="*/ 9 w 13"/>
                  <a:gd name="T9" fmla="*/ 14 h 14"/>
                  <a:gd name="T10" fmla="*/ 13 w 13"/>
                  <a:gd name="T11" fmla="*/ 5 h 14"/>
                  <a:gd name="T12" fmla="*/ 13 w 13"/>
                  <a:gd name="T13" fmla="*/ 4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"/>
                  <a:gd name="T22" fmla="*/ 0 h 14"/>
                  <a:gd name="T23" fmla="*/ 13 w 13"/>
                  <a:gd name="T24" fmla="*/ 14 h 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" h="14">
                    <a:moveTo>
                      <a:pt x="13" y="4"/>
                    </a:moveTo>
                    <a:lnTo>
                      <a:pt x="4" y="0"/>
                    </a:lnTo>
                    <a:lnTo>
                      <a:pt x="2" y="5"/>
                    </a:lnTo>
                    <a:lnTo>
                      <a:pt x="0" y="11"/>
                    </a:lnTo>
                    <a:lnTo>
                      <a:pt x="9" y="14"/>
                    </a:lnTo>
                    <a:lnTo>
                      <a:pt x="13" y="5"/>
                    </a:lnTo>
                    <a:lnTo>
                      <a:pt x="13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03" name="Freeform 525"/>
              <p:cNvSpPr>
                <a:spLocks/>
              </p:cNvSpPr>
              <p:nvPr/>
            </p:nvSpPr>
            <p:spPr bwMode="auto">
              <a:xfrm>
                <a:off x="2576" y="1500"/>
                <a:ext cx="12" cy="13"/>
              </a:xfrm>
              <a:custGeom>
                <a:avLst/>
                <a:gdLst>
                  <a:gd name="T0" fmla="*/ 12 w 12"/>
                  <a:gd name="T1" fmla="*/ 3 h 13"/>
                  <a:gd name="T2" fmla="*/ 3 w 12"/>
                  <a:gd name="T3" fmla="*/ 0 h 13"/>
                  <a:gd name="T4" fmla="*/ 0 w 12"/>
                  <a:gd name="T5" fmla="*/ 11 h 13"/>
                  <a:gd name="T6" fmla="*/ 8 w 12"/>
                  <a:gd name="T7" fmla="*/ 13 h 13"/>
                  <a:gd name="T8" fmla="*/ 12 w 12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3"/>
                    </a:moveTo>
                    <a:lnTo>
                      <a:pt x="3" y="0"/>
                    </a:lnTo>
                    <a:lnTo>
                      <a:pt x="0" y="11"/>
                    </a:lnTo>
                    <a:lnTo>
                      <a:pt x="8" y="13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04" name="Freeform 526"/>
              <p:cNvSpPr>
                <a:spLocks/>
              </p:cNvSpPr>
              <p:nvPr/>
            </p:nvSpPr>
            <p:spPr bwMode="auto">
              <a:xfrm>
                <a:off x="2569" y="1519"/>
                <a:ext cx="12" cy="13"/>
              </a:xfrm>
              <a:custGeom>
                <a:avLst/>
                <a:gdLst>
                  <a:gd name="T0" fmla="*/ 12 w 12"/>
                  <a:gd name="T1" fmla="*/ 3 h 13"/>
                  <a:gd name="T2" fmla="*/ 3 w 12"/>
                  <a:gd name="T3" fmla="*/ 0 h 13"/>
                  <a:gd name="T4" fmla="*/ 0 w 12"/>
                  <a:gd name="T5" fmla="*/ 11 h 13"/>
                  <a:gd name="T6" fmla="*/ 9 w 12"/>
                  <a:gd name="T7" fmla="*/ 13 h 13"/>
                  <a:gd name="T8" fmla="*/ 12 w 12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3"/>
                    </a:moveTo>
                    <a:lnTo>
                      <a:pt x="3" y="0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05" name="Freeform 527"/>
              <p:cNvSpPr>
                <a:spLocks/>
              </p:cNvSpPr>
              <p:nvPr/>
            </p:nvSpPr>
            <p:spPr bwMode="auto">
              <a:xfrm>
                <a:off x="2563" y="1539"/>
                <a:ext cx="11" cy="12"/>
              </a:xfrm>
              <a:custGeom>
                <a:avLst/>
                <a:gdLst>
                  <a:gd name="T0" fmla="*/ 11 w 11"/>
                  <a:gd name="T1" fmla="*/ 2 h 12"/>
                  <a:gd name="T2" fmla="*/ 2 w 11"/>
                  <a:gd name="T3" fmla="*/ 0 h 12"/>
                  <a:gd name="T4" fmla="*/ 0 w 11"/>
                  <a:gd name="T5" fmla="*/ 10 h 12"/>
                  <a:gd name="T6" fmla="*/ 9 w 11"/>
                  <a:gd name="T7" fmla="*/ 12 h 12"/>
                  <a:gd name="T8" fmla="*/ 11 w 11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11" y="2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2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06" name="Freeform 528"/>
              <p:cNvSpPr>
                <a:spLocks/>
              </p:cNvSpPr>
              <p:nvPr/>
            </p:nvSpPr>
            <p:spPr bwMode="auto">
              <a:xfrm>
                <a:off x="2557" y="1559"/>
                <a:ext cx="11" cy="11"/>
              </a:xfrm>
              <a:custGeom>
                <a:avLst/>
                <a:gdLst>
                  <a:gd name="T0" fmla="*/ 11 w 11"/>
                  <a:gd name="T1" fmla="*/ 2 h 11"/>
                  <a:gd name="T2" fmla="*/ 2 w 11"/>
                  <a:gd name="T3" fmla="*/ 0 h 11"/>
                  <a:gd name="T4" fmla="*/ 1 w 11"/>
                  <a:gd name="T5" fmla="*/ 4 h 11"/>
                  <a:gd name="T6" fmla="*/ 0 w 11"/>
                  <a:gd name="T7" fmla="*/ 9 h 11"/>
                  <a:gd name="T8" fmla="*/ 8 w 11"/>
                  <a:gd name="T9" fmla="*/ 11 h 11"/>
                  <a:gd name="T10" fmla="*/ 11 w 11"/>
                  <a:gd name="T11" fmla="*/ 4 h 11"/>
                  <a:gd name="T12" fmla="*/ 11 w 11"/>
                  <a:gd name="T13" fmla="*/ 2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"/>
                  <a:gd name="T22" fmla="*/ 0 h 11"/>
                  <a:gd name="T23" fmla="*/ 11 w 11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" h="11">
                    <a:moveTo>
                      <a:pt x="11" y="2"/>
                    </a:moveTo>
                    <a:lnTo>
                      <a:pt x="2" y="0"/>
                    </a:lnTo>
                    <a:lnTo>
                      <a:pt x="1" y="4"/>
                    </a:lnTo>
                    <a:lnTo>
                      <a:pt x="0" y="9"/>
                    </a:lnTo>
                    <a:lnTo>
                      <a:pt x="8" y="11"/>
                    </a:lnTo>
                    <a:lnTo>
                      <a:pt x="11" y="4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07" name="Freeform 529"/>
              <p:cNvSpPr>
                <a:spLocks/>
              </p:cNvSpPr>
              <p:nvPr/>
            </p:nvSpPr>
            <p:spPr bwMode="auto">
              <a:xfrm>
                <a:off x="2550" y="1578"/>
                <a:ext cx="13" cy="11"/>
              </a:xfrm>
              <a:custGeom>
                <a:avLst/>
                <a:gdLst>
                  <a:gd name="T0" fmla="*/ 13 w 13"/>
                  <a:gd name="T1" fmla="*/ 2 h 11"/>
                  <a:gd name="T2" fmla="*/ 4 w 13"/>
                  <a:gd name="T3" fmla="*/ 0 h 11"/>
                  <a:gd name="T4" fmla="*/ 0 w 13"/>
                  <a:gd name="T5" fmla="*/ 9 h 11"/>
                  <a:gd name="T6" fmla="*/ 9 w 13"/>
                  <a:gd name="T7" fmla="*/ 11 h 11"/>
                  <a:gd name="T8" fmla="*/ 13 w 13"/>
                  <a:gd name="T9" fmla="*/ 2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1"/>
                  <a:gd name="T17" fmla="*/ 13 w 13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1">
                    <a:moveTo>
                      <a:pt x="13" y="2"/>
                    </a:moveTo>
                    <a:lnTo>
                      <a:pt x="4" y="0"/>
                    </a:lnTo>
                    <a:lnTo>
                      <a:pt x="0" y="9"/>
                    </a:lnTo>
                    <a:lnTo>
                      <a:pt x="9" y="11"/>
                    </a:ln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08" name="Freeform 530"/>
              <p:cNvSpPr>
                <a:spLocks/>
              </p:cNvSpPr>
              <p:nvPr/>
            </p:nvSpPr>
            <p:spPr bwMode="auto">
              <a:xfrm>
                <a:off x="2545" y="1597"/>
                <a:ext cx="12" cy="13"/>
              </a:xfrm>
              <a:custGeom>
                <a:avLst/>
                <a:gdLst>
                  <a:gd name="T0" fmla="*/ 12 w 12"/>
                  <a:gd name="T1" fmla="*/ 3 h 13"/>
                  <a:gd name="T2" fmla="*/ 3 w 12"/>
                  <a:gd name="T3" fmla="*/ 0 h 13"/>
                  <a:gd name="T4" fmla="*/ 0 w 12"/>
                  <a:gd name="T5" fmla="*/ 10 h 13"/>
                  <a:gd name="T6" fmla="*/ 9 w 12"/>
                  <a:gd name="T7" fmla="*/ 13 h 13"/>
                  <a:gd name="T8" fmla="*/ 12 w 12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3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09" name="Freeform 531"/>
              <p:cNvSpPr>
                <a:spLocks/>
              </p:cNvSpPr>
              <p:nvPr/>
            </p:nvSpPr>
            <p:spPr bwMode="auto">
              <a:xfrm>
                <a:off x="2539" y="1616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2 w 11"/>
                  <a:gd name="T3" fmla="*/ 0 h 13"/>
                  <a:gd name="T4" fmla="*/ 0 w 11"/>
                  <a:gd name="T5" fmla="*/ 10 h 13"/>
                  <a:gd name="T6" fmla="*/ 9 w 11"/>
                  <a:gd name="T7" fmla="*/ 13 h 13"/>
                  <a:gd name="T8" fmla="*/ 11 w 11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3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10" name="Freeform 532"/>
              <p:cNvSpPr>
                <a:spLocks/>
              </p:cNvSpPr>
              <p:nvPr/>
            </p:nvSpPr>
            <p:spPr bwMode="auto">
              <a:xfrm>
                <a:off x="2534" y="1636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2 w 11"/>
                  <a:gd name="T3" fmla="*/ 0 h 13"/>
                  <a:gd name="T4" fmla="*/ 1 w 11"/>
                  <a:gd name="T5" fmla="*/ 4 h 13"/>
                  <a:gd name="T6" fmla="*/ 0 w 11"/>
                  <a:gd name="T7" fmla="*/ 11 h 13"/>
                  <a:gd name="T8" fmla="*/ 9 w 11"/>
                  <a:gd name="T9" fmla="*/ 13 h 13"/>
                  <a:gd name="T10" fmla="*/ 11 w 11"/>
                  <a:gd name="T11" fmla="*/ 4 h 13"/>
                  <a:gd name="T12" fmla="*/ 11 w 11"/>
                  <a:gd name="T13" fmla="*/ 3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"/>
                  <a:gd name="T22" fmla="*/ 0 h 13"/>
                  <a:gd name="T23" fmla="*/ 11 w 11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" h="13">
                    <a:moveTo>
                      <a:pt x="11" y="3"/>
                    </a:moveTo>
                    <a:lnTo>
                      <a:pt x="2" y="0"/>
                    </a:lnTo>
                    <a:lnTo>
                      <a:pt x="1" y="4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1" y="4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11" name="Freeform 533"/>
              <p:cNvSpPr>
                <a:spLocks/>
              </p:cNvSpPr>
              <p:nvPr/>
            </p:nvSpPr>
            <p:spPr bwMode="auto">
              <a:xfrm>
                <a:off x="2529" y="1655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2 w 11"/>
                  <a:gd name="T3" fmla="*/ 0 h 13"/>
                  <a:gd name="T4" fmla="*/ 0 w 11"/>
                  <a:gd name="T5" fmla="*/ 11 h 13"/>
                  <a:gd name="T6" fmla="*/ 8 w 11"/>
                  <a:gd name="T7" fmla="*/ 13 h 13"/>
                  <a:gd name="T8" fmla="*/ 11 w 11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3"/>
                    </a:moveTo>
                    <a:lnTo>
                      <a:pt x="2" y="0"/>
                    </a:lnTo>
                    <a:lnTo>
                      <a:pt x="0" y="11"/>
                    </a:lnTo>
                    <a:lnTo>
                      <a:pt x="8" y="13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12" name="Freeform 534"/>
              <p:cNvSpPr>
                <a:spLocks/>
              </p:cNvSpPr>
              <p:nvPr/>
            </p:nvSpPr>
            <p:spPr bwMode="auto">
              <a:xfrm>
                <a:off x="2524" y="1676"/>
                <a:ext cx="11" cy="13"/>
              </a:xfrm>
              <a:custGeom>
                <a:avLst/>
                <a:gdLst>
                  <a:gd name="T0" fmla="*/ 11 w 11"/>
                  <a:gd name="T1" fmla="*/ 2 h 13"/>
                  <a:gd name="T2" fmla="*/ 2 w 11"/>
                  <a:gd name="T3" fmla="*/ 0 h 13"/>
                  <a:gd name="T4" fmla="*/ 0 w 11"/>
                  <a:gd name="T5" fmla="*/ 10 h 13"/>
                  <a:gd name="T6" fmla="*/ 8 w 11"/>
                  <a:gd name="T7" fmla="*/ 13 h 13"/>
                  <a:gd name="T8" fmla="*/ 11 w 11"/>
                  <a:gd name="T9" fmla="*/ 2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2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8" y="13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13" name="Freeform 535"/>
              <p:cNvSpPr>
                <a:spLocks/>
              </p:cNvSpPr>
              <p:nvPr/>
            </p:nvSpPr>
            <p:spPr bwMode="auto">
              <a:xfrm>
                <a:off x="2518" y="1695"/>
                <a:ext cx="12" cy="13"/>
              </a:xfrm>
              <a:custGeom>
                <a:avLst/>
                <a:gdLst>
                  <a:gd name="T0" fmla="*/ 12 w 12"/>
                  <a:gd name="T1" fmla="*/ 2 h 13"/>
                  <a:gd name="T2" fmla="*/ 3 w 12"/>
                  <a:gd name="T3" fmla="*/ 0 h 13"/>
                  <a:gd name="T4" fmla="*/ 0 w 12"/>
                  <a:gd name="T5" fmla="*/ 10 h 13"/>
                  <a:gd name="T6" fmla="*/ 9 w 12"/>
                  <a:gd name="T7" fmla="*/ 13 h 13"/>
                  <a:gd name="T8" fmla="*/ 12 w 12"/>
                  <a:gd name="T9" fmla="*/ 2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2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14" name="Freeform 536"/>
              <p:cNvSpPr>
                <a:spLocks/>
              </p:cNvSpPr>
              <p:nvPr/>
            </p:nvSpPr>
            <p:spPr bwMode="auto">
              <a:xfrm>
                <a:off x="2513" y="1715"/>
                <a:ext cx="12" cy="12"/>
              </a:xfrm>
              <a:custGeom>
                <a:avLst/>
                <a:gdLst>
                  <a:gd name="T0" fmla="*/ 12 w 12"/>
                  <a:gd name="T1" fmla="*/ 3 h 12"/>
                  <a:gd name="T2" fmla="*/ 3 w 12"/>
                  <a:gd name="T3" fmla="*/ 0 h 12"/>
                  <a:gd name="T4" fmla="*/ 2 w 12"/>
                  <a:gd name="T5" fmla="*/ 3 h 12"/>
                  <a:gd name="T6" fmla="*/ 0 w 12"/>
                  <a:gd name="T7" fmla="*/ 10 h 12"/>
                  <a:gd name="T8" fmla="*/ 9 w 12"/>
                  <a:gd name="T9" fmla="*/ 12 h 12"/>
                  <a:gd name="T10" fmla="*/ 12 w 12"/>
                  <a:gd name="T11" fmla="*/ 3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2"/>
                  <a:gd name="T19" fmla="*/ 0 h 12"/>
                  <a:gd name="T20" fmla="*/ 12 w 12"/>
                  <a:gd name="T21" fmla="*/ 12 h 1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2" h="12">
                    <a:moveTo>
                      <a:pt x="12" y="3"/>
                    </a:moveTo>
                    <a:lnTo>
                      <a:pt x="3" y="0"/>
                    </a:lnTo>
                    <a:lnTo>
                      <a:pt x="2" y="3"/>
                    </a:lnTo>
                    <a:lnTo>
                      <a:pt x="0" y="10"/>
                    </a:lnTo>
                    <a:lnTo>
                      <a:pt x="9" y="12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15" name="Freeform 537"/>
              <p:cNvSpPr>
                <a:spLocks/>
              </p:cNvSpPr>
              <p:nvPr/>
            </p:nvSpPr>
            <p:spPr bwMode="auto">
              <a:xfrm>
                <a:off x="2510" y="1736"/>
                <a:ext cx="11" cy="11"/>
              </a:xfrm>
              <a:custGeom>
                <a:avLst/>
                <a:gdLst>
                  <a:gd name="T0" fmla="*/ 11 w 11"/>
                  <a:gd name="T1" fmla="*/ 1 h 11"/>
                  <a:gd name="T2" fmla="*/ 2 w 11"/>
                  <a:gd name="T3" fmla="*/ 0 h 11"/>
                  <a:gd name="T4" fmla="*/ 0 w 11"/>
                  <a:gd name="T5" fmla="*/ 10 h 11"/>
                  <a:gd name="T6" fmla="*/ 8 w 11"/>
                  <a:gd name="T7" fmla="*/ 11 h 11"/>
                  <a:gd name="T8" fmla="*/ 11 w 11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11" y="1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8" y="1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16" name="Freeform 538"/>
              <p:cNvSpPr>
                <a:spLocks/>
              </p:cNvSpPr>
              <p:nvPr/>
            </p:nvSpPr>
            <p:spPr bwMode="auto">
              <a:xfrm>
                <a:off x="2506" y="1756"/>
                <a:ext cx="11" cy="11"/>
              </a:xfrm>
              <a:custGeom>
                <a:avLst/>
                <a:gdLst>
                  <a:gd name="T0" fmla="*/ 11 w 11"/>
                  <a:gd name="T1" fmla="*/ 1 h 11"/>
                  <a:gd name="T2" fmla="*/ 2 w 11"/>
                  <a:gd name="T3" fmla="*/ 0 h 11"/>
                  <a:gd name="T4" fmla="*/ 1 w 11"/>
                  <a:gd name="T5" fmla="*/ 0 h 11"/>
                  <a:gd name="T6" fmla="*/ 0 w 11"/>
                  <a:gd name="T7" fmla="*/ 10 h 11"/>
                  <a:gd name="T8" fmla="*/ 10 w 11"/>
                  <a:gd name="T9" fmla="*/ 11 h 11"/>
                  <a:gd name="T10" fmla="*/ 11 w 11"/>
                  <a:gd name="T11" fmla="*/ 0 h 11"/>
                  <a:gd name="T12" fmla="*/ 11 w 11"/>
                  <a:gd name="T13" fmla="*/ 1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"/>
                  <a:gd name="T22" fmla="*/ 0 h 11"/>
                  <a:gd name="T23" fmla="*/ 11 w 11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" h="11">
                    <a:moveTo>
                      <a:pt x="11" y="1"/>
                    </a:moveTo>
                    <a:lnTo>
                      <a:pt x="2" y="0"/>
                    </a:lnTo>
                    <a:lnTo>
                      <a:pt x="1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1" y="0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17" name="Freeform 539"/>
              <p:cNvSpPr>
                <a:spLocks/>
              </p:cNvSpPr>
              <p:nvPr/>
            </p:nvSpPr>
            <p:spPr bwMode="auto">
              <a:xfrm>
                <a:off x="2502" y="1775"/>
                <a:ext cx="11" cy="11"/>
              </a:xfrm>
              <a:custGeom>
                <a:avLst/>
                <a:gdLst>
                  <a:gd name="T0" fmla="*/ 11 w 11"/>
                  <a:gd name="T1" fmla="*/ 1 h 11"/>
                  <a:gd name="T2" fmla="*/ 1 w 11"/>
                  <a:gd name="T3" fmla="*/ 0 h 11"/>
                  <a:gd name="T4" fmla="*/ 0 w 11"/>
                  <a:gd name="T5" fmla="*/ 10 h 11"/>
                  <a:gd name="T6" fmla="*/ 10 w 11"/>
                  <a:gd name="T7" fmla="*/ 11 h 11"/>
                  <a:gd name="T8" fmla="*/ 11 w 11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11" y="1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18" name="Freeform 540"/>
              <p:cNvSpPr>
                <a:spLocks/>
              </p:cNvSpPr>
              <p:nvPr/>
            </p:nvSpPr>
            <p:spPr bwMode="auto">
              <a:xfrm>
                <a:off x="2499" y="1795"/>
                <a:ext cx="12" cy="12"/>
              </a:xfrm>
              <a:custGeom>
                <a:avLst/>
                <a:gdLst>
                  <a:gd name="T0" fmla="*/ 12 w 12"/>
                  <a:gd name="T1" fmla="*/ 2 h 12"/>
                  <a:gd name="T2" fmla="*/ 2 w 12"/>
                  <a:gd name="T3" fmla="*/ 0 h 12"/>
                  <a:gd name="T4" fmla="*/ 0 w 12"/>
                  <a:gd name="T5" fmla="*/ 10 h 12"/>
                  <a:gd name="T6" fmla="*/ 11 w 12"/>
                  <a:gd name="T7" fmla="*/ 12 h 12"/>
                  <a:gd name="T8" fmla="*/ 12 w 12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12" y="2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11" y="12"/>
                    </a:ln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19" name="Freeform 541"/>
              <p:cNvSpPr>
                <a:spLocks/>
              </p:cNvSpPr>
              <p:nvPr/>
            </p:nvSpPr>
            <p:spPr bwMode="auto">
              <a:xfrm>
                <a:off x="2496" y="1816"/>
                <a:ext cx="11" cy="11"/>
              </a:xfrm>
              <a:custGeom>
                <a:avLst/>
                <a:gdLst>
                  <a:gd name="T0" fmla="*/ 11 w 11"/>
                  <a:gd name="T1" fmla="*/ 1 h 11"/>
                  <a:gd name="T2" fmla="*/ 1 w 11"/>
                  <a:gd name="T3" fmla="*/ 0 h 11"/>
                  <a:gd name="T4" fmla="*/ 0 w 11"/>
                  <a:gd name="T5" fmla="*/ 10 h 11"/>
                  <a:gd name="T6" fmla="*/ 10 w 11"/>
                  <a:gd name="T7" fmla="*/ 11 h 11"/>
                  <a:gd name="T8" fmla="*/ 11 w 11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11" y="1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20" name="Freeform 542"/>
              <p:cNvSpPr>
                <a:spLocks/>
              </p:cNvSpPr>
              <p:nvPr/>
            </p:nvSpPr>
            <p:spPr bwMode="auto">
              <a:xfrm>
                <a:off x="2494" y="1836"/>
                <a:ext cx="10" cy="11"/>
              </a:xfrm>
              <a:custGeom>
                <a:avLst/>
                <a:gdLst>
                  <a:gd name="T0" fmla="*/ 10 w 10"/>
                  <a:gd name="T1" fmla="*/ 1 h 11"/>
                  <a:gd name="T2" fmla="*/ 0 w 10"/>
                  <a:gd name="T3" fmla="*/ 0 h 11"/>
                  <a:gd name="T4" fmla="*/ 0 w 10"/>
                  <a:gd name="T5" fmla="*/ 10 h 11"/>
                  <a:gd name="T6" fmla="*/ 10 w 10"/>
                  <a:gd name="T7" fmla="*/ 11 h 11"/>
                  <a:gd name="T8" fmla="*/ 10 w 10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1"/>
                  <a:gd name="T17" fmla="*/ 10 w 10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1">
                    <a:moveTo>
                      <a:pt x="10" y="1"/>
                    </a:moveTo>
                    <a:lnTo>
                      <a:pt x="0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21" name="Freeform 543"/>
              <p:cNvSpPr>
                <a:spLocks/>
              </p:cNvSpPr>
              <p:nvPr/>
            </p:nvSpPr>
            <p:spPr bwMode="auto">
              <a:xfrm>
                <a:off x="2492" y="1856"/>
                <a:ext cx="11" cy="12"/>
              </a:xfrm>
              <a:custGeom>
                <a:avLst/>
                <a:gdLst>
                  <a:gd name="T0" fmla="*/ 11 w 11"/>
                  <a:gd name="T1" fmla="*/ 2 h 12"/>
                  <a:gd name="T2" fmla="*/ 1 w 11"/>
                  <a:gd name="T3" fmla="*/ 0 h 12"/>
                  <a:gd name="T4" fmla="*/ 0 w 11"/>
                  <a:gd name="T5" fmla="*/ 10 h 12"/>
                  <a:gd name="T6" fmla="*/ 10 w 11"/>
                  <a:gd name="T7" fmla="*/ 12 h 12"/>
                  <a:gd name="T8" fmla="*/ 11 w 11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11" y="2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2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22" name="Freeform 544"/>
              <p:cNvSpPr>
                <a:spLocks/>
              </p:cNvSpPr>
              <p:nvPr/>
            </p:nvSpPr>
            <p:spPr bwMode="auto">
              <a:xfrm>
                <a:off x="2491" y="1877"/>
                <a:ext cx="11" cy="10"/>
              </a:xfrm>
              <a:custGeom>
                <a:avLst/>
                <a:gdLst>
                  <a:gd name="T0" fmla="*/ 11 w 11"/>
                  <a:gd name="T1" fmla="*/ 0 h 10"/>
                  <a:gd name="T2" fmla="*/ 1 w 11"/>
                  <a:gd name="T3" fmla="*/ 0 h 10"/>
                  <a:gd name="T4" fmla="*/ 0 w 11"/>
                  <a:gd name="T5" fmla="*/ 10 h 10"/>
                  <a:gd name="T6" fmla="*/ 10 w 11"/>
                  <a:gd name="T7" fmla="*/ 10 h 10"/>
                  <a:gd name="T8" fmla="*/ 11 w 1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0"/>
                  <a:gd name="T17" fmla="*/ 11 w 1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0">
                    <a:moveTo>
                      <a:pt x="11" y="0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0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23" name="Freeform 545"/>
              <p:cNvSpPr>
                <a:spLocks/>
              </p:cNvSpPr>
              <p:nvPr/>
            </p:nvSpPr>
            <p:spPr bwMode="auto">
              <a:xfrm>
                <a:off x="2489" y="1897"/>
                <a:ext cx="12" cy="10"/>
              </a:xfrm>
              <a:custGeom>
                <a:avLst/>
                <a:gdLst>
                  <a:gd name="T0" fmla="*/ 12 w 12"/>
                  <a:gd name="T1" fmla="*/ 0 h 10"/>
                  <a:gd name="T2" fmla="*/ 2 w 12"/>
                  <a:gd name="T3" fmla="*/ 0 h 10"/>
                  <a:gd name="T4" fmla="*/ 0 w 12"/>
                  <a:gd name="T5" fmla="*/ 10 h 10"/>
                  <a:gd name="T6" fmla="*/ 10 w 12"/>
                  <a:gd name="T7" fmla="*/ 10 h 10"/>
                  <a:gd name="T8" fmla="*/ 12 w 12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0"/>
                  <a:gd name="T17" fmla="*/ 12 w 12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0">
                    <a:moveTo>
                      <a:pt x="12" y="0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10" y="1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24" name="Rectangle 546"/>
              <p:cNvSpPr>
                <a:spLocks noChangeArrowheads="1"/>
              </p:cNvSpPr>
              <p:nvPr/>
            </p:nvSpPr>
            <p:spPr bwMode="auto">
              <a:xfrm>
                <a:off x="2489" y="1917"/>
                <a:ext cx="10" cy="10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25" name="Rectangle 547"/>
              <p:cNvSpPr>
                <a:spLocks noChangeArrowheads="1"/>
              </p:cNvSpPr>
              <p:nvPr/>
            </p:nvSpPr>
            <p:spPr bwMode="auto">
              <a:xfrm>
                <a:off x="2489" y="1938"/>
                <a:ext cx="10" cy="10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26" name="Freeform 548"/>
              <p:cNvSpPr>
                <a:spLocks/>
              </p:cNvSpPr>
              <p:nvPr/>
            </p:nvSpPr>
            <p:spPr bwMode="auto">
              <a:xfrm>
                <a:off x="2489" y="1958"/>
                <a:ext cx="12" cy="10"/>
              </a:xfrm>
              <a:custGeom>
                <a:avLst/>
                <a:gdLst>
                  <a:gd name="T0" fmla="*/ 10 w 12"/>
                  <a:gd name="T1" fmla="*/ 0 h 10"/>
                  <a:gd name="T2" fmla="*/ 0 w 12"/>
                  <a:gd name="T3" fmla="*/ 0 h 10"/>
                  <a:gd name="T4" fmla="*/ 2 w 12"/>
                  <a:gd name="T5" fmla="*/ 10 h 10"/>
                  <a:gd name="T6" fmla="*/ 12 w 12"/>
                  <a:gd name="T7" fmla="*/ 10 h 10"/>
                  <a:gd name="T8" fmla="*/ 10 w 12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0"/>
                  <a:gd name="T17" fmla="*/ 12 w 12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0">
                    <a:moveTo>
                      <a:pt x="10" y="0"/>
                    </a:moveTo>
                    <a:lnTo>
                      <a:pt x="0" y="0"/>
                    </a:lnTo>
                    <a:lnTo>
                      <a:pt x="2" y="10"/>
                    </a:lnTo>
                    <a:lnTo>
                      <a:pt x="12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27" name="Freeform 549"/>
              <p:cNvSpPr>
                <a:spLocks/>
              </p:cNvSpPr>
              <p:nvPr/>
            </p:nvSpPr>
            <p:spPr bwMode="auto">
              <a:xfrm>
                <a:off x="2491" y="1978"/>
                <a:ext cx="10" cy="12"/>
              </a:xfrm>
              <a:custGeom>
                <a:avLst/>
                <a:gdLst>
                  <a:gd name="T0" fmla="*/ 10 w 10"/>
                  <a:gd name="T1" fmla="*/ 0 h 12"/>
                  <a:gd name="T2" fmla="*/ 0 w 10"/>
                  <a:gd name="T3" fmla="*/ 0 h 12"/>
                  <a:gd name="T4" fmla="*/ 0 w 10"/>
                  <a:gd name="T5" fmla="*/ 7 h 12"/>
                  <a:gd name="T6" fmla="*/ 0 w 10"/>
                  <a:gd name="T7" fmla="*/ 12 h 12"/>
                  <a:gd name="T8" fmla="*/ 10 w 10"/>
                  <a:gd name="T9" fmla="*/ 10 h 12"/>
                  <a:gd name="T10" fmla="*/ 10 w 10"/>
                  <a:gd name="T11" fmla="*/ 7 h 12"/>
                  <a:gd name="T12" fmla="*/ 10 w 10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"/>
                  <a:gd name="T22" fmla="*/ 0 h 12"/>
                  <a:gd name="T23" fmla="*/ 10 w 10"/>
                  <a:gd name="T24" fmla="*/ 12 h 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" h="12">
                    <a:moveTo>
                      <a:pt x="10" y="0"/>
                    </a:moveTo>
                    <a:lnTo>
                      <a:pt x="0" y="0"/>
                    </a:lnTo>
                    <a:lnTo>
                      <a:pt x="0" y="7"/>
                    </a:lnTo>
                    <a:lnTo>
                      <a:pt x="0" y="12"/>
                    </a:lnTo>
                    <a:lnTo>
                      <a:pt x="10" y="10"/>
                    </a:lnTo>
                    <a:lnTo>
                      <a:pt x="10" y="7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28" name="Freeform 550"/>
              <p:cNvSpPr>
                <a:spLocks/>
              </p:cNvSpPr>
              <p:nvPr/>
            </p:nvSpPr>
            <p:spPr bwMode="auto">
              <a:xfrm>
                <a:off x="2492" y="1999"/>
                <a:ext cx="10" cy="11"/>
              </a:xfrm>
              <a:custGeom>
                <a:avLst/>
                <a:gdLst>
                  <a:gd name="T0" fmla="*/ 10 w 10"/>
                  <a:gd name="T1" fmla="*/ 0 h 11"/>
                  <a:gd name="T2" fmla="*/ 0 w 10"/>
                  <a:gd name="T3" fmla="*/ 1 h 11"/>
                  <a:gd name="T4" fmla="*/ 0 w 10"/>
                  <a:gd name="T5" fmla="*/ 11 h 11"/>
                  <a:gd name="T6" fmla="*/ 10 w 10"/>
                  <a:gd name="T7" fmla="*/ 10 h 11"/>
                  <a:gd name="T8" fmla="*/ 10 w 10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1"/>
                  <a:gd name="T17" fmla="*/ 10 w 10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1">
                    <a:moveTo>
                      <a:pt x="10" y="0"/>
                    </a:moveTo>
                    <a:lnTo>
                      <a:pt x="0" y="1"/>
                    </a:lnTo>
                    <a:lnTo>
                      <a:pt x="0" y="11"/>
                    </a:lnTo>
                    <a:lnTo>
                      <a:pt x="10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29" name="Freeform 551"/>
              <p:cNvSpPr>
                <a:spLocks/>
              </p:cNvSpPr>
              <p:nvPr/>
            </p:nvSpPr>
            <p:spPr bwMode="auto">
              <a:xfrm>
                <a:off x="2493" y="2019"/>
                <a:ext cx="11" cy="11"/>
              </a:xfrm>
              <a:custGeom>
                <a:avLst/>
                <a:gdLst>
                  <a:gd name="T0" fmla="*/ 10 w 11"/>
                  <a:gd name="T1" fmla="*/ 0 h 11"/>
                  <a:gd name="T2" fmla="*/ 0 w 11"/>
                  <a:gd name="T3" fmla="*/ 1 h 11"/>
                  <a:gd name="T4" fmla="*/ 1 w 11"/>
                  <a:gd name="T5" fmla="*/ 11 h 11"/>
                  <a:gd name="T6" fmla="*/ 11 w 11"/>
                  <a:gd name="T7" fmla="*/ 10 h 11"/>
                  <a:gd name="T8" fmla="*/ 10 w 1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10" y="0"/>
                    </a:moveTo>
                    <a:lnTo>
                      <a:pt x="0" y="1"/>
                    </a:lnTo>
                    <a:lnTo>
                      <a:pt x="1" y="11"/>
                    </a:lnTo>
                    <a:lnTo>
                      <a:pt x="11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30" name="Freeform 552"/>
              <p:cNvSpPr>
                <a:spLocks/>
              </p:cNvSpPr>
              <p:nvPr/>
            </p:nvSpPr>
            <p:spPr bwMode="auto">
              <a:xfrm>
                <a:off x="2496" y="2039"/>
                <a:ext cx="11" cy="12"/>
              </a:xfrm>
              <a:custGeom>
                <a:avLst/>
                <a:gdLst>
                  <a:gd name="T0" fmla="*/ 10 w 11"/>
                  <a:gd name="T1" fmla="*/ 0 h 12"/>
                  <a:gd name="T2" fmla="*/ 0 w 11"/>
                  <a:gd name="T3" fmla="*/ 2 h 12"/>
                  <a:gd name="T4" fmla="*/ 1 w 11"/>
                  <a:gd name="T5" fmla="*/ 12 h 12"/>
                  <a:gd name="T6" fmla="*/ 11 w 11"/>
                  <a:gd name="T7" fmla="*/ 11 h 12"/>
                  <a:gd name="T8" fmla="*/ 10 w 1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10" y="0"/>
                    </a:moveTo>
                    <a:lnTo>
                      <a:pt x="0" y="2"/>
                    </a:lnTo>
                    <a:lnTo>
                      <a:pt x="1" y="12"/>
                    </a:lnTo>
                    <a:lnTo>
                      <a:pt x="11" y="11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31" name="Freeform 553"/>
              <p:cNvSpPr>
                <a:spLocks/>
              </p:cNvSpPr>
              <p:nvPr/>
            </p:nvSpPr>
            <p:spPr bwMode="auto">
              <a:xfrm>
                <a:off x="2498" y="2058"/>
                <a:ext cx="12" cy="12"/>
              </a:xfrm>
              <a:custGeom>
                <a:avLst/>
                <a:gdLst>
                  <a:gd name="T0" fmla="*/ 9 w 12"/>
                  <a:gd name="T1" fmla="*/ 0 h 12"/>
                  <a:gd name="T2" fmla="*/ 0 w 12"/>
                  <a:gd name="T3" fmla="*/ 2 h 12"/>
                  <a:gd name="T4" fmla="*/ 3 w 12"/>
                  <a:gd name="T5" fmla="*/ 12 h 12"/>
                  <a:gd name="T6" fmla="*/ 12 w 12"/>
                  <a:gd name="T7" fmla="*/ 11 h 12"/>
                  <a:gd name="T8" fmla="*/ 9 w 12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9" y="0"/>
                    </a:moveTo>
                    <a:lnTo>
                      <a:pt x="0" y="2"/>
                    </a:lnTo>
                    <a:lnTo>
                      <a:pt x="3" y="12"/>
                    </a:lnTo>
                    <a:lnTo>
                      <a:pt x="12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32" name="Freeform 554"/>
              <p:cNvSpPr>
                <a:spLocks/>
              </p:cNvSpPr>
              <p:nvPr/>
            </p:nvSpPr>
            <p:spPr bwMode="auto">
              <a:xfrm>
                <a:off x="2502" y="2079"/>
                <a:ext cx="10" cy="11"/>
              </a:xfrm>
              <a:custGeom>
                <a:avLst/>
                <a:gdLst>
                  <a:gd name="T0" fmla="*/ 9 w 10"/>
                  <a:gd name="T1" fmla="*/ 0 h 11"/>
                  <a:gd name="T2" fmla="*/ 0 w 10"/>
                  <a:gd name="T3" fmla="*/ 1 h 11"/>
                  <a:gd name="T4" fmla="*/ 0 w 10"/>
                  <a:gd name="T5" fmla="*/ 7 h 11"/>
                  <a:gd name="T6" fmla="*/ 1 w 10"/>
                  <a:gd name="T7" fmla="*/ 11 h 11"/>
                  <a:gd name="T8" fmla="*/ 10 w 10"/>
                  <a:gd name="T9" fmla="*/ 10 h 11"/>
                  <a:gd name="T10" fmla="*/ 10 w 10"/>
                  <a:gd name="T11" fmla="*/ 7 h 11"/>
                  <a:gd name="T12" fmla="*/ 9 w 10"/>
                  <a:gd name="T13" fmla="*/ 0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"/>
                  <a:gd name="T22" fmla="*/ 0 h 11"/>
                  <a:gd name="T23" fmla="*/ 10 w 10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" h="11">
                    <a:moveTo>
                      <a:pt x="9" y="0"/>
                    </a:moveTo>
                    <a:lnTo>
                      <a:pt x="0" y="1"/>
                    </a:lnTo>
                    <a:lnTo>
                      <a:pt x="0" y="7"/>
                    </a:lnTo>
                    <a:lnTo>
                      <a:pt x="1" y="11"/>
                    </a:lnTo>
                    <a:lnTo>
                      <a:pt x="10" y="10"/>
                    </a:lnTo>
                    <a:lnTo>
                      <a:pt x="10" y="7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33" name="Freeform 555"/>
              <p:cNvSpPr>
                <a:spLocks/>
              </p:cNvSpPr>
              <p:nvPr/>
            </p:nvSpPr>
            <p:spPr bwMode="auto">
              <a:xfrm>
                <a:off x="2506" y="2099"/>
                <a:ext cx="10" cy="12"/>
              </a:xfrm>
              <a:custGeom>
                <a:avLst/>
                <a:gdLst>
                  <a:gd name="T0" fmla="*/ 9 w 10"/>
                  <a:gd name="T1" fmla="*/ 0 h 12"/>
                  <a:gd name="T2" fmla="*/ 0 w 10"/>
                  <a:gd name="T3" fmla="*/ 1 h 12"/>
                  <a:gd name="T4" fmla="*/ 1 w 10"/>
                  <a:gd name="T5" fmla="*/ 12 h 12"/>
                  <a:gd name="T6" fmla="*/ 10 w 10"/>
                  <a:gd name="T7" fmla="*/ 10 h 12"/>
                  <a:gd name="T8" fmla="*/ 9 w 10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2"/>
                  <a:gd name="T17" fmla="*/ 10 w 10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2">
                    <a:moveTo>
                      <a:pt x="9" y="0"/>
                    </a:moveTo>
                    <a:lnTo>
                      <a:pt x="0" y="1"/>
                    </a:lnTo>
                    <a:lnTo>
                      <a:pt x="1" y="12"/>
                    </a:lnTo>
                    <a:lnTo>
                      <a:pt x="10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34" name="Freeform 556"/>
              <p:cNvSpPr>
                <a:spLocks/>
              </p:cNvSpPr>
              <p:nvPr/>
            </p:nvSpPr>
            <p:spPr bwMode="auto">
              <a:xfrm>
                <a:off x="2510" y="2119"/>
                <a:ext cx="10" cy="12"/>
              </a:xfrm>
              <a:custGeom>
                <a:avLst/>
                <a:gdLst>
                  <a:gd name="T0" fmla="*/ 8 w 10"/>
                  <a:gd name="T1" fmla="*/ 0 h 12"/>
                  <a:gd name="T2" fmla="*/ 0 w 10"/>
                  <a:gd name="T3" fmla="*/ 2 h 12"/>
                  <a:gd name="T4" fmla="*/ 1 w 10"/>
                  <a:gd name="T5" fmla="*/ 12 h 12"/>
                  <a:gd name="T6" fmla="*/ 10 w 10"/>
                  <a:gd name="T7" fmla="*/ 11 h 12"/>
                  <a:gd name="T8" fmla="*/ 8 w 10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2"/>
                  <a:gd name="T17" fmla="*/ 10 w 10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2">
                    <a:moveTo>
                      <a:pt x="8" y="0"/>
                    </a:moveTo>
                    <a:lnTo>
                      <a:pt x="0" y="2"/>
                    </a:lnTo>
                    <a:lnTo>
                      <a:pt x="1" y="12"/>
                    </a:lnTo>
                    <a:lnTo>
                      <a:pt x="10" y="11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35" name="Freeform 557"/>
              <p:cNvSpPr>
                <a:spLocks/>
              </p:cNvSpPr>
              <p:nvPr/>
            </p:nvSpPr>
            <p:spPr bwMode="auto">
              <a:xfrm>
                <a:off x="2513" y="2138"/>
                <a:ext cx="12" cy="12"/>
              </a:xfrm>
              <a:custGeom>
                <a:avLst/>
                <a:gdLst>
                  <a:gd name="T0" fmla="*/ 9 w 12"/>
                  <a:gd name="T1" fmla="*/ 0 h 12"/>
                  <a:gd name="T2" fmla="*/ 0 w 12"/>
                  <a:gd name="T3" fmla="*/ 2 h 12"/>
                  <a:gd name="T4" fmla="*/ 3 w 12"/>
                  <a:gd name="T5" fmla="*/ 12 h 12"/>
                  <a:gd name="T6" fmla="*/ 12 w 12"/>
                  <a:gd name="T7" fmla="*/ 11 h 12"/>
                  <a:gd name="T8" fmla="*/ 9 w 12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9" y="0"/>
                    </a:moveTo>
                    <a:lnTo>
                      <a:pt x="0" y="2"/>
                    </a:lnTo>
                    <a:lnTo>
                      <a:pt x="3" y="12"/>
                    </a:lnTo>
                    <a:lnTo>
                      <a:pt x="12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36" name="Freeform 558"/>
              <p:cNvSpPr>
                <a:spLocks/>
              </p:cNvSpPr>
              <p:nvPr/>
            </p:nvSpPr>
            <p:spPr bwMode="auto">
              <a:xfrm>
                <a:off x="2517" y="2158"/>
                <a:ext cx="12" cy="12"/>
              </a:xfrm>
              <a:custGeom>
                <a:avLst/>
                <a:gdLst>
                  <a:gd name="T0" fmla="*/ 9 w 12"/>
                  <a:gd name="T1" fmla="*/ 0 h 12"/>
                  <a:gd name="T2" fmla="*/ 0 w 12"/>
                  <a:gd name="T3" fmla="*/ 2 h 12"/>
                  <a:gd name="T4" fmla="*/ 3 w 12"/>
                  <a:gd name="T5" fmla="*/ 12 h 12"/>
                  <a:gd name="T6" fmla="*/ 12 w 12"/>
                  <a:gd name="T7" fmla="*/ 10 h 12"/>
                  <a:gd name="T8" fmla="*/ 9 w 12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9" y="0"/>
                    </a:moveTo>
                    <a:lnTo>
                      <a:pt x="0" y="2"/>
                    </a:lnTo>
                    <a:lnTo>
                      <a:pt x="3" y="12"/>
                    </a:lnTo>
                    <a:lnTo>
                      <a:pt x="12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37" name="Freeform 559"/>
              <p:cNvSpPr>
                <a:spLocks/>
              </p:cNvSpPr>
              <p:nvPr/>
            </p:nvSpPr>
            <p:spPr bwMode="auto">
              <a:xfrm>
                <a:off x="2522" y="2178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2 h 13"/>
                  <a:gd name="T4" fmla="*/ 3 w 12"/>
                  <a:gd name="T5" fmla="*/ 13 h 13"/>
                  <a:gd name="T6" fmla="*/ 12 w 12"/>
                  <a:gd name="T7" fmla="*/ 10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2"/>
                    </a:lnTo>
                    <a:lnTo>
                      <a:pt x="3" y="13"/>
                    </a:lnTo>
                    <a:lnTo>
                      <a:pt x="12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38" name="Freeform 560"/>
              <p:cNvSpPr>
                <a:spLocks/>
              </p:cNvSpPr>
              <p:nvPr/>
            </p:nvSpPr>
            <p:spPr bwMode="auto">
              <a:xfrm>
                <a:off x="2527" y="2197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3 h 13"/>
                  <a:gd name="T4" fmla="*/ 3 w 12"/>
                  <a:gd name="T5" fmla="*/ 13 h 13"/>
                  <a:gd name="T6" fmla="*/ 12 w 12"/>
                  <a:gd name="T7" fmla="*/ 10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3"/>
                    </a:lnTo>
                    <a:lnTo>
                      <a:pt x="3" y="13"/>
                    </a:lnTo>
                    <a:lnTo>
                      <a:pt x="12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39" name="Freeform 561"/>
              <p:cNvSpPr>
                <a:spLocks/>
              </p:cNvSpPr>
              <p:nvPr/>
            </p:nvSpPr>
            <p:spPr bwMode="auto">
              <a:xfrm>
                <a:off x="2532" y="2217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3 h 13"/>
                  <a:gd name="T4" fmla="*/ 2 w 13"/>
                  <a:gd name="T5" fmla="*/ 4 h 13"/>
                  <a:gd name="T6" fmla="*/ 4 w 13"/>
                  <a:gd name="T7" fmla="*/ 13 h 13"/>
                  <a:gd name="T8" fmla="*/ 13 w 13"/>
                  <a:gd name="T9" fmla="*/ 10 h 13"/>
                  <a:gd name="T10" fmla="*/ 12 w 13"/>
                  <a:gd name="T11" fmla="*/ 4 h 13"/>
                  <a:gd name="T12" fmla="*/ 9 w 13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"/>
                  <a:gd name="T22" fmla="*/ 0 h 13"/>
                  <a:gd name="T23" fmla="*/ 13 w 13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" h="13">
                    <a:moveTo>
                      <a:pt x="9" y="0"/>
                    </a:moveTo>
                    <a:lnTo>
                      <a:pt x="0" y="3"/>
                    </a:lnTo>
                    <a:lnTo>
                      <a:pt x="2" y="4"/>
                    </a:lnTo>
                    <a:lnTo>
                      <a:pt x="4" y="13"/>
                    </a:lnTo>
                    <a:lnTo>
                      <a:pt x="13" y="10"/>
                    </a:lnTo>
                    <a:lnTo>
                      <a:pt x="12" y="4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40" name="Freeform 562"/>
              <p:cNvSpPr>
                <a:spLocks/>
              </p:cNvSpPr>
              <p:nvPr/>
            </p:nvSpPr>
            <p:spPr bwMode="auto">
              <a:xfrm>
                <a:off x="2539" y="2236"/>
                <a:ext cx="11" cy="13"/>
              </a:xfrm>
              <a:custGeom>
                <a:avLst/>
                <a:gdLst>
                  <a:gd name="T0" fmla="*/ 9 w 11"/>
                  <a:gd name="T1" fmla="*/ 0 h 13"/>
                  <a:gd name="T2" fmla="*/ 0 w 11"/>
                  <a:gd name="T3" fmla="*/ 3 h 13"/>
                  <a:gd name="T4" fmla="*/ 2 w 11"/>
                  <a:gd name="T5" fmla="*/ 13 h 13"/>
                  <a:gd name="T6" fmla="*/ 11 w 11"/>
                  <a:gd name="T7" fmla="*/ 11 h 13"/>
                  <a:gd name="T8" fmla="*/ 9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9" y="0"/>
                    </a:moveTo>
                    <a:lnTo>
                      <a:pt x="0" y="3"/>
                    </a:lnTo>
                    <a:lnTo>
                      <a:pt x="2" y="13"/>
                    </a:lnTo>
                    <a:lnTo>
                      <a:pt x="11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41" name="Freeform 563"/>
              <p:cNvSpPr>
                <a:spLocks/>
              </p:cNvSpPr>
              <p:nvPr/>
            </p:nvSpPr>
            <p:spPr bwMode="auto">
              <a:xfrm>
                <a:off x="2545" y="2257"/>
                <a:ext cx="12" cy="11"/>
              </a:xfrm>
              <a:custGeom>
                <a:avLst/>
                <a:gdLst>
                  <a:gd name="T0" fmla="*/ 9 w 12"/>
                  <a:gd name="T1" fmla="*/ 0 h 11"/>
                  <a:gd name="T2" fmla="*/ 0 w 12"/>
                  <a:gd name="T3" fmla="*/ 2 h 11"/>
                  <a:gd name="T4" fmla="*/ 3 w 12"/>
                  <a:gd name="T5" fmla="*/ 11 h 11"/>
                  <a:gd name="T6" fmla="*/ 12 w 12"/>
                  <a:gd name="T7" fmla="*/ 9 h 11"/>
                  <a:gd name="T8" fmla="*/ 9 w 12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9" y="0"/>
                    </a:moveTo>
                    <a:lnTo>
                      <a:pt x="0" y="2"/>
                    </a:lnTo>
                    <a:lnTo>
                      <a:pt x="3" y="11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42" name="Freeform 564"/>
              <p:cNvSpPr>
                <a:spLocks/>
              </p:cNvSpPr>
              <p:nvPr/>
            </p:nvSpPr>
            <p:spPr bwMode="auto">
              <a:xfrm>
                <a:off x="2551" y="2276"/>
                <a:ext cx="12" cy="11"/>
              </a:xfrm>
              <a:custGeom>
                <a:avLst/>
                <a:gdLst>
                  <a:gd name="T0" fmla="*/ 9 w 12"/>
                  <a:gd name="T1" fmla="*/ 0 h 11"/>
                  <a:gd name="T2" fmla="*/ 0 w 12"/>
                  <a:gd name="T3" fmla="*/ 2 h 11"/>
                  <a:gd name="T4" fmla="*/ 3 w 12"/>
                  <a:gd name="T5" fmla="*/ 11 h 11"/>
                  <a:gd name="T6" fmla="*/ 12 w 12"/>
                  <a:gd name="T7" fmla="*/ 9 h 11"/>
                  <a:gd name="T8" fmla="*/ 9 w 12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9" y="0"/>
                    </a:moveTo>
                    <a:lnTo>
                      <a:pt x="0" y="2"/>
                    </a:lnTo>
                    <a:lnTo>
                      <a:pt x="3" y="11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43" name="Freeform 565"/>
              <p:cNvSpPr>
                <a:spLocks/>
              </p:cNvSpPr>
              <p:nvPr/>
            </p:nvSpPr>
            <p:spPr bwMode="auto">
              <a:xfrm>
                <a:off x="2557" y="2295"/>
                <a:ext cx="12" cy="13"/>
              </a:xfrm>
              <a:custGeom>
                <a:avLst/>
                <a:gdLst>
                  <a:gd name="T0" fmla="*/ 8 w 12"/>
                  <a:gd name="T1" fmla="*/ 0 h 13"/>
                  <a:gd name="T2" fmla="*/ 0 w 12"/>
                  <a:gd name="T3" fmla="*/ 2 h 13"/>
                  <a:gd name="T4" fmla="*/ 3 w 12"/>
                  <a:gd name="T5" fmla="*/ 13 h 13"/>
                  <a:gd name="T6" fmla="*/ 12 w 12"/>
                  <a:gd name="T7" fmla="*/ 10 h 13"/>
                  <a:gd name="T8" fmla="*/ 8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8" y="0"/>
                    </a:moveTo>
                    <a:lnTo>
                      <a:pt x="0" y="2"/>
                    </a:lnTo>
                    <a:lnTo>
                      <a:pt x="3" y="13"/>
                    </a:lnTo>
                    <a:lnTo>
                      <a:pt x="12" y="1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44" name="Freeform 566"/>
              <p:cNvSpPr>
                <a:spLocks/>
              </p:cNvSpPr>
              <p:nvPr/>
            </p:nvSpPr>
            <p:spPr bwMode="auto">
              <a:xfrm>
                <a:off x="2564" y="2314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2 h 13"/>
                  <a:gd name="T4" fmla="*/ 3 w 12"/>
                  <a:gd name="T5" fmla="*/ 13 h 13"/>
                  <a:gd name="T6" fmla="*/ 12 w 12"/>
                  <a:gd name="T7" fmla="*/ 10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2"/>
                    </a:lnTo>
                    <a:lnTo>
                      <a:pt x="3" y="13"/>
                    </a:lnTo>
                    <a:lnTo>
                      <a:pt x="12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45" name="Freeform 567"/>
              <p:cNvSpPr>
                <a:spLocks/>
              </p:cNvSpPr>
              <p:nvPr/>
            </p:nvSpPr>
            <p:spPr bwMode="auto">
              <a:xfrm>
                <a:off x="2570" y="2333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3 h 13"/>
                  <a:gd name="T4" fmla="*/ 4 w 13"/>
                  <a:gd name="T5" fmla="*/ 13 h 13"/>
                  <a:gd name="T6" fmla="*/ 13 w 13"/>
                  <a:gd name="T7" fmla="*/ 10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3"/>
                    </a:lnTo>
                    <a:lnTo>
                      <a:pt x="4" y="13"/>
                    </a:lnTo>
                    <a:lnTo>
                      <a:pt x="13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46" name="Freeform 568"/>
              <p:cNvSpPr>
                <a:spLocks/>
              </p:cNvSpPr>
              <p:nvPr/>
            </p:nvSpPr>
            <p:spPr bwMode="auto">
              <a:xfrm>
                <a:off x="2577" y="2352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3 h 13"/>
                  <a:gd name="T4" fmla="*/ 1 w 13"/>
                  <a:gd name="T5" fmla="*/ 5 h 13"/>
                  <a:gd name="T6" fmla="*/ 4 w 13"/>
                  <a:gd name="T7" fmla="*/ 13 h 13"/>
                  <a:gd name="T8" fmla="*/ 13 w 13"/>
                  <a:gd name="T9" fmla="*/ 9 h 13"/>
                  <a:gd name="T10" fmla="*/ 11 w 13"/>
                  <a:gd name="T11" fmla="*/ 5 h 13"/>
                  <a:gd name="T12" fmla="*/ 9 w 13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"/>
                  <a:gd name="T22" fmla="*/ 0 h 13"/>
                  <a:gd name="T23" fmla="*/ 13 w 13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" h="13">
                    <a:moveTo>
                      <a:pt x="9" y="0"/>
                    </a:moveTo>
                    <a:lnTo>
                      <a:pt x="0" y="3"/>
                    </a:lnTo>
                    <a:lnTo>
                      <a:pt x="1" y="5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11" y="5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47" name="Freeform 569"/>
              <p:cNvSpPr>
                <a:spLocks/>
              </p:cNvSpPr>
              <p:nvPr/>
            </p:nvSpPr>
            <p:spPr bwMode="auto">
              <a:xfrm>
                <a:off x="2584" y="2371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4 h 13"/>
                  <a:gd name="T4" fmla="*/ 4 w 13"/>
                  <a:gd name="T5" fmla="*/ 13 h 13"/>
                  <a:gd name="T6" fmla="*/ 13 w 13"/>
                  <a:gd name="T7" fmla="*/ 9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48" name="Freeform 570"/>
              <p:cNvSpPr>
                <a:spLocks/>
              </p:cNvSpPr>
              <p:nvPr/>
            </p:nvSpPr>
            <p:spPr bwMode="auto">
              <a:xfrm>
                <a:off x="2592" y="2390"/>
                <a:ext cx="11" cy="13"/>
              </a:xfrm>
              <a:custGeom>
                <a:avLst/>
                <a:gdLst>
                  <a:gd name="T0" fmla="*/ 9 w 11"/>
                  <a:gd name="T1" fmla="*/ 0 h 13"/>
                  <a:gd name="T2" fmla="*/ 0 w 11"/>
                  <a:gd name="T3" fmla="*/ 4 h 13"/>
                  <a:gd name="T4" fmla="*/ 3 w 11"/>
                  <a:gd name="T5" fmla="*/ 13 h 13"/>
                  <a:gd name="T6" fmla="*/ 11 w 11"/>
                  <a:gd name="T7" fmla="*/ 9 h 13"/>
                  <a:gd name="T8" fmla="*/ 9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9" y="0"/>
                    </a:moveTo>
                    <a:lnTo>
                      <a:pt x="0" y="4"/>
                    </a:lnTo>
                    <a:lnTo>
                      <a:pt x="3" y="13"/>
                    </a:lnTo>
                    <a:lnTo>
                      <a:pt x="11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49" name="Freeform 571"/>
              <p:cNvSpPr>
                <a:spLocks/>
              </p:cNvSpPr>
              <p:nvPr/>
            </p:nvSpPr>
            <p:spPr bwMode="auto">
              <a:xfrm>
                <a:off x="2598" y="2409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4 h 13"/>
                  <a:gd name="T4" fmla="*/ 4 w 13"/>
                  <a:gd name="T5" fmla="*/ 13 h 13"/>
                  <a:gd name="T6" fmla="*/ 13 w 13"/>
                  <a:gd name="T7" fmla="*/ 9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50" name="Freeform 572"/>
              <p:cNvSpPr>
                <a:spLocks/>
              </p:cNvSpPr>
              <p:nvPr/>
            </p:nvSpPr>
            <p:spPr bwMode="auto">
              <a:xfrm>
                <a:off x="2606" y="2428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4 h 13"/>
                  <a:gd name="T4" fmla="*/ 4 w 13"/>
                  <a:gd name="T5" fmla="*/ 13 h 13"/>
                  <a:gd name="T6" fmla="*/ 13 w 13"/>
                  <a:gd name="T7" fmla="*/ 9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51" name="Freeform 573"/>
              <p:cNvSpPr>
                <a:spLocks/>
              </p:cNvSpPr>
              <p:nvPr/>
            </p:nvSpPr>
            <p:spPr bwMode="auto">
              <a:xfrm>
                <a:off x="2614" y="2447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4 h 13"/>
                  <a:gd name="T4" fmla="*/ 3 w 12"/>
                  <a:gd name="T5" fmla="*/ 13 h 13"/>
                  <a:gd name="T6" fmla="*/ 12 w 12"/>
                  <a:gd name="T7" fmla="*/ 9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4"/>
                    </a:lnTo>
                    <a:lnTo>
                      <a:pt x="3" y="13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52" name="Freeform 574"/>
              <p:cNvSpPr>
                <a:spLocks/>
              </p:cNvSpPr>
              <p:nvPr/>
            </p:nvSpPr>
            <p:spPr bwMode="auto">
              <a:xfrm>
                <a:off x="2621" y="2465"/>
                <a:ext cx="13" cy="14"/>
              </a:xfrm>
              <a:custGeom>
                <a:avLst/>
                <a:gdLst>
                  <a:gd name="T0" fmla="*/ 9 w 13"/>
                  <a:gd name="T1" fmla="*/ 0 h 14"/>
                  <a:gd name="T2" fmla="*/ 0 w 13"/>
                  <a:gd name="T3" fmla="*/ 4 h 14"/>
                  <a:gd name="T4" fmla="*/ 4 w 13"/>
                  <a:gd name="T5" fmla="*/ 14 h 14"/>
                  <a:gd name="T6" fmla="*/ 13 w 13"/>
                  <a:gd name="T7" fmla="*/ 10 h 14"/>
                  <a:gd name="T8" fmla="*/ 9 w 13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4"/>
                  <a:gd name="T17" fmla="*/ 13 w 13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4">
                    <a:moveTo>
                      <a:pt x="9" y="0"/>
                    </a:moveTo>
                    <a:lnTo>
                      <a:pt x="0" y="4"/>
                    </a:lnTo>
                    <a:lnTo>
                      <a:pt x="4" y="14"/>
                    </a:lnTo>
                    <a:lnTo>
                      <a:pt x="13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53" name="Freeform 575"/>
              <p:cNvSpPr>
                <a:spLocks/>
              </p:cNvSpPr>
              <p:nvPr/>
            </p:nvSpPr>
            <p:spPr bwMode="auto">
              <a:xfrm>
                <a:off x="2629" y="2484"/>
                <a:ext cx="11" cy="10"/>
              </a:xfrm>
              <a:custGeom>
                <a:avLst/>
                <a:gdLst>
                  <a:gd name="T0" fmla="*/ 9 w 11"/>
                  <a:gd name="T1" fmla="*/ 0 h 10"/>
                  <a:gd name="T2" fmla="*/ 0 w 11"/>
                  <a:gd name="T3" fmla="*/ 4 h 10"/>
                  <a:gd name="T4" fmla="*/ 2 w 11"/>
                  <a:gd name="T5" fmla="*/ 10 h 10"/>
                  <a:gd name="T6" fmla="*/ 11 w 11"/>
                  <a:gd name="T7" fmla="*/ 7 h 10"/>
                  <a:gd name="T8" fmla="*/ 9 w 1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0"/>
                  <a:gd name="T17" fmla="*/ 11 w 1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0">
                    <a:moveTo>
                      <a:pt x="9" y="0"/>
                    </a:moveTo>
                    <a:lnTo>
                      <a:pt x="0" y="4"/>
                    </a:lnTo>
                    <a:lnTo>
                      <a:pt x="2" y="10"/>
                    </a:lnTo>
                    <a:lnTo>
                      <a:pt x="11" y="7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54" name="Freeform 576"/>
              <p:cNvSpPr>
                <a:spLocks/>
              </p:cNvSpPr>
              <p:nvPr/>
            </p:nvSpPr>
            <p:spPr bwMode="auto">
              <a:xfrm>
                <a:off x="2595" y="2475"/>
                <a:ext cx="78" cy="96"/>
              </a:xfrm>
              <a:custGeom>
                <a:avLst/>
                <a:gdLst>
                  <a:gd name="T0" fmla="*/ 0 w 78"/>
                  <a:gd name="T1" fmla="*/ 33 h 96"/>
                  <a:gd name="T2" fmla="*/ 72 w 78"/>
                  <a:gd name="T3" fmla="*/ 96 h 96"/>
                  <a:gd name="T4" fmla="*/ 78 w 78"/>
                  <a:gd name="T5" fmla="*/ 0 h 96"/>
                  <a:gd name="T6" fmla="*/ 0 w 78"/>
                  <a:gd name="T7" fmla="*/ 33 h 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8"/>
                  <a:gd name="T13" fmla="*/ 0 h 96"/>
                  <a:gd name="T14" fmla="*/ 78 w 78"/>
                  <a:gd name="T15" fmla="*/ 96 h 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8" h="96">
                    <a:moveTo>
                      <a:pt x="0" y="33"/>
                    </a:moveTo>
                    <a:lnTo>
                      <a:pt x="72" y="96"/>
                    </a:lnTo>
                    <a:lnTo>
                      <a:pt x="78" y="0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52" name="Group 577"/>
            <p:cNvGrpSpPr>
              <a:grpSpLocks/>
            </p:cNvGrpSpPr>
            <p:nvPr/>
          </p:nvGrpSpPr>
          <p:grpSpPr bwMode="auto">
            <a:xfrm>
              <a:off x="2378" y="1329"/>
              <a:ext cx="184" cy="1242"/>
              <a:chOff x="2378" y="1329"/>
              <a:chExt cx="184" cy="1242"/>
            </a:xfrm>
          </p:grpSpPr>
          <p:sp>
            <p:nvSpPr>
              <p:cNvPr id="103533" name="Freeform 578"/>
              <p:cNvSpPr>
                <a:spLocks/>
              </p:cNvSpPr>
              <p:nvPr/>
            </p:nvSpPr>
            <p:spPr bwMode="auto">
              <a:xfrm>
                <a:off x="2527" y="1329"/>
                <a:ext cx="13" cy="12"/>
              </a:xfrm>
              <a:custGeom>
                <a:avLst/>
                <a:gdLst>
                  <a:gd name="T0" fmla="*/ 13 w 13"/>
                  <a:gd name="T1" fmla="*/ 4 h 12"/>
                  <a:gd name="T2" fmla="*/ 4 w 13"/>
                  <a:gd name="T3" fmla="*/ 0 h 12"/>
                  <a:gd name="T4" fmla="*/ 0 w 13"/>
                  <a:gd name="T5" fmla="*/ 9 h 12"/>
                  <a:gd name="T6" fmla="*/ 9 w 13"/>
                  <a:gd name="T7" fmla="*/ 12 h 12"/>
                  <a:gd name="T8" fmla="*/ 13 w 13"/>
                  <a:gd name="T9" fmla="*/ 4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2"/>
                  <a:gd name="T17" fmla="*/ 13 w 13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2">
                    <a:moveTo>
                      <a:pt x="13" y="4"/>
                    </a:moveTo>
                    <a:lnTo>
                      <a:pt x="4" y="0"/>
                    </a:lnTo>
                    <a:lnTo>
                      <a:pt x="0" y="9"/>
                    </a:lnTo>
                    <a:lnTo>
                      <a:pt x="9" y="12"/>
                    </a:lnTo>
                    <a:lnTo>
                      <a:pt x="13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34" name="Freeform 579"/>
              <p:cNvSpPr>
                <a:spLocks/>
              </p:cNvSpPr>
              <p:nvPr/>
            </p:nvSpPr>
            <p:spPr bwMode="auto">
              <a:xfrm>
                <a:off x="2520" y="1347"/>
                <a:ext cx="12" cy="14"/>
              </a:xfrm>
              <a:custGeom>
                <a:avLst/>
                <a:gdLst>
                  <a:gd name="T0" fmla="*/ 12 w 12"/>
                  <a:gd name="T1" fmla="*/ 3 h 14"/>
                  <a:gd name="T2" fmla="*/ 4 w 12"/>
                  <a:gd name="T3" fmla="*/ 0 h 14"/>
                  <a:gd name="T4" fmla="*/ 0 w 12"/>
                  <a:gd name="T5" fmla="*/ 10 h 14"/>
                  <a:gd name="T6" fmla="*/ 9 w 12"/>
                  <a:gd name="T7" fmla="*/ 14 h 14"/>
                  <a:gd name="T8" fmla="*/ 12 w 12"/>
                  <a:gd name="T9" fmla="*/ 3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12" y="3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35" name="Freeform 580"/>
              <p:cNvSpPr>
                <a:spLocks/>
              </p:cNvSpPr>
              <p:nvPr/>
            </p:nvSpPr>
            <p:spPr bwMode="auto">
              <a:xfrm>
                <a:off x="2512" y="1366"/>
                <a:ext cx="13" cy="14"/>
              </a:xfrm>
              <a:custGeom>
                <a:avLst/>
                <a:gdLst>
                  <a:gd name="T0" fmla="*/ 13 w 13"/>
                  <a:gd name="T1" fmla="*/ 3 h 14"/>
                  <a:gd name="T2" fmla="*/ 4 w 13"/>
                  <a:gd name="T3" fmla="*/ 0 h 14"/>
                  <a:gd name="T4" fmla="*/ 0 w 13"/>
                  <a:gd name="T5" fmla="*/ 10 h 14"/>
                  <a:gd name="T6" fmla="*/ 9 w 13"/>
                  <a:gd name="T7" fmla="*/ 14 h 14"/>
                  <a:gd name="T8" fmla="*/ 13 w 13"/>
                  <a:gd name="T9" fmla="*/ 3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4"/>
                  <a:gd name="T17" fmla="*/ 13 w 13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4">
                    <a:moveTo>
                      <a:pt x="13" y="3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3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36" name="Freeform 581"/>
              <p:cNvSpPr>
                <a:spLocks/>
              </p:cNvSpPr>
              <p:nvPr/>
            </p:nvSpPr>
            <p:spPr bwMode="auto">
              <a:xfrm>
                <a:off x="2506" y="1385"/>
                <a:ext cx="11" cy="14"/>
              </a:xfrm>
              <a:custGeom>
                <a:avLst/>
                <a:gdLst>
                  <a:gd name="T0" fmla="*/ 11 w 11"/>
                  <a:gd name="T1" fmla="*/ 4 h 14"/>
                  <a:gd name="T2" fmla="*/ 2 w 11"/>
                  <a:gd name="T3" fmla="*/ 0 h 14"/>
                  <a:gd name="T4" fmla="*/ 0 w 11"/>
                  <a:gd name="T5" fmla="*/ 10 h 14"/>
                  <a:gd name="T6" fmla="*/ 9 w 11"/>
                  <a:gd name="T7" fmla="*/ 14 h 14"/>
                  <a:gd name="T8" fmla="*/ 11 w 11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4"/>
                  <a:gd name="T17" fmla="*/ 11 w 11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4">
                    <a:moveTo>
                      <a:pt x="11" y="4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1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37" name="Freeform 582"/>
              <p:cNvSpPr>
                <a:spLocks/>
              </p:cNvSpPr>
              <p:nvPr/>
            </p:nvSpPr>
            <p:spPr bwMode="auto">
              <a:xfrm>
                <a:off x="2498" y="1404"/>
                <a:ext cx="13" cy="14"/>
              </a:xfrm>
              <a:custGeom>
                <a:avLst/>
                <a:gdLst>
                  <a:gd name="T0" fmla="*/ 13 w 13"/>
                  <a:gd name="T1" fmla="*/ 4 h 14"/>
                  <a:gd name="T2" fmla="*/ 4 w 13"/>
                  <a:gd name="T3" fmla="*/ 0 h 14"/>
                  <a:gd name="T4" fmla="*/ 3 w 13"/>
                  <a:gd name="T5" fmla="*/ 4 h 14"/>
                  <a:gd name="T6" fmla="*/ 0 w 13"/>
                  <a:gd name="T7" fmla="*/ 10 h 14"/>
                  <a:gd name="T8" fmla="*/ 9 w 13"/>
                  <a:gd name="T9" fmla="*/ 14 h 14"/>
                  <a:gd name="T10" fmla="*/ 13 w 13"/>
                  <a:gd name="T11" fmla="*/ 4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"/>
                  <a:gd name="T19" fmla="*/ 0 h 14"/>
                  <a:gd name="T20" fmla="*/ 13 w 13"/>
                  <a:gd name="T21" fmla="*/ 14 h 1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" h="14">
                    <a:moveTo>
                      <a:pt x="13" y="4"/>
                    </a:moveTo>
                    <a:lnTo>
                      <a:pt x="4" y="0"/>
                    </a:lnTo>
                    <a:lnTo>
                      <a:pt x="3" y="4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3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38" name="Freeform 583"/>
              <p:cNvSpPr>
                <a:spLocks/>
              </p:cNvSpPr>
              <p:nvPr/>
            </p:nvSpPr>
            <p:spPr bwMode="auto">
              <a:xfrm>
                <a:off x="2492" y="1423"/>
                <a:ext cx="11" cy="14"/>
              </a:xfrm>
              <a:custGeom>
                <a:avLst/>
                <a:gdLst>
                  <a:gd name="T0" fmla="*/ 11 w 11"/>
                  <a:gd name="T1" fmla="*/ 4 h 14"/>
                  <a:gd name="T2" fmla="*/ 2 w 11"/>
                  <a:gd name="T3" fmla="*/ 0 h 14"/>
                  <a:gd name="T4" fmla="*/ 0 w 11"/>
                  <a:gd name="T5" fmla="*/ 10 h 14"/>
                  <a:gd name="T6" fmla="*/ 9 w 11"/>
                  <a:gd name="T7" fmla="*/ 14 h 14"/>
                  <a:gd name="T8" fmla="*/ 11 w 11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4"/>
                  <a:gd name="T17" fmla="*/ 11 w 11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4">
                    <a:moveTo>
                      <a:pt x="11" y="4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1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39" name="Freeform 584"/>
              <p:cNvSpPr>
                <a:spLocks/>
              </p:cNvSpPr>
              <p:nvPr/>
            </p:nvSpPr>
            <p:spPr bwMode="auto">
              <a:xfrm>
                <a:off x="2484" y="1442"/>
                <a:ext cx="13" cy="14"/>
              </a:xfrm>
              <a:custGeom>
                <a:avLst/>
                <a:gdLst>
                  <a:gd name="T0" fmla="*/ 13 w 13"/>
                  <a:gd name="T1" fmla="*/ 4 h 14"/>
                  <a:gd name="T2" fmla="*/ 4 w 13"/>
                  <a:gd name="T3" fmla="*/ 0 h 14"/>
                  <a:gd name="T4" fmla="*/ 0 w 13"/>
                  <a:gd name="T5" fmla="*/ 10 h 14"/>
                  <a:gd name="T6" fmla="*/ 9 w 13"/>
                  <a:gd name="T7" fmla="*/ 14 h 14"/>
                  <a:gd name="T8" fmla="*/ 13 w 13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4"/>
                  <a:gd name="T17" fmla="*/ 13 w 13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4">
                    <a:moveTo>
                      <a:pt x="13" y="4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3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40" name="Freeform 585"/>
              <p:cNvSpPr>
                <a:spLocks/>
              </p:cNvSpPr>
              <p:nvPr/>
            </p:nvSpPr>
            <p:spPr bwMode="auto">
              <a:xfrm>
                <a:off x="2478" y="1461"/>
                <a:ext cx="11" cy="14"/>
              </a:xfrm>
              <a:custGeom>
                <a:avLst/>
                <a:gdLst>
                  <a:gd name="T0" fmla="*/ 11 w 11"/>
                  <a:gd name="T1" fmla="*/ 4 h 14"/>
                  <a:gd name="T2" fmla="*/ 2 w 11"/>
                  <a:gd name="T3" fmla="*/ 0 h 14"/>
                  <a:gd name="T4" fmla="*/ 0 w 11"/>
                  <a:gd name="T5" fmla="*/ 10 h 14"/>
                  <a:gd name="T6" fmla="*/ 9 w 11"/>
                  <a:gd name="T7" fmla="*/ 14 h 14"/>
                  <a:gd name="T8" fmla="*/ 11 w 11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4"/>
                  <a:gd name="T17" fmla="*/ 11 w 11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4">
                    <a:moveTo>
                      <a:pt x="11" y="4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1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41" name="Freeform 586"/>
              <p:cNvSpPr>
                <a:spLocks/>
              </p:cNvSpPr>
              <p:nvPr/>
            </p:nvSpPr>
            <p:spPr bwMode="auto">
              <a:xfrm>
                <a:off x="2470" y="1480"/>
                <a:ext cx="13" cy="14"/>
              </a:xfrm>
              <a:custGeom>
                <a:avLst/>
                <a:gdLst>
                  <a:gd name="T0" fmla="*/ 13 w 13"/>
                  <a:gd name="T1" fmla="*/ 4 h 14"/>
                  <a:gd name="T2" fmla="*/ 4 w 13"/>
                  <a:gd name="T3" fmla="*/ 0 h 14"/>
                  <a:gd name="T4" fmla="*/ 3 w 13"/>
                  <a:gd name="T5" fmla="*/ 5 h 14"/>
                  <a:gd name="T6" fmla="*/ 0 w 13"/>
                  <a:gd name="T7" fmla="*/ 11 h 14"/>
                  <a:gd name="T8" fmla="*/ 9 w 13"/>
                  <a:gd name="T9" fmla="*/ 14 h 14"/>
                  <a:gd name="T10" fmla="*/ 13 w 13"/>
                  <a:gd name="T11" fmla="*/ 5 h 14"/>
                  <a:gd name="T12" fmla="*/ 13 w 13"/>
                  <a:gd name="T13" fmla="*/ 4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"/>
                  <a:gd name="T22" fmla="*/ 0 h 14"/>
                  <a:gd name="T23" fmla="*/ 13 w 13"/>
                  <a:gd name="T24" fmla="*/ 14 h 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" h="14">
                    <a:moveTo>
                      <a:pt x="13" y="4"/>
                    </a:moveTo>
                    <a:lnTo>
                      <a:pt x="4" y="0"/>
                    </a:lnTo>
                    <a:lnTo>
                      <a:pt x="3" y="5"/>
                    </a:lnTo>
                    <a:lnTo>
                      <a:pt x="0" y="11"/>
                    </a:lnTo>
                    <a:lnTo>
                      <a:pt x="9" y="14"/>
                    </a:lnTo>
                    <a:lnTo>
                      <a:pt x="13" y="5"/>
                    </a:lnTo>
                    <a:lnTo>
                      <a:pt x="13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42" name="Freeform 587"/>
              <p:cNvSpPr>
                <a:spLocks/>
              </p:cNvSpPr>
              <p:nvPr/>
            </p:nvSpPr>
            <p:spPr bwMode="auto">
              <a:xfrm>
                <a:off x="2464" y="1500"/>
                <a:ext cx="13" cy="13"/>
              </a:xfrm>
              <a:custGeom>
                <a:avLst/>
                <a:gdLst>
                  <a:gd name="T0" fmla="*/ 13 w 13"/>
                  <a:gd name="T1" fmla="*/ 3 h 13"/>
                  <a:gd name="T2" fmla="*/ 4 w 13"/>
                  <a:gd name="T3" fmla="*/ 0 h 13"/>
                  <a:gd name="T4" fmla="*/ 0 w 13"/>
                  <a:gd name="T5" fmla="*/ 11 h 13"/>
                  <a:gd name="T6" fmla="*/ 9 w 13"/>
                  <a:gd name="T7" fmla="*/ 13 h 13"/>
                  <a:gd name="T8" fmla="*/ 13 w 13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13" y="3"/>
                    </a:moveTo>
                    <a:lnTo>
                      <a:pt x="4" y="0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3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43" name="Freeform 588"/>
              <p:cNvSpPr>
                <a:spLocks/>
              </p:cNvSpPr>
              <p:nvPr/>
            </p:nvSpPr>
            <p:spPr bwMode="auto">
              <a:xfrm>
                <a:off x="2458" y="1519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2 w 11"/>
                  <a:gd name="T3" fmla="*/ 0 h 13"/>
                  <a:gd name="T4" fmla="*/ 0 w 11"/>
                  <a:gd name="T5" fmla="*/ 11 h 13"/>
                  <a:gd name="T6" fmla="*/ 8 w 11"/>
                  <a:gd name="T7" fmla="*/ 13 h 13"/>
                  <a:gd name="T8" fmla="*/ 11 w 11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3"/>
                    </a:moveTo>
                    <a:lnTo>
                      <a:pt x="2" y="0"/>
                    </a:lnTo>
                    <a:lnTo>
                      <a:pt x="0" y="11"/>
                    </a:lnTo>
                    <a:lnTo>
                      <a:pt x="8" y="13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44" name="Freeform 589"/>
              <p:cNvSpPr>
                <a:spLocks/>
              </p:cNvSpPr>
              <p:nvPr/>
            </p:nvSpPr>
            <p:spPr bwMode="auto">
              <a:xfrm>
                <a:off x="2451" y="1539"/>
                <a:ext cx="12" cy="12"/>
              </a:xfrm>
              <a:custGeom>
                <a:avLst/>
                <a:gdLst>
                  <a:gd name="T0" fmla="*/ 12 w 12"/>
                  <a:gd name="T1" fmla="*/ 2 h 12"/>
                  <a:gd name="T2" fmla="*/ 3 w 12"/>
                  <a:gd name="T3" fmla="*/ 0 h 12"/>
                  <a:gd name="T4" fmla="*/ 0 w 12"/>
                  <a:gd name="T5" fmla="*/ 10 h 12"/>
                  <a:gd name="T6" fmla="*/ 9 w 12"/>
                  <a:gd name="T7" fmla="*/ 12 h 12"/>
                  <a:gd name="T8" fmla="*/ 12 w 12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12" y="2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2"/>
                    </a:ln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45" name="Freeform 590"/>
              <p:cNvSpPr>
                <a:spLocks/>
              </p:cNvSpPr>
              <p:nvPr/>
            </p:nvSpPr>
            <p:spPr bwMode="auto">
              <a:xfrm>
                <a:off x="2445" y="1559"/>
                <a:ext cx="11" cy="11"/>
              </a:xfrm>
              <a:custGeom>
                <a:avLst/>
                <a:gdLst>
                  <a:gd name="T0" fmla="*/ 11 w 11"/>
                  <a:gd name="T1" fmla="*/ 2 h 11"/>
                  <a:gd name="T2" fmla="*/ 2 w 11"/>
                  <a:gd name="T3" fmla="*/ 0 h 11"/>
                  <a:gd name="T4" fmla="*/ 1 w 11"/>
                  <a:gd name="T5" fmla="*/ 4 h 11"/>
                  <a:gd name="T6" fmla="*/ 0 w 11"/>
                  <a:gd name="T7" fmla="*/ 9 h 11"/>
                  <a:gd name="T8" fmla="*/ 9 w 11"/>
                  <a:gd name="T9" fmla="*/ 11 h 11"/>
                  <a:gd name="T10" fmla="*/ 11 w 11"/>
                  <a:gd name="T11" fmla="*/ 4 h 11"/>
                  <a:gd name="T12" fmla="*/ 11 w 11"/>
                  <a:gd name="T13" fmla="*/ 2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"/>
                  <a:gd name="T22" fmla="*/ 0 h 11"/>
                  <a:gd name="T23" fmla="*/ 11 w 11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" h="11">
                    <a:moveTo>
                      <a:pt x="11" y="2"/>
                    </a:moveTo>
                    <a:lnTo>
                      <a:pt x="2" y="0"/>
                    </a:lnTo>
                    <a:lnTo>
                      <a:pt x="1" y="4"/>
                    </a:lnTo>
                    <a:lnTo>
                      <a:pt x="0" y="9"/>
                    </a:lnTo>
                    <a:lnTo>
                      <a:pt x="9" y="11"/>
                    </a:lnTo>
                    <a:lnTo>
                      <a:pt x="11" y="4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46" name="Freeform 591"/>
              <p:cNvSpPr>
                <a:spLocks/>
              </p:cNvSpPr>
              <p:nvPr/>
            </p:nvSpPr>
            <p:spPr bwMode="auto">
              <a:xfrm>
                <a:off x="2438" y="1578"/>
                <a:ext cx="13" cy="11"/>
              </a:xfrm>
              <a:custGeom>
                <a:avLst/>
                <a:gdLst>
                  <a:gd name="T0" fmla="*/ 13 w 13"/>
                  <a:gd name="T1" fmla="*/ 2 h 11"/>
                  <a:gd name="T2" fmla="*/ 4 w 13"/>
                  <a:gd name="T3" fmla="*/ 0 h 11"/>
                  <a:gd name="T4" fmla="*/ 0 w 13"/>
                  <a:gd name="T5" fmla="*/ 9 h 11"/>
                  <a:gd name="T6" fmla="*/ 9 w 13"/>
                  <a:gd name="T7" fmla="*/ 11 h 11"/>
                  <a:gd name="T8" fmla="*/ 13 w 13"/>
                  <a:gd name="T9" fmla="*/ 2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1"/>
                  <a:gd name="T17" fmla="*/ 13 w 13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1">
                    <a:moveTo>
                      <a:pt x="13" y="2"/>
                    </a:moveTo>
                    <a:lnTo>
                      <a:pt x="4" y="0"/>
                    </a:lnTo>
                    <a:lnTo>
                      <a:pt x="0" y="9"/>
                    </a:lnTo>
                    <a:lnTo>
                      <a:pt x="9" y="11"/>
                    </a:ln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47" name="Freeform 592"/>
              <p:cNvSpPr>
                <a:spLocks/>
              </p:cNvSpPr>
              <p:nvPr/>
            </p:nvSpPr>
            <p:spPr bwMode="auto">
              <a:xfrm>
                <a:off x="2433" y="1597"/>
                <a:ext cx="12" cy="13"/>
              </a:xfrm>
              <a:custGeom>
                <a:avLst/>
                <a:gdLst>
                  <a:gd name="T0" fmla="*/ 12 w 12"/>
                  <a:gd name="T1" fmla="*/ 3 h 13"/>
                  <a:gd name="T2" fmla="*/ 3 w 12"/>
                  <a:gd name="T3" fmla="*/ 0 h 13"/>
                  <a:gd name="T4" fmla="*/ 0 w 12"/>
                  <a:gd name="T5" fmla="*/ 10 h 13"/>
                  <a:gd name="T6" fmla="*/ 9 w 12"/>
                  <a:gd name="T7" fmla="*/ 13 h 13"/>
                  <a:gd name="T8" fmla="*/ 12 w 12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3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48" name="Freeform 593"/>
              <p:cNvSpPr>
                <a:spLocks/>
              </p:cNvSpPr>
              <p:nvPr/>
            </p:nvSpPr>
            <p:spPr bwMode="auto">
              <a:xfrm>
                <a:off x="2427" y="1616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3 w 11"/>
                  <a:gd name="T3" fmla="*/ 0 h 13"/>
                  <a:gd name="T4" fmla="*/ 0 w 11"/>
                  <a:gd name="T5" fmla="*/ 10 h 13"/>
                  <a:gd name="T6" fmla="*/ 9 w 11"/>
                  <a:gd name="T7" fmla="*/ 13 h 13"/>
                  <a:gd name="T8" fmla="*/ 11 w 11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3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49" name="Freeform 594"/>
              <p:cNvSpPr>
                <a:spLocks/>
              </p:cNvSpPr>
              <p:nvPr/>
            </p:nvSpPr>
            <p:spPr bwMode="auto">
              <a:xfrm>
                <a:off x="2422" y="1636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3 w 11"/>
                  <a:gd name="T3" fmla="*/ 0 h 13"/>
                  <a:gd name="T4" fmla="*/ 1 w 11"/>
                  <a:gd name="T5" fmla="*/ 4 h 13"/>
                  <a:gd name="T6" fmla="*/ 0 w 11"/>
                  <a:gd name="T7" fmla="*/ 11 h 13"/>
                  <a:gd name="T8" fmla="*/ 9 w 11"/>
                  <a:gd name="T9" fmla="*/ 13 h 13"/>
                  <a:gd name="T10" fmla="*/ 11 w 11"/>
                  <a:gd name="T11" fmla="*/ 4 h 13"/>
                  <a:gd name="T12" fmla="*/ 11 w 11"/>
                  <a:gd name="T13" fmla="*/ 3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"/>
                  <a:gd name="T22" fmla="*/ 0 h 13"/>
                  <a:gd name="T23" fmla="*/ 11 w 11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" h="13">
                    <a:moveTo>
                      <a:pt x="11" y="3"/>
                    </a:moveTo>
                    <a:lnTo>
                      <a:pt x="3" y="0"/>
                    </a:lnTo>
                    <a:lnTo>
                      <a:pt x="1" y="4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1" y="4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50" name="Freeform 595"/>
              <p:cNvSpPr>
                <a:spLocks/>
              </p:cNvSpPr>
              <p:nvPr/>
            </p:nvSpPr>
            <p:spPr bwMode="auto">
              <a:xfrm>
                <a:off x="2417" y="1655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2 w 11"/>
                  <a:gd name="T3" fmla="*/ 0 h 13"/>
                  <a:gd name="T4" fmla="*/ 0 w 11"/>
                  <a:gd name="T5" fmla="*/ 11 h 13"/>
                  <a:gd name="T6" fmla="*/ 9 w 11"/>
                  <a:gd name="T7" fmla="*/ 13 h 13"/>
                  <a:gd name="T8" fmla="*/ 11 w 11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3"/>
                    </a:moveTo>
                    <a:lnTo>
                      <a:pt x="2" y="0"/>
                    </a:lnTo>
                    <a:lnTo>
                      <a:pt x="0" y="11"/>
                    </a:lnTo>
                    <a:lnTo>
                      <a:pt x="9" y="13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51" name="Freeform 596"/>
              <p:cNvSpPr>
                <a:spLocks/>
              </p:cNvSpPr>
              <p:nvPr/>
            </p:nvSpPr>
            <p:spPr bwMode="auto">
              <a:xfrm>
                <a:off x="2412" y="1676"/>
                <a:ext cx="11" cy="13"/>
              </a:xfrm>
              <a:custGeom>
                <a:avLst/>
                <a:gdLst>
                  <a:gd name="T0" fmla="*/ 11 w 11"/>
                  <a:gd name="T1" fmla="*/ 2 h 13"/>
                  <a:gd name="T2" fmla="*/ 2 w 11"/>
                  <a:gd name="T3" fmla="*/ 0 h 13"/>
                  <a:gd name="T4" fmla="*/ 0 w 11"/>
                  <a:gd name="T5" fmla="*/ 10 h 13"/>
                  <a:gd name="T6" fmla="*/ 9 w 11"/>
                  <a:gd name="T7" fmla="*/ 13 h 13"/>
                  <a:gd name="T8" fmla="*/ 11 w 11"/>
                  <a:gd name="T9" fmla="*/ 2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2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52" name="Freeform 597"/>
              <p:cNvSpPr>
                <a:spLocks/>
              </p:cNvSpPr>
              <p:nvPr/>
            </p:nvSpPr>
            <p:spPr bwMode="auto">
              <a:xfrm>
                <a:off x="2407" y="1695"/>
                <a:ext cx="11" cy="13"/>
              </a:xfrm>
              <a:custGeom>
                <a:avLst/>
                <a:gdLst>
                  <a:gd name="T0" fmla="*/ 11 w 11"/>
                  <a:gd name="T1" fmla="*/ 2 h 13"/>
                  <a:gd name="T2" fmla="*/ 2 w 11"/>
                  <a:gd name="T3" fmla="*/ 0 h 13"/>
                  <a:gd name="T4" fmla="*/ 0 w 11"/>
                  <a:gd name="T5" fmla="*/ 10 h 13"/>
                  <a:gd name="T6" fmla="*/ 9 w 11"/>
                  <a:gd name="T7" fmla="*/ 13 h 13"/>
                  <a:gd name="T8" fmla="*/ 11 w 11"/>
                  <a:gd name="T9" fmla="*/ 2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2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53" name="Freeform 598"/>
              <p:cNvSpPr>
                <a:spLocks/>
              </p:cNvSpPr>
              <p:nvPr/>
            </p:nvSpPr>
            <p:spPr bwMode="auto">
              <a:xfrm>
                <a:off x="2402" y="1715"/>
                <a:ext cx="11" cy="12"/>
              </a:xfrm>
              <a:custGeom>
                <a:avLst/>
                <a:gdLst>
                  <a:gd name="T0" fmla="*/ 11 w 11"/>
                  <a:gd name="T1" fmla="*/ 3 h 12"/>
                  <a:gd name="T2" fmla="*/ 2 w 11"/>
                  <a:gd name="T3" fmla="*/ 0 h 12"/>
                  <a:gd name="T4" fmla="*/ 1 w 11"/>
                  <a:gd name="T5" fmla="*/ 3 h 12"/>
                  <a:gd name="T6" fmla="*/ 0 w 11"/>
                  <a:gd name="T7" fmla="*/ 10 h 12"/>
                  <a:gd name="T8" fmla="*/ 9 w 11"/>
                  <a:gd name="T9" fmla="*/ 12 h 12"/>
                  <a:gd name="T10" fmla="*/ 11 w 11"/>
                  <a:gd name="T11" fmla="*/ 3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1"/>
                  <a:gd name="T19" fmla="*/ 0 h 12"/>
                  <a:gd name="T20" fmla="*/ 11 w 11"/>
                  <a:gd name="T21" fmla="*/ 12 h 1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1" h="12">
                    <a:moveTo>
                      <a:pt x="11" y="3"/>
                    </a:moveTo>
                    <a:lnTo>
                      <a:pt x="2" y="0"/>
                    </a:lnTo>
                    <a:lnTo>
                      <a:pt x="1" y="3"/>
                    </a:lnTo>
                    <a:lnTo>
                      <a:pt x="0" y="10"/>
                    </a:lnTo>
                    <a:lnTo>
                      <a:pt x="9" y="12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54" name="Freeform 599"/>
              <p:cNvSpPr>
                <a:spLocks/>
              </p:cNvSpPr>
              <p:nvPr/>
            </p:nvSpPr>
            <p:spPr bwMode="auto">
              <a:xfrm>
                <a:off x="2398" y="1736"/>
                <a:ext cx="11" cy="11"/>
              </a:xfrm>
              <a:custGeom>
                <a:avLst/>
                <a:gdLst>
                  <a:gd name="T0" fmla="*/ 11 w 11"/>
                  <a:gd name="T1" fmla="*/ 1 h 11"/>
                  <a:gd name="T2" fmla="*/ 2 w 11"/>
                  <a:gd name="T3" fmla="*/ 0 h 11"/>
                  <a:gd name="T4" fmla="*/ 0 w 11"/>
                  <a:gd name="T5" fmla="*/ 10 h 11"/>
                  <a:gd name="T6" fmla="*/ 9 w 11"/>
                  <a:gd name="T7" fmla="*/ 11 h 11"/>
                  <a:gd name="T8" fmla="*/ 11 w 11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11" y="1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55" name="Freeform 600"/>
              <p:cNvSpPr>
                <a:spLocks/>
              </p:cNvSpPr>
              <p:nvPr/>
            </p:nvSpPr>
            <p:spPr bwMode="auto">
              <a:xfrm>
                <a:off x="2394" y="1756"/>
                <a:ext cx="11" cy="11"/>
              </a:xfrm>
              <a:custGeom>
                <a:avLst/>
                <a:gdLst>
                  <a:gd name="T0" fmla="*/ 11 w 11"/>
                  <a:gd name="T1" fmla="*/ 1 h 11"/>
                  <a:gd name="T2" fmla="*/ 3 w 11"/>
                  <a:gd name="T3" fmla="*/ 0 h 11"/>
                  <a:gd name="T4" fmla="*/ 1 w 11"/>
                  <a:gd name="T5" fmla="*/ 0 h 11"/>
                  <a:gd name="T6" fmla="*/ 0 w 11"/>
                  <a:gd name="T7" fmla="*/ 10 h 11"/>
                  <a:gd name="T8" fmla="*/ 10 w 11"/>
                  <a:gd name="T9" fmla="*/ 11 h 11"/>
                  <a:gd name="T10" fmla="*/ 11 w 11"/>
                  <a:gd name="T11" fmla="*/ 0 h 11"/>
                  <a:gd name="T12" fmla="*/ 11 w 11"/>
                  <a:gd name="T13" fmla="*/ 1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"/>
                  <a:gd name="T22" fmla="*/ 0 h 11"/>
                  <a:gd name="T23" fmla="*/ 11 w 11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" h="11">
                    <a:moveTo>
                      <a:pt x="11" y="1"/>
                    </a:moveTo>
                    <a:lnTo>
                      <a:pt x="3" y="0"/>
                    </a:lnTo>
                    <a:lnTo>
                      <a:pt x="1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1" y="0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56" name="Freeform 601"/>
              <p:cNvSpPr>
                <a:spLocks/>
              </p:cNvSpPr>
              <p:nvPr/>
            </p:nvSpPr>
            <p:spPr bwMode="auto">
              <a:xfrm>
                <a:off x="2390" y="1775"/>
                <a:ext cx="12" cy="11"/>
              </a:xfrm>
              <a:custGeom>
                <a:avLst/>
                <a:gdLst>
                  <a:gd name="T0" fmla="*/ 12 w 12"/>
                  <a:gd name="T1" fmla="*/ 1 h 11"/>
                  <a:gd name="T2" fmla="*/ 2 w 12"/>
                  <a:gd name="T3" fmla="*/ 0 h 11"/>
                  <a:gd name="T4" fmla="*/ 0 w 12"/>
                  <a:gd name="T5" fmla="*/ 10 h 11"/>
                  <a:gd name="T6" fmla="*/ 10 w 12"/>
                  <a:gd name="T7" fmla="*/ 11 h 11"/>
                  <a:gd name="T8" fmla="*/ 12 w 12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12" y="1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57" name="Freeform 602"/>
              <p:cNvSpPr>
                <a:spLocks/>
              </p:cNvSpPr>
              <p:nvPr/>
            </p:nvSpPr>
            <p:spPr bwMode="auto">
              <a:xfrm>
                <a:off x="2388" y="1795"/>
                <a:ext cx="11" cy="12"/>
              </a:xfrm>
              <a:custGeom>
                <a:avLst/>
                <a:gdLst>
                  <a:gd name="T0" fmla="*/ 11 w 11"/>
                  <a:gd name="T1" fmla="*/ 2 h 12"/>
                  <a:gd name="T2" fmla="*/ 1 w 11"/>
                  <a:gd name="T3" fmla="*/ 0 h 12"/>
                  <a:gd name="T4" fmla="*/ 0 w 11"/>
                  <a:gd name="T5" fmla="*/ 10 h 12"/>
                  <a:gd name="T6" fmla="*/ 10 w 11"/>
                  <a:gd name="T7" fmla="*/ 12 h 12"/>
                  <a:gd name="T8" fmla="*/ 11 w 11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11" y="2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2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58" name="Freeform 603"/>
              <p:cNvSpPr>
                <a:spLocks/>
              </p:cNvSpPr>
              <p:nvPr/>
            </p:nvSpPr>
            <p:spPr bwMode="auto">
              <a:xfrm>
                <a:off x="2384" y="1816"/>
                <a:ext cx="11" cy="11"/>
              </a:xfrm>
              <a:custGeom>
                <a:avLst/>
                <a:gdLst>
                  <a:gd name="T0" fmla="*/ 11 w 11"/>
                  <a:gd name="T1" fmla="*/ 1 h 11"/>
                  <a:gd name="T2" fmla="*/ 1 w 11"/>
                  <a:gd name="T3" fmla="*/ 0 h 11"/>
                  <a:gd name="T4" fmla="*/ 0 w 11"/>
                  <a:gd name="T5" fmla="*/ 10 h 11"/>
                  <a:gd name="T6" fmla="*/ 10 w 11"/>
                  <a:gd name="T7" fmla="*/ 11 h 11"/>
                  <a:gd name="T8" fmla="*/ 11 w 11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11" y="1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59" name="Freeform 604"/>
              <p:cNvSpPr>
                <a:spLocks/>
              </p:cNvSpPr>
              <p:nvPr/>
            </p:nvSpPr>
            <p:spPr bwMode="auto">
              <a:xfrm>
                <a:off x="2383" y="1836"/>
                <a:ext cx="10" cy="11"/>
              </a:xfrm>
              <a:custGeom>
                <a:avLst/>
                <a:gdLst>
                  <a:gd name="T0" fmla="*/ 10 w 10"/>
                  <a:gd name="T1" fmla="*/ 1 h 11"/>
                  <a:gd name="T2" fmla="*/ 0 w 10"/>
                  <a:gd name="T3" fmla="*/ 0 h 11"/>
                  <a:gd name="T4" fmla="*/ 0 w 10"/>
                  <a:gd name="T5" fmla="*/ 10 h 11"/>
                  <a:gd name="T6" fmla="*/ 10 w 10"/>
                  <a:gd name="T7" fmla="*/ 11 h 11"/>
                  <a:gd name="T8" fmla="*/ 10 w 10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1"/>
                  <a:gd name="T17" fmla="*/ 10 w 10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1">
                    <a:moveTo>
                      <a:pt x="10" y="1"/>
                    </a:moveTo>
                    <a:lnTo>
                      <a:pt x="0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0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60" name="Freeform 605"/>
              <p:cNvSpPr>
                <a:spLocks/>
              </p:cNvSpPr>
              <p:nvPr/>
            </p:nvSpPr>
            <p:spPr bwMode="auto">
              <a:xfrm>
                <a:off x="2380" y="1856"/>
                <a:ext cx="12" cy="12"/>
              </a:xfrm>
              <a:custGeom>
                <a:avLst/>
                <a:gdLst>
                  <a:gd name="T0" fmla="*/ 12 w 12"/>
                  <a:gd name="T1" fmla="*/ 2 h 12"/>
                  <a:gd name="T2" fmla="*/ 1 w 12"/>
                  <a:gd name="T3" fmla="*/ 0 h 12"/>
                  <a:gd name="T4" fmla="*/ 0 w 12"/>
                  <a:gd name="T5" fmla="*/ 10 h 12"/>
                  <a:gd name="T6" fmla="*/ 10 w 12"/>
                  <a:gd name="T7" fmla="*/ 12 h 12"/>
                  <a:gd name="T8" fmla="*/ 12 w 12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12" y="2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2"/>
                    </a:ln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61" name="Freeform 606"/>
              <p:cNvSpPr>
                <a:spLocks/>
              </p:cNvSpPr>
              <p:nvPr/>
            </p:nvSpPr>
            <p:spPr bwMode="auto">
              <a:xfrm>
                <a:off x="2379" y="1877"/>
                <a:ext cx="11" cy="10"/>
              </a:xfrm>
              <a:custGeom>
                <a:avLst/>
                <a:gdLst>
                  <a:gd name="T0" fmla="*/ 11 w 11"/>
                  <a:gd name="T1" fmla="*/ 0 h 10"/>
                  <a:gd name="T2" fmla="*/ 1 w 11"/>
                  <a:gd name="T3" fmla="*/ 0 h 10"/>
                  <a:gd name="T4" fmla="*/ 0 w 11"/>
                  <a:gd name="T5" fmla="*/ 10 h 10"/>
                  <a:gd name="T6" fmla="*/ 10 w 11"/>
                  <a:gd name="T7" fmla="*/ 10 h 10"/>
                  <a:gd name="T8" fmla="*/ 11 w 1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0"/>
                  <a:gd name="T17" fmla="*/ 11 w 1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0">
                    <a:moveTo>
                      <a:pt x="11" y="0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0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62" name="Freeform 607"/>
              <p:cNvSpPr>
                <a:spLocks/>
              </p:cNvSpPr>
              <p:nvPr/>
            </p:nvSpPr>
            <p:spPr bwMode="auto">
              <a:xfrm>
                <a:off x="2378" y="1897"/>
                <a:ext cx="11" cy="10"/>
              </a:xfrm>
              <a:custGeom>
                <a:avLst/>
                <a:gdLst>
                  <a:gd name="T0" fmla="*/ 11 w 11"/>
                  <a:gd name="T1" fmla="*/ 0 h 10"/>
                  <a:gd name="T2" fmla="*/ 1 w 11"/>
                  <a:gd name="T3" fmla="*/ 0 h 10"/>
                  <a:gd name="T4" fmla="*/ 0 w 11"/>
                  <a:gd name="T5" fmla="*/ 10 h 10"/>
                  <a:gd name="T6" fmla="*/ 10 w 11"/>
                  <a:gd name="T7" fmla="*/ 10 h 10"/>
                  <a:gd name="T8" fmla="*/ 11 w 1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0"/>
                  <a:gd name="T17" fmla="*/ 11 w 1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0">
                    <a:moveTo>
                      <a:pt x="11" y="0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0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63" name="Rectangle 608"/>
              <p:cNvSpPr>
                <a:spLocks noChangeArrowheads="1"/>
              </p:cNvSpPr>
              <p:nvPr/>
            </p:nvSpPr>
            <p:spPr bwMode="auto">
              <a:xfrm>
                <a:off x="2378" y="1917"/>
                <a:ext cx="10" cy="10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64" name="Rectangle 609"/>
              <p:cNvSpPr>
                <a:spLocks noChangeArrowheads="1"/>
              </p:cNvSpPr>
              <p:nvPr/>
            </p:nvSpPr>
            <p:spPr bwMode="auto">
              <a:xfrm>
                <a:off x="2378" y="1938"/>
                <a:ext cx="10" cy="10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65" name="Freeform 610"/>
              <p:cNvSpPr>
                <a:spLocks/>
              </p:cNvSpPr>
              <p:nvPr/>
            </p:nvSpPr>
            <p:spPr bwMode="auto">
              <a:xfrm>
                <a:off x="2378" y="1958"/>
                <a:ext cx="11" cy="10"/>
              </a:xfrm>
              <a:custGeom>
                <a:avLst/>
                <a:gdLst>
                  <a:gd name="T0" fmla="*/ 10 w 11"/>
                  <a:gd name="T1" fmla="*/ 0 h 10"/>
                  <a:gd name="T2" fmla="*/ 0 w 11"/>
                  <a:gd name="T3" fmla="*/ 0 h 10"/>
                  <a:gd name="T4" fmla="*/ 1 w 11"/>
                  <a:gd name="T5" fmla="*/ 10 h 10"/>
                  <a:gd name="T6" fmla="*/ 11 w 11"/>
                  <a:gd name="T7" fmla="*/ 10 h 10"/>
                  <a:gd name="T8" fmla="*/ 10 w 1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0"/>
                  <a:gd name="T17" fmla="*/ 11 w 1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0">
                    <a:moveTo>
                      <a:pt x="10" y="0"/>
                    </a:moveTo>
                    <a:lnTo>
                      <a:pt x="0" y="0"/>
                    </a:lnTo>
                    <a:lnTo>
                      <a:pt x="1" y="10"/>
                    </a:lnTo>
                    <a:lnTo>
                      <a:pt x="11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66" name="Freeform 611"/>
              <p:cNvSpPr>
                <a:spLocks/>
              </p:cNvSpPr>
              <p:nvPr/>
            </p:nvSpPr>
            <p:spPr bwMode="auto">
              <a:xfrm>
                <a:off x="2379" y="1978"/>
                <a:ext cx="10" cy="12"/>
              </a:xfrm>
              <a:custGeom>
                <a:avLst/>
                <a:gdLst>
                  <a:gd name="T0" fmla="*/ 10 w 10"/>
                  <a:gd name="T1" fmla="*/ 0 h 12"/>
                  <a:gd name="T2" fmla="*/ 0 w 10"/>
                  <a:gd name="T3" fmla="*/ 0 h 12"/>
                  <a:gd name="T4" fmla="*/ 0 w 10"/>
                  <a:gd name="T5" fmla="*/ 7 h 12"/>
                  <a:gd name="T6" fmla="*/ 0 w 10"/>
                  <a:gd name="T7" fmla="*/ 12 h 12"/>
                  <a:gd name="T8" fmla="*/ 10 w 10"/>
                  <a:gd name="T9" fmla="*/ 10 h 12"/>
                  <a:gd name="T10" fmla="*/ 10 w 10"/>
                  <a:gd name="T11" fmla="*/ 7 h 12"/>
                  <a:gd name="T12" fmla="*/ 10 w 10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"/>
                  <a:gd name="T22" fmla="*/ 0 h 12"/>
                  <a:gd name="T23" fmla="*/ 10 w 10"/>
                  <a:gd name="T24" fmla="*/ 12 h 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" h="12">
                    <a:moveTo>
                      <a:pt x="10" y="0"/>
                    </a:moveTo>
                    <a:lnTo>
                      <a:pt x="0" y="0"/>
                    </a:lnTo>
                    <a:lnTo>
                      <a:pt x="0" y="7"/>
                    </a:lnTo>
                    <a:lnTo>
                      <a:pt x="0" y="12"/>
                    </a:lnTo>
                    <a:lnTo>
                      <a:pt x="10" y="10"/>
                    </a:lnTo>
                    <a:lnTo>
                      <a:pt x="10" y="7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67" name="Freeform 612"/>
              <p:cNvSpPr>
                <a:spLocks/>
              </p:cNvSpPr>
              <p:nvPr/>
            </p:nvSpPr>
            <p:spPr bwMode="auto">
              <a:xfrm>
                <a:off x="2380" y="1999"/>
                <a:ext cx="10" cy="11"/>
              </a:xfrm>
              <a:custGeom>
                <a:avLst/>
                <a:gdLst>
                  <a:gd name="T0" fmla="*/ 10 w 10"/>
                  <a:gd name="T1" fmla="*/ 0 h 11"/>
                  <a:gd name="T2" fmla="*/ 0 w 10"/>
                  <a:gd name="T3" fmla="*/ 1 h 11"/>
                  <a:gd name="T4" fmla="*/ 0 w 10"/>
                  <a:gd name="T5" fmla="*/ 11 h 11"/>
                  <a:gd name="T6" fmla="*/ 10 w 10"/>
                  <a:gd name="T7" fmla="*/ 10 h 11"/>
                  <a:gd name="T8" fmla="*/ 10 w 10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1"/>
                  <a:gd name="T17" fmla="*/ 10 w 10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1">
                    <a:moveTo>
                      <a:pt x="10" y="0"/>
                    </a:moveTo>
                    <a:lnTo>
                      <a:pt x="0" y="1"/>
                    </a:lnTo>
                    <a:lnTo>
                      <a:pt x="0" y="11"/>
                    </a:lnTo>
                    <a:lnTo>
                      <a:pt x="10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68" name="Freeform 613"/>
              <p:cNvSpPr>
                <a:spLocks/>
              </p:cNvSpPr>
              <p:nvPr/>
            </p:nvSpPr>
            <p:spPr bwMode="auto">
              <a:xfrm>
                <a:off x="2381" y="2019"/>
                <a:ext cx="12" cy="11"/>
              </a:xfrm>
              <a:custGeom>
                <a:avLst/>
                <a:gdLst>
                  <a:gd name="T0" fmla="*/ 11 w 12"/>
                  <a:gd name="T1" fmla="*/ 0 h 11"/>
                  <a:gd name="T2" fmla="*/ 0 w 12"/>
                  <a:gd name="T3" fmla="*/ 1 h 11"/>
                  <a:gd name="T4" fmla="*/ 2 w 12"/>
                  <a:gd name="T5" fmla="*/ 11 h 11"/>
                  <a:gd name="T6" fmla="*/ 12 w 12"/>
                  <a:gd name="T7" fmla="*/ 10 h 11"/>
                  <a:gd name="T8" fmla="*/ 11 w 12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11" y="0"/>
                    </a:moveTo>
                    <a:lnTo>
                      <a:pt x="0" y="1"/>
                    </a:lnTo>
                    <a:lnTo>
                      <a:pt x="2" y="11"/>
                    </a:lnTo>
                    <a:lnTo>
                      <a:pt x="12" y="10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69" name="Freeform 614"/>
              <p:cNvSpPr>
                <a:spLocks/>
              </p:cNvSpPr>
              <p:nvPr/>
            </p:nvSpPr>
            <p:spPr bwMode="auto">
              <a:xfrm>
                <a:off x="2384" y="2039"/>
                <a:ext cx="11" cy="12"/>
              </a:xfrm>
              <a:custGeom>
                <a:avLst/>
                <a:gdLst>
                  <a:gd name="T0" fmla="*/ 10 w 11"/>
                  <a:gd name="T1" fmla="*/ 0 h 12"/>
                  <a:gd name="T2" fmla="*/ 0 w 11"/>
                  <a:gd name="T3" fmla="*/ 2 h 12"/>
                  <a:gd name="T4" fmla="*/ 1 w 11"/>
                  <a:gd name="T5" fmla="*/ 12 h 12"/>
                  <a:gd name="T6" fmla="*/ 11 w 11"/>
                  <a:gd name="T7" fmla="*/ 11 h 12"/>
                  <a:gd name="T8" fmla="*/ 10 w 1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10" y="0"/>
                    </a:moveTo>
                    <a:lnTo>
                      <a:pt x="0" y="2"/>
                    </a:lnTo>
                    <a:lnTo>
                      <a:pt x="1" y="12"/>
                    </a:lnTo>
                    <a:lnTo>
                      <a:pt x="11" y="11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70" name="Freeform 615"/>
              <p:cNvSpPr>
                <a:spLocks/>
              </p:cNvSpPr>
              <p:nvPr/>
            </p:nvSpPr>
            <p:spPr bwMode="auto">
              <a:xfrm>
                <a:off x="2386" y="2058"/>
                <a:ext cx="12" cy="12"/>
              </a:xfrm>
              <a:custGeom>
                <a:avLst/>
                <a:gdLst>
                  <a:gd name="T0" fmla="*/ 9 w 12"/>
                  <a:gd name="T1" fmla="*/ 0 h 12"/>
                  <a:gd name="T2" fmla="*/ 0 w 12"/>
                  <a:gd name="T3" fmla="*/ 2 h 12"/>
                  <a:gd name="T4" fmla="*/ 3 w 12"/>
                  <a:gd name="T5" fmla="*/ 12 h 12"/>
                  <a:gd name="T6" fmla="*/ 12 w 12"/>
                  <a:gd name="T7" fmla="*/ 11 h 12"/>
                  <a:gd name="T8" fmla="*/ 9 w 12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9" y="0"/>
                    </a:moveTo>
                    <a:lnTo>
                      <a:pt x="0" y="2"/>
                    </a:lnTo>
                    <a:lnTo>
                      <a:pt x="3" y="12"/>
                    </a:lnTo>
                    <a:lnTo>
                      <a:pt x="12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71" name="Freeform 616"/>
              <p:cNvSpPr>
                <a:spLocks/>
              </p:cNvSpPr>
              <p:nvPr/>
            </p:nvSpPr>
            <p:spPr bwMode="auto">
              <a:xfrm>
                <a:off x="2390" y="2079"/>
                <a:ext cx="10" cy="11"/>
              </a:xfrm>
              <a:custGeom>
                <a:avLst/>
                <a:gdLst>
                  <a:gd name="T0" fmla="*/ 9 w 10"/>
                  <a:gd name="T1" fmla="*/ 0 h 11"/>
                  <a:gd name="T2" fmla="*/ 0 w 10"/>
                  <a:gd name="T3" fmla="*/ 1 h 11"/>
                  <a:gd name="T4" fmla="*/ 0 w 10"/>
                  <a:gd name="T5" fmla="*/ 7 h 11"/>
                  <a:gd name="T6" fmla="*/ 2 w 10"/>
                  <a:gd name="T7" fmla="*/ 11 h 11"/>
                  <a:gd name="T8" fmla="*/ 10 w 10"/>
                  <a:gd name="T9" fmla="*/ 10 h 11"/>
                  <a:gd name="T10" fmla="*/ 10 w 10"/>
                  <a:gd name="T11" fmla="*/ 7 h 11"/>
                  <a:gd name="T12" fmla="*/ 9 w 10"/>
                  <a:gd name="T13" fmla="*/ 0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"/>
                  <a:gd name="T22" fmla="*/ 0 h 11"/>
                  <a:gd name="T23" fmla="*/ 10 w 10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" h="11">
                    <a:moveTo>
                      <a:pt x="9" y="0"/>
                    </a:moveTo>
                    <a:lnTo>
                      <a:pt x="0" y="1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10" y="10"/>
                    </a:lnTo>
                    <a:lnTo>
                      <a:pt x="10" y="7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72" name="Freeform 617"/>
              <p:cNvSpPr>
                <a:spLocks/>
              </p:cNvSpPr>
              <p:nvPr/>
            </p:nvSpPr>
            <p:spPr bwMode="auto">
              <a:xfrm>
                <a:off x="2394" y="2099"/>
                <a:ext cx="10" cy="12"/>
              </a:xfrm>
              <a:custGeom>
                <a:avLst/>
                <a:gdLst>
                  <a:gd name="T0" fmla="*/ 9 w 10"/>
                  <a:gd name="T1" fmla="*/ 0 h 12"/>
                  <a:gd name="T2" fmla="*/ 0 w 10"/>
                  <a:gd name="T3" fmla="*/ 1 h 12"/>
                  <a:gd name="T4" fmla="*/ 1 w 10"/>
                  <a:gd name="T5" fmla="*/ 12 h 12"/>
                  <a:gd name="T6" fmla="*/ 10 w 10"/>
                  <a:gd name="T7" fmla="*/ 10 h 12"/>
                  <a:gd name="T8" fmla="*/ 9 w 10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2"/>
                  <a:gd name="T17" fmla="*/ 10 w 10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2">
                    <a:moveTo>
                      <a:pt x="9" y="0"/>
                    </a:moveTo>
                    <a:lnTo>
                      <a:pt x="0" y="1"/>
                    </a:lnTo>
                    <a:lnTo>
                      <a:pt x="1" y="12"/>
                    </a:lnTo>
                    <a:lnTo>
                      <a:pt x="10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73" name="Freeform 618"/>
              <p:cNvSpPr>
                <a:spLocks/>
              </p:cNvSpPr>
              <p:nvPr/>
            </p:nvSpPr>
            <p:spPr bwMode="auto">
              <a:xfrm>
                <a:off x="2398" y="2119"/>
                <a:ext cx="10" cy="12"/>
              </a:xfrm>
              <a:custGeom>
                <a:avLst/>
                <a:gdLst>
                  <a:gd name="T0" fmla="*/ 9 w 10"/>
                  <a:gd name="T1" fmla="*/ 0 h 12"/>
                  <a:gd name="T2" fmla="*/ 0 w 10"/>
                  <a:gd name="T3" fmla="*/ 2 h 12"/>
                  <a:gd name="T4" fmla="*/ 1 w 10"/>
                  <a:gd name="T5" fmla="*/ 12 h 12"/>
                  <a:gd name="T6" fmla="*/ 10 w 10"/>
                  <a:gd name="T7" fmla="*/ 11 h 12"/>
                  <a:gd name="T8" fmla="*/ 9 w 10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2"/>
                  <a:gd name="T17" fmla="*/ 10 w 10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2">
                    <a:moveTo>
                      <a:pt x="9" y="0"/>
                    </a:moveTo>
                    <a:lnTo>
                      <a:pt x="0" y="2"/>
                    </a:lnTo>
                    <a:lnTo>
                      <a:pt x="1" y="12"/>
                    </a:lnTo>
                    <a:lnTo>
                      <a:pt x="10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74" name="Freeform 619"/>
              <p:cNvSpPr>
                <a:spLocks/>
              </p:cNvSpPr>
              <p:nvPr/>
            </p:nvSpPr>
            <p:spPr bwMode="auto">
              <a:xfrm>
                <a:off x="2402" y="2138"/>
                <a:ext cx="11" cy="12"/>
              </a:xfrm>
              <a:custGeom>
                <a:avLst/>
                <a:gdLst>
                  <a:gd name="T0" fmla="*/ 9 w 11"/>
                  <a:gd name="T1" fmla="*/ 0 h 12"/>
                  <a:gd name="T2" fmla="*/ 0 w 11"/>
                  <a:gd name="T3" fmla="*/ 2 h 12"/>
                  <a:gd name="T4" fmla="*/ 2 w 11"/>
                  <a:gd name="T5" fmla="*/ 12 h 12"/>
                  <a:gd name="T6" fmla="*/ 11 w 11"/>
                  <a:gd name="T7" fmla="*/ 11 h 12"/>
                  <a:gd name="T8" fmla="*/ 9 w 1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9" y="0"/>
                    </a:moveTo>
                    <a:lnTo>
                      <a:pt x="0" y="2"/>
                    </a:lnTo>
                    <a:lnTo>
                      <a:pt x="2" y="12"/>
                    </a:lnTo>
                    <a:lnTo>
                      <a:pt x="11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75" name="Freeform 620"/>
              <p:cNvSpPr>
                <a:spLocks/>
              </p:cNvSpPr>
              <p:nvPr/>
            </p:nvSpPr>
            <p:spPr bwMode="auto">
              <a:xfrm>
                <a:off x="2405" y="2158"/>
                <a:ext cx="12" cy="12"/>
              </a:xfrm>
              <a:custGeom>
                <a:avLst/>
                <a:gdLst>
                  <a:gd name="T0" fmla="*/ 9 w 12"/>
                  <a:gd name="T1" fmla="*/ 0 h 12"/>
                  <a:gd name="T2" fmla="*/ 0 w 12"/>
                  <a:gd name="T3" fmla="*/ 2 h 12"/>
                  <a:gd name="T4" fmla="*/ 3 w 12"/>
                  <a:gd name="T5" fmla="*/ 12 h 12"/>
                  <a:gd name="T6" fmla="*/ 12 w 12"/>
                  <a:gd name="T7" fmla="*/ 10 h 12"/>
                  <a:gd name="T8" fmla="*/ 9 w 12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9" y="0"/>
                    </a:moveTo>
                    <a:lnTo>
                      <a:pt x="0" y="2"/>
                    </a:lnTo>
                    <a:lnTo>
                      <a:pt x="3" y="12"/>
                    </a:lnTo>
                    <a:lnTo>
                      <a:pt x="12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76" name="Freeform 621"/>
              <p:cNvSpPr>
                <a:spLocks/>
              </p:cNvSpPr>
              <p:nvPr/>
            </p:nvSpPr>
            <p:spPr bwMode="auto">
              <a:xfrm>
                <a:off x="2411" y="2178"/>
                <a:ext cx="11" cy="13"/>
              </a:xfrm>
              <a:custGeom>
                <a:avLst/>
                <a:gdLst>
                  <a:gd name="T0" fmla="*/ 8 w 11"/>
                  <a:gd name="T1" fmla="*/ 0 h 13"/>
                  <a:gd name="T2" fmla="*/ 0 w 11"/>
                  <a:gd name="T3" fmla="*/ 2 h 13"/>
                  <a:gd name="T4" fmla="*/ 2 w 11"/>
                  <a:gd name="T5" fmla="*/ 13 h 13"/>
                  <a:gd name="T6" fmla="*/ 11 w 11"/>
                  <a:gd name="T7" fmla="*/ 10 h 13"/>
                  <a:gd name="T8" fmla="*/ 8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8" y="0"/>
                    </a:moveTo>
                    <a:lnTo>
                      <a:pt x="0" y="2"/>
                    </a:lnTo>
                    <a:lnTo>
                      <a:pt x="2" y="13"/>
                    </a:lnTo>
                    <a:lnTo>
                      <a:pt x="11" y="1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77" name="Freeform 622"/>
              <p:cNvSpPr>
                <a:spLocks/>
              </p:cNvSpPr>
              <p:nvPr/>
            </p:nvSpPr>
            <p:spPr bwMode="auto">
              <a:xfrm>
                <a:off x="2416" y="2197"/>
                <a:ext cx="11" cy="13"/>
              </a:xfrm>
              <a:custGeom>
                <a:avLst/>
                <a:gdLst>
                  <a:gd name="T0" fmla="*/ 9 w 11"/>
                  <a:gd name="T1" fmla="*/ 0 h 13"/>
                  <a:gd name="T2" fmla="*/ 0 w 11"/>
                  <a:gd name="T3" fmla="*/ 3 h 13"/>
                  <a:gd name="T4" fmla="*/ 2 w 11"/>
                  <a:gd name="T5" fmla="*/ 13 h 13"/>
                  <a:gd name="T6" fmla="*/ 11 w 11"/>
                  <a:gd name="T7" fmla="*/ 10 h 13"/>
                  <a:gd name="T8" fmla="*/ 9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9" y="0"/>
                    </a:moveTo>
                    <a:lnTo>
                      <a:pt x="0" y="3"/>
                    </a:lnTo>
                    <a:lnTo>
                      <a:pt x="2" y="13"/>
                    </a:lnTo>
                    <a:lnTo>
                      <a:pt x="11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78" name="Freeform 623"/>
              <p:cNvSpPr>
                <a:spLocks/>
              </p:cNvSpPr>
              <p:nvPr/>
            </p:nvSpPr>
            <p:spPr bwMode="auto">
              <a:xfrm>
                <a:off x="2421" y="2217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3 h 13"/>
                  <a:gd name="T4" fmla="*/ 1 w 12"/>
                  <a:gd name="T5" fmla="*/ 4 h 13"/>
                  <a:gd name="T6" fmla="*/ 4 w 12"/>
                  <a:gd name="T7" fmla="*/ 13 h 13"/>
                  <a:gd name="T8" fmla="*/ 12 w 12"/>
                  <a:gd name="T9" fmla="*/ 10 h 13"/>
                  <a:gd name="T10" fmla="*/ 11 w 12"/>
                  <a:gd name="T11" fmla="*/ 4 h 13"/>
                  <a:gd name="T12" fmla="*/ 9 w 12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"/>
                  <a:gd name="T22" fmla="*/ 0 h 13"/>
                  <a:gd name="T23" fmla="*/ 12 w 12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" h="13">
                    <a:moveTo>
                      <a:pt x="9" y="0"/>
                    </a:moveTo>
                    <a:lnTo>
                      <a:pt x="0" y="3"/>
                    </a:lnTo>
                    <a:lnTo>
                      <a:pt x="1" y="4"/>
                    </a:lnTo>
                    <a:lnTo>
                      <a:pt x="4" y="13"/>
                    </a:lnTo>
                    <a:lnTo>
                      <a:pt x="12" y="10"/>
                    </a:lnTo>
                    <a:lnTo>
                      <a:pt x="11" y="4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79" name="Freeform 624"/>
              <p:cNvSpPr>
                <a:spLocks/>
              </p:cNvSpPr>
              <p:nvPr/>
            </p:nvSpPr>
            <p:spPr bwMode="auto">
              <a:xfrm>
                <a:off x="2427" y="2236"/>
                <a:ext cx="11" cy="13"/>
              </a:xfrm>
              <a:custGeom>
                <a:avLst/>
                <a:gdLst>
                  <a:gd name="T0" fmla="*/ 9 w 11"/>
                  <a:gd name="T1" fmla="*/ 0 h 13"/>
                  <a:gd name="T2" fmla="*/ 0 w 11"/>
                  <a:gd name="T3" fmla="*/ 3 h 13"/>
                  <a:gd name="T4" fmla="*/ 3 w 11"/>
                  <a:gd name="T5" fmla="*/ 13 h 13"/>
                  <a:gd name="T6" fmla="*/ 11 w 11"/>
                  <a:gd name="T7" fmla="*/ 11 h 13"/>
                  <a:gd name="T8" fmla="*/ 9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9" y="0"/>
                    </a:moveTo>
                    <a:lnTo>
                      <a:pt x="0" y="3"/>
                    </a:lnTo>
                    <a:lnTo>
                      <a:pt x="3" y="13"/>
                    </a:lnTo>
                    <a:lnTo>
                      <a:pt x="11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80" name="Freeform 625"/>
              <p:cNvSpPr>
                <a:spLocks/>
              </p:cNvSpPr>
              <p:nvPr/>
            </p:nvSpPr>
            <p:spPr bwMode="auto">
              <a:xfrm>
                <a:off x="2433" y="2257"/>
                <a:ext cx="12" cy="11"/>
              </a:xfrm>
              <a:custGeom>
                <a:avLst/>
                <a:gdLst>
                  <a:gd name="T0" fmla="*/ 9 w 12"/>
                  <a:gd name="T1" fmla="*/ 0 h 11"/>
                  <a:gd name="T2" fmla="*/ 0 w 12"/>
                  <a:gd name="T3" fmla="*/ 2 h 11"/>
                  <a:gd name="T4" fmla="*/ 3 w 12"/>
                  <a:gd name="T5" fmla="*/ 11 h 11"/>
                  <a:gd name="T6" fmla="*/ 12 w 12"/>
                  <a:gd name="T7" fmla="*/ 9 h 11"/>
                  <a:gd name="T8" fmla="*/ 9 w 12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9" y="0"/>
                    </a:moveTo>
                    <a:lnTo>
                      <a:pt x="0" y="2"/>
                    </a:lnTo>
                    <a:lnTo>
                      <a:pt x="3" y="11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81" name="Freeform 626"/>
              <p:cNvSpPr>
                <a:spLocks/>
              </p:cNvSpPr>
              <p:nvPr/>
            </p:nvSpPr>
            <p:spPr bwMode="auto">
              <a:xfrm>
                <a:off x="2440" y="2276"/>
                <a:ext cx="11" cy="11"/>
              </a:xfrm>
              <a:custGeom>
                <a:avLst/>
                <a:gdLst>
                  <a:gd name="T0" fmla="*/ 9 w 11"/>
                  <a:gd name="T1" fmla="*/ 0 h 11"/>
                  <a:gd name="T2" fmla="*/ 0 w 11"/>
                  <a:gd name="T3" fmla="*/ 2 h 11"/>
                  <a:gd name="T4" fmla="*/ 2 w 11"/>
                  <a:gd name="T5" fmla="*/ 11 h 11"/>
                  <a:gd name="T6" fmla="*/ 11 w 11"/>
                  <a:gd name="T7" fmla="*/ 9 h 11"/>
                  <a:gd name="T8" fmla="*/ 9 w 1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9" y="0"/>
                    </a:moveTo>
                    <a:lnTo>
                      <a:pt x="0" y="2"/>
                    </a:lnTo>
                    <a:lnTo>
                      <a:pt x="2" y="11"/>
                    </a:lnTo>
                    <a:lnTo>
                      <a:pt x="11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82" name="Freeform 627"/>
              <p:cNvSpPr>
                <a:spLocks/>
              </p:cNvSpPr>
              <p:nvPr/>
            </p:nvSpPr>
            <p:spPr bwMode="auto">
              <a:xfrm>
                <a:off x="2445" y="2295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2 h 13"/>
                  <a:gd name="T4" fmla="*/ 4 w 13"/>
                  <a:gd name="T5" fmla="*/ 13 h 13"/>
                  <a:gd name="T6" fmla="*/ 13 w 13"/>
                  <a:gd name="T7" fmla="*/ 10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2"/>
                    </a:lnTo>
                    <a:lnTo>
                      <a:pt x="4" y="13"/>
                    </a:lnTo>
                    <a:lnTo>
                      <a:pt x="13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83" name="Freeform 628"/>
              <p:cNvSpPr>
                <a:spLocks/>
              </p:cNvSpPr>
              <p:nvPr/>
            </p:nvSpPr>
            <p:spPr bwMode="auto">
              <a:xfrm>
                <a:off x="2452" y="2314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2 h 13"/>
                  <a:gd name="T4" fmla="*/ 3 w 12"/>
                  <a:gd name="T5" fmla="*/ 13 h 13"/>
                  <a:gd name="T6" fmla="*/ 12 w 12"/>
                  <a:gd name="T7" fmla="*/ 10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2"/>
                    </a:lnTo>
                    <a:lnTo>
                      <a:pt x="3" y="13"/>
                    </a:lnTo>
                    <a:lnTo>
                      <a:pt x="12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84" name="Freeform 629"/>
              <p:cNvSpPr>
                <a:spLocks/>
              </p:cNvSpPr>
              <p:nvPr/>
            </p:nvSpPr>
            <p:spPr bwMode="auto">
              <a:xfrm>
                <a:off x="2459" y="2333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3 h 13"/>
                  <a:gd name="T4" fmla="*/ 4 w 12"/>
                  <a:gd name="T5" fmla="*/ 13 h 13"/>
                  <a:gd name="T6" fmla="*/ 12 w 12"/>
                  <a:gd name="T7" fmla="*/ 10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3"/>
                    </a:lnTo>
                    <a:lnTo>
                      <a:pt x="4" y="13"/>
                    </a:lnTo>
                    <a:lnTo>
                      <a:pt x="12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85" name="Freeform 630"/>
              <p:cNvSpPr>
                <a:spLocks/>
              </p:cNvSpPr>
              <p:nvPr/>
            </p:nvSpPr>
            <p:spPr bwMode="auto">
              <a:xfrm>
                <a:off x="2465" y="2352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3 h 13"/>
                  <a:gd name="T4" fmla="*/ 1 w 13"/>
                  <a:gd name="T5" fmla="*/ 5 h 13"/>
                  <a:gd name="T6" fmla="*/ 4 w 13"/>
                  <a:gd name="T7" fmla="*/ 13 h 13"/>
                  <a:gd name="T8" fmla="*/ 13 w 13"/>
                  <a:gd name="T9" fmla="*/ 9 h 13"/>
                  <a:gd name="T10" fmla="*/ 12 w 13"/>
                  <a:gd name="T11" fmla="*/ 5 h 13"/>
                  <a:gd name="T12" fmla="*/ 9 w 13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"/>
                  <a:gd name="T22" fmla="*/ 0 h 13"/>
                  <a:gd name="T23" fmla="*/ 13 w 13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" h="13">
                    <a:moveTo>
                      <a:pt x="9" y="0"/>
                    </a:moveTo>
                    <a:lnTo>
                      <a:pt x="0" y="3"/>
                    </a:lnTo>
                    <a:lnTo>
                      <a:pt x="1" y="5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12" y="5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86" name="Freeform 631"/>
              <p:cNvSpPr>
                <a:spLocks/>
              </p:cNvSpPr>
              <p:nvPr/>
            </p:nvSpPr>
            <p:spPr bwMode="auto">
              <a:xfrm>
                <a:off x="2473" y="2371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4 h 13"/>
                  <a:gd name="T4" fmla="*/ 4 w 12"/>
                  <a:gd name="T5" fmla="*/ 13 h 13"/>
                  <a:gd name="T6" fmla="*/ 12 w 12"/>
                  <a:gd name="T7" fmla="*/ 9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87" name="Freeform 632"/>
              <p:cNvSpPr>
                <a:spLocks/>
              </p:cNvSpPr>
              <p:nvPr/>
            </p:nvSpPr>
            <p:spPr bwMode="auto">
              <a:xfrm>
                <a:off x="2480" y="2390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4 h 13"/>
                  <a:gd name="T4" fmla="*/ 3 w 12"/>
                  <a:gd name="T5" fmla="*/ 13 h 13"/>
                  <a:gd name="T6" fmla="*/ 12 w 12"/>
                  <a:gd name="T7" fmla="*/ 9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4"/>
                    </a:lnTo>
                    <a:lnTo>
                      <a:pt x="3" y="13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88" name="Freeform 633"/>
              <p:cNvSpPr>
                <a:spLocks/>
              </p:cNvSpPr>
              <p:nvPr/>
            </p:nvSpPr>
            <p:spPr bwMode="auto">
              <a:xfrm>
                <a:off x="2487" y="2409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4 h 13"/>
                  <a:gd name="T4" fmla="*/ 4 w 12"/>
                  <a:gd name="T5" fmla="*/ 13 h 13"/>
                  <a:gd name="T6" fmla="*/ 12 w 12"/>
                  <a:gd name="T7" fmla="*/ 9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89" name="Freeform 634"/>
              <p:cNvSpPr>
                <a:spLocks/>
              </p:cNvSpPr>
              <p:nvPr/>
            </p:nvSpPr>
            <p:spPr bwMode="auto">
              <a:xfrm>
                <a:off x="2494" y="2428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4 h 13"/>
                  <a:gd name="T4" fmla="*/ 4 w 13"/>
                  <a:gd name="T5" fmla="*/ 13 h 13"/>
                  <a:gd name="T6" fmla="*/ 13 w 13"/>
                  <a:gd name="T7" fmla="*/ 9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90" name="Freeform 635"/>
              <p:cNvSpPr>
                <a:spLocks/>
              </p:cNvSpPr>
              <p:nvPr/>
            </p:nvSpPr>
            <p:spPr bwMode="auto">
              <a:xfrm>
                <a:off x="2502" y="2447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4 h 13"/>
                  <a:gd name="T4" fmla="*/ 4 w 13"/>
                  <a:gd name="T5" fmla="*/ 13 h 13"/>
                  <a:gd name="T6" fmla="*/ 13 w 13"/>
                  <a:gd name="T7" fmla="*/ 9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91" name="Freeform 636"/>
              <p:cNvSpPr>
                <a:spLocks/>
              </p:cNvSpPr>
              <p:nvPr/>
            </p:nvSpPr>
            <p:spPr bwMode="auto">
              <a:xfrm>
                <a:off x="2510" y="2465"/>
                <a:ext cx="12" cy="14"/>
              </a:xfrm>
              <a:custGeom>
                <a:avLst/>
                <a:gdLst>
                  <a:gd name="T0" fmla="*/ 8 w 12"/>
                  <a:gd name="T1" fmla="*/ 0 h 14"/>
                  <a:gd name="T2" fmla="*/ 0 w 12"/>
                  <a:gd name="T3" fmla="*/ 4 h 14"/>
                  <a:gd name="T4" fmla="*/ 3 w 12"/>
                  <a:gd name="T5" fmla="*/ 14 h 14"/>
                  <a:gd name="T6" fmla="*/ 12 w 12"/>
                  <a:gd name="T7" fmla="*/ 10 h 14"/>
                  <a:gd name="T8" fmla="*/ 8 w 12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8" y="0"/>
                    </a:moveTo>
                    <a:lnTo>
                      <a:pt x="0" y="4"/>
                    </a:lnTo>
                    <a:lnTo>
                      <a:pt x="3" y="14"/>
                    </a:lnTo>
                    <a:lnTo>
                      <a:pt x="12" y="1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92" name="Freeform 637"/>
              <p:cNvSpPr>
                <a:spLocks/>
              </p:cNvSpPr>
              <p:nvPr/>
            </p:nvSpPr>
            <p:spPr bwMode="auto">
              <a:xfrm>
                <a:off x="2517" y="2484"/>
                <a:ext cx="12" cy="10"/>
              </a:xfrm>
              <a:custGeom>
                <a:avLst/>
                <a:gdLst>
                  <a:gd name="T0" fmla="*/ 9 w 12"/>
                  <a:gd name="T1" fmla="*/ 0 h 10"/>
                  <a:gd name="T2" fmla="*/ 0 w 12"/>
                  <a:gd name="T3" fmla="*/ 4 h 10"/>
                  <a:gd name="T4" fmla="*/ 3 w 12"/>
                  <a:gd name="T5" fmla="*/ 10 h 10"/>
                  <a:gd name="T6" fmla="*/ 12 w 12"/>
                  <a:gd name="T7" fmla="*/ 7 h 10"/>
                  <a:gd name="T8" fmla="*/ 9 w 12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0"/>
                  <a:gd name="T17" fmla="*/ 12 w 12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0">
                    <a:moveTo>
                      <a:pt x="9" y="0"/>
                    </a:moveTo>
                    <a:lnTo>
                      <a:pt x="0" y="4"/>
                    </a:lnTo>
                    <a:lnTo>
                      <a:pt x="3" y="10"/>
                    </a:lnTo>
                    <a:lnTo>
                      <a:pt x="12" y="7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93" name="Freeform 638"/>
              <p:cNvSpPr>
                <a:spLocks/>
              </p:cNvSpPr>
              <p:nvPr/>
            </p:nvSpPr>
            <p:spPr bwMode="auto">
              <a:xfrm>
                <a:off x="2483" y="2475"/>
                <a:ext cx="79" cy="96"/>
              </a:xfrm>
              <a:custGeom>
                <a:avLst/>
                <a:gdLst>
                  <a:gd name="T0" fmla="*/ 0 w 79"/>
                  <a:gd name="T1" fmla="*/ 33 h 96"/>
                  <a:gd name="T2" fmla="*/ 72 w 79"/>
                  <a:gd name="T3" fmla="*/ 96 h 96"/>
                  <a:gd name="T4" fmla="*/ 79 w 79"/>
                  <a:gd name="T5" fmla="*/ 0 h 96"/>
                  <a:gd name="T6" fmla="*/ 0 w 79"/>
                  <a:gd name="T7" fmla="*/ 33 h 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9"/>
                  <a:gd name="T13" fmla="*/ 0 h 96"/>
                  <a:gd name="T14" fmla="*/ 79 w 79"/>
                  <a:gd name="T15" fmla="*/ 96 h 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9" h="96">
                    <a:moveTo>
                      <a:pt x="0" y="33"/>
                    </a:moveTo>
                    <a:lnTo>
                      <a:pt x="72" y="96"/>
                    </a:lnTo>
                    <a:lnTo>
                      <a:pt x="79" y="0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53" name="Group 639"/>
            <p:cNvGrpSpPr>
              <a:grpSpLocks/>
            </p:cNvGrpSpPr>
            <p:nvPr/>
          </p:nvGrpSpPr>
          <p:grpSpPr bwMode="auto">
            <a:xfrm>
              <a:off x="2276" y="1349"/>
              <a:ext cx="184" cy="1242"/>
              <a:chOff x="2276" y="1349"/>
              <a:chExt cx="184" cy="1242"/>
            </a:xfrm>
          </p:grpSpPr>
          <p:sp>
            <p:nvSpPr>
              <p:cNvPr id="103472" name="Freeform 640"/>
              <p:cNvSpPr>
                <a:spLocks/>
              </p:cNvSpPr>
              <p:nvPr/>
            </p:nvSpPr>
            <p:spPr bwMode="auto">
              <a:xfrm>
                <a:off x="2426" y="1349"/>
                <a:ext cx="12" cy="13"/>
              </a:xfrm>
              <a:custGeom>
                <a:avLst/>
                <a:gdLst>
                  <a:gd name="T0" fmla="*/ 12 w 12"/>
                  <a:gd name="T1" fmla="*/ 4 h 13"/>
                  <a:gd name="T2" fmla="*/ 4 w 12"/>
                  <a:gd name="T3" fmla="*/ 0 h 13"/>
                  <a:gd name="T4" fmla="*/ 0 w 12"/>
                  <a:gd name="T5" fmla="*/ 9 h 13"/>
                  <a:gd name="T6" fmla="*/ 9 w 12"/>
                  <a:gd name="T7" fmla="*/ 13 h 13"/>
                  <a:gd name="T8" fmla="*/ 12 w 12"/>
                  <a:gd name="T9" fmla="*/ 4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4"/>
                    </a:moveTo>
                    <a:lnTo>
                      <a:pt x="4" y="0"/>
                    </a:lnTo>
                    <a:lnTo>
                      <a:pt x="0" y="9"/>
                    </a:lnTo>
                    <a:lnTo>
                      <a:pt x="9" y="13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73" name="Freeform 641"/>
              <p:cNvSpPr>
                <a:spLocks/>
              </p:cNvSpPr>
              <p:nvPr/>
            </p:nvSpPr>
            <p:spPr bwMode="auto">
              <a:xfrm>
                <a:off x="2418" y="1367"/>
                <a:ext cx="13" cy="14"/>
              </a:xfrm>
              <a:custGeom>
                <a:avLst/>
                <a:gdLst>
                  <a:gd name="T0" fmla="*/ 13 w 13"/>
                  <a:gd name="T1" fmla="*/ 4 h 14"/>
                  <a:gd name="T2" fmla="*/ 4 w 13"/>
                  <a:gd name="T3" fmla="*/ 0 h 14"/>
                  <a:gd name="T4" fmla="*/ 0 w 13"/>
                  <a:gd name="T5" fmla="*/ 10 h 14"/>
                  <a:gd name="T6" fmla="*/ 9 w 13"/>
                  <a:gd name="T7" fmla="*/ 14 h 14"/>
                  <a:gd name="T8" fmla="*/ 13 w 13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4"/>
                  <a:gd name="T17" fmla="*/ 13 w 13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4">
                    <a:moveTo>
                      <a:pt x="13" y="4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3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74" name="Freeform 642"/>
              <p:cNvSpPr>
                <a:spLocks/>
              </p:cNvSpPr>
              <p:nvPr/>
            </p:nvSpPr>
            <p:spPr bwMode="auto">
              <a:xfrm>
                <a:off x="2411" y="1386"/>
                <a:ext cx="12" cy="14"/>
              </a:xfrm>
              <a:custGeom>
                <a:avLst/>
                <a:gdLst>
                  <a:gd name="T0" fmla="*/ 12 w 12"/>
                  <a:gd name="T1" fmla="*/ 4 h 14"/>
                  <a:gd name="T2" fmla="*/ 3 w 12"/>
                  <a:gd name="T3" fmla="*/ 0 h 14"/>
                  <a:gd name="T4" fmla="*/ 0 w 12"/>
                  <a:gd name="T5" fmla="*/ 10 h 14"/>
                  <a:gd name="T6" fmla="*/ 8 w 12"/>
                  <a:gd name="T7" fmla="*/ 14 h 14"/>
                  <a:gd name="T8" fmla="*/ 12 w 12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12" y="4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8" y="14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75" name="Freeform 643"/>
              <p:cNvSpPr>
                <a:spLocks/>
              </p:cNvSpPr>
              <p:nvPr/>
            </p:nvSpPr>
            <p:spPr bwMode="auto">
              <a:xfrm>
                <a:off x="2404" y="1405"/>
                <a:ext cx="12" cy="14"/>
              </a:xfrm>
              <a:custGeom>
                <a:avLst/>
                <a:gdLst>
                  <a:gd name="T0" fmla="*/ 12 w 12"/>
                  <a:gd name="T1" fmla="*/ 4 h 14"/>
                  <a:gd name="T2" fmla="*/ 3 w 12"/>
                  <a:gd name="T3" fmla="*/ 0 h 14"/>
                  <a:gd name="T4" fmla="*/ 0 w 12"/>
                  <a:gd name="T5" fmla="*/ 10 h 14"/>
                  <a:gd name="T6" fmla="*/ 9 w 12"/>
                  <a:gd name="T7" fmla="*/ 14 h 14"/>
                  <a:gd name="T8" fmla="*/ 12 w 12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12" y="4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76" name="Freeform 644"/>
              <p:cNvSpPr>
                <a:spLocks/>
              </p:cNvSpPr>
              <p:nvPr/>
            </p:nvSpPr>
            <p:spPr bwMode="auto">
              <a:xfrm>
                <a:off x="2397" y="1424"/>
                <a:ext cx="12" cy="14"/>
              </a:xfrm>
              <a:custGeom>
                <a:avLst/>
                <a:gdLst>
                  <a:gd name="T0" fmla="*/ 12 w 12"/>
                  <a:gd name="T1" fmla="*/ 4 h 14"/>
                  <a:gd name="T2" fmla="*/ 3 w 12"/>
                  <a:gd name="T3" fmla="*/ 0 h 14"/>
                  <a:gd name="T4" fmla="*/ 2 w 12"/>
                  <a:gd name="T5" fmla="*/ 4 h 14"/>
                  <a:gd name="T6" fmla="*/ 0 w 12"/>
                  <a:gd name="T7" fmla="*/ 10 h 14"/>
                  <a:gd name="T8" fmla="*/ 8 w 12"/>
                  <a:gd name="T9" fmla="*/ 14 h 14"/>
                  <a:gd name="T10" fmla="*/ 12 w 12"/>
                  <a:gd name="T11" fmla="*/ 4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2"/>
                  <a:gd name="T19" fmla="*/ 0 h 14"/>
                  <a:gd name="T20" fmla="*/ 12 w 12"/>
                  <a:gd name="T21" fmla="*/ 14 h 1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2" h="14">
                    <a:moveTo>
                      <a:pt x="12" y="4"/>
                    </a:moveTo>
                    <a:lnTo>
                      <a:pt x="3" y="0"/>
                    </a:lnTo>
                    <a:lnTo>
                      <a:pt x="2" y="4"/>
                    </a:lnTo>
                    <a:lnTo>
                      <a:pt x="0" y="10"/>
                    </a:lnTo>
                    <a:lnTo>
                      <a:pt x="8" y="14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77" name="Freeform 645"/>
              <p:cNvSpPr>
                <a:spLocks/>
              </p:cNvSpPr>
              <p:nvPr/>
            </p:nvSpPr>
            <p:spPr bwMode="auto">
              <a:xfrm>
                <a:off x="2390" y="1443"/>
                <a:ext cx="12" cy="14"/>
              </a:xfrm>
              <a:custGeom>
                <a:avLst/>
                <a:gdLst>
                  <a:gd name="T0" fmla="*/ 12 w 12"/>
                  <a:gd name="T1" fmla="*/ 4 h 14"/>
                  <a:gd name="T2" fmla="*/ 3 w 12"/>
                  <a:gd name="T3" fmla="*/ 0 h 14"/>
                  <a:gd name="T4" fmla="*/ 0 w 12"/>
                  <a:gd name="T5" fmla="*/ 10 h 14"/>
                  <a:gd name="T6" fmla="*/ 9 w 12"/>
                  <a:gd name="T7" fmla="*/ 14 h 14"/>
                  <a:gd name="T8" fmla="*/ 12 w 12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12" y="4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78" name="Freeform 646"/>
              <p:cNvSpPr>
                <a:spLocks/>
              </p:cNvSpPr>
              <p:nvPr/>
            </p:nvSpPr>
            <p:spPr bwMode="auto">
              <a:xfrm>
                <a:off x="2383" y="1462"/>
                <a:ext cx="12" cy="14"/>
              </a:xfrm>
              <a:custGeom>
                <a:avLst/>
                <a:gdLst>
                  <a:gd name="T0" fmla="*/ 12 w 12"/>
                  <a:gd name="T1" fmla="*/ 4 h 14"/>
                  <a:gd name="T2" fmla="*/ 3 w 12"/>
                  <a:gd name="T3" fmla="*/ 0 h 14"/>
                  <a:gd name="T4" fmla="*/ 0 w 12"/>
                  <a:gd name="T5" fmla="*/ 10 h 14"/>
                  <a:gd name="T6" fmla="*/ 9 w 12"/>
                  <a:gd name="T7" fmla="*/ 14 h 14"/>
                  <a:gd name="T8" fmla="*/ 12 w 12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12" y="4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79" name="Freeform 647"/>
              <p:cNvSpPr>
                <a:spLocks/>
              </p:cNvSpPr>
              <p:nvPr/>
            </p:nvSpPr>
            <p:spPr bwMode="auto">
              <a:xfrm>
                <a:off x="2376" y="1481"/>
                <a:ext cx="12" cy="14"/>
              </a:xfrm>
              <a:custGeom>
                <a:avLst/>
                <a:gdLst>
                  <a:gd name="T0" fmla="*/ 12 w 12"/>
                  <a:gd name="T1" fmla="*/ 4 h 14"/>
                  <a:gd name="T2" fmla="*/ 3 w 12"/>
                  <a:gd name="T3" fmla="*/ 0 h 14"/>
                  <a:gd name="T4" fmla="*/ 0 w 12"/>
                  <a:gd name="T5" fmla="*/ 10 h 14"/>
                  <a:gd name="T6" fmla="*/ 9 w 12"/>
                  <a:gd name="T7" fmla="*/ 14 h 14"/>
                  <a:gd name="T8" fmla="*/ 12 w 12"/>
                  <a:gd name="T9" fmla="*/ 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4"/>
                  <a:gd name="T17" fmla="*/ 12 w 12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4">
                    <a:moveTo>
                      <a:pt x="12" y="4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4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80" name="Freeform 648"/>
              <p:cNvSpPr>
                <a:spLocks/>
              </p:cNvSpPr>
              <p:nvPr/>
            </p:nvSpPr>
            <p:spPr bwMode="auto">
              <a:xfrm>
                <a:off x="2369" y="1500"/>
                <a:ext cx="12" cy="14"/>
              </a:xfrm>
              <a:custGeom>
                <a:avLst/>
                <a:gdLst>
                  <a:gd name="T0" fmla="*/ 12 w 12"/>
                  <a:gd name="T1" fmla="*/ 4 h 14"/>
                  <a:gd name="T2" fmla="*/ 4 w 12"/>
                  <a:gd name="T3" fmla="*/ 0 h 14"/>
                  <a:gd name="T4" fmla="*/ 2 w 12"/>
                  <a:gd name="T5" fmla="*/ 5 h 14"/>
                  <a:gd name="T6" fmla="*/ 0 w 12"/>
                  <a:gd name="T7" fmla="*/ 12 h 14"/>
                  <a:gd name="T8" fmla="*/ 9 w 12"/>
                  <a:gd name="T9" fmla="*/ 14 h 14"/>
                  <a:gd name="T10" fmla="*/ 12 w 12"/>
                  <a:gd name="T11" fmla="*/ 5 h 14"/>
                  <a:gd name="T12" fmla="*/ 12 w 12"/>
                  <a:gd name="T13" fmla="*/ 4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"/>
                  <a:gd name="T22" fmla="*/ 0 h 14"/>
                  <a:gd name="T23" fmla="*/ 12 w 12"/>
                  <a:gd name="T24" fmla="*/ 14 h 1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" h="14">
                    <a:moveTo>
                      <a:pt x="12" y="4"/>
                    </a:moveTo>
                    <a:lnTo>
                      <a:pt x="4" y="0"/>
                    </a:lnTo>
                    <a:lnTo>
                      <a:pt x="2" y="5"/>
                    </a:lnTo>
                    <a:lnTo>
                      <a:pt x="0" y="12"/>
                    </a:lnTo>
                    <a:lnTo>
                      <a:pt x="9" y="14"/>
                    </a:lnTo>
                    <a:lnTo>
                      <a:pt x="12" y="5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81" name="Freeform 649"/>
              <p:cNvSpPr>
                <a:spLocks/>
              </p:cNvSpPr>
              <p:nvPr/>
            </p:nvSpPr>
            <p:spPr bwMode="auto">
              <a:xfrm>
                <a:off x="2362" y="1521"/>
                <a:ext cx="13" cy="12"/>
              </a:xfrm>
              <a:custGeom>
                <a:avLst/>
                <a:gdLst>
                  <a:gd name="T0" fmla="*/ 13 w 13"/>
                  <a:gd name="T1" fmla="*/ 2 h 12"/>
                  <a:gd name="T2" fmla="*/ 4 w 13"/>
                  <a:gd name="T3" fmla="*/ 0 h 12"/>
                  <a:gd name="T4" fmla="*/ 0 w 13"/>
                  <a:gd name="T5" fmla="*/ 10 h 12"/>
                  <a:gd name="T6" fmla="*/ 9 w 13"/>
                  <a:gd name="T7" fmla="*/ 12 h 12"/>
                  <a:gd name="T8" fmla="*/ 13 w 13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2"/>
                  <a:gd name="T17" fmla="*/ 13 w 13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2">
                    <a:moveTo>
                      <a:pt x="13" y="2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9" y="12"/>
                    </a:lnTo>
                    <a:lnTo>
                      <a:pt x="13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82" name="Freeform 650"/>
              <p:cNvSpPr>
                <a:spLocks/>
              </p:cNvSpPr>
              <p:nvPr/>
            </p:nvSpPr>
            <p:spPr bwMode="auto">
              <a:xfrm>
                <a:off x="2356" y="1540"/>
                <a:ext cx="11" cy="12"/>
              </a:xfrm>
              <a:custGeom>
                <a:avLst/>
                <a:gdLst>
                  <a:gd name="T0" fmla="*/ 11 w 11"/>
                  <a:gd name="T1" fmla="*/ 2 h 12"/>
                  <a:gd name="T2" fmla="*/ 3 w 11"/>
                  <a:gd name="T3" fmla="*/ 0 h 12"/>
                  <a:gd name="T4" fmla="*/ 0 w 11"/>
                  <a:gd name="T5" fmla="*/ 10 h 12"/>
                  <a:gd name="T6" fmla="*/ 9 w 11"/>
                  <a:gd name="T7" fmla="*/ 12 h 12"/>
                  <a:gd name="T8" fmla="*/ 11 w 11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11" y="2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2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83" name="Freeform 651"/>
              <p:cNvSpPr>
                <a:spLocks/>
              </p:cNvSpPr>
              <p:nvPr/>
            </p:nvSpPr>
            <p:spPr bwMode="auto">
              <a:xfrm>
                <a:off x="2350" y="1559"/>
                <a:ext cx="11" cy="13"/>
              </a:xfrm>
              <a:custGeom>
                <a:avLst/>
                <a:gdLst>
                  <a:gd name="T0" fmla="*/ 11 w 11"/>
                  <a:gd name="T1" fmla="*/ 2 h 13"/>
                  <a:gd name="T2" fmla="*/ 2 w 11"/>
                  <a:gd name="T3" fmla="*/ 0 h 13"/>
                  <a:gd name="T4" fmla="*/ 0 w 11"/>
                  <a:gd name="T5" fmla="*/ 10 h 13"/>
                  <a:gd name="T6" fmla="*/ 9 w 11"/>
                  <a:gd name="T7" fmla="*/ 13 h 13"/>
                  <a:gd name="T8" fmla="*/ 11 w 11"/>
                  <a:gd name="T9" fmla="*/ 2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2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84" name="Freeform 652"/>
              <p:cNvSpPr>
                <a:spLocks/>
              </p:cNvSpPr>
              <p:nvPr/>
            </p:nvSpPr>
            <p:spPr bwMode="auto">
              <a:xfrm>
                <a:off x="2343" y="1579"/>
                <a:ext cx="12" cy="12"/>
              </a:xfrm>
              <a:custGeom>
                <a:avLst/>
                <a:gdLst>
                  <a:gd name="T0" fmla="*/ 12 w 12"/>
                  <a:gd name="T1" fmla="*/ 3 h 12"/>
                  <a:gd name="T2" fmla="*/ 3 w 12"/>
                  <a:gd name="T3" fmla="*/ 0 h 12"/>
                  <a:gd name="T4" fmla="*/ 2 w 12"/>
                  <a:gd name="T5" fmla="*/ 4 h 12"/>
                  <a:gd name="T6" fmla="*/ 0 w 12"/>
                  <a:gd name="T7" fmla="*/ 9 h 12"/>
                  <a:gd name="T8" fmla="*/ 9 w 12"/>
                  <a:gd name="T9" fmla="*/ 12 h 12"/>
                  <a:gd name="T10" fmla="*/ 12 w 12"/>
                  <a:gd name="T11" fmla="*/ 4 h 12"/>
                  <a:gd name="T12" fmla="*/ 12 w 12"/>
                  <a:gd name="T13" fmla="*/ 3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"/>
                  <a:gd name="T22" fmla="*/ 0 h 12"/>
                  <a:gd name="T23" fmla="*/ 12 w 12"/>
                  <a:gd name="T24" fmla="*/ 12 h 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" h="12">
                    <a:moveTo>
                      <a:pt x="12" y="3"/>
                    </a:moveTo>
                    <a:lnTo>
                      <a:pt x="3" y="0"/>
                    </a:lnTo>
                    <a:lnTo>
                      <a:pt x="2" y="4"/>
                    </a:lnTo>
                    <a:lnTo>
                      <a:pt x="0" y="9"/>
                    </a:lnTo>
                    <a:lnTo>
                      <a:pt x="9" y="12"/>
                    </a:lnTo>
                    <a:lnTo>
                      <a:pt x="12" y="4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85" name="Freeform 653"/>
              <p:cNvSpPr>
                <a:spLocks/>
              </p:cNvSpPr>
              <p:nvPr/>
            </p:nvSpPr>
            <p:spPr bwMode="auto">
              <a:xfrm>
                <a:off x="2337" y="1598"/>
                <a:ext cx="13" cy="12"/>
              </a:xfrm>
              <a:custGeom>
                <a:avLst/>
                <a:gdLst>
                  <a:gd name="T0" fmla="*/ 13 w 13"/>
                  <a:gd name="T1" fmla="*/ 3 h 12"/>
                  <a:gd name="T2" fmla="*/ 4 w 13"/>
                  <a:gd name="T3" fmla="*/ 0 h 12"/>
                  <a:gd name="T4" fmla="*/ 0 w 13"/>
                  <a:gd name="T5" fmla="*/ 9 h 12"/>
                  <a:gd name="T6" fmla="*/ 9 w 13"/>
                  <a:gd name="T7" fmla="*/ 12 h 12"/>
                  <a:gd name="T8" fmla="*/ 13 w 13"/>
                  <a:gd name="T9" fmla="*/ 3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2"/>
                  <a:gd name="T17" fmla="*/ 13 w 13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2">
                    <a:moveTo>
                      <a:pt x="13" y="3"/>
                    </a:moveTo>
                    <a:lnTo>
                      <a:pt x="4" y="0"/>
                    </a:lnTo>
                    <a:lnTo>
                      <a:pt x="0" y="9"/>
                    </a:lnTo>
                    <a:lnTo>
                      <a:pt x="9" y="12"/>
                    </a:lnTo>
                    <a:lnTo>
                      <a:pt x="13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86" name="Freeform 654"/>
              <p:cNvSpPr>
                <a:spLocks/>
              </p:cNvSpPr>
              <p:nvPr/>
            </p:nvSpPr>
            <p:spPr bwMode="auto">
              <a:xfrm>
                <a:off x="2332" y="1617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2 w 11"/>
                  <a:gd name="T3" fmla="*/ 0 h 13"/>
                  <a:gd name="T4" fmla="*/ 0 w 11"/>
                  <a:gd name="T5" fmla="*/ 10 h 13"/>
                  <a:gd name="T6" fmla="*/ 9 w 11"/>
                  <a:gd name="T7" fmla="*/ 13 h 13"/>
                  <a:gd name="T8" fmla="*/ 11 w 11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3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87" name="Freeform 655"/>
              <p:cNvSpPr>
                <a:spLocks/>
              </p:cNvSpPr>
              <p:nvPr/>
            </p:nvSpPr>
            <p:spPr bwMode="auto">
              <a:xfrm>
                <a:off x="2326" y="1636"/>
                <a:ext cx="11" cy="13"/>
              </a:xfrm>
              <a:custGeom>
                <a:avLst/>
                <a:gdLst>
                  <a:gd name="T0" fmla="*/ 11 w 11"/>
                  <a:gd name="T1" fmla="*/ 3 h 13"/>
                  <a:gd name="T2" fmla="*/ 2 w 11"/>
                  <a:gd name="T3" fmla="*/ 0 h 13"/>
                  <a:gd name="T4" fmla="*/ 0 w 11"/>
                  <a:gd name="T5" fmla="*/ 11 h 13"/>
                  <a:gd name="T6" fmla="*/ 8 w 11"/>
                  <a:gd name="T7" fmla="*/ 13 h 13"/>
                  <a:gd name="T8" fmla="*/ 11 w 11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11" y="3"/>
                    </a:moveTo>
                    <a:lnTo>
                      <a:pt x="2" y="0"/>
                    </a:lnTo>
                    <a:lnTo>
                      <a:pt x="0" y="11"/>
                    </a:lnTo>
                    <a:lnTo>
                      <a:pt x="8" y="13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88" name="Freeform 656"/>
              <p:cNvSpPr>
                <a:spLocks/>
              </p:cNvSpPr>
              <p:nvPr/>
            </p:nvSpPr>
            <p:spPr bwMode="auto">
              <a:xfrm>
                <a:off x="2320" y="1657"/>
                <a:ext cx="12" cy="12"/>
              </a:xfrm>
              <a:custGeom>
                <a:avLst/>
                <a:gdLst>
                  <a:gd name="T0" fmla="*/ 12 w 12"/>
                  <a:gd name="T1" fmla="*/ 2 h 12"/>
                  <a:gd name="T2" fmla="*/ 3 w 12"/>
                  <a:gd name="T3" fmla="*/ 0 h 12"/>
                  <a:gd name="T4" fmla="*/ 2 w 12"/>
                  <a:gd name="T5" fmla="*/ 4 h 12"/>
                  <a:gd name="T6" fmla="*/ 0 w 12"/>
                  <a:gd name="T7" fmla="*/ 10 h 12"/>
                  <a:gd name="T8" fmla="*/ 9 w 12"/>
                  <a:gd name="T9" fmla="*/ 12 h 12"/>
                  <a:gd name="T10" fmla="*/ 12 w 12"/>
                  <a:gd name="T11" fmla="*/ 4 h 12"/>
                  <a:gd name="T12" fmla="*/ 12 w 12"/>
                  <a:gd name="T13" fmla="*/ 2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"/>
                  <a:gd name="T22" fmla="*/ 0 h 12"/>
                  <a:gd name="T23" fmla="*/ 12 w 12"/>
                  <a:gd name="T24" fmla="*/ 12 h 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" h="12">
                    <a:moveTo>
                      <a:pt x="12" y="2"/>
                    </a:moveTo>
                    <a:lnTo>
                      <a:pt x="3" y="0"/>
                    </a:lnTo>
                    <a:lnTo>
                      <a:pt x="2" y="4"/>
                    </a:lnTo>
                    <a:lnTo>
                      <a:pt x="0" y="10"/>
                    </a:lnTo>
                    <a:lnTo>
                      <a:pt x="9" y="12"/>
                    </a:lnTo>
                    <a:lnTo>
                      <a:pt x="12" y="4"/>
                    </a:ln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89" name="Freeform 657"/>
              <p:cNvSpPr>
                <a:spLocks/>
              </p:cNvSpPr>
              <p:nvPr/>
            </p:nvSpPr>
            <p:spPr bwMode="auto">
              <a:xfrm>
                <a:off x="2315" y="1676"/>
                <a:ext cx="12" cy="13"/>
              </a:xfrm>
              <a:custGeom>
                <a:avLst/>
                <a:gdLst>
                  <a:gd name="T0" fmla="*/ 12 w 12"/>
                  <a:gd name="T1" fmla="*/ 2 h 13"/>
                  <a:gd name="T2" fmla="*/ 3 w 12"/>
                  <a:gd name="T3" fmla="*/ 0 h 13"/>
                  <a:gd name="T4" fmla="*/ 0 w 12"/>
                  <a:gd name="T5" fmla="*/ 10 h 13"/>
                  <a:gd name="T6" fmla="*/ 9 w 12"/>
                  <a:gd name="T7" fmla="*/ 13 h 13"/>
                  <a:gd name="T8" fmla="*/ 12 w 12"/>
                  <a:gd name="T9" fmla="*/ 2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2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90" name="Freeform 658"/>
              <p:cNvSpPr>
                <a:spLocks/>
              </p:cNvSpPr>
              <p:nvPr/>
            </p:nvSpPr>
            <p:spPr bwMode="auto">
              <a:xfrm>
                <a:off x="2310" y="1696"/>
                <a:ext cx="12" cy="13"/>
              </a:xfrm>
              <a:custGeom>
                <a:avLst/>
                <a:gdLst>
                  <a:gd name="T0" fmla="*/ 12 w 12"/>
                  <a:gd name="T1" fmla="*/ 3 h 13"/>
                  <a:gd name="T2" fmla="*/ 3 w 12"/>
                  <a:gd name="T3" fmla="*/ 0 h 13"/>
                  <a:gd name="T4" fmla="*/ 0 w 12"/>
                  <a:gd name="T5" fmla="*/ 10 h 13"/>
                  <a:gd name="T6" fmla="*/ 9 w 12"/>
                  <a:gd name="T7" fmla="*/ 13 h 13"/>
                  <a:gd name="T8" fmla="*/ 12 w 12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3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91" name="Freeform 659"/>
              <p:cNvSpPr>
                <a:spLocks/>
              </p:cNvSpPr>
              <p:nvPr/>
            </p:nvSpPr>
            <p:spPr bwMode="auto">
              <a:xfrm>
                <a:off x="2305" y="1715"/>
                <a:ext cx="12" cy="13"/>
              </a:xfrm>
              <a:custGeom>
                <a:avLst/>
                <a:gdLst>
                  <a:gd name="T0" fmla="*/ 12 w 12"/>
                  <a:gd name="T1" fmla="*/ 3 h 13"/>
                  <a:gd name="T2" fmla="*/ 3 w 12"/>
                  <a:gd name="T3" fmla="*/ 0 h 13"/>
                  <a:gd name="T4" fmla="*/ 0 w 12"/>
                  <a:gd name="T5" fmla="*/ 10 h 13"/>
                  <a:gd name="T6" fmla="*/ 9 w 12"/>
                  <a:gd name="T7" fmla="*/ 13 h 13"/>
                  <a:gd name="T8" fmla="*/ 12 w 12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12" y="3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3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92" name="Freeform 660"/>
              <p:cNvSpPr>
                <a:spLocks/>
              </p:cNvSpPr>
              <p:nvPr/>
            </p:nvSpPr>
            <p:spPr bwMode="auto">
              <a:xfrm>
                <a:off x="2300" y="1736"/>
                <a:ext cx="12" cy="11"/>
              </a:xfrm>
              <a:custGeom>
                <a:avLst/>
                <a:gdLst>
                  <a:gd name="T0" fmla="*/ 12 w 12"/>
                  <a:gd name="T1" fmla="*/ 2 h 11"/>
                  <a:gd name="T2" fmla="*/ 3 w 12"/>
                  <a:gd name="T3" fmla="*/ 0 h 11"/>
                  <a:gd name="T4" fmla="*/ 1 w 12"/>
                  <a:gd name="T5" fmla="*/ 2 h 11"/>
                  <a:gd name="T6" fmla="*/ 0 w 12"/>
                  <a:gd name="T7" fmla="*/ 10 h 11"/>
                  <a:gd name="T8" fmla="*/ 9 w 12"/>
                  <a:gd name="T9" fmla="*/ 11 h 11"/>
                  <a:gd name="T10" fmla="*/ 12 w 12"/>
                  <a:gd name="T11" fmla="*/ 2 h 1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2"/>
                  <a:gd name="T19" fmla="*/ 0 h 11"/>
                  <a:gd name="T20" fmla="*/ 12 w 12"/>
                  <a:gd name="T21" fmla="*/ 11 h 1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2" h="11">
                    <a:moveTo>
                      <a:pt x="12" y="2"/>
                    </a:moveTo>
                    <a:lnTo>
                      <a:pt x="3" y="0"/>
                    </a:lnTo>
                    <a:lnTo>
                      <a:pt x="1" y="2"/>
                    </a:lnTo>
                    <a:lnTo>
                      <a:pt x="0" y="10"/>
                    </a:lnTo>
                    <a:lnTo>
                      <a:pt x="9" y="11"/>
                    </a:lnTo>
                    <a:lnTo>
                      <a:pt x="12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93" name="Freeform 661"/>
              <p:cNvSpPr>
                <a:spLocks/>
              </p:cNvSpPr>
              <p:nvPr/>
            </p:nvSpPr>
            <p:spPr bwMode="auto">
              <a:xfrm>
                <a:off x="2296" y="1756"/>
                <a:ext cx="12" cy="11"/>
              </a:xfrm>
              <a:custGeom>
                <a:avLst/>
                <a:gdLst>
                  <a:gd name="T0" fmla="*/ 12 w 12"/>
                  <a:gd name="T1" fmla="*/ 1 h 11"/>
                  <a:gd name="T2" fmla="*/ 3 w 12"/>
                  <a:gd name="T3" fmla="*/ 0 h 11"/>
                  <a:gd name="T4" fmla="*/ 0 w 12"/>
                  <a:gd name="T5" fmla="*/ 10 h 11"/>
                  <a:gd name="T6" fmla="*/ 9 w 12"/>
                  <a:gd name="T7" fmla="*/ 11 h 11"/>
                  <a:gd name="T8" fmla="*/ 12 w 12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12" y="1"/>
                    </a:moveTo>
                    <a:lnTo>
                      <a:pt x="3" y="0"/>
                    </a:lnTo>
                    <a:lnTo>
                      <a:pt x="0" y="10"/>
                    </a:lnTo>
                    <a:lnTo>
                      <a:pt x="9" y="11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94" name="Freeform 662"/>
              <p:cNvSpPr>
                <a:spLocks/>
              </p:cNvSpPr>
              <p:nvPr/>
            </p:nvSpPr>
            <p:spPr bwMode="auto">
              <a:xfrm>
                <a:off x="2293" y="1776"/>
                <a:ext cx="11" cy="12"/>
              </a:xfrm>
              <a:custGeom>
                <a:avLst/>
                <a:gdLst>
                  <a:gd name="T0" fmla="*/ 11 w 11"/>
                  <a:gd name="T1" fmla="*/ 1 h 12"/>
                  <a:gd name="T2" fmla="*/ 2 w 11"/>
                  <a:gd name="T3" fmla="*/ 0 h 12"/>
                  <a:gd name="T4" fmla="*/ 1 w 11"/>
                  <a:gd name="T5" fmla="*/ 0 h 12"/>
                  <a:gd name="T6" fmla="*/ 0 w 11"/>
                  <a:gd name="T7" fmla="*/ 10 h 12"/>
                  <a:gd name="T8" fmla="*/ 10 w 11"/>
                  <a:gd name="T9" fmla="*/ 12 h 12"/>
                  <a:gd name="T10" fmla="*/ 11 w 11"/>
                  <a:gd name="T11" fmla="*/ 0 h 12"/>
                  <a:gd name="T12" fmla="*/ 11 w 11"/>
                  <a:gd name="T13" fmla="*/ 1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"/>
                  <a:gd name="T22" fmla="*/ 0 h 12"/>
                  <a:gd name="T23" fmla="*/ 11 w 11"/>
                  <a:gd name="T24" fmla="*/ 12 h 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" h="12">
                    <a:moveTo>
                      <a:pt x="11" y="1"/>
                    </a:moveTo>
                    <a:lnTo>
                      <a:pt x="2" y="0"/>
                    </a:lnTo>
                    <a:lnTo>
                      <a:pt x="1" y="0"/>
                    </a:lnTo>
                    <a:lnTo>
                      <a:pt x="0" y="10"/>
                    </a:lnTo>
                    <a:lnTo>
                      <a:pt x="10" y="12"/>
                    </a:lnTo>
                    <a:lnTo>
                      <a:pt x="11" y="0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95" name="Freeform 663"/>
              <p:cNvSpPr>
                <a:spLocks/>
              </p:cNvSpPr>
              <p:nvPr/>
            </p:nvSpPr>
            <p:spPr bwMode="auto">
              <a:xfrm>
                <a:off x="2289" y="1795"/>
                <a:ext cx="11" cy="12"/>
              </a:xfrm>
              <a:custGeom>
                <a:avLst/>
                <a:gdLst>
                  <a:gd name="T0" fmla="*/ 11 w 11"/>
                  <a:gd name="T1" fmla="*/ 2 h 12"/>
                  <a:gd name="T2" fmla="*/ 1 w 11"/>
                  <a:gd name="T3" fmla="*/ 0 h 12"/>
                  <a:gd name="T4" fmla="*/ 0 w 11"/>
                  <a:gd name="T5" fmla="*/ 10 h 12"/>
                  <a:gd name="T6" fmla="*/ 10 w 11"/>
                  <a:gd name="T7" fmla="*/ 12 h 12"/>
                  <a:gd name="T8" fmla="*/ 11 w 11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11" y="2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2"/>
                    </a:lnTo>
                    <a:lnTo>
                      <a:pt x="11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96" name="Freeform 664"/>
              <p:cNvSpPr>
                <a:spLocks/>
              </p:cNvSpPr>
              <p:nvPr/>
            </p:nvSpPr>
            <p:spPr bwMode="auto">
              <a:xfrm>
                <a:off x="2286" y="1816"/>
                <a:ext cx="12" cy="11"/>
              </a:xfrm>
              <a:custGeom>
                <a:avLst/>
                <a:gdLst>
                  <a:gd name="T0" fmla="*/ 12 w 12"/>
                  <a:gd name="T1" fmla="*/ 1 h 11"/>
                  <a:gd name="T2" fmla="*/ 1 w 12"/>
                  <a:gd name="T3" fmla="*/ 0 h 11"/>
                  <a:gd name="T4" fmla="*/ 0 w 12"/>
                  <a:gd name="T5" fmla="*/ 10 h 11"/>
                  <a:gd name="T6" fmla="*/ 10 w 12"/>
                  <a:gd name="T7" fmla="*/ 11 h 11"/>
                  <a:gd name="T8" fmla="*/ 12 w 12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12" y="1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97" name="Freeform 665"/>
              <p:cNvSpPr>
                <a:spLocks/>
              </p:cNvSpPr>
              <p:nvPr/>
            </p:nvSpPr>
            <p:spPr bwMode="auto">
              <a:xfrm>
                <a:off x="2282" y="1836"/>
                <a:ext cx="12" cy="11"/>
              </a:xfrm>
              <a:custGeom>
                <a:avLst/>
                <a:gdLst>
                  <a:gd name="T0" fmla="*/ 12 w 12"/>
                  <a:gd name="T1" fmla="*/ 1 h 11"/>
                  <a:gd name="T2" fmla="*/ 2 w 12"/>
                  <a:gd name="T3" fmla="*/ 0 h 11"/>
                  <a:gd name="T4" fmla="*/ 0 w 12"/>
                  <a:gd name="T5" fmla="*/ 10 h 11"/>
                  <a:gd name="T6" fmla="*/ 11 w 12"/>
                  <a:gd name="T7" fmla="*/ 11 h 11"/>
                  <a:gd name="T8" fmla="*/ 12 w 12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12" y="1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11" y="11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98" name="Freeform 666"/>
              <p:cNvSpPr>
                <a:spLocks/>
              </p:cNvSpPr>
              <p:nvPr/>
            </p:nvSpPr>
            <p:spPr bwMode="auto">
              <a:xfrm>
                <a:off x="2281" y="1856"/>
                <a:ext cx="10" cy="12"/>
              </a:xfrm>
              <a:custGeom>
                <a:avLst/>
                <a:gdLst>
                  <a:gd name="T0" fmla="*/ 10 w 10"/>
                  <a:gd name="T1" fmla="*/ 2 h 12"/>
                  <a:gd name="T2" fmla="*/ 0 w 10"/>
                  <a:gd name="T3" fmla="*/ 0 h 12"/>
                  <a:gd name="T4" fmla="*/ 0 w 10"/>
                  <a:gd name="T5" fmla="*/ 10 h 12"/>
                  <a:gd name="T6" fmla="*/ 10 w 10"/>
                  <a:gd name="T7" fmla="*/ 12 h 12"/>
                  <a:gd name="T8" fmla="*/ 10 w 10"/>
                  <a:gd name="T9" fmla="*/ 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2"/>
                  <a:gd name="T17" fmla="*/ 10 w 10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2">
                    <a:moveTo>
                      <a:pt x="10" y="2"/>
                    </a:moveTo>
                    <a:lnTo>
                      <a:pt x="0" y="0"/>
                    </a:lnTo>
                    <a:lnTo>
                      <a:pt x="0" y="10"/>
                    </a:lnTo>
                    <a:lnTo>
                      <a:pt x="10" y="12"/>
                    </a:lnTo>
                    <a:lnTo>
                      <a:pt x="10" y="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499" name="Freeform 667"/>
              <p:cNvSpPr>
                <a:spLocks/>
              </p:cNvSpPr>
              <p:nvPr/>
            </p:nvSpPr>
            <p:spPr bwMode="auto">
              <a:xfrm>
                <a:off x="2279" y="1877"/>
                <a:ext cx="11" cy="11"/>
              </a:xfrm>
              <a:custGeom>
                <a:avLst/>
                <a:gdLst>
                  <a:gd name="T0" fmla="*/ 11 w 11"/>
                  <a:gd name="T1" fmla="*/ 1 h 11"/>
                  <a:gd name="T2" fmla="*/ 1 w 11"/>
                  <a:gd name="T3" fmla="*/ 0 h 11"/>
                  <a:gd name="T4" fmla="*/ 0 w 11"/>
                  <a:gd name="T5" fmla="*/ 10 h 11"/>
                  <a:gd name="T6" fmla="*/ 10 w 11"/>
                  <a:gd name="T7" fmla="*/ 11 h 11"/>
                  <a:gd name="T8" fmla="*/ 11 w 11"/>
                  <a:gd name="T9" fmla="*/ 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11" y="1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00" name="Freeform 668"/>
              <p:cNvSpPr>
                <a:spLocks/>
              </p:cNvSpPr>
              <p:nvPr/>
            </p:nvSpPr>
            <p:spPr bwMode="auto">
              <a:xfrm>
                <a:off x="2277" y="1897"/>
                <a:ext cx="12" cy="10"/>
              </a:xfrm>
              <a:custGeom>
                <a:avLst/>
                <a:gdLst>
                  <a:gd name="T0" fmla="*/ 12 w 12"/>
                  <a:gd name="T1" fmla="*/ 0 h 10"/>
                  <a:gd name="T2" fmla="*/ 2 w 12"/>
                  <a:gd name="T3" fmla="*/ 0 h 10"/>
                  <a:gd name="T4" fmla="*/ 0 w 12"/>
                  <a:gd name="T5" fmla="*/ 10 h 10"/>
                  <a:gd name="T6" fmla="*/ 10 w 12"/>
                  <a:gd name="T7" fmla="*/ 10 h 10"/>
                  <a:gd name="T8" fmla="*/ 12 w 12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0"/>
                  <a:gd name="T17" fmla="*/ 12 w 12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0">
                    <a:moveTo>
                      <a:pt x="12" y="0"/>
                    </a:moveTo>
                    <a:lnTo>
                      <a:pt x="2" y="0"/>
                    </a:lnTo>
                    <a:lnTo>
                      <a:pt x="0" y="10"/>
                    </a:lnTo>
                    <a:lnTo>
                      <a:pt x="10" y="1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01" name="Freeform 669"/>
              <p:cNvSpPr>
                <a:spLocks/>
              </p:cNvSpPr>
              <p:nvPr/>
            </p:nvSpPr>
            <p:spPr bwMode="auto">
              <a:xfrm>
                <a:off x="2276" y="1917"/>
                <a:ext cx="11" cy="10"/>
              </a:xfrm>
              <a:custGeom>
                <a:avLst/>
                <a:gdLst>
                  <a:gd name="T0" fmla="*/ 11 w 11"/>
                  <a:gd name="T1" fmla="*/ 0 h 10"/>
                  <a:gd name="T2" fmla="*/ 1 w 11"/>
                  <a:gd name="T3" fmla="*/ 0 h 10"/>
                  <a:gd name="T4" fmla="*/ 0 w 11"/>
                  <a:gd name="T5" fmla="*/ 10 h 10"/>
                  <a:gd name="T6" fmla="*/ 10 w 11"/>
                  <a:gd name="T7" fmla="*/ 10 h 10"/>
                  <a:gd name="T8" fmla="*/ 11 w 1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0"/>
                  <a:gd name="T17" fmla="*/ 11 w 1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0">
                    <a:moveTo>
                      <a:pt x="11" y="0"/>
                    </a:moveTo>
                    <a:lnTo>
                      <a:pt x="1" y="0"/>
                    </a:lnTo>
                    <a:lnTo>
                      <a:pt x="0" y="10"/>
                    </a:lnTo>
                    <a:lnTo>
                      <a:pt x="10" y="10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02" name="Rectangle 670"/>
              <p:cNvSpPr>
                <a:spLocks noChangeArrowheads="1"/>
              </p:cNvSpPr>
              <p:nvPr/>
            </p:nvSpPr>
            <p:spPr bwMode="auto">
              <a:xfrm>
                <a:off x="2276" y="1938"/>
                <a:ext cx="10" cy="10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03" name="Rectangle 671"/>
              <p:cNvSpPr>
                <a:spLocks noChangeArrowheads="1"/>
              </p:cNvSpPr>
              <p:nvPr/>
            </p:nvSpPr>
            <p:spPr bwMode="auto">
              <a:xfrm>
                <a:off x="2276" y="1958"/>
                <a:ext cx="10" cy="10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04" name="Freeform 672"/>
              <p:cNvSpPr>
                <a:spLocks/>
              </p:cNvSpPr>
              <p:nvPr/>
            </p:nvSpPr>
            <p:spPr bwMode="auto">
              <a:xfrm>
                <a:off x="2276" y="1978"/>
                <a:ext cx="11" cy="10"/>
              </a:xfrm>
              <a:custGeom>
                <a:avLst/>
                <a:gdLst>
                  <a:gd name="T0" fmla="*/ 10 w 11"/>
                  <a:gd name="T1" fmla="*/ 0 h 10"/>
                  <a:gd name="T2" fmla="*/ 0 w 11"/>
                  <a:gd name="T3" fmla="*/ 0 h 10"/>
                  <a:gd name="T4" fmla="*/ 1 w 11"/>
                  <a:gd name="T5" fmla="*/ 10 h 10"/>
                  <a:gd name="T6" fmla="*/ 11 w 11"/>
                  <a:gd name="T7" fmla="*/ 10 h 10"/>
                  <a:gd name="T8" fmla="*/ 10 w 1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0"/>
                  <a:gd name="T17" fmla="*/ 11 w 1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0">
                    <a:moveTo>
                      <a:pt x="10" y="0"/>
                    </a:moveTo>
                    <a:lnTo>
                      <a:pt x="0" y="0"/>
                    </a:lnTo>
                    <a:lnTo>
                      <a:pt x="1" y="10"/>
                    </a:lnTo>
                    <a:lnTo>
                      <a:pt x="11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05" name="Freeform 673"/>
              <p:cNvSpPr>
                <a:spLocks/>
              </p:cNvSpPr>
              <p:nvPr/>
            </p:nvSpPr>
            <p:spPr bwMode="auto">
              <a:xfrm>
                <a:off x="2277" y="1999"/>
                <a:ext cx="10" cy="11"/>
              </a:xfrm>
              <a:custGeom>
                <a:avLst/>
                <a:gdLst>
                  <a:gd name="T0" fmla="*/ 10 w 10"/>
                  <a:gd name="T1" fmla="*/ 0 h 11"/>
                  <a:gd name="T2" fmla="*/ 0 w 10"/>
                  <a:gd name="T3" fmla="*/ 0 h 11"/>
                  <a:gd name="T4" fmla="*/ 0 w 10"/>
                  <a:gd name="T5" fmla="*/ 6 h 11"/>
                  <a:gd name="T6" fmla="*/ 0 w 10"/>
                  <a:gd name="T7" fmla="*/ 11 h 11"/>
                  <a:gd name="T8" fmla="*/ 10 w 10"/>
                  <a:gd name="T9" fmla="*/ 10 h 11"/>
                  <a:gd name="T10" fmla="*/ 10 w 10"/>
                  <a:gd name="T11" fmla="*/ 6 h 11"/>
                  <a:gd name="T12" fmla="*/ 10 w 10"/>
                  <a:gd name="T13" fmla="*/ 0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"/>
                  <a:gd name="T22" fmla="*/ 0 h 11"/>
                  <a:gd name="T23" fmla="*/ 10 w 10"/>
                  <a:gd name="T24" fmla="*/ 11 h 1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" h="11">
                    <a:moveTo>
                      <a:pt x="10" y="0"/>
                    </a:move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10" y="10"/>
                    </a:lnTo>
                    <a:lnTo>
                      <a:pt x="10" y="6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06" name="Freeform 674"/>
              <p:cNvSpPr>
                <a:spLocks/>
              </p:cNvSpPr>
              <p:nvPr/>
            </p:nvSpPr>
            <p:spPr bwMode="auto">
              <a:xfrm>
                <a:off x="2279" y="2019"/>
                <a:ext cx="10" cy="11"/>
              </a:xfrm>
              <a:custGeom>
                <a:avLst/>
                <a:gdLst>
                  <a:gd name="T0" fmla="*/ 10 w 10"/>
                  <a:gd name="T1" fmla="*/ 0 h 11"/>
                  <a:gd name="T2" fmla="*/ 0 w 10"/>
                  <a:gd name="T3" fmla="*/ 1 h 11"/>
                  <a:gd name="T4" fmla="*/ 0 w 10"/>
                  <a:gd name="T5" fmla="*/ 11 h 11"/>
                  <a:gd name="T6" fmla="*/ 10 w 10"/>
                  <a:gd name="T7" fmla="*/ 10 h 11"/>
                  <a:gd name="T8" fmla="*/ 10 w 10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1"/>
                  <a:gd name="T17" fmla="*/ 10 w 10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1">
                    <a:moveTo>
                      <a:pt x="10" y="0"/>
                    </a:moveTo>
                    <a:lnTo>
                      <a:pt x="0" y="1"/>
                    </a:lnTo>
                    <a:lnTo>
                      <a:pt x="0" y="11"/>
                    </a:lnTo>
                    <a:lnTo>
                      <a:pt x="10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07" name="Freeform 675"/>
              <p:cNvSpPr>
                <a:spLocks/>
              </p:cNvSpPr>
              <p:nvPr/>
            </p:nvSpPr>
            <p:spPr bwMode="auto">
              <a:xfrm>
                <a:off x="2280" y="2039"/>
                <a:ext cx="11" cy="12"/>
              </a:xfrm>
              <a:custGeom>
                <a:avLst/>
                <a:gdLst>
                  <a:gd name="T0" fmla="*/ 10 w 11"/>
                  <a:gd name="T1" fmla="*/ 0 h 12"/>
                  <a:gd name="T2" fmla="*/ 0 w 11"/>
                  <a:gd name="T3" fmla="*/ 2 h 12"/>
                  <a:gd name="T4" fmla="*/ 1 w 11"/>
                  <a:gd name="T5" fmla="*/ 12 h 12"/>
                  <a:gd name="T6" fmla="*/ 11 w 11"/>
                  <a:gd name="T7" fmla="*/ 11 h 12"/>
                  <a:gd name="T8" fmla="*/ 10 w 1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10" y="0"/>
                    </a:moveTo>
                    <a:lnTo>
                      <a:pt x="0" y="2"/>
                    </a:lnTo>
                    <a:lnTo>
                      <a:pt x="1" y="12"/>
                    </a:lnTo>
                    <a:lnTo>
                      <a:pt x="11" y="11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08" name="Freeform 676"/>
              <p:cNvSpPr>
                <a:spLocks/>
              </p:cNvSpPr>
              <p:nvPr/>
            </p:nvSpPr>
            <p:spPr bwMode="auto">
              <a:xfrm>
                <a:off x="2282" y="2060"/>
                <a:ext cx="12" cy="11"/>
              </a:xfrm>
              <a:custGeom>
                <a:avLst/>
                <a:gdLst>
                  <a:gd name="T0" fmla="*/ 11 w 12"/>
                  <a:gd name="T1" fmla="*/ 0 h 11"/>
                  <a:gd name="T2" fmla="*/ 0 w 12"/>
                  <a:gd name="T3" fmla="*/ 1 h 11"/>
                  <a:gd name="T4" fmla="*/ 2 w 12"/>
                  <a:gd name="T5" fmla="*/ 11 h 11"/>
                  <a:gd name="T6" fmla="*/ 12 w 12"/>
                  <a:gd name="T7" fmla="*/ 10 h 11"/>
                  <a:gd name="T8" fmla="*/ 11 w 12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11" y="0"/>
                    </a:moveTo>
                    <a:lnTo>
                      <a:pt x="0" y="1"/>
                    </a:lnTo>
                    <a:lnTo>
                      <a:pt x="2" y="11"/>
                    </a:lnTo>
                    <a:lnTo>
                      <a:pt x="12" y="10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09" name="Freeform 677"/>
              <p:cNvSpPr>
                <a:spLocks/>
              </p:cNvSpPr>
              <p:nvPr/>
            </p:nvSpPr>
            <p:spPr bwMode="auto">
              <a:xfrm>
                <a:off x="2285" y="2079"/>
                <a:ext cx="11" cy="11"/>
              </a:xfrm>
              <a:custGeom>
                <a:avLst/>
                <a:gdLst>
                  <a:gd name="T0" fmla="*/ 9 w 11"/>
                  <a:gd name="T1" fmla="*/ 0 h 11"/>
                  <a:gd name="T2" fmla="*/ 0 w 11"/>
                  <a:gd name="T3" fmla="*/ 1 h 11"/>
                  <a:gd name="T4" fmla="*/ 2 w 11"/>
                  <a:gd name="T5" fmla="*/ 11 h 11"/>
                  <a:gd name="T6" fmla="*/ 11 w 11"/>
                  <a:gd name="T7" fmla="*/ 10 h 11"/>
                  <a:gd name="T8" fmla="*/ 9 w 1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9" y="0"/>
                    </a:moveTo>
                    <a:lnTo>
                      <a:pt x="0" y="1"/>
                    </a:lnTo>
                    <a:lnTo>
                      <a:pt x="2" y="11"/>
                    </a:lnTo>
                    <a:lnTo>
                      <a:pt x="11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10" name="Freeform 678"/>
              <p:cNvSpPr>
                <a:spLocks/>
              </p:cNvSpPr>
              <p:nvPr/>
            </p:nvSpPr>
            <p:spPr bwMode="auto">
              <a:xfrm>
                <a:off x="2289" y="2099"/>
                <a:ext cx="10" cy="12"/>
              </a:xfrm>
              <a:custGeom>
                <a:avLst/>
                <a:gdLst>
                  <a:gd name="T0" fmla="*/ 9 w 10"/>
                  <a:gd name="T1" fmla="*/ 0 h 12"/>
                  <a:gd name="T2" fmla="*/ 0 w 10"/>
                  <a:gd name="T3" fmla="*/ 1 h 12"/>
                  <a:gd name="T4" fmla="*/ 0 w 10"/>
                  <a:gd name="T5" fmla="*/ 8 h 12"/>
                  <a:gd name="T6" fmla="*/ 1 w 10"/>
                  <a:gd name="T7" fmla="*/ 12 h 12"/>
                  <a:gd name="T8" fmla="*/ 10 w 10"/>
                  <a:gd name="T9" fmla="*/ 10 h 12"/>
                  <a:gd name="T10" fmla="*/ 10 w 10"/>
                  <a:gd name="T11" fmla="*/ 8 h 12"/>
                  <a:gd name="T12" fmla="*/ 9 w 10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"/>
                  <a:gd name="T22" fmla="*/ 0 h 12"/>
                  <a:gd name="T23" fmla="*/ 10 w 10"/>
                  <a:gd name="T24" fmla="*/ 12 h 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" h="12">
                    <a:moveTo>
                      <a:pt x="9" y="0"/>
                    </a:moveTo>
                    <a:lnTo>
                      <a:pt x="0" y="1"/>
                    </a:lnTo>
                    <a:lnTo>
                      <a:pt x="0" y="8"/>
                    </a:lnTo>
                    <a:lnTo>
                      <a:pt x="1" y="12"/>
                    </a:lnTo>
                    <a:lnTo>
                      <a:pt x="10" y="10"/>
                    </a:lnTo>
                    <a:lnTo>
                      <a:pt x="1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11" name="Freeform 679"/>
              <p:cNvSpPr>
                <a:spLocks/>
              </p:cNvSpPr>
              <p:nvPr/>
            </p:nvSpPr>
            <p:spPr bwMode="auto">
              <a:xfrm>
                <a:off x="2293" y="2119"/>
                <a:ext cx="10" cy="12"/>
              </a:xfrm>
              <a:custGeom>
                <a:avLst/>
                <a:gdLst>
                  <a:gd name="T0" fmla="*/ 8 w 10"/>
                  <a:gd name="T1" fmla="*/ 0 h 12"/>
                  <a:gd name="T2" fmla="*/ 0 w 10"/>
                  <a:gd name="T3" fmla="*/ 2 h 12"/>
                  <a:gd name="T4" fmla="*/ 1 w 10"/>
                  <a:gd name="T5" fmla="*/ 12 h 12"/>
                  <a:gd name="T6" fmla="*/ 10 w 10"/>
                  <a:gd name="T7" fmla="*/ 11 h 12"/>
                  <a:gd name="T8" fmla="*/ 8 w 10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12"/>
                  <a:gd name="T17" fmla="*/ 10 w 10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12">
                    <a:moveTo>
                      <a:pt x="8" y="0"/>
                    </a:moveTo>
                    <a:lnTo>
                      <a:pt x="0" y="2"/>
                    </a:lnTo>
                    <a:lnTo>
                      <a:pt x="1" y="12"/>
                    </a:lnTo>
                    <a:lnTo>
                      <a:pt x="10" y="11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12" name="Freeform 680"/>
              <p:cNvSpPr>
                <a:spLocks/>
              </p:cNvSpPr>
              <p:nvPr/>
            </p:nvSpPr>
            <p:spPr bwMode="auto">
              <a:xfrm>
                <a:off x="2296" y="2140"/>
                <a:ext cx="11" cy="11"/>
              </a:xfrm>
              <a:custGeom>
                <a:avLst/>
                <a:gdLst>
                  <a:gd name="T0" fmla="*/ 9 w 11"/>
                  <a:gd name="T1" fmla="*/ 0 h 11"/>
                  <a:gd name="T2" fmla="*/ 0 w 11"/>
                  <a:gd name="T3" fmla="*/ 1 h 11"/>
                  <a:gd name="T4" fmla="*/ 2 w 11"/>
                  <a:gd name="T5" fmla="*/ 11 h 11"/>
                  <a:gd name="T6" fmla="*/ 11 w 11"/>
                  <a:gd name="T7" fmla="*/ 10 h 11"/>
                  <a:gd name="T8" fmla="*/ 9 w 1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9" y="0"/>
                    </a:moveTo>
                    <a:lnTo>
                      <a:pt x="0" y="1"/>
                    </a:lnTo>
                    <a:lnTo>
                      <a:pt x="2" y="11"/>
                    </a:lnTo>
                    <a:lnTo>
                      <a:pt x="11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13" name="Freeform 681"/>
              <p:cNvSpPr>
                <a:spLocks/>
              </p:cNvSpPr>
              <p:nvPr/>
            </p:nvSpPr>
            <p:spPr bwMode="auto">
              <a:xfrm>
                <a:off x="2300" y="2159"/>
                <a:ext cx="12" cy="11"/>
              </a:xfrm>
              <a:custGeom>
                <a:avLst/>
                <a:gdLst>
                  <a:gd name="T0" fmla="*/ 9 w 12"/>
                  <a:gd name="T1" fmla="*/ 0 h 11"/>
                  <a:gd name="T2" fmla="*/ 0 w 12"/>
                  <a:gd name="T3" fmla="*/ 1 h 11"/>
                  <a:gd name="T4" fmla="*/ 3 w 12"/>
                  <a:gd name="T5" fmla="*/ 11 h 11"/>
                  <a:gd name="T6" fmla="*/ 12 w 12"/>
                  <a:gd name="T7" fmla="*/ 10 h 11"/>
                  <a:gd name="T8" fmla="*/ 9 w 12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1"/>
                  <a:gd name="T17" fmla="*/ 12 w 12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1">
                    <a:moveTo>
                      <a:pt x="9" y="0"/>
                    </a:moveTo>
                    <a:lnTo>
                      <a:pt x="0" y="1"/>
                    </a:lnTo>
                    <a:lnTo>
                      <a:pt x="3" y="11"/>
                    </a:lnTo>
                    <a:lnTo>
                      <a:pt x="12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14" name="Freeform 682"/>
              <p:cNvSpPr>
                <a:spLocks/>
              </p:cNvSpPr>
              <p:nvPr/>
            </p:nvSpPr>
            <p:spPr bwMode="auto">
              <a:xfrm>
                <a:off x="2304" y="2178"/>
                <a:ext cx="11" cy="13"/>
              </a:xfrm>
              <a:custGeom>
                <a:avLst/>
                <a:gdLst>
                  <a:gd name="T0" fmla="*/ 9 w 11"/>
                  <a:gd name="T1" fmla="*/ 0 h 13"/>
                  <a:gd name="T2" fmla="*/ 0 w 11"/>
                  <a:gd name="T3" fmla="*/ 2 h 13"/>
                  <a:gd name="T4" fmla="*/ 3 w 11"/>
                  <a:gd name="T5" fmla="*/ 13 h 13"/>
                  <a:gd name="T6" fmla="*/ 11 w 11"/>
                  <a:gd name="T7" fmla="*/ 10 h 13"/>
                  <a:gd name="T8" fmla="*/ 9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9" y="0"/>
                    </a:moveTo>
                    <a:lnTo>
                      <a:pt x="0" y="2"/>
                    </a:lnTo>
                    <a:lnTo>
                      <a:pt x="3" y="13"/>
                    </a:lnTo>
                    <a:lnTo>
                      <a:pt x="11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15" name="Freeform 683"/>
              <p:cNvSpPr>
                <a:spLocks/>
              </p:cNvSpPr>
              <p:nvPr/>
            </p:nvSpPr>
            <p:spPr bwMode="auto">
              <a:xfrm>
                <a:off x="2309" y="2198"/>
                <a:ext cx="11" cy="13"/>
              </a:xfrm>
              <a:custGeom>
                <a:avLst/>
                <a:gdLst>
                  <a:gd name="T0" fmla="*/ 9 w 11"/>
                  <a:gd name="T1" fmla="*/ 0 h 13"/>
                  <a:gd name="T2" fmla="*/ 0 w 11"/>
                  <a:gd name="T3" fmla="*/ 3 h 13"/>
                  <a:gd name="T4" fmla="*/ 3 w 11"/>
                  <a:gd name="T5" fmla="*/ 13 h 13"/>
                  <a:gd name="T6" fmla="*/ 11 w 11"/>
                  <a:gd name="T7" fmla="*/ 10 h 13"/>
                  <a:gd name="T8" fmla="*/ 9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9" y="0"/>
                    </a:moveTo>
                    <a:lnTo>
                      <a:pt x="0" y="3"/>
                    </a:lnTo>
                    <a:lnTo>
                      <a:pt x="3" y="13"/>
                    </a:lnTo>
                    <a:lnTo>
                      <a:pt x="11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16" name="Freeform 684"/>
              <p:cNvSpPr>
                <a:spLocks/>
              </p:cNvSpPr>
              <p:nvPr/>
            </p:nvSpPr>
            <p:spPr bwMode="auto">
              <a:xfrm>
                <a:off x="2314" y="2217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3 h 13"/>
                  <a:gd name="T4" fmla="*/ 3 w 12"/>
                  <a:gd name="T5" fmla="*/ 13 h 13"/>
                  <a:gd name="T6" fmla="*/ 12 w 12"/>
                  <a:gd name="T7" fmla="*/ 10 h 13"/>
                  <a:gd name="T8" fmla="*/ 9 w 12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3"/>
                  <a:gd name="T17" fmla="*/ 12 w 12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3">
                    <a:moveTo>
                      <a:pt x="9" y="0"/>
                    </a:moveTo>
                    <a:lnTo>
                      <a:pt x="0" y="3"/>
                    </a:lnTo>
                    <a:lnTo>
                      <a:pt x="3" y="13"/>
                    </a:lnTo>
                    <a:lnTo>
                      <a:pt x="12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17" name="Freeform 685"/>
              <p:cNvSpPr>
                <a:spLocks/>
              </p:cNvSpPr>
              <p:nvPr/>
            </p:nvSpPr>
            <p:spPr bwMode="auto">
              <a:xfrm>
                <a:off x="2319" y="2238"/>
                <a:ext cx="13" cy="12"/>
              </a:xfrm>
              <a:custGeom>
                <a:avLst/>
                <a:gdLst>
                  <a:gd name="T0" fmla="*/ 9 w 13"/>
                  <a:gd name="T1" fmla="*/ 0 h 12"/>
                  <a:gd name="T2" fmla="*/ 0 w 13"/>
                  <a:gd name="T3" fmla="*/ 2 h 12"/>
                  <a:gd name="T4" fmla="*/ 1 w 13"/>
                  <a:gd name="T5" fmla="*/ 3 h 12"/>
                  <a:gd name="T6" fmla="*/ 4 w 13"/>
                  <a:gd name="T7" fmla="*/ 12 h 12"/>
                  <a:gd name="T8" fmla="*/ 13 w 13"/>
                  <a:gd name="T9" fmla="*/ 10 h 12"/>
                  <a:gd name="T10" fmla="*/ 12 w 13"/>
                  <a:gd name="T11" fmla="*/ 3 h 12"/>
                  <a:gd name="T12" fmla="*/ 9 w 13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"/>
                  <a:gd name="T22" fmla="*/ 0 h 12"/>
                  <a:gd name="T23" fmla="*/ 13 w 13"/>
                  <a:gd name="T24" fmla="*/ 12 h 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" h="12">
                    <a:moveTo>
                      <a:pt x="9" y="0"/>
                    </a:moveTo>
                    <a:lnTo>
                      <a:pt x="0" y="2"/>
                    </a:lnTo>
                    <a:lnTo>
                      <a:pt x="1" y="3"/>
                    </a:lnTo>
                    <a:lnTo>
                      <a:pt x="4" y="12"/>
                    </a:lnTo>
                    <a:lnTo>
                      <a:pt x="13" y="10"/>
                    </a:lnTo>
                    <a:lnTo>
                      <a:pt x="12" y="3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18" name="Freeform 686"/>
              <p:cNvSpPr>
                <a:spLocks/>
              </p:cNvSpPr>
              <p:nvPr/>
            </p:nvSpPr>
            <p:spPr bwMode="auto">
              <a:xfrm>
                <a:off x="2326" y="2257"/>
                <a:ext cx="11" cy="12"/>
              </a:xfrm>
              <a:custGeom>
                <a:avLst/>
                <a:gdLst>
                  <a:gd name="T0" fmla="*/ 8 w 11"/>
                  <a:gd name="T1" fmla="*/ 0 h 12"/>
                  <a:gd name="T2" fmla="*/ 0 w 11"/>
                  <a:gd name="T3" fmla="*/ 2 h 12"/>
                  <a:gd name="T4" fmla="*/ 2 w 11"/>
                  <a:gd name="T5" fmla="*/ 12 h 12"/>
                  <a:gd name="T6" fmla="*/ 11 w 11"/>
                  <a:gd name="T7" fmla="*/ 10 h 12"/>
                  <a:gd name="T8" fmla="*/ 8 w 1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8" y="0"/>
                    </a:moveTo>
                    <a:lnTo>
                      <a:pt x="0" y="2"/>
                    </a:lnTo>
                    <a:lnTo>
                      <a:pt x="2" y="12"/>
                    </a:lnTo>
                    <a:lnTo>
                      <a:pt x="11" y="1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19" name="Freeform 687"/>
              <p:cNvSpPr>
                <a:spLocks/>
              </p:cNvSpPr>
              <p:nvPr/>
            </p:nvSpPr>
            <p:spPr bwMode="auto">
              <a:xfrm>
                <a:off x="2332" y="2277"/>
                <a:ext cx="11" cy="11"/>
              </a:xfrm>
              <a:custGeom>
                <a:avLst/>
                <a:gdLst>
                  <a:gd name="T0" fmla="*/ 9 w 11"/>
                  <a:gd name="T1" fmla="*/ 0 h 11"/>
                  <a:gd name="T2" fmla="*/ 0 w 11"/>
                  <a:gd name="T3" fmla="*/ 3 h 11"/>
                  <a:gd name="T4" fmla="*/ 2 w 11"/>
                  <a:gd name="T5" fmla="*/ 11 h 11"/>
                  <a:gd name="T6" fmla="*/ 11 w 11"/>
                  <a:gd name="T7" fmla="*/ 9 h 11"/>
                  <a:gd name="T8" fmla="*/ 9 w 11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1"/>
                  <a:gd name="T17" fmla="*/ 11 w 11"/>
                  <a:gd name="T18" fmla="*/ 11 h 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1">
                    <a:moveTo>
                      <a:pt x="9" y="0"/>
                    </a:moveTo>
                    <a:lnTo>
                      <a:pt x="0" y="3"/>
                    </a:lnTo>
                    <a:lnTo>
                      <a:pt x="2" y="11"/>
                    </a:lnTo>
                    <a:lnTo>
                      <a:pt x="11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20" name="Freeform 688"/>
              <p:cNvSpPr>
                <a:spLocks/>
              </p:cNvSpPr>
              <p:nvPr/>
            </p:nvSpPr>
            <p:spPr bwMode="auto">
              <a:xfrm>
                <a:off x="2338" y="2296"/>
                <a:ext cx="12" cy="12"/>
              </a:xfrm>
              <a:custGeom>
                <a:avLst/>
                <a:gdLst>
                  <a:gd name="T0" fmla="*/ 9 w 12"/>
                  <a:gd name="T1" fmla="*/ 0 h 12"/>
                  <a:gd name="T2" fmla="*/ 0 w 12"/>
                  <a:gd name="T3" fmla="*/ 3 h 12"/>
                  <a:gd name="T4" fmla="*/ 3 w 12"/>
                  <a:gd name="T5" fmla="*/ 12 h 12"/>
                  <a:gd name="T6" fmla="*/ 12 w 12"/>
                  <a:gd name="T7" fmla="*/ 9 h 12"/>
                  <a:gd name="T8" fmla="*/ 9 w 12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9" y="0"/>
                    </a:moveTo>
                    <a:lnTo>
                      <a:pt x="0" y="3"/>
                    </a:lnTo>
                    <a:lnTo>
                      <a:pt x="3" y="12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21" name="Freeform 689"/>
              <p:cNvSpPr>
                <a:spLocks/>
              </p:cNvSpPr>
              <p:nvPr/>
            </p:nvSpPr>
            <p:spPr bwMode="auto">
              <a:xfrm>
                <a:off x="2343" y="2315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3 h 13"/>
                  <a:gd name="T4" fmla="*/ 4 w 13"/>
                  <a:gd name="T5" fmla="*/ 13 h 13"/>
                  <a:gd name="T6" fmla="*/ 13 w 13"/>
                  <a:gd name="T7" fmla="*/ 10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3"/>
                    </a:lnTo>
                    <a:lnTo>
                      <a:pt x="4" y="13"/>
                    </a:lnTo>
                    <a:lnTo>
                      <a:pt x="13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22" name="Freeform 690"/>
              <p:cNvSpPr>
                <a:spLocks/>
              </p:cNvSpPr>
              <p:nvPr/>
            </p:nvSpPr>
            <p:spPr bwMode="auto">
              <a:xfrm>
                <a:off x="2351" y="2334"/>
                <a:ext cx="11" cy="13"/>
              </a:xfrm>
              <a:custGeom>
                <a:avLst/>
                <a:gdLst>
                  <a:gd name="T0" fmla="*/ 9 w 11"/>
                  <a:gd name="T1" fmla="*/ 0 h 13"/>
                  <a:gd name="T2" fmla="*/ 0 w 11"/>
                  <a:gd name="T3" fmla="*/ 3 h 13"/>
                  <a:gd name="T4" fmla="*/ 2 w 11"/>
                  <a:gd name="T5" fmla="*/ 13 h 13"/>
                  <a:gd name="T6" fmla="*/ 11 w 11"/>
                  <a:gd name="T7" fmla="*/ 10 h 13"/>
                  <a:gd name="T8" fmla="*/ 9 w 11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3"/>
                  <a:gd name="T17" fmla="*/ 11 w 11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3">
                    <a:moveTo>
                      <a:pt x="9" y="0"/>
                    </a:moveTo>
                    <a:lnTo>
                      <a:pt x="0" y="3"/>
                    </a:lnTo>
                    <a:lnTo>
                      <a:pt x="2" y="13"/>
                    </a:lnTo>
                    <a:lnTo>
                      <a:pt x="11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23" name="Freeform 691"/>
              <p:cNvSpPr>
                <a:spLocks/>
              </p:cNvSpPr>
              <p:nvPr/>
            </p:nvSpPr>
            <p:spPr bwMode="auto">
              <a:xfrm>
                <a:off x="2357" y="2353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3 h 13"/>
                  <a:gd name="T4" fmla="*/ 4 w 13"/>
                  <a:gd name="T5" fmla="*/ 13 h 13"/>
                  <a:gd name="T6" fmla="*/ 13 w 13"/>
                  <a:gd name="T7" fmla="*/ 10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3"/>
                    </a:lnTo>
                    <a:lnTo>
                      <a:pt x="4" y="13"/>
                    </a:lnTo>
                    <a:lnTo>
                      <a:pt x="13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24" name="Freeform 692"/>
              <p:cNvSpPr>
                <a:spLocks/>
              </p:cNvSpPr>
              <p:nvPr/>
            </p:nvSpPr>
            <p:spPr bwMode="auto">
              <a:xfrm>
                <a:off x="2364" y="2372"/>
                <a:ext cx="12" cy="13"/>
              </a:xfrm>
              <a:custGeom>
                <a:avLst/>
                <a:gdLst>
                  <a:gd name="T0" fmla="*/ 9 w 12"/>
                  <a:gd name="T1" fmla="*/ 0 h 13"/>
                  <a:gd name="T2" fmla="*/ 0 w 12"/>
                  <a:gd name="T3" fmla="*/ 3 h 13"/>
                  <a:gd name="T4" fmla="*/ 1 w 12"/>
                  <a:gd name="T5" fmla="*/ 5 h 13"/>
                  <a:gd name="T6" fmla="*/ 3 w 12"/>
                  <a:gd name="T7" fmla="*/ 13 h 13"/>
                  <a:gd name="T8" fmla="*/ 12 w 12"/>
                  <a:gd name="T9" fmla="*/ 9 h 13"/>
                  <a:gd name="T10" fmla="*/ 11 w 12"/>
                  <a:gd name="T11" fmla="*/ 5 h 13"/>
                  <a:gd name="T12" fmla="*/ 9 w 12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2"/>
                  <a:gd name="T22" fmla="*/ 0 h 13"/>
                  <a:gd name="T23" fmla="*/ 12 w 12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2" h="13">
                    <a:moveTo>
                      <a:pt x="9" y="0"/>
                    </a:moveTo>
                    <a:lnTo>
                      <a:pt x="0" y="3"/>
                    </a:lnTo>
                    <a:lnTo>
                      <a:pt x="1" y="5"/>
                    </a:lnTo>
                    <a:lnTo>
                      <a:pt x="3" y="13"/>
                    </a:lnTo>
                    <a:lnTo>
                      <a:pt x="12" y="9"/>
                    </a:lnTo>
                    <a:lnTo>
                      <a:pt x="11" y="5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25" name="Freeform 693"/>
              <p:cNvSpPr>
                <a:spLocks/>
              </p:cNvSpPr>
              <p:nvPr/>
            </p:nvSpPr>
            <p:spPr bwMode="auto">
              <a:xfrm>
                <a:off x="2371" y="2391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4 h 13"/>
                  <a:gd name="T4" fmla="*/ 4 w 13"/>
                  <a:gd name="T5" fmla="*/ 13 h 13"/>
                  <a:gd name="T6" fmla="*/ 13 w 13"/>
                  <a:gd name="T7" fmla="*/ 9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4"/>
                    </a:lnTo>
                    <a:lnTo>
                      <a:pt x="4" y="13"/>
                    </a:lnTo>
                    <a:lnTo>
                      <a:pt x="13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26" name="Freeform 694"/>
              <p:cNvSpPr>
                <a:spLocks/>
              </p:cNvSpPr>
              <p:nvPr/>
            </p:nvSpPr>
            <p:spPr bwMode="auto">
              <a:xfrm>
                <a:off x="2379" y="2411"/>
                <a:ext cx="11" cy="12"/>
              </a:xfrm>
              <a:custGeom>
                <a:avLst/>
                <a:gdLst>
                  <a:gd name="T0" fmla="*/ 9 w 11"/>
                  <a:gd name="T1" fmla="*/ 0 h 12"/>
                  <a:gd name="T2" fmla="*/ 0 w 11"/>
                  <a:gd name="T3" fmla="*/ 3 h 12"/>
                  <a:gd name="T4" fmla="*/ 2 w 11"/>
                  <a:gd name="T5" fmla="*/ 12 h 12"/>
                  <a:gd name="T6" fmla="*/ 11 w 11"/>
                  <a:gd name="T7" fmla="*/ 8 h 12"/>
                  <a:gd name="T8" fmla="*/ 9 w 1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2"/>
                  <a:gd name="T17" fmla="*/ 11 w 1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2">
                    <a:moveTo>
                      <a:pt x="9" y="0"/>
                    </a:moveTo>
                    <a:lnTo>
                      <a:pt x="0" y="3"/>
                    </a:lnTo>
                    <a:lnTo>
                      <a:pt x="2" y="12"/>
                    </a:lnTo>
                    <a:lnTo>
                      <a:pt x="11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27" name="Freeform 695"/>
              <p:cNvSpPr>
                <a:spLocks/>
              </p:cNvSpPr>
              <p:nvPr/>
            </p:nvSpPr>
            <p:spPr bwMode="auto">
              <a:xfrm>
                <a:off x="2385" y="2430"/>
                <a:ext cx="13" cy="12"/>
              </a:xfrm>
              <a:custGeom>
                <a:avLst/>
                <a:gdLst>
                  <a:gd name="T0" fmla="*/ 9 w 13"/>
                  <a:gd name="T1" fmla="*/ 0 h 12"/>
                  <a:gd name="T2" fmla="*/ 0 w 13"/>
                  <a:gd name="T3" fmla="*/ 3 h 12"/>
                  <a:gd name="T4" fmla="*/ 4 w 13"/>
                  <a:gd name="T5" fmla="*/ 12 h 12"/>
                  <a:gd name="T6" fmla="*/ 13 w 13"/>
                  <a:gd name="T7" fmla="*/ 8 h 12"/>
                  <a:gd name="T8" fmla="*/ 9 w 13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2"/>
                  <a:gd name="T17" fmla="*/ 13 w 13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2">
                    <a:moveTo>
                      <a:pt x="9" y="0"/>
                    </a:moveTo>
                    <a:lnTo>
                      <a:pt x="0" y="3"/>
                    </a:lnTo>
                    <a:lnTo>
                      <a:pt x="4" y="12"/>
                    </a:lnTo>
                    <a:lnTo>
                      <a:pt x="13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28" name="Freeform 696"/>
              <p:cNvSpPr>
                <a:spLocks/>
              </p:cNvSpPr>
              <p:nvPr/>
            </p:nvSpPr>
            <p:spPr bwMode="auto">
              <a:xfrm>
                <a:off x="2393" y="2449"/>
                <a:ext cx="12" cy="12"/>
              </a:xfrm>
              <a:custGeom>
                <a:avLst/>
                <a:gdLst>
                  <a:gd name="T0" fmla="*/ 9 w 12"/>
                  <a:gd name="T1" fmla="*/ 0 h 12"/>
                  <a:gd name="T2" fmla="*/ 0 w 12"/>
                  <a:gd name="T3" fmla="*/ 3 h 12"/>
                  <a:gd name="T4" fmla="*/ 4 w 12"/>
                  <a:gd name="T5" fmla="*/ 12 h 12"/>
                  <a:gd name="T6" fmla="*/ 12 w 12"/>
                  <a:gd name="T7" fmla="*/ 9 h 12"/>
                  <a:gd name="T8" fmla="*/ 9 w 12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"/>
                  <a:gd name="T16" fmla="*/ 0 h 12"/>
                  <a:gd name="T17" fmla="*/ 12 w 12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" h="12">
                    <a:moveTo>
                      <a:pt x="9" y="0"/>
                    </a:moveTo>
                    <a:lnTo>
                      <a:pt x="0" y="3"/>
                    </a:lnTo>
                    <a:lnTo>
                      <a:pt x="4" y="12"/>
                    </a:lnTo>
                    <a:lnTo>
                      <a:pt x="12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29" name="Freeform 697"/>
              <p:cNvSpPr>
                <a:spLocks/>
              </p:cNvSpPr>
              <p:nvPr/>
            </p:nvSpPr>
            <p:spPr bwMode="auto">
              <a:xfrm>
                <a:off x="2400" y="2468"/>
                <a:ext cx="13" cy="12"/>
              </a:xfrm>
              <a:custGeom>
                <a:avLst/>
                <a:gdLst>
                  <a:gd name="T0" fmla="*/ 9 w 13"/>
                  <a:gd name="T1" fmla="*/ 0 h 12"/>
                  <a:gd name="T2" fmla="*/ 0 w 13"/>
                  <a:gd name="T3" fmla="*/ 4 h 12"/>
                  <a:gd name="T4" fmla="*/ 4 w 13"/>
                  <a:gd name="T5" fmla="*/ 12 h 12"/>
                  <a:gd name="T6" fmla="*/ 13 w 13"/>
                  <a:gd name="T7" fmla="*/ 9 h 12"/>
                  <a:gd name="T8" fmla="*/ 9 w 13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2"/>
                  <a:gd name="T17" fmla="*/ 13 w 13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2">
                    <a:moveTo>
                      <a:pt x="9" y="0"/>
                    </a:moveTo>
                    <a:lnTo>
                      <a:pt x="0" y="4"/>
                    </a:lnTo>
                    <a:lnTo>
                      <a:pt x="4" y="12"/>
                    </a:lnTo>
                    <a:lnTo>
                      <a:pt x="13" y="9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30" name="Freeform 698"/>
              <p:cNvSpPr>
                <a:spLocks/>
              </p:cNvSpPr>
              <p:nvPr/>
            </p:nvSpPr>
            <p:spPr bwMode="auto">
              <a:xfrm>
                <a:off x="2408" y="2486"/>
                <a:ext cx="13" cy="13"/>
              </a:xfrm>
              <a:custGeom>
                <a:avLst/>
                <a:gdLst>
                  <a:gd name="T0" fmla="*/ 9 w 13"/>
                  <a:gd name="T1" fmla="*/ 0 h 13"/>
                  <a:gd name="T2" fmla="*/ 0 w 13"/>
                  <a:gd name="T3" fmla="*/ 3 h 13"/>
                  <a:gd name="T4" fmla="*/ 4 w 13"/>
                  <a:gd name="T5" fmla="*/ 13 h 13"/>
                  <a:gd name="T6" fmla="*/ 13 w 13"/>
                  <a:gd name="T7" fmla="*/ 10 h 13"/>
                  <a:gd name="T8" fmla="*/ 9 w 13"/>
                  <a:gd name="T9" fmla="*/ 0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9" y="0"/>
                    </a:moveTo>
                    <a:lnTo>
                      <a:pt x="0" y="3"/>
                    </a:lnTo>
                    <a:lnTo>
                      <a:pt x="4" y="13"/>
                    </a:lnTo>
                    <a:lnTo>
                      <a:pt x="13" y="1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31" name="Freeform 699"/>
              <p:cNvSpPr>
                <a:spLocks/>
              </p:cNvSpPr>
              <p:nvPr/>
            </p:nvSpPr>
            <p:spPr bwMode="auto">
              <a:xfrm>
                <a:off x="2416" y="2505"/>
                <a:ext cx="11" cy="10"/>
              </a:xfrm>
              <a:custGeom>
                <a:avLst/>
                <a:gdLst>
                  <a:gd name="T0" fmla="*/ 9 w 11"/>
                  <a:gd name="T1" fmla="*/ 0 h 10"/>
                  <a:gd name="T2" fmla="*/ 0 w 11"/>
                  <a:gd name="T3" fmla="*/ 3 h 10"/>
                  <a:gd name="T4" fmla="*/ 2 w 11"/>
                  <a:gd name="T5" fmla="*/ 10 h 10"/>
                  <a:gd name="T6" fmla="*/ 11 w 11"/>
                  <a:gd name="T7" fmla="*/ 6 h 10"/>
                  <a:gd name="T8" fmla="*/ 9 w 11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"/>
                  <a:gd name="T16" fmla="*/ 0 h 10"/>
                  <a:gd name="T17" fmla="*/ 11 w 11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" h="10">
                    <a:moveTo>
                      <a:pt x="9" y="0"/>
                    </a:moveTo>
                    <a:lnTo>
                      <a:pt x="0" y="3"/>
                    </a:lnTo>
                    <a:lnTo>
                      <a:pt x="2" y="10"/>
                    </a:lnTo>
                    <a:lnTo>
                      <a:pt x="11" y="6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32" name="Freeform 700"/>
              <p:cNvSpPr>
                <a:spLocks/>
              </p:cNvSpPr>
              <p:nvPr/>
            </p:nvSpPr>
            <p:spPr bwMode="auto">
              <a:xfrm>
                <a:off x="2381" y="2496"/>
                <a:ext cx="79" cy="95"/>
              </a:xfrm>
              <a:custGeom>
                <a:avLst/>
                <a:gdLst>
                  <a:gd name="T0" fmla="*/ 0 w 79"/>
                  <a:gd name="T1" fmla="*/ 33 h 95"/>
                  <a:gd name="T2" fmla="*/ 73 w 79"/>
                  <a:gd name="T3" fmla="*/ 95 h 95"/>
                  <a:gd name="T4" fmla="*/ 79 w 79"/>
                  <a:gd name="T5" fmla="*/ 0 h 95"/>
                  <a:gd name="T6" fmla="*/ 0 w 79"/>
                  <a:gd name="T7" fmla="*/ 33 h 9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9"/>
                  <a:gd name="T13" fmla="*/ 0 h 95"/>
                  <a:gd name="T14" fmla="*/ 79 w 79"/>
                  <a:gd name="T15" fmla="*/ 95 h 9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9" h="95">
                    <a:moveTo>
                      <a:pt x="0" y="33"/>
                    </a:moveTo>
                    <a:lnTo>
                      <a:pt x="73" y="95"/>
                    </a:lnTo>
                    <a:lnTo>
                      <a:pt x="79" y="0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3454" name="Rectangle 701"/>
            <p:cNvSpPr>
              <a:spLocks noChangeArrowheads="1"/>
            </p:cNvSpPr>
            <p:nvPr/>
          </p:nvSpPr>
          <p:spPr bwMode="auto">
            <a:xfrm>
              <a:off x="3562" y="2798"/>
              <a:ext cx="943" cy="6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55" name="Rectangle 702"/>
            <p:cNvSpPr>
              <a:spLocks noChangeArrowheads="1"/>
            </p:cNvSpPr>
            <p:nvPr/>
          </p:nvSpPr>
          <p:spPr bwMode="auto">
            <a:xfrm>
              <a:off x="3648" y="2843"/>
              <a:ext cx="861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500">
                  <a:solidFill>
                    <a:srgbClr val="000000"/>
                  </a:solidFill>
                </a:rPr>
                <a:t>Packet of length</a:t>
              </a:r>
              <a:endParaRPr lang="en-US" sz="1400"/>
            </a:p>
          </p:txBody>
        </p:sp>
        <p:sp>
          <p:nvSpPr>
            <p:cNvPr id="103456" name="Rectangle 703"/>
            <p:cNvSpPr>
              <a:spLocks noChangeArrowheads="1"/>
            </p:cNvSpPr>
            <p:nvPr/>
          </p:nvSpPr>
          <p:spPr bwMode="auto">
            <a:xfrm>
              <a:off x="3752" y="2989"/>
              <a:ext cx="60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500" i="1">
                  <a:solidFill>
                    <a:srgbClr val="000000"/>
                  </a:solidFill>
                </a:rPr>
                <a:t>k</a:t>
              </a:r>
              <a:endParaRPr lang="en-US" sz="1400"/>
            </a:p>
          </p:txBody>
        </p:sp>
        <p:sp>
          <p:nvSpPr>
            <p:cNvPr id="103457" name="Rectangle 704"/>
            <p:cNvSpPr>
              <a:spLocks noChangeArrowheads="1"/>
            </p:cNvSpPr>
            <p:nvPr/>
          </p:nvSpPr>
          <p:spPr bwMode="auto">
            <a:xfrm>
              <a:off x="3779" y="2989"/>
              <a:ext cx="641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500">
                  <a:solidFill>
                    <a:srgbClr val="000000"/>
                  </a:solidFill>
                </a:rPr>
                <a:t>  bits begins</a:t>
              </a:r>
              <a:endParaRPr lang="en-US" sz="1400"/>
            </a:p>
          </p:txBody>
        </p:sp>
        <p:sp>
          <p:nvSpPr>
            <p:cNvPr id="103458" name="Rectangle 705"/>
            <p:cNvSpPr>
              <a:spLocks noChangeArrowheads="1"/>
            </p:cNvSpPr>
            <p:nvPr/>
          </p:nvSpPr>
          <p:spPr bwMode="auto">
            <a:xfrm>
              <a:off x="3736" y="3135"/>
              <a:ext cx="675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500">
                  <a:solidFill>
                    <a:srgbClr val="000000"/>
                  </a:solidFill>
                </a:rPr>
                <a:t>transmission</a:t>
              </a:r>
              <a:endParaRPr lang="en-US" sz="1400"/>
            </a:p>
          </p:txBody>
        </p:sp>
        <p:sp>
          <p:nvSpPr>
            <p:cNvPr id="103459" name="Rectangle 706"/>
            <p:cNvSpPr>
              <a:spLocks noChangeArrowheads="1"/>
            </p:cNvSpPr>
            <p:nvPr/>
          </p:nvSpPr>
          <p:spPr bwMode="auto">
            <a:xfrm>
              <a:off x="3780" y="3282"/>
              <a:ext cx="580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500">
                  <a:solidFill>
                    <a:srgbClr val="000000"/>
                  </a:solidFill>
                </a:rPr>
                <a:t>at this time</a:t>
              </a:r>
              <a:endParaRPr lang="en-US" sz="1400"/>
            </a:p>
          </p:txBody>
        </p:sp>
        <p:sp>
          <p:nvSpPr>
            <p:cNvPr id="103460" name="Rectangle 707"/>
            <p:cNvSpPr>
              <a:spLocks noChangeArrowheads="1"/>
            </p:cNvSpPr>
            <p:nvPr/>
          </p:nvSpPr>
          <p:spPr bwMode="auto">
            <a:xfrm>
              <a:off x="1667" y="2962"/>
              <a:ext cx="1001" cy="5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61" name="Rectangle 708"/>
            <p:cNvSpPr>
              <a:spLocks noChangeArrowheads="1"/>
            </p:cNvSpPr>
            <p:nvPr/>
          </p:nvSpPr>
          <p:spPr bwMode="auto">
            <a:xfrm>
              <a:off x="1739" y="3007"/>
              <a:ext cx="948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500">
                  <a:solidFill>
                    <a:srgbClr val="000000"/>
                  </a:solidFill>
                </a:rPr>
                <a:t>Packet completes</a:t>
              </a:r>
              <a:endParaRPr lang="en-US" sz="1400"/>
            </a:p>
          </p:txBody>
        </p:sp>
        <p:sp>
          <p:nvSpPr>
            <p:cNvPr id="103462" name="Rectangle 709"/>
            <p:cNvSpPr>
              <a:spLocks noChangeArrowheads="1"/>
            </p:cNvSpPr>
            <p:nvPr/>
          </p:nvSpPr>
          <p:spPr bwMode="auto">
            <a:xfrm>
              <a:off x="1870" y="3153"/>
              <a:ext cx="675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500">
                  <a:solidFill>
                    <a:srgbClr val="000000"/>
                  </a:solidFill>
                </a:rPr>
                <a:t>transmission</a:t>
              </a:r>
              <a:endParaRPr lang="en-US" sz="1400"/>
            </a:p>
          </p:txBody>
        </p:sp>
        <p:sp>
          <p:nvSpPr>
            <p:cNvPr id="103463" name="Rectangle 710"/>
            <p:cNvSpPr>
              <a:spLocks noChangeArrowheads="1"/>
            </p:cNvSpPr>
            <p:nvPr/>
          </p:nvSpPr>
          <p:spPr bwMode="auto">
            <a:xfrm>
              <a:off x="1859" y="3299"/>
              <a:ext cx="60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500" i="1">
                  <a:solidFill>
                    <a:srgbClr val="000000"/>
                  </a:solidFill>
                </a:rPr>
                <a:t>k</a:t>
              </a:r>
              <a:endParaRPr lang="en-US" sz="1400"/>
            </a:p>
          </p:txBody>
        </p:sp>
        <p:sp>
          <p:nvSpPr>
            <p:cNvPr id="103464" name="Rectangle 711"/>
            <p:cNvSpPr>
              <a:spLocks noChangeArrowheads="1"/>
            </p:cNvSpPr>
            <p:nvPr/>
          </p:nvSpPr>
          <p:spPr bwMode="auto">
            <a:xfrm>
              <a:off x="1886" y="3299"/>
              <a:ext cx="701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500">
                  <a:solidFill>
                    <a:srgbClr val="000000"/>
                  </a:solidFill>
                </a:rPr>
                <a:t>  rounds later</a:t>
              </a:r>
              <a:endParaRPr lang="en-US" sz="1400"/>
            </a:p>
          </p:txBody>
        </p:sp>
        <p:grpSp>
          <p:nvGrpSpPr>
            <p:cNvPr id="103465" name="Group 712"/>
            <p:cNvGrpSpPr>
              <a:grpSpLocks/>
            </p:cNvGrpSpPr>
            <p:nvPr/>
          </p:nvGrpSpPr>
          <p:grpSpPr bwMode="auto">
            <a:xfrm>
              <a:off x="3554" y="1955"/>
              <a:ext cx="342" cy="804"/>
              <a:chOff x="3554" y="1955"/>
              <a:chExt cx="342" cy="804"/>
            </a:xfrm>
          </p:grpSpPr>
          <p:sp>
            <p:nvSpPr>
              <p:cNvPr id="103470" name="Line 713"/>
              <p:cNvSpPr>
                <a:spLocks noChangeShapeType="1"/>
              </p:cNvSpPr>
              <p:nvPr/>
            </p:nvSpPr>
            <p:spPr bwMode="auto">
              <a:xfrm flipH="1" flipV="1">
                <a:off x="3591" y="2025"/>
                <a:ext cx="305" cy="7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3471" name="Freeform 714"/>
              <p:cNvSpPr>
                <a:spLocks/>
              </p:cNvSpPr>
              <p:nvPr/>
            </p:nvSpPr>
            <p:spPr bwMode="auto">
              <a:xfrm>
                <a:off x="3554" y="1955"/>
                <a:ext cx="75" cy="88"/>
              </a:xfrm>
              <a:custGeom>
                <a:avLst/>
                <a:gdLst>
                  <a:gd name="T0" fmla="*/ 75 w 75"/>
                  <a:gd name="T1" fmla="*/ 58 h 88"/>
                  <a:gd name="T2" fmla="*/ 6 w 75"/>
                  <a:gd name="T3" fmla="*/ 0 h 88"/>
                  <a:gd name="T4" fmla="*/ 0 w 75"/>
                  <a:gd name="T5" fmla="*/ 88 h 88"/>
                  <a:gd name="T6" fmla="*/ 75 w 75"/>
                  <a:gd name="T7" fmla="*/ 58 h 8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"/>
                  <a:gd name="T13" fmla="*/ 0 h 88"/>
                  <a:gd name="T14" fmla="*/ 75 w 75"/>
                  <a:gd name="T15" fmla="*/ 88 h 8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" h="88">
                    <a:moveTo>
                      <a:pt x="75" y="58"/>
                    </a:moveTo>
                    <a:lnTo>
                      <a:pt x="6" y="0"/>
                    </a:lnTo>
                    <a:lnTo>
                      <a:pt x="0" y="88"/>
                    </a:lnTo>
                    <a:lnTo>
                      <a:pt x="75" y="5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466" name="Group 715"/>
            <p:cNvGrpSpPr>
              <a:grpSpLocks/>
            </p:cNvGrpSpPr>
            <p:nvPr/>
          </p:nvGrpSpPr>
          <p:grpSpPr bwMode="auto">
            <a:xfrm>
              <a:off x="2220" y="1976"/>
              <a:ext cx="470" cy="956"/>
              <a:chOff x="2220" y="1976"/>
              <a:chExt cx="470" cy="956"/>
            </a:xfrm>
          </p:grpSpPr>
          <p:sp>
            <p:nvSpPr>
              <p:cNvPr id="103468" name="Line 716"/>
              <p:cNvSpPr>
                <a:spLocks noChangeShapeType="1"/>
              </p:cNvSpPr>
              <p:nvPr/>
            </p:nvSpPr>
            <p:spPr bwMode="auto">
              <a:xfrm flipV="1">
                <a:off x="2220" y="2044"/>
                <a:ext cx="433" cy="88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3469" name="Freeform 717"/>
              <p:cNvSpPr>
                <a:spLocks/>
              </p:cNvSpPr>
              <p:nvPr/>
            </p:nvSpPr>
            <p:spPr bwMode="auto">
              <a:xfrm>
                <a:off x="2617" y="1976"/>
                <a:ext cx="73" cy="89"/>
              </a:xfrm>
              <a:custGeom>
                <a:avLst/>
                <a:gdLst>
                  <a:gd name="T0" fmla="*/ 73 w 73"/>
                  <a:gd name="T1" fmla="*/ 89 h 89"/>
                  <a:gd name="T2" fmla="*/ 70 w 73"/>
                  <a:gd name="T3" fmla="*/ 0 h 89"/>
                  <a:gd name="T4" fmla="*/ 0 w 73"/>
                  <a:gd name="T5" fmla="*/ 53 h 89"/>
                  <a:gd name="T6" fmla="*/ 73 w 73"/>
                  <a:gd name="T7" fmla="*/ 89 h 8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89"/>
                  <a:gd name="T14" fmla="*/ 73 w 73"/>
                  <a:gd name="T15" fmla="*/ 89 h 8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89">
                    <a:moveTo>
                      <a:pt x="73" y="89"/>
                    </a:moveTo>
                    <a:lnTo>
                      <a:pt x="70" y="0"/>
                    </a:lnTo>
                    <a:lnTo>
                      <a:pt x="0" y="53"/>
                    </a:lnTo>
                    <a:lnTo>
                      <a:pt x="73" y="8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3467" name="Text Box 718"/>
            <p:cNvSpPr txBox="1">
              <a:spLocks noChangeArrowheads="1"/>
            </p:cNvSpPr>
            <p:nvPr/>
          </p:nvSpPr>
          <p:spPr bwMode="auto">
            <a:xfrm rot="-5400000">
              <a:off x="1438" y="1883"/>
              <a:ext cx="304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/>
                <a:t>…</a:t>
              </a:r>
            </a:p>
          </p:txBody>
        </p:sp>
      </p:grpSp>
      <p:sp>
        <p:nvSpPr>
          <p:cNvPr id="103427" name="Text Box 719"/>
          <p:cNvSpPr txBox="1">
            <a:spLocks noChangeArrowheads="1"/>
          </p:cNvSpPr>
          <p:nvPr/>
        </p:nvSpPr>
        <p:spPr bwMode="auto">
          <a:xfrm>
            <a:off x="915988" y="5365750"/>
            <a:ext cx="7440612" cy="10668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buClr>
                <a:schemeClr val="bg1"/>
              </a:buClr>
            </a:pPr>
            <a:r>
              <a:rPr lang="en-US"/>
              <a:t>Differential Service:  </a:t>
            </a:r>
          </a:p>
          <a:p>
            <a:pPr algn="l">
              <a:buClr>
                <a:schemeClr val="bg1"/>
              </a:buClr>
            </a:pPr>
            <a:r>
              <a:rPr lang="en-US"/>
              <a:t>If a traffic flow is to receive twice as much bandwidth as a regular flow, then its packet completion time would be half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65138" y="1414463"/>
            <a:ext cx="8131175" cy="1219200"/>
          </a:xfrm>
        </p:spPr>
        <p:txBody>
          <a:bodyPr/>
          <a:lstStyle/>
          <a:p>
            <a:pPr eaLnBrk="1" hangingPunct="1"/>
            <a:r>
              <a:rPr lang="en-US" sz="2200" i="1" smtClean="0"/>
              <a:t>F(i,k,t)</a:t>
            </a:r>
            <a:r>
              <a:rPr lang="en-US" sz="2200" smtClean="0"/>
              <a:t> = finish time of </a:t>
            </a:r>
            <a:r>
              <a:rPr lang="en-US" sz="2200" i="1" smtClean="0"/>
              <a:t>k</a:t>
            </a:r>
            <a:r>
              <a:rPr lang="en-US" sz="2200" smtClean="0"/>
              <a:t>th packet that arrives at time </a:t>
            </a:r>
            <a:r>
              <a:rPr lang="en-US" sz="2200" i="1" smtClean="0"/>
              <a:t>t</a:t>
            </a:r>
            <a:r>
              <a:rPr lang="en-US" sz="2200" smtClean="0"/>
              <a:t> to flow </a:t>
            </a:r>
            <a:r>
              <a:rPr lang="en-US" sz="2200" i="1" smtClean="0"/>
              <a:t>i</a:t>
            </a:r>
            <a:r>
              <a:rPr lang="en-US" sz="2200" smtClean="0"/>
              <a:t> </a:t>
            </a:r>
          </a:p>
          <a:p>
            <a:pPr eaLnBrk="1" hangingPunct="1"/>
            <a:r>
              <a:rPr lang="en-US" sz="2200" i="1" smtClean="0"/>
              <a:t>P(i,k,t)</a:t>
            </a:r>
            <a:r>
              <a:rPr lang="en-US" sz="2200" smtClean="0"/>
              <a:t> = size of </a:t>
            </a:r>
            <a:r>
              <a:rPr lang="en-US" sz="2200" i="1" smtClean="0"/>
              <a:t>k</a:t>
            </a:r>
            <a:r>
              <a:rPr lang="en-US" sz="2200" smtClean="0"/>
              <a:t>th packet that arrives at time t to flow </a:t>
            </a:r>
            <a:r>
              <a:rPr lang="en-US" sz="2200" i="1" smtClean="0"/>
              <a:t>i</a:t>
            </a:r>
          </a:p>
          <a:p>
            <a:pPr eaLnBrk="1" hangingPunct="1"/>
            <a:r>
              <a:rPr lang="en-US" sz="2200" i="1" smtClean="0"/>
              <a:t>R(t)</a:t>
            </a:r>
            <a:r>
              <a:rPr lang="en-US" sz="2200" smtClean="0"/>
              <a:t> = round number at time </a:t>
            </a:r>
            <a:r>
              <a:rPr lang="en-US" sz="2200" i="1" smtClean="0"/>
              <a:t>t</a:t>
            </a:r>
          </a:p>
        </p:txBody>
      </p:sp>
      <p:sp>
        <p:nvSpPr>
          <p:cNvPr id="104451" name="Rectangle 4"/>
          <p:cNvSpPr>
            <a:spLocks noChangeArrowheads="1"/>
          </p:cNvSpPr>
          <p:nvPr/>
        </p:nvSpPr>
        <p:spPr bwMode="auto">
          <a:xfrm>
            <a:off x="914400" y="4900613"/>
            <a:ext cx="7391400" cy="160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/>
          <a:lstStyle/>
          <a:p>
            <a:pPr marL="342900" indent="-342900" algn="l">
              <a:buClr>
                <a:schemeClr val="tx2"/>
              </a:buClr>
              <a:buFont typeface="Wingdings" pitchFamily="2" charset="2"/>
              <a:buChar char="l"/>
            </a:pPr>
            <a:r>
              <a:rPr lang="en-US" sz="2200"/>
              <a:t>Fair Queueing:(take care of both idle and active cases)</a:t>
            </a:r>
          </a:p>
          <a:p>
            <a:pPr marL="342900" indent="-342900" algn="l">
              <a:buClr>
                <a:schemeClr val="tx2"/>
              </a:buClr>
            </a:pPr>
            <a:r>
              <a:rPr lang="en-US" sz="2200"/>
              <a:t>			F(i,k,t) = max{F(i,k-1,t), R(t)}  + P(i,k,t)</a:t>
            </a:r>
          </a:p>
          <a:p>
            <a:pPr marL="342900" indent="-342900" algn="l">
              <a:buClr>
                <a:schemeClr val="tx2"/>
              </a:buClr>
              <a:buFont typeface="Wingdings" pitchFamily="2" charset="2"/>
              <a:buChar char="l"/>
            </a:pPr>
            <a:r>
              <a:rPr lang="en-US" sz="2200"/>
              <a:t>Weighted Fair Queueing:</a:t>
            </a:r>
          </a:p>
          <a:p>
            <a:pPr marL="342900" indent="-342900" algn="l">
              <a:buClr>
                <a:schemeClr val="tx2"/>
              </a:buClr>
            </a:pPr>
            <a:r>
              <a:rPr lang="en-US" sz="2200"/>
              <a:t>		 F(i,k,t) = max{F(i,k-1,t), R(t)}  + P(i,k,t)/w</a:t>
            </a:r>
            <a:r>
              <a:rPr lang="en-US" sz="2200" baseline="-25000"/>
              <a:t>i</a:t>
            </a:r>
            <a:endParaRPr lang="en-US" sz="2200"/>
          </a:p>
        </p:txBody>
      </p:sp>
      <p:grpSp>
        <p:nvGrpSpPr>
          <p:cNvPr id="104452" name="Group 27"/>
          <p:cNvGrpSpPr>
            <a:grpSpLocks/>
          </p:cNvGrpSpPr>
          <p:nvPr/>
        </p:nvGrpSpPr>
        <p:grpSpPr bwMode="auto">
          <a:xfrm>
            <a:off x="1752600" y="3076575"/>
            <a:ext cx="2159000" cy="1752600"/>
            <a:chOff x="1104" y="1938"/>
            <a:chExt cx="1360" cy="1104"/>
          </a:xfrm>
        </p:grpSpPr>
        <p:sp>
          <p:nvSpPr>
            <p:cNvPr id="104456" name="Rectangle 6"/>
            <p:cNvSpPr>
              <a:spLocks noChangeArrowheads="1"/>
            </p:cNvSpPr>
            <p:nvPr/>
          </p:nvSpPr>
          <p:spPr bwMode="auto">
            <a:xfrm>
              <a:off x="1408" y="2274"/>
              <a:ext cx="816" cy="14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57" name="Rectangle 7"/>
            <p:cNvSpPr>
              <a:spLocks noChangeArrowheads="1"/>
            </p:cNvSpPr>
            <p:nvPr/>
          </p:nvSpPr>
          <p:spPr bwMode="auto">
            <a:xfrm>
              <a:off x="1120" y="2418"/>
              <a:ext cx="1104" cy="14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58" name="Rectangle 8"/>
            <p:cNvSpPr>
              <a:spLocks noChangeArrowheads="1"/>
            </p:cNvSpPr>
            <p:nvPr/>
          </p:nvSpPr>
          <p:spPr bwMode="auto">
            <a:xfrm>
              <a:off x="1264" y="2706"/>
              <a:ext cx="960" cy="14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59" name="Line 9"/>
            <p:cNvSpPr>
              <a:spLocks noChangeShapeType="1"/>
            </p:cNvSpPr>
            <p:nvPr/>
          </p:nvSpPr>
          <p:spPr bwMode="auto">
            <a:xfrm>
              <a:off x="2224" y="256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4460" name="Freeform 10"/>
            <p:cNvSpPr>
              <a:spLocks/>
            </p:cNvSpPr>
            <p:nvPr/>
          </p:nvSpPr>
          <p:spPr bwMode="auto">
            <a:xfrm>
              <a:off x="2072" y="2130"/>
              <a:ext cx="152" cy="912"/>
            </a:xfrm>
            <a:custGeom>
              <a:avLst/>
              <a:gdLst>
                <a:gd name="T0" fmla="*/ 104 w 152"/>
                <a:gd name="T1" fmla="*/ 0 h 912"/>
                <a:gd name="T2" fmla="*/ 8 w 152"/>
                <a:gd name="T3" fmla="*/ 432 h 912"/>
                <a:gd name="T4" fmla="*/ 152 w 152"/>
                <a:gd name="T5" fmla="*/ 912 h 912"/>
                <a:gd name="T6" fmla="*/ 0 60000 65536"/>
                <a:gd name="T7" fmla="*/ 0 60000 65536"/>
                <a:gd name="T8" fmla="*/ 0 60000 65536"/>
                <a:gd name="T9" fmla="*/ 0 w 152"/>
                <a:gd name="T10" fmla="*/ 0 h 912"/>
                <a:gd name="T11" fmla="*/ 152 w 152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" h="912">
                  <a:moveTo>
                    <a:pt x="104" y="0"/>
                  </a:moveTo>
                  <a:cubicBezTo>
                    <a:pt x="52" y="140"/>
                    <a:pt x="0" y="280"/>
                    <a:pt x="8" y="432"/>
                  </a:cubicBezTo>
                  <a:cubicBezTo>
                    <a:pt x="16" y="584"/>
                    <a:pt x="84" y="748"/>
                    <a:pt x="152" y="912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61" name="Freeform 11"/>
            <p:cNvSpPr>
              <a:spLocks/>
            </p:cNvSpPr>
            <p:nvPr/>
          </p:nvSpPr>
          <p:spPr bwMode="auto">
            <a:xfrm>
              <a:off x="1984" y="2130"/>
              <a:ext cx="152" cy="912"/>
            </a:xfrm>
            <a:custGeom>
              <a:avLst/>
              <a:gdLst>
                <a:gd name="T0" fmla="*/ 104 w 152"/>
                <a:gd name="T1" fmla="*/ 0 h 912"/>
                <a:gd name="T2" fmla="*/ 8 w 152"/>
                <a:gd name="T3" fmla="*/ 432 h 912"/>
                <a:gd name="T4" fmla="*/ 152 w 152"/>
                <a:gd name="T5" fmla="*/ 912 h 912"/>
                <a:gd name="T6" fmla="*/ 0 60000 65536"/>
                <a:gd name="T7" fmla="*/ 0 60000 65536"/>
                <a:gd name="T8" fmla="*/ 0 60000 65536"/>
                <a:gd name="T9" fmla="*/ 0 w 152"/>
                <a:gd name="T10" fmla="*/ 0 h 912"/>
                <a:gd name="T11" fmla="*/ 152 w 152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" h="912">
                  <a:moveTo>
                    <a:pt x="104" y="0"/>
                  </a:moveTo>
                  <a:cubicBezTo>
                    <a:pt x="52" y="140"/>
                    <a:pt x="0" y="280"/>
                    <a:pt x="8" y="432"/>
                  </a:cubicBezTo>
                  <a:cubicBezTo>
                    <a:pt x="16" y="584"/>
                    <a:pt x="84" y="748"/>
                    <a:pt x="152" y="912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62" name="Freeform 12"/>
            <p:cNvSpPr>
              <a:spLocks/>
            </p:cNvSpPr>
            <p:nvPr/>
          </p:nvSpPr>
          <p:spPr bwMode="auto">
            <a:xfrm>
              <a:off x="1896" y="2130"/>
              <a:ext cx="152" cy="912"/>
            </a:xfrm>
            <a:custGeom>
              <a:avLst/>
              <a:gdLst>
                <a:gd name="T0" fmla="*/ 104 w 152"/>
                <a:gd name="T1" fmla="*/ 0 h 912"/>
                <a:gd name="T2" fmla="*/ 8 w 152"/>
                <a:gd name="T3" fmla="*/ 432 h 912"/>
                <a:gd name="T4" fmla="*/ 152 w 152"/>
                <a:gd name="T5" fmla="*/ 912 h 912"/>
                <a:gd name="T6" fmla="*/ 0 60000 65536"/>
                <a:gd name="T7" fmla="*/ 0 60000 65536"/>
                <a:gd name="T8" fmla="*/ 0 60000 65536"/>
                <a:gd name="T9" fmla="*/ 0 w 152"/>
                <a:gd name="T10" fmla="*/ 0 h 912"/>
                <a:gd name="T11" fmla="*/ 152 w 152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" h="912">
                  <a:moveTo>
                    <a:pt x="104" y="0"/>
                  </a:moveTo>
                  <a:cubicBezTo>
                    <a:pt x="52" y="140"/>
                    <a:pt x="0" y="280"/>
                    <a:pt x="8" y="432"/>
                  </a:cubicBezTo>
                  <a:cubicBezTo>
                    <a:pt x="16" y="584"/>
                    <a:pt x="84" y="748"/>
                    <a:pt x="152" y="912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63" name="Freeform 13"/>
            <p:cNvSpPr>
              <a:spLocks/>
            </p:cNvSpPr>
            <p:nvPr/>
          </p:nvSpPr>
          <p:spPr bwMode="auto">
            <a:xfrm>
              <a:off x="1808" y="2130"/>
              <a:ext cx="152" cy="912"/>
            </a:xfrm>
            <a:custGeom>
              <a:avLst/>
              <a:gdLst>
                <a:gd name="T0" fmla="*/ 104 w 152"/>
                <a:gd name="T1" fmla="*/ 0 h 912"/>
                <a:gd name="T2" fmla="*/ 8 w 152"/>
                <a:gd name="T3" fmla="*/ 432 h 912"/>
                <a:gd name="T4" fmla="*/ 152 w 152"/>
                <a:gd name="T5" fmla="*/ 912 h 912"/>
                <a:gd name="T6" fmla="*/ 0 60000 65536"/>
                <a:gd name="T7" fmla="*/ 0 60000 65536"/>
                <a:gd name="T8" fmla="*/ 0 60000 65536"/>
                <a:gd name="T9" fmla="*/ 0 w 152"/>
                <a:gd name="T10" fmla="*/ 0 h 912"/>
                <a:gd name="T11" fmla="*/ 152 w 152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" h="912">
                  <a:moveTo>
                    <a:pt x="104" y="0"/>
                  </a:moveTo>
                  <a:cubicBezTo>
                    <a:pt x="52" y="140"/>
                    <a:pt x="0" y="280"/>
                    <a:pt x="8" y="432"/>
                  </a:cubicBezTo>
                  <a:cubicBezTo>
                    <a:pt x="16" y="584"/>
                    <a:pt x="84" y="748"/>
                    <a:pt x="152" y="912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64" name="Freeform 14"/>
            <p:cNvSpPr>
              <a:spLocks/>
            </p:cNvSpPr>
            <p:nvPr/>
          </p:nvSpPr>
          <p:spPr bwMode="auto">
            <a:xfrm>
              <a:off x="1720" y="2130"/>
              <a:ext cx="152" cy="912"/>
            </a:xfrm>
            <a:custGeom>
              <a:avLst/>
              <a:gdLst>
                <a:gd name="T0" fmla="*/ 104 w 152"/>
                <a:gd name="T1" fmla="*/ 0 h 912"/>
                <a:gd name="T2" fmla="*/ 8 w 152"/>
                <a:gd name="T3" fmla="*/ 432 h 912"/>
                <a:gd name="T4" fmla="*/ 152 w 152"/>
                <a:gd name="T5" fmla="*/ 912 h 912"/>
                <a:gd name="T6" fmla="*/ 0 60000 65536"/>
                <a:gd name="T7" fmla="*/ 0 60000 65536"/>
                <a:gd name="T8" fmla="*/ 0 60000 65536"/>
                <a:gd name="T9" fmla="*/ 0 w 152"/>
                <a:gd name="T10" fmla="*/ 0 h 912"/>
                <a:gd name="T11" fmla="*/ 152 w 152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" h="912">
                  <a:moveTo>
                    <a:pt x="104" y="0"/>
                  </a:moveTo>
                  <a:cubicBezTo>
                    <a:pt x="52" y="140"/>
                    <a:pt x="0" y="280"/>
                    <a:pt x="8" y="432"/>
                  </a:cubicBezTo>
                  <a:cubicBezTo>
                    <a:pt x="16" y="584"/>
                    <a:pt x="84" y="748"/>
                    <a:pt x="152" y="912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65" name="Freeform 15"/>
            <p:cNvSpPr>
              <a:spLocks/>
            </p:cNvSpPr>
            <p:nvPr/>
          </p:nvSpPr>
          <p:spPr bwMode="auto">
            <a:xfrm>
              <a:off x="1632" y="2130"/>
              <a:ext cx="152" cy="912"/>
            </a:xfrm>
            <a:custGeom>
              <a:avLst/>
              <a:gdLst>
                <a:gd name="T0" fmla="*/ 104 w 152"/>
                <a:gd name="T1" fmla="*/ 0 h 912"/>
                <a:gd name="T2" fmla="*/ 8 w 152"/>
                <a:gd name="T3" fmla="*/ 432 h 912"/>
                <a:gd name="T4" fmla="*/ 152 w 152"/>
                <a:gd name="T5" fmla="*/ 912 h 912"/>
                <a:gd name="T6" fmla="*/ 0 60000 65536"/>
                <a:gd name="T7" fmla="*/ 0 60000 65536"/>
                <a:gd name="T8" fmla="*/ 0 60000 65536"/>
                <a:gd name="T9" fmla="*/ 0 w 152"/>
                <a:gd name="T10" fmla="*/ 0 h 912"/>
                <a:gd name="T11" fmla="*/ 152 w 152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" h="912">
                  <a:moveTo>
                    <a:pt x="104" y="0"/>
                  </a:moveTo>
                  <a:cubicBezTo>
                    <a:pt x="52" y="140"/>
                    <a:pt x="0" y="280"/>
                    <a:pt x="8" y="432"/>
                  </a:cubicBezTo>
                  <a:cubicBezTo>
                    <a:pt x="16" y="584"/>
                    <a:pt x="84" y="748"/>
                    <a:pt x="152" y="912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66" name="Freeform 16"/>
            <p:cNvSpPr>
              <a:spLocks/>
            </p:cNvSpPr>
            <p:nvPr/>
          </p:nvSpPr>
          <p:spPr bwMode="auto">
            <a:xfrm>
              <a:off x="1544" y="2130"/>
              <a:ext cx="152" cy="912"/>
            </a:xfrm>
            <a:custGeom>
              <a:avLst/>
              <a:gdLst>
                <a:gd name="T0" fmla="*/ 104 w 152"/>
                <a:gd name="T1" fmla="*/ 0 h 912"/>
                <a:gd name="T2" fmla="*/ 8 w 152"/>
                <a:gd name="T3" fmla="*/ 432 h 912"/>
                <a:gd name="T4" fmla="*/ 152 w 152"/>
                <a:gd name="T5" fmla="*/ 912 h 912"/>
                <a:gd name="T6" fmla="*/ 0 60000 65536"/>
                <a:gd name="T7" fmla="*/ 0 60000 65536"/>
                <a:gd name="T8" fmla="*/ 0 60000 65536"/>
                <a:gd name="T9" fmla="*/ 0 w 152"/>
                <a:gd name="T10" fmla="*/ 0 h 912"/>
                <a:gd name="T11" fmla="*/ 152 w 152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" h="912">
                  <a:moveTo>
                    <a:pt x="104" y="0"/>
                  </a:moveTo>
                  <a:cubicBezTo>
                    <a:pt x="52" y="140"/>
                    <a:pt x="0" y="280"/>
                    <a:pt x="8" y="432"/>
                  </a:cubicBezTo>
                  <a:cubicBezTo>
                    <a:pt x="16" y="584"/>
                    <a:pt x="84" y="748"/>
                    <a:pt x="152" y="912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67" name="Freeform 17"/>
            <p:cNvSpPr>
              <a:spLocks/>
            </p:cNvSpPr>
            <p:nvPr/>
          </p:nvSpPr>
          <p:spPr bwMode="auto">
            <a:xfrm>
              <a:off x="1456" y="2130"/>
              <a:ext cx="152" cy="912"/>
            </a:xfrm>
            <a:custGeom>
              <a:avLst/>
              <a:gdLst>
                <a:gd name="T0" fmla="*/ 104 w 152"/>
                <a:gd name="T1" fmla="*/ 0 h 912"/>
                <a:gd name="T2" fmla="*/ 8 w 152"/>
                <a:gd name="T3" fmla="*/ 432 h 912"/>
                <a:gd name="T4" fmla="*/ 152 w 152"/>
                <a:gd name="T5" fmla="*/ 912 h 912"/>
                <a:gd name="T6" fmla="*/ 0 60000 65536"/>
                <a:gd name="T7" fmla="*/ 0 60000 65536"/>
                <a:gd name="T8" fmla="*/ 0 60000 65536"/>
                <a:gd name="T9" fmla="*/ 0 w 152"/>
                <a:gd name="T10" fmla="*/ 0 h 912"/>
                <a:gd name="T11" fmla="*/ 152 w 152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" h="912">
                  <a:moveTo>
                    <a:pt x="104" y="0"/>
                  </a:moveTo>
                  <a:cubicBezTo>
                    <a:pt x="52" y="140"/>
                    <a:pt x="0" y="280"/>
                    <a:pt x="8" y="432"/>
                  </a:cubicBezTo>
                  <a:cubicBezTo>
                    <a:pt x="16" y="584"/>
                    <a:pt x="84" y="748"/>
                    <a:pt x="152" y="912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68" name="Freeform 18"/>
            <p:cNvSpPr>
              <a:spLocks/>
            </p:cNvSpPr>
            <p:nvPr/>
          </p:nvSpPr>
          <p:spPr bwMode="auto">
            <a:xfrm>
              <a:off x="1368" y="2130"/>
              <a:ext cx="152" cy="912"/>
            </a:xfrm>
            <a:custGeom>
              <a:avLst/>
              <a:gdLst>
                <a:gd name="T0" fmla="*/ 104 w 152"/>
                <a:gd name="T1" fmla="*/ 0 h 912"/>
                <a:gd name="T2" fmla="*/ 8 w 152"/>
                <a:gd name="T3" fmla="*/ 432 h 912"/>
                <a:gd name="T4" fmla="*/ 152 w 152"/>
                <a:gd name="T5" fmla="*/ 912 h 912"/>
                <a:gd name="T6" fmla="*/ 0 60000 65536"/>
                <a:gd name="T7" fmla="*/ 0 60000 65536"/>
                <a:gd name="T8" fmla="*/ 0 60000 65536"/>
                <a:gd name="T9" fmla="*/ 0 w 152"/>
                <a:gd name="T10" fmla="*/ 0 h 912"/>
                <a:gd name="T11" fmla="*/ 152 w 152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" h="912">
                  <a:moveTo>
                    <a:pt x="104" y="0"/>
                  </a:moveTo>
                  <a:cubicBezTo>
                    <a:pt x="52" y="140"/>
                    <a:pt x="0" y="280"/>
                    <a:pt x="8" y="432"/>
                  </a:cubicBezTo>
                  <a:cubicBezTo>
                    <a:pt x="16" y="584"/>
                    <a:pt x="84" y="748"/>
                    <a:pt x="152" y="912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69" name="Freeform 19"/>
            <p:cNvSpPr>
              <a:spLocks/>
            </p:cNvSpPr>
            <p:nvPr/>
          </p:nvSpPr>
          <p:spPr bwMode="auto">
            <a:xfrm>
              <a:off x="1280" y="2130"/>
              <a:ext cx="152" cy="912"/>
            </a:xfrm>
            <a:custGeom>
              <a:avLst/>
              <a:gdLst>
                <a:gd name="T0" fmla="*/ 104 w 152"/>
                <a:gd name="T1" fmla="*/ 0 h 912"/>
                <a:gd name="T2" fmla="*/ 8 w 152"/>
                <a:gd name="T3" fmla="*/ 432 h 912"/>
                <a:gd name="T4" fmla="*/ 152 w 152"/>
                <a:gd name="T5" fmla="*/ 912 h 912"/>
                <a:gd name="T6" fmla="*/ 0 60000 65536"/>
                <a:gd name="T7" fmla="*/ 0 60000 65536"/>
                <a:gd name="T8" fmla="*/ 0 60000 65536"/>
                <a:gd name="T9" fmla="*/ 0 w 152"/>
                <a:gd name="T10" fmla="*/ 0 h 912"/>
                <a:gd name="T11" fmla="*/ 152 w 152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" h="912">
                  <a:moveTo>
                    <a:pt x="104" y="0"/>
                  </a:moveTo>
                  <a:cubicBezTo>
                    <a:pt x="52" y="140"/>
                    <a:pt x="0" y="280"/>
                    <a:pt x="8" y="432"/>
                  </a:cubicBezTo>
                  <a:cubicBezTo>
                    <a:pt x="16" y="584"/>
                    <a:pt x="84" y="748"/>
                    <a:pt x="152" y="912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70" name="Freeform 20"/>
            <p:cNvSpPr>
              <a:spLocks/>
            </p:cNvSpPr>
            <p:nvPr/>
          </p:nvSpPr>
          <p:spPr bwMode="auto">
            <a:xfrm>
              <a:off x="1192" y="2130"/>
              <a:ext cx="152" cy="912"/>
            </a:xfrm>
            <a:custGeom>
              <a:avLst/>
              <a:gdLst>
                <a:gd name="T0" fmla="*/ 104 w 152"/>
                <a:gd name="T1" fmla="*/ 0 h 912"/>
                <a:gd name="T2" fmla="*/ 8 w 152"/>
                <a:gd name="T3" fmla="*/ 432 h 912"/>
                <a:gd name="T4" fmla="*/ 152 w 152"/>
                <a:gd name="T5" fmla="*/ 912 h 912"/>
                <a:gd name="T6" fmla="*/ 0 60000 65536"/>
                <a:gd name="T7" fmla="*/ 0 60000 65536"/>
                <a:gd name="T8" fmla="*/ 0 60000 65536"/>
                <a:gd name="T9" fmla="*/ 0 w 152"/>
                <a:gd name="T10" fmla="*/ 0 h 912"/>
                <a:gd name="T11" fmla="*/ 152 w 152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" h="912">
                  <a:moveTo>
                    <a:pt x="104" y="0"/>
                  </a:moveTo>
                  <a:cubicBezTo>
                    <a:pt x="52" y="140"/>
                    <a:pt x="0" y="280"/>
                    <a:pt x="8" y="432"/>
                  </a:cubicBezTo>
                  <a:cubicBezTo>
                    <a:pt x="16" y="584"/>
                    <a:pt x="84" y="748"/>
                    <a:pt x="152" y="912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71" name="Freeform 21"/>
            <p:cNvSpPr>
              <a:spLocks/>
            </p:cNvSpPr>
            <p:nvPr/>
          </p:nvSpPr>
          <p:spPr bwMode="auto">
            <a:xfrm>
              <a:off x="1104" y="2130"/>
              <a:ext cx="152" cy="912"/>
            </a:xfrm>
            <a:custGeom>
              <a:avLst/>
              <a:gdLst>
                <a:gd name="T0" fmla="*/ 104 w 152"/>
                <a:gd name="T1" fmla="*/ 0 h 912"/>
                <a:gd name="T2" fmla="*/ 8 w 152"/>
                <a:gd name="T3" fmla="*/ 432 h 912"/>
                <a:gd name="T4" fmla="*/ 152 w 152"/>
                <a:gd name="T5" fmla="*/ 912 h 912"/>
                <a:gd name="T6" fmla="*/ 0 60000 65536"/>
                <a:gd name="T7" fmla="*/ 0 60000 65536"/>
                <a:gd name="T8" fmla="*/ 0 60000 65536"/>
                <a:gd name="T9" fmla="*/ 0 w 152"/>
                <a:gd name="T10" fmla="*/ 0 h 912"/>
                <a:gd name="T11" fmla="*/ 152 w 152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" h="912">
                  <a:moveTo>
                    <a:pt x="104" y="0"/>
                  </a:moveTo>
                  <a:cubicBezTo>
                    <a:pt x="52" y="140"/>
                    <a:pt x="0" y="280"/>
                    <a:pt x="8" y="432"/>
                  </a:cubicBezTo>
                  <a:cubicBezTo>
                    <a:pt x="16" y="584"/>
                    <a:pt x="84" y="748"/>
                    <a:pt x="152" y="912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72" name="Text Box 22"/>
            <p:cNvSpPr txBox="1">
              <a:spLocks noChangeArrowheads="1"/>
            </p:cNvSpPr>
            <p:nvPr/>
          </p:nvSpPr>
          <p:spPr bwMode="auto">
            <a:xfrm>
              <a:off x="1429" y="1938"/>
              <a:ext cx="60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rounds</a:t>
              </a:r>
            </a:p>
          </p:txBody>
        </p:sp>
        <p:sp>
          <p:nvSpPr>
            <p:cNvPr id="104473" name="Line 23"/>
            <p:cNvSpPr>
              <a:spLocks noChangeShapeType="1"/>
            </p:cNvSpPr>
            <p:nvPr/>
          </p:nvSpPr>
          <p:spPr bwMode="auto">
            <a:xfrm flipH="1">
              <a:off x="2272" y="1986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04453" name="Text Box 24"/>
          <p:cNvSpPr txBox="1">
            <a:spLocks noChangeArrowheads="1"/>
          </p:cNvSpPr>
          <p:nvPr/>
        </p:nvSpPr>
        <p:spPr bwMode="auto">
          <a:xfrm>
            <a:off x="3379788" y="2790825"/>
            <a:ext cx="49926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/>
              <a:t>Generalize so </a:t>
            </a:r>
            <a:r>
              <a:rPr lang="en-US" i="1"/>
              <a:t>R(t)</a:t>
            </a:r>
            <a:r>
              <a:rPr lang="en-US"/>
              <a:t> continuous, not discrete</a:t>
            </a:r>
          </a:p>
        </p:txBody>
      </p:sp>
      <p:sp>
        <p:nvSpPr>
          <p:cNvPr id="104454" name="Text Box 25"/>
          <p:cNvSpPr txBox="1">
            <a:spLocks noChangeArrowheads="1"/>
          </p:cNvSpPr>
          <p:nvPr/>
        </p:nvSpPr>
        <p:spPr bwMode="auto">
          <a:xfrm>
            <a:off x="4178300" y="3457575"/>
            <a:ext cx="321468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 i="1"/>
              <a:t>R(t)</a:t>
            </a:r>
            <a:r>
              <a:rPr lang="en-US"/>
              <a:t> grows at rate inversely</a:t>
            </a:r>
          </a:p>
          <a:p>
            <a:pPr eaLnBrk="0" hangingPunct="0">
              <a:spcBef>
                <a:spcPct val="0"/>
              </a:spcBef>
              <a:buSzTx/>
              <a:buFontTx/>
              <a:buNone/>
            </a:pPr>
            <a:r>
              <a:rPr lang="en-US"/>
              <a:t>proportional to </a:t>
            </a:r>
            <a:r>
              <a:rPr lang="en-US" i="1"/>
              <a:t>n(t)</a:t>
            </a:r>
          </a:p>
        </p:txBody>
      </p:sp>
      <p:sp>
        <p:nvSpPr>
          <p:cNvPr id="104455" name="Rectangle 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Computing the Finishing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WFQ and Packet QoS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WFQ and its many variations form the basis for providing QoS in packet networks</a:t>
            </a:r>
          </a:p>
          <a:p>
            <a:pPr eaLnBrk="1" hangingPunct="1"/>
            <a:r>
              <a:rPr lang="en-US" smtClean="0"/>
              <a:t>Very high-speed implementations available, up to 10 Gbps and possibly higher</a:t>
            </a:r>
          </a:p>
          <a:p>
            <a:pPr eaLnBrk="1" hangingPunct="1"/>
            <a:r>
              <a:rPr lang="en-US" smtClean="0"/>
              <a:t>WFQ must be combined with other mechanisms to provide end-to-end QoS (next section)</a:t>
            </a:r>
          </a:p>
          <a:p>
            <a:pPr eaLnBrk="1" hangingPunct="1"/>
            <a:endParaRPr lang="en-US" smtClean="0"/>
          </a:p>
        </p:txBody>
      </p:sp>
      <p:sp>
        <p:nvSpPr>
          <p:cNvPr id="105476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Buffer Management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200" smtClean="0"/>
              <a:t>Packet drop strategy:  Which packet to drop when buffers full</a:t>
            </a:r>
          </a:p>
          <a:p>
            <a:pPr eaLnBrk="1" hangingPunct="1"/>
            <a:r>
              <a:rPr lang="en-US" sz="2200" smtClean="0"/>
              <a:t>Fairness:  protect behaving sources from misbehaving sources</a:t>
            </a:r>
          </a:p>
          <a:p>
            <a:pPr eaLnBrk="1" hangingPunct="1"/>
            <a:r>
              <a:rPr lang="en-US" sz="2200" smtClean="0"/>
              <a:t>Aggregation:  </a:t>
            </a:r>
          </a:p>
          <a:p>
            <a:pPr marL="742950" lvl="1" indent="-285750" eaLnBrk="1" hangingPunct="1"/>
            <a:r>
              <a:rPr lang="en-US" sz="2000" smtClean="0"/>
              <a:t>Per-flow buffers protect flows from misbehaving flows</a:t>
            </a:r>
          </a:p>
          <a:p>
            <a:pPr marL="742950" lvl="1" indent="-285750" eaLnBrk="1" hangingPunct="1"/>
            <a:r>
              <a:rPr lang="en-US" sz="2000" smtClean="0"/>
              <a:t>Full aggregation provides no protection</a:t>
            </a:r>
          </a:p>
          <a:p>
            <a:pPr marL="742950" lvl="1" indent="-285750" eaLnBrk="1" hangingPunct="1"/>
            <a:r>
              <a:rPr lang="en-US" sz="2000" smtClean="0"/>
              <a:t>Aggregation into classes provided intermediate protection</a:t>
            </a:r>
          </a:p>
          <a:p>
            <a:pPr eaLnBrk="1" hangingPunct="1"/>
            <a:r>
              <a:rPr lang="en-US" sz="2200" smtClean="0"/>
              <a:t>Drop priorities: </a:t>
            </a:r>
          </a:p>
          <a:p>
            <a:pPr marL="742950" lvl="1" indent="-285750" eaLnBrk="1" hangingPunct="1"/>
            <a:r>
              <a:rPr lang="en-US" sz="2000" smtClean="0"/>
              <a:t>Drop packets from buffer according to priorities</a:t>
            </a:r>
          </a:p>
          <a:p>
            <a:pPr marL="742950" lvl="1" indent="-285750" eaLnBrk="1" hangingPunct="1"/>
            <a:r>
              <a:rPr lang="en-US" sz="2000" smtClean="0"/>
              <a:t>Maximizes network utilization &amp; application QoS</a:t>
            </a:r>
          </a:p>
          <a:p>
            <a:pPr marL="742950" lvl="1" indent="-285750" eaLnBrk="1" hangingPunct="1"/>
            <a:r>
              <a:rPr lang="en-US" sz="2000" smtClean="0"/>
              <a:t>Examples:  layered video, policing at network edge</a:t>
            </a:r>
          </a:p>
          <a:p>
            <a:pPr eaLnBrk="1" hangingPunct="1"/>
            <a:r>
              <a:rPr lang="en-US" sz="2200" smtClean="0"/>
              <a:t>Controlling sources at the edge </a:t>
            </a:r>
          </a:p>
        </p:txBody>
      </p:sp>
      <p:sp>
        <p:nvSpPr>
          <p:cNvPr id="106500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38200"/>
          </a:xfrm>
        </p:spPr>
        <p:txBody>
          <a:bodyPr/>
          <a:lstStyle/>
          <a:p>
            <a:pPr eaLnBrk="1" hangingPunct="1"/>
            <a:r>
              <a:rPr lang="en-US" smtClean="0"/>
              <a:t>Early or Overloaded Drop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4648200"/>
          </a:xfrm>
        </p:spPr>
        <p:txBody>
          <a:bodyPr/>
          <a:lstStyle/>
          <a:p>
            <a:pPr eaLnBrk="1" hangingPunct="1"/>
            <a:endParaRPr lang="en-US" sz="2200" smtClean="0"/>
          </a:p>
          <a:p>
            <a:pPr eaLnBrk="1" hangingPunct="1">
              <a:buFont typeface="Wingdings" pitchFamily="2" charset="2"/>
              <a:buNone/>
            </a:pPr>
            <a:endParaRPr lang="en-US" sz="2200" smtClean="0"/>
          </a:p>
          <a:p>
            <a:pPr eaLnBrk="1" hangingPunct="1">
              <a:buFont typeface="Wingdings" pitchFamily="2" charset="2"/>
              <a:buNone/>
            </a:pPr>
            <a:r>
              <a:rPr lang="en-US" sz="2200" i="1" smtClean="0"/>
              <a:t>Random early detection:</a:t>
            </a:r>
            <a:endParaRPr lang="en-US" sz="2200" smtClean="0"/>
          </a:p>
          <a:p>
            <a:pPr eaLnBrk="1" hangingPunct="1"/>
            <a:r>
              <a:rPr lang="en-US" sz="2200" smtClean="0"/>
              <a:t>drop pkts if short-term avg of queue exceeds threshold</a:t>
            </a:r>
          </a:p>
          <a:p>
            <a:pPr eaLnBrk="1" hangingPunct="1"/>
            <a:r>
              <a:rPr lang="en-US" sz="2200" smtClean="0"/>
              <a:t>pkt drop probability increases linearly with queue length</a:t>
            </a:r>
          </a:p>
          <a:p>
            <a:pPr eaLnBrk="1" hangingPunct="1"/>
            <a:r>
              <a:rPr lang="en-US" sz="2200" smtClean="0"/>
              <a:t>mark offending pkts </a:t>
            </a:r>
          </a:p>
          <a:p>
            <a:pPr eaLnBrk="1" hangingPunct="1"/>
            <a:r>
              <a:rPr lang="en-US" sz="2200" smtClean="0"/>
              <a:t>improves performance of cooperating TCP sources</a:t>
            </a:r>
          </a:p>
          <a:p>
            <a:pPr eaLnBrk="1" hangingPunct="1"/>
            <a:r>
              <a:rPr lang="en-US" sz="2200" smtClean="0"/>
              <a:t>increases loss probability of misbehaving sources</a:t>
            </a:r>
          </a:p>
        </p:txBody>
      </p:sp>
      <p:sp>
        <p:nvSpPr>
          <p:cNvPr id="107524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762000"/>
          </a:xfrm>
        </p:spPr>
        <p:txBody>
          <a:bodyPr/>
          <a:lstStyle/>
          <a:p>
            <a:pPr eaLnBrk="1" hangingPunct="1"/>
            <a:r>
              <a:rPr lang="en-US" smtClean="0"/>
              <a:t>Random Early Detection (RED)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772400" cy="48561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100" smtClean="0"/>
              <a:t>Packets produced by TCP will reduce input rate in response to network congestion</a:t>
            </a:r>
          </a:p>
          <a:p>
            <a:pPr eaLnBrk="1" hangingPunct="1">
              <a:lnSpc>
                <a:spcPct val="90000"/>
              </a:lnSpc>
            </a:pPr>
            <a:r>
              <a:rPr lang="en-US" sz="2100" smtClean="0"/>
              <a:t>Early drop:  discard packets before buffers are full</a:t>
            </a:r>
          </a:p>
          <a:p>
            <a:pPr eaLnBrk="1" hangingPunct="1">
              <a:lnSpc>
                <a:spcPct val="90000"/>
              </a:lnSpc>
            </a:pPr>
            <a:r>
              <a:rPr lang="en-US" sz="2100" smtClean="0"/>
              <a:t>Random drop causes some sources to reduce rate before others, causing gradual reduction in aggregate input rate</a:t>
            </a:r>
          </a:p>
          <a:p>
            <a:pPr eaLnBrk="1" hangingPunct="1">
              <a:lnSpc>
                <a:spcPct val="90000"/>
              </a:lnSpc>
            </a:pPr>
            <a:endParaRPr lang="en-US" sz="210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100" smtClean="0"/>
              <a:t>Algorithm:</a:t>
            </a:r>
          </a:p>
          <a:p>
            <a:pPr eaLnBrk="1" hangingPunct="1">
              <a:lnSpc>
                <a:spcPct val="90000"/>
              </a:lnSpc>
            </a:pPr>
            <a:r>
              <a:rPr lang="en-US" sz="2100" smtClean="0"/>
              <a:t>Maintain running average of queue length</a:t>
            </a:r>
          </a:p>
          <a:p>
            <a:pPr eaLnBrk="1" hangingPunct="1">
              <a:lnSpc>
                <a:spcPct val="90000"/>
              </a:lnSpc>
            </a:pPr>
            <a:r>
              <a:rPr lang="en-US" sz="2100" smtClean="0"/>
              <a:t>If Q</a:t>
            </a:r>
            <a:r>
              <a:rPr lang="en-US" sz="2100" baseline="-25000" smtClean="0"/>
              <a:t>avg</a:t>
            </a:r>
            <a:r>
              <a:rPr lang="en-US" sz="2100" smtClean="0"/>
              <a:t> &lt; minthreshold, do nothing</a:t>
            </a:r>
          </a:p>
          <a:p>
            <a:pPr eaLnBrk="1" hangingPunct="1">
              <a:lnSpc>
                <a:spcPct val="90000"/>
              </a:lnSpc>
            </a:pPr>
            <a:r>
              <a:rPr lang="en-US" sz="2100" smtClean="0"/>
              <a:t>If Q</a:t>
            </a:r>
            <a:r>
              <a:rPr lang="en-US" sz="2100" baseline="-25000" smtClean="0"/>
              <a:t>avg</a:t>
            </a:r>
            <a:r>
              <a:rPr lang="en-US" sz="2100" smtClean="0"/>
              <a:t> &gt; maxthreshold, drop packet</a:t>
            </a:r>
          </a:p>
          <a:p>
            <a:pPr eaLnBrk="1" hangingPunct="1">
              <a:lnSpc>
                <a:spcPct val="90000"/>
              </a:lnSpc>
            </a:pPr>
            <a:r>
              <a:rPr lang="en-US" sz="2100" smtClean="0"/>
              <a:t>If in between, drop packet according to probability</a:t>
            </a:r>
          </a:p>
          <a:p>
            <a:pPr eaLnBrk="1" hangingPunct="1">
              <a:lnSpc>
                <a:spcPct val="90000"/>
              </a:lnSpc>
            </a:pPr>
            <a:r>
              <a:rPr lang="en-US" sz="2100" smtClean="0"/>
              <a:t>Flows that send more packets are more likely to have packets dropped</a:t>
            </a:r>
          </a:p>
        </p:txBody>
      </p:sp>
      <p:sp>
        <p:nvSpPr>
          <p:cNvPr id="108548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570" name="Group 2"/>
          <p:cNvGrpSpPr>
            <a:grpSpLocks/>
          </p:cNvGrpSpPr>
          <p:nvPr/>
        </p:nvGrpSpPr>
        <p:grpSpPr bwMode="auto">
          <a:xfrm>
            <a:off x="1497013" y="1852613"/>
            <a:ext cx="5905500" cy="4160837"/>
            <a:chOff x="934" y="930"/>
            <a:chExt cx="3464" cy="2470"/>
          </a:xfrm>
        </p:grpSpPr>
        <p:sp>
          <p:nvSpPr>
            <p:cNvPr id="109573" name="Rectangle 3"/>
            <p:cNvSpPr>
              <a:spLocks noChangeArrowheads="1"/>
            </p:cNvSpPr>
            <p:nvPr/>
          </p:nvSpPr>
          <p:spPr bwMode="auto">
            <a:xfrm>
              <a:off x="2104" y="3237"/>
              <a:ext cx="1312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Average queue length</a:t>
              </a:r>
              <a:endParaRPr lang="en-US" sz="1800"/>
            </a:p>
          </p:txBody>
        </p:sp>
        <p:sp>
          <p:nvSpPr>
            <p:cNvPr id="109574" name="Line 4"/>
            <p:cNvSpPr>
              <a:spLocks noChangeShapeType="1"/>
            </p:cNvSpPr>
            <p:nvPr/>
          </p:nvSpPr>
          <p:spPr bwMode="auto">
            <a:xfrm>
              <a:off x="1326" y="2940"/>
              <a:ext cx="30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9575" name="Line 5"/>
            <p:cNvSpPr>
              <a:spLocks noChangeShapeType="1"/>
            </p:cNvSpPr>
            <p:nvPr/>
          </p:nvSpPr>
          <p:spPr bwMode="auto">
            <a:xfrm flipV="1">
              <a:off x="1326" y="930"/>
              <a:ext cx="0" cy="20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9576" name="Freeform 6"/>
            <p:cNvSpPr>
              <a:spLocks/>
            </p:cNvSpPr>
            <p:nvPr/>
          </p:nvSpPr>
          <p:spPr bwMode="auto">
            <a:xfrm>
              <a:off x="1326" y="1554"/>
              <a:ext cx="2442" cy="1386"/>
            </a:xfrm>
            <a:custGeom>
              <a:avLst/>
              <a:gdLst>
                <a:gd name="T0" fmla="*/ 0 w 2442"/>
                <a:gd name="T1" fmla="*/ 1386 h 1386"/>
                <a:gd name="T2" fmla="*/ 780 w 2442"/>
                <a:gd name="T3" fmla="*/ 1386 h 1386"/>
                <a:gd name="T4" fmla="*/ 1980 w 2442"/>
                <a:gd name="T5" fmla="*/ 180 h 1386"/>
                <a:gd name="T6" fmla="*/ 1980 w 2442"/>
                <a:gd name="T7" fmla="*/ 0 h 1386"/>
                <a:gd name="T8" fmla="*/ 2442 w 2442"/>
                <a:gd name="T9" fmla="*/ 0 h 13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42"/>
                <a:gd name="T16" fmla="*/ 0 h 1386"/>
                <a:gd name="T17" fmla="*/ 2442 w 2442"/>
                <a:gd name="T18" fmla="*/ 1386 h 13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42" h="1386">
                  <a:moveTo>
                    <a:pt x="0" y="1386"/>
                  </a:moveTo>
                  <a:lnTo>
                    <a:pt x="780" y="1386"/>
                  </a:lnTo>
                  <a:lnTo>
                    <a:pt x="1980" y="180"/>
                  </a:lnTo>
                  <a:lnTo>
                    <a:pt x="1980" y="0"/>
                  </a:lnTo>
                  <a:lnTo>
                    <a:pt x="2442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7" name="Rectangle 7"/>
            <p:cNvSpPr>
              <a:spLocks noChangeArrowheads="1"/>
            </p:cNvSpPr>
            <p:nvPr/>
          </p:nvSpPr>
          <p:spPr bwMode="auto">
            <a:xfrm rot="-5400000">
              <a:off x="250" y="1877"/>
              <a:ext cx="1530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Probability of packet drop</a:t>
              </a:r>
              <a:endParaRPr lang="en-US" sz="1800"/>
            </a:p>
          </p:txBody>
        </p:sp>
        <p:sp>
          <p:nvSpPr>
            <p:cNvPr id="109578" name="Line 8"/>
            <p:cNvSpPr>
              <a:spLocks noChangeShapeType="1"/>
            </p:cNvSpPr>
            <p:nvPr/>
          </p:nvSpPr>
          <p:spPr bwMode="auto">
            <a:xfrm flipH="1">
              <a:off x="1326" y="1554"/>
              <a:ext cx="19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9579" name="Rectangle 9"/>
            <p:cNvSpPr>
              <a:spLocks noChangeArrowheads="1"/>
            </p:cNvSpPr>
            <p:nvPr/>
          </p:nvSpPr>
          <p:spPr bwMode="auto">
            <a:xfrm>
              <a:off x="1220" y="1467"/>
              <a:ext cx="74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1</a:t>
              </a:r>
              <a:endParaRPr lang="en-US" sz="1800"/>
            </a:p>
          </p:txBody>
        </p:sp>
        <p:sp>
          <p:nvSpPr>
            <p:cNvPr id="109580" name="Rectangle 10"/>
            <p:cNvSpPr>
              <a:spLocks noChangeArrowheads="1"/>
            </p:cNvSpPr>
            <p:nvPr/>
          </p:nvSpPr>
          <p:spPr bwMode="auto">
            <a:xfrm>
              <a:off x="1220" y="2830"/>
              <a:ext cx="74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0</a:t>
              </a:r>
              <a:endParaRPr lang="en-US" sz="1800"/>
            </a:p>
          </p:txBody>
        </p:sp>
        <p:sp>
          <p:nvSpPr>
            <p:cNvPr id="109581" name="Rectangle 11"/>
            <p:cNvSpPr>
              <a:spLocks noChangeArrowheads="1"/>
            </p:cNvSpPr>
            <p:nvPr/>
          </p:nvSpPr>
          <p:spPr bwMode="auto">
            <a:xfrm>
              <a:off x="1990" y="2950"/>
              <a:ext cx="290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 i="1">
                  <a:solidFill>
                    <a:srgbClr val="000000"/>
                  </a:solidFill>
                </a:rPr>
                <a:t>min</a:t>
              </a:r>
              <a:r>
                <a:rPr lang="en-US" sz="1800" i="1" baseline="-25000">
                  <a:solidFill>
                    <a:srgbClr val="000000"/>
                  </a:solidFill>
                </a:rPr>
                <a:t>th</a:t>
              </a:r>
              <a:endParaRPr lang="en-US" sz="1800" i="1"/>
            </a:p>
          </p:txBody>
        </p:sp>
        <p:sp>
          <p:nvSpPr>
            <p:cNvPr id="109582" name="Rectangle 12"/>
            <p:cNvSpPr>
              <a:spLocks noChangeArrowheads="1"/>
            </p:cNvSpPr>
            <p:nvPr/>
          </p:nvSpPr>
          <p:spPr bwMode="auto">
            <a:xfrm>
              <a:off x="3173" y="2950"/>
              <a:ext cx="327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 i="1">
                  <a:solidFill>
                    <a:srgbClr val="000000"/>
                  </a:solidFill>
                </a:rPr>
                <a:t>max</a:t>
              </a:r>
              <a:r>
                <a:rPr lang="en-US" sz="1800" i="1" baseline="-25000">
                  <a:solidFill>
                    <a:srgbClr val="000000"/>
                  </a:solidFill>
                </a:rPr>
                <a:t>th</a:t>
              </a:r>
              <a:endParaRPr lang="en-US" sz="1800" i="1"/>
            </a:p>
          </p:txBody>
        </p:sp>
        <p:sp>
          <p:nvSpPr>
            <p:cNvPr id="109583" name="Line 13"/>
            <p:cNvSpPr>
              <a:spLocks noChangeShapeType="1"/>
            </p:cNvSpPr>
            <p:nvPr/>
          </p:nvSpPr>
          <p:spPr bwMode="auto">
            <a:xfrm>
              <a:off x="3306" y="1734"/>
              <a:ext cx="0" cy="12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9584" name="Line 14"/>
            <p:cNvSpPr>
              <a:spLocks noChangeShapeType="1"/>
            </p:cNvSpPr>
            <p:nvPr/>
          </p:nvSpPr>
          <p:spPr bwMode="auto">
            <a:xfrm>
              <a:off x="3756" y="1554"/>
              <a:ext cx="0" cy="13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9585" name="Text Box 15"/>
            <p:cNvSpPr txBox="1">
              <a:spLocks noChangeArrowheads="1"/>
            </p:cNvSpPr>
            <p:nvPr/>
          </p:nvSpPr>
          <p:spPr bwMode="auto">
            <a:xfrm>
              <a:off x="3599" y="2928"/>
              <a:ext cx="279" cy="2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full</a:t>
              </a:r>
            </a:p>
          </p:txBody>
        </p:sp>
      </p:grpSp>
      <p:sp>
        <p:nvSpPr>
          <p:cNvPr id="109571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Packet Drop Profile in RED</a:t>
            </a:r>
          </a:p>
        </p:txBody>
      </p:sp>
      <p:sp>
        <p:nvSpPr>
          <p:cNvPr id="109572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4400" smtClean="0">
                <a:solidFill>
                  <a:schemeClr val="hlink"/>
                </a:solidFill>
              </a:rPr>
              <a:t>Chapter 7</a:t>
            </a:r>
            <a:r>
              <a:rPr lang="en-US" sz="4400" smtClean="0"/>
              <a:t/>
            </a:r>
            <a:br>
              <a:rPr lang="en-US" sz="4400" smtClean="0"/>
            </a:br>
            <a:r>
              <a:rPr lang="en-US" sz="4400" smtClean="0"/>
              <a:t>Packet-Switching Networks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3022600"/>
          </a:xfrm>
        </p:spPr>
        <p:txBody>
          <a:bodyPr/>
          <a:lstStyle/>
          <a:p>
            <a:pPr eaLnBrk="1" hangingPunct="1"/>
            <a:r>
              <a:rPr lang="en-US" b="1" i="1" smtClean="0"/>
              <a:t>Traffic Management at the Flow Level</a:t>
            </a:r>
          </a:p>
        </p:txBody>
      </p:sp>
      <p:sp>
        <p:nvSpPr>
          <p:cNvPr id="110596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18" name="Group 2"/>
          <p:cNvGrpSpPr>
            <a:grpSpLocks/>
          </p:cNvGrpSpPr>
          <p:nvPr/>
        </p:nvGrpSpPr>
        <p:grpSpPr bwMode="auto">
          <a:xfrm>
            <a:off x="1549400" y="900113"/>
            <a:ext cx="6035675" cy="4603750"/>
            <a:chOff x="896" y="711"/>
            <a:chExt cx="3802" cy="2900"/>
          </a:xfrm>
        </p:grpSpPr>
        <p:sp>
          <p:nvSpPr>
            <p:cNvPr id="111622" name="Oval 3"/>
            <p:cNvSpPr>
              <a:spLocks noChangeArrowheads="1"/>
            </p:cNvSpPr>
            <p:nvPr/>
          </p:nvSpPr>
          <p:spPr bwMode="auto">
            <a:xfrm>
              <a:off x="2011" y="2279"/>
              <a:ext cx="265" cy="285"/>
            </a:xfrm>
            <a:prstGeom prst="ellipse">
              <a:avLst/>
            </a:prstGeom>
            <a:solidFill>
              <a:schemeClr val="accent2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623" name="Rectangle 4"/>
            <p:cNvSpPr>
              <a:spLocks noChangeArrowheads="1"/>
            </p:cNvSpPr>
            <p:nvPr/>
          </p:nvSpPr>
          <p:spPr bwMode="auto">
            <a:xfrm>
              <a:off x="2104" y="2309"/>
              <a:ext cx="85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900">
                  <a:solidFill>
                    <a:srgbClr val="000000"/>
                  </a:solidFill>
                </a:rPr>
                <a:t>4</a:t>
              </a:r>
              <a:endParaRPr lang="en-US" sz="2400"/>
            </a:p>
          </p:txBody>
        </p:sp>
        <p:sp>
          <p:nvSpPr>
            <p:cNvPr id="111624" name="Oval 5"/>
            <p:cNvSpPr>
              <a:spLocks noChangeArrowheads="1"/>
            </p:cNvSpPr>
            <p:nvPr/>
          </p:nvSpPr>
          <p:spPr bwMode="auto">
            <a:xfrm>
              <a:off x="4432" y="2544"/>
              <a:ext cx="266" cy="286"/>
            </a:xfrm>
            <a:prstGeom prst="ellipse">
              <a:avLst/>
            </a:prstGeom>
            <a:solidFill>
              <a:schemeClr val="accent2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625" name="Rectangle 6"/>
            <p:cNvSpPr>
              <a:spLocks noChangeArrowheads="1"/>
            </p:cNvSpPr>
            <p:nvPr/>
          </p:nvSpPr>
          <p:spPr bwMode="auto">
            <a:xfrm>
              <a:off x="4524" y="2575"/>
              <a:ext cx="85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900">
                  <a:solidFill>
                    <a:srgbClr val="000000"/>
                  </a:solidFill>
                </a:rPr>
                <a:t>8</a:t>
              </a:r>
              <a:endParaRPr lang="en-US" sz="2400"/>
            </a:p>
          </p:txBody>
        </p:sp>
        <p:sp>
          <p:nvSpPr>
            <p:cNvPr id="111626" name="Oval 7"/>
            <p:cNvSpPr>
              <a:spLocks noChangeArrowheads="1"/>
            </p:cNvSpPr>
            <p:nvPr/>
          </p:nvSpPr>
          <p:spPr bwMode="auto">
            <a:xfrm>
              <a:off x="3718" y="1166"/>
              <a:ext cx="265" cy="285"/>
            </a:xfrm>
            <a:prstGeom prst="ellipse">
              <a:avLst/>
            </a:prstGeom>
            <a:solidFill>
              <a:schemeClr val="accent2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627" name="Rectangle 8"/>
            <p:cNvSpPr>
              <a:spLocks noChangeArrowheads="1"/>
            </p:cNvSpPr>
            <p:nvPr/>
          </p:nvSpPr>
          <p:spPr bwMode="auto">
            <a:xfrm>
              <a:off x="3813" y="1197"/>
              <a:ext cx="85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900">
                  <a:solidFill>
                    <a:srgbClr val="000000"/>
                  </a:solidFill>
                </a:rPr>
                <a:t>6</a:t>
              </a:r>
              <a:endParaRPr lang="en-US" sz="2400"/>
            </a:p>
          </p:txBody>
        </p:sp>
        <p:sp>
          <p:nvSpPr>
            <p:cNvPr id="111628" name="Oval 9"/>
            <p:cNvSpPr>
              <a:spLocks noChangeArrowheads="1"/>
            </p:cNvSpPr>
            <p:nvPr/>
          </p:nvSpPr>
          <p:spPr bwMode="auto">
            <a:xfrm>
              <a:off x="1960" y="1100"/>
              <a:ext cx="264" cy="286"/>
            </a:xfrm>
            <a:prstGeom prst="ellipse">
              <a:avLst/>
            </a:prstGeom>
            <a:solidFill>
              <a:schemeClr val="accent2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629" name="Rectangle 10"/>
            <p:cNvSpPr>
              <a:spLocks noChangeArrowheads="1"/>
            </p:cNvSpPr>
            <p:nvPr/>
          </p:nvSpPr>
          <p:spPr bwMode="auto">
            <a:xfrm>
              <a:off x="2052" y="1130"/>
              <a:ext cx="85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900">
                  <a:solidFill>
                    <a:srgbClr val="000000"/>
                  </a:solidFill>
                </a:rPr>
                <a:t>3</a:t>
              </a:r>
              <a:endParaRPr lang="en-US" sz="2400"/>
            </a:p>
          </p:txBody>
        </p:sp>
        <p:sp>
          <p:nvSpPr>
            <p:cNvPr id="111630" name="Oval 11"/>
            <p:cNvSpPr>
              <a:spLocks noChangeArrowheads="1"/>
            </p:cNvSpPr>
            <p:nvPr/>
          </p:nvSpPr>
          <p:spPr bwMode="auto">
            <a:xfrm>
              <a:off x="1019" y="3092"/>
              <a:ext cx="264" cy="287"/>
            </a:xfrm>
            <a:prstGeom prst="ellipse">
              <a:avLst/>
            </a:prstGeom>
            <a:solidFill>
              <a:schemeClr val="accent2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631" name="Rectangle 12"/>
            <p:cNvSpPr>
              <a:spLocks noChangeArrowheads="1"/>
            </p:cNvSpPr>
            <p:nvPr/>
          </p:nvSpPr>
          <p:spPr bwMode="auto">
            <a:xfrm>
              <a:off x="1113" y="3123"/>
              <a:ext cx="85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900">
                  <a:solidFill>
                    <a:srgbClr val="000000"/>
                  </a:solidFill>
                </a:rPr>
                <a:t>2</a:t>
              </a:r>
              <a:endParaRPr lang="en-US" sz="2400"/>
            </a:p>
          </p:txBody>
        </p:sp>
        <p:sp>
          <p:nvSpPr>
            <p:cNvPr id="111632" name="Oval 13"/>
            <p:cNvSpPr>
              <a:spLocks noChangeArrowheads="1"/>
            </p:cNvSpPr>
            <p:nvPr/>
          </p:nvSpPr>
          <p:spPr bwMode="auto">
            <a:xfrm>
              <a:off x="896" y="2047"/>
              <a:ext cx="266" cy="285"/>
            </a:xfrm>
            <a:prstGeom prst="ellipse">
              <a:avLst/>
            </a:prstGeom>
            <a:solidFill>
              <a:schemeClr val="accent2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633" name="Rectangle 14"/>
            <p:cNvSpPr>
              <a:spLocks noChangeArrowheads="1"/>
            </p:cNvSpPr>
            <p:nvPr/>
          </p:nvSpPr>
          <p:spPr bwMode="auto">
            <a:xfrm>
              <a:off x="991" y="2076"/>
              <a:ext cx="85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900">
                  <a:solidFill>
                    <a:srgbClr val="000000"/>
                  </a:solidFill>
                </a:rPr>
                <a:t>1</a:t>
              </a:r>
              <a:endParaRPr lang="en-US" sz="2400"/>
            </a:p>
          </p:txBody>
        </p:sp>
        <p:sp>
          <p:nvSpPr>
            <p:cNvPr id="111634" name="Oval 15"/>
            <p:cNvSpPr>
              <a:spLocks noChangeArrowheads="1"/>
            </p:cNvSpPr>
            <p:nvPr/>
          </p:nvSpPr>
          <p:spPr bwMode="auto">
            <a:xfrm>
              <a:off x="2324" y="3326"/>
              <a:ext cx="266" cy="285"/>
            </a:xfrm>
            <a:prstGeom prst="ellipse">
              <a:avLst/>
            </a:prstGeom>
            <a:solidFill>
              <a:schemeClr val="accent2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635" name="Rectangle 16"/>
            <p:cNvSpPr>
              <a:spLocks noChangeArrowheads="1"/>
            </p:cNvSpPr>
            <p:nvPr/>
          </p:nvSpPr>
          <p:spPr bwMode="auto">
            <a:xfrm>
              <a:off x="2421" y="3355"/>
              <a:ext cx="85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900">
                  <a:solidFill>
                    <a:srgbClr val="000000"/>
                  </a:solidFill>
                </a:rPr>
                <a:t>5</a:t>
              </a:r>
              <a:endParaRPr lang="en-US" sz="2400"/>
            </a:p>
          </p:txBody>
        </p:sp>
        <p:sp>
          <p:nvSpPr>
            <p:cNvPr id="111636" name="Oval 17"/>
            <p:cNvSpPr>
              <a:spLocks noChangeArrowheads="1"/>
            </p:cNvSpPr>
            <p:nvPr/>
          </p:nvSpPr>
          <p:spPr bwMode="auto">
            <a:xfrm>
              <a:off x="3335" y="3225"/>
              <a:ext cx="266" cy="287"/>
            </a:xfrm>
            <a:prstGeom prst="ellipse">
              <a:avLst/>
            </a:prstGeom>
            <a:solidFill>
              <a:schemeClr val="accent2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637" name="Rectangle 18"/>
            <p:cNvSpPr>
              <a:spLocks noChangeArrowheads="1"/>
            </p:cNvSpPr>
            <p:nvPr/>
          </p:nvSpPr>
          <p:spPr bwMode="auto">
            <a:xfrm>
              <a:off x="3429" y="3256"/>
              <a:ext cx="85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900">
                  <a:solidFill>
                    <a:srgbClr val="000000"/>
                  </a:solidFill>
                </a:rPr>
                <a:t>7</a:t>
              </a:r>
              <a:endParaRPr lang="en-US" sz="2400"/>
            </a:p>
          </p:txBody>
        </p:sp>
        <p:sp>
          <p:nvSpPr>
            <p:cNvPr id="111638" name="Line 19"/>
            <p:cNvSpPr>
              <a:spLocks noChangeShapeType="1"/>
            </p:cNvSpPr>
            <p:nvPr/>
          </p:nvSpPr>
          <p:spPr bwMode="auto">
            <a:xfrm flipH="1" flipV="1">
              <a:off x="2116" y="1372"/>
              <a:ext cx="53" cy="91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1639" name="Line 20"/>
            <p:cNvSpPr>
              <a:spLocks noChangeShapeType="1"/>
            </p:cNvSpPr>
            <p:nvPr/>
          </p:nvSpPr>
          <p:spPr bwMode="auto">
            <a:xfrm>
              <a:off x="3945" y="1422"/>
              <a:ext cx="575" cy="113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1640" name="Line 21"/>
            <p:cNvSpPr>
              <a:spLocks noChangeShapeType="1"/>
            </p:cNvSpPr>
            <p:nvPr/>
          </p:nvSpPr>
          <p:spPr bwMode="auto">
            <a:xfrm flipH="1" flipV="1">
              <a:off x="1246" y="3332"/>
              <a:ext cx="1062" cy="1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1641" name="Line 22"/>
            <p:cNvSpPr>
              <a:spLocks noChangeShapeType="1"/>
            </p:cNvSpPr>
            <p:nvPr/>
          </p:nvSpPr>
          <p:spPr bwMode="auto">
            <a:xfrm>
              <a:off x="2256" y="2501"/>
              <a:ext cx="1090" cy="79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1642" name="Line 23"/>
            <p:cNvSpPr>
              <a:spLocks noChangeShapeType="1"/>
            </p:cNvSpPr>
            <p:nvPr/>
          </p:nvSpPr>
          <p:spPr bwMode="auto">
            <a:xfrm flipV="1">
              <a:off x="3615" y="2801"/>
              <a:ext cx="870" cy="56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1643" name="Line 24"/>
            <p:cNvSpPr>
              <a:spLocks noChangeShapeType="1"/>
            </p:cNvSpPr>
            <p:nvPr/>
          </p:nvSpPr>
          <p:spPr bwMode="auto">
            <a:xfrm flipV="1">
              <a:off x="1090" y="1306"/>
              <a:ext cx="870" cy="74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1644" name="Line 25"/>
            <p:cNvSpPr>
              <a:spLocks noChangeShapeType="1"/>
            </p:cNvSpPr>
            <p:nvPr/>
          </p:nvSpPr>
          <p:spPr bwMode="auto">
            <a:xfrm>
              <a:off x="2220" y="1206"/>
              <a:ext cx="1499" cy="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1645" name="Line 26"/>
            <p:cNvSpPr>
              <a:spLocks noChangeShapeType="1"/>
            </p:cNvSpPr>
            <p:nvPr/>
          </p:nvSpPr>
          <p:spPr bwMode="auto">
            <a:xfrm>
              <a:off x="984" y="2318"/>
              <a:ext cx="123" cy="7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1646" name="Line 27"/>
            <p:cNvSpPr>
              <a:spLocks noChangeShapeType="1"/>
            </p:cNvSpPr>
            <p:nvPr/>
          </p:nvSpPr>
          <p:spPr bwMode="auto">
            <a:xfrm flipV="1">
              <a:off x="2569" y="3399"/>
              <a:ext cx="766" cy="4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1647" name="Line 28"/>
            <p:cNvSpPr>
              <a:spLocks noChangeShapeType="1"/>
            </p:cNvSpPr>
            <p:nvPr/>
          </p:nvSpPr>
          <p:spPr bwMode="auto">
            <a:xfrm flipH="1">
              <a:off x="3492" y="1439"/>
              <a:ext cx="313" cy="179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1648" name="Rectangle 29"/>
            <p:cNvSpPr>
              <a:spLocks noChangeArrowheads="1"/>
            </p:cNvSpPr>
            <p:nvPr/>
          </p:nvSpPr>
          <p:spPr bwMode="auto">
            <a:xfrm>
              <a:off x="2175" y="711"/>
              <a:ext cx="772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900">
                  <a:solidFill>
                    <a:srgbClr val="000000"/>
                  </a:solidFill>
                </a:rPr>
                <a:t>Congestion</a:t>
              </a:r>
              <a:endParaRPr lang="en-US" sz="2400"/>
            </a:p>
          </p:txBody>
        </p:sp>
        <p:sp>
          <p:nvSpPr>
            <p:cNvPr id="111649" name="Line 30"/>
            <p:cNvSpPr>
              <a:spLocks noChangeShapeType="1"/>
            </p:cNvSpPr>
            <p:nvPr/>
          </p:nvSpPr>
          <p:spPr bwMode="auto">
            <a:xfrm flipH="1">
              <a:off x="2356" y="940"/>
              <a:ext cx="213" cy="126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1650" name="Freeform 31"/>
            <p:cNvSpPr>
              <a:spLocks/>
            </p:cNvSpPr>
            <p:nvPr/>
          </p:nvSpPr>
          <p:spPr bwMode="auto">
            <a:xfrm>
              <a:off x="2307" y="2172"/>
              <a:ext cx="112" cy="131"/>
            </a:xfrm>
            <a:custGeom>
              <a:avLst/>
              <a:gdLst>
                <a:gd name="T0" fmla="*/ 0 w 70"/>
                <a:gd name="T1" fmla="*/ 0 h 86"/>
                <a:gd name="T2" fmla="*/ 566 w 70"/>
                <a:gd name="T3" fmla="*/ 218 h 86"/>
                <a:gd name="T4" fmla="*/ 1173 w 70"/>
                <a:gd name="T5" fmla="*/ 142 h 86"/>
                <a:gd name="T6" fmla="*/ 384 w 70"/>
                <a:gd name="T7" fmla="*/ 1078 h 86"/>
                <a:gd name="T8" fmla="*/ 0 w 70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"/>
                <a:gd name="T16" fmla="*/ 0 h 86"/>
                <a:gd name="T17" fmla="*/ 70 w 70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" h="86">
                  <a:moveTo>
                    <a:pt x="0" y="0"/>
                  </a:moveTo>
                  <a:lnTo>
                    <a:pt x="34" y="18"/>
                  </a:lnTo>
                  <a:lnTo>
                    <a:pt x="70" y="11"/>
                  </a:lnTo>
                  <a:lnTo>
                    <a:pt x="23" y="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651" name="Line 32"/>
            <p:cNvSpPr>
              <a:spLocks noChangeShapeType="1"/>
            </p:cNvSpPr>
            <p:nvPr/>
          </p:nvSpPr>
          <p:spPr bwMode="auto">
            <a:xfrm>
              <a:off x="1186" y="2217"/>
              <a:ext cx="825" cy="1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1652" name="Line 33"/>
            <p:cNvSpPr>
              <a:spLocks noChangeShapeType="1"/>
            </p:cNvSpPr>
            <p:nvPr/>
          </p:nvSpPr>
          <p:spPr bwMode="auto">
            <a:xfrm flipH="1">
              <a:off x="1272" y="2511"/>
              <a:ext cx="758" cy="6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1653" name="Line 34"/>
            <p:cNvSpPr>
              <a:spLocks noChangeShapeType="1"/>
            </p:cNvSpPr>
            <p:nvPr/>
          </p:nvSpPr>
          <p:spPr bwMode="auto">
            <a:xfrm flipV="1">
              <a:off x="2270" y="1402"/>
              <a:ext cx="1487" cy="9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1654" name="Freeform 35"/>
            <p:cNvSpPr>
              <a:spLocks/>
            </p:cNvSpPr>
            <p:nvPr/>
          </p:nvSpPr>
          <p:spPr bwMode="auto">
            <a:xfrm>
              <a:off x="1157" y="1347"/>
              <a:ext cx="2562" cy="999"/>
            </a:xfrm>
            <a:custGeom>
              <a:avLst/>
              <a:gdLst>
                <a:gd name="T0" fmla="*/ 0 w 1602"/>
                <a:gd name="T1" fmla="*/ 6860 h 654"/>
                <a:gd name="T2" fmla="*/ 9236 w 1602"/>
                <a:gd name="T3" fmla="*/ 8310 h 654"/>
                <a:gd name="T4" fmla="*/ 10947 w 1602"/>
                <a:gd name="T5" fmla="*/ 7998 h 654"/>
                <a:gd name="T6" fmla="*/ 26799 w 1602"/>
                <a:gd name="T7" fmla="*/ 0 h 6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02"/>
                <a:gd name="T13" fmla="*/ 0 h 654"/>
                <a:gd name="T14" fmla="*/ 1602 w 1602"/>
                <a:gd name="T15" fmla="*/ 654 h 6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02" h="654">
                  <a:moveTo>
                    <a:pt x="0" y="540"/>
                  </a:moveTo>
                  <a:lnTo>
                    <a:pt x="552" y="654"/>
                  </a:lnTo>
                  <a:lnTo>
                    <a:pt x="654" y="630"/>
                  </a:lnTo>
                  <a:lnTo>
                    <a:pt x="1602" y="0"/>
                  </a:lnTo>
                </a:path>
              </a:pathLst>
            </a:custGeom>
            <a:noFill/>
            <a:ln w="19050">
              <a:solidFill>
                <a:srgbClr val="FF3300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55" name="Freeform 36"/>
            <p:cNvSpPr>
              <a:spLocks/>
            </p:cNvSpPr>
            <p:nvPr/>
          </p:nvSpPr>
          <p:spPr bwMode="auto">
            <a:xfrm>
              <a:off x="1281" y="1448"/>
              <a:ext cx="2486" cy="1777"/>
            </a:xfrm>
            <a:custGeom>
              <a:avLst/>
              <a:gdLst>
                <a:gd name="T0" fmla="*/ 0 w 1554"/>
                <a:gd name="T1" fmla="*/ 14737 h 1164"/>
                <a:gd name="T2" fmla="*/ 8245 w 1554"/>
                <a:gd name="T3" fmla="*/ 9116 h 1164"/>
                <a:gd name="T4" fmla="*/ 10459 w 1554"/>
                <a:gd name="T5" fmla="*/ 7980 h 1164"/>
                <a:gd name="T6" fmla="*/ 26047 w 1554"/>
                <a:gd name="T7" fmla="*/ 0 h 11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54"/>
                <a:gd name="T13" fmla="*/ 0 h 1164"/>
                <a:gd name="T14" fmla="*/ 1554 w 1554"/>
                <a:gd name="T15" fmla="*/ 1164 h 11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54" h="1164">
                  <a:moveTo>
                    <a:pt x="0" y="1164"/>
                  </a:moveTo>
                  <a:lnTo>
                    <a:pt x="492" y="720"/>
                  </a:lnTo>
                  <a:lnTo>
                    <a:pt x="624" y="630"/>
                  </a:lnTo>
                  <a:lnTo>
                    <a:pt x="1554" y="0"/>
                  </a:lnTo>
                </a:path>
              </a:pathLst>
            </a:custGeom>
            <a:noFill/>
            <a:ln w="28575">
              <a:solidFill>
                <a:srgbClr val="FF33CC"/>
              </a:solidFill>
              <a:prstDash val="dashDot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56" name="Freeform 37"/>
            <p:cNvSpPr>
              <a:spLocks/>
            </p:cNvSpPr>
            <p:nvPr/>
          </p:nvSpPr>
          <p:spPr bwMode="auto">
            <a:xfrm>
              <a:off x="2260" y="1476"/>
              <a:ext cx="2198" cy="1859"/>
            </a:xfrm>
            <a:custGeom>
              <a:avLst/>
              <a:gdLst>
                <a:gd name="T0" fmla="*/ 2214 w 1374"/>
                <a:gd name="T1" fmla="*/ 15396 h 1218"/>
                <a:gd name="T2" fmla="*/ 0 w 1374"/>
                <a:gd name="T3" fmla="*/ 8871 h 1218"/>
                <a:gd name="T4" fmla="*/ 302 w 1374"/>
                <a:gd name="T5" fmla="*/ 8117 h 1218"/>
                <a:gd name="T6" fmla="*/ 16293 w 1374"/>
                <a:gd name="T7" fmla="*/ 224 h 1218"/>
                <a:gd name="T8" fmla="*/ 17394 w 1374"/>
                <a:gd name="T9" fmla="*/ 0 h 1218"/>
                <a:gd name="T10" fmla="*/ 23026 w 1374"/>
                <a:gd name="T11" fmla="*/ 9176 h 12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74"/>
                <a:gd name="T19" fmla="*/ 0 h 1218"/>
                <a:gd name="T20" fmla="*/ 1374 w 1374"/>
                <a:gd name="T21" fmla="*/ 1218 h 121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74" h="1218">
                  <a:moveTo>
                    <a:pt x="132" y="1218"/>
                  </a:moveTo>
                  <a:lnTo>
                    <a:pt x="0" y="702"/>
                  </a:lnTo>
                  <a:lnTo>
                    <a:pt x="18" y="642"/>
                  </a:lnTo>
                  <a:lnTo>
                    <a:pt x="972" y="18"/>
                  </a:lnTo>
                  <a:lnTo>
                    <a:pt x="1038" y="0"/>
                  </a:lnTo>
                  <a:lnTo>
                    <a:pt x="1374" y="726"/>
                  </a:lnTo>
                </a:path>
              </a:pathLst>
            </a:custGeom>
            <a:noFill/>
            <a:ln w="28575">
              <a:solidFill>
                <a:srgbClr val="FF9900"/>
              </a:solidFill>
              <a:prstDash val="lgDashDot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657" name="Line 38"/>
            <p:cNvSpPr>
              <a:spLocks noChangeShapeType="1"/>
            </p:cNvSpPr>
            <p:nvPr/>
          </p:nvSpPr>
          <p:spPr bwMode="auto">
            <a:xfrm>
              <a:off x="2174" y="2547"/>
              <a:ext cx="230" cy="8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11619" name="Text Box 40"/>
          <p:cNvSpPr txBox="1">
            <a:spLocks noChangeArrowheads="1"/>
          </p:cNvSpPr>
          <p:nvPr/>
        </p:nvSpPr>
        <p:spPr bwMode="auto">
          <a:xfrm>
            <a:off x="452438" y="488950"/>
            <a:ext cx="7251700" cy="701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/>
              <a:t>Congestion occurs when a surge of traffic overloads network resources</a:t>
            </a:r>
          </a:p>
        </p:txBody>
      </p:sp>
      <p:sp>
        <p:nvSpPr>
          <p:cNvPr id="111620" name="Text Box 41"/>
          <p:cNvSpPr txBox="1">
            <a:spLocks noChangeArrowheads="1"/>
          </p:cNvSpPr>
          <p:nvPr/>
        </p:nvSpPr>
        <p:spPr bwMode="auto">
          <a:xfrm>
            <a:off x="798513" y="5608638"/>
            <a:ext cx="6756400" cy="1006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/>
              <a:t>Approaches to Congestion Control:</a:t>
            </a:r>
          </a:p>
          <a:p>
            <a:pPr lvl="1" algn="l" eaLnBrk="0" hangingPunct="0">
              <a:spcBef>
                <a:spcPct val="0"/>
              </a:spcBef>
              <a:buSzTx/>
              <a:buFontTx/>
              <a:buChar char="•"/>
            </a:pPr>
            <a:r>
              <a:rPr lang="en-US"/>
              <a:t>  Preventive Approaches:  Scheduling &amp; Reservations</a:t>
            </a:r>
          </a:p>
          <a:p>
            <a:pPr lvl="1" algn="l" eaLnBrk="0" hangingPunct="0">
              <a:spcBef>
                <a:spcPct val="0"/>
              </a:spcBef>
              <a:buSzTx/>
              <a:buFontTx/>
              <a:buChar char="•"/>
            </a:pPr>
            <a:r>
              <a:rPr lang="en-US"/>
              <a:t>  Reactive Approaches:  Detect &amp; Throttle/Discard</a:t>
            </a:r>
          </a:p>
        </p:txBody>
      </p:sp>
      <p:sp>
        <p:nvSpPr>
          <p:cNvPr id="111621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42" name="Group 2"/>
          <p:cNvGrpSpPr>
            <a:grpSpLocks/>
          </p:cNvGrpSpPr>
          <p:nvPr/>
        </p:nvGrpSpPr>
        <p:grpSpPr bwMode="auto">
          <a:xfrm>
            <a:off x="1701800" y="2513013"/>
            <a:ext cx="5703888" cy="3443287"/>
            <a:chOff x="880" y="1332"/>
            <a:chExt cx="3593" cy="2169"/>
          </a:xfrm>
        </p:grpSpPr>
        <p:sp>
          <p:nvSpPr>
            <p:cNvPr id="112645" name="Arc 3"/>
            <p:cNvSpPr>
              <a:spLocks/>
            </p:cNvSpPr>
            <p:nvPr/>
          </p:nvSpPr>
          <p:spPr bwMode="auto">
            <a:xfrm>
              <a:off x="1239" y="2357"/>
              <a:ext cx="2647" cy="846"/>
            </a:xfrm>
            <a:custGeom>
              <a:avLst/>
              <a:gdLst>
                <a:gd name="T0" fmla="*/ 0 w 42555"/>
                <a:gd name="T1" fmla="*/ 0 h 21961"/>
                <a:gd name="T2" fmla="*/ 0 w 42555"/>
                <a:gd name="T3" fmla="*/ 0 h 21961"/>
                <a:gd name="T4" fmla="*/ 0 w 42555"/>
                <a:gd name="T5" fmla="*/ 0 h 21961"/>
                <a:gd name="T6" fmla="*/ 0 60000 65536"/>
                <a:gd name="T7" fmla="*/ 0 60000 65536"/>
                <a:gd name="T8" fmla="*/ 0 60000 65536"/>
                <a:gd name="T9" fmla="*/ 0 w 42555"/>
                <a:gd name="T10" fmla="*/ 0 h 21961"/>
                <a:gd name="T11" fmla="*/ 42555 w 42555"/>
                <a:gd name="T12" fmla="*/ 21961 h 219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555" h="21961" fill="none" extrusionOk="0">
                  <a:moveTo>
                    <a:pt x="3" y="21960"/>
                  </a:moveTo>
                  <a:cubicBezTo>
                    <a:pt x="1" y="21840"/>
                    <a:pt x="0" y="2172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1511" y="-1"/>
                    <a:pt x="40150" y="6745"/>
                    <a:pt x="42554" y="16360"/>
                  </a:cubicBezTo>
                </a:path>
                <a:path w="42555" h="21961" stroke="0" extrusionOk="0">
                  <a:moveTo>
                    <a:pt x="3" y="21960"/>
                  </a:moveTo>
                  <a:cubicBezTo>
                    <a:pt x="1" y="21840"/>
                    <a:pt x="0" y="2172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1511" y="-1"/>
                    <a:pt x="40150" y="6745"/>
                    <a:pt x="42554" y="16360"/>
                  </a:cubicBezTo>
                  <a:lnTo>
                    <a:pt x="21600" y="21600"/>
                  </a:lnTo>
                  <a:lnTo>
                    <a:pt x="3" y="21960"/>
                  </a:lnTo>
                  <a:close/>
                </a:path>
              </a:pathLst>
            </a:custGeom>
            <a:noFill/>
            <a:ln w="2222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646" name="Arc 4"/>
            <p:cNvSpPr>
              <a:spLocks/>
            </p:cNvSpPr>
            <p:nvPr/>
          </p:nvSpPr>
          <p:spPr bwMode="auto">
            <a:xfrm>
              <a:off x="1232" y="1615"/>
              <a:ext cx="2520" cy="159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587"/>
                  </a:moveTo>
                  <a:cubicBezTo>
                    <a:pt x="7" y="9666"/>
                    <a:pt x="9670" y="4"/>
                    <a:pt x="21591" y="0"/>
                  </a:cubicBezTo>
                </a:path>
                <a:path w="21600" h="21600" stroke="0" extrusionOk="0">
                  <a:moveTo>
                    <a:pt x="0" y="21587"/>
                  </a:moveTo>
                  <a:cubicBezTo>
                    <a:pt x="7" y="9666"/>
                    <a:pt x="9670" y="4"/>
                    <a:pt x="21591" y="0"/>
                  </a:cubicBezTo>
                  <a:lnTo>
                    <a:pt x="21600" y="21600"/>
                  </a:lnTo>
                  <a:lnTo>
                    <a:pt x="0" y="21587"/>
                  </a:lnTo>
                  <a:close/>
                </a:path>
              </a:pathLst>
            </a:custGeom>
            <a:noFill/>
            <a:ln w="22225">
              <a:solidFill>
                <a:srgbClr val="6600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647" name="Rectangle 5"/>
            <p:cNvSpPr>
              <a:spLocks noChangeArrowheads="1"/>
            </p:cNvSpPr>
            <p:nvPr/>
          </p:nvSpPr>
          <p:spPr bwMode="auto">
            <a:xfrm>
              <a:off x="3017" y="3309"/>
              <a:ext cx="87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>
                  <a:solidFill>
                    <a:srgbClr val="000000"/>
                  </a:solidFill>
                </a:rPr>
                <a:t>Offered load</a:t>
              </a:r>
              <a:endParaRPr lang="en-US"/>
            </a:p>
          </p:txBody>
        </p:sp>
        <p:sp>
          <p:nvSpPr>
            <p:cNvPr id="112648" name="Rectangle 6"/>
            <p:cNvSpPr>
              <a:spLocks noChangeArrowheads="1"/>
            </p:cNvSpPr>
            <p:nvPr/>
          </p:nvSpPr>
          <p:spPr bwMode="auto">
            <a:xfrm rot="-5400000">
              <a:off x="567" y="1947"/>
              <a:ext cx="81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>
                  <a:solidFill>
                    <a:srgbClr val="000000"/>
                  </a:solidFill>
                </a:rPr>
                <a:t>Throughput</a:t>
              </a:r>
              <a:endParaRPr lang="en-US"/>
            </a:p>
          </p:txBody>
        </p:sp>
        <p:sp>
          <p:nvSpPr>
            <p:cNvPr id="112649" name="Line 7"/>
            <p:cNvSpPr>
              <a:spLocks noChangeShapeType="1"/>
            </p:cNvSpPr>
            <p:nvPr/>
          </p:nvSpPr>
          <p:spPr bwMode="auto">
            <a:xfrm>
              <a:off x="1212" y="3213"/>
              <a:ext cx="3192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2650" name="Freeform 8"/>
            <p:cNvSpPr>
              <a:spLocks/>
            </p:cNvSpPr>
            <p:nvPr/>
          </p:nvSpPr>
          <p:spPr bwMode="auto">
            <a:xfrm>
              <a:off x="4372" y="3169"/>
              <a:ext cx="101" cy="88"/>
            </a:xfrm>
            <a:custGeom>
              <a:avLst/>
              <a:gdLst>
                <a:gd name="T0" fmla="*/ 0 w 101"/>
                <a:gd name="T1" fmla="*/ 88 h 88"/>
                <a:gd name="T2" fmla="*/ 15 w 101"/>
                <a:gd name="T3" fmla="*/ 44 h 88"/>
                <a:gd name="T4" fmla="*/ 0 w 101"/>
                <a:gd name="T5" fmla="*/ 0 h 88"/>
                <a:gd name="T6" fmla="*/ 101 w 101"/>
                <a:gd name="T7" fmla="*/ 44 h 88"/>
                <a:gd name="T8" fmla="*/ 0 w 101"/>
                <a:gd name="T9" fmla="*/ 88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1"/>
                <a:gd name="T16" fmla="*/ 0 h 88"/>
                <a:gd name="T17" fmla="*/ 101 w 101"/>
                <a:gd name="T18" fmla="*/ 88 h 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1" h="88">
                  <a:moveTo>
                    <a:pt x="0" y="88"/>
                  </a:moveTo>
                  <a:lnTo>
                    <a:pt x="15" y="44"/>
                  </a:lnTo>
                  <a:lnTo>
                    <a:pt x="0" y="0"/>
                  </a:lnTo>
                  <a:lnTo>
                    <a:pt x="101" y="44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651" name="Line 9"/>
            <p:cNvSpPr>
              <a:spLocks noChangeShapeType="1"/>
            </p:cNvSpPr>
            <p:nvPr/>
          </p:nvSpPr>
          <p:spPr bwMode="auto">
            <a:xfrm flipV="1">
              <a:off x="1219" y="1406"/>
              <a:ext cx="1" cy="180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2652" name="Freeform 10"/>
            <p:cNvSpPr>
              <a:spLocks/>
            </p:cNvSpPr>
            <p:nvPr/>
          </p:nvSpPr>
          <p:spPr bwMode="auto">
            <a:xfrm>
              <a:off x="1175" y="1332"/>
              <a:ext cx="87" cy="101"/>
            </a:xfrm>
            <a:custGeom>
              <a:avLst/>
              <a:gdLst>
                <a:gd name="T0" fmla="*/ 87 w 87"/>
                <a:gd name="T1" fmla="*/ 101 h 101"/>
                <a:gd name="T2" fmla="*/ 44 w 87"/>
                <a:gd name="T3" fmla="*/ 86 h 101"/>
                <a:gd name="T4" fmla="*/ 0 w 87"/>
                <a:gd name="T5" fmla="*/ 101 h 101"/>
                <a:gd name="T6" fmla="*/ 44 w 87"/>
                <a:gd name="T7" fmla="*/ 0 h 101"/>
                <a:gd name="T8" fmla="*/ 87 w 87"/>
                <a:gd name="T9" fmla="*/ 101 h 1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"/>
                <a:gd name="T16" fmla="*/ 0 h 101"/>
                <a:gd name="T17" fmla="*/ 87 w 87"/>
                <a:gd name="T18" fmla="*/ 101 h 10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" h="101">
                  <a:moveTo>
                    <a:pt x="87" y="101"/>
                  </a:moveTo>
                  <a:lnTo>
                    <a:pt x="44" y="86"/>
                  </a:lnTo>
                  <a:lnTo>
                    <a:pt x="0" y="101"/>
                  </a:lnTo>
                  <a:lnTo>
                    <a:pt x="44" y="0"/>
                  </a:lnTo>
                  <a:lnTo>
                    <a:pt x="87" y="10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653" name="Rectangle 11"/>
            <p:cNvSpPr>
              <a:spLocks noChangeArrowheads="1"/>
            </p:cNvSpPr>
            <p:nvPr/>
          </p:nvSpPr>
          <p:spPr bwMode="auto">
            <a:xfrm>
              <a:off x="3147" y="1691"/>
              <a:ext cx="73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>
                  <a:solidFill>
                    <a:srgbClr val="000000"/>
                  </a:solidFill>
                </a:rPr>
                <a:t>Controlled</a:t>
              </a:r>
              <a:endParaRPr lang="en-US"/>
            </a:p>
          </p:txBody>
        </p:sp>
        <p:sp>
          <p:nvSpPr>
            <p:cNvPr id="112654" name="Rectangle 12"/>
            <p:cNvSpPr>
              <a:spLocks noChangeArrowheads="1"/>
            </p:cNvSpPr>
            <p:nvPr/>
          </p:nvSpPr>
          <p:spPr bwMode="auto">
            <a:xfrm>
              <a:off x="3349" y="2311"/>
              <a:ext cx="89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>
                  <a:solidFill>
                    <a:srgbClr val="000000"/>
                  </a:solidFill>
                </a:rPr>
                <a:t>Uncontrolled</a:t>
              </a:r>
              <a:endParaRPr lang="en-US"/>
            </a:p>
          </p:txBody>
        </p:sp>
      </p:grpSp>
      <p:sp>
        <p:nvSpPr>
          <p:cNvPr id="112643" name="Text Box 14"/>
          <p:cNvSpPr txBox="1">
            <a:spLocks noChangeArrowheads="1"/>
          </p:cNvSpPr>
          <p:nvPr/>
        </p:nvSpPr>
        <p:spPr bwMode="auto">
          <a:xfrm>
            <a:off x="1295400" y="990600"/>
            <a:ext cx="6737350" cy="701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/>
              <a:t>Ideal effect of congestion control:  </a:t>
            </a:r>
          </a:p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/>
              <a:t>Resources used efficiently up to capacity available</a:t>
            </a:r>
          </a:p>
        </p:txBody>
      </p:sp>
      <p:sp>
        <p:nvSpPr>
          <p:cNvPr id="112644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Open-Loop Control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Network performance is guaranteed to all traffic flows that have been admitted into the network</a:t>
            </a:r>
          </a:p>
          <a:p>
            <a:pPr eaLnBrk="1" hangingPunct="1"/>
            <a:r>
              <a:rPr lang="en-US" smtClean="0"/>
              <a:t>Initially for connection-oriented networks</a:t>
            </a:r>
          </a:p>
          <a:p>
            <a:pPr eaLnBrk="1" hangingPunct="1"/>
            <a:r>
              <a:rPr lang="en-US" smtClean="0"/>
              <a:t>Key Mechanisms</a:t>
            </a:r>
          </a:p>
          <a:p>
            <a:pPr lvl="1" eaLnBrk="1" hangingPunct="1"/>
            <a:r>
              <a:rPr lang="en-US" smtClean="0"/>
              <a:t>Admission Control</a:t>
            </a:r>
          </a:p>
          <a:p>
            <a:pPr lvl="1" eaLnBrk="1" hangingPunct="1"/>
            <a:r>
              <a:rPr lang="en-US" smtClean="0"/>
              <a:t>Policing</a:t>
            </a:r>
          </a:p>
          <a:p>
            <a:pPr lvl="1" eaLnBrk="1" hangingPunct="1"/>
            <a:r>
              <a:rPr lang="en-US" smtClean="0"/>
              <a:t>Traffic Shaping</a:t>
            </a:r>
          </a:p>
          <a:p>
            <a:pPr lvl="1" eaLnBrk="1" hangingPunct="1"/>
            <a:r>
              <a:rPr lang="en-US" smtClean="0"/>
              <a:t>Traffic Scheduling</a:t>
            </a:r>
          </a:p>
        </p:txBody>
      </p:sp>
      <p:sp>
        <p:nvSpPr>
          <p:cNvPr id="113668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690" name="Group 21"/>
          <p:cNvGrpSpPr>
            <a:grpSpLocks/>
          </p:cNvGrpSpPr>
          <p:nvPr/>
        </p:nvGrpSpPr>
        <p:grpSpPr bwMode="auto">
          <a:xfrm>
            <a:off x="260350" y="1979613"/>
            <a:ext cx="3967163" cy="3354387"/>
            <a:chOff x="458" y="1231"/>
            <a:chExt cx="2499" cy="2113"/>
          </a:xfrm>
        </p:grpSpPr>
        <p:sp>
          <p:nvSpPr>
            <p:cNvPr id="114695" name="Rectangle 3"/>
            <p:cNvSpPr>
              <a:spLocks noChangeArrowheads="1"/>
            </p:cNvSpPr>
            <p:nvPr/>
          </p:nvSpPr>
          <p:spPr bwMode="auto">
            <a:xfrm>
              <a:off x="2593" y="3152"/>
              <a:ext cx="35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>
                  <a:solidFill>
                    <a:srgbClr val="000000"/>
                  </a:solidFill>
                </a:rPr>
                <a:t>Time</a:t>
              </a:r>
              <a:endParaRPr lang="en-US"/>
            </a:p>
          </p:txBody>
        </p:sp>
        <p:sp>
          <p:nvSpPr>
            <p:cNvPr id="114696" name="Rectangle 4"/>
            <p:cNvSpPr>
              <a:spLocks noChangeArrowheads="1"/>
            </p:cNvSpPr>
            <p:nvPr/>
          </p:nvSpPr>
          <p:spPr bwMode="auto">
            <a:xfrm rot="-5400000">
              <a:off x="140" y="1984"/>
              <a:ext cx="827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>
                  <a:solidFill>
                    <a:srgbClr val="000000"/>
                  </a:solidFill>
                </a:rPr>
                <a:t>Bits/second</a:t>
              </a:r>
              <a:endParaRPr lang="en-US"/>
            </a:p>
          </p:txBody>
        </p:sp>
        <p:sp>
          <p:nvSpPr>
            <p:cNvPr id="114697" name="Rectangle 10"/>
            <p:cNvSpPr>
              <a:spLocks noChangeArrowheads="1"/>
            </p:cNvSpPr>
            <p:nvPr/>
          </p:nvSpPr>
          <p:spPr bwMode="auto">
            <a:xfrm>
              <a:off x="854" y="1339"/>
              <a:ext cx="68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>
                  <a:solidFill>
                    <a:srgbClr val="000000"/>
                  </a:solidFill>
                </a:rPr>
                <a:t>Peak rate</a:t>
              </a:r>
              <a:endParaRPr lang="en-US"/>
            </a:p>
          </p:txBody>
        </p:sp>
        <p:sp>
          <p:nvSpPr>
            <p:cNvPr id="114698" name="Rectangle 11"/>
            <p:cNvSpPr>
              <a:spLocks noChangeArrowheads="1"/>
            </p:cNvSpPr>
            <p:nvPr/>
          </p:nvSpPr>
          <p:spPr bwMode="auto">
            <a:xfrm>
              <a:off x="2042" y="1925"/>
              <a:ext cx="91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>
                  <a:solidFill>
                    <a:srgbClr val="000000"/>
                  </a:solidFill>
                </a:rPr>
                <a:t>Average rate</a:t>
              </a:r>
              <a:endParaRPr lang="en-US"/>
            </a:p>
          </p:txBody>
        </p:sp>
        <p:sp>
          <p:nvSpPr>
            <p:cNvPr id="114699" name="Line 12"/>
            <p:cNvSpPr>
              <a:spLocks noChangeShapeType="1"/>
            </p:cNvSpPr>
            <p:nvPr/>
          </p:nvSpPr>
          <p:spPr bwMode="auto">
            <a:xfrm>
              <a:off x="1194" y="1565"/>
              <a:ext cx="289" cy="29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4700" name="Line 13"/>
            <p:cNvSpPr>
              <a:spLocks noChangeShapeType="1"/>
            </p:cNvSpPr>
            <p:nvPr/>
          </p:nvSpPr>
          <p:spPr bwMode="auto">
            <a:xfrm flipH="1">
              <a:off x="1975" y="2120"/>
              <a:ext cx="330" cy="21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114701" name="Group 20"/>
            <p:cNvGrpSpPr>
              <a:grpSpLocks/>
            </p:cNvGrpSpPr>
            <p:nvPr/>
          </p:nvGrpSpPr>
          <p:grpSpPr bwMode="auto">
            <a:xfrm>
              <a:off x="745" y="1231"/>
              <a:ext cx="2102" cy="1871"/>
              <a:chOff x="745" y="1231"/>
              <a:chExt cx="3792" cy="1871"/>
            </a:xfrm>
          </p:grpSpPr>
          <p:sp>
            <p:nvSpPr>
              <p:cNvPr id="114702" name="Line 5"/>
              <p:cNvSpPr>
                <a:spLocks noChangeShapeType="1"/>
              </p:cNvSpPr>
              <p:nvPr/>
            </p:nvSpPr>
            <p:spPr bwMode="auto">
              <a:xfrm>
                <a:off x="781" y="3059"/>
                <a:ext cx="3688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4703" name="Freeform 6"/>
              <p:cNvSpPr>
                <a:spLocks/>
              </p:cNvSpPr>
              <p:nvPr/>
            </p:nvSpPr>
            <p:spPr bwMode="auto">
              <a:xfrm>
                <a:off x="4439" y="3017"/>
                <a:ext cx="98" cy="85"/>
              </a:xfrm>
              <a:custGeom>
                <a:avLst/>
                <a:gdLst>
                  <a:gd name="T0" fmla="*/ 0 w 98"/>
                  <a:gd name="T1" fmla="*/ 85 h 85"/>
                  <a:gd name="T2" fmla="*/ 15 w 98"/>
                  <a:gd name="T3" fmla="*/ 42 h 85"/>
                  <a:gd name="T4" fmla="*/ 0 w 98"/>
                  <a:gd name="T5" fmla="*/ 0 h 85"/>
                  <a:gd name="T6" fmla="*/ 98 w 98"/>
                  <a:gd name="T7" fmla="*/ 42 h 85"/>
                  <a:gd name="T8" fmla="*/ 0 w 98"/>
                  <a:gd name="T9" fmla="*/ 85 h 8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8"/>
                  <a:gd name="T16" fmla="*/ 0 h 85"/>
                  <a:gd name="T17" fmla="*/ 98 w 98"/>
                  <a:gd name="T18" fmla="*/ 85 h 8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8" h="85">
                    <a:moveTo>
                      <a:pt x="0" y="85"/>
                    </a:moveTo>
                    <a:lnTo>
                      <a:pt x="15" y="42"/>
                    </a:lnTo>
                    <a:lnTo>
                      <a:pt x="0" y="0"/>
                    </a:lnTo>
                    <a:lnTo>
                      <a:pt x="98" y="42"/>
                    </a:lnTo>
                    <a:lnTo>
                      <a:pt x="0" y="8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04" name="Line 7"/>
              <p:cNvSpPr>
                <a:spLocks noChangeShapeType="1"/>
              </p:cNvSpPr>
              <p:nvPr/>
            </p:nvSpPr>
            <p:spPr bwMode="auto">
              <a:xfrm flipV="1">
                <a:off x="787" y="1303"/>
                <a:ext cx="1" cy="1753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4705" name="Freeform 8"/>
              <p:cNvSpPr>
                <a:spLocks/>
              </p:cNvSpPr>
              <p:nvPr/>
            </p:nvSpPr>
            <p:spPr bwMode="auto">
              <a:xfrm>
                <a:off x="745" y="1231"/>
                <a:ext cx="85" cy="98"/>
              </a:xfrm>
              <a:custGeom>
                <a:avLst/>
                <a:gdLst>
                  <a:gd name="T0" fmla="*/ 85 w 85"/>
                  <a:gd name="T1" fmla="*/ 98 h 98"/>
                  <a:gd name="T2" fmla="*/ 42 w 85"/>
                  <a:gd name="T3" fmla="*/ 83 h 98"/>
                  <a:gd name="T4" fmla="*/ 0 w 85"/>
                  <a:gd name="T5" fmla="*/ 98 h 98"/>
                  <a:gd name="T6" fmla="*/ 42 w 85"/>
                  <a:gd name="T7" fmla="*/ 0 h 98"/>
                  <a:gd name="T8" fmla="*/ 85 w 85"/>
                  <a:gd name="T9" fmla="*/ 98 h 9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5"/>
                  <a:gd name="T16" fmla="*/ 0 h 98"/>
                  <a:gd name="T17" fmla="*/ 85 w 85"/>
                  <a:gd name="T18" fmla="*/ 98 h 9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5" h="98">
                    <a:moveTo>
                      <a:pt x="85" y="98"/>
                    </a:moveTo>
                    <a:lnTo>
                      <a:pt x="42" y="83"/>
                    </a:lnTo>
                    <a:lnTo>
                      <a:pt x="0" y="98"/>
                    </a:lnTo>
                    <a:lnTo>
                      <a:pt x="42" y="0"/>
                    </a:lnTo>
                    <a:lnTo>
                      <a:pt x="85" y="9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06" name="Freeform 9"/>
              <p:cNvSpPr>
                <a:spLocks/>
              </p:cNvSpPr>
              <p:nvPr/>
            </p:nvSpPr>
            <p:spPr bwMode="auto">
              <a:xfrm>
                <a:off x="787" y="1880"/>
                <a:ext cx="3189" cy="904"/>
              </a:xfrm>
              <a:custGeom>
                <a:avLst/>
                <a:gdLst>
                  <a:gd name="T0" fmla="*/ 0 w 3189"/>
                  <a:gd name="T1" fmla="*/ 616 h 904"/>
                  <a:gd name="T2" fmla="*/ 183 w 3189"/>
                  <a:gd name="T3" fmla="*/ 589 h 904"/>
                  <a:gd name="T4" fmla="*/ 261 w 3189"/>
                  <a:gd name="T5" fmla="*/ 471 h 904"/>
                  <a:gd name="T6" fmla="*/ 470 w 3189"/>
                  <a:gd name="T7" fmla="*/ 419 h 904"/>
                  <a:gd name="T8" fmla="*/ 627 w 3189"/>
                  <a:gd name="T9" fmla="*/ 222 h 904"/>
                  <a:gd name="T10" fmla="*/ 784 w 3189"/>
                  <a:gd name="T11" fmla="*/ 157 h 904"/>
                  <a:gd name="T12" fmla="*/ 967 w 3189"/>
                  <a:gd name="T13" fmla="*/ 209 h 904"/>
                  <a:gd name="T14" fmla="*/ 1111 w 3189"/>
                  <a:gd name="T15" fmla="*/ 367 h 904"/>
                  <a:gd name="T16" fmla="*/ 1215 w 3189"/>
                  <a:gd name="T17" fmla="*/ 327 h 904"/>
                  <a:gd name="T18" fmla="*/ 1320 w 3189"/>
                  <a:gd name="T19" fmla="*/ 131 h 904"/>
                  <a:gd name="T20" fmla="*/ 1464 w 3189"/>
                  <a:gd name="T21" fmla="*/ 0 h 904"/>
                  <a:gd name="T22" fmla="*/ 1712 w 3189"/>
                  <a:gd name="T23" fmla="*/ 0 h 904"/>
                  <a:gd name="T24" fmla="*/ 1882 w 3189"/>
                  <a:gd name="T25" fmla="*/ 249 h 904"/>
                  <a:gd name="T26" fmla="*/ 2065 w 3189"/>
                  <a:gd name="T27" fmla="*/ 602 h 904"/>
                  <a:gd name="T28" fmla="*/ 2248 w 3189"/>
                  <a:gd name="T29" fmla="*/ 904 h 904"/>
                  <a:gd name="T30" fmla="*/ 2522 w 3189"/>
                  <a:gd name="T31" fmla="*/ 904 h 904"/>
                  <a:gd name="T32" fmla="*/ 2705 w 3189"/>
                  <a:gd name="T33" fmla="*/ 799 h 904"/>
                  <a:gd name="T34" fmla="*/ 2875 w 3189"/>
                  <a:gd name="T35" fmla="*/ 602 h 904"/>
                  <a:gd name="T36" fmla="*/ 3045 w 3189"/>
                  <a:gd name="T37" fmla="*/ 720 h 904"/>
                  <a:gd name="T38" fmla="*/ 3189 w 3189"/>
                  <a:gd name="T39" fmla="*/ 642 h 904"/>
                  <a:gd name="T40" fmla="*/ 3189 w 3189"/>
                  <a:gd name="T41" fmla="*/ 655 h 90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3189"/>
                  <a:gd name="T64" fmla="*/ 0 h 904"/>
                  <a:gd name="T65" fmla="*/ 3189 w 3189"/>
                  <a:gd name="T66" fmla="*/ 904 h 904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3189" h="904">
                    <a:moveTo>
                      <a:pt x="0" y="616"/>
                    </a:moveTo>
                    <a:lnTo>
                      <a:pt x="183" y="589"/>
                    </a:lnTo>
                    <a:lnTo>
                      <a:pt x="261" y="471"/>
                    </a:lnTo>
                    <a:lnTo>
                      <a:pt x="470" y="419"/>
                    </a:lnTo>
                    <a:lnTo>
                      <a:pt x="627" y="222"/>
                    </a:lnTo>
                    <a:lnTo>
                      <a:pt x="784" y="157"/>
                    </a:lnTo>
                    <a:lnTo>
                      <a:pt x="967" y="209"/>
                    </a:lnTo>
                    <a:lnTo>
                      <a:pt x="1111" y="367"/>
                    </a:lnTo>
                    <a:lnTo>
                      <a:pt x="1215" y="327"/>
                    </a:lnTo>
                    <a:lnTo>
                      <a:pt x="1320" y="131"/>
                    </a:lnTo>
                    <a:lnTo>
                      <a:pt x="1464" y="0"/>
                    </a:lnTo>
                    <a:lnTo>
                      <a:pt x="1712" y="0"/>
                    </a:lnTo>
                    <a:lnTo>
                      <a:pt x="1882" y="249"/>
                    </a:lnTo>
                    <a:lnTo>
                      <a:pt x="2065" y="602"/>
                    </a:lnTo>
                    <a:lnTo>
                      <a:pt x="2248" y="904"/>
                    </a:lnTo>
                    <a:lnTo>
                      <a:pt x="2522" y="904"/>
                    </a:lnTo>
                    <a:lnTo>
                      <a:pt x="2705" y="799"/>
                    </a:lnTo>
                    <a:lnTo>
                      <a:pt x="2875" y="602"/>
                    </a:lnTo>
                    <a:lnTo>
                      <a:pt x="3045" y="720"/>
                    </a:lnTo>
                    <a:lnTo>
                      <a:pt x="3189" y="642"/>
                    </a:lnTo>
                    <a:lnTo>
                      <a:pt x="3189" y="655"/>
                    </a:lnTo>
                  </a:path>
                </a:pathLst>
              </a:custGeom>
              <a:noFill/>
              <a:ln w="20638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07" name="Line 14"/>
              <p:cNvSpPr>
                <a:spLocks noChangeShapeType="1"/>
              </p:cNvSpPr>
              <p:nvPr/>
            </p:nvSpPr>
            <p:spPr bwMode="auto">
              <a:xfrm>
                <a:off x="790" y="1871"/>
                <a:ext cx="301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14708" name="Line 15"/>
              <p:cNvSpPr>
                <a:spLocks noChangeShapeType="1"/>
              </p:cNvSpPr>
              <p:nvPr/>
            </p:nvSpPr>
            <p:spPr bwMode="auto">
              <a:xfrm>
                <a:off x="790" y="2327"/>
                <a:ext cx="301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</p:grpSp>
      </p:grpSp>
      <p:sp>
        <p:nvSpPr>
          <p:cNvPr id="114691" name="Text Box 17"/>
          <p:cNvSpPr txBox="1">
            <a:spLocks noChangeArrowheads="1"/>
          </p:cNvSpPr>
          <p:nvPr/>
        </p:nvSpPr>
        <p:spPr bwMode="auto">
          <a:xfrm>
            <a:off x="533400" y="5376863"/>
            <a:ext cx="3497263" cy="1006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/>
              <a:t>Typical bit rate demanded by a variable bit rate information source</a:t>
            </a:r>
          </a:p>
        </p:txBody>
      </p:sp>
      <p:sp>
        <p:nvSpPr>
          <p:cNvPr id="114692" name="Rectangle 1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Admission Control</a:t>
            </a:r>
          </a:p>
        </p:txBody>
      </p:sp>
      <p:sp>
        <p:nvSpPr>
          <p:cNvPr id="114693" name="Rectangle 22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200" smtClean="0"/>
              <a:t>Flows negotiate contract with network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smtClean="0"/>
              <a:t>Specify requirements: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Peak, Avg., Min Bit rate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Maximum burst size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Delay, Loss requirement 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smtClean="0"/>
              <a:t>Network computes resources needed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“Effective” bandwidth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smtClean="0"/>
              <a:t>If flow accepted, network allocates resources to ensure QoS delivered as long as source conforms to contract</a:t>
            </a:r>
          </a:p>
        </p:txBody>
      </p:sp>
      <p:sp>
        <p:nvSpPr>
          <p:cNvPr id="114694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Policing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600" smtClean="0"/>
              <a:t>Network monitors traffic flows continuously to ensure they meet their traffic contract</a:t>
            </a:r>
          </a:p>
          <a:p>
            <a:pPr eaLnBrk="1" hangingPunct="1">
              <a:lnSpc>
                <a:spcPct val="90000"/>
              </a:lnSpc>
            </a:pPr>
            <a:r>
              <a:rPr lang="en-US" sz="2600" smtClean="0"/>
              <a:t>When a packet violates the contract, network can discard or tag the packet giving it lower priority</a:t>
            </a:r>
          </a:p>
          <a:p>
            <a:pPr eaLnBrk="1" hangingPunct="1">
              <a:lnSpc>
                <a:spcPct val="90000"/>
              </a:lnSpc>
            </a:pPr>
            <a:r>
              <a:rPr lang="en-US" sz="2600" smtClean="0"/>
              <a:t>If congestion occurs, tagged packets are discarded first</a:t>
            </a:r>
          </a:p>
          <a:p>
            <a:pPr eaLnBrk="1" hangingPunct="1">
              <a:lnSpc>
                <a:spcPct val="90000"/>
              </a:lnSpc>
            </a:pPr>
            <a:r>
              <a:rPr lang="en-US" sz="2600" i="1" smtClean="0"/>
              <a:t>Leaky Bucket Algorithm</a:t>
            </a:r>
            <a:r>
              <a:rPr lang="en-US" sz="2600" smtClean="0"/>
              <a:t> is the most commonly used policing mechanism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smtClean="0"/>
              <a:t>Bucket has specified leak rate for average contracted rate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smtClean="0"/>
              <a:t>Bucket has specified depth to accommodate variations in arrival rate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smtClean="0"/>
              <a:t>Arriving packet is </a:t>
            </a:r>
            <a:r>
              <a:rPr lang="en-US" sz="2200" i="1" smtClean="0"/>
              <a:t>conforming</a:t>
            </a:r>
            <a:r>
              <a:rPr lang="en-US" sz="2200" smtClean="0"/>
              <a:t> if it does not result in overflow</a:t>
            </a:r>
          </a:p>
          <a:p>
            <a:pPr lvl="1" eaLnBrk="1" hangingPunct="1">
              <a:lnSpc>
                <a:spcPct val="90000"/>
              </a:lnSpc>
            </a:pPr>
            <a:endParaRPr lang="en-US" sz="2200" smtClean="0"/>
          </a:p>
        </p:txBody>
      </p:sp>
      <p:sp>
        <p:nvSpPr>
          <p:cNvPr id="115716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ext Box 42"/>
          <p:cNvSpPr txBox="1">
            <a:spLocks noChangeArrowheads="1"/>
          </p:cNvSpPr>
          <p:nvPr/>
        </p:nvSpPr>
        <p:spPr bwMode="auto">
          <a:xfrm>
            <a:off x="430213" y="230188"/>
            <a:ext cx="6953250" cy="701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/>
              <a:t>Leaky Bucket algorithm can be used to police arrival rate of a packet stream</a:t>
            </a:r>
          </a:p>
        </p:txBody>
      </p:sp>
      <p:grpSp>
        <p:nvGrpSpPr>
          <p:cNvPr id="116739" name="Group 44"/>
          <p:cNvGrpSpPr>
            <a:grpSpLocks/>
          </p:cNvGrpSpPr>
          <p:nvPr/>
        </p:nvGrpSpPr>
        <p:grpSpPr bwMode="auto">
          <a:xfrm>
            <a:off x="1409700" y="1519238"/>
            <a:ext cx="6872288" cy="3524250"/>
            <a:chOff x="932" y="1283"/>
            <a:chExt cx="4329" cy="2220"/>
          </a:xfrm>
        </p:grpSpPr>
        <p:sp>
          <p:nvSpPr>
            <p:cNvPr id="116742" name="Oval 2"/>
            <p:cNvSpPr>
              <a:spLocks noChangeArrowheads="1"/>
            </p:cNvSpPr>
            <p:nvPr/>
          </p:nvSpPr>
          <p:spPr bwMode="auto">
            <a:xfrm>
              <a:off x="932" y="1778"/>
              <a:ext cx="1031" cy="214"/>
            </a:xfrm>
            <a:prstGeom prst="ellips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43" name="Line 3"/>
            <p:cNvSpPr>
              <a:spLocks noChangeShapeType="1"/>
            </p:cNvSpPr>
            <p:nvPr/>
          </p:nvSpPr>
          <p:spPr bwMode="auto">
            <a:xfrm>
              <a:off x="933" y="1890"/>
              <a:ext cx="230" cy="844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6744" name="Line 4"/>
            <p:cNvSpPr>
              <a:spLocks noChangeShapeType="1"/>
            </p:cNvSpPr>
            <p:nvPr/>
          </p:nvSpPr>
          <p:spPr bwMode="auto">
            <a:xfrm flipH="1">
              <a:off x="1730" y="1890"/>
              <a:ext cx="230" cy="844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6745" name="Line 5"/>
            <p:cNvSpPr>
              <a:spLocks noChangeShapeType="1"/>
            </p:cNvSpPr>
            <p:nvPr/>
          </p:nvSpPr>
          <p:spPr bwMode="auto">
            <a:xfrm>
              <a:off x="1160" y="2736"/>
              <a:ext cx="267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6746" name="Line 6"/>
            <p:cNvSpPr>
              <a:spLocks noChangeShapeType="1"/>
            </p:cNvSpPr>
            <p:nvPr/>
          </p:nvSpPr>
          <p:spPr bwMode="auto">
            <a:xfrm>
              <a:off x="1465" y="2736"/>
              <a:ext cx="266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6747" name="Oval 7"/>
            <p:cNvSpPr>
              <a:spLocks noChangeArrowheads="1"/>
            </p:cNvSpPr>
            <p:nvPr/>
          </p:nvSpPr>
          <p:spPr bwMode="auto">
            <a:xfrm>
              <a:off x="1058" y="2286"/>
              <a:ext cx="787" cy="36"/>
            </a:xfrm>
            <a:prstGeom prst="ellipse">
              <a:avLst/>
            </a:prstGeom>
            <a:solidFill>
              <a:srgbClr val="91919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48" name="Freeform 8"/>
            <p:cNvSpPr>
              <a:spLocks/>
            </p:cNvSpPr>
            <p:nvPr/>
          </p:nvSpPr>
          <p:spPr bwMode="auto">
            <a:xfrm>
              <a:off x="1056" y="2304"/>
              <a:ext cx="784" cy="429"/>
            </a:xfrm>
            <a:custGeom>
              <a:avLst/>
              <a:gdLst>
                <a:gd name="T0" fmla="*/ 0 w 784"/>
                <a:gd name="T1" fmla="*/ 0 h 429"/>
                <a:gd name="T2" fmla="*/ 112 w 784"/>
                <a:gd name="T3" fmla="*/ 429 h 429"/>
                <a:gd name="T4" fmla="*/ 672 w 784"/>
                <a:gd name="T5" fmla="*/ 429 h 429"/>
                <a:gd name="T6" fmla="*/ 784 w 784"/>
                <a:gd name="T7" fmla="*/ 7 h 429"/>
                <a:gd name="T8" fmla="*/ 0 w 784"/>
                <a:gd name="T9" fmla="*/ 0 h 4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4"/>
                <a:gd name="T16" fmla="*/ 0 h 429"/>
                <a:gd name="T17" fmla="*/ 784 w 784"/>
                <a:gd name="T18" fmla="*/ 429 h 4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4" h="429">
                  <a:moveTo>
                    <a:pt x="0" y="0"/>
                  </a:moveTo>
                  <a:lnTo>
                    <a:pt x="112" y="429"/>
                  </a:lnTo>
                  <a:lnTo>
                    <a:pt x="672" y="429"/>
                  </a:lnTo>
                  <a:lnTo>
                    <a:pt x="784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49" name="Rectangle 9"/>
            <p:cNvSpPr>
              <a:spLocks noChangeArrowheads="1"/>
            </p:cNvSpPr>
            <p:nvPr/>
          </p:nvSpPr>
          <p:spPr bwMode="auto">
            <a:xfrm>
              <a:off x="1425" y="2817"/>
              <a:ext cx="53" cy="53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50" name="Rectangle 10"/>
            <p:cNvSpPr>
              <a:spLocks noChangeArrowheads="1"/>
            </p:cNvSpPr>
            <p:nvPr/>
          </p:nvSpPr>
          <p:spPr bwMode="auto">
            <a:xfrm>
              <a:off x="1425" y="3028"/>
              <a:ext cx="53" cy="53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51" name="Rectangle 11"/>
            <p:cNvSpPr>
              <a:spLocks noChangeArrowheads="1"/>
            </p:cNvSpPr>
            <p:nvPr/>
          </p:nvSpPr>
          <p:spPr bwMode="auto">
            <a:xfrm>
              <a:off x="1425" y="3239"/>
              <a:ext cx="53" cy="53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52" name="Rectangle 12"/>
            <p:cNvSpPr>
              <a:spLocks noChangeArrowheads="1"/>
            </p:cNvSpPr>
            <p:nvPr/>
          </p:nvSpPr>
          <p:spPr bwMode="auto">
            <a:xfrm>
              <a:off x="1425" y="3450"/>
              <a:ext cx="53" cy="53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53" name="Rectangle 13"/>
            <p:cNvSpPr>
              <a:spLocks noChangeArrowheads="1"/>
            </p:cNvSpPr>
            <p:nvPr/>
          </p:nvSpPr>
          <p:spPr bwMode="auto">
            <a:xfrm>
              <a:off x="1543" y="2915"/>
              <a:ext cx="104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>
                  <a:solidFill>
                    <a:srgbClr val="000000"/>
                  </a:solidFill>
                </a:rPr>
                <a:t>water drains at</a:t>
              </a:r>
              <a:endParaRPr lang="en-US"/>
            </a:p>
          </p:txBody>
        </p:sp>
        <p:sp>
          <p:nvSpPr>
            <p:cNvPr id="116754" name="Rectangle 14"/>
            <p:cNvSpPr>
              <a:spLocks noChangeArrowheads="1"/>
            </p:cNvSpPr>
            <p:nvPr/>
          </p:nvSpPr>
          <p:spPr bwMode="auto">
            <a:xfrm>
              <a:off x="1531" y="3104"/>
              <a:ext cx="105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>
                  <a:solidFill>
                    <a:srgbClr val="000000"/>
                  </a:solidFill>
                </a:rPr>
                <a:t>a constant rate</a:t>
              </a:r>
              <a:endParaRPr lang="en-US"/>
            </a:p>
          </p:txBody>
        </p:sp>
        <p:sp>
          <p:nvSpPr>
            <p:cNvPr id="116755" name="Rectangle 15"/>
            <p:cNvSpPr>
              <a:spLocks noChangeArrowheads="1"/>
            </p:cNvSpPr>
            <p:nvPr/>
          </p:nvSpPr>
          <p:spPr bwMode="auto">
            <a:xfrm>
              <a:off x="1991" y="2064"/>
              <a:ext cx="88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>
                  <a:solidFill>
                    <a:srgbClr val="000000"/>
                  </a:solidFill>
                </a:rPr>
                <a:t>leaky bucket</a:t>
              </a:r>
              <a:endParaRPr lang="en-US"/>
            </a:p>
          </p:txBody>
        </p:sp>
        <p:sp>
          <p:nvSpPr>
            <p:cNvPr id="116756" name="Freeform 16"/>
            <p:cNvSpPr>
              <a:spLocks/>
            </p:cNvSpPr>
            <p:nvPr/>
          </p:nvSpPr>
          <p:spPr bwMode="auto">
            <a:xfrm>
              <a:off x="1343" y="1820"/>
              <a:ext cx="54" cy="52"/>
            </a:xfrm>
            <a:custGeom>
              <a:avLst/>
              <a:gdLst>
                <a:gd name="T0" fmla="*/ 1 w 54"/>
                <a:gd name="T1" fmla="*/ 52 h 52"/>
                <a:gd name="T2" fmla="*/ 54 w 54"/>
                <a:gd name="T3" fmla="*/ 51 h 52"/>
                <a:gd name="T4" fmla="*/ 52 w 54"/>
                <a:gd name="T5" fmla="*/ 0 h 52"/>
                <a:gd name="T6" fmla="*/ 0 w 54"/>
                <a:gd name="T7" fmla="*/ 1 h 52"/>
                <a:gd name="T8" fmla="*/ 1 w 54"/>
                <a:gd name="T9" fmla="*/ 52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"/>
                <a:gd name="T16" fmla="*/ 0 h 52"/>
                <a:gd name="T17" fmla="*/ 54 w 54"/>
                <a:gd name="T18" fmla="*/ 52 h 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" h="52">
                  <a:moveTo>
                    <a:pt x="1" y="52"/>
                  </a:moveTo>
                  <a:lnTo>
                    <a:pt x="54" y="51"/>
                  </a:lnTo>
                  <a:lnTo>
                    <a:pt x="52" y="0"/>
                  </a:lnTo>
                  <a:lnTo>
                    <a:pt x="0" y="1"/>
                  </a:lnTo>
                  <a:lnTo>
                    <a:pt x="1" y="52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57" name="Freeform 17"/>
            <p:cNvSpPr>
              <a:spLocks/>
            </p:cNvSpPr>
            <p:nvPr/>
          </p:nvSpPr>
          <p:spPr bwMode="auto">
            <a:xfrm>
              <a:off x="1343" y="1820"/>
              <a:ext cx="52" cy="6"/>
            </a:xfrm>
            <a:custGeom>
              <a:avLst/>
              <a:gdLst>
                <a:gd name="T0" fmla="*/ 0 w 52"/>
                <a:gd name="T1" fmla="*/ 1 h 6"/>
                <a:gd name="T2" fmla="*/ 52 w 52"/>
                <a:gd name="T3" fmla="*/ 0 h 6"/>
                <a:gd name="T4" fmla="*/ 52 w 52"/>
                <a:gd name="T5" fmla="*/ 0 h 6"/>
                <a:gd name="T6" fmla="*/ 0 w 52"/>
                <a:gd name="T7" fmla="*/ 6 h 6"/>
                <a:gd name="T8" fmla="*/ 0 w 52"/>
                <a:gd name="T9" fmla="*/ 1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"/>
                <a:gd name="T16" fmla="*/ 0 h 6"/>
                <a:gd name="T17" fmla="*/ 52 w 52"/>
                <a:gd name="T18" fmla="*/ 6 h 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" h="6">
                  <a:moveTo>
                    <a:pt x="0" y="1"/>
                  </a:moveTo>
                  <a:lnTo>
                    <a:pt x="52" y="0"/>
                  </a:lnTo>
                  <a:lnTo>
                    <a:pt x="0" y="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1919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58" name="Freeform 18"/>
            <p:cNvSpPr>
              <a:spLocks/>
            </p:cNvSpPr>
            <p:nvPr/>
          </p:nvSpPr>
          <p:spPr bwMode="auto">
            <a:xfrm>
              <a:off x="1343" y="1818"/>
              <a:ext cx="52" cy="8"/>
            </a:xfrm>
            <a:custGeom>
              <a:avLst/>
              <a:gdLst>
                <a:gd name="T0" fmla="*/ 0 w 52"/>
                <a:gd name="T1" fmla="*/ 8 h 8"/>
                <a:gd name="T2" fmla="*/ 52 w 52"/>
                <a:gd name="T3" fmla="*/ 2 h 8"/>
                <a:gd name="T4" fmla="*/ 52 w 52"/>
                <a:gd name="T5" fmla="*/ 0 h 8"/>
                <a:gd name="T6" fmla="*/ 0 w 52"/>
                <a:gd name="T7" fmla="*/ 7 h 8"/>
                <a:gd name="T8" fmla="*/ 0 w 52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"/>
                <a:gd name="T16" fmla="*/ 0 h 8"/>
                <a:gd name="T17" fmla="*/ 52 w 52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" h="8">
                  <a:moveTo>
                    <a:pt x="0" y="8"/>
                  </a:moveTo>
                  <a:lnTo>
                    <a:pt x="52" y="2"/>
                  </a:lnTo>
                  <a:lnTo>
                    <a:pt x="52" y="0"/>
                  </a:lnTo>
                  <a:lnTo>
                    <a:pt x="0" y="7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91919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59" name="Freeform 19"/>
            <p:cNvSpPr>
              <a:spLocks/>
            </p:cNvSpPr>
            <p:nvPr/>
          </p:nvSpPr>
          <p:spPr bwMode="auto">
            <a:xfrm>
              <a:off x="1302" y="1623"/>
              <a:ext cx="62" cy="56"/>
            </a:xfrm>
            <a:custGeom>
              <a:avLst/>
              <a:gdLst>
                <a:gd name="T0" fmla="*/ 13 w 62"/>
                <a:gd name="T1" fmla="*/ 56 h 56"/>
                <a:gd name="T2" fmla="*/ 62 w 62"/>
                <a:gd name="T3" fmla="*/ 38 h 56"/>
                <a:gd name="T4" fmla="*/ 49 w 62"/>
                <a:gd name="T5" fmla="*/ 0 h 56"/>
                <a:gd name="T6" fmla="*/ 0 w 62"/>
                <a:gd name="T7" fmla="*/ 17 h 56"/>
                <a:gd name="T8" fmla="*/ 13 w 62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"/>
                <a:gd name="T16" fmla="*/ 0 h 56"/>
                <a:gd name="T17" fmla="*/ 62 w 62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" h="56">
                  <a:moveTo>
                    <a:pt x="13" y="56"/>
                  </a:moveTo>
                  <a:lnTo>
                    <a:pt x="62" y="38"/>
                  </a:lnTo>
                  <a:lnTo>
                    <a:pt x="49" y="0"/>
                  </a:lnTo>
                  <a:lnTo>
                    <a:pt x="0" y="17"/>
                  </a:lnTo>
                  <a:lnTo>
                    <a:pt x="13" y="56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60" name="Freeform 20"/>
            <p:cNvSpPr>
              <a:spLocks/>
            </p:cNvSpPr>
            <p:nvPr/>
          </p:nvSpPr>
          <p:spPr bwMode="auto">
            <a:xfrm>
              <a:off x="1302" y="1623"/>
              <a:ext cx="49" cy="22"/>
            </a:xfrm>
            <a:custGeom>
              <a:avLst/>
              <a:gdLst>
                <a:gd name="T0" fmla="*/ 0 w 49"/>
                <a:gd name="T1" fmla="*/ 17 h 22"/>
                <a:gd name="T2" fmla="*/ 49 w 49"/>
                <a:gd name="T3" fmla="*/ 0 h 22"/>
                <a:gd name="T4" fmla="*/ 49 w 49"/>
                <a:gd name="T5" fmla="*/ 0 h 22"/>
                <a:gd name="T6" fmla="*/ 1 w 49"/>
                <a:gd name="T7" fmla="*/ 22 h 22"/>
                <a:gd name="T8" fmla="*/ 0 w 49"/>
                <a:gd name="T9" fmla="*/ 17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"/>
                <a:gd name="T16" fmla="*/ 0 h 22"/>
                <a:gd name="T17" fmla="*/ 49 w 49"/>
                <a:gd name="T18" fmla="*/ 22 h 2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" h="22">
                  <a:moveTo>
                    <a:pt x="0" y="17"/>
                  </a:moveTo>
                  <a:lnTo>
                    <a:pt x="49" y="0"/>
                  </a:lnTo>
                  <a:lnTo>
                    <a:pt x="1" y="22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61" name="Freeform 21"/>
            <p:cNvSpPr>
              <a:spLocks/>
            </p:cNvSpPr>
            <p:nvPr/>
          </p:nvSpPr>
          <p:spPr bwMode="auto">
            <a:xfrm>
              <a:off x="1298" y="1614"/>
              <a:ext cx="53" cy="31"/>
            </a:xfrm>
            <a:custGeom>
              <a:avLst/>
              <a:gdLst>
                <a:gd name="T0" fmla="*/ 5 w 53"/>
                <a:gd name="T1" fmla="*/ 31 h 31"/>
                <a:gd name="T2" fmla="*/ 53 w 53"/>
                <a:gd name="T3" fmla="*/ 9 h 31"/>
                <a:gd name="T4" fmla="*/ 48 w 53"/>
                <a:gd name="T5" fmla="*/ 0 h 31"/>
                <a:gd name="T6" fmla="*/ 0 w 53"/>
                <a:gd name="T7" fmla="*/ 21 h 31"/>
                <a:gd name="T8" fmla="*/ 5 w 53"/>
                <a:gd name="T9" fmla="*/ 31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3"/>
                <a:gd name="T16" fmla="*/ 0 h 31"/>
                <a:gd name="T17" fmla="*/ 53 w 53"/>
                <a:gd name="T18" fmla="*/ 31 h 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3" h="31">
                  <a:moveTo>
                    <a:pt x="5" y="31"/>
                  </a:moveTo>
                  <a:lnTo>
                    <a:pt x="53" y="9"/>
                  </a:lnTo>
                  <a:lnTo>
                    <a:pt x="48" y="0"/>
                  </a:lnTo>
                  <a:lnTo>
                    <a:pt x="0" y="21"/>
                  </a:lnTo>
                  <a:lnTo>
                    <a:pt x="5" y="31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62" name="Freeform 22"/>
            <p:cNvSpPr>
              <a:spLocks/>
            </p:cNvSpPr>
            <p:nvPr/>
          </p:nvSpPr>
          <p:spPr bwMode="auto">
            <a:xfrm>
              <a:off x="1214" y="1470"/>
              <a:ext cx="50" cy="46"/>
            </a:xfrm>
            <a:custGeom>
              <a:avLst/>
              <a:gdLst>
                <a:gd name="T0" fmla="*/ 10 w 50"/>
                <a:gd name="T1" fmla="*/ 46 h 46"/>
                <a:gd name="T2" fmla="*/ 50 w 50"/>
                <a:gd name="T3" fmla="*/ 12 h 46"/>
                <a:gd name="T4" fmla="*/ 40 w 50"/>
                <a:gd name="T5" fmla="*/ 0 h 46"/>
                <a:gd name="T6" fmla="*/ 0 w 50"/>
                <a:gd name="T7" fmla="*/ 35 h 46"/>
                <a:gd name="T8" fmla="*/ 10 w 50"/>
                <a:gd name="T9" fmla="*/ 46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0"/>
                <a:gd name="T16" fmla="*/ 0 h 46"/>
                <a:gd name="T17" fmla="*/ 50 w 50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0" h="46">
                  <a:moveTo>
                    <a:pt x="10" y="46"/>
                  </a:moveTo>
                  <a:lnTo>
                    <a:pt x="50" y="12"/>
                  </a:lnTo>
                  <a:lnTo>
                    <a:pt x="40" y="0"/>
                  </a:lnTo>
                  <a:lnTo>
                    <a:pt x="0" y="35"/>
                  </a:lnTo>
                  <a:lnTo>
                    <a:pt x="10" y="46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63" name="Freeform 23"/>
            <p:cNvSpPr>
              <a:spLocks/>
            </p:cNvSpPr>
            <p:nvPr/>
          </p:nvSpPr>
          <p:spPr bwMode="auto">
            <a:xfrm>
              <a:off x="1214" y="1470"/>
              <a:ext cx="40" cy="38"/>
            </a:xfrm>
            <a:custGeom>
              <a:avLst/>
              <a:gdLst>
                <a:gd name="T0" fmla="*/ 0 w 40"/>
                <a:gd name="T1" fmla="*/ 35 h 38"/>
                <a:gd name="T2" fmla="*/ 40 w 40"/>
                <a:gd name="T3" fmla="*/ 0 h 38"/>
                <a:gd name="T4" fmla="*/ 40 w 40"/>
                <a:gd name="T5" fmla="*/ 0 h 38"/>
                <a:gd name="T6" fmla="*/ 4 w 40"/>
                <a:gd name="T7" fmla="*/ 38 h 38"/>
                <a:gd name="T8" fmla="*/ 0 w 40"/>
                <a:gd name="T9" fmla="*/ 35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38"/>
                <a:gd name="T17" fmla="*/ 40 w 40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38">
                  <a:moveTo>
                    <a:pt x="0" y="35"/>
                  </a:moveTo>
                  <a:lnTo>
                    <a:pt x="40" y="0"/>
                  </a:lnTo>
                  <a:lnTo>
                    <a:pt x="4" y="38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64" name="Freeform 24"/>
            <p:cNvSpPr>
              <a:spLocks/>
            </p:cNvSpPr>
            <p:nvPr/>
          </p:nvSpPr>
          <p:spPr bwMode="auto">
            <a:xfrm>
              <a:off x="1190" y="1444"/>
              <a:ext cx="64" cy="64"/>
            </a:xfrm>
            <a:custGeom>
              <a:avLst/>
              <a:gdLst>
                <a:gd name="T0" fmla="*/ 28 w 64"/>
                <a:gd name="T1" fmla="*/ 64 h 64"/>
                <a:gd name="T2" fmla="*/ 64 w 64"/>
                <a:gd name="T3" fmla="*/ 26 h 64"/>
                <a:gd name="T4" fmla="*/ 36 w 64"/>
                <a:gd name="T5" fmla="*/ 0 h 64"/>
                <a:gd name="T6" fmla="*/ 0 w 64"/>
                <a:gd name="T7" fmla="*/ 38 h 64"/>
                <a:gd name="T8" fmla="*/ 28 w 64"/>
                <a:gd name="T9" fmla="*/ 64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64"/>
                <a:gd name="T17" fmla="*/ 64 w 64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64">
                  <a:moveTo>
                    <a:pt x="28" y="64"/>
                  </a:moveTo>
                  <a:lnTo>
                    <a:pt x="64" y="26"/>
                  </a:lnTo>
                  <a:lnTo>
                    <a:pt x="36" y="0"/>
                  </a:lnTo>
                  <a:lnTo>
                    <a:pt x="0" y="38"/>
                  </a:lnTo>
                  <a:lnTo>
                    <a:pt x="28" y="64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65" name="Freeform 25"/>
            <p:cNvSpPr>
              <a:spLocks/>
            </p:cNvSpPr>
            <p:nvPr/>
          </p:nvSpPr>
          <p:spPr bwMode="auto">
            <a:xfrm>
              <a:off x="1074" y="1379"/>
              <a:ext cx="13" cy="52"/>
            </a:xfrm>
            <a:custGeom>
              <a:avLst/>
              <a:gdLst>
                <a:gd name="T0" fmla="*/ 0 w 13"/>
                <a:gd name="T1" fmla="*/ 52 h 52"/>
                <a:gd name="T2" fmla="*/ 13 w 13"/>
                <a:gd name="T3" fmla="*/ 0 h 52"/>
                <a:gd name="T4" fmla="*/ 13 w 13"/>
                <a:gd name="T5" fmla="*/ 0 h 52"/>
                <a:gd name="T6" fmla="*/ 0 w 13"/>
                <a:gd name="T7" fmla="*/ 52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"/>
                <a:gd name="T13" fmla="*/ 0 h 52"/>
                <a:gd name="T14" fmla="*/ 13 w 13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" h="52">
                  <a:moveTo>
                    <a:pt x="0" y="52"/>
                  </a:moveTo>
                  <a:lnTo>
                    <a:pt x="13" y="0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66" name="Freeform 26"/>
            <p:cNvSpPr>
              <a:spLocks/>
            </p:cNvSpPr>
            <p:nvPr/>
          </p:nvSpPr>
          <p:spPr bwMode="auto">
            <a:xfrm>
              <a:off x="1074" y="1379"/>
              <a:ext cx="13" cy="53"/>
            </a:xfrm>
            <a:custGeom>
              <a:avLst/>
              <a:gdLst>
                <a:gd name="T0" fmla="*/ 0 w 13"/>
                <a:gd name="T1" fmla="*/ 52 h 53"/>
                <a:gd name="T2" fmla="*/ 13 w 13"/>
                <a:gd name="T3" fmla="*/ 0 h 53"/>
                <a:gd name="T4" fmla="*/ 13 w 13"/>
                <a:gd name="T5" fmla="*/ 0 h 53"/>
                <a:gd name="T6" fmla="*/ 8 w 13"/>
                <a:gd name="T7" fmla="*/ 53 h 53"/>
                <a:gd name="T8" fmla="*/ 0 w 13"/>
                <a:gd name="T9" fmla="*/ 52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"/>
                <a:gd name="T16" fmla="*/ 0 h 53"/>
                <a:gd name="T17" fmla="*/ 13 w 13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" h="53">
                  <a:moveTo>
                    <a:pt x="0" y="52"/>
                  </a:moveTo>
                  <a:lnTo>
                    <a:pt x="13" y="0"/>
                  </a:lnTo>
                  <a:lnTo>
                    <a:pt x="8" y="53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67" name="Freeform 27"/>
            <p:cNvSpPr>
              <a:spLocks/>
            </p:cNvSpPr>
            <p:nvPr/>
          </p:nvSpPr>
          <p:spPr bwMode="auto">
            <a:xfrm>
              <a:off x="1046" y="1376"/>
              <a:ext cx="41" cy="56"/>
            </a:xfrm>
            <a:custGeom>
              <a:avLst/>
              <a:gdLst>
                <a:gd name="T0" fmla="*/ 36 w 41"/>
                <a:gd name="T1" fmla="*/ 56 h 56"/>
                <a:gd name="T2" fmla="*/ 41 w 41"/>
                <a:gd name="T3" fmla="*/ 3 h 56"/>
                <a:gd name="T4" fmla="*/ 5 w 41"/>
                <a:gd name="T5" fmla="*/ 0 h 56"/>
                <a:gd name="T6" fmla="*/ 0 w 41"/>
                <a:gd name="T7" fmla="*/ 53 h 56"/>
                <a:gd name="T8" fmla="*/ 36 w 41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"/>
                <a:gd name="T16" fmla="*/ 0 h 56"/>
                <a:gd name="T17" fmla="*/ 41 w 41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" h="56">
                  <a:moveTo>
                    <a:pt x="36" y="56"/>
                  </a:moveTo>
                  <a:lnTo>
                    <a:pt x="41" y="3"/>
                  </a:lnTo>
                  <a:lnTo>
                    <a:pt x="5" y="0"/>
                  </a:lnTo>
                  <a:lnTo>
                    <a:pt x="0" y="53"/>
                  </a:lnTo>
                  <a:lnTo>
                    <a:pt x="36" y="56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68" name="Freeform 28"/>
            <p:cNvSpPr>
              <a:spLocks/>
            </p:cNvSpPr>
            <p:nvPr/>
          </p:nvSpPr>
          <p:spPr bwMode="auto">
            <a:xfrm>
              <a:off x="1402" y="1829"/>
              <a:ext cx="54" cy="53"/>
            </a:xfrm>
            <a:custGeom>
              <a:avLst/>
              <a:gdLst>
                <a:gd name="T0" fmla="*/ 2 w 54"/>
                <a:gd name="T1" fmla="*/ 53 h 53"/>
                <a:gd name="T2" fmla="*/ 54 w 54"/>
                <a:gd name="T3" fmla="*/ 52 h 53"/>
                <a:gd name="T4" fmla="*/ 53 w 54"/>
                <a:gd name="T5" fmla="*/ 0 h 53"/>
                <a:gd name="T6" fmla="*/ 0 w 54"/>
                <a:gd name="T7" fmla="*/ 2 h 53"/>
                <a:gd name="T8" fmla="*/ 2 w 54"/>
                <a:gd name="T9" fmla="*/ 53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"/>
                <a:gd name="T16" fmla="*/ 0 h 53"/>
                <a:gd name="T17" fmla="*/ 54 w 54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" h="53">
                  <a:moveTo>
                    <a:pt x="2" y="53"/>
                  </a:moveTo>
                  <a:lnTo>
                    <a:pt x="54" y="52"/>
                  </a:lnTo>
                  <a:lnTo>
                    <a:pt x="53" y="0"/>
                  </a:lnTo>
                  <a:lnTo>
                    <a:pt x="0" y="2"/>
                  </a:lnTo>
                  <a:lnTo>
                    <a:pt x="2" y="53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69" name="Freeform 29"/>
            <p:cNvSpPr>
              <a:spLocks/>
            </p:cNvSpPr>
            <p:nvPr/>
          </p:nvSpPr>
          <p:spPr bwMode="auto">
            <a:xfrm>
              <a:off x="1402" y="1829"/>
              <a:ext cx="53" cy="7"/>
            </a:xfrm>
            <a:custGeom>
              <a:avLst/>
              <a:gdLst>
                <a:gd name="T0" fmla="*/ 0 w 53"/>
                <a:gd name="T1" fmla="*/ 2 h 7"/>
                <a:gd name="T2" fmla="*/ 53 w 53"/>
                <a:gd name="T3" fmla="*/ 0 h 7"/>
                <a:gd name="T4" fmla="*/ 53 w 53"/>
                <a:gd name="T5" fmla="*/ 0 h 7"/>
                <a:gd name="T6" fmla="*/ 0 w 53"/>
                <a:gd name="T7" fmla="*/ 7 h 7"/>
                <a:gd name="T8" fmla="*/ 0 w 53"/>
                <a:gd name="T9" fmla="*/ 2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3"/>
                <a:gd name="T16" fmla="*/ 0 h 7"/>
                <a:gd name="T17" fmla="*/ 53 w 53"/>
                <a:gd name="T18" fmla="*/ 7 h 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3" h="7">
                  <a:moveTo>
                    <a:pt x="0" y="2"/>
                  </a:moveTo>
                  <a:lnTo>
                    <a:pt x="53" y="0"/>
                  </a:lnTo>
                  <a:lnTo>
                    <a:pt x="0" y="7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91919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70" name="Freeform 30"/>
            <p:cNvSpPr>
              <a:spLocks/>
            </p:cNvSpPr>
            <p:nvPr/>
          </p:nvSpPr>
          <p:spPr bwMode="auto">
            <a:xfrm>
              <a:off x="1402" y="1828"/>
              <a:ext cx="53" cy="8"/>
            </a:xfrm>
            <a:custGeom>
              <a:avLst/>
              <a:gdLst>
                <a:gd name="T0" fmla="*/ 0 w 53"/>
                <a:gd name="T1" fmla="*/ 8 h 8"/>
                <a:gd name="T2" fmla="*/ 53 w 53"/>
                <a:gd name="T3" fmla="*/ 1 h 8"/>
                <a:gd name="T4" fmla="*/ 53 w 53"/>
                <a:gd name="T5" fmla="*/ 0 h 8"/>
                <a:gd name="T6" fmla="*/ 0 w 53"/>
                <a:gd name="T7" fmla="*/ 6 h 8"/>
                <a:gd name="T8" fmla="*/ 0 w 53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3"/>
                <a:gd name="T16" fmla="*/ 0 h 8"/>
                <a:gd name="T17" fmla="*/ 53 w 53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3" h="8">
                  <a:moveTo>
                    <a:pt x="0" y="8"/>
                  </a:moveTo>
                  <a:lnTo>
                    <a:pt x="53" y="1"/>
                  </a:lnTo>
                  <a:lnTo>
                    <a:pt x="53" y="0"/>
                  </a:lnTo>
                  <a:lnTo>
                    <a:pt x="0" y="6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91919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71" name="Freeform 31"/>
            <p:cNvSpPr>
              <a:spLocks/>
            </p:cNvSpPr>
            <p:nvPr/>
          </p:nvSpPr>
          <p:spPr bwMode="auto">
            <a:xfrm>
              <a:off x="1361" y="1633"/>
              <a:ext cx="62" cy="56"/>
            </a:xfrm>
            <a:custGeom>
              <a:avLst/>
              <a:gdLst>
                <a:gd name="T0" fmla="*/ 13 w 62"/>
                <a:gd name="T1" fmla="*/ 56 h 56"/>
                <a:gd name="T2" fmla="*/ 62 w 62"/>
                <a:gd name="T3" fmla="*/ 38 h 56"/>
                <a:gd name="T4" fmla="*/ 49 w 62"/>
                <a:gd name="T5" fmla="*/ 0 h 56"/>
                <a:gd name="T6" fmla="*/ 0 w 62"/>
                <a:gd name="T7" fmla="*/ 17 h 56"/>
                <a:gd name="T8" fmla="*/ 13 w 62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"/>
                <a:gd name="T16" fmla="*/ 0 h 56"/>
                <a:gd name="T17" fmla="*/ 62 w 62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" h="56">
                  <a:moveTo>
                    <a:pt x="13" y="56"/>
                  </a:moveTo>
                  <a:lnTo>
                    <a:pt x="62" y="38"/>
                  </a:lnTo>
                  <a:lnTo>
                    <a:pt x="49" y="0"/>
                  </a:lnTo>
                  <a:lnTo>
                    <a:pt x="0" y="17"/>
                  </a:lnTo>
                  <a:lnTo>
                    <a:pt x="13" y="56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72" name="Freeform 32"/>
            <p:cNvSpPr>
              <a:spLocks/>
            </p:cNvSpPr>
            <p:nvPr/>
          </p:nvSpPr>
          <p:spPr bwMode="auto">
            <a:xfrm>
              <a:off x="1361" y="1633"/>
              <a:ext cx="49" cy="22"/>
            </a:xfrm>
            <a:custGeom>
              <a:avLst/>
              <a:gdLst>
                <a:gd name="T0" fmla="*/ 0 w 49"/>
                <a:gd name="T1" fmla="*/ 17 h 22"/>
                <a:gd name="T2" fmla="*/ 49 w 49"/>
                <a:gd name="T3" fmla="*/ 0 h 22"/>
                <a:gd name="T4" fmla="*/ 49 w 49"/>
                <a:gd name="T5" fmla="*/ 0 h 22"/>
                <a:gd name="T6" fmla="*/ 2 w 49"/>
                <a:gd name="T7" fmla="*/ 22 h 22"/>
                <a:gd name="T8" fmla="*/ 0 w 49"/>
                <a:gd name="T9" fmla="*/ 17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"/>
                <a:gd name="T16" fmla="*/ 0 h 22"/>
                <a:gd name="T17" fmla="*/ 49 w 49"/>
                <a:gd name="T18" fmla="*/ 22 h 2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" h="22">
                  <a:moveTo>
                    <a:pt x="0" y="17"/>
                  </a:moveTo>
                  <a:lnTo>
                    <a:pt x="49" y="0"/>
                  </a:lnTo>
                  <a:lnTo>
                    <a:pt x="2" y="22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73" name="Freeform 33"/>
            <p:cNvSpPr>
              <a:spLocks/>
            </p:cNvSpPr>
            <p:nvPr/>
          </p:nvSpPr>
          <p:spPr bwMode="auto">
            <a:xfrm>
              <a:off x="1358" y="1623"/>
              <a:ext cx="52" cy="32"/>
            </a:xfrm>
            <a:custGeom>
              <a:avLst/>
              <a:gdLst>
                <a:gd name="T0" fmla="*/ 5 w 52"/>
                <a:gd name="T1" fmla="*/ 32 h 32"/>
                <a:gd name="T2" fmla="*/ 52 w 52"/>
                <a:gd name="T3" fmla="*/ 10 h 32"/>
                <a:gd name="T4" fmla="*/ 47 w 52"/>
                <a:gd name="T5" fmla="*/ 0 h 32"/>
                <a:gd name="T6" fmla="*/ 0 w 52"/>
                <a:gd name="T7" fmla="*/ 22 h 32"/>
                <a:gd name="T8" fmla="*/ 5 w 52"/>
                <a:gd name="T9" fmla="*/ 3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"/>
                <a:gd name="T16" fmla="*/ 0 h 32"/>
                <a:gd name="T17" fmla="*/ 52 w 52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" h="32">
                  <a:moveTo>
                    <a:pt x="5" y="32"/>
                  </a:moveTo>
                  <a:lnTo>
                    <a:pt x="52" y="10"/>
                  </a:lnTo>
                  <a:lnTo>
                    <a:pt x="47" y="0"/>
                  </a:lnTo>
                  <a:lnTo>
                    <a:pt x="0" y="22"/>
                  </a:lnTo>
                  <a:lnTo>
                    <a:pt x="5" y="32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74" name="Freeform 34"/>
            <p:cNvSpPr>
              <a:spLocks/>
            </p:cNvSpPr>
            <p:nvPr/>
          </p:nvSpPr>
          <p:spPr bwMode="auto">
            <a:xfrm>
              <a:off x="1274" y="1480"/>
              <a:ext cx="49" cy="46"/>
            </a:xfrm>
            <a:custGeom>
              <a:avLst/>
              <a:gdLst>
                <a:gd name="T0" fmla="*/ 9 w 49"/>
                <a:gd name="T1" fmla="*/ 46 h 46"/>
                <a:gd name="T2" fmla="*/ 49 w 49"/>
                <a:gd name="T3" fmla="*/ 12 h 46"/>
                <a:gd name="T4" fmla="*/ 39 w 49"/>
                <a:gd name="T5" fmla="*/ 0 h 46"/>
                <a:gd name="T6" fmla="*/ 0 w 49"/>
                <a:gd name="T7" fmla="*/ 35 h 46"/>
                <a:gd name="T8" fmla="*/ 9 w 49"/>
                <a:gd name="T9" fmla="*/ 46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"/>
                <a:gd name="T16" fmla="*/ 0 h 46"/>
                <a:gd name="T17" fmla="*/ 49 w 49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" h="46">
                  <a:moveTo>
                    <a:pt x="9" y="46"/>
                  </a:moveTo>
                  <a:lnTo>
                    <a:pt x="49" y="12"/>
                  </a:lnTo>
                  <a:lnTo>
                    <a:pt x="39" y="0"/>
                  </a:lnTo>
                  <a:lnTo>
                    <a:pt x="0" y="35"/>
                  </a:lnTo>
                  <a:lnTo>
                    <a:pt x="9" y="46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75" name="Freeform 35"/>
            <p:cNvSpPr>
              <a:spLocks/>
            </p:cNvSpPr>
            <p:nvPr/>
          </p:nvSpPr>
          <p:spPr bwMode="auto">
            <a:xfrm>
              <a:off x="1274" y="1480"/>
              <a:ext cx="39" cy="38"/>
            </a:xfrm>
            <a:custGeom>
              <a:avLst/>
              <a:gdLst>
                <a:gd name="T0" fmla="*/ 0 w 39"/>
                <a:gd name="T1" fmla="*/ 35 h 38"/>
                <a:gd name="T2" fmla="*/ 39 w 39"/>
                <a:gd name="T3" fmla="*/ 0 h 38"/>
                <a:gd name="T4" fmla="*/ 39 w 39"/>
                <a:gd name="T5" fmla="*/ 0 h 38"/>
                <a:gd name="T6" fmla="*/ 3 w 39"/>
                <a:gd name="T7" fmla="*/ 38 h 38"/>
                <a:gd name="T8" fmla="*/ 0 w 39"/>
                <a:gd name="T9" fmla="*/ 35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38"/>
                <a:gd name="T17" fmla="*/ 39 w 39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38">
                  <a:moveTo>
                    <a:pt x="0" y="35"/>
                  </a:moveTo>
                  <a:lnTo>
                    <a:pt x="39" y="0"/>
                  </a:lnTo>
                  <a:lnTo>
                    <a:pt x="3" y="38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76" name="Freeform 36"/>
            <p:cNvSpPr>
              <a:spLocks/>
            </p:cNvSpPr>
            <p:nvPr/>
          </p:nvSpPr>
          <p:spPr bwMode="auto">
            <a:xfrm>
              <a:off x="1249" y="1454"/>
              <a:ext cx="64" cy="64"/>
            </a:xfrm>
            <a:custGeom>
              <a:avLst/>
              <a:gdLst>
                <a:gd name="T0" fmla="*/ 28 w 64"/>
                <a:gd name="T1" fmla="*/ 64 h 64"/>
                <a:gd name="T2" fmla="*/ 64 w 64"/>
                <a:gd name="T3" fmla="*/ 26 h 64"/>
                <a:gd name="T4" fmla="*/ 36 w 64"/>
                <a:gd name="T5" fmla="*/ 0 h 64"/>
                <a:gd name="T6" fmla="*/ 0 w 64"/>
                <a:gd name="T7" fmla="*/ 38 h 64"/>
                <a:gd name="T8" fmla="*/ 28 w 64"/>
                <a:gd name="T9" fmla="*/ 64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64"/>
                <a:gd name="T17" fmla="*/ 64 w 64"/>
                <a:gd name="T18" fmla="*/ 64 h 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64">
                  <a:moveTo>
                    <a:pt x="28" y="64"/>
                  </a:moveTo>
                  <a:lnTo>
                    <a:pt x="64" y="26"/>
                  </a:lnTo>
                  <a:lnTo>
                    <a:pt x="36" y="0"/>
                  </a:lnTo>
                  <a:lnTo>
                    <a:pt x="0" y="38"/>
                  </a:lnTo>
                  <a:lnTo>
                    <a:pt x="28" y="64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77" name="Freeform 37"/>
            <p:cNvSpPr>
              <a:spLocks/>
            </p:cNvSpPr>
            <p:nvPr/>
          </p:nvSpPr>
          <p:spPr bwMode="auto">
            <a:xfrm>
              <a:off x="1134" y="1389"/>
              <a:ext cx="13" cy="51"/>
            </a:xfrm>
            <a:custGeom>
              <a:avLst/>
              <a:gdLst>
                <a:gd name="T0" fmla="*/ 0 w 13"/>
                <a:gd name="T1" fmla="*/ 51 h 51"/>
                <a:gd name="T2" fmla="*/ 13 w 13"/>
                <a:gd name="T3" fmla="*/ 0 h 51"/>
                <a:gd name="T4" fmla="*/ 13 w 13"/>
                <a:gd name="T5" fmla="*/ 0 h 51"/>
                <a:gd name="T6" fmla="*/ 0 w 13"/>
                <a:gd name="T7" fmla="*/ 51 h 5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"/>
                <a:gd name="T13" fmla="*/ 0 h 51"/>
                <a:gd name="T14" fmla="*/ 13 w 13"/>
                <a:gd name="T15" fmla="*/ 51 h 5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" h="51">
                  <a:moveTo>
                    <a:pt x="0" y="51"/>
                  </a:moveTo>
                  <a:lnTo>
                    <a:pt x="13" y="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78" name="Freeform 38"/>
            <p:cNvSpPr>
              <a:spLocks/>
            </p:cNvSpPr>
            <p:nvPr/>
          </p:nvSpPr>
          <p:spPr bwMode="auto">
            <a:xfrm>
              <a:off x="1134" y="1389"/>
              <a:ext cx="13" cy="53"/>
            </a:xfrm>
            <a:custGeom>
              <a:avLst/>
              <a:gdLst>
                <a:gd name="T0" fmla="*/ 0 w 13"/>
                <a:gd name="T1" fmla="*/ 51 h 53"/>
                <a:gd name="T2" fmla="*/ 13 w 13"/>
                <a:gd name="T3" fmla="*/ 0 h 53"/>
                <a:gd name="T4" fmla="*/ 13 w 13"/>
                <a:gd name="T5" fmla="*/ 0 h 53"/>
                <a:gd name="T6" fmla="*/ 8 w 13"/>
                <a:gd name="T7" fmla="*/ 53 h 53"/>
                <a:gd name="T8" fmla="*/ 0 w 13"/>
                <a:gd name="T9" fmla="*/ 51 h 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"/>
                <a:gd name="T16" fmla="*/ 0 h 53"/>
                <a:gd name="T17" fmla="*/ 13 w 13"/>
                <a:gd name="T18" fmla="*/ 53 h 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" h="53">
                  <a:moveTo>
                    <a:pt x="0" y="51"/>
                  </a:moveTo>
                  <a:lnTo>
                    <a:pt x="13" y="0"/>
                  </a:lnTo>
                  <a:lnTo>
                    <a:pt x="8" y="53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79" name="Freeform 39"/>
            <p:cNvSpPr>
              <a:spLocks/>
            </p:cNvSpPr>
            <p:nvPr/>
          </p:nvSpPr>
          <p:spPr bwMode="auto">
            <a:xfrm>
              <a:off x="1106" y="1386"/>
              <a:ext cx="41" cy="56"/>
            </a:xfrm>
            <a:custGeom>
              <a:avLst/>
              <a:gdLst>
                <a:gd name="T0" fmla="*/ 36 w 41"/>
                <a:gd name="T1" fmla="*/ 56 h 56"/>
                <a:gd name="T2" fmla="*/ 41 w 41"/>
                <a:gd name="T3" fmla="*/ 3 h 56"/>
                <a:gd name="T4" fmla="*/ 4 w 41"/>
                <a:gd name="T5" fmla="*/ 0 h 56"/>
                <a:gd name="T6" fmla="*/ 0 w 41"/>
                <a:gd name="T7" fmla="*/ 53 h 56"/>
                <a:gd name="T8" fmla="*/ 36 w 41"/>
                <a:gd name="T9" fmla="*/ 56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"/>
                <a:gd name="T16" fmla="*/ 0 h 56"/>
                <a:gd name="T17" fmla="*/ 41 w 41"/>
                <a:gd name="T18" fmla="*/ 56 h 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" h="56">
                  <a:moveTo>
                    <a:pt x="36" y="56"/>
                  </a:moveTo>
                  <a:lnTo>
                    <a:pt x="41" y="3"/>
                  </a:lnTo>
                  <a:lnTo>
                    <a:pt x="4" y="0"/>
                  </a:lnTo>
                  <a:lnTo>
                    <a:pt x="0" y="53"/>
                  </a:lnTo>
                  <a:lnTo>
                    <a:pt x="36" y="56"/>
                  </a:lnTo>
                  <a:close/>
                </a:path>
              </a:pathLst>
            </a:custGeom>
            <a:solidFill>
              <a:schemeClr val="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780" name="Rectangle 40"/>
            <p:cNvSpPr>
              <a:spLocks noChangeArrowheads="1"/>
            </p:cNvSpPr>
            <p:nvPr/>
          </p:nvSpPr>
          <p:spPr bwMode="auto">
            <a:xfrm>
              <a:off x="1471" y="1283"/>
              <a:ext cx="933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>
                  <a:solidFill>
                    <a:srgbClr val="000000"/>
                  </a:solidFill>
                </a:rPr>
                <a:t>water poured</a:t>
              </a:r>
              <a:endParaRPr lang="en-US"/>
            </a:p>
          </p:txBody>
        </p:sp>
        <p:sp>
          <p:nvSpPr>
            <p:cNvPr id="116781" name="Rectangle 41"/>
            <p:cNvSpPr>
              <a:spLocks noChangeArrowheads="1"/>
            </p:cNvSpPr>
            <p:nvPr/>
          </p:nvSpPr>
          <p:spPr bwMode="auto">
            <a:xfrm>
              <a:off x="1500" y="1472"/>
              <a:ext cx="703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>
                  <a:solidFill>
                    <a:srgbClr val="000000"/>
                  </a:solidFill>
                </a:rPr>
                <a:t>irregularly</a:t>
              </a:r>
              <a:endParaRPr lang="en-US"/>
            </a:p>
          </p:txBody>
        </p:sp>
        <p:sp>
          <p:nvSpPr>
            <p:cNvPr id="116782" name="Text Box 43"/>
            <p:cNvSpPr txBox="1">
              <a:spLocks noChangeArrowheads="1"/>
            </p:cNvSpPr>
            <p:nvPr/>
          </p:nvSpPr>
          <p:spPr bwMode="auto">
            <a:xfrm>
              <a:off x="3072" y="1440"/>
              <a:ext cx="2189" cy="197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Leak rate corresponds to long-term rate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endParaRPr lang="en-US"/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Bucket depth corresponds to maximum allowable burst arrival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endParaRPr lang="en-US"/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1 packet per unit time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Assume constant-length packet as in ATM </a:t>
              </a:r>
            </a:p>
          </p:txBody>
        </p:sp>
      </p:grpSp>
      <p:sp>
        <p:nvSpPr>
          <p:cNvPr id="116740" name="Text Box 45"/>
          <p:cNvSpPr txBox="1">
            <a:spLocks noChangeArrowheads="1"/>
          </p:cNvSpPr>
          <p:nvPr/>
        </p:nvSpPr>
        <p:spPr bwMode="auto">
          <a:xfrm>
            <a:off x="674688" y="5572125"/>
            <a:ext cx="7304087" cy="7620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buClr>
                <a:schemeClr val="bg1"/>
              </a:buClr>
            </a:pPr>
            <a:r>
              <a:rPr lang="en-US"/>
              <a:t>Let X = bucket content at last conforming packet arrival</a:t>
            </a:r>
          </a:p>
          <a:p>
            <a:pPr algn="l">
              <a:buClr>
                <a:schemeClr val="bg1"/>
              </a:buClr>
            </a:pPr>
            <a:r>
              <a:rPr lang="en-US"/>
              <a:t>Let t</a:t>
            </a:r>
            <a:r>
              <a:rPr lang="en-US" baseline="-25000"/>
              <a:t>a</a:t>
            </a:r>
            <a:r>
              <a:rPr lang="en-US"/>
              <a:t> – last conforming packet arrival time = depletion in bucket</a:t>
            </a:r>
          </a:p>
        </p:txBody>
      </p:sp>
      <p:sp>
        <p:nvSpPr>
          <p:cNvPr id="116741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762" name="Group 2"/>
          <p:cNvGrpSpPr>
            <a:grpSpLocks/>
          </p:cNvGrpSpPr>
          <p:nvPr/>
        </p:nvGrpSpPr>
        <p:grpSpPr bwMode="auto">
          <a:xfrm>
            <a:off x="1139825" y="1120775"/>
            <a:ext cx="6735763" cy="5551488"/>
            <a:chOff x="711" y="484"/>
            <a:chExt cx="4243" cy="3573"/>
          </a:xfrm>
        </p:grpSpPr>
        <p:sp>
          <p:nvSpPr>
            <p:cNvPr id="117774" name="Freeform 3"/>
            <p:cNvSpPr>
              <a:spLocks/>
            </p:cNvSpPr>
            <p:nvPr/>
          </p:nvSpPr>
          <p:spPr bwMode="auto">
            <a:xfrm>
              <a:off x="2009" y="1485"/>
              <a:ext cx="655" cy="657"/>
            </a:xfrm>
            <a:custGeom>
              <a:avLst/>
              <a:gdLst>
                <a:gd name="T0" fmla="*/ 316 w 655"/>
                <a:gd name="T1" fmla="*/ 0 h 657"/>
                <a:gd name="T2" fmla="*/ 0 w 655"/>
                <a:gd name="T3" fmla="*/ 317 h 657"/>
                <a:gd name="T4" fmla="*/ 338 w 655"/>
                <a:gd name="T5" fmla="*/ 657 h 657"/>
                <a:gd name="T6" fmla="*/ 655 w 655"/>
                <a:gd name="T7" fmla="*/ 340 h 657"/>
                <a:gd name="T8" fmla="*/ 316 w 655"/>
                <a:gd name="T9" fmla="*/ 0 h 6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55"/>
                <a:gd name="T16" fmla="*/ 0 h 657"/>
                <a:gd name="T17" fmla="*/ 655 w 655"/>
                <a:gd name="T18" fmla="*/ 657 h 6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55" h="657">
                  <a:moveTo>
                    <a:pt x="316" y="0"/>
                  </a:moveTo>
                  <a:lnTo>
                    <a:pt x="0" y="317"/>
                  </a:lnTo>
                  <a:lnTo>
                    <a:pt x="338" y="657"/>
                  </a:lnTo>
                  <a:lnTo>
                    <a:pt x="655" y="340"/>
                  </a:lnTo>
                  <a:lnTo>
                    <a:pt x="316" y="0"/>
                  </a:lnTo>
                  <a:close/>
                </a:path>
              </a:pathLst>
            </a:custGeom>
            <a:solidFill>
              <a:srgbClr val="B1CCCB"/>
            </a:solidFill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775" name="Freeform 4"/>
            <p:cNvSpPr>
              <a:spLocks/>
            </p:cNvSpPr>
            <p:nvPr/>
          </p:nvSpPr>
          <p:spPr bwMode="auto">
            <a:xfrm>
              <a:off x="2009" y="2403"/>
              <a:ext cx="655" cy="657"/>
            </a:xfrm>
            <a:custGeom>
              <a:avLst/>
              <a:gdLst>
                <a:gd name="T0" fmla="*/ 316 w 655"/>
                <a:gd name="T1" fmla="*/ 0 h 657"/>
                <a:gd name="T2" fmla="*/ 0 w 655"/>
                <a:gd name="T3" fmla="*/ 317 h 657"/>
                <a:gd name="T4" fmla="*/ 338 w 655"/>
                <a:gd name="T5" fmla="*/ 657 h 657"/>
                <a:gd name="T6" fmla="*/ 655 w 655"/>
                <a:gd name="T7" fmla="*/ 340 h 657"/>
                <a:gd name="T8" fmla="*/ 316 w 655"/>
                <a:gd name="T9" fmla="*/ 0 h 6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55"/>
                <a:gd name="T16" fmla="*/ 0 h 657"/>
                <a:gd name="T17" fmla="*/ 655 w 655"/>
                <a:gd name="T18" fmla="*/ 657 h 6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55" h="657">
                  <a:moveTo>
                    <a:pt x="316" y="0"/>
                  </a:moveTo>
                  <a:lnTo>
                    <a:pt x="0" y="317"/>
                  </a:lnTo>
                  <a:lnTo>
                    <a:pt x="338" y="657"/>
                  </a:lnTo>
                  <a:lnTo>
                    <a:pt x="655" y="340"/>
                  </a:lnTo>
                  <a:lnTo>
                    <a:pt x="316" y="0"/>
                  </a:lnTo>
                  <a:close/>
                </a:path>
              </a:pathLst>
            </a:custGeom>
            <a:solidFill>
              <a:srgbClr val="B1CCCB"/>
            </a:solidFill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776" name="Rectangle 5"/>
            <p:cNvSpPr>
              <a:spLocks noChangeArrowheads="1"/>
            </p:cNvSpPr>
            <p:nvPr/>
          </p:nvSpPr>
          <p:spPr bwMode="auto">
            <a:xfrm>
              <a:off x="3029" y="2140"/>
              <a:ext cx="598" cy="305"/>
            </a:xfrm>
            <a:prstGeom prst="rect">
              <a:avLst/>
            </a:prstGeom>
            <a:solidFill>
              <a:schemeClr val="folHlink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777" name="Rectangle 6"/>
            <p:cNvSpPr>
              <a:spLocks noChangeArrowheads="1"/>
            </p:cNvSpPr>
            <p:nvPr/>
          </p:nvSpPr>
          <p:spPr bwMode="auto">
            <a:xfrm>
              <a:off x="1768" y="938"/>
              <a:ext cx="1136" cy="258"/>
            </a:xfrm>
            <a:prstGeom prst="rect">
              <a:avLst/>
            </a:prstGeom>
            <a:solidFill>
              <a:schemeClr val="folHlink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778" name="Rectangle 7"/>
            <p:cNvSpPr>
              <a:spLocks noChangeArrowheads="1"/>
            </p:cNvSpPr>
            <p:nvPr/>
          </p:nvSpPr>
          <p:spPr bwMode="auto">
            <a:xfrm>
              <a:off x="1575" y="484"/>
              <a:ext cx="1523" cy="258"/>
            </a:xfrm>
            <a:prstGeom prst="rect">
              <a:avLst/>
            </a:prstGeom>
            <a:solidFill>
              <a:schemeClr val="folHlink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779" name="Rectangle 8"/>
            <p:cNvSpPr>
              <a:spLocks noChangeArrowheads="1"/>
            </p:cNvSpPr>
            <p:nvPr/>
          </p:nvSpPr>
          <p:spPr bwMode="auto">
            <a:xfrm>
              <a:off x="1726" y="3323"/>
              <a:ext cx="1221" cy="580"/>
            </a:xfrm>
            <a:prstGeom prst="rect">
              <a:avLst/>
            </a:prstGeom>
            <a:solidFill>
              <a:schemeClr val="folHlink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780" name="Rectangle 9"/>
            <p:cNvSpPr>
              <a:spLocks noChangeArrowheads="1"/>
            </p:cNvSpPr>
            <p:nvPr/>
          </p:nvSpPr>
          <p:spPr bwMode="auto">
            <a:xfrm>
              <a:off x="838" y="2528"/>
              <a:ext cx="871" cy="410"/>
            </a:xfrm>
            <a:prstGeom prst="rect">
              <a:avLst/>
            </a:prstGeom>
            <a:solidFill>
              <a:schemeClr val="folHlink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781" name="Rectangle 10"/>
            <p:cNvSpPr>
              <a:spLocks noChangeArrowheads="1"/>
            </p:cNvSpPr>
            <p:nvPr/>
          </p:nvSpPr>
          <p:spPr bwMode="auto">
            <a:xfrm>
              <a:off x="1713" y="544"/>
              <a:ext cx="1362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>
                  <a:solidFill>
                    <a:srgbClr val="000000"/>
                  </a:solidFill>
                </a:rPr>
                <a:t>Arrival of a packet at time </a:t>
              </a:r>
              <a:r>
                <a:rPr lang="en-US" sz="1400" i="1">
                  <a:solidFill>
                    <a:srgbClr val="000000"/>
                  </a:solidFill>
                </a:rPr>
                <a:t>t</a:t>
              </a:r>
              <a:r>
                <a:rPr lang="en-US" sz="1400" i="1" baseline="-25000">
                  <a:solidFill>
                    <a:srgbClr val="000000"/>
                  </a:solidFill>
                </a:rPr>
                <a:t>a</a:t>
              </a:r>
              <a:endParaRPr lang="en-US"/>
            </a:p>
          </p:txBody>
        </p:sp>
        <p:sp>
          <p:nvSpPr>
            <p:cNvPr id="117782" name="Rectangle 11"/>
            <p:cNvSpPr>
              <a:spLocks noChangeArrowheads="1"/>
            </p:cNvSpPr>
            <p:nvPr/>
          </p:nvSpPr>
          <p:spPr bwMode="auto">
            <a:xfrm>
              <a:off x="1939" y="998"/>
              <a:ext cx="887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 i="1">
                  <a:solidFill>
                    <a:srgbClr val="000000"/>
                  </a:solidFill>
                </a:rPr>
                <a:t>X’</a:t>
              </a:r>
              <a:r>
                <a:rPr lang="en-US" sz="1400">
                  <a:solidFill>
                    <a:srgbClr val="000000"/>
                  </a:solidFill>
                </a:rPr>
                <a:t> = </a:t>
              </a:r>
              <a:r>
                <a:rPr lang="en-US" sz="1400" i="1">
                  <a:solidFill>
                    <a:srgbClr val="000000"/>
                  </a:solidFill>
                </a:rPr>
                <a:t>X</a:t>
              </a:r>
              <a:r>
                <a:rPr lang="en-US" sz="1400">
                  <a:solidFill>
                    <a:srgbClr val="000000"/>
                  </a:solidFill>
                </a:rPr>
                <a:t> - (</a:t>
              </a:r>
              <a:r>
                <a:rPr lang="en-US" sz="1400" i="1">
                  <a:solidFill>
                    <a:srgbClr val="000000"/>
                  </a:solidFill>
                </a:rPr>
                <a:t>t</a:t>
              </a:r>
              <a:r>
                <a:rPr lang="en-US" sz="1400" i="1" baseline="-25000">
                  <a:solidFill>
                    <a:srgbClr val="000000"/>
                  </a:solidFill>
                </a:rPr>
                <a:t>a</a:t>
              </a:r>
              <a:r>
                <a:rPr lang="en-US" sz="1400">
                  <a:solidFill>
                    <a:srgbClr val="000000"/>
                  </a:solidFill>
                </a:rPr>
                <a:t>  - </a:t>
              </a:r>
              <a:r>
                <a:rPr lang="en-US" sz="1400" i="1">
                  <a:solidFill>
                    <a:srgbClr val="000000"/>
                  </a:solidFill>
                </a:rPr>
                <a:t>LCT</a:t>
              </a:r>
              <a:r>
                <a:rPr lang="en-US" sz="1400">
                  <a:solidFill>
                    <a:srgbClr val="000000"/>
                  </a:solidFill>
                </a:rPr>
                <a:t>)</a:t>
              </a:r>
            </a:p>
          </p:txBody>
        </p:sp>
        <p:sp>
          <p:nvSpPr>
            <p:cNvPr id="117783" name="Rectangle 12"/>
            <p:cNvSpPr>
              <a:spLocks noChangeArrowheads="1"/>
            </p:cNvSpPr>
            <p:nvPr/>
          </p:nvSpPr>
          <p:spPr bwMode="auto">
            <a:xfrm>
              <a:off x="2193" y="1744"/>
              <a:ext cx="351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 i="1">
                  <a:solidFill>
                    <a:srgbClr val="000000"/>
                  </a:solidFill>
                </a:rPr>
                <a:t>X’</a:t>
              </a:r>
              <a:r>
                <a:rPr lang="en-US" sz="1400">
                  <a:solidFill>
                    <a:srgbClr val="000000"/>
                  </a:solidFill>
                </a:rPr>
                <a:t> &lt; 0?</a:t>
              </a:r>
              <a:endParaRPr lang="en-US"/>
            </a:p>
          </p:txBody>
        </p:sp>
        <p:sp>
          <p:nvSpPr>
            <p:cNvPr id="117784" name="Rectangle 13"/>
            <p:cNvSpPr>
              <a:spLocks noChangeArrowheads="1"/>
            </p:cNvSpPr>
            <p:nvPr/>
          </p:nvSpPr>
          <p:spPr bwMode="auto">
            <a:xfrm>
              <a:off x="2194" y="2662"/>
              <a:ext cx="351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 i="1">
                  <a:solidFill>
                    <a:srgbClr val="000000"/>
                  </a:solidFill>
                </a:rPr>
                <a:t>X’</a:t>
              </a:r>
              <a:r>
                <a:rPr lang="en-US" sz="1400">
                  <a:solidFill>
                    <a:srgbClr val="000000"/>
                  </a:solidFill>
                </a:rPr>
                <a:t> &gt; </a:t>
              </a:r>
              <a:r>
                <a:rPr lang="en-US" sz="1400" i="1">
                  <a:solidFill>
                    <a:srgbClr val="000000"/>
                  </a:solidFill>
                </a:rPr>
                <a:t>L</a:t>
              </a:r>
              <a:r>
                <a:rPr lang="en-US" sz="1400">
                  <a:solidFill>
                    <a:srgbClr val="000000"/>
                  </a:solidFill>
                </a:rPr>
                <a:t>?</a:t>
              </a:r>
              <a:endParaRPr lang="en-US"/>
            </a:p>
          </p:txBody>
        </p:sp>
        <p:sp>
          <p:nvSpPr>
            <p:cNvPr id="117785" name="Rectangle 14"/>
            <p:cNvSpPr>
              <a:spLocks noChangeArrowheads="1"/>
            </p:cNvSpPr>
            <p:nvPr/>
          </p:nvSpPr>
          <p:spPr bwMode="auto">
            <a:xfrm>
              <a:off x="2140" y="3407"/>
              <a:ext cx="460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 i="1">
                  <a:solidFill>
                    <a:srgbClr val="000000"/>
                  </a:solidFill>
                </a:rPr>
                <a:t>X</a:t>
              </a:r>
              <a:r>
                <a:rPr lang="en-US" sz="1400">
                  <a:solidFill>
                    <a:srgbClr val="000000"/>
                  </a:solidFill>
                </a:rPr>
                <a:t> = </a:t>
              </a:r>
              <a:r>
                <a:rPr lang="en-US" sz="1400" i="1">
                  <a:solidFill>
                    <a:srgbClr val="000000"/>
                  </a:solidFill>
                </a:rPr>
                <a:t>X’</a:t>
              </a:r>
              <a:r>
                <a:rPr lang="en-US" sz="1400">
                  <a:solidFill>
                    <a:srgbClr val="000000"/>
                  </a:solidFill>
                </a:rPr>
                <a:t> + </a:t>
              </a:r>
              <a:r>
                <a:rPr lang="en-US" sz="1400" i="1">
                  <a:solidFill>
                    <a:srgbClr val="000000"/>
                  </a:solidFill>
                </a:rPr>
                <a:t>I</a:t>
              </a:r>
              <a:endParaRPr lang="en-US"/>
            </a:p>
          </p:txBody>
        </p:sp>
        <p:sp>
          <p:nvSpPr>
            <p:cNvPr id="117786" name="Rectangle 15"/>
            <p:cNvSpPr>
              <a:spLocks noChangeArrowheads="1"/>
            </p:cNvSpPr>
            <p:nvPr/>
          </p:nvSpPr>
          <p:spPr bwMode="auto">
            <a:xfrm>
              <a:off x="2150" y="3544"/>
              <a:ext cx="440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 i="1">
                  <a:solidFill>
                    <a:srgbClr val="000000"/>
                  </a:solidFill>
                </a:rPr>
                <a:t>LCT</a:t>
              </a:r>
              <a:r>
                <a:rPr lang="en-US" sz="1400">
                  <a:solidFill>
                    <a:srgbClr val="000000"/>
                  </a:solidFill>
                </a:rPr>
                <a:t> = </a:t>
              </a:r>
              <a:r>
                <a:rPr lang="en-US" sz="1400" i="1">
                  <a:solidFill>
                    <a:srgbClr val="000000"/>
                  </a:solidFill>
                </a:rPr>
                <a:t>t</a:t>
              </a:r>
              <a:r>
                <a:rPr lang="en-US" sz="1400" i="1" baseline="-25000">
                  <a:solidFill>
                    <a:srgbClr val="000000"/>
                  </a:solidFill>
                </a:rPr>
                <a:t>a</a:t>
              </a:r>
              <a:r>
                <a:rPr lang="en-US" sz="1400">
                  <a:solidFill>
                    <a:srgbClr val="000000"/>
                  </a:solidFill>
                </a:rPr>
                <a:t> </a:t>
              </a:r>
            </a:p>
          </p:txBody>
        </p:sp>
        <p:sp>
          <p:nvSpPr>
            <p:cNvPr id="117787" name="Rectangle 16"/>
            <p:cNvSpPr>
              <a:spLocks noChangeArrowheads="1"/>
            </p:cNvSpPr>
            <p:nvPr/>
          </p:nvSpPr>
          <p:spPr bwMode="auto">
            <a:xfrm>
              <a:off x="1927" y="3680"/>
              <a:ext cx="912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>
                  <a:solidFill>
                    <a:srgbClr val="000000"/>
                  </a:solidFill>
                </a:rPr>
                <a:t>conforming packet</a:t>
              </a:r>
              <a:endParaRPr lang="en-US"/>
            </a:p>
          </p:txBody>
        </p:sp>
        <p:sp>
          <p:nvSpPr>
            <p:cNvPr id="117788" name="Line 17"/>
            <p:cNvSpPr>
              <a:spLocks noChangeShapeType="1"/>
            </p:cNvSpPr>
            <p:nvPr/>
          </p:nvSpPr>
          <p:spPr bwMode="auto">
            <a:xfrm flipV="1">
              <a:off x="2326" y="1199"/>
              <a:ext cx="1" cy="23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7789" name="Freeform 18"/>
            <p:cNvSpPr>
              <a:spLocks/>
            </p:cNvSpPr>
            <p:nvPr/>
          </p:nvSpPr>
          <p:spPr bwMode="auto">
            <a:xfrm>
              <a:off x="2295" y="1412"/>
              <a:ext cx="62" cy="71"/>
            </a:xfrm>
            <a:custGeom>
              <a:avLst/>
              <a:gdLst>
                <a:gd name="T0" fmla="*/ 0 w 62"/>
                <a:gd name="T1" fmla="*/ 0 h 71"/>
                <a:gd name="T2" fmla="*/ 31 w 62"/>
                <a:gd name="T3" fmla="*/ 11 h 71"/>
                <a:gd name="T4" fmla="*/ 62 w 62"/>
                <a:gd name="T5" fmla="*/ 0 h 71"/>
                <a:gd name="T6" fmla="*/ 31 w 62"/>
                <a:gd name="T7" fmla="*/ 71 h 71"/>
                <a:gd name="T8" fmla="*/ 0 w 62"/>
                <a:gd name="T9" fmla="*/ 0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"/>
                <a:gd name="T16" fmla="*/ 0 h 71"/>
                <a:gd name="T17" fmla="*/ 62 w 62"/>
                <a:gd name="T18" fmla="*/ 71 h 7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" h="71">
                  <a:moveTo>
                    <a:pt x="0" y="0"/>
                  </a:moveTo>
                  <a:lnTo>
                    <a:pt x="31" y="11"/>
                  </a:lnTo>
                  <a:lnTo>
                    <a:pt x="62" y="0"/>
                  </a:lnTo>
                  <a:lnTo>
                    <a:pt x="31" y="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790" name="Line 19"/>
            <p:cNvSpPr>
              <a:spLocks noChangeShapeType="1"/>
            </p:cNvSpPr>
            <p:nvPr/>
          </p:nvSpPr>
          <p:spPr bwMode="auto">
            <a:xfrm flipV="1">
              <a:off x="2326" y="745"/>
              <a:ext cx="1" cy="138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7791" name="Freeform 20"/>
            <p:cNvSpPr>
              <a:spLocks/>
            </p:cNvSpPr>
            <p:nvPr/>
          </p:nvSpPr>
          <p:spPr bwMode="auto">
            <a:xfrm>
              <a:off x="2295" y="863"/>
              <a:ext cx="62" cy="71"/>
            </a:xfrm>
            <a:custGeom>
              <a:avLst/>
              <a:gdLst>
                <a:gd name="T0" fmla="*/ 0 w 62"/>
                <a:gd name="T1" fmla="*/ 0 h 71"/>
                <a:gd name="T2" fmla="*/ 31 w 62"/>
                <a:gd name="T3" fmla="*/ 11 h 71"/>
                <a:gd name="T4" fmla="*/ 62 w 62"/>
                <a:gd name="T5" fmla="*/ 0 h 71"/>
                <a:gd name="T6" fmla="*/ 31 w 62"/>
                <a:gd name="T7" fmla="*/ 71 h 71"/>
                <a:gd name="T8" fmla="*/ 0 w 62"/>
                <a:gd name="T9" fmla="*/ 0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"/>
                <a:gd name="T16" fmla="*/ 0 h 71"/>
                <a:gd name="T17" fmla="*/ 62 w 62"/>
                <a:gd name="T18" fmla="*/ 71 h 7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" h="71">
                  <a:moveTo>
                    <a:pt x="0" y="0"/>
                  </a:moveTo>
                  <a:lnTo>
                    <a:pt x="31" y="11"/>
                  </a:lnTo>
                  <a:lnTo>
                    <a:pt x="62" y="0"/>
                  </a:lnTo>
                  <a:lnTo>
                    <a:pt x="31" y="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792" name="Line 21"/>
            <p:cNvSpPr>
              <a:spLocks noChangeShapeType="1"/>
            </p:cNvSpPr>
            <p:nvPr/>
          </p:nvSpPr>
          <p:spPr bwMode="auto">
            <a:xfrm flipV="1">
              <a:off x="2326" y="2127"/>
              <a:ext cx="1" cy="25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7793" name="Freeform 22"/>
            <p:cNvSpPr>
              <a:spLocks/>
            </p:cNvSpPr>
            <p:nvPr/>
          </p:nvSpPr>
          <p:spPr bwMode="auto">
            <a:xfrm>
              <a:off x="2295" y="2358"/>
              <a:ext cx="62" cy="71"/>
            </a:xfrm>
            <a:custGeom>
              <a:avLst/>
              <a:gdLst>
                <a:gd name="T0" fmla="*/ 0 w 62"/>
                <a:gd name="T1" fmla="*/ 0 h 71"/>
                <a:gd name="T2" fmla="*/ 31 w 62"/>
                <a:gd name="T3" fmla="*/ 11 h 71"/>
                <a:gd name="T4" fmla="*/ 62 w 62"/>
                <a:gd name="T5" fmla="*/ 0 h 71"/>
                <a:gd name="T6" fmla="*/ 31 w 62"/>
                <a:gd name="T7" fmla="*/ 71 h 71"/>
                <a:gd name="T8" fmla="*/ 0 w 62"/>
                <a:gd name="T9" fmla="*/ 0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"/>
                <a:gd name="T16" fmla="*/ 0 h 71"/>
                <a:gd name="T17" fmla="*/ 62 w 62"/>
                <a:gd name="T18" fmla="*/ 71 h 7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" h="71">
                  <a:moveTo>
                    <a:pt x="0" y="0"/>
                  </a:moveTo>
                  <a:lnTo>
                    <a:pt x="31" y="11"/>
                  </a:lnTo>
                  <a:lnTo>
                    <a:pt x="62" y="0"/>
                  </a:lnTo>
                  <a:lnTo>
                    <a:pt x="31" y="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794" name="Line 23"/>
            <p:cNvSpPr>
              <a:spLocks noChangeShapeType="1"/>
            </p:cNvSpPr>
            <p:nvPr/>
          </p:nvSpPr>
          <p:spPr bwMode="auto">
            <a:xfrm flipV="1">
              <a:off x="2326" y="3054"/>
              <a:ext cx="1" cy="23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7795" name="Freeform 24"/>
            <p:cNvSpPr>
              <a:spLocks/>
            </p:cNvSpPr>
            <p:nvPr/>
          </p:nvSpPr>
          <p:spPr bwMode="auto">
            <a:xfrm>
              <a:off x="2295" y="3267"/>
              <a:ext cx="62" cy="71"/>
            </a:xfrm>
            <a:custGeom>
              <a:avLst/>
              <a:gdLst>
                <a:gd name="T0" fmla="*/ 0 w 62"/>
                <a:gd name="T1" fmla="*/ 0 h 71"/>
                <a:gd name="T2" fmla="*/ 31 w 62"/>
                <a:gd name="T3" fmla="*/ 10 h 71"/>
                <a:gd name="T4" fmla="*/ 62 w 62"/>
                <a:gd name="T5" fmla="*/ 0 h 71"/>
                <a:gd name="T6" fmla="*/ 31 w 62"/>
                <a:gd name="T7" fmla="*/ 71 h 71"/>
                <a:gd name="T8" fmla="*/ 0 w 62"/>
                <a:gd name="T9" fmla="*/ 0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"/>
                <a:gd name="T16" fmla="*/ 0 h 71"/>
                <a:gd name="T17" fmla="*/ 62 w 62"/>
                <a:gd name="T18" fmla="*/ 71 h 7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" h="71">
                  <a:moveTo>
                    <a:pt x="0" y="0"/>
                  </a:moveTo>
                  <a:lnTo>
                    <a:pt x="31" y="10"/>
                  </a:lnTo>
                  <a:lnTo>
                    <a:pt x="62" y="0"/>
                  </a:lnTo>
                  <a:lnTo>
                    <a:pt x="31" y="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796" name="Rectangle 25"/>
            <p:cNvSpPr>
              <a:spLocks noChangeArrowheads="1"/>
            </p:cNvSpPr>
            <p:nvPr/>
          </p:nvSpPr>
          <p:spPr bwMode="auto">
            <a:xfrm>
              <a:off x="3215" y="2223"/>
              <a:ext cx="289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 i="1">
                  <a:solidFill>
                    <a:srgbClr val="000000"/>
                  </a:solidFill>
                </a:rPr>
                <a:t>X’</a:t>
              </a:r>
              <a:r>
                <a:rPr lang="en-US" sz="1400">
                  <a:solidFill>
                    <a:srgbClr val="000000"/>
                  </a:solidFill>
                </a:rPr>
                <a:t> = 0</a:t>
              </a:r>
              <a:endParaRPr lang="en-US"/>
            </a:p>
          </p:txBody>
        </p:sp>
        <p:sp>
          <p:nvSpPr>
            <p:cNvPr id="117797" name="Rectangle 26"/>
            <p:cNvSpPr>
              <a:spLocks noChangeArrowheads="1"/>
            </p:cNvSpPr>
            <p:nvPr/>
          </p:nvSpPr>
          <p:spPr bwMode="auto">
            <a:xfrm>
              <a:off x="905" y="2595"/>
              <a:ext cx="757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>
                  <a:solidFill>
                    <a:srgbClr val="000000"/>
                  </a:solidFill>
                </a:rPr>
                <a:t>Nonconforming</a:t>
              </a:r>
              <a:endParaRPr lang="en-US"/>
            </a:p>
          </p:txBody>
        </p:sp>
        <p:sp>
          <p:nvSpPr>
            <p:cNvPr id="117798" name="Rectangle 27"/>
            <p:cNvSpPr>
              <a:spLocks noChangeArrowheads="1"/>
            </p:cNvSpPr>
            <p:nvPr/>
          </p:nvSpPr>
          <p:spPr bwMode="auto">
            <a:xfrm>
              <a:off x="1105" y="2731"/>
              <a:ext cx="329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>
                  <a:solidFill>
                    <a:srgbClr val="000000"/>
                  </a:solidFill>
                </a:rPr>
                <a:t>packet</a:t>
              </a:r>
              <a:endParaRPr lang="en-US"/>
            </a:p>
          </p:txBody>
        </p:sp>
        <p:sp>
          <p:nvSpPr>
            <p:cNvPr id="117799" name="Line 28"/>
            <p:cNvSpPr>
              <a:spLocks noChangeShapeType="1"/>
            </p:cNvSpPr>
            <p:nvPr/>
          </p:nvSpPr>
          <p:spPr bwMode="auto">
            <a:xfrm flipH="1">
              <a:off x="1765" y="2723"/>
              <a:ext cx="242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7800" name="Freeform 29"/>
            <p:cNvSpPr>
              <a:spLocks/>
            </p:cNvSpPr>
            <p:nvPr/>
          </p:nvSpPr>
          <p:spPr bwMode="auto">
            <a:xfrm>
              <a:off x="1712" y="2692"/>
              <a:ext cx="71" cy="61"/>
            </a:xfrm>
            <a:custGeom>
              <a:avLst/>
              <a:gdLst>
                <a:gd name="T0" fmla="*/ 71 w 71"/>
                <a:gd name="T1" fmla="*/ 0 h 61"/>
                <a:gd name="T2" fmla="*/ 60 w 71"/>
                <a:gd name="T3" fmla="*/ 31 h 61"/>
                <a:gd name="T4" fmla="*/ 71 w 71"/>
                <a:gd name="T5" fmla="*/ 61 h 61"/>
                <a:gd name="T6" fmla="*/ 0 w 71"/>
                <a:gd name="T7" fmla="*/ 31 h 61"/>
                <a:gd name="T8" fmla="*/ 71 w 71"/>
                <a:gd name="T9" fmla="*/ 0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"/>
                <a:gd name="T16" fmla="*/ 0 h 61"/>
                <a:gd name="T17" fmla="*/ 71 w 71"/>
                <a:gd name="T18" fmla="*/ 61 h 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" h="61">
                  <a:moveTo>
                    <a:pt x="71" y="0"/>
                  </a:moveTo>
                  <a:lnTo>
                    <a:pt x="60" y="31"/>
                  </a:lnTo>
                  <a:lnTo>
                    <a:pt x="71" y="61"/>
                  </a:lnTo>
                  <a:lnTo>
                    <a:pt x="0" y="31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801" name="Freeform 30"/>
            <p:cNvSpPr>
              <a:spLocks/>
            </p:cNvSpPr>
            <p:nvPr/>
          </p:nvSpPr>
          <p:spPr bwMode="auto">
            <a:xfrm>
              <a:off x="2657" y="1814"/>
              <a:ext cx="651" cy="269"/>
            </a:xfrm>
            <a:custGeom>
              <a:avLst/>
              <a:gdLst>
                <a:gd name="T0" fmla="*/ 0 w 651"/>
                <a:gd name="T1" fmla="*/ 0 h 269"/>
                <a:gd name="T2" fmla="*/ 651 w 651"/>
                <a:gd name="T3" fmla="*/ 0 h 269"/>
                <a:gd name="T4" fmla="*/ 651 w 651"/>
                <a:gd name="T5" fmla="*/ 269 h 269"/>
                <a:gd name="T6" fmla="*/ 0 60000 65536"/>
                <a:gd name="T7" fmla="*/ 0 60000 65536"/>
                <a:gd name="T8" fmla="*/ 0 60000 65536"/>
                <a:gd name="T9" fmla="*/ 0 w 651"/>
                <a:gd name="T10" fmla="*/ 0 h 269"/>
                <a:gd name="T11" fmla="*/ 651 w 651"/>
                <a:gd name="T12" fmla="*/ 269 h 2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51" h="269">
                  <a:moveTo>
                    <a:pt x="0" y="0"/>
                  </a:moveTo>
                  <a:lnTo>
                    <a:pt x="651" y="0"/>
                  </a:lnTo>
                  <a:lnTo>
                    <a:pt x="651" y="269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802" name="Freeform 31"/>
            <p:cNvSpPr>
              <a:spLocks/>
            </p:cNvSpPr>
            <p:nvPr/>
          </p:nvSpPr>
          <p:spPr bwMode="auto">
            <a:xfrm>
              <a:off x="3278" y="2065"/>
              <a:ext cx="61" cy="71"/>
            </a:xfrm>
            <a:custGeom>
              <a:avLst/>
              <a:gdLst>
                <a:gd name="T0" fmla="*/ 0 w 61"/>
                <a:gd name="T1" fmla="*/ 0 h 71"/>
                <a:gd name="T2" fmla="*/ 30 w 61"/>
                <a:gd name="T3" fmla="*/ 11 h 71"/>
                <a:gd name="T4" fmla="*/ 61 w 61"/>
                <a:gd name="T5" fmla="*/ 0 h 71"/>
                <a:gd name="T6" fmla="*/ 30 w 61"/>
                <a:gd name="T7" fmla="*/ 71 h 71"/>
                <a:gd name="T8" fmla="*/ 0 w 61"/>
                <a:gd name="T9" fmla="*/ 0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1"/>
                <a:gd name="T16" fmla="*/ 0 h 71"/>
                <a:gd name="T17" fmla="*/ 61 w 61"/>
                <a:gd name="T18" fmla="*/ 71 h 7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1" h="71">
                  <a:moveTo>
                    <a:pt x="0" y="0"/>
                  </a:moveTo>
                  <a:lnTo>
                    <a:pt x="30" y="11"/>
                  </a:lnTo>
                  <a:lnTo>
                    <a:pt x="61" y="0"/>
                  </a:lnTo>
                  <a:lnTo>
                    <a:pt x="30" y="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803" name="Freeform 32"/>
            <p:cNvSpPr>
              <a:spLocks/>
            </p:cNvSpPr>
            <p:nvPr/>
          </p:nvSpPr>
          <p:spPr bwMode="auto">
            <a:xfrm>
              <a:off x="2398" y="2448"/>
              <a:ext cx="920" cy="710"/>
            </a:xfrm>
            <a:custGeom>
              <a:avLst/>
              <a:gdLst>
                <a:gd name="T0" fmla="*/ 920 w 920"/>
                <a:gd name="T1" fmla="*/ 0 h 710"/>
                <a:gd name="T2" fmla="*/ 920 w 920"/>
                <a:gd name="T3" fmla="*/ 122 h 710"/>
                <a:gd name="T4" fmla="*/ 920 w 920"/>
                <a:gd name="T5" fmla="*/ 710 h 710"/>
                <a:gd name="T6" fmla="*/ 0 w 920"/>
                <a:gd name="T7" fmla="*/ 710 h 71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0"/>
                <a:gd name="T13" fmla="*/ 0 h 710"/>
                <a:gd name="T14" fmla="*/ 920 w 920"/>
                <a:gd name="T15" fmla="*/ 710 h 71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0" h="710">
                  <a:moveTo>
                    <a:pt x="920" y="0"/>
                  </a:moveTo>
                  <a:lnTo>
                    <a:pt x="920" y="122"/>
                  </a:lnTo>
                  <a:lnTo>
                    <a:pt x="920" y="710"/>
                  </a:lnTo>
                  <a:lnTo>
                    <a:pt x="0" y="71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804" name="Freeform 33"/>
            <p:cNvSpPr>
              <a:spLocks/>
            </p:cNvSpPr>
            <p:nvPr/>
          </p:nvSpPr>
          <p:spPr bwMode="auto">
            <a:xfrm>
              <a:off x="2345" y="3127"/>
              <a:ext cx="71" cy="62"/>
            </a:xfrm>
            <a:custGeom>
              <a:avLst/>
              <a:gdLst>
                <a:gd name="T0" fmla="*/ 71 w 71"/>
                <a:gd name="T1" fmla="*/ 0 h 62"/>
                <a:gd name="T2" fmla="*/ 60 w 71"/>
                <a:gd name="T3" fmla="*/ 31 h 62"/>
                <a:gd name="T4" fmla="*/ 71 w 71"/>
                <a:gd name="T5" fmla="*/ 62 h 62"/>
                <a:gd name="T6" fmla="*/ 0 w 71"/>
                <a:gd name="T7" fmla="*/ 31 h 62"/>
                <a:gd name="T8" fmla="*/ 71 w 71"/>
                <a:gd name="T9" fmla="*/ 0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"/>
                <a:gd name="T16" fmla="*/ 0 h 62"/>
                <a:gd name="T17" fmla="*/ 71 w 71"/>
                <a:gd name="T18" fmla="*/ 62 h 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" h="62">
                  <a:moveTo>
                    <a:pt x="71" y="0"/>
                  </a:moveTo>
                  <a:lnTo>
                    <a:pt x="60" y="31"/>
                  </a:lnTo>
                  <a:lnTo>
                    <a:pt x="71" y="62"/>
                  </a:lnTo>
                  <a:lnTo>
                    <a:pt x="0" y="31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805" name="Rectangle 34"/>
            <p:cNvSpPr>
              <a:spLocks noChangeArrowheads="1"/>
            </p:cNvSpPr>
            <p:nvPr/>
          </p:nvSpPr>
          <p:spPr bwMode="auto">
            <a:xfrm>
              <a:off x="3089" y="3424"/>
              <a:ext cx="1865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 i="1">
                  <a:solidFill>
                    <a:srgbClr val="000000"/>
                  </a:solidFill>
                </a:rPr>
                <a:t>X</a:t>
              </a:r>
              <a:r>
                <a:rPr lang="en-US" sz="1400">
                  <a:solidFill>
                    <a:srgbClr val="000000"/>
                  </a:solidFill>
                </a:rPr>
                <a:t> =  value of the leaky bucket counter</a:t>
              </a:r>
              <a:endParaRPr lang="en-US"/>
            </a:p>
          </p:txBody>
        </p:sp>
        <p:sp>
          <p:nvSpPr>
            <p:cNvPr id="117806" name="Rectangle 35"/>
            <p:cNvSpPr>
              <a:spLocks noChangeArrowheads="1"/>
            </p:cNvSpPr>
            <p:nvPr/>
          </p:nvSpPr>
          <p:spPr bwMode="auto">
            <a:xfrm>
              <a:off x="3143" y="3560"/>
              <a:ext cx="1090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 i="1">
                  <a:solidFill>
                    <a:srgbClr val="000000"/>
                  </a:solidFill>
                </a:rPr>
                <a:t>X’</a:t>
              </a:r>
              <a:r>
                <a:rPr lang="en-US" sz="1400">
                  <a:solidFill>
                    <a:srgbClr val="000000"/>
                  </a:solidFill>
                </a:rPr>
                <a:t> =  auxiliary variable</a:t>
              </a:r>
              <a:endParaRPr lang="en-US"/>
            </a:p>
          </p:txBody>
        </p:sp>
        <p:sp>
          <p:nvSpPr>
            <p:cNvPr id="117807" name="Rectangle 36"/>
            <p:cNvSpPr>
              <a:spLocks noChangeArrowheads="1"/>
            </p:cNvSpPr>
            <p:nvPr/>
          </p:nvSpPr>
          <p:spPr bwMode="auto">
            <a:xfrm>
              <a:off x="3110" y="3696"/>
              <a:ext cx="1430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 i="1">
                  <a:solidFill>
                    <a:srgbClr val="000000"/>
                  </a:solidFill>
                </a:rPr>
                <a:t>LCT</a:t>
              </a:r>
              <a:r>
                <a:rPr lang="en-US" sz="1400">
                  <a:solidFill>
                    <a:srgbClr val="000000"/>
                  </a:solidFill>
                </a:rPr>
                <a:t> = last conformance time</a:t>
              </a:r>
              <a:endParaRPr lang="en-US"/>
            </a:p>
          </p:txBody>
        </p:sp>
        <p:sp>
          <p:nvSpPr>
            <p:cNvPr id="117808" name="Rectangle 37"/>
            <p:cNvSpPr>
              <a:spLocks noChangeArrowheads="1"/>
            </p:cNvSpPr>
            <p:nvPr/>
          </p:nvSpPr>
          <p:spPr bwMode="auto">
            <a:xfrm>
              <a:off x="2795" y="1677"/>
              <a:ext cx="193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>
                  <a:solidFill>
                    <a:srgbClr val="000000"/>
                  </a:solidFill>
                </a:rPr>
                <a:t>Yes</a:t>
              </a:r>
              <a:endParaRPr lang="en-US"/>
            </a:p>
          </p:txBody>
        </p:sp>
        <p:sp>
          <p:nvSpPr>
            <p:cNvPr id="117809" name="Rectangle 38"/>
            <p:cNvSpPr>
              <a:spLocks noChangeArrowheads="1"/>
            </p:cNvSpPr>
            <p:nvPr/>
          </p:nvSpPr>
          <p:spPr bwMode="auto">
            <a:xfrm>
              <a:off x="2414" y="2183"/>
              <a:ext cx="143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>
                  <a:solidFill>
                    <a:srgbClr val="000000"/>
                  </a:solidFill>
                </a:rPr>
                <a:t>No</a:t>
              </a:r>
              <a:endParaRPr lang="en-US"/>
            </a:p>
          </p:txBody>
        </p:sp>
        <p:sp>
          <p:nvSpPr>
            <p:cNvPr id="117810" name="Rectangle 39"/>
            <p:cNvSpPr>
              <a:spLocks noChangeArrowheads="1"/>
            </p:cNvSpPr>
            <p:nvPr/>
          </p:nvSpPr>
          <p:spPr bwMode="auto">
            <a:xfrm>
              <a:off x="1818" y="2549"/>
              <a:ext cx="193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>
                  <a:solidFill>
                    <a:srgbClr val="000000"/>
                  </a:solidFill>
                </a:rPr>
                <a:t>Yes</a:t>
              </a:r>
              <a:endParaRPr lang="en-US"/>
            </a:p>
          </p:txBody>
        </p:sp>
        <p:sp>
          <p:nvSpPr>
            <p:cNvPr id="117811" name="Rectangle 40"/>
            <p:cNvSpPr>
              <a:spLocks noChangeArrowheads="1"/>
            </p:cNvSpPr>
            <p:nvPr/>
          </p:nvSpPr>
          <p:spPr bwMode="auto">
            <a:xfrm>
              <a:off x="2168" y="3096"/>
              <a:ext cx="143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>
                  <a:solidFill>
                    <a:srgbClr val="000000"/>
                  </a:solidFill>
                </a:rPr>
                <a:t>No</a:t>
              </a:r>
              <a:endParaRPr lang="en-US"/>
            </a:p>
          </p:txBody>
        </p:sp>
        <p:sp>
          <p:nvSpPr>
            <p:cNvPr id="117812" name="Freeform 41"/>
            <p:cNvSpPr>
              <a:spLocks/>
            </p:cNvSpPr>
            <p:nvPr/>
          </p:nvSpPr>
          <p:spPr bwMode="auto">
            <a:xfrm>
              <a:off x="711" y="612"/>
              <a:ext cx="806" cy="2130"/>
            </a:xfrm>
            <a:custGeom>
              <a:avLst/>
              <a:gdLst>
                <a:gd name="T0" fmla="*/ 123 w 806"/>
                <a:gd name="T1" fmla="*/ 2130 h 2130"/>
                <a:gd name="T2" fmla="*/ 0 w 806"/>
                <a:gd name="T3" fmla="*/ 2130 h 2130"/>
                <a:gd name="T4" fmla="*/ 0 w 806"/>
                <a:gd name="T5" fmla="*/ 0 h 2130"/>
                <a:gd name="T6" fmla="*/ 806 w 806"/>
                <a:gd name="T7" fmla="*/ 0 h 21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06"/>
                <a:gd name="T13" fmla="*/ 0 h 2130"/>
                <a:gd name="T14" fmla="*/ 806 w 806"/>
                <a:gd name="T15" fmla="*/ 2130 h 21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06" h="2130">
                  <a:moveTo>
                    <a:pt x="123" y="2130"/>
                  </a:moveTo>
                  <a:lnTo>
                    <a:pt x="0" y="2130"/>
                  </a:lnTo>
                  <a:lnTo>
                    <a:pt x="0" y="0"/>
                  </a:lnTo>
                  <a:lnTo>
                    <a:pt x="806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813" name="Freeform 42"/>
            <p:cNvSpPr>
              <a:spLocks/>
            </p:cNvSpPr>
            <p:nvPr/>
          </p:nvSpPr>
          <p:spPr bwMode="auto">
            <a:xfrm>
              <a:off x="1500" y="582"/>
              <a:ext cx="71" cy="61"/>
            </a:xfrm>
            <a:custGeom>
              <a:avLst/>
              <a:gdLst>
                <a:gd name="T0" fmla="*/ 0 w 71"/>
                <a:gd name="T1" fmla="*/ 61 h 61"/>
                <a:gd name="T2" fmla="*/ 10 w 71"/>
                <a:gd name="T3" fmla="*/ 30 h 61"/>
                <a:gd name="T4" fmla="*/ 0 w 71"/>
                <a:gd name="T5" fmla="*/ 0 h 61"/>
                <a:gd name="T6" fmla="*/ 71 w 71"/>
                <a:gd name="T7" fmla="*/ 30 h 61"/>
                <a:gd name="T8" fmla="*/ 0 w 71"/>
                <a:gd name="T9" fmla="*/ 61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"/>
                <a:gd name="T16" fmla="*/ 0 h 61"/>
                <a:gd name="T17" fmla="*/ 71 w 71"/>
                <a:gd name="T18" fmla="*/ 61 h 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" h="61">
                  <a:moveTo>
                    <a:pt x="0" y="61"/>
                  </a:moveTo>
                  <a:lnTo>
                    <a:pt x="10" y="30"/>
                  </a:lnTo>
                  <a:lnTo>
                    <a:pt x="0" y="0"/>
                  </a:lnTo>
                  <a:lnTo>
                    <a:pt x="71" y="30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814" name="Freeform 43"/>
            <p:cNvSpPr>
              <a:spLocks/>
            </p:cNvSpPr>
            <p:nvPr/>
          </p:nvSpPr>
          <p:spPr bwMode="auto">
            <a:xfrm>
              <a:off x="711" y="2742"/>
              <a:ext cx="1615" cy="1315"/>
            </a:xfrm>
            <a:custGeom>
              <a:avLst/>
              <a:gdLst>
                <a:gd name="T0" fmla="*/ 1615 w 1615"/>
                <a:gd name="T1" fmla="*/ 1164 h 1315"/>
                <a:gd name="T2" fmla="*/ 1615 w 1615"/>
                <a:gd name="T3" fmla="*/ 1315 h 1315"/>
                <a:gd name="T4" fmla="*/ 0 w 1615"/>
                <a:gd name="T5" fmla="*/ 1315 h 1315"/>
                <a:gd name="T6" fmla="*/ 0 w 1615"/>
                <a:gd name="T7" fmla="*/ 1287 h 1315"/>
                <a:gd name="T8" fmla="*/ 0 w 1615"/>
                <a:gd name="T9" fmla="*/ 0 h 13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15"/>
                <a:gd name="T16" fmla="*/ 0 h 1315"/>
                <a:gd name="T17" fmla="*/ 1615 w 1615"/>
                <a:gd name="T18" fmla="*/ 1315 h 131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15" h="1315">
                  <a:moveTo>
                    <a:pt x="1615" y="1164"/>
                  </a:moveTo>
                  <a:lnTo>
                    <a:pt x="1615" y="1315"/>
                  </a:lnTo>
                  <a:lnTo>
                    <a:pt x="0" y="1315"/>
                  </a:lnTo>
                  <a:lnTo>
                    <a:pt x="0" y="1287"/>
                  </a:ln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7763" name="Text Box 45"/>
          <p:cNvSpPr txBox="1">
            <a:spLocks noChangeArrowheads="1"/>
          </p:cNvSpPr>
          <p:nvPr/>
        </p:nvSpPr>
        <p:spPr bwMode="auto">
          <a:xfrm>
            <a:off x="6099175" y="1516063"/>
            <a:ext cx="2878138" cy="2014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Depletion rate:  </a:t>
            </a:r>
          </a:p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/>
              <a:t>1 packet per unit time</a:t>
            </a:r>
          </a:p>
          <a:p>
            <a:pPr algn="l" eaLnBrk="0" hangingPunct="0">
              <a:spcBef>
                <a:spcPct val="0"/>
              </a:spcBef>
              <a:buSzTx/>
              <a:buFontTx/>
              <a:buNone/>
            </a:pPr>
            <a:endParaRPr lang="en-US" sz="1800"/>
          </a:p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 i="1"/>
              <a:t>L+I</a:t>
            </a:r>
            <a:r>
              <a:rPr lang="en-US" sz="1800"/>
              <a:t> = Bucket Depth</a:t>
            </a:r>
          </a:p>
          <a:p>
            <a:pPr algn="l" eaLnBrk="0" hangingPunct="0">
              <a:spcBef>
                <a:spcPct val="0"/>
              </a:spcBef>
              <a:buSzTx/>
              <a:buFontTx/>
              <a:buNone/>
            </a:pPr>
            <a:endParaRPr lang="en-US" sz="1800"/>
          </a:p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1800" i="1"/>
              <a:t>I</a:t>
            </a:r>
            <a:r>
              <a:rPr lang="en-US" sz="1800"/>
              <a:t> = increment per arrival, </a:t>
            </a:r>
            <a:r>
              <a:rPr lang="en-US" sz="1800">
                <a:sym typeface="Math B" pitchFamily="2" charset="2"/>
              </a:rPr>
              <a:t> nominal interarrival time</a:t>
            </a:r>
            <a:endParaRPr lang="en-US" sz="1800"/>
          </a:p>
        </p:txBody>
      </p:sp>
      <p:sp>
        <p:nvSpPr>
          <p:cNvPr id="117764" name="Rectangle 48"/>
          <p:cNvSpPr>
            <a:spLocks noGrp="1" noChangeArrowheads="1"/>
          </p:cNvSpPr>
          <p:nvPr>
            <p:ph type="title"/>
          </p:nvPr>
        </p:nvSpPr>
        <p:spPr>
          <a:xfrm>
            <a:off x="439738" y="0"/>
            <a:ext cx="7543800" cy="744538"/>
          </a:xfrm>
        </p:spPr>
        <p:txBody>
          <a:bodyPr/>
          <a:lstStyle/>
          <a:p>
            <a:pPr eaLnBrk="1" hangingPunct="1"/>
            <a:r>
              <a:rPr lang="en-US" sz="3500" smtClean="0"/>
              <a:t>Leaky Bucket Algorithm</a:t>
            </a:r>
          </a:p>
        </p:txBody>
      </p:sp>
      <p:sp>
        <p:nvSpPr>
          <p:cNvPr id="1087537" name="AutoShape 49"/>
          <p:cNvSpPr>
            <a:spLocks/>
          </p:cNvSpPr>
          <p:nvPr/>
        </p:nvSpPr>
        <p:spPr bwMode="auto">
          <a:xfrm rot="-5400000">
            <a:off x="4078288" y="1919288"/>
            <a:ext cx="179387" cy="750887"/>
          </a:xfrm>
          <a:prstGeom prst="leftBrace">
            <a:avLst>
              <a:gd name="adj1" fmla="val 34882"/>
              <a:gd name="adj2" fmla="val 50000"/>
            </a:avLst>
          </a:prstGeom>
          <a:noFill/>
          <a:ln w="190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87539" name="Line 51"/>
          <p:cNvSpPr>
            <a:spLocks noChangeShapeType="1"/>
          </p:cNvSpPr>
          <p:nvPr/>
        </p:nvSpPr>
        <p:spPr bwMode="auto">
          <a:xfrm flipV="1">
            <a:off x="2786063" y="2112963"/>
            <a:ext cx="233362" cy="371475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087541" name="Text Box 53"/>
          <p:cNvSpPr txBox="1">
            <a:spLocks noChangeArrowheads="1"/>
          </p:cNvSpPr>
          <p:nvPr/>
        </p:nvSpPr>
        <p:spPr bwMode="auto">
          <a:xfrm>
            <a:off x="3922713" y="2336800"/>
            <a:ext cx="1931987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 i="1">
                <a:solidFill>
                  <a:srgbClr val="FF3300"/>
                </a:solidFill>
              </a:rPr>
              <a:t>Interarrival time</a:t>
            </a:r>
          </a:p>
        </p:txBody>
      </p:sp>
      <p:sp>
        <p:nvSpPr>
          <p:cNvPr id="1087542" name="Text Box 54"/>
          <p:cNvSpPr txBox="1">
            <a:spLocks noChangeArrowheads="1"/>
          </p:cNvSpPr>
          <p:nvPr/>
        </p:nvSpPr>
        <p:spPr bwMode="auto">
          <a:xfrm>
            <a:off x="1385888" y="2459038"/>
            <a:ext cx="1847850" cy="7620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>
                <a:solidFill>
                  <a:srgbClr val="FF3300"/>
                </a:solidFill>
              </a:rPr>
              <a:t>Current bucket</a:t>
            </a:r>
          </a:p>
          <a:p>
            <a:pPr>
              <a:buClr>
                <a:schemeClr val="bg1"/>
              </a:buClr>
            </a:pPr>
            <a:r>
              <a:rPr lang="en-US">
                <a:solidFill>
                  <a:srgbClr val="FF3300"/>
                </a:solidFill>
              </a:rPr>
              <a:t>content</a:t>
            </a:r>
          </a:p>
        </p:txBody>
      </p:sp>
      <p:sp>
        <p:nvSpPr>
          <p:cNvPr id="1087543" name="Text Box 55"/>
          <p:cNvSpPr txBox="1">
            <a:spLocks noChangeArrowheads="1"/>
          </p:cNvSpPr>
          <p:nvPr/>
        </p:nvSpPr>
        <p:spPr bwMode="auto">
          <a:xfrm>
            <a:off x="1046163" y="4891088"/>
            <a:ext cx="1835150" cy="112712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>
                <a:solidFill>
                  <a:srgbClr val="FF3300"/>
                </a:solidFill>
              </a:rPr>
              <a:t>arriving packet</a:t>
            </a:r>
          </a:p>
          <a:p>
            <a:pPr>
              <a:buClr>
                <a:schemeClr val="bg1"/>
              </a:buClr>
            </a:pPr>
            <a:r>
              <a:rPr lang="en-US">
                <a:solidFill>
                  <a:srgbClr val="FF3300"/>
                </a:solidFill>
              </a:rPr>
              <a:t>would cause </a:t>
            </a:r>
          </a:p>
          <a:p>
            <a:pPr>
              <a:buClr>
                <a:schemeClr val="bg1"/>
              </a:buClr>
            </a:pPr>
            <a:r>
              <a:rPr lang="en-US">
                <a:solidFill>
                  <a:srgbClr val="FF3300"/>
                </a:solidFill>
              </a:rPr>
              <a:t>overflow</a:t>
            </a:r>
          </a:p>
        </p:txBody>
      </p:sp>
      <p:sp>
        <p:nvSpPr>
          <p:cNvPr id="1087544" name="Text Box 56"/>
          <p:cNvSpPr txBox="1">
            <a:spLocks noChangeArrowheads="1"/>
          </p:cNvSpPr>
          <p:nvPr/>
        </p:nvSpPr>
        <p:spPr bwMode="auto">
          <a:xfrm>
            <a:off x="5362575" y="4173538"/>
            <a:ext cx="874713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>
                <a:solidFill>
                  <a:srgbClr val="FF3300"/>
                </a:solidFill>
              </a:rPr>
              <a:t>empty</a:t>
            </a:r>
          </a:p>
        </p:txBody>
      </p:sp>
      <p:sp>
        <p:nvSpPr>
          <p:cNvPr id="1087545" name="Text Box 57"/>
          <p:cNvSpPr txBox="1">
            <a:spLocks noChangeArrowheads="1"/>
          </p:cNvSpPr>
          <p:nvPr/>
        </p:nvSpPr>
        <p:spPr bwMode="auto">
          <a:xfrm>
            <a:off x="2190750" y="3644900"/>
            <a:ext cx="1425575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>
                <a:solidFill>
                  <a:srgbClr val="FF3300"/>
                </a:solidFill>
              </a:rPr>
              <a:t>Non-empty</a:t>
            </a:r>
          </a:p>
        </p:txBody>
      </p:sp>
      <p:sp>
        <p:nvSpPr>
          <p:cNvPr id="1087546" name="Text Box 58"/>
          <p:cNvSpPr txBox="1">
            <a:spLocks noChangeArrowheads="1"/>
          </p:cNvSpPr>
          <p:nvPr/>
        </p:nvSpPr>
        <p:spPr bwMode="auto">
          <a:xfrm>
            <a:off x="3692525" y="6461125"/>
            <a:ext cx="2257425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>
                <a:solidFill>
                  <a:srgbClr val="FF3300"/>
                </a:solidFill>
              </a:rPr>
              <a:t>conforming packet</a:t>
            </a:r>
          </a:p>
        </p:txBody>
      </p:sp>
      <p:sp>
        <p:nvSpPr>
          <p:cNvPr id="117773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87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087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087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087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087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087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087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087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7537" grpId="0" animBg="1"/>
      <p:bldP spid="1087539" grpId="0" animBg="1"/>
      <p:bldP spid="1087541" grpId="0"/>
      <p:bldP spid="1087542" grpId="0"/>
      <p:bldP spid="1087543" grpId="0"/>
      <p:bldP spid="1087544" grpId="0"/>
      <p:bldP spid="1087545" grpId="0"/>
      <p:bldP spid="1087546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786" name="Group 2"/>
          <p:cNvGrpSpPr>
            <a:grpSpLocks/>
          </p:cNvGrpSpPr>
          <p:nvPr/>
        </p:nvGrpSpPr>
        <p:grpSpPr bwMode="auto">
          <a:xfrm>
            <a:off x="334963" y="1227138"/>
            <a:ext cx="8424862" cy="4229100"/>
            <a:chOff x="211" y="829"/>
            <a:chExt cx="5307" cy="2664"/>
          </a:xfrm>
        </p:grpSpPr>
        <p:sp>
          <p:nvSpPr>
            <p:cNvPr id="118795" name="Line 3"/>
            <p:cNvSpPr>
              <a:spLocks noChangeShapeType="1"/>
            </p:cNvSpPr>
            <p:nvPr/>
          </p:nvSpPr>
          <p:spPr bwMode="auto">
            <a:xfrm>
              <a:off x="579" y="1394"/>
              <a:ext cx="4883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796" name="Freeform 4"/>
            <p:cNvSpPr>
              <a:spLocks/>
            </p:cNvSpPr>
            <p:nvPr/>
          </p:nvSpPr>
          <p:spPr bwMode="auto">
            <a:xfrm>
              <a:off x="5440" y="1360"/>
              <a:ext cx="78" cy="68"/>
            </a:xfrm>
            <a:custGeom>
              <a:avLst/>
              <a:gdLst>
                <a:gd name="T0" fmla="*/ 0 w 78"/>
                <a:gd name="T1" fmla="*/ 68 h 68"/>
                <a:gd name="T2" fmla="*/ 11 w 78"/>
                <a:gd name="T3" fmla="*/ 34 h 68"/>
                <a:gd name="T4" fmla="*/ 0 w 78"/>
                <a:gd name="T5" fmla="*/ 0 h 68"/>
                <a:gd name="T6" fmla="*/ 78 w 78"/>
                <a:gd name="T7" fmla="*/ 34 h 68"/>
                <a:gd name="T8" fmla="*/ 0 w 78"/>
                <a:gd name="T9" fmla="*/ 68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68"/>
                <a:gd name="T17" fmla="*/ 78 w 78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68">
                  <a:moveTo>
                    <a:pt x="0" y="68"/>
                  </a:moveTo>
                  <a:lnTo>
                    <a:pt x="11" y="34"/>
                  </a:lnTo>
                  <a:lnTo>
                    <a:pt x="0" y="0"/>
                  </a:lnTo>
                  <a:lnTo>
                    <a:pt x="78" y="34"/>
                  </a:lnTo>
                  <a:lnTo>
                    <a:pt x="0" y="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797" name="Line 5"/>
            <p:cNvSpPr>
              <a:spLocks noChangeShapeType="1"/>
            </p:cNvSpPr>
            <p:nvPr/>
          </p:nvSpPr>
          <p:spPr bwMode="auto">
            <a:xfrm>
              <a:off x="704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798" name="Line 6"/>
            <p:cNvSpPr>
              <a:spLocks noChangeShapeType="1"/>
            </p:cNvSpPr>
            <p:nvPr/>
          </p:nvSpPr>
          <p:spPr bwMode="auto">
            <a:xfrm>
              <a:off x="829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799" name="Line 7"/>
            <p:cNvSpPr>
              <a:spLocks noChangeShapeType="1"/>
            </p:cNvSpPr>
            <p:nvPr/>
          </p:nvSpPr>
          <p:spPr bwMode="auto">
            <a:xfrm>
              <a:off x="954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00" name="Line 8"/>
            <p:cNvSpPr>
              <a:spLocks noChangeShapeType="1"/>
            </p:cNvSpPr>
            <p:nvPr/>
          </p:nvSpPr>
          <p:spPr bwMode="auto">
            <a:xfrm>
              <a:off x="1079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01" name="Line 9"/>
            <p:cNvSpPr>
              <a:spLocks noChangeShapeType="1"/>
            </p:cNvSpPr>
            <p:nvPr/>
          </p:nvSpPr>
          <p:spPr bwMode="auto">
            <a:xfrm>
              <a:off x="1204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02" name="Line 10"/>
            <p:cNvSpPr>
              <a:spLocks noChangeShapeType="1"/>
            </p:cNvSpPr>
            <p:nvPr/>
          </p:nvSpPr>
          <p:spPr bwMode="auto">
            <a:xfrm>
              <a:off x="1329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03" name="Line 11"/>
            <p:cNvSpPr>
              <a:spLocks noChangeShapeType="1"/>
            </p:cNvSpPr>
            <p:nvPr/>
          </p:nvSpPr>
          <p:spPr bwMode="auto">
            <a:xfrm>
              <a:off x="1454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04" name="Line 12"/>
            <p:cNvSpPr>
              <a:spLocks noChangeShapeType="1"/>
            </p:cNvSpPr>
            <p:nvPr/>
          </p:nvSpPr>
          <p:spPr bwMode="auto">
            <a:xfrm>
              <a:off x="1579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05" name="Line 13"/>
            <p:cNvSpPr>
              <a:spLocks noChangeShapeType="1"/>
            </p:cNvSpPr>
            <p:nvPr/>
          </p:nvSpPr>
          <p:spPr bwMode="auto">
            <a:xfrm>
              <a:off x="1704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06" name="Line 14"/>
            <p:cNvSpPr>
              <a:spLocks noChangeShapeType="1"/>
            </p:cNvSpPr>
            <p:nvPr/>
          </p:nvSpPr>
          <p:spPr bwMode="auto">
            <a:xfrm>
              <a:off x="1829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07" name="Line 15"/>
            <p:cNvSpPr>
              <a:spLocks noChangeShapeType="1"/>
            </p:cNvSpPr>
            <p:nvPr/>
          </p:nvSpPr>
          <p:spPr bwMode="auto">
            <a:xfrm>
              <a:off x="1954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08" name="Line 16"/>
            <p:cNvSpPr>
              <a:spLocks noChangeShapeType="1"/>
            </p:cNvSpPr>
            <p:nvPr/>
          </p:nvSpPr>
          <p:spPr bwMode="auto">
            <a:xfrm>
              <a:off x="2079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09" name="Line 17"/>
            <p:cNvSpPr>
              <a:spLocks noChangeShapeType="1"/>
            </p:cNvSpPr>
            <p:nvPr/>
          </p:nvSpPr>
          <p:spPr bwMode="auto">
            <a:xfrm>
              <a:off x="2204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10" name="Line 18"/>
            <p:cNvSpPr>
              <a:spLocks noChangeShapeType="1"/>
            </p:cNvSpPr>
            <p:nvPr/>
          </p:nvSpPr>
          <p:spPr bwMode="auto">
            <a:xfrm>
              <a:off x="2329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11" name="Line 19"/>
            <p:cNvSpPr>
              <a:spLocks noChangeShapeType="1"/>
            </p:cNvSpPr>
            <p:nvPr/>
          </p:nvSpPr>
          <p:spPr bwMode="auto">
            <a:xfrm>
              <a:off x="2454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12" name="Line 20"/>
            <p:cNvSpPr>
              <a:spLocks noChangeShapeType="1"/>
            </p:cNvSpPr>
            <p:nvPr/>
          </p:nvSpPr>
          <p:spPr bwMode="auto">
            <a:xfrm>
              <a:off x="2579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13" name="Line 21"/>
            <p:cNvSpPr>
              <a:spLocks noChangeShapeType="1"/>
            </p:cNvSpPr>
            <p:nvPr/>
          </p:nvSpPr>
          <p:spPr bwMode="auto">
            <a:xfrm>
              <a:off x="2704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14" name="Line 22"/>
            <p:cNvSpPr>
              <a:spLocks noChangeShapeType="1"/>
            </p:cNvSpPr>
            <p:nvPr/>
          </p:nvSpPr>
          <p:spPr bwMode="auto">
            <a:xfrm>
              <a:off x="2829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15" name="Line 23"/>
            <p:cNvSpPr>
              <a:spLocks noChangeShapeType="1"/>
            </p:cNvSpPr>
            <p:nvPr/>
          </p:nvSpPr>
          <p:spPr bwMode="auto">
            <a:xfrm>
              <a:off x="2954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16" name="Line 24"/>
            <p:cNvSpPr>
              <a:spLocks noChangeShapeType="1"/>
            </p:cNvSpPr>
            <p:nvPr/>
          </p:nvSpPr>
          <p:spPr bwMode="auto">
            <a:xfrm>
              <a:off x="3079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17" name="Line 25"/>
            <p:cNvSpPr>
              <a:spLocks noChangeShapeType="1"/>
            </p:cNvSpPr>
            <p:nvPr/>
          </p:nvSpPr>
          <p:spPr bwMode="auto">
            <a:xfrm>
              <a:off x="3204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18" name="Line 26"/>
            <p:cNvSpPr>
              <a:spLocks noChangeShapeType="1"/>
            </p:cNvSpPr>
            <p:nvPr/>
          </p:nvSpPr>
          <p:spPr bwMode="auto">
            <a:xfrm>
              <a:off x="3330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19" name="Line 27"/>
            <p:cNvSpPr>
              <a:spLocks noChangeShapeType="1"/>
            </p:cNvSpPr>
            <p:nvPr/>
          </p:nvSpPr>
          <p:spPr bwMode="auto">
            <a:xfrm>
              <a:off x="3455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20" name="Line 28"/>
            <p:cNvSpPr>
              <a:spLocks noChangeShapeType="1"/>
            </p:cNvSpPr>
            <p:nvPr/>
          </p:nvSpPr>
          <p:spPr bwMode="auto">
            <a:xfrm>
              <a:off x="3580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21" name="Line 29"/>
            <p:cNvSpPr>
              <a:spLocks noChangeShapeType="1"/>
            </p:cNvSpPr>
            <p:nvPr/>
          </p:nvSpPr>
          <p:spPr bwMode="auto">
            <a:xfrm>
              <a:off x="3705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22" name="Line 30"/>
            <p:cNvSpPr>
              <a:spLocks noChangeShapeType="1"/>
            </p:cNvSpPr>
            <p:nvPr/>
          </p:nvSpPr>
          <p:spPr bwMode="auto">
            <a:xfrm>
              <a:off x="3830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23" name="Line 31"/>
            <p:cNvSpPr>
              <a:spLocks noChangeShapeType="1"/>
            </p:cNvSpPr>
            <p:nvPr/>
          </p:nvSpPr>
          <p:spPr bwMode="auto">
            <a:xfrm>
              <a:off x="3955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24" name="Line 32"/>
            <p:cNvSpPr>
              <a:spLocks noChangeShapeType="1"/>
            </p:cNvSpPr>
            <p:nvPr/>
          </p:nvSpPr>
          <p:spPr bwMode="auto">
            <a:xfrm>
              <a:off x="4080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25" name="Line 33"/>
            <p:cNvSpPr>
              <a:spLocks noChangeShapeType="1"/>
            </p:cNvSpPr>
            <p:nvPr/>
          </p:nvSpPr>
          <p:spPr bwMode="auto">
            <a:xfrm>
              <a:off x="4205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26" name="Line 34"/>
            <p:cNvSpPr>
              <a:spLocks noChangeShapeType="1"/>
            </p:cNvSpPr>
            <p:nvPr/>
          </p:nvSpPr>
          <p:spPr bwMode="auto">
            <a:xfrm>
              <a:off x="4330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27" name="Line 35"/>
            <p:cNvSpPr>
              <a:spLocks noChangeShapeType="1"/>
            </p:cNvSpPr>
            <p:nvPr/>
          </p:nvSpPr>
          <p:spPr bwMode="auto">
            <a:xfrm>
              <a:off x="4455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28" name="Line 36"/>
            <p:cNvSpPr>
              <a:spLocks noChangeShapeType="1"/>
            </p:cNvSpPr>
            <p:nvPr/>
          </p:nvSpPr>
          <p:spPr bwMode="auto">
            <a:xfrm>
              <a:off x="4580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29" name="Line 37"/>
            <p:cNvSpPr>
              <a:spLocks noChangeShapeType="1"/>
            </p:cNvSpPr>
            <p:nvPr/>
          </p:nvSpPr>
          <p:spPr bwMode="auto">
            <a:xfrm>
              <a:off x="4705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30" name="Line 38"/>
            <p:cNvSpPr>
              <a:spLocks noChangeShapeType="1"/>
            </p:cNvSpPr>
            <p:nvPr/>
          </p:nvSpPr>
          <p:spPr bwMode="auto">
            <a:xfrm>
              <a:off x="4830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31" name="Line 39"/>
            <p:cNvSpPr>
              <a:spLocks noChangeShapeType="1"/>
            </p:cNvSpPr>
            <p:nvPr/>
          </p:nvSpPr>
          <p:spPr bwMode="auto">
            <a:xfrm>
              <a:off x="4955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32" name="Line 40"/>
            <p:cNvSpPr>
              <a:spLocks noChangeShapeType="1"/>
            </p:cNvSpPr>
            <p:nvPr/>
          </p:nvSpPr>
          <p:spPr bwMode="auto">
            <a:xfrm>
              <a:off x="5080" y="1332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33" name="Line 41"/>
            <p:cNvSpPr>
              <a:spLocks noChangeShapeType="1"/>
            </p:cNvSpPr>
            <p:nvPr/>
          </p:nvSpPr>
          <p:spPr bwMode="auto">
            <a:xfrm>
              <a:off x="704" y="3202"/>
              <a:ext cx="4759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34" name="Freeform 42"/>
            <p:cNvSpPr>
              <a:spLocks/>
            </p:cNvSpPr>
            <p:nvPr/>
          </p:nvSpPr>
          <p:spPr bwMode="auto">
            <a:xfrm>
              <a:off x="5440" y="3169"/>
              <a:ext cx="78" cy="67"/>
            </a:xfrm>
            <a:custGeom>
              <a:avLst/>
              <a:gdLst>
                <a:gd name="T0" fmla="*/ 0 w 78"/>
                <a:gd name="T1" fmla="*/ 67 h 67"/>
                <a:gd name="T2" fmla="*/ 11 w 78"/>
                <a:gd name="T3" fmla="*/ 33 h 67"/>
                <a:gd name="T4" fmla="*/ 0 w 78"/>
                <a:gd name="T5" fmla="*/ 0 h 67"/>
                <a:gd name="T6" fmla="*/ 78 w 78"/>
                <a:gd name="T7" fmla="*/ 33 h 67"/>
                <a:gd name="T8" fmla="*/ 0 w 78"/>
                <a:gd name="T9" fmla="*/ 67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"/>
                <a:gd name="T16" fmla="*/ 0 h 67"/>
                <a:gd name="T17" fmla="*/ 78 w 78"/>
                <a:gd name="T18" fmla="*/ 67 h 6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" h="67">
                  <a:moveTo>
                    <a:pt x="0" y="67"/>
                  </a:moveTo>
                  <a:lnTo>
                    <a:pt x="11" y="33"/>
                  </a:lnTo>
                  <a:lnTo>
                    <a:pt x="0" y="0"/>
                  </a:lnTo>
                  <a:lnTo>
                    <a:pt x="78" y="33"/>
                  </a:lnTo>
                  <a:lnTo>
                    <a:pt x="0" y="6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835" name="Line 43"/>
            <p:cNvSpPr>
              <a:spLocks noChangeShapeType="1"/>
            </p:cNvSpPr>
            <p:nvPr/>
          </p:nvSpPr>
          <p:spPr bwMode="auto">
            <a:xfrm>
              <a:off x="829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36" name="Line 44"/>
            <p:cNvSpPr>
              <a:spLocks noChangeShapeType="1"/>
            </p:cNvSpPr>
            <p:nvPr/>
          </p:nvSpPr>
          <p:spPr bwMode="auto">
            <a:xfrm>
              <a:off x="954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37" name="Line 45"/>
            <p:cNvSpPr>
              <a:spLocks noChangeShapeType="1"/>
            </p:cNvSpPr>
            <p:nvPr/>
          </p:nvSpPr>
          <p:spPr bwMode="auto">
            <a:xfrm>
              <a:off x="1079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38" name="Line 46"/>
            <p:cNvSpPr>
              <a:spLocks noChangeShapeType="1"/>
            </p:cNvSpPr>
            <p:nvPr/>
          </p:nvSpPr>
          <p:spPr bwMode="auto">
            <a:xfrm>
              <a:off x="1204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39" name="Line 47"/>
            <p:cNvSpPr>
              <a:spLocks noChangeShapeType="1"/>
            </p:cNvSpPr>
            <p:nvPr/>
          </p:nvSpPr>
          <p:spPr bwMode="auto">
            <a:xfrm>
              <a:off x="1329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40" name="Line 48"/>
            <p:cNvSpPr>
              <a:spLocks noChangeShapeType="1"/>
            </p:cNvSpPr>
            <p:nvPr/>
          </p:nvSpPr>
          <p:spPr bwMode="auto">
            <a:xfrm>
              <a:off x="1454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41" name="Line 49"/>
            <p:cNvSpPr>
              <a:spLocks noChangeShapeType="1"/>
            </p:cNvSpPr>
            <p:nvPr/>
          </p:nvSpPr>
          <p:spPr bwMode="auto">
            <a:xfrm>
              <a:off x="1579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42" name="Line 50"/>
            <p:cNvSpPr>
              <a:spLocks noChangeShapeType="1"/>
            </p:cNvSpPr>
            <p:nvPr/>
          </p:nvSpPr>
          <p:spPr bwMode="auto">
            <a:xfrm>
              <a:off x="1704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43" name="Line 51"/>
            <p:cNvSpPr>
              <a:spLocks noChangeShapeType="1"/>
            </p:cNvSpPr>
            <p:nvPr/>
          </p:nvSpPr>
          <p:spPr bwMode="auto">
            <a:xfrm>
              <a:off x="1829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44" name="Line 52"/>
            <p:cNvSpPr>
              <a:spLocks noChangeShapeType="1"/>
            </p:cNvSpPr>
            <p:nvPr/>
          </p:nvSpPr>
          <p:spPr bwMode="auto">
            <a:xfrm>
              <a:off x="1954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45" name="Line 53"/>
            <p:cNvSpPr>
              <a:spLocks noChangeShapeType="1"/>
            </p:cNvSpPr>
            <p:nvPr/>
          </p:nvSpPr>
          <p:spPr bwMode="auto">
            <a:xfrm>
              <a:off x="2079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46" name="Line 54"/>
            <p:cNvSpPr>
              <a:spLocks noChangeShapeType="1"/>
            </p:cNvSpPr>
            <p:nvPr/>
          </p:nvSpPr>
          <p:spPr bwMode="auto">
            <a:xfrm>
              <a:off x="2204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47" name="Line 55"/>
            <p:cNvSpPr>
              <a:spLocks noChangeShapeType="1"/>
            </p:cNvSpPr>
            <p:nvPr/>
          </p:nvSpPr>
          <p:spPr bwMode="auto">
            <a:xfrm>
              <a:off x="2329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48" name="Line 56"/>
            <p:cNvSpPr>
              <a:spLocks noChangeShapeType="1"/>
            </p:cNvSpPr>
            <p:nvPr/>
          </p:nvSpPr>
          <p:spPr bwMode="auto">
            <a:xfrm>
              <a:off x="2454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49" name="Line 57"/>
            <p:cNvSpPr>
              <a:spLocks noChangeShapeType="1"/>
            </p:cNvSpPr>
            <p:nvPr/>
          </p:nvSpPr>
          <p:spPr bwMode="auto">
            <a:xfrm>
              <a:off x="2579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50" name="Line 58"/>
            <p:cNvSpPr>
              <a:spLocks noChangeShapeType="1"/>
            </p:cNvSpPr>
            <p:nvPr/>
          </p:nvSpPr>
          <p:spPr bwMode="auto">
            <a:xfrm>
              <a:off x="2704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51" name="Line 59"/>
            <p:cNvSpPr>
              <a:spLocks noChangeShapeType="1"/>
            </p:cNvSpPr>
            <p:nvPr/>
          </p:nvSpPr>
          <p:spPr bwMode="auto">
            <a:xfrm>
              <a:off x="2829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52" name="Line 60"/>
            <p:cNvSpPr>
              <a:spLocks noChangeShapeType="1"/>
            </p:cNvSpPr>
            <p:nvPr/>
          </p:nvSpPr>
          <p:spPr bwMode="auto">
            <a:xfrm>
              <a:off x="2954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53" name="Line 61"/>
            <p:cNvSpPr>
              <a:spLocks noChangeShapeType="1"/>
            </p:cNvSpPr>
            <p:nvPr/>
          </p:nvSpPr>
          <p:spPr bwMode="auto">
            <a:xfrm>
              <a:off x="3079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54" name="Line 62"/>
            <p:cNvSpPr>
              <a:spLocks noChangeShapeType="1"/>
            </p:cNvSpPr>
            <p:nvPr/>
          </p:nvSpPr>
          <p:spPr bwMode="auto">
            <a:xfrm>
              <a:off x="3204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55" name="Line 63"/>
            <p:cNvSpPr>
              <a:spLocks noChangeShapeType="1"/>
            </p:cNvSpPr>
            <p:nvPr/>
          </p:nvSpPr>
          <p:spPr bwMode="auto">
            <a:xfrm>
              <a:off x="3330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56" name="Line 64"/>
            <p:cNvSpPr>
              <a:spLocks noChangeShapeType="1"/>
            </p:cNvSpPr>
            <p:nvPr/>
          </p:nvSpPr>
          <p:spPr bwMode="auto">
            <a:xfrm>
              <a:off x="3455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57" name="Line 65"/>
            <p:cNvSpPr>
              <a:spLocks noChangeShapeType="1"/>
            </p:cNvSpPr>
            <p:nvPr/>
          </p:nvSpPr>
          <p:spPr bwMode="auto">
            <a:xfrm>
              <a:off x="3580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58" name="Line 66"/>
            <p:cNvSpPr>
              <a:spLocks noChangeShapeType="1"/>
            </p:cNvSpPr>
            <p:nvPr/>
          </p:nvSpPr>
          <p:spPr bwMode="auto">
            <a:xfrm>
              <a:off x="3705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59" name="Line 67"/>
            <p:cNvSpPr>
              <a:spLocks noChangeShapeType="1"/>
            </p:cNvSpPr>
            <p:nvPr/>
          </p:nvSpPr>
          <p:spPr bwMode="auto">
            <a:xfrm>
              <a:off x="3830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60" name="Line 68"/>
            <p:cNvSpPr>
              <a:spLocks noChangeShapeType="1"/>
            </p:cNvSpPr>
            <p:nvPr/>
          </p:nvSpPr>
          <p:spPr bwMode="auto">
            <a:xfrm>
              <a:off x="3955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61" name="Line 69"/>
            <p:cNvSpPr>
              <a:spLocks noChangeShapeType="1"/>
            </p:cNvSpPr>
            <p:nvPr/>
          </p:nvSpPr>
          <p:spPr bwMode="auto">
            <a:xfrm>
              <a:off x="4080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62" name="Line 70"/>
            <p:cNvSpPr>
              <a:spLocks noChangeShapeType="1"/>
            </p:cNvSpPr>
            <p:nvPr/>
          </p:nvSpPr>
          <p:spPr bwMode="auto">
            <a:xfrm>
              <a:off x="4205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63" name="Line 71"/>
            <p:cNvSpPr>
              <a:spLocks noChangeShapeType="1"/>
            </p:cNvSpPr>
            <p:nvPr/>
          </p:nvSpPr>
          <p:spPr bwMode="auto">
            <a:xfrm>
              <a:off x="4330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64" name="Line 72"/>
            <p:cNvSpPr>
              <a:spLocks noChangeShapeType="1"/>
            </p:cNvSpPr>
            <p:nvPr/>
          </p:nvSpPr>
          <p:spPr bwMode="auto">
            <a:xfrm>
              <a:off x="4455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65" name="Line 73"/>
            <p:cNvSpPr>
              <a:spLocks noChangeShapeType="1"/>
            </p:cNvSpPr>
            <p:nvPr/>
          </p:nvSpPr>
          <p:spPr bwMode="auto">
            <a:xfrm>
              <a:off x="4580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66" name="Line 74"/>
            <p:cNvSpPr>
              <a:spLocks noChangeShapeType="1"/>
            </p:cNvSpPr>
            <p:nvPr/>
          </p:nvSpPr>
          <p:spPr bwMode="auto">
            <a:xfrm>
              <a:off x="4705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67" name="Line 75"/>
            <p:cNvSpPr>
              <a:spLocks noChangeShapeType="1"/>
            </p:cNvSpPr>
            <p:nvPr/>
          </p:nvSpPr>
          <p:spPr bwMode="auto">
            <a:xfrm>
              <a:off x="4830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68" name="Line 76"/>
            <p:cNvSpPr>
              <a:spLocks noChangeShapeType="1"/>
            </p:cNvSpPr>
            <p:nvPr/>
          </p:nvSpPr>
          <p:spPr bwMode="auto">
            <a:xfrm>
              <a:off x="4955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69" name="Line 77"/>
            <p:cNvSpPr>
              <a:spLocks noChangeShapeType="1"/>
            </p:cNvSpPr>
            <p:nvPr/>
          </p:nvSpPr>
          <p:spPr bwMode="auto">
            <a:xfrm>
              <a:off x="5080" y="3140"/>
              <a:ext cx="1" cy="12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70" name="Line 78"/>
            <p:cNvSpPr>
              <a:spLocks noChangeShapeType="1"/>
            </p:cNvSpPr>
            <p:nvPr/>
          </p:nvSpPr>
          <p:spPr bwMode="auto">
            <a:xfrm>
              <a:off x="704" y="1763"/>
              <a:ext cx="1" cy="144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71" name="Freeform 79"/>
            <p:cNvSpPr>
              <a:spLocks/>
            </p:cNvSpPr>
            <p:nvPr/>
          </p:nvSpPr>
          <p:spPr bwMode="auto">
            <a:xfrm>
              <a:off x="670" y="1706"/>
              <a:ext cx="68" cy="78"/>
            </a:xfrm>
            <a:custGeom>
              <a:avLst/>
              <a:gdLst>
                <a:gd name="T0" fmla="*/ 68 w 68"/>
                <a:gd name="T1" fmla="*/ 78 h 78"/>
                <a:gd name="T2" fmla="*/ 34 w 68"/>
                <a:gd name="T3" fmla="*/ 66 h 78"/>
                <a:gd name="T4" fmla="*/ 0 w 68"/>
                <a:gd name="T5" fmla="*/ 78 h 78"/>
                <a:gd name="T6" fmla="*/ 34 w 68"/>
                <a:gd name="T7" fmla="*/ 0 h 78"/>
                <a:gd name="T8" fmla="*/ 68 w 68"/>
                <a:gd name="T9" fmla="*/ 78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8"/>
                <a:gd name="T16" fmla="*/ 0 h 78"/>
                <a:gd name="T17" fmla="*/ 68 w 68"/>
                <a:gd name="T18" fmla="*/ 78 h 7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8" h="78">
                  <a:moveTo>
                    <a:pt x="68" y="78"/>
                  </a:moveTo>
                  <a:lnTo>
                    <a:pt x="34" y="66"/>
                  </a:lnTo>
                  <a:lnTo>
                    <a:pt x="0" y="78"/>
                  </a:lnTo>
                  <a:lnTo>
                    <a:pt x="34" y="0"/>
                  </a:lnTo>
                  <a:lnTo>
                    <a:pt x="68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872" name="Line 80"/>
            <p:cNvSpPr>
              <a:spLocks noChangeShapeType="1"/>
            </p:cNvSpPr>
            <p:nvPr/>
          </p:nvSpPr>
          <p:spPr bwMode="auto">
            <a:xfrm flipH="1">
              <a:off x="641" y="1955"/>
              <a:ext cx="128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73" name="Line 81"/>
            <p:cNvSpPr>
              <a:spLocks noChangeShapeType="1"/>
            </p:cNvSpPr>
            <p:nvPr/>
          </p:nvSpPr>
          <p:spPr bwMode="auto">
            <a:xfrm flipH="1">
              <a:off x="641" y="2080"/>
              <a:ext cx="128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74" name="Line 82"/>
            <p:cNvSpPr>
              <a:spLocks noChangeShapeType="1"/>
            </p:cNvSpPr>
            <p:nvPr/>
          </p:nvSpPr>
          <p:spPr bwMode="auto">
            <a:xfrm flipH="1">
              <a:off x="641" y="2205"/>
              <a:ext cx="128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75" name="Line 83"/>
            <p:cNvSpPr>
              <a:spLocks noChangeShapeType="1"/>
            </p:cNvSpPr>
            <p:nvPr/>
          </p:nvSpPr>
          <p:spPr bwMode="auto">
            <a:xfrm flipH="1">
              <a:off x="641" y="2329"/>
              <a:ext cx="128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76" name="Line 84"/>
            <p:cNvSpPr>
              <a:spLocks noChangeShapeType="1"/>
            </p:cNvSpPr>
            <p:nvPr/>
          </p:nvSpPr>
          <p:spPr bwMode="auto">
            <a:xfrm flipH="1">
              <a:off x="641" y="2454"/>
              <a:ext cx="128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77" name="Line 85"/>
            <p:cNvSpPr>
              <a:spLocks noChangeShapeType="1"/>
            </p:cNvSpPr>
            <p:nvPr/>
          </p:nvSpPr>
          <p:spPr bwMode="auto">
            <a:xfrm flipH="1">
              <a:off x="641" y="2579"/>
              <a:ext cx="128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78" name="Line 86"/>
            <p:cNvSpPr>
              <a:spLocks noChangeShapeType="1"/>
            </p:cNvSpPr>
            <p:nvPr/>
          </p:nvSpPr>
          <p:spPr bwMode="auto">
            <a:xfrm flipH="1">
              <a:off x="641" y="2703"/>
              <a:ext cx="128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79" name="Line 87"/>
            <p:cNvSpPr>
              <a:spLocks noChangeShapeType="1"/>
            </p:cNvSpPr>
            <p:nvPr/>
          </p:nvSpPr>
          <p:spPr bwMode="auto">
            <a:xfrm flipH="1">
              <a:off x="641" y="2828"/>
              <a:ext cx="128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80" name="Line 88"/>
            <p:cNvSpPr>
              <a:spLocks noChangeShapeType="1"/>
            </p:cNvSpPr>
            <p:nvPr/>
          </p:nvSpPr>
          <p:spPr bwMode="auto">
            <a:xfrm flipH="1">
              <a:off x="641" y="2953"/>
              <a:ext cx="128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81" name="Line 89"/>
            <p:cNvSpPr>
              <a:spLocks noChangeShapeType="1"/>
            </p:cNvSpPr>
            <p:nvPr/>
          </p:nvSpPr>
          <p:spPr bwMode="auto">
            <a:xfrm flipH="1">
              <a:off x="641" y="3078"/>
              <a:ext cx="128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882" name="Freeform 90"/>
            <p:cNvSpPr>
              <a:spLocks/>
            </p:cNvSpPr>
            <p:nvPr/>
          </p:nvSpPr>
          <p:spPr bwMode="auto">
            <a:xfrm>
              <a:off x="954" y="1955"/>
              <a:ext cx="4126" cy="1247"/>
            </a:xfrm>
            <a:custGeom>
              <a:avLst/>
              <a:gdLst>
                <a:gd name="T0" fmla="*/ 0 w 4126"/>
                <a:gd name="T1" fmla="*/ 1247 h 1247"/>
                <a:gd name="T2" fmla="*/ 0 w 4126"/>
                <a:gd name="T3" fmla="*/ 748 h 1247"/>
                <a:gd name="T4" fmla="*/ 125 w 4126"/>
                <a:gd name="T5" fmla="*/ 873 h 1247"/>
                <a:gd name="T6" fmla="*/ 125 w 4126"/>
                <a:gd name="T7" fmla="*/ 374 h 1247"/>
                <a:gd name="T8" fmla="*/ 500 w 4126"/>
                <a:gd name="T9" fmla="*/ 748 h 1247"/>
                <a:gd name="T10" fmla="*/ 500 w 4126"/>
                <a:gd name="T11" fmla="*/ 250 h 1247"/>
                <a:gd name="T12" fmla="*/ 875 w 4126"/>
                <a:gd name="T13" fmla="*/ 624 h 1247"/>
                <a:gd name="T14" fmla="*/ 875 w 4126"/>
                <a:gd name="T15" fmla="*/ 125 h 1247"/>
                <a:gd name="T16" fmla="*/ 1750 w 4126"/>
                <a:gd name="T17" fmla="*/ 998 h 1247"/>
                <a:gd name="T18" fmla="*/ 1750 w 4126"/>
                <a:gd name="T19" fmla="*/ 499 h 1247"/>
                <a:gd name="T20" fmla="*/ 2501 w 4126"/>
                <a:gd name="T21" fmla="*/ 1247 h 1247"/>
                <a:gd name="T22" fmla="*/ 2626 w 4126"/>
                <a:gd name="T23" fmla="*/ 1247 h 1247"/>
                <a:gd name="T24" fmla="*/ 2626 w 4126"/>
                <a:gd name="T25" fmla="*/ 748 h 1247"/>
                <a:gd name="T26" fmla="*/ 2751 w 4126"/>
                <a:gd name="T27" fmla="*/ 873 h 1247"/>
                <a:gd name="T28" fmla="*/ 2751 w 4126"/>
                <a:gd name="T29" fmla="*/ 374 h 1247"/>
                <a:gd name="T30" fmla="*/ 2876 w 4126"/>
                <a:gd name="T31" fmla="*/ 499 h 1247"/>
                <a:gd name="T32" fmla="*/ 2876 w 4126"/>
                <a:gd name="T33" fmla="*/ 0 h 1247"/>
                <a:gd name="T34" fmla="*/ 3501 w 4126"/>
                <a:gd name="T35" fmla="*/ 624 h 1247"/>
                <a:gd name="T36" fmla="*/ 3501 w 4126"/>
                <a:gd name="T37" fmla="*/ 125 h 1247"/>
                <a:gd name="T38" fmla="*/ 4126 w 4126"/>
                <a:gd name="T39" fmla="*/ 748 h 124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126"/>
                <a:gd name="T61" fmla="*/ 0 h 1247"/>
                <a:gd name="T62" fmla="*/ 4126 w 4126"/>
                <a:gd name="T63" fmla="*/ 1247 h 1247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126" h="1247">
                  <a:moveTo>
                    <a:pt x="0" y="1247"/>
                  </a:moveTo>
                  <a:lnTo>
                    <a:pt x="0" y="748"/>
                  </a:lnTo>
                  <a:lnTo>
                    <a:pt x="125" y="873"/>
                  </a:lnTo>
                  <a:lnTo>
                    <a:pt x="125" y="374"/>
                  </a:lnTo>
                  <a:lnTo>
                    <a:pt x="500" y="748"/>
                  </a:lnTo>
                  <a:lnTo>
                    <a:pt x="500" y="250"/>
                  </a:lnTo>
                  <a:lnTo>
                    <a:pt x="875" y="624"/>
                  </a:lnTo>
                  <a:lnTo>
                    <a:pt x="875" y="125"/>
                  </a:lnTo>
                  <a:lnTo>
                    <a:pt x="1750" y="998"/>
                  </a:lnTo>
                  <a:lnTo>
                    <a:pt x="1750" y="499"/>
                  </a:lnTo>
                  <a:lnTo>
                    <a:pt x="2501" y="1247"/>
                  </a:lnTo>
                  <a:lnTo>
                    <a:pt x="2626" y="1247"/>
                  </a:lnTo>
                  <a:lnTo>
                    <a:pt x="2626" y="748"/>
                  </a:lnTo>
                  <a:lnTo>
                    <a:pt x="2751" y="873"/>
                  </a:lnTo>
                  <a:lnTo>
                    <a:pt x="2751" y="374"/>
                  </a:lnTo>
                  <a:lnTo>
                    <a:pt x="2876" y="499"/>
                  </a:lnTo>
                  <a:lnTo>
                    <a:pt x="2876" y="0"/>
                  </a:lnTo>
                  <a:lnTo>
                    <a:pt x="3501" y="624"/>
                  </a:lnTo>
                  <a:lnTo>
                    <a:pt x="3501" y="125"/>
                  </a:lnTo>
                  <a:lnTo>
                    <a:pt x="4126" y="748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883" name="Rectangle 91"/>
            <p:cNvSpPr>
              <a:spLocks noChangeArrowheads="1"/>
            </p:cNvSpPr>
            <p:nvPr/>
          </p:nvSpPr>
          <p:spPr bwMode="auto">
            <a:xfrm>
              <a:off x="959" y="1150"/>
              <a:ext cx="116" cy="240"/>
            </a:xfrm>
            <a:prstGeom prst="rect">
              <a:avLst/>
            </a:prstGeom>
            <a:solidFill>
              <a:srgbClr val="FF99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884" name="Rectangle 92"/>
            <p:cNvSpPr>
              <a:spLocks noChangeArrowheads="1"/>
            </p:cNvSpPr>
            <p:nvPr/>
          </p:nvSpPr>
          <p:spPr bwMode="auto">
            <a:xfrm>
              <a:off x="1459" y="1150"/>
              <a:ext cx="116" cy="240"/>
            </a:xfrm>
            <a:prstGeom prst="rect">
              <a:avLst/>
            </a:prstGeom>
            <a:solidFill>
              <a:srgbClr val="FF99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885" name="Rectangle 93"/>
            <p:cNvSpPr>
              <a:spLocks noChangeArrowheads="1"/>
            </p:cNvSpPr>
            <p:nvPr/>
          </p:nvSpPr>
          <p:spPr bwMode="auto">
            <a:xfrm>
              <a:off x="1078" y="1150"/>
              <a:ext cx="116" cy="240"/>
            </a:xfrm>
            <a:prstGeom prst="rect">
              <a:avLst/>
            </a:prstGeom>
            <a:solidFill>
              <a:srgbClr val="FF99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886" name="Rectangle 94"/>
            <p:cNvSpPr>
              <a:spLocks noChangeArrowheads="1"/>
            </p:cNvSpPr>
            <p:nvPr/>
          </p:nvSpPr>
          <p:spPr bwMode="auto">
            <a:xfrm>
              <a:off x="1834" y="1150"/>
              <a:ext cx="116" cy="240"/>
            </a:xfrm>
            <a:prstGeom prst="rect">
              <a:avLst/>
            </a:prstGeom>
            <a:solidFill>
              <a:srgbClr val="FF99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887" name="Rectangle 95"/>
            <p:cNvSpPr>
              <a:spLocks noChangeArrowheads="1"/>
            </p:cNvSpPr>
            <p:nvPr/>
          </p:nvSpPr>
          <p:spPr bwMode="auto">
            <a:xfrm>
              <a:off x="2709" y="1150"/>
              <a:ext cx="117" cy="240"/>
            </a:xfrm>
            <a:prstGeom prst="rect">
              <a:avLst/>
            </a:prstGeom>
            <a:solidFill>
              <a:srgbClr val="FF99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888" name="Rectangle 96"/>
            <p:cNvSpPr>
              <a:spLocks noChangeArrowheads="1"/>
            </p:cNvSpPr>
            <p:nvPr/>
          </p:nvSpPr>
          <p:spPr bwMode="auto">
            <a:xfrm>
              <a:off x="3585" y="1150"/>
              <a:ext cx="116" cy="240"/>
            </a:xfrm>
            <a:prstGeom prst="rect">
              <a:avLst/>
            </a:prstGeom>
            <a:solidFill>
              <a:srgbClr val="FF99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889" name="Rectangle 97"/>
            <p:cNvSpPr>
              <a:spLocks noChangeArrowheads="1"/>
            </p:cNvSpPr>
            <p:nvPr/>
          </p:nvSpPr>
          <p:spPr bwMode="auto">
            <a:xfrm>
              <a:off x="3710" y="1150"/>
              <a:ext cx="116" cy="240"/>
            </a:xfrm>
            <a:prstGeom prst="rect">
              <a:avLst/>
            </a:prstGeom>
            <a:solidFill>
              <a:srgbClr val="FF99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890" name="Rectangle 98"/>
            <p:cNvSpPr>
              <a:spLocks noChangeArrowheads="1"/>
            </p:cNvSpPr>
            <p:nvPr/>
          </p:nvSpPr>
          <p:spPr bwMode="auto">
            <a:xfrm>
              <a:off x="3835" y="1150"/>
              <a:ext cx="116" cy="240"/>
            </a:xfrm>
            <a:prstGeom prst="rect">
              <a:avLst/>
            </a:prstGeom>
            <a:solidFill>
              <a:srgbClr val="FF99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891" name="Rectangle 99"/>
            <p:cNvSpPr>
              <a:spLocks noChangeArrowheads="1"/>
            </p:cNvSpPr>
            <p:nvPr/>
          </p:nvSpPr>
          <p:spPr bwMode="auto">
            <a:xfrm>
              <a:off x="4460" y="1150"/>
              <a:ext cx="116" cy="240"/>
            </a:xfrm>
            <a:prstGeom prst="rect">
              <a:avLst/>
            </a:prstGeom>
            <a:solidFill>
              <a:srgbClr val="FF99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892" name="Rectangle 100"/>
            <p:cNvSpPr>
              <a:spLocks noChangeArrowheads="1"/>
            </p:cNvSpPr>
            <p:nvPr/>
          </p:nvSpPr>
          <p:spPr bwMode="auto">
            <a:xfrm>
              <a:off x="2084" y="1150"/>
              <a:ext cx="116" cy="240"/>
            </a:xfrm>
            <a:prstGeom prst="rect">
              <a:avLst/>
            </a:prstGeom>
            <a:solidFill>
              <a:schemeClr val="tx2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893" name="Rectangle 101"/>
            <p:cNvSpPr>
              <a:spLocks noChangeArrowheads="1"/>
            </p:cNvSpPr>
            <p:nvPr/>
          </p:nvSpPr>
          <p:spPr bwMode="auto">
            <a:xfrm>
              <a:off x="3960" y="1150"/>
              <a:ext cx="116" cy="240"/>
            </a:xfrm>
            <a:prstGeom prst="rect">
              <a:avLst/>
            </a:prstGeom>
            <a:solidFill>
              <a:schemeClr val="tx2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894" name="Rectangle 102"/>
            <p:cNvSpPr>
              <a:spLocks noChangeArrowheads="1"/>
            </p:cNvSpPr>
            <p:nvPr/>
          </p:nvSpPr>
          <p:spPr bwMode="auto">
            <a:xfrm>
              <a:off x="701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895" name="Rectangle 103"/>
            <p:cNvSpPr>
              <a:spLocks noChangeArrowheads="1"/>
            </p:cNvSpPr>
            <p:nvPr/>
          </p:nvSpPr>
          <p:spPr bwMode="auto">
            <a:xfrm>
              <a:off x="743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896" name="Rectangle 104"/>
            <p:cNvSpPr>
              <a:spLocks noChangeArrowheads="1"/>
            </p:cNvSpPr>
            <p:nvPr/>
          </p:nvSpPr>
          <p:spPr bwMode="auto">
            <a:xfrm>
              <a:off x="784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897" name="Rectangle 105"/>
            <p:cNvSpPr>
              <a:spLocks noChangeArrowheads="1"/>
            </p:cNvSpPr>
            <p:nvPr/>
          </p:nvSpPr>
          <p:spPr bwMode="auto">
            <a:xfrm>
              <a:off x="826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898" name="Rectangle 106"/>
            <p:cNvSpPr>
              <a:spLocks noChangeArrowheads="1"/>
            </p:cNvSpPr>
            <p:nvPr/>
          </p:nvSpPr>
          <p:spPr bwMode="auto">
            <a:xfrm>
              <a:off x="868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899" name="Rectangle 107"/>
            <p:cNvSpPr>
              <a:spLocks noChangeArrowheads="1"/>
            </p:cNvSpPr>
            <p:nvPr/>
          </p:nvSpPr>
          <p:spPr bwMode="auto">
            <a:xfrm>
              <a:off x="909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00" name="Rectangle 108"/>
            <p:cNvSpPr>
              <a:spLocks noChangeArrowheads="1"/>
            </p:cNvSpPr>
            <p:nvPr/>
          </p:nvSpPr>
          <p:spPr bwMode="auto">
            <a:xfrm>
              <a:off x="951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01" name="Rectangle 109"/>
            <p:cNvSpPr>
              <a:spLocks noChangeArrowheads="1"/>
            </p:cNvSpPr>
            <p:nvPr/>
          </p:nvSpPr>
          <p:spPr bwMode="auto">
            <a:xfrm>
              <a:off x="993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02" name="Rectangle 110"/>
            <p:cNvSpPr>
              <a:spLocks noChangeArrowheads="1"/>
            </p:cNvSpPr>
            <p:nvPr/>
          </p:nvSpPr>
          <p:spPr bwMode="auto">
            <a:xfrm>
              <a:off x="1035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03" name="Rectangle 111"/>
            <p:cNvSpPr>
              <a:spLocks noChangeArrowheads="1"/>
            </p:cNvSpPr>
            <p:nvPr/>
          </p:nvSpPr>
          <p:spPr bwMode="auto">
            <a:xfrm>
              <a:off x="1076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04" name="Rectangle 112"/>
            <p:cNvSpPr>
              <a:spLocks noChangeArrowheads="1"/>
            </p:cNvSpPr>
            <p:nvPr/>
          </p:nvSpPr>
          <p:spPr bwMode="auto">
            <a:xfrm>
              <a:off x="1118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05" name="Rectangle 113"/>
            <p:cNvSpPr>
              <a:spLocks noChangeArrowheads="1"/>
            </p:cNvSpPr>
            <p:nvPr/>
          </p:nvSpPr>
          <p:spPr bwMode="auto">
            <a:xfrm>
              <a:off x="1160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06" name="Rectangle 114"/>
            <p:cNvSpPr>
              <a:spLocks noChangeArrowheads="1"/>
            </p:cNvSpPr>
            <p:nvPr/>
          </p:nvSpPr>
          <p:spPr bwMode="auto">
            <a:xfrm>
              <a:off x="1201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07" name="Rectangle 115"/>
            <p:cNvSpPr>
              <a:spLocks noChangeArrowheads="1"/>
            </p:cNvSpPr>
            <p:nvPr/>
          </p:nvSpPr>
          <p:spPr bwMode="auto">
            <a:xfrm>
              <a:off x="1243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08" name="Rectangle 116"/>
            <p:cNvSpPr>
              <a:spLocks noChangeArrowheads="1"/>
            </p:cNvSpPr>
            <p:nvPr/>
          </p:nvSpPr>
          <p:spPr bwMode="auto">
            <a:xfrm>
              <a:off x="1285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09" name="Rectangle 117"/>
            <p:cNvSpPr>
              <a:spLocks noChangeArrowheads="1"/>
            </p:cNvSpPr>
            <p:nvPr/>
          </p:nvSpPr>
          <p:spPr bwMode="auto">
            <a:xfrm>
              <a:off x="1326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10" name="Rectangle 118"/>
            <p:cNvSpPr>
              <a:spLocks noChangeArrowheads="1"/>
            </p:cNvSpPr>
            <p:nvPr/>
          </p:nvSpPr>
          <p:spPr bwMode="auto">
            <a:xfrm>
              <a:off x="1368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11" name="Rectangle 119"/>
            <p:cNvSpPr>
              <a:spLocks noChangeArrowheads="1"/>
            </p:cNvSpPr>
            <p:nvPr/>
          </p:nvSpPr>
          <p:spPr bwMode="auto">
            <a:xfrm>
              <a:off x="1410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12" name="Rectangle 120"/>
            <p:cNvSpPr>
              <a:spLocks noChangeArrowheads="1"/>
            </p:cNvSpPr>
            <p:nvPr/>
          </p:nvSpPr>
          <p:spPr bwMode="auto">
            <a:xfrm>
              <a:off x="1451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13" name="Rectangle 121"/>
            <p:cNvSpPr>
              <a:spLocks noChangeArrowheads="1"/>
            </p:cNvSpPr>
            <p:nvPr/>
          </p:nvSpPr>
          <p:spPr bwMode="auto">
            <a:xfrm>
              <a:off x="1493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14" name="Rectangle 122"/>
            <p:cNvSpPr>
              <a:spLocks noChangeArrowheads="1"/>
            </p:cNvSpPr>
            <p:nvPr/>
          </p:nvSpPr>
          <p:spPr bwMode="auto">
            <a:xfrm>
              <a:off x="1535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15" name="Rectangle 123"/>
            <p:cNvSpPr>
              <a:spLocks noChangeArrowheads="1"/>
            </p:cNvSpPr>
            <p:nvPr/>
          </p:nvSpPr>
          <p:spPr bwMode="auto">
            <a:xfrm>
              <a:off x="1576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16" name="Rectangle 124"/>
            <p:cNvSpPr>
              <a:spLocks noChangeArrowheads="1"/>
            </p:cNvSpPr>
            <p:nvPr/>
          </p:nvSpPr>
          <p:spPr bwMode="auto">
            <a:xfrm>
              <a:off x="1618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17" name="Rectangle 125"/>
            <p:cNvSpPr>
              <a:spLocks noChangeArrowheads="1"/>
            </p:cNvSpPr>
            <p:nvPr/>
          </p:nvSpPr>
          <p:spPr bwMode="auto">
            <a:xfrm>
              <a:off x="1660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18" name="Rectangle 126"/>
            <p:cNvSpPr>
              <a:spLocks noChangeArrowheads="1"/>
            </p:cNvSpPr>
            <p:nvPr/>
          </p:nvSpPr>
          <p:spPr bwMode="auto">
            <a:xfrm>
              <a:off x="1701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19" name="Rectangle 127"/>
            <p:cNvSpPr>
              <a:spLocks noChangeArrowheads="1"/>
            </p:cNvSpPr>
            <p:nvPr/>
          </p:nvSpPr>
          <p:spPr bwMode="auto">
            <a:xfrm>
              <a:off x="1743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20" name="Rectangle 128"/>
            <p:cNvSpPr>
              <a:spLocks noChangeArrowheads="1"/>
            </p:cNvSpPr>
            <p:nvPr/>
          </p:nvSpPr>
          <p:spPr bwMode="auto">
            <a:xfrm>
              <a:off x="1785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21" name="Rectangle 129"/>
            <p:cNvSpPr>
              <a:spLocks noChangeArrowheads="1"/>
            </p:cNvSpPr>
            <p:nvPr/>
          </p:nvSpPr>
          <p:spPr bwMode="auto">
            <a:xfrm>
              <a:off x="1826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22" name="Rectangle 130"/>
            <p:cNvSpPr>
              <a:spLocks noChangeArrowheads="1"/>
            </p:cNvSpPr>
            <p:nvPr/>
          </p:nvSpPr>
          <p:spPr bwMode="auto">
            <a:xfrm>
              <a:off x="1868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23" name="Rectangle 131"/>
            <p:cNvSpPr>
              <a:spLocks noChangeArrowheads="1"/>
            </p:cNvSpPr>
            <p:nvPr/>
          </p:nvSpPr>
          <p:spPr bwMode="auto">
            <a:xfrm>
              <a:off x="1910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24" name="Rectangle 132"/>
            <p:cNvSpPr>
              <a:spLocks noChangeArrowheads="1"/>
            </p:cNvSpPr>
            <p:nvPr/>
          </p:nvSpPr>
          <p:spPr bwMode="auto">
            <a:xfrm>
              <a:off x="1951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25" name="Rectangle 133"/>
            <p:cNvSpPr>
              <a:spLocks noChangeArrowheads="1"/>
            </p:cNvSpPr>
            <p:nvPr/>
          </p:nvSpPr>
          <p:spPr bwMode="auto">
            <a:xfrm>
              <a:off x="1993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26" name="Rectangle 134"/>
            <p:cNvSpPr>
              <a:spLocks noChangeArrowheads="1"/>
            </p:cNvSpPr>
            <p:nvPr/>
          </p:nvSpPr>
          <p:spPr bwMode="auto">
            <a:xfrm>
              <a:off x="2035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27" name="Rectangle 135"/>
            <p:cNvSpPr>
              <a:spLocks noChangeArrowheads="1"/>
            </p:cNvSpPr>
            <p:nvPr/>
          </p:nvSpPr>
          <p:spPr bwMode="auto">
            <a:xfrm>
              <a:off x="2077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28" name="Rectangle 136"/>
            <p:cNvSpPr>
              <a:spLocks noChangeArrowheads="1"/>
            </p:cNvSpPr>
            <p:nvPr/>
          </p:nvSpPr>
          <p:spPr bwMode="auto">
            <a:xfrm>
              <a:off x="2118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29" name="Rectangle 137"/>
            <p:cNvSpPr>
              <a:spLocks noChangeArrowheads="1"/>
            </p:cNvSpPr>
            <p:nvPr/>
          </p:nvSpPr>
          <p:spPr bwMode="auto">
            <a:xfrm>
              <a:off x="2160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30" name="Rectangle 138"/>
            <p:cNvSpPr>
              <a:spLocks noChangeArrowheads="1"/>
            </p:cNvSpPr>
            <p:nvPr/>
          </p:nvSpPr>
          <p:spPr bwMode="auto">
            <a:xfrm>
              <a:off x="2202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31" name="Rectangle 139"/>
            <p:cNvSpPr>
              <a:spLocks noChangeArrowheads="1"/>
            </p:cNvSpPr>
            <p:nvPr/>
          </p:nvSpPr>
          <p:spPr bwMode="auto">
            <a:xfrm>
              <a:off x="2243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32" name="Rectangle 140"/>
            <p:cNvSpPr>
              <a:spLocks noChangeArrowheads="1"/>
            </p:cNvSpPr>
            <p:nvPr/>
          </p:nvSpPr>
          <p:spPr bwMode="auto">
            <a:xfrm>
              <a:off x="2285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33" name="Rectangle 141"/>
            <p:cNvSpPr>
              <a:spLocks noChangeArrowheads="1"/>
            </p:cNvSpPr>
            <p:nvPr/>
          </p:nvSpPr>
          <p:spPr bwMode="auto">
            <a:xfrm>
              <a:off x="2327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34" name="Rectangle 142"/>
            <p:cNvSpPr>
              <a:spLocks noChangeArrowheads="1"/>
            </p:cNvSpPr>
            <p:nvPr/>
          </p:nvSpPr>
          <p:spPr bwMode="auto">
            <a:xfrm>
              <a:off x="2368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35" name="Rectangle 143"/>
            <p:cNvSpPr>
              <a:spLocks noChangeArrowheads="1"/>
            </p:cNvSpPr>
            <p:nvPr/>
          </p:nvSpPr>
          <p:spPr bwMode="auto">
            <a:xfrm>
              <a:off x="2410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36" name="Rectangle 144"/>
            <p:cNvSpPr>
              <a:spLocks noChangeArrowheads="1"/>
            </p:cNvSpPr>
            <p:nvPr/>
          </p:nvSpPr>
          <p:spPr bwMode="auto">
            <a:xfrm>
              <a:off x="2452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37" name="Rectangle 145"/>
            <p:cNvSpPr>
              <a:spLocks noChangeArrowheads="1"/>
            </p:cNvSpPr>
            <p:nvPr/>
          </p:nvSpPr>
          <p:spPr bwMode="auto">
            <a:xfrm>
              <a:off x="2493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38" name="Rectangle 146"/>
            <p:cNvSpPr>
              <a:spLocks noChangeArrowheads="1"/>
            </p:cNvSpPr>
            <p:nvPr/>
          </p:nvSpPr>
          <p:spPr bwMode="auto">
            <a:xfrm>
              <a:off x="2535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39" name="Rectangle 147"/>
            <p:cNvSpPr>
              <a:spLocks noChangeArrowheads="1"/>
            </p:cNvSpPr>
            <p:nvPr/>
          </p:nvSpPr>
          <p:spPr bwMode="auto">
            <a:xfrm>
              <a:off x="2577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40" name="Rectangle 148"/>
            <p:cNvSpPr>
              <a:spLocks noChangeArrowheads="1"/>
            </p:cNvSpPr>
            <p:nvPr/>
          </p:nvSpPr>
          <p:spPr bwMode="auto">
            <a:xfrm>
              <a:off x="2618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41" name="Rectangle 149"/>
            <p:cNvSpPr>
              <a:spLocks noChangeArrowheads="1"/>
            </p:cNvSpPr>
            <p:nvPr/>
          </p:nvSpPr>
          <p:spPr bwMode="auto">
            <a:xfrm>
              <a:off x="2660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42" name="Rectangle 150"/>
            <p:cNvSpPr>
              <a:spLocks noChangeArrowheads="1"/>
            </p:cNvSpPr>
            <p:nvPr/>
          </p:nvSpPr>
          <p:spPr bwMode="auto">
            <a:xfrm>
              <a:off x="2702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43" name="Rectangle 151"/>
            <p:cNvSpPr>
              <a:spLocks noChangeArrowheads="1"/>
            </p:cNvSpPr>
            <p:nvPr/>
          </p:nvSpPr>
          <p:spPr bwMode="auto">
            <a:xfrm>
              <a:off x="2743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44" name="Rectangle 152"/>
            <p:cNvSpPr>
              <a:spLocks noChangeArrowheads="1"/>
            </p:cNvSpPr>
            <p:nvPr/>
          </p:nvSpPr>
          <p:spPr bwMode="auto">
            <a:xfrm>
              <a:off x="2785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45" name="Rectangle 153"/>
            <p:cNvSpPr>
              <a:spLocks noChangeArrowheads="1"/>
            </p:cNvSpPr>
            <p:nvPr/>
          </p:nvSpPr>
          <p:spPr bwMode="auto">
            <a:xfrm>
              <a:off x="2827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46" name="Rectangle 154"/>
            <p:cNvSpPr>
              <a:spLocks noChangeArrowheads="1"/>
            </p:cNvSpPr>
            <p:nvPr/>
          </p:nvSpPr>
          <p:spPr bwMode="auto">
            <a:xfrm>
              <a:off x="2868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47" name="Rectangle 155"/>
            <p:cNvSpPr>
              <a:spLocks noChangeArrowheads="1"/>
            </p:cNvSpPr>
            <p:nvPr/>
          </p:nvSpPr>
          <p:spPr bwMode="auto">
            <a:xfrm>
              <a:off x="2910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48" name="Rectangle 156"/>
            <p:cNvSpPr>
              <a:spLocks noChangeArrowheads="1"/>
            </p:cNvSpPr>
            <p:nvPr/>
          </p:nvSpPr>
          <p:spPr bwMode="auto">
            <a:xfrm>
              <a:off x="2952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49" name="Rectangle 157"/>
            <p:cNvSpPr>
              <a:spLocks noChangeArrowheads="1"/>
            </p:cNvSpPr>
            <p:nvPr/>
          </p:nvSpPr>
          <p:spPr bwMode="auto">
            <a:xfrm>
              <a:off x="2993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50" name="Rectangle 158"/>
            <p:cNvSpPr>
              <a:spLocks noChangeArrowheads="1"/>
            </p:cNvSpPr>
            <p:nvPr/>
          </p:nvSpPr>
          <p:spPr bwMode="auto">
            <a:xfrm>
              <a:off x="3035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51" name="Rectangle 159"/>
            <p:cNvSpPr>
              <a:spLocks noChangeArrowheads="1"/>
            </p:cNvSpPr>
            <p:nvPr/>
          </p:nvSpPr>
          <p:spPr bwMode="auto">
            <a:xfrm>
              <a:off x="3077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52" name="Rectangle 160"/>
            <p:cNvSpPr>
              <a:spLocks noChangeArrowheads="1"/>
            </p:cNvSpPr>
            <p:nvPr/>
          </p:nvSpPr>
          <p:spPr bwMode="auto">
            <a:xfrm>
              <a:off x="3119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53" name="Rectangle 161"/>
            <p:cNvSpPr>
              <a:spLocks noChangeArrowheads="1"/>
            </p:cNvSpPr>
            <p:nvPr/>
          </p:nvSpPr>
          <p:spPr bwMode="auto">
            <a:xfrm>
              <a:off x="3160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54" name="Rectangle 162"/>
            <p:cNvSpPr>
              <a:spLocks noChangeArrowheads="1"/>
            </p:cNvSpPr>
            <p:nvPr/>
          </p:nvSpPr>
          <p:spPr bwMode="auto">
            <a:xfrm>
              <a:off x="3202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55" name="Rectangle 163"/>
            <p:cNvSpPr>
              <a:spLocks noChangeArrowheads="1"/>
            </p:cNvSpPr>
            <p:nvPr/>
          </p:nvSpPr>
          <p:spPr bwMode="auto">
            <a:xfrm>
              <a:off x="3244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56" name="Rectangle 164"/>
            <p:cNvSpPr>
              <a:spLocks noChangeArrowheads="1"/>
            </p:cNvSpPr>
            <p:nvPr/>
          </p:nvSpPr>
          <p:spPr bwMode="auto">
            <a:xfrm>
              <a:off x="3285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57" name="Rectangle 165"/>
            <p:cNvSpPr>
              <a:spLocks noChangeArrowheads="1"/>
            </p:cNvSpPr>
            <p:nvPr/>
          </p:nvSpPr>
          <p:spPr bwMode="auto">
            <a:xfrm>
              <a:off x="3327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58" name="Rectangle 166"/>
            <p:cNvSpPr>
              <a:spLocks noChangeArrowheads="1"/>
            </p:cNvSpPr>
            <p:nvPr/>
          </p:nvSpPr>
          <p:spPr bwMode="auto">
            <a:xfrm>
              <a:off x="3369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59" name="Rectangle 167"/>
            <p:cNvSpPr>
              <a:spLocks noChangeArrowheads="1"/>
            </p:cNvSpPr>
            <p:nvPr/>
          </p:nvSpPr>
          <p:spPr bwMode="auto">
            <a:xfrm>
              <a:off x="3410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60" name="Rectangle 168"/>
            <p:cNvSpPr>
              <a:spLocks noChangeArrowheads="1"/>
            </p:cNvSpPr>
            <p:nvPr/>
          </p:nvSpPr>
          <p:spPr bwMode="auto">
            <a:xfrm>
              <a:off x="3452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61" name="Rectangle 169"/>
            <p:cNvSpPr>
              <a:spLocks noChangeArrowheads="1"/>
            </p:cNvSpPr>
            <p:nvPr/>
          </p:nvSpPr>
          <p:spPr bwMode="auto">
            <a:xfrm>
              <a:off x="3494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62" name="Rectangle 170"/>
            <p:cNvSpPr>
              <a:spLocks noChangeArrowheads="1"/>
            </p:cNvSpPr>
            <p:nvPr/>
          </p:nvSpPr>
          <p:spPr bwMode="auto">
            <a:xfrm>
              <a:off x="3535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63" name="Rectangle 171"/>
            <p:cNvSpPr>
              <a:spLocks noChangeArrowheads="1"/>
            </p:cNvSpPr>
            <p:nvPr/>
          </p:nvSpPr>
          <p:spPr bwMode="auto">
            <a:xfrm>
              <a:off x="3577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64" name="Rectangle 172"/>
            <p:cNvSpPr>
              <a:spLocks noChangeArrowheads="1"/>
            </p:cNvSpPr>
            <p:nvPr/>
          </p:nvSpPr>
          <p:spPr bwMode="auto">
            <a:xfrm>
              <a:off x="3619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65" name="Rectangle 173"/>
            <p:cNvSpPr>
              <a:spLocks noChangeArrowheads="1"/>
            </p:cNvSpPr>
            <p:nvPr/>
          </p:nvSpPr>
          <p:spPr bwMode="auto">
            <a:xfrm>
              <a:off x="3660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66" name="Rectangle 174"/>
            <p:cNvSpPr>
              <a:spLocks noChangeArrowheads="1"/>
            </p:cNvSpPr>
            <p:nvPr/>
          </p:nvSpPr>
          <p:spPr bwMode="auto">
            <a:xfrm>
              <a:off x="3702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67" name="Rectangle 175"/>
            <p:cNvSpPr>
              <a:spLocks noChangeArrowheads="1"/>
            </p:cNvSpPr>
            <p:nvPr/>
          </p:nvSpPr>
          <p:spPr bwMode="auto">
            <a:xfrm>
              <a:off x="3744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68" name="Rectangle 176"/>
            <p:cNvSpPr>
              <a:spLocks noChangeArrowheads="1"/>
            </p:cNvSpPr>
            <p:nvPr/>
          </p:nvSpPr>
          <p:spPr bwMode="auto">
            <a:xfrm>
              <a:off x="3785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69" name="Rectangle 177"/>
            <p:cNvSpPr>
              <a:spLocks noChangeArrowheads="1"/>
            </p:cNvSpPr>
            <p:nvPr/>
          </p:nvSpPr>
          <p:spPr bwMode="auto">
            <a:xfrm>
              <a:off x="3827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70" name="Rectangle 178"/>
            <p:cNvSpPr>
              <a:spLocks noChangeArrowheads="1"/>
            </p:cNvSpPr>
            <p:nvPr/>
          </p:nvSpPr>
          <p:spPr bwMode="auto">
            <a:xfrm>
              <a:off x="3869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71" name="Rectangle 179"/>
            <p:cNvSpPr>
              <a:spLocks noChangeArrowheads="1"/>
            </p:cNvSpPr>
            <p:nvPr/>
          </p:nvSpPr>
          <p:spPr bwMode="auto">
            <a:xfrm>
              <a:off x="3910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72" name="Rectangle 180"/>
            <p:cNvSpPr>
              <a:spLocks noChangeArrowheads="1"/>
            </p:cNvSpPr>
            <p:nvPr/>
          </p:nvSpPr>
          <p:spPr bwMode="auto">
            <a:xfrm>
              <a:off x="3952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73" name="Rectangle 181"/>
            <p:cNvSpPr>
              <a:spLocks noChangeArrowheads="1"/>
            </p:cNvSpPr>
            <p:nvPr/>
          </p:nvSpPr>
          <p:spPr bwMode="auto">
            <a:xfrm>
              <a:off x="3994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74" name="Rectangle 182"/>
            <p:cNvSpPr>
              <a:spLocks noChangeArrowheads="1"/>
            </p:cNvSpPr>
            <p:nvPr/>
          </p:nvSpPr>
          <p:spPr bwMode="auto">
            <a:xfrm>
              <a:off x="4035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75" name="Rectangle 183"/>
            <p:cNvSpPr>
              <a:spLocks noChangeArrowheads="1"/>
            </p:cNvSpPr>
            <p:nvPr/>
          </p:nvSpPr>
          <p:spPr bwMode="auto">
            <a:xfrm>
              <a:off x="4077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76" name="Rectangle 184"/>
            <p:cNvSpPr>
              <a:spLocks noChangeArrowheads="1"/>
            </p:cNvSpPr>
            <p:nvPr/>
          </p:nvSpPr>
          <p:spPr bwMode="auto">
            <a:xfrm>
              <a:off x="4119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77" name="Rectangle 185"/>
            <p:cNvSpPr>
              <a:spLocks noChangeArrowheads="1"/>
            </p:cNvSpPr>
            <p:nvPr/>
          </p:nvSpPr>
          <p:spPr bwMode="auto">
            <a:xfrm>
              <a:off x="4161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78" name="Rectangle 186"/>
            <p:cNvSpPr>
              <a:spLocks noChangeArrowheads="1"/>
            </p:cNvSpPr>
            <p:nvPr/>
          </p:nvSpPr>
          <p:spPr bwMode="auto">
            <a:xfrm>
              <a:off x="4202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79" name="Rectangle 187"/>
            <p:cNvSpPr>
              <a:spLocks noChangeArrowheads="1"/>
            </p:cNvSpPr>
            <p:nvPr/>
          </p:nvSpPr>
          <p:spPr bwMode="auto">
            <a:xfrm>
              <a:off x="4244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80" name="Rectangle 188"/>
            <p:cNvSpPr>
              <a:spLocks noChangeArrowheads="1"/>
            </p:cNvSpPr>
            <p:nvPr/>
          </p:nvSpPr>
          <p:spPr bwMode="auto">
            <a:xfrm>
              <a:off x="4286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81" name="Rectangle 189"/>
            <p:cNvSpPr>
              <a:spLocks noChangeArrowheads="1"/>
            </p:cNvSpPr>
            <p:nvPr/>
          </p:nvSpPr>
          <p:spPr bwMode="auto">
            <a:xfrm>
              <a:off x="4327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82" name="Rectangle 190"/>
            <p:cNvSpPr>
              <a:spLocks noChangeArrowheads="1"/>
            </p:cNvSpPr>
            <p:nvPr/>
          </p:nvSpPr>
          <p:spPr bwMode="auto">
            <a:xfrm>
              <a:off x="4369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83" name="Rectangle 191"/>
            <p:cNvSpPr>
              <a:spLocks noChangeArrowheads="1"/>
            </p:cNvSpPr>
            <p:nvPr/>
          </p:nvSpPr>
          <p:spPr bwMode="auto">
            <a:xfrm>
              <a:off x="4411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84" name="Rectangle 192"/>
            <p:cNvSpPr>
              <a:spLocks noChangeArrowheads="1"/>
            </p:cNvSpPr>
            <p:nvPr/>
          </p:nvSpPr>
          <p:spPr bwMode="auto">
            <a:xfrm>
              <a:off x="4452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85" name="Rectangle 193"/>
            <p:cNvSpPr>
              <a:spLocks noChangeArrowheads="1"/>
            </p:cNvSpPr>
            <p:nvPr/>
          </p:nvSpPr>
          <p:spPr bwMode="auto">
            <a:xfrm>
              <a:off x="4494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86" name="Rectangle 194"/>
            <p:cNvSpPr>
              <a:spLocks noChangeArrowheads="1"/>
            </p:cNvSpPr>
            <p:nvPr/>
          </p:nvSpPr>
          <p:spPr bwMode="auto">
            <a:xfrm>
              <a:off x="4536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87" name="Rectangle 195"/>
            <p:cNvSpPr>
              <a:spLocks noChangeArrowheads="1"/>
            </p:cNvSpPr>
            <p:nvPr/>
          </p:nvSpPr>
          <p:spPr bwMode="auto">
            <a:xfrm>
              <a:off x="4577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88" name="Rectangle 196"/>
            <p:cNvSpPr>
              <a:spLocks noChangeArrowheads="1"/>
            </p:cNvSpPr>
            <p:nvPr/>
          </p:nvSpPr>
          <p:spPr bwMode="auto">
            <a:xfrm>
              <a:off x="4619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89" name="Rectangle 197"/>
            <p:cNvSpPr>
              <a:spLocks noChangeArrowheads="1"/>
            </p:cNvSpPr>
            <p:nvPr/>
          </p:nvSpPr>
          <p:spPr bwMode="auto">
            <a:xfrm>
              <a:off x="4661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90" name="Rectangle 198"/>
            <p:cNvSpPr>
              <a:spLocks noChangeArrowheads="1"/>
            </p:cNvSpPr>
            <p:nvPr/>
          </p:nvSpPr>
          <p:spPr bwMode="auto">
            <a:xfrm>
              <a:off x="4702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91" name="Rectangle 199"/>
            <p:cNvSpPr>
              <a:spLocks noChangeArrowheads="1"/>
            </p:cNvSpPr>
            <p:nvPr/>
          </p:nvSpPr>
          <p:spPr bwMode="auto">
            <a:xfrm>
              <a:off x="4744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92" name="Rectangle 200"/>
            <p:cNvSpPr>
              <a:spLocks noChangeArrowheads="1"/>
            </p:cNvSpPr>
            <p:nvPr/>
          </p:nvSpPr>
          <p:spPr bwMode="auto">
            <a:xfrm>
              <a:off x="4786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93" name="Rectangle 201"/>
            <p:cNvSpPr>
              <a:spLocks noChangeArrowheads="1"/>
            </p:cNvSpPr>
            <p:nvPr/>
          </p:nvSpPr>
          <p:spPr bwMode="auto">
            <a:xfrm>
              <a:off x="4827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94" name="Rectangle 202"/>
            <p:cNvSpPr>
              <a:spLocks noChangeArrowheads="1"/>
            </p:cNvSpPr>
            <p:nvPr/>
          </p:nvSpPr>
          <p:spPr bwMode="auto">
            <a:xfrm>
              <a:off x="4869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95" name="Rectangle 203"/>
            <p:cNvSpPr>
              <a:spLocks noChangeArrowheads="1"/>
            </p:cNvSpPr>
            <p:nvPr/>
          </p:nvSpPr>
          <p:spPr bwMode="auto">
            <a:xfrm>
              <a:off x="4911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96" name="Rectangle 204"/>
            <p:cNvSpPr>
              <a:spLocks noChangeArrowheads="1"/>
            </p:cNvSpPr>
            <p:nvPr/>
          </p:nvSpPr>
          <p:spPr bwMode="auto">
            <a:xfrm>
              <a:off x="4952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97" name="Rectangle 205"/>
            <p:cNvSpPr>
              <a:spLocks noChangeArrowheads="1"/>
            </p:cNvSpPr>
            <p:nvPr/>
          </p:nvSpPr>
          <p:spPr bwMode="auto">
            <a:xfrm>
              <a:off x="4994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98" name="Rectangle 206"/>
            <p:cNvSpPr>
              <a:spLocks noChangeArrowheads="1"/>
            </p:cNvSpPr>
            <p:nvPr/>
          </p:nvSpPr>
          <p:spPr bwMode="auto">
            <a:xfrm>
              <a:off x="5036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999" name="Rectangle 207"/>
            <p:cNvSpPr>
              <a:spLocks noChangeArrowheads="1"/>
            </p:cNvSpPr>
            <p:nvPr/>
          </p:nvSpPr>
          <p:spPr bwMode="auto">
            <a:xfrm>
              <a:off x="5077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00" name="Rectangle 208"/>
            <p:cNvSpPr>
              <a:spLocks noChangeArrowheads="1"/>
            </p:cNvSpPr>
            <p:nvPr/>
          </p:nvSpPr>
          <p:spPr bwMode="auto">
            <a:xfrm>
              <a:off x="5119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01" name="Rectangle 209"/>
            <p:cNvSpPr>
              <a:spLocks noChangeArrowheads="1"/>
            </p:cNvSpPr>
            <p:nvPr/>
          </p:nvSpPr>
          <p:spPr bwMode="auto">
            <a:xfrm>
              <a:off x="5161" y="1950"/>
              <a:ext cx="10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02" name="Rectangle 210"/>
            <p:cNvSpPr>
              <a:spLocks noChangeArrowheads="1"/>
            </p:cNvSpPr>
            <p:nvPr/>
          </p:nvSpPr>
          <p:spPr bwMode="auto">
            <a:xfrm>
              <a:off x="5202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03" name="Rectangle 211"/>
            <p:cNvSpPr>
              <a:spLocks noChangeArrowheads="1"/>
            </p:cNvSpPr>
            <p:nvPr/>
          </p:nvSpPr>
          <p:spPr bwMode="auto">
            <a:xfrm>
              <a:off x="5244" y="1950"/>
              <a:ext cx="11" cy="1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04" name="Rectangle 212"/>
            <p:cNvSpPr>
              <a:spLocks noChangeArrowheads="1"/>
            </p:cNvSpPr>
            <p:nvPr/>
          </p:nvSpPr>
          <p:spPr bwMode="auto">
            <a:xfrm>
              <a:off x="701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05" name="Rectangle 213"/>
            <p:cNvSpPr>
              <a:spLocks noChangeArrowheads="1"/>
            </p:cNvSpPr>
            <p:nvPr/>
          </p:nvSpPr>
          <p:spPr bwMode="auto">
            <a:xfrm>
              <a:off x="743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06" name="Rectangle 214"/>
            <p:cNvSpPr>
              <a:spLocks noChangeArrowheads="1"/>
            </p:cNvSpPr>
            <p:nvPr/>
          </p:nvSpPr>
          <p:spPr bwMode="auto">
            <a:xfrm>
              <a:off x="784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07" name="Rectangle 215"/>
            <p:cNvSpPr>
              <a:spLocks noChangeArrowheads="1"/>
            </p:cNvSpPr>
            <p:nvPr/>
          </p:nvSpPr>
          <p:spPr bwMode="auto">
            <a:xfrm>
              <a:off x="826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08" name="Rectangle 216"/>
            <p:cNvSpPr>
              <a:spLocks noChangeArrowheads="1"/>
            </p:cNvSpPr>
            <p:nvPr/>
          </p:nvSpPr>
          <p:spPr bwMode="auto">
            <a:xfrm>
              <a:off x="868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09" name="Rectangle 217"/>
            <p:cNvSpPr>
              <a:spLocks noChangeArrowheads="1"/>
            </p:cNvSpPr>
            <p:nvPr/>
          </p:nvSpPr>
          <p:spPr bwMode="auto">
            <a:xfrm>
              <a:off x="909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10" name="Rectangle 218"/>
            <p:cNvSpPr>
              <a:spLocks noChangeArrowheads="1"/>
            </p:cNvSpPr>
            <p:nvPr/>
          </p:nvSpPr>
          <p:spPr bwMode="auto">
            <a:xfrm>
              <a:off x="951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11" name="Rectangle 219"/>
            <p:cNvSpPr>
              <a:spLocks noChangeArrowheads="1"/>
            </p:cNvSpPr>
            <p:nvPr/>
          </p:nvSpPr>
          <p:spPr bwMode="auto">
            <a:xfrm>
              <a:off x="993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12" name="Rectangle 220"/>
            <p:cNvSpPr>
              <a:spLocks noChangeArrowheads="1"/>
            </p:cNvSpPr>
            <p:nvPr/>
          </p:nvSpPr>
          <p:spPr bwMode="auto">
            <a:xfrm>
              <a:off x="1035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13" name="Rectangle 221"/>
            <p:cNvSpPr>
              <a:spLocks noChangeArrowheads="1"/>
            </p:cNvSpPr>
            <p:nvPr/>
          </p:nvSpPr>
          <p:spPr bwMode="auto">
            <a:xfrm>
              <a:off x="1076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14" name="Rectangle 222"/>
            <p:cNvSpPr>
              <a:spLocks noChangeArrowheads="1"/>
            </p:cNvSpPr>
            <p:nvPr/>
          </p:nvSpPr>
          <p:spPr bwMode="auto">
            <a:xfrm>
              <a:off x="1118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15" name="Rectangle 223"/>
            <p:cNvSpPr>
              <a:spLocks noChangeArrowheads="1"/>
            </p:cNvSpPr>
            <p:nvPr/>
          </p:nvSpPr>
          <p:spPr bwMode="auto">
            <a:xfrm>
              <a:off x="1160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16" name="Rectangle 224"/>
            <p:cNvSpPr>
              <a:spLocks noChangeArrowheads="1"/>
            </p:cNvSpPr>
            <p:nvPr/>
          </p:nvSpPr>
          <p:spPr bwMode="auto">
            <a:xfrm>
              <a:off x="1201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17" name="Rectangle 225"/>
            <p:cNvSpPr>
              <a:spLocks noChangeArrowheads="1"/>
            </p:cNvSpPr>
            <p:nvPr/>
          </p:nvSpPr>
          <p:spPr bwMode="auto">
            <a:xfrm>
              <a:off x="1243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18" name="Rectangle 226"/>
            <p:cNvSpPr>
              <a:spLocks noChangeArrowheads="1"/>
            </p:cNvSpPr>
            <p:nvPr/>
          </p:nvSpPr>
          <p:spPr bwMode="auto">
            <a:xfrm>
              <a:off x="1285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19" name="Rectangle 227"/>
            <p:cNvSpPr>
              <a:spLocks noChangeArrowheads="1"/>
            </p:cNvSpPr>
            <p:nvPr/>
          </p:nvSpPr>
          <p:spPr bwMode="auto">
            <a:xfrm>
              <a:off x="1326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20" name="Rectangle 228"/>
            <p:cNvSpPr>
              <a:spLocks noChangeArrowheads="1"/>
            </p:cNvSpPr>
            <p:nvPr/>
          </p:nvSpPr>
          <p:spPr bwMode="auto">
            <a:xfrm>
              <a:off x="1368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21" name="Rectangle 229"/>
            <p:cNvSpPr>
              <a:spLocks noChangeArrowheads="1"/>
            </p:cNvSpPr>
            <p:nvPr/>
          </p:nvSpPr>
          <p:spPr bwMode="auto">
            <a:xfrm>
              <a:off x="1410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22" name="Rectangle 230"/>
            <p:cNvSpPr>
              <a:spLocks noChangeArrowheads="1"/>
            </p:cNvSpPr>
            <p:nvPr/>
          </p:nvSpPr>
          <p:spPr bwMode="auto">
            <a:xfrm>
              <a:off x="1451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23" name="Rectangle 231"/>
            <p:cNvSpPr>
              <a:spLocks noChangeArrowheads="1"/>
            </p:cNvSpPr>
            <p:nvPr/>
          </p:nvSpPr>
          <p:spPr bwMode="auto">
            <a:xfrm>
              <a:off x="1493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24" name="Rectangle 232"/>
            <p:cNvSpPr>
              <a:spLocks noChangeArrowheads="1"/>
            </p:cNvSpPr>
            <p:nvPr/>
          </p:nvSpPr>
          <p:spPr bwMode="auto">
            <a:xfrm>
              <a:off x="1535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25" name="Rectangle 233"/>
            <p:cNvSpPr>
              <a:spLocks noChangeArrowheads="1"/>
            </p:cNvSpPr>
            <p:nvPr/>
          </p:nvSpPr>
          <p:spPr bwMode="auto">
            <a:xfrm>
              <a:off x="1576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26" name="Rectangle 234"/>
            <p:cNvSpPr>
              <a:spLocks noChangeArrowheads="1"/>
            </p:cNvSpPr>
            <p:nvPr/>
          </p:nvSpPr>
          <p:spPr bwMode="auto">
            <a:xfrm>
              <a:off x="1618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27" name="Rectangle 235"/>
            <p:cNvSpPr>
              <a:spLocks noChangeArrowheads="1"/>
            </p:cNvSpPr>
            <p:nvPr/>
          </p:nvSpPr>
          <p:spPr bwMode="auto">
            <a:xfrm>
              <a:off x="1660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28" name="Rectangle 236"/>
            <p:cNvSpPr>
              <a:spLocks noChangeArrowheads="1"/>
            </p:cNvSpPr>
            <p:nvPr/>
          </p:nvSpPr>
          <p:spPr bwMode="auto">
            <a:xfrm>
              <a:off x="1701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29" name="Rectangle 237"/>
            <p:cNvSpPr>
              <a:spLocks noChangeArrowheads="1"/>
            </p:cNvSpPr>
            <p:nvPr/>
          </p:nvSpPr>
          <p:spPr bwMode="auto">
            <a:xfrm>
              <a:off x="1743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30" name="Rectangle 238"/>
            <p:cNvSpPr>
              <a:spLocks noChangeArrowheads="1"/>
            </p:cNvSpPr>
            <p:nvPr/>
          </p:nvSpPr>
          <p:spPr bwMode="auto">
            <a:xfrm>
              <a:off x="1785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31" name="Rectangle 239"/>
            <p:cNvSpPr>
              <a:spLocks noChangeArrowheads="1"/>
            </p:cNvSpPr>
            <p:nvPr/>
          </p:nvSpPr>
          <p:spPr bwMode="auto">
            <a:xfrm>
              <a:off x="1826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32" name="Rectangle 240"/>
            <p:cNvSpPr>
              <a:spLocks noChangeArrowheads="1"/>
            </p:cNvSpPr>
            <p:nvPr/>
          </p:nvSpPr>
          <p:spPr bwMode="auto">
            <a:xfrm>
              <a:off x="1868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33" name="Rectangle 241"/>
            <p:cNvSpPr>
              <a:spLocks noChangeArrowheads="1"/>
            </p:cNvSpPr>
            <p:nvPr/>
          </p:nvSpPr>
          <p:spPr bwMode="auto">
            <a:xfrm>
              <a:off x="1910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34" name="Rectangle 242"/>
            <p:cNvSpPr>
              <a:spLocks noChangeArrowheads="1"/>
            </p:cNvSpPr>
            <p:nvPr/>
          </p:nvSpPr>
          <p:spPr bwMode="auto">
            <a:xfrm>
              <a:off x="1951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35" name="Rectangle 243"/>
            <p:cNvSpPr>
              <a:spLocks noChangeArrowheads="1"/>
            </p:cNvSpPr>
            <p:nvPr/>
          </p:nvSpPr>
          <p:spPr bwMode="auto">
            <a:xfrm>
              <a:off x="1993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36" name="Rectangle 244"/>
            <p:cNvSpPr>
              <a:spLocks noChangeArrowheads="1"/>
            </p:cNvSpPr>
            <p:nvPr/>
          </p:nvSpPr>
          <p:spPr bwMode="auto">
            <a:xfrm>
              <a:off x="2035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37" name="Rectangle 245"/>
            <p:cNvSpPr>
              <a:spLocks noChangeArrowheads="1"/>
            </p:cNvSpPr>
            <p:nvPr/>
          </p:nvSpPr>
          <p:spPr bwMode="auto">
            <a:xfrm>
              <a:off x="2077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38" name="Rectangle 246"/>
            <p:cNvSpPr>
              <a:spLocks noChangeArrowheads="1"/>
            </p:cNvSpPr>
            <p:nvPr/>
          </p:nvSpPr>
          <p:spPr bwMode="auto">
            <a:xfrm>
              <a:off x="2118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39" name="Rectangle 247"/>
            <p:cNvSpPr>
              <a:spLocks noChangeArrowheads="1"/>
            </p:cNvSpPr>
            <p:nvPr/>
          </p:nvSpPr>
          <p:spPr bwMode="auto">
            <a:xfrm>
              <a:off x="2160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40" name="Rectangle 248"/>
            <p:cNvSpPr>
              <a:spLocks noChangeArrowheads="1"/>
            </p:cNvSpPr>
            <p:nvPr/>
          </p:nvSpPr>
          <p:spPr bwMode="auto">
            <a:xfrm>
              <a:off x="2202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41" name="Rectangle 249"/>
            <p:cNvSpPr>
              <a:spLocks noChangeArrowheads="1"/>
            </p:cNvSpPr>
            <p:nvPr/>
          </p:nvSpPr>
          <p:spPr bwMode="auto">
            <a:xfrm>
              <a:off x="2243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42" name="Rectangle 250"/>
            <p:cNvSpPr>
              <a:spLocks noChangeArrowheads="1"/>
            </p:cNvSpPr>
            <p:nvPr/>
          </p:nvSpPr>
          <p:spPr bwMode="auto">
            <a:xfrm>
              <a:off x="2285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43" name="Rectangle 251"/>
            <p:cNvSpPr>
              <a:spLocks noChangeArrowheads="1"/>
            </p:cNvSpPr>
            <p:nvPr/>
          </p:nvSpPr>
          <p:spPr bwMode="auto">
            <a:xfrm>
              <a:off x="2327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44" name="Rectangle 252"/>
            <p:cNvSpPr>
              <a:spLocks noChangeArrowheads="1"/>
            </p:cNvSpPr>
            <p:nvPr/>
          </p:nvSpPr>
          <p:spPr bwMode="auto">
            <a:xfrm>
              <a:off x="2368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45" name="Rectangle 253"/>
            <p:cNvSpPr>
              <a:spLocks noChangeArrowheads="1"/>
            </p:cNvSpPr>
            <p:nvPr/>
          </p:nvSpPr>
          <p:spPr bwMode="auto">
            <a:xfrm>
              <a:off x="2410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46" name="Rectangle 254"/>
            <p:cNvSpPr>
              <a:spLocks noChangeArrowheads="1"/>
            </p:cNvSpPr>
            <p:nvPr/>
          </p:nvSpPr>
          <p:spPr bwMode="auto">
            <a:xfrm>
              <a:off x="2452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47" name="Rectangle 255"/>
            <p:cNvSpPr>
              <a:spLocks noChangeArrowheads="1"/>
            </p:cNvSpPr>
            <p:nvPr/>
          </p:nvSpPr>
          <p:spPr bwMode="auto">
            <a:xfrm>
              <a:off x="2493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48" name="Rectangle 256"/>
            <p:cNvSpPr>
              <a:spLocks noChangeArrowheads="1"/>
            </p:cNvSpPr>
            <p:nvPr/>
          </p:nvSpPr>
          <p:spPr bwMode="auto">
            <a:xfrm>
              <a:off x="2535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49" name="Rectangle 257"/>
            <p:cNvSpPr>
              <a:spLocks noChangeArrowheads="1"/>
            </p:cNvSpPr>
            <p:nvPr/>
          </p:nvSpPr>
          <p:spPr bwMode="auto">
            <a:xfrm>
              <a:off x="2577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50" name="Rectangle 258"/>
            <p:cNvSpPr>
              <a:spLocks noChangeArrowheads="1"/>
            </p:cNvSpPr>
            <p:nvPr/>
          </p:nvSpPr>
          <p:spPr bwMode="auto">
            <a:xfrm>
              <a:off x="2618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51" name="Rectangle 259"/>
            <p:cNvSpPr>
              <a:spLocks noChangeArrowheads="1"/>
            </p:cNvSpPr>
            <p:nvPr/>
          </p:nvSpPr>
          <p:spPr bwMode="auto">
            <a:xfrm>
              <a:off x="2660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52" name="Rectangle 260"/>
            <p:cNvSpPr>
              <a:spLocks noChangeArrowheads="1"/>
            </p:cNvSpPr>
            <p:nvPr/>
          </p:nvSpPr>
          <p:spPr bwMode="auto">
            <a:xfrm>
              <a:off x="2702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53" name="Rectangle 261"/>
            <p:cNvSpPr>
              <a:spLocks noChangeArrowheads="1"/>
            </p:cNvSpPr>
            <p:nvPr/>
          </p:nvSpPr>
          <p:spPr bwMode="auto">
            <a:xfrm>
              <a:off x="2743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54" name="Rectangle 262"/>
            <p:cNvSpPr>
              <a:spLocks noChangeArrowheads="1"/>
            </p:cNvSpPr>
            <p:nvPr/>
          </p:nvSpPr>
          <p:spPr bwMode="auto">
            <a:xfrm>
              <a:off x="2785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55" name="Rectangle 263"/>
            <p:cNvSpPr>
              <a:spLocks noChangeArrowheads="1"/>
            </p:cNvSpPr>
            <p:nvPr/>
          </p:nvSpPr>
          <p:spPr bwMode="auto">
            <a:xfrm>
              <a:off x="2827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56" name="Rectangle 264"/>
            <p:cNvSpPr>
              <a:spLocks noChangeArrowheads="1"/>
            </p:cNvSpPr>
            <p:nvPr/>
          </p:nvSpPr>
          <p:spPr bwMode="auto">
            <a:xfrm>
              <a:off x="2868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57" name="Rectangle 265"/>
            <p:cNvSpPr>
              <a:spLocks noChangeArrowheads="1"/>
            </p:cNvSpPr>
            <p:nvPr/>
          </p:nvSpPr>
          <p:spPr bwMode="auto">
            <a:xfrm>
              <a:off x="2910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58" name="Rectangle 266"/>
            <p:cNvSpPr>
              <a:spLocks noChangeArrowheads="1"/>
            </p:cNvSpPr>
            <p:nvPr/>
          </p:nvSpPr>
          <p:spPr bwMode="auto">
            <a:xfrm>
              <a:off x="2952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59" name="Rectangle 267"/>
            <p:cNvSpPr>
              <a:spLocks noChangeArrowheads="1"/>
            </p:cNvSpPr>
            <p:nvPr/>
          </p:nvSpPr>
          <p:spPr bwMode="auto">
            <a:xfrm>
              <a:off x="2993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60" name="Rectangle 268"/>
            <p:cNvSpPr>
              <a:spLocks noChangeArrowheads="1"/>
            </p:cNvSpPr>
            <p:nvPr/>
          </p:nvSpPr>
          <p:spPr bwMode="auto">
            <a:xfrm>
              <a:off x="3035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61" name="Rectangle 269"/>
            <p:cNvSpPr>
              <a:spLocks noChangeArrowheads="1"/>
            </p:cNvSpPr>
            <p:nvPr/>
          </p:nvSpPr>
          <p:spPr bwMode="auto">
            <a:xfrm>
              <a:off x="3077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62" name="Rectangle 270"/>
            <p:cNvSpPr>
              <a:spLocks noChangeArrowheads="1"/>
            </p:cNvSpPr>
            <p:nvPr/>
          </p:nvSpPr>
          <p:spPr bwMode="auto">
            <a:xfrm>
              <a:off x="3119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63" name="Rectangle 271"/>
            <p:cNvSpPr>
              <a:spLocks noChangeArrowheads="1"/>
            </p:cNvSpPr>
            <p:nvPr/>
          </p:nvSpPr>
          <p:spPr bwMode="auto">
            <a:xfrm>
              <a:off x="3160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64" name="Rectangle 272"/>
            <p:cNvSpPr>
              <a:spLocks noChangeArrowheads="1"/>
            </p:cNvSpPr>
            <p:nvPr/>
          </p:nvSpPr>
          <p:spPr bwMode="auto">
            <a:xfrm>
              <a:off x="3202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65" name="Rectangle 273"/>
            <p:cNvSpPr>
              <a:spLocks noChangeArrowheads="1"/>
            </p:cNvSpPr>
            <p:nvPr/>
          </p:nvSpPr>
          <p:spPr bwMode="auto">
            <a:xfrm>
              <a:off x="3244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66" name="Rectangle 274"/>
            <p:cNvSpPr>
              <a:spLocks noChangeArrowheads="1"/>
            </p:cNvSpPr>
            <p:nvPr/>
          </p:nvSpPr>
          <p:spPr bwMode="auto">
            <a:xfrm>
              <a:off x="3285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67" name="Rectangle 275"/>
            <p:cNvSpPr>
              <a:spLocks noChangeArrowheads="1"/>
            </p:cNvSpPr>
            <p:nvPr/>
          </p:nvSpPr>
          <p:spPr bwMode="auto">
            <a:xfrm>
              <a:off x="3327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68" name="Rectangle 276"/>
            <p:cNvSpPr>
              <a:spLocks noChangeArrowheads="1"/>
            </p:cNvSpPr>
            <p:nvPr/>
          </p:nvSpPr>
          <p:spPr bwMode="auto">
            <a:xfrm>
              <a:off x="3369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69" name="Rectangle 277"/>
            <p:cNvSpPr>
              <a:spLocks noChangeArrowheads="1"/>
            </p:cNvSpPr>
            <p:nvPr/>
          </p:nvSpPr>
          <p:spPr bwMode="auto">
            <a:xfrm>
              <a:off x="3410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70" name="Rectangle 278"/>
            <p:cNvSpPr>
              <a:spLocks noChangeArrowheads="1"/>
            </p:cNvSpPr>
            <p:nvPr/>
          </p:nvSpPr>
          <p:spPr bwMode="auto">
            <a:xfrm>
              <a:off x="3452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71" name="Rectangle 279"/>
            <p:cNvSpPr>
              <a:spLocks noChangeArrowheads="1"/>
            </p:cNvSpPr>
            <p:nvPr/>
          </p:nvSpPr>
          <p:spPr bwMode="auto">
            <a:xfrm>
              <a:off x="3494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72" name="Rectangle 280"/>
            <p:cNvSpPr>
              <a:spLocks noChangeArrowheads="1"/>
            </p:cNvSpPr>
            <p:nvPr/>
          </p:nvSpPr>
          <p:spPr bwMode="auto">
            <a:xfrm>
              <a:off x="3535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73" name="Rectangle 281"/>
            <p:cNvSpPr>
              <a:spLocks noChangeArrowheads="1"/>
            </p:cNvSpPr>
            <p:nvPr/>
          </p:nvSpPr>
          <p:spPr bwMode="auto">
            <a:xfrm>
              <a:off x="3577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74" name="Rectangle 282"/>
            <p:cNvSpPr>
              <a:spLocks noChangeArrowheads="1"/>
            </p:cNvSpPr>
            <p:nvPr/>
          </p:nvSpPr>
          <p:spPr bwMode="auto">
            <a:xfrm>
              <a:off x="3619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75" name="Rectangle 283"/>
            <p:cNvSpPr>
              <a:spLocks noChangeArrowheads="1"/>
            </p:cNvSpPr>
            <p:nvPr/>
          </p:nvSpPr>
          <p:spPr bwMode="auto">
            <a:xfrm>
              <a:off x="3660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76" name="Rectangle 284"/>
            <p:cNvSpPr>
              <a:spLocks noChangeArrowheads="1"/>
            </p:cNvSpPr>
            <p:nvPr/>
          </p:nvSpPr>
          <p:spPr bwMode="auto">
            <a:xfrm>
              <a:off x="3702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77" name="Rectangle 285"/>
            <p:cNvSpPr>
              <a:spLocks noChangeArrowheads="1"/>
            </p:cNvSpPr>
            <p:nvPr/>
          </p:nvSpPr>
          <p:spPr bwMode="auto">
            <a:xfrm>
              <a:off x="3744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78" name="Rectangle 286"/>
            <p:cNvSpPr>
              <a:spLocks noChangeArrowheads="1"/>
            </p:cNvSpPr>
            <p:nvPr/>
          </p:nvSpPr>
          <p:spPr bwMode="auto">
            <a:xfrm>
              <a:off x="3785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79" name="Rectangle 287"/>
            <p:cNvSpPr>
              <a:spLocks noChangeArrowheads="1"/>
            </p:cNvSpPr>
            <p:nvPr/>
          </p:nvSpPr>
          <p:spPr bwMode="auto">
            <a:xfrm>
              <a:off x="3827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80" name="Rectangle 288"/>
            <p:cNvSpPr>
              <a:spLocks noChangeArrowheads="1"/>
            </p:cNvSpPr>
            <p:nvPr/>
          </p:nvSpPr>
          <p:spPr bwMode="auto">
            <a:xfrm>
              <a:off x="3869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81" name="Rectangle 289"/>
            <p:cNvSpPr>
              <a:spLocks noChangeArrowheads="1"/>
            </p:cNvSpPr>
            <p:nvPr/>
          </p:nvSpPr>
          <p:spPr bwMode="auto">
            <a:xfrm>
              <a:off x="3910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82" name="Rectangle 290"/>
            <p:cNvSpPr>
              <a:spLocks noChangeArrowheads="1"/>
            </p:cNvSpPr>
            <p:nvPr/>
          </p:nvSpPr>
          <p:spPr bwMode="auto">
            <a:xfrm>
              <a:off x="3952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83" name="Rectangle 291"/>
            <p:cNvSpPr>
              <a:spLocks noChangeArrowheads="1"/>
            </p:cNvSpPr>
            <p:nvPr/>
          </p:nvSpPr>
          <p:spPr bwMode="auto">
            <a:xfrm>
              <a:off x="3994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84" name="Rectangle 292"/>
            <p:cNvSpPr>
              <a:spLocks noChangeArrowheads="1"/>
            </p:cNvSpPr>
            <p:nvPr/>
          </p:nvSpPr>
          <p:spPr bwMode="auto">
            <a:xfrm>
              <a:off x="4035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85" name="Rectangle 293"/>
            <p:cNvSpPr>
              <a:spLocks noChangeArrowheads="1"/>
            </p:cNvSpPr>
            <p:nvPr/>
          </p:nvSpPr>
          <p:spPr bwMode="auto">
            <a:xfrm>
              <a:off x="4077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86" name="Rectangle 294"/>
            <p:cNvSpPr>
              <a:spLocks noChangeArrowheads="1"/>
            </p:cNvSpPr>
            <p:nvPr/>
          </p:nvSpPr>
          <p:spPr bwMode="auto">
            <a:xfrm>
              <a:off x="4119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87" name="Rectangle 295"/>
            <p:cNvSpPr>
              <a:spLocks noChangeArrowheads="1"/>
            </p:cNvSpPr>
            <p:nvPr/>
          </p:nvSpPr>
          <p:spPr bwMode="auto">
            <a:xfrm>
              <a:off x="4161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88" name="Rectangle 296"/>
            <p:cNvSpPr>
              <a:spLocks noChangeArrowheads="1"/>
            </p:cNvSpPr>
            <p:nvPr/>
          </p:nvSpPr>
          <p:spPr bwMode="auto">
            <a:xfrm>
              <a:off x="4202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89" name="Rectangle 297"/>
            <p:cNvSpPr>
              <a:spLocks noChangeArrowheads="1"/>
            </p:cNvSpPr>
            <p:nvPr/>
          </p:nvSpPr>
          <p:spPr bwMode="auto">
            <a:xfrm>
              <a:off x="4244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90" name="Rectangle 298"/>
            <p:cNvSpPr>
              <a:spLocks noChangeArrowheads="1"/>
            </p:cNvSpPr>
            <p:nvPr/>
          </p:nvSpPr>
          <p:spPr bwMode="auto">
            <a:xfrm>
              <a:off x="4286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91" name="Rectangle 299"/>
            <p:cNvSpPr>
              <a:spLocks noChangeArrowheads="1"/>
            </p:cNvSpPr>
            <p:nvPr/>
          </p:nvSpPr>
          <p:spPr bwMode="auto">
            <a:xfrm>
              <a:off x="4327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92" name="Rectangle 300"/>
            <p:cNvSpPr>
              <a:spLocks noChangeArrowheads="1"/>
            </p:cNvSpPr>
            <p:nvPr/>
          </p:nvSpPr>
          <p:spPr bwMode="auto">
            <a:xfrm>
              <a:off x="4369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93" name="Rectangle 301"/>
            <p:cNvSpPr>
              <a:spLocks noChangeArrowheads="1"/>
            </p:cNvSpPr>
            <p:nvPr/>
          </p:nvSpPr>
          <p:spPr bwMode="auto">
            <a:xfrm>
              <a:off x="4411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94" name="Rectangle 302"/>
            <p:cNvSpPr>
              <a:spLocks noChangeArrowheads="1"/>
            </p:cNvSpPr>
            <p:nvPr/>
          </p:nvSpPr>
          <p:spPr bwMode="auto">
            <a:xfrm>
              <a:off x="4452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95" name="Rectangle 303"/>
            <p:cNvSpPr>
              <a:spLocks noChangeArrowheads="1"/>
            </p:cNvSpPr>
            <p:nvPr/>
          </p:nvSpPr>
          <p:spPr bwMode="auto">
            <a:xfrm>
              <a:off x="4494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96" name="Rectangle 304"/>
            <p:cNvSpPr>
              <a:spLocks noChangeArrowheads="1"/>
            </p:cNvSpPr>
            <p:nvPr/>
          </p:nvSpPr>
          <p:spPr bwMode="auto">
            <a:xfrm>
              <a:off x="4536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97" name="Rectangle 305"/>
            <p:cNvSpPr>
              <a:spLocks noChangeArrowheads="1"/>
            </p:cNvSpPr>
            <p:nvPr/>
          </p:nvSpPr>
          <p:spPr bwMode="auto">
            <a:xfrm>
              <a:off x="4577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98" name="Rectangle 306"/>
            <p:cNvSpPr>
              <a:spLocks noChangeArrowheads="1"/>
            </p:cNvSpPr>
            <p:nvPr/>
          </p:nvSpPr>
          <p:spPr bwMode="auto">
            <a:xfrm>
              <a:off x="4619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099" name="Rectangle 307"/>
            <p:cNvSpPr>
              <a:spLocks noChangeArrowheads="1"/>
            </p:cNvSpPr>
            <p:nvPr/>
          </p:nvSpPr>
          <p:spPr bwMode="auto">
            <a:xfrm>
              <a:off x="4661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100" name="Rectangle 308"/>
            <p:cNvSpPr>
              <a:spLocks noChangeArrowheads="1"/>
            </p:cNvSpPr>
            <p:nvPr/>
          </p:nvSpPr>
          <p:spPr bwMode="auto">
            <a:xfrm>
              <a:off x="4702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101" name="Rectangle 309"/>
            <p:cNvSpPr>
              <a:spLocks noChangeArrowheads="1"/>
            </p:cNvSpPr>
            <p:nvPr/>
          </p:nvSpPr>
          <p:spPr bwMode="auto">
            <a:xfrm>
              <a:off x="4744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102" name="Rectangle 310"/>
            <p:cNvSpPr>
              <a:spLocks noChangeArrowheads="1"/>
            </p:cNvSpPr>
            <p:nvPr/>
          </p:nvSpPr>
          <p:spPr bwMode="auto">
            <a:xfrm>
              <a:off x="4786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103" name="Rectangle 311"/>
            <p:cNvSpPr>
              <a:spLocks noChangeArrowheads="1"/>
            </p:cNvSpPr>
            <p:nvPr/>
          </p:nvSpPr>
          <p:spPr bwMode="auto">
            <a:xfrm>
              <a:off x="4827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104" name="Rectangle 312"/>
            <p:cNvSpPr>
              <a:spLocks noChangeArrowheads="1"/>
            </p:cNvSpPr>
            <p:nvPr/>
          </p:nvSpPr>
          <p:spPr bwMode="auto">
            <a:xfrm>
              <a:off x="4869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105" name="Rectangle 313"/>
            <p:cNvSpPr>
              <a:spLocks noChangeArrowheads="1"/>
            </p:cNvSpPr>
            <p:nvPr/>
          </p:nvSpPr>
          <p:spPr bwMode="auto">
            <a:xfrm>
              <a:off x="4911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106" name="Rectangle 314"/>
            <p:cNvSpPr>
              <a:spLocks noChangeArrowheads="1"/>
            </p:cNvSpPr>
            <p:nvPr/>
          </p:nvSpPr>
          <p:spPr bwMode="auto">
            <a:xfrm>
              <a:off x="4952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107" name="Rectangle 315"/>
            <p:cNvSpPr>
              <a:spLocks noChangeArrowheads="1"/>
            </p:cNvSpPr>
            <p:nvPr/>
          </p:nvSpPr>
          <p:spPr bwMode="auto">
            <a:xfrm>
              <a:off x="4994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108" name="Rectangle 316"/>
            <p:cNvSpPr>
              <a:spLocks noChangeArrowheads="1"/>
            </p:cNvSpPr>
            <p:nvPr/>
          </p:nvSpPr>
          <p:spPr bwMode="auto">
            <a:xfrm>
              <a:off x="5036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109" name="Rectangle 317"/>
            <p:cNvSpPr>
              <a:spLocks noChangeArrowheads="1"/>
            </p:cNvSpPr>
            <p:nvPr/>
          </p:nvSpPr>
          <p:spPr bwMode="auto">
            <a:xfrm>
              <a:off x="5077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110" name="Rectangle 318"/>
            <p:cNvSpPr>
              <a:spLocks noChangeArrowheads="1"/>
            </p:cNvSpPr>
            <p:nvPr/>
          </p:nvSpPr>
          <p:spPr bwMode="auto">
            <a:xfrm>
              <a:off x="5119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111" name="Rectangle 319"/>
            <p:cNvSpPr>
              <a:spLocks noChangeArrowheads="1"/>
            </p:cNvSpPr>
            <p:nvPr/>
          </p:nvSpPr>
          <p:spPr bwMode="auto">
            <a:xfrm>
              <a:off x="5161" y="2698"/>
              <a:ext cx="10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112" name="Rectangle 320"/>
            <p:cNvSpPr>
              <a:spLocks noChangeArrowheads="1"/>
            </p:cNvSpPr>
            <p:nvPr/>
          </p:nvSpPr>
          <p:spPr bwMode="auto">
            <a:xfrm>
              <a:off x="5202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113" name="Rectangle 321"/>
            <p:cNvSpPr>
              <a:spLocks noChangeArrowheads="1"/>
            </p:cNvSpPr>
            <p:nvPr/>
          </p:nvSpPr>
          <p:spPr bwMode="auto">
            <a:xfrm>
              <a:off x="5244" y="2698"/>
              <a:ext cx="11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114" name="Rectangle 322"/>
            <p:cNvSpPr>
              <a:spLocks noChangeArrowheads="1"/>
            </p:cNvSpPr>
            <p:nvPr/>
          </p:nvSpPr>
          <p:spPr bwMode="auto">
            <a:xfrm>
              <a:off x="565" y="2629"/>
              <a:ext cx="3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 i="1">
                  <a:solidFill>
                    <a:srgbClr val="000000"/>
                  </a:solidFill>
                </a:rPr>
                <a:t>I</a:t>
              </a:r>
              <a:endParaRPr lang="en-US" i="1"/>
            </a:p>
          </p:txBody>
        </p:sp>
        <p:sp>
          <p:nvSpPr>
            <p:cNvPr id="119115" name="Rectangle 323"/>
            <p:cNvSpPr>
              <a:spLocks noChangeArrowheads="1"/>
            </p:cNvSpPr>
            <p:nvPr/>
          </p:nvSpPr>
          <p:spPr bwMode="auto">
            <a:xfrm>
              <a:off x="428" y="1875"/>
              <a:ext cx="18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 i="1">
                  <a:solidFill>
                    <a:srgbClr val="000000"/>
                  </a:solidFill>
                </a:rPr>
                <a:t>L+I</a:t>
              </a:r>
              <a:endParaRPr lang="en-US"/>
            </a:p>
          </p:txBody>
        </p:sp>
        <p:sp>
          <p:nvSpPr>
            <p:cNvPr id="119116" name="Rectangle 324"/>
            <p:cNvSpPr>
              <a:spLocks noChangeArrowheads="1"/>
            </p:cNvSpPr>
            <p:nvPr/>
          </p:nvSpPr>
          <p:spPr bwMode="auto">
            <a:xfrm>
              <a:off x="218" y="2216"/>
              <a:ext cx="39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Bucket</a:t>
              </a:r>
              <a:endParaRPr lang="en-US"/>
            </a:p>
          </p:txBody>
        </p:sp>
        <p:sp>
          <p:nvSpPr>
            <p:cNvPr id="119117" name="Rectangle 325"/>
            <p:cNvSpPr>
              <a:spLocks noChangeArrowheads="1"/>
            </p:cNvSpPr>
            <p:nvPr/>
          </p:nvSpPr>
          <p:spPr bwMode="auto">
            <a:xfrm>
              <a:off x="211" y="2366"/>
              <a:ext cx="42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content</a:t>
              </a:r>
              <a:endParaRPr lang="en-US"/>
            </a:p>
          </p:txBody>
        </p:sp>
        <p:sp>
          <p:nvSpPr>
            <p:cNvPr id="119118" name="Rectangle 326"/>
            <p:cNvSpPr>
              <a:spLocks noChangeArrowheads="1"/>
            </p:cNvSpPr>
            <p:nvPr/>
          </p:nvSpPr>
          <p:spPr bwMode="auto">
            <a:xfrm>
              <a:off x="5163" y="1530"/>
              <a:ext cx="28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Time</a:t>
              </a:r>
              <a:endParaRPr lang="en-US"/>
            </a:p>
          </p:txBody>
        </p:sp>
        <p:sp>
          <p:nvSpPr>
            <p:cNvPr id="119119" name="Rectangle 327"/>
            <p:cNvSpPr>
              <a:spLocks noChangeArrowheads="1"/>
            </p:cNvSpPr>
            <p:nvPr/>
          </p:nvSpPr>
          <p:spPr bwMode="auto">
            <a:xfrm>
              <a:off x="5163" y="3276"/>
              <a:ext cx="284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Time</a:t>
              </a:r>
              <a:endParaRPr lang="en-US"/>
            </a:p>
          </p:txBody>
        </p:sp>
        <p:sp>
          <p:nvSpPr>
            <p:cNvPr id="119120" name="Rectangle 328"/>
            <p:cNvSpPr>
              <a:spLocks noChangeArrowheads="1"/>
            </p:cNvSpPr>
            <p:nvPr/>
          </p:nvSpPr>
          <p:spPr bwMode="auto">
            <a:xfrm>
              <a:off x="269" y="1032"/>
              <a:ext cx="39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Packet</a:t>
              </a:r>
              <a:endParaRPr lang="en-US"/>
            </a:p>
          </p:txBody>
        </p:sp>
        <p:sp>
          <p:nvSpPr>
            <p:cNvPr id="119121" name="Rectangle 329"/>
            <p:cNvSpPr>
              <a:spLocks noChangeArrowheads="1"/>
            </p:cNvSpPr>
            <p:nvPr/>
          </p:nvSpPr>
          <p:spPr bwMode="auto">
            <a:xfrm>
              <a:off x="287" y="1181"/>
              <a:ext cx="34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arrival</a:t>
              </a:r>
              <a:endParaRPr lang="en-US"/>
            </a:p>
          </p:txBody>
        </p:sp>
        <p:sp>
          <p:nvSpPr>
            <p:cNvPr id="119122" name="Rectangle 330"/>
            <p:cNvSpPr>
              <a:spLocks noChangeArrowheads="1"/>
            </p:cNvSpPr>
            <p:nvPr/>
          </p:nvSpPr>
          <p:spPr bwMode="auto">
            <a:xfrm>
              <a:off x="2266" y="829"/>
              <a:ext cx="86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Nonconforming</a:t>
              </a:r>
              <a:endParaRPr lang="en-US"/>
            </a:p>
          </p:txBody>
        </p:sp>
        <p:sp>
          <p:nvSpPr>
            <p:cNvPr id="119123" name="Rectangle 331"/>
            <p:cNvSpPr>
              <a:spLocks noChangeArrowheads="1"/>
            </p:cNvSpPr>
            <p:nvPr/>
          </p:nvSpPr>
          <p:spPr bwMode="auto">
            <a:xfrm>
              <a:off x="936" y="3339"/>
              <a:ext cx="5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*</a:t>
              </a:r>
              <a:endParaRPr lang="en-US"/>
            </a:p>
          </p:txBody>
        </p:sp>
        <p:sp>
          <p:nvSpPr>
            <p:cNvPr id="119124" name="Rectangle 332"/>
            <p:cNvSpPr>
              <a:spLocks noChangeArrowheads="1"/>
            </p:cNvSpPr>
            <p:nvPr/>
          </p:nvSpPr>
          <p:spPr bwMode="auto">
            <a:xfrm>
              <a:off x="1071" y="3339"/>
              <a:ext cx="5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*</a:t>
              </a:r>
              <a:endParaRPr lang="en-US"/>
            </a:p>
          </p:txBody>
        </p:sp>
        <p:sp>
          <p:nvSpPr>
            <p:cNvPr id="119125" name="Rectangle 333"/>
            <p:cNvSpPr>
              <a:spLocks noChangeArrowheads="1"/>
            </p:cNvSpPr>
            <p:nvPr/>
          </p:nvSpPr>
          <p:spPr bwMode="auto">
            <a:xfrm>
              <a:off x="1436" y="3339"/>
              <a:ext cx="5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*</a:t>
              </a:r>
              <a:endParaRPr lang="en-US"/>
            </a:p>
          </p:txBody>
        </p:sp>
        <p:sp>
          <p:nvSpPr>
            <p:cNvPr id="119126" name="Rectangle 334"/>
            <p:cNvSpPr>
              <a:spLocks noChangeArrowheads="1"/>
            </p:cNvSpPr>
            <p:nvPr/>
          </p:nvSpPr>
          <p:spPr bwMode="auto">
            <a:xfrm>
              <a:off x="1822" y="3339"/>
              <a:ext cx="5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*</a:t>
              </a:r>
              <a:endParaRPr lang="en-US"/>
            </a:p>
          </p:txBody>
        </p:sp>
        <p:sp>
          <p:nvSpPr>
            <p:cNvPr id="119127" name="Rectangle 335"/>
            <p:cNvSpPr>
              <a:spLocks noChangeArrowheads="1"/>
            </p:cNvSpPr>
            <p:nvPr/>
          </p:nvSpPr>
          <p:spPr bwMode="auto">
            <a:xfrm>
              <a:off x="2686" y="3339"/>
              <a:ext cx="5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*</a:t>
              </a:r>
              <a:endParaRPr lang="en-US"/>
            </a:p>
          </p:txBody>
        </p:sp>
        <p:sp>
          <p:nvSpPr>
            <p:cNvPr id="119128" name="Rectangle 336"/>
            <p:cNvSpPr>
              <a:spLocks noChangeArrowheads="1"/>
            </p:cNvSpPr>
            <p:nvPr/>
          </p:nvSpPr>
          <p:spPr bwMode="auto">
            <a:xfrm>
              <a:off x="3572" y="3339"/>
              <a:ext cx="5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*</a:t>
              </a:r>
              <a:endParaRPr lang="en-US"/>
            </a:p>
          </p:txBody>
        </p:sp>
        <p:sp>
          <p:nvSpPr>
            <p:cNvPr id="119129" name="Rectangle 337"/>
            <p:cNvSpPr>
              <a:spLocks noChangeArrowheads="1"/>
            </p:cNvSpPr>
            <p:nvPr/>
          </p:nvSpPr>
          <p:spPr bwMode="auto">
            <a:xfrm>
              <a:off x="3676" y="3339"/>
              <a:ext cx="5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*</a:t>
              </a:r>
              <a:endParaRPr lang="en-US"/>
            </a:p>
          </p:txBody>
        </p:sp>
        <p:sp>
          <p:nvSpPr>
            <p:cNvPr id="119130" name="Rectangle 338"/>
            <p:cNvSpPr>
              <a:spLocks noChangeArrowheads="1"/>
            </p:cNvSpPr>
            <p:nvPr/>
          </p:nvSpPr>
          <p:spPr bwMode="auto">
            <a:xfrm>
              <a:off x="4437" y="3339"/>
              <a:ext cx="5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*</a:t>
              </a:r>
              <a:endParaRPr lang="en-US"/>
            </a:p>
          </p:txBody>
        </p:sp>
        <p:sp>
          <p:nvSpPr>
            <p:cNvPr id="119131" name="Rectangle 339"/>
            <p:cNvSpPr>
              <a:spLocks noChangeArrowheads="1"/>
            </p:cNvSpPr>
            <p:nvPr/>
          </p:nvSpPr>
          <p:spPr bwMode="auto">
            <a:xfrm>
              <a:off x="3812" y="3339"/>
              <a:ext cx="5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*</a:t>
              </a:r>
              <a:endParaRPr lang="en-US"/>
            </a:p>
          </p:txBody>
        </p:sp>
        <p:sp>
          <p:nvSpPr>
            <p:cNvPr id="119132" name="Line 340"/>
            <p:cNvSpPr>
              <a:spLocks noChangeShapeType="1"/>
            </p:cNvSpPr>
            <p:nvPr/>
          </p:nvSpPr>
          <p:spPr bwMode="auto">
            <a:xfrm flipH="1">
              <a:off x="2160" y="972"/>
              <a:ext cx="132" cy="1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18787" name="Text Box 342"/>
          <p:cNvSpPr txBox="1">
            <a:spLocks noChangeArrowheads="1"/>
          </p:cNvSpPr>
          <p:nvPr/>
        </p:nvSpPr>
        <p:spPr bwMode="auto">
          <a:xfrm>
            <a:off x="246063" y="1122363"/>
            <a:ext cx="1392237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i="1"/>
              <a:t>I </a:t>
            </a:r>
            <a:r>
              <a:rPr lang="en-US"/>
              <a:t>= 4  </a:t>
            </a:r>
            <a:r>
              <a:rPr lang="en-US" i="1"/>
              <a:t>L </a:t>
            </a:r>
            <a:r>
              <a:rPr lang="en-US"/>
              <a:t>= 6</a:t>
            </a:r>
          </a:p>
        </p:txBody>
      </p:sp>
      <p:sp>
        <p:nvSpPr>
          <p:cNvPr id="118788" name="Line 343"/>
          <p:cNvSpPr>
            <a:spLocks noChangeShapeType="1"/>
          </p:cNvSpPr>
          <p:nvPr/>
        </p:nvSpPr>
        <p:spPr bwMode="auto">
          <a:xfrm flipH="1">
            <a:off x="3321050" y="2836863"/>
            <a:ext cx="7938" cy="76835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8789" name="Line 344"/>
          <p:cNvSpPr>
            <a:spLocks noChangeShapeType="1"/>
          </p:cNvSpPr>
          <p:nvPr/>
        </p:nvSpPr>
        <p:spPr bwMode="auto">
          <a:xfrm>
            <a:off x="3313113" y="1312863"/>
            <a:ext cx="7937" cy="3803650"/>
          </a:xfrm>
          <a:prstGeom prst="line">
            <a:avLst/>
          </a:prstGeom>
          <a:noFill/>
          <a:ln w="19050" cap="rnd">
            <a:solidFill>
              <a:srgbClr val="FF3300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8790" name="Line 345"/>
          <p:cNvSpPr>
            <a:spLocks noChangeShapeType="1"/>
          </p:cNvSpPr>
          <p:nvPr/>
        </p:nvSpPr>
        <p:spPr bwMode="auto">
          <a:xfrm>
            <a:off x="6267450" y="1346200"/>
            <a:ext cx="7938" cy="3803650"/>
          </a:xfrm>
          <a:prstGeom prst="line">
            <a:avLst/>
          </a:prstGeom>
          <a:noFill/>
          <a:ln w="19050" cap="rnd">
            <a:solidFill>
              <a:srgbClr val="FF3300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8791" name="Line 346"/>
          <p:cNvSpPr>
            <a:spLocks noChangeShapeType="1"/>
          </p:cNvSpPr>
          <p:nvPr/>
        </p:nvSpPr>
        <p:spPr bwMode="auto">
          <a:xfrm flipH="1">
            <a:off x="6267450" y="2441575"/>
            <a:ext cx="7938" cy="76835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18792" name="Text Box 347"/>
          <p:cNvSpPr txBox="1">
            <a:spLocks noChangeArrowheads="1"/>
          </p:cNvSpPr>
          <p:nvPr/>
        </p:nvSpPr>
        <p:spPr bwMode="auto">
          <a:xfrm>
            <a:off x="1019175" y="5529263"/>
            <a:ext cx="7210425" cy="7016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buClr>
                <a:schemeClr val="bg1"/>
              </a:buClr>
            </a:pPr>
            <a:r>
              <a:rPr lang="en-US"/>
              <a:t>Non-conforming packets not allowed into bucket &amp; hence not included in calculations</a:t>
            </a:r>
          </a:p>
        </p:txBody>
      </p:sp>
      <p:sp>
        <p:nvSpPr>
          <p:cNvPr id="118793" name="Rectangle 34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Leaky Bucket Example</a:t>
            </a:r>
          </a:p>
        </p:txBody>
      </p:sp>
      <p:sp>
        <p:nvSpPr>
          <p:cNvPr id="118794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1" name="Group 2"/>
          <p:cNvGrpSpPr>
            <a:grpSpLocks/>
          </p:cNvGrpSpPr>
          <p:nvPr/>
        </p:nvGrpSpPr>
        <p:grpSpPr bwMode="auto">
          <a:xfrm>
            <a:off x="495300" y="4070350"/>
            <a:ext cx="8148638" cy="1655763"/>
            <a:chOff x="448" y="1486"/>
            <a:chExt cx="5133" cy="1043"/>
          </a:xfrm>
        </p:grpSpPr>
        <p:grpSp>
          <p:nvGrpSpPr>
            <p:cNvPr id="2055" name="Group 3"/>
            <p:cNvGrpSpPr>
              <a:grpSpLocks/>
            </p:cNvGrpSpPr>
            <p:nvPr/>
          </p:nvGrpSpPr>
          <p:grpSpPr bwMode="auto">
            <a:xfrm>
              <a:off x="448" y="1486"/>
              <a:ext cx="5133" cy="1043"/>
              <a:chOff x="448" y="1486"/>
              <a:chExt cx="5133" cy="1043"/>
            </a:xfrm>
          </p:grpSpPr>
          <p:sp>
            <p:nvSpPr>
              <p:cNvPr id="2064" name="Line 4"/>
              <p:cNvSpPr>
                <a:spLocks noChangeShapeType="1"/>
              </p:cNvSpPr>
              <p:nvPr/>
            </p:nvSpPr>
            <p:spPr bwMode="auto">
              <a:xfrm>
                <a:off x="448" y="2073"/>
                <a:ext cx="5075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65" name="Freeform 5"/>
              <p:cNvSpPr>
                <a:spLocks/>
              </p:cNvSpPr>
              <p:nvPr/>
            </p:nvSpPr>
            <p:spPr bwMode="auto">
              <a:xfrm>
                <a:off x="5492" y="2034"/>
                <a:ext cx="89" cy="77"/>
              </a:xfrm>
              <a:custGeom>
                <a:avLst/>
                <a:gdLst>
                  <a:gd name="T0" fmla="*/ 0 w 89"/>
                  <a:gd name="T1" fmla="*/ 77 h 77"/>
                  <a:gd name="T2" fmla="*/ 13 w 89"/>
                  <a:gd name="T3" fmla="*/ 39 h 77"/>
                  <a:gd name="T4" fmla="*/ 0 w 89"/>
                  <a:gd name="T5" fmla="*/ 0 h 77"/>
                  <a:gd name="T6" fmla="*/ 89 w 89"/>
                  <a:gd name="T7" fmla="*/ 39 h 77"/>
                  <a:gd name="T8" fmla="*/ 0 w 89"/>
                  <a:gd name="T9" fmla="*/ 77 h 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9"/>
                  <a:gd name="T16" fmla="*/ 0 h 77"/>
                  <a:gd name="T17" fmla="*/ 89 w 89"/>
                  <a:gd name="T18" fmla="*/ 77 h 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9" h="77">
                    <a:moveTo>
                      <a:pt x="0" y="77"/>
                    </a:moveTo>
                    <a:lnTo>
                      <a:pt x="13" y="39"/>
                    </a:lnTo>
                    <a:lnTo>
                      <a:pt x="0" y="0"/>
                    </a:lnTo>
                    <a:lnTo>
                      <a:pt x="89" y="3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6" name="Line 6"/>
              <p:cNvSpPr>
                <a:spLocks noChangeShapeType="1"/>
              </p:cNvSpPr>
              <p:nvPr/>
            </p:nvSpPr>
            <p:spPr bwMode="auto">
              <a:xfrm>
                <a:off x="590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67" name="Line 7"/>
              <p:cNvSpPr>
                <a:spLocks noChangeShapeType="1"/>
              </p:cNvSpPr>
              <p:nvPr/>
            </p:nvSpPr>
            <p:spPr bwMode="auto">
              <a:xfrm>
                <a:off x="731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68" name="Line 8"/>
              <p:cNvSpPr>
                <a:spLocks noChangeShapeType="1"/>
              </p:cNvSpPr>
              <p:nvPr/>
            </p:nvSpPr>
            <p:spPr bwMode="auto">
              <a:xfrm>
                <a:off x="873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69" name="Line 9"/>
              <p:cNvSpPr>
                <a:spLocks noChangeShapeType="1"/>
              </p:cNvSpPr>
              <p:nvPr/>
            </p:nvSpPr>
            <p:spPr bwMode="auto">
              <a:xfrm>
                <a:off x="1014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70" name="Line 10"/>
              <p:cNvSpPr>
                <a:spLocks noChangeShapeType="1"/>
              </p:cNvSpPr>
              <p:nvPr/>
            </p:nvSpPr>
            <p:spPr bwMode="auto">
              <a:xfrm>
                <a:off x="1156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71" name="Line 11"/>
              <p:cNvSpPr>
                <a:spLocks noChangeShapeType="1"/>
              </p:cNvSpPr>
              <p:nvPr/>
            </p:nvSpPr>
            <p:spPr bwMode="auto">
              <a:xfrm>
                <a:off x="1298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72" name="Line 12"/>
              <p:cNvSpPr>
                <a:spLocks noChangeShapeType="1"/>
              </p:cNvSpPr>
              <p:nvPr/>
            </p:nvSpPr>
            <p:spPr bwMode="auto">
              <a:xfrm>
                <a:off x="1439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73" name="Line 13"/>
              <p:cNvSpPr>
                <a:spLocks noChangeShapeType="1"/>
              </p:cNvSpPr>
              <p:nvPr/>
            </p:nvSpPr>
            <p:spPr bwMode="auto">
              <a:xfrm>
                <a:off x="1581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74" name="Line 14"/>
              <p:cNvSpPr>
                <a:spLocks noChangeShapeType="1"/>
              </p:cNvSpPr>
              <p:nvPr/>
            </p:nvSpPr>
            <p:spPr bwMode="auto">
              <a:xfrm>
                <a:off x="1722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75" name="Line 15"/>
              <p:cNvSpPr>
                <a:spLocks noChangeShapeType="1"/>
              </p:cNvSpPr>
              <p:nvPr/>
            </p:nvSpPr>
            <p:spPr bwMode="auto">
              <a:xfrm>
                <a:off x="1864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76" name="Line 16"/>
              <p:cNvSpPr>
                <a:spLocks noChangeShapeType="1"/>
              </p:cNvSpPr>
              <p:nvPr/>
            </p:nvSpPr>
            <p:spPr bwMode="auto">
              <a:xfrm>
                <a:off x="2005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77" name="Line 17"/>
              <p:cNvSpPr>
                <a:spLocks noChangeShapeType="1"/>
              </p:cNvSpPr>
              <p:nvPr/>
            </p:nvSpPr>
            <p:spPr bwMode="auto">
              <a:xfrm>
                <a:off x="2147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78" name="Line 18"/>
              <p:cNvSpPr>
                <a:spLocks noChangeShapeType="1"/>
              </p:cNvSpPr>
              <p:nvPr/>
            </p:nvSpPr>
            <p:spPr bwMode="auto">
              <a:xfrm>
                <a:off x="2289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79" name="Line 19"/>
              <p:cNvSpPr>
                <a:spLocks noChangeShapeType="1"/>
              </p:cNvSpPr>
              <p:nvPr/>
            </p:nvSpPr>
            <p:spPr bwMode="auto">
              <a:xfrm>
                <a:off x="2430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80" name="Line 20"/>
              <p:cNvSpPr>
                <a:spLocks noChangeShapeType="1"/>
              </p:cNvSpPr>
              <p:nvPr/>
            </p:nvSpPr>
            <p:spPr bwMode="auto">
              <a:xfrm>
                <a:off x="2572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81" name="Line 21"/>
              <p:cNvSpPr>
                <a:spLocks noChangeShapeType="1"/>
              </p:cNvSpPr>
              <p:nvPr/>
            </p:nvSpPr>
            <p:spPr bwMode="auto">
              <a:xfrm>
                <a:off x="2713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82" name="Line 22"/>
              <p:cNvSpPr>
                <a:spLocks noChangeShapeType="1"/>
              </p:cNvSpPr>
              <p:nvPr/>
            </p:nvSpPr>
            <p:spPr bwMode="auto">
              <a:xfrm>
                <a:off x="2855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83" name="Line 23"/>
              <p:cNvSpPr>
                <a:spLocks noChangeShapeType="1"/>
              </p:cNvSpPr>
              <p:nvPr/>
            </p:nvSpPr>
            <p:spPr bwMode="auto">
              <a:xfrm>
                <a:off x="2997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84" name="Line 24"/>
              <p:cNvSpPr>
                <a:spLocks noChangeShapeType="1"/>
              </p:cNvSpPr>
              <p:nvPr/>
            </p:nvSpPr>
            <p:spPr bwMode="auto">
              <a:xfrm>
                <a:off x="3138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85" name="Line 25"/>
              <p:cNvSpPr>
                <a:spLocks noChangeShapeType="1"/>
              </p:cNvSpPr>
              <p:nvPr/>
            </p:nvSpPr>
            <p:spPr bwMode="auto">
              <a:xfrm>
                <a:off x="3280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86" name="Line 26"/>
              <p:cNvSpPr>
                <a:spLocks noChangeShapeType="1"/>
              </p:cNvSpPr>
              <p:nvPr/>
            </p:nvSpPr>
            <p:spPr bwMode="auto">
              <a:xfrm>
                <a:off x="3421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87" name="Line 27"/>
              <p:cNvSpPr>
                <a:spLocks noChangeShapeType="1"/>
              </p:cNvSpPr>
              <p:nvPr/>
            </p:nvSpPr>
            <p:spPr bwMode="auto">
              <a:xfrm>
                <a:off x="3563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88" name="Line 28"/>
              <p:cNvSpPr>
                <a:spLocks noChangeShapeType="1"/>
              </p:cNvSpPr>
              <p:nvPr/>
            </p:nvSpPr>
            <p:spPr bwMode="auto">
              <a:xfrm>
                <a:off x="3704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89" name="Line 29"/>
              <p:cNvSpPr>
                <a:spLocks noChangeShapeType="1"/>
              </p:cNvSpPr>
              <p:nvPr/>
            </p:nvSpPr>
            <p:spPr bwMode="auto">
              <a:xfrm>
                <a:off x="3846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90" name="Line 30"/>
              <p:cNvSpPr>
                <a:spLocks noChangeShapeType="1"/>
              </p:cNvSpPr>
              <p:nvPr/>
            </p:nvSpPr>
            <p:spPr bwMode="auto">
              <a:xfrm>
                <a:off x="3988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91" name="Line 31"/>
              <p:cNvSpPr>
                <a:spLocks noChangeShapeType="1"/>
              </p:cNvSpPr>
              <p:nvPr/>
            </p:nvSpPr>
            <p:spPr bwMode="auto">
              <a:xfrm>
                <a:off x="4129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92" name="Line 32"/>
              <p:cNvSpPr>
                <a:spLocks noChangeShapeType="1"/>
              </p:cNvSpPr>
              <p:nvPr/>
            </p:nvSpPr>
            <p:spPr bwMode="auto">
              <a:xfrm>
                <a:off x="4271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93" name="Line 33"/>
              <p:cNvSpPr>
                <a:spLocks noChangeShapeType="1"/>
              </p:cNvSpPr>
              <p:nvPr/>
            </p:nvSpPr>
            <p:spPr bwMode="auto">
              <a:xfrm>
                <a:off x="4412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94" name="Line 34"/>
              <p:cNvSpPr>
                <a:spLocks noChangeShapeType="1"/>
              </p:cNvSpPr>
              <p:nvPr/>
            </p:nvSpPr>
            <p:spPr bwMode="auto">
              <a:xfrm>
                <a:off x="4554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95" name="Line 35"/>
              <p:cNvSpPr>
                <a:spLocks noChangeShapeType="1"/>
              </p:cNvSpPr>
              <p:nvPr/>
            </p:nvSpPr>
            <p:spPr bwMode="auto">
              <a:xfrm>
                <a:off x="4696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96" name="Line 36"/>
              <p:cNvSpPr>
                <a:spLocks noChangeShapeType="1"/>
              </p:cNvSpPr>
              <p:nvPr/>
            </p:nvSpPr>
            <p:spPr bwMode="auto">
              <a:xfrm>
                <a:off x="4837" y="2002"/>
                <a:ext cx="1" cy="14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97" name="Rectangle 37"/>
              <p:cNvSpPr>
                <a:spLocks noChangeArrowheads="1"/>
              </p:cNvSpPr>
              <p:nvPr/>
            </p:nvSpPr>
            <p:spPr bwMode="auto">
              <a:xfrm>
                <a:off x="879" y="1796"/>
                <a:ext cx="131" cy="272"/>
              </a:xfrm>
              <a:prstGeom prst="rect">
                <a:avLst/>
              </a:prstGeom>
              <a:solidFill>
                <a:srgbClr val="FF99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8" name="Rectangle 38"/>
              <p:cNvSpPr>
                <a:spLocks noChangeArrowheads="1"/>
              </p:cNvSpPr>
              <p:nvPr/>
            </p:nvSpPr>
            <p:spPr bwMode="auto">
              <a:xfrm>
                <a:off x="1445" y="1796"/>
                <a:ext cx="131" cy="272"/>
              </a:xfrm>
              <a:prstGeom prst="rect">
                <a:avLst/>
              </a:prstGeom>
              <a:solidFill>
                <a:srgbClr val="FF99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9" name="Rectangle 39"/>
              <p:cNvSpPr>
                <a:spLocks noChangeArrowheads="1"/>
              </p:cNvSpPr>
              <p:nvPr/>
            </p:nvSpPr>
            <p:spPr bwMode="auto">
              <a:xfrm>
                <a:off x="1162" y="1796"/>
                <a:ext cx="131" cy="272"/>
              </a:xfrm>
              <a:prstGeom prst="rect">
                <a:avLst/>
              </a:prstGeom>
              <a:solidFill>
                <a:srgbClr val="FF99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0" name="Rectangle 40"/>
              <p:cNvSpPr>
                <a:spLocks noChangeArrowheads="1"/>
              </p:cNvSpPr>
              <p:nvPr/>
            </p:nvSpPr>
            <p:spPr bwMode="auto">
              <a:xfrm>
                <a:off x="1728" y="1796"/>
                <a:ext cx="131" cy="272"/>
              </a:xfrm>
              <a:prstGeom prst="rect">
                <a:avLst/>
              </a:prstGeom>
              <a:solidFill>
                <a:srgbClr val="FF99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1" name="Rectangle 41"/>
              <p:cNvSpPr>
                <a:spLocks noChangeArrowheads="1"/>
              </p:cNvSpPr>
              <p:nvPr/>
            </p:nvSpPr>
            <p:spPr bwMode="auto">
              <a:xfrm>
                <a:off x="2578" y="1796"/>
                <a:ext cx="131" cy="272"/>
              </a:xfrm>
              <a:prstGeom prst="rect">
                <a:avLst/>
              </a:prstGeom>
              <a:solidFill>
                <a:srgbClr val="FF99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2" name="Rectangle 42"/>
              <p:cNvSpPr>
                <a:spLocks noChangeArrowheads="1"/>
              </p:cNvSpPr>
              <p:nvPr/>
            </p:nvSpPr>
            <p:spPr bwMode="auto">
              <a:xfrm>
                <a:off x="3144" y="1796"/>
                <a:ext cx="131" cy="272"/>
              </a:xfrm>
              <a:prstGeom prst="rect">
                <a:avLst/>
              </a:prstGeom>
              <a:solidFill>
                <a:srgbClr val="FF99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3" name="Rectangle 43"/>
              <p:cNvSpPr>
                <a:spLocks noChangeArrowheads="1"/>
              </p:cNvSpPr>
              <p:nvPr/>
            </p:nvSpPr>
            <p:spPr bwMode="auto">
              <a:xfrm>
                <a:off x="3710" y="1796"/>
                <a:ext cx="132" cy="272"/>
              </a:xfrm>
              <a:prstGeom prst="rect">
                <a:avLst/>
              </a:prstGeom>
              <a:solidFill>
                <a:srgbClr val="FF99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4" name="Rectangle 44"/>
              <p:cNvSpPr>
                <a:spLocks noChangeArrowheads="1"/>
              </p:cNvSpPr>
              <p:nvPr/>
            </p:nvSpPr>
            <p:spPr bwMode="auto">
              <a:xfrm>
                <a:off x="4277" y="1796"/>
                <a:ext cx="131" cy="272"/>
              </a:xfrm>
              <a:prstGeom prst="rect">
                <a:avLst/>
              </a:prstGeom>
              <a:solidFill>
                <a:srgbClr val="FF99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5" name="Rectangle 45"/>
              <p:cNvSpPr>
                <a:spLocks noChangeArrowheads="1"/>
              </p:cNvSpPr>
              <p:nvPr/>
            </p:nvSpPr>
            <p:spPr bwMode="auto">
              <a:xfrm>
                <a:off x="5058" y="2227"/>
                <a:ext cx="320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</a:rPr>
                  <a:t>Time</a:t>
                </a:r>
                <a:endParaRPr lang="en-US"/>
              </a:p>
            </p:txBody>
          </p:sp>
          <p:sp>
            <p:nvSpPr>
              <p:cNvPr id="2106" name="Line 46"/>
              <p:cNvSpPr>
                <a:spLocks noChangeShapeType="1"/>
              </p:cNvSpPr>
              <p:nvPr/>
            </p:nvSpPr>
            <p:spPr bwMode="auto">
              <a:xfrm>
                <a:off x="938" y="1685"/>
                <a:ext cx="862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07" name="Freeform 47"/>
              <p:cNvSpPr>
                <a:spLocks/>
              </p:cNvSpPr>
              <p:nvPr/>
            </p:nvSpPr>
            <p:spPr bwMode="auto">
              <a:xfrm>
                <a:off x="873" y="1646"/>
                <a:ext cx="88" cy="77"/>
              </a:xfrm>
              <a:custGeom>
                <a:avLst/>
                <a:gdLst>
                  <a:gd name="T0" fmla="*/ 88 w 88"/>
                  <a:gd name="T1" fmla="*/ 0 h 77"/>
                  <a:gd name="T2" fmla="*/ 75 w 88"/>
                  <a:gd name="T3" fmla="*/ 39 h 77"/>
                  <a:gd name="T4" fmla="*/ 88 w 88"/>
                  <a:gd name="T5" fmla="*/ 77 h 77"/>
                  <a:gd name="T6" fmla="*/ 0 w 88"/>
                  <a:gd name="T7" fmla="*/ 39 h 77"/>
                  <a:gd name="T8" fmla="*/ 88 w 88"/>
                  <a:gd name="T9" fmla="*/ 0 h 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8"/>
                  <a:gd name="T16" fmla="*/ 0 h 77"/>
                  <a:gd name="T17" fmla="*/ 88 w 88"/>
                  <a:gd name="T18" fmla="*/ 77 h 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8" h="77">
                    <a:moveTo>
                      <a:pt x="88" y="0"/>
                    </a:moveTo>
                    <a:lnTo>
                      <a:pt x="75" y="39"/>
                    </a:lnTo>
                    <a:lnTo>
                      <a:pt x="88" y="77"/>
                    </a:lnTo>
                    <a:lnTo>
                      <a:pt x="0" y="39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8" name="Freeform 48"/>
              <p:cNvSpPr>
                <a:spLocks/>
              </p:cNvSpPr>
              <p:nvPr/>
            </p:nvSpPr>
            <p:spPr bwMode="auto">
              <a:xfrm>
                <a:off x="1775" y="1646"/>
                <a:ext cx="89" cy="77"/>
              </a:xfrm>
              <a:custGeom>
                <a:avLst/>
                <a:gdLst>
                  <a:gd name="T0" fmla="*/ 0 w 89"/>
                  <a:gd name="T1" fmla="*/ 77 h 77"/>
                  <a:gd name="T2" fmla="*/ 14 w 89"/>
                  <a:gd name="T3" fmla="*/ 39 h 77"/>
                  <a:gd name="T4" fmla="*/ 0 w 89"/>
                  <a:gd name="T5" fmla="*/ 0 h 77"/>
                  <a:gd name="T6" fmla="*/ 89 w 89"/>
                  <a:gd name="T7" fmla="*/ 39 h 77"/>
                  <a:gd name="T8" fmla="*/ 0 w 89"/>
                  <a:gd name="T9" fmla="*/ 77 h 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9"/>
                  <a:gd name="T16" fmla="*/ 0 h 77"/>
                  <a:gd name="T17" fmla="*/ 89 w 89"/>
                  <a:gd name="T18" fmla="*/ 77 h 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9" h="77">
                    <a:moveTo>
                      <a:pt x="0" y="77"/>
                    </a:moveTo>
                    <a:lnTo>
                      <a:pt x="14" y="39"/>
                    </a:lnTo>
                    <a:lnTo>
                      <a:pt x="0" y="0"/>
                    </a:lnTo>
                    <a:lnTo>
                      <a:pt x="89" y="3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9" name="Rectangle 49"/>
              <p:cNvSpPr>
                <a:spLocks noChangeArrowheads="1"/>
              </p:cNvSpPr>
              <p:nvPr/>
            </p:nvSpPr>
            <p:spPr bwMode="auto">
              <a:xfrm>
                <a:off x="1205" y="1486"/>
                <a:ext cx="31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>
                    <a:solidFill>
                      <a:srgbClr val="000000"/>
                    </a:solidFill>
                  </a:rPr>
                  <a:t>MBS</a:t>
                </a:r>
                <a:endParaRPr lang="en-US"/>
              </a:p>
            </p:txBody>
          </p:sp>
          <p:sp>
            <p:nvSpPr>
              <p:cNvPr id="2110" name="Line 50"/>
              <p:cNvSpPr>
                <a:spLocks noChangeShapeType="1"/>
              </p:cNvSpPr>
              <p:nvPr/>
            </p:nvSpPr>
            <p:spPr bwMode="auto">
              <a:xfrm>
                <a:off x="939" y="2267"/>
                <a:ext cx="154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11" name="Freeform 51"/>
              <p:cNvSpPr>
                <a:spLocks/>
              </p:cNvSpPr>
              <p:nvPr/>
            </p:nvSpPr>
            <p:spPr bwMode="auto">
              <a:xfrm>
                <a:off x="873" y="2228"/>
                <a:ext cx="88" cy="77"/>
              </a:xfrm>
              <a:custGeom>
                <a:avLst/>
                <a:gdLst>
                  <a:gd name="T0" fmla="*/ 88 w 88"/>
                  <a:gd name="T1" fmla="*/ 0 h 77"/>
                  <a:gd name="T2" fmla="*/ 75 w 88"/>
                  <a:gd name="T3" fmla="*/ 39 h 77"/>
                  <a:gd name="T4" fmla="*/ 88 w 88"/>
                  <a:gd name="T5" fmla="*/ 77 h 77"/>
                  <a:gd name="T6" fmla="*/ 0 w 88"/>
                  <a:gd name="T7" fmla="*/ 39 h 77"/>
                  <a:gd name="T8" fmla="*/ 88 w 88"/>
                  <a:gd name="T9" fmla="*/ 0 h 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8"/>
                  <a:gd name="T16" fmla="*/ 0 h 77"/>
                  <a:gd name="T17" fmla="*/ 88 w 88"/>
                  <a:gd name="T18" fmla="*/ 77 h 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8" h="77">
                    <a:moveTo>
                      <a:pt x="88" y="0"/>
                    </a:moveTo>
                    <a:lnTo>
                      <a:pt x="75" y="39"/>
                    </a:lnTo>
                    <a:lnTo>
                      <a:pt x="88" y="77"/>
                    </a:lnTo>
                    <a:lnTo>
                      <a:pt x="0" y="39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2" name="Freeform 52"/>
              <p:cNvSpPr>
                <a:spLocks/>
              </p:cNvSpPr>
              <p:nvPr/>
            </p:nvSpPr>
            <p:spPr bwMode="auto">
              <a:xfrm>
                <a:off x="1067" y="2228"/>
                <a:ext cx="89" cy="77"/>
              </a:xfrm>
              <a:custGeom>
                <a:avLst/>
                <a:gdLst>
                  <a:gd name="T0" fmla="*/ 0 w 89"/>
                  <a:gd name="T1" fmla="*/ 77 h 77"/>
                  <a:gd name="T2" fmla="*/ 14 w 89"/>
                  <a:gd name="T3" fmla="*/ 39 h 77"/>
                  <a:gd name="T4" fmla="*/ 0 w 89"/>
                  <a:gd name="T5" fmla="*/ 0 h 77"/>
                  <a:gd name="T6" fmla="*/ 89 w 89"/>
                  <a:gd name="T7" fmla="*/ 39 h 77"/>
                  <a:gd name="T8" fmla="*/ 0 w 89"/>
                  <a:gd name="T9" fmla="*/ 77 h 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9"/>
                  <a:gd name="T16" fmla="*/ 0 h 77"/>
                  <a:gd name="T17" fmla="*/ 89 w 89"/>
                  <a:gd name="T18" fmla="*/ 77 h 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9" h="77">
                    <a:moveTo>
                      <a:pt x="0" y="77"/>
                    </a:moveTo>
                    <a:lnTo>
                      <a:pt x="14" y="39"/>
                    </a:lnTo>
                    <a:lnTo>
                      <a:pt x="0" y="0"/>
                    </a:lnTo>
                    <a:lnTo>
                      <a:pt x="89" y="3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3" name="Rectangle 53"/>
              <p:cNvSpPr>
                <a:spLocks noChangeArrowheads="1"/>
              </p:cNvSpPr>
              <p:nvPr/>
            </p:nvSpPr>
            <p:spPr bwMode="auto">
              <a:xfrm>
                <a:off x="996" y="2356"/>
                <a:ext cx="88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 i="1">
                    <a:solidFill>
                      <a:srgbClr val="000000"/>
                    </a:solidFill>
                  </a:rPr>
                  <a:t>T</a:t>
                </a:r>
                <a:endParaRPr lang="en-US" i="1"/>
              </a:p>
            </p:txBody>
          </p:sp>
          <p:sp>
            <p:nvSpPr>
              <p:cNvPr id="2114" name="Line 54"/>
              <p:cNvSpPr>
                <a:spLocks noChangeShapeType="1"/>
              </p:cNvSpPr>
              <p:nvPr/>
            </p:nvSpPr>
            <p:spPr bwMode="auto">
              <a:xfrm>
                <a:off x="1789" y="2267"/>
                <a:ext cx="71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15" name="Freeform 55"/>
              <p:cNvSpPr>
                <a:spLocks/>
              </p:cNvSpPr>
              <p:nvPr/>
            </p:nvSpPr>
            <p:spPr bwMode="auto">
              <a:xfrm>
                <a:off x="1722" y="2228"/>
                <a:ext cx="89" cy="77"/>
              </a:xfrm>
              <a:custGeom>
                <a:avLst/>
                <a:gdLst>
                  <a:gd name="T0" fmla="*/ 89 w 89"/>
                  <a:gd name="T1" fmla="*/ 0 h 77"/>
                  <a:gd name="T2" fmla="*/ 76 w 89"/>
                  <a:gd name="T3" fmla="*/ 39 h 77"/>
                  <a:gd name="T4" fmla="*/ 89 w 89"/>
                  <a:gd name="T5" fmla="*/ 77 h 77"/>
                  <a:gd name="T6" fmla="*/ 0 w 89"/>
                  <a:gd name="T7" fmla="*/ 39 h 77"/>
                  <a:gd name="T8" fmla="*/ 89 w 89"/>
                  <a:gd name="T9" fmla="*/ 0 h 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9"/>
                  <a:gd name="T16" fmla="*/ 0 h 77"/>
                  <a:gd name="T17" fmla="*/ 89 w 89"/>
                  <a:gd name="T18" fmla="*/ 77 h 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9" h="77">
                    <a:moveTo>
                      <a:pt x="89" y="0"/>
                    </a:moveTo>
                    <a:lnTo>
                      <a:pt x="76" y="39"/>
                    </a:lnTo>
                    <a:lnTo>
                      <a:pt x="89" y="77"/>
                    </a:lnTo>
                    <a:lnTo>
                      <a:pt x="0" y="39"/>
                    </a:lnTo>
                    <a:lnTo>
                      <a:pt x="8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6" name="Freeform 56"/>
              <p:cNvSpPr>
                <a:spLocks/>
              </p:cNvSpPr>
              <p:nvPr/>
            </p:nvSpPr>
            <p:spPr bwMode="auto">
              <a:xfrm>
                <a:off x="2483" y="2228"/>
                <a:ext cx="89" cy="77"/>
              </a:xfrm>
              <a:custGeom>
                <a:avLst/>
                <a:gdLst>
                  <a:gd name="T0" fmla="*/ 0 w 89"/>
                  <a:gd name="T1" fmla="*/ 77 h 77"/>
                  <a:gd name="T2" fmla="*/ 14 w 89"/>
                  <a:gd name="T3" fmla="*/ 39 h 77"/>
                  <a:gd name="T4" fmla="*/ 0 w 89"/>
                  <a:gd name="T5" fmla="*/ 0 h 77"/>
                  <a:gd name="T6" fmla="*/ 89 w 89"/>
                  <a:gd name="T7" fmla="*/ 39 h 77"/>
                  <a:gd name="T8" fmla="*/ 0 w 89"/>
                  <a:gd name="T9" fmla="*/ 77 h 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9"/>
                  <a:gd name="T16" fmla="*/ 0 h 77"/>
                  <a:gd name="T17" fmla="*/ 89 w 89"/>
                  <a:gd name="T18" fmla="*/ 77 h 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9" h="77">
                    <a:moveTo>
                      <a:pt x="0" y="77"/>
                    </a:moveTo>
                    <a:lnTo>
                      <a:pt x="14" y="39"/>
                    </a:lnTo>
                    <a:lnTo>
                      <a:pt x="0" y="0"/>
                    </a:lnTo>
                    <a:lnTo>
                      <a:pt x="89" y="3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7" name="Rectangle 57"/>
              <p:cNvSpPr>
                <a:spLocks noChangeArrowheads="1"/>
              </p:cNvSpPr>
              <p:nvPr/>
            </p:nvSpPr>
            <p:spPr bwMode="auto">
              <a:xfrm>
                <a:off x="2084" y="2356"/>
                <a:ext cx="80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 i="1">
                    <a:solidFill>
                      <a:srgbClr val="000000"/>
                    </a:solidFill>
                  </a:rPr>
                  <a:t>L</a:t>
                </a:r>
                <a:endParaRPr lang="en-US" i="1"/>
              </a:p>
            </p:txBody>
          </p:sp>
          <p:sp>
            <p:nvSpPr>
              <p:cNvPr id="2118" name="Line 58"/>
              <p:cNvSpPr>
                <a:spLocks noChangeShapeType="1"/>
              </p:cNvSpPr>
              <p:nvPr/>
            </p:nvSpPr>
            <p:spPr bwMode="auto">
              <a:xfrm>
                <a:off x="3205" y="2267"/>
                <a:ext cx="436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19" name="Freeform 59"/>
              <p:cNvSpPr>
                <a:spLocks/>
              </p:cNvSpPr>
              <p:nvPr/>
            </p:nvSpPr>
            <p:spPr bwMode="auto">
              <a:xfrm>
                <a:off x="3138" y="2228"/>
                <a:ext cx="89" cy="77"/>
              </a:xfrm>
              <a:custGeom>
                <a:avLst/>
                <a:gdLst>
                  <a:gd name="T0" fmla="*/ 89 w 89"/>
                  <a:gd name="T1" fmla="*/ 0 h 77"/>
                  <a:gd name="T2" fmla="*/ 75 w 89"/>
                  <a:gd name="T3" fmla="*/ 39 h 77"/>
                  <a:gd name="T4" fmla="*/ 89 w 89"/>
                  <a:gd name="T5" fmla="*/ 77 h 77"/>
                  <a:gd name="T6" fmla="*/ 0 w 89"/>
                  <a:gd name="T7" fmla="*/ 39 h 77"/>
                  <a:gd name="T8" fmla="*/ 89 w 89"/>
                  <a:gd name="T9" fmla="*/ 0 h 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9"/>
                  <a:gd name="T16" fmla="*/ 0 h 77"/>
                  <a:gd name="T17" fmla="*/ 89 w 89"/>
                  <a:gd name="T18" fmla="*/ 77 h 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9" h="77">
                    <a:moveTo>
                      <a:pt x="89" y="0"/>
                    </a:moveTo>
                    <a:lnTo>
                      <a:pt x="75" y="39"/>
                    </a:lnTo>
                    <a:lnTo>
                      <a:pt x="89" y="77"/>
                    </a:lnTo>
                    <a:lnTo>
                      <a:pt x="0" y="39"/>
                    </a:lnTo>
                    <a:lnTo>
                      <a:pt x="89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0" name="Freeform 60"/>
              <p:cNvSpPr>
                <a:spLocks/>
              </p:cNvSpPr>
              <p:nvPr/>
            </p:nvSpPr>
            <p:spPr bwMode="auto">
              <a:xfrm>
                <a:off x="3616" y="2228"/>
                <a:ext cx="88" cy="77"/>
              </a:xfrm>
              <a:custGeom>
                <a:avLst/>
                <a:gdLst>
                  <a:gd name="T0" fmla="*/ 0 w 88"/>
                  <a:gd name="T1" fmla="*/ 77 h 77"/>
                  <a:gd name="T2" fmla="*/ 13 w 88"/>
                  <a:gd name="T3" fmla="*/ 39 h 77"/>
                  <a:gd name="T4" fmla="*/ 0 w 88"/>
                  <a:gd name="T5" fmla="*/ 0 h 77"/>
                  <a:gd name="T6" fmla="*/ 88 w 88"/>
                  <a:gd name="T7" fmla="*/ 39 h 77"/>
                  <a:gd name="T8" fmla="*/ 0 w 88"/>
                  <a:gd name="T9" fmla="*/ 77 h 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8"/>
                  <a:gd name="T16" fmla="*/ 0 h 77"/>
                  <a:gd name="T17" fmla="*/ 88 w 88"/>
                  <a:gd name="T18" fmla="*/ 77 h 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8" h="77">
                    <a:moveTo>
                      <a:pt x="0" y="77"/>
                    </a:moveTo>
                    <a:lnTo>
                      <a:pt x="13" y="39"/>
                    </a:lnTo>
                    <a:lnTo>
                      <a:pt x="0" y="0"/>
                    </a:lnTo>
                    <a:lnTo>
                      <a:pt x="88" y="3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1" name="Rectangle 61"/>
              <p:cNvSpPr>
                <a:spLocks noChangeArrowheads="1"/>
              </p:cNvSpPr>
              <p:nvPr/>
            </p:nvSpPr>
            <p:spPr bwMode="auto">
              <a:xfrm>
                <a:off x="3417" y="2356"/>
                <a:ext cx="40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SzTx/>
                  <a:buFontTx/>
                  <a:buNone/>
                </a:pPr>
                <a:r>
                  <a:rPr lang="en-US" sz="1800" i="1">
                    <a:solidFill>
                      <a:srgbClr val="000000"/>
                    </a:solidFill>
                  </a:rPr>
                  <a:t>I</a:t>
                </a:r>
                <a:endParaRPr lang="en-US" i="1"/>
              </a:p>
            </p:txBody>
          </p:sp>
        </p:grpSp>
        <p:sp>
          <p:nvSpPr>
            <p:cNvPr id="2056" name="Line 62"/>
            <p:cNvSpPr>
              <a:spLocks noChangeShapeType="1"/>
            </p:cNvSpPr>
            <p:nvPr/>
          </p:nvSpPr>
          <p:spPr bwMode="auto">
            <a:xfrm>
              <a:off x="3128" y="2200"/>
              <a:ext cx="0" cy="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57" name="Line 63"/>
            <p:cNvSpPr>
              <a:spLocks noChangeShapeType="1"/>
            </p:cNvSpPr>
            <p:nvPr/>
          </p:nvSpPr>
          <p:spPr bwMode="auto">
            <a:xfrm>
              <a:off x="872" y="1616"/>
              <a:ext cx="0" cy="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58" name="Line 64"/>
            <p:cNvSpPr>
              <a:spLocks noChangeShapeType="1"/>
            </p:cNvSpPr>
            <p:nvPr/>
          </p:nvSpPr>
          <p:spPr bwMode="auto">
            <a:xfrm>
              <a:off x="1856" y="1616"/>
              <a:ext cx="0" cy="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59" name="Line 65"/>
            <p:cNvSpPr>
              <a:spLocks noChangeShapeType="1"/>
            </p:cNvSpPr>
            <p:nvPr/>
          </p:nvSpPr>
          <p:spPr bwMode="auto">
            <a:xfrm>
              <a:off x="1152" y="2200"/>
              <a:ext cx="0" cy="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60" name="Line 66"/>
            <p:cNvSpPr>
              <a:spLocks noChangeShapeType="1"/>
            </p:cNvSpPr>
            <p:nvPr/>
          </p:nvSpPr>
          <p:spPr bwMode="auto">
            <a:xfrm>
              <a:off x="872" y="2192"/>
              <a:ext cx="0" cy="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61" name="Line 67"/>
            <p:cNvSpPr>
              <a:spLocks noChangeShapeType="1"/>
            </p:cNvSpPr>
            <p:nvPr/>
          </p:nvSpPr>
          <p:spPr bwMode="auto">
            <a:xfrm>
              <a:off x="1712" y="2200"/>
              <a:ext cx="0" cy="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62" name="Line 68"/>
            <p:cNvSpPr>
              <a:spLocks noChangeShapeType="1"/>
            </p:cNvSpPr>
            <p:nvPr/>
          </p:nvSpPr>
          <p:spPr bwMode="auto">
            <a:xfrm>
              <a:off x="2568" y="2208"/>
              <a:ext cx="0" cy="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63" name="Line 69"/>
            <p:cNvSpPr>
              <a:spLocks noChangeShapeType="1"/>
            </p:cNvSpPr>
            <p:nvPr/>
          </p:nvSpPr>
          <p:spPr bwMode="auto">
            <a:xfrm>
              <a:off x="3704" y="2216"/>
              <a:ext cx="0" cy="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2052" name="Text Box 71"/>
          <p:cNvSpPr txBox="1">
            <a:spLocks noChangeArrowheads="1"/>
          </p:cNvSpPr>
          <p:nvPr/>
        </p:nvSpPr>
        <p:spPr bwMode="auto">
          <a:xfrm>
            <a:off x="990600" y="1581150"/>
            <a:ext cx="5667375" cy="1006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i="1"/>
              <a:t>T</a:t>
            </a:r>
            <a:r>
              <a:rPr lang="en-US"/>
              <a:t> = 1 / peak rate</a:t>
            </a:r>
          </a:p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/>
              <a:t>MBS = maximum burst size</a:t>
            </a:r>
          </a:p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i="1"/>
              <a:t>I</a:t>
            </a:r>
            <a:r>
              <a:rPr lang="en-US"/>
              <a:t> = nominal interarrival time = 1 / sustainable rate</a:t>
            </a:r>
          </a:p>
        </p:txBody>
      </p:sp>
      <p:sp>
        <p:nvSpPr>
          <p:cNvPr id="2053" name="Rectangle 7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Policing Parameters</a:t>
            </a:r>
          </a:p>
        </p:txBody>
      </p:sp>
      <p:graphicFrame>
        <p:nvGraphicFramePr>
          <p:cNvPr id="2050" name="Object 74"/>
          <p:cNvGraphicFramePr>
            <a:graphicFrameLocks noChangeAspect="1"/>
          </p:cNvGraphicFramePr>
          <p:nvPr/>
        </p:nvGraphicFramePr>
        <p:xfrm>
          <a:off x="2579688" y="2825750"/>
          <a:ext cx="2312987" cy="863600"/>
        </p:xfrm>
        <a:graphic>
          <a:graphicData uri="http://schemas.openxmlformats.org/presentationml/2006/ole">
            <p:oleObj spid="_x0000_s2050" name="Equation" r:id="rId4" imgW="1155700" imgH="431800" progId="Equation.3">
              <p:embed/>
            </p:oleObj>
          </a:graphicData>
        </a:graphic>
      </p:graphicFrame>
      <p:sp>
        <p:nvSpPr>
          <p:cNvPr id="2054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810" name="Group 2"/>
          <p:cNvGrpSpPr>
            <a:grpSpLocks/>
          </p:cNvGrpSpPr>
          <p:nvPr/>
        </p:nvGrpSpPr>
        <p:grpSpPr bwMode="auto">
          <a:xfrm>
            <a:off x="539750" y="1944688"/>
            <a:ext cx="7766050" cy="4346575"/>
            <a:chOff x="483" y="586"/>
            <a:chExt cx="4892" cy="2738"/>
          </a:xfrm>
        </p:grpSpPr>
        <p:sp>
          <p:nvSpPr>
            <p:cNvPr id="119814" name="Rectangle 3"/>
            <p:cNvSpPr>
              <a:spLocks noChangeArrowheads="1"/>
            </p:cNvSpPr>
            <p:nvPr/>
          </p:nvSpPr>
          <p:spPr bwMode="auto">
            <a:xfrm>
              <a:off x="3421" y="715"/>
              <a:ext cx="800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Tagged or dropped</a:t>
              </a:r>
              <a:endParaRPr lang="en-US" sz="1600"/>
            </a:p>
          </p:txBody>
        </p:sp>
        <p:sp>
          <p:nvSpPr>
            <p:cNvPr id="119815" name="Rectangle 4"/>
            <p:cNvSpPr>
              <a:spLocks noChangeArrowheads="1"/>
            </p:cNvSpPr>
            <p:nvPr/>
          </p:nvSpPr>
          <p:spPr bwMode="auto">
            <a:xfrm>
              <a:off x="1263" y="1477"/>
              <a:ext cx="101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Untagged traffic</a:t>
              </a:r>
              <a:endParaRPr lang="en-US" sz="1600"/>
            </a:p>
          </p:txBody>
        </p:sp>
        <p:sp>
          <p:nvSpPr>
            <p:cNvPr id="119816" name="Rectangle 5"/>
            <p:cNvSpPr>
              <a:spLocks noChangeArrowheads="1"/>
            </p:cNvSpPr>
            <p:nvPr/>
          </p:nvSpPr>
          <p:spPr bwMode="auto">
            <a:xfrm>
              <a:off x="483" y="686"/>
              <a:ext cx="584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Incoming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traffic</a:t>
              </a:r>
              <a:endParaRPr lang="en-US" sz="1600"/>
            </a:p>
          </p:txBody>
        </p:sp>
        <p:sp>
          <p:nvSpPr>
            <p:cNvPr id="119817" name="Rectangle 6"/>
            <p:cNvSpPr>
              <a:spLocks noChangeArrowheads="1"/>
            </p:cNvSpPr>
            <p:nvPr/>
          </p:nvSpPr>
          <p:spPr bwMode="auto">
            <a:xfrm>
              <a:off x="2938" y="1879"/>
              <a:ext cx="1278" cy="2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818" name="Rectangle 7"/>
            <p:cNvSpPr>
              <a:spLocks noChangeArrowheads="1"/>
            </p:cNvSpPr>
            <p:nvPr/>
          </p:nvSpPr>
          <p:spPr bwMode="auto">
            <a:xfrm>
              <a:off x="1904" y="3151"/>
              <a:ext cx="101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Untagged traffic</a:t>
              </a:r>
              <a:endParaRPr lang="en-US" sz="1600"/>
            </a:p>
          </p:txBody>
        </p:sp>
        <p:sp>
          <p:nvSpPr>
            <p:cNvPr id="119819" name="Line 8"/>
            <p:cNvSpPr>
              <a:spLocks noChangeShapeType="1"/>
            </p:cNvSpPr>
            <p:nvPr/>
          </p:nvSpPr>
          <p:spPr bwMode="auto">
            <a:xfrm>
              <a:off x="1072" y="884"/>
              <a:ext cx="5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9820" name="Line 9"/>
            <p:cNvSpPr>
              <a:spLocks noChangeShapeType="1"/>
            </p:cNvSpPr>
            <p:nvPr/>
          </p:nvSpPr>
          <p:spPr bwMode="auto">
            <a:xfrm>
              <a:off x="3112" y="908"/>
              <a:ext cx="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9821" name="Line 10"/>
            <p:cNvSpPr>
              <a:spLocks noChangeShapeType="1"/>
            </p:cNvSpPr>
            <p:nvPr/>
          </p:nvSpPr>
          <p:spPr bwMode="auto">
            <a:xfrm>
              <a:off x="3120" y="2180"/>
              <a:ext cx="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9822" name="Line 11"/>
            <p:cNvSpPr>
              <a:spLocks noChangeShapeType="1"/>
            </p:cNvSpPr>
            <p:nvPr/>
          </p:nvSpPr>
          <p:spPr bwMode="auto">
            <a:xfrm>
              <a:off x="2328" y="1324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9823" name="Line 12"/>
            <p:cNvSpPr>
              <a:spLocks noChangeShapeType="1"/>
            </p:cNvSpPr>
            <p:nvPr/>
          </p:nvSpPr>
          <p:spPr bwMode="auto">
            <a:xfrm>
              <a:off x="2328" y="2596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9824" name="Rectangle 13"/>
            <p:cNvSpPr>
              <a:spLocks noChangeArrowheads="1"/>
            </p:cNvSpPr>
            <p:nvPr/>
          </p:nvSpPr>
          <p:spPr bwMode="auto">
            <a:xfrm>
              <a:off x="3268" y="2707"/>
              <a:ext cx="2107" cy="6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>
                  <a:solidFill>
                    <a:srgbClr val="000000"/>
                  </a:solidFill>
                </a:rPr>
                <a:t>PCR = peak cell rate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CDVT = cell delay variation tolerance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SCR = sustainable cell rate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MBS = maximum burst size</a:t>
              </a:r>
            </a:p>
          </p:txBody>
        </p:sp>
        <p:sp>
          <p:nvSpPr>
            <p:cNvPr id="119825" name="Rectangle 14"/>
            <p:cNvSpPr>
              <a:spLocks noChangeArrowheads="1"/>
            </p:cNvSpPr>
            <p:nvPr/>
          </p:nvSpPr>
          <p:spPr bwMode="auto">
            <a:xfrm>
              <a:off x="1655" y="586"/>
              <a:ext cx="1448" cy="736"/>
            </a:xfrm>
            <a:prstGeom prst="rect">
              <a:avLst/>
            </a:prstGeom>
            <a:solidFill>
              <a:srgbClr val="B1CCC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Leaky bucket 1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SCR and MBS</a:t>
              </a:r>
            </a:p>
          </p:txBody>
        </p:sp>
        <p:sp>
          <p:nvSpPr>
            <p:cNvPr id="119826" name="Rectangle 15"/>
            <p:cNvSpPr>
              <a:spLocks noChangeArrowheads="1"/>
            </p:cNvSpPr>
            <p:nvPr/>
          </p:nvSpPr>
          <p:spPr bwMode="auto">
            <a:xfrm>
              <a:off x="1655" y="1846"/>
              <a:ext cx="1448" cy="736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Leaky bucket 2</a:t>
              </a:r>
            </a:p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PCR and CDVT</a:t>
              </a:r>
            </a:p>
          </p:txBody>
        </p:sp>
        <p:sp>
          <p:nvSpPr>
            <p:cNvPr id="119827" name="Rectangle 16"/>
            <p:cNvSpPr>
              <a:spLocks noChangeArrowheads="1"/>
            </p:cNvSpPr>
            <p:nvPr/>
          </p:nvSpPr>
          <p:spPr bwMode="auto">
            <a:xfrm>
              <a:off x="3453" y="2035"/>
              <a:ext cx="800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Tagged or dropped</a:t>
              </a:r>
              <a:endParaRPr lang="en-US" sz="1600"/>
            </a:p>
          </p:txBody>
        </p:sp>
      </p:grpSp>
      <p:sp>
        <p:nvSpPr>
          <p:cNvPr id="119811" name="Text Box 18"/>
          <p:cNvSpPr txBox="1">
            <a:spLocks noChangeArrowheads="1"/>
          </p:cNvSpPr>
          <p:nvPr/>
        </p:nvSpPr>
        <p:spPr bwMode="auto">
          <a:xfrm>
            <a:off x="612775" y="1293813"/>
            <a:ext cx="68611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2400"/>
              <a:t>Dual leaky bucket to police PCR, SCR, and MBS:</a:t>
            </a:r>
          </a:p>
        </p:txBody>
      </p:sp>
      <p:sp>
        <p:nvSpPr>
          <p:cNvPr id="119812" name="Rectangle 1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Dual Leaky Bucket</a:t>
            </a:r>
          </a:p>
        </p:txBody>
      </p:sp>
      <p:sp>
        <p:nvSpPr>
          <p:cNvPr id="119813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834" name="Group 2"/>
          <p:cNvGrpSpPr>
            <a:grpSpLocks/>
          </p:cNvGrpSpPr>
          <p:nvPr/>
        </p:nvGrpSpPr>
        <p:grpSpPr bwMode="auto">
          <a:xfrm>
            <a:off x="1187450" y="1655763"/>
            <a:ext cx="6515100" cy="2185987"/>
            <a:chOff x="840" y="1166"/>
            <a:chExt cx="4104" cy="1377"/>
          </a:xfrm>
        </p:grpSpPr>
        <p:sp>
          <p:nvSpPr>
            <p:cNvPr id="120838" name="Oval 3"/>
            <p:cNvSpPr>
              <a:spLocks noChangeArrowheads="1"/>
            </p:cNvSpPr>
            <p:nvPr/>
          </p:nvSpPr>
          <p:spPr bwMode="auto">
            <a:xfrm>
              <a:off x="2292" y="1410"/>
              <a:ext cx="1212" cy="9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39" name="Oval 4"/>
            <p:cNvSpPr>
              <a:spLocks noChangeArrowheads="1"/>
            </p:cNvSpPr>
            <p:nvPr/>
          </p:nvSpPr>
          <p:spPr bwMode="auto">
            <a:xfrm>
              <a:off x="840" y="1488"/>
              <a:ext cx="1008" cy="7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40" name="Oval 5"/>
            <p:cNvSpPr>
              <a:spLocks noChangeArrowheads="1"/>
            </p:cNvSpPr>
            <p:nvPr/>
          </p:nvSpPr>
          <p:spPr bwMode="auto">
            <a:xfrm>
              <a:off x="3936" y="1488"/>
              <a:ext cx="1008" cy="7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41" name="Rectangle 6"/>
            <p:cNvSpPr>
              <a:spLocks noChangeArrowheads="1"/>
            </p:cNvSpPr>
            <p:nvPr/>
          </p:nvSpPr>
          <p:spPr bwMode="auto">
            <a:xfrm>
              <a:off x="1632" y="1779"/>
              <a:ext cx="156" cy="162"/>
            </a:xfrm>
            <a:prstGeom prst="rect">
              <a:avLst/>
            </a:prstGeom>
            <a:solidFill>
              <a:srgbClr val="B1CCC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42" name="Rectangle 7"/>
            <p:cNvSpPr>
              <a:spLocks noChangeArrowheads="1"/>
            </p:cNvSpPr>
            <p:nvPr/>
          </p:nvSpPr>
          <p:spPr bwMode="auto">
            <a:xfrm>
              <a:off x="2346" y="1779"/>
              <a:ext cx="156" cy="162"/>
            </a:xfrm>
            <a:prstGeom prst="rect">
              <a:avLst/>
            </a:prstGeom>
            <a:solidFill>
              <a:srgbClr val="B1CCC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43" name="Rectangle 8"/>
            <p:cNvSpPr>
              <a:spLocks noChangeArrowheads="1"/>
            </p:cNvSpPr>
            <p:nvPr/>
          </p:nvSpPr>
          <p:spPr bwMode="auto">
            <a:xfrm>
              <a:off x="3282" y="1779"/>
              <a:ext cx="156" cy="162"/>
            </a:xfrm>
            <a:prstGeom prst="rect">
              <a:avLst/>
            </a:prstGeom>
            <a:solidFill>
              <a:srgbClr val="B1CCC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44" name="Rectangle 9"/>
            <p:cNvSpPr>
              <a:spLocks noChangeArrowheads="1"/>
            </p:cNvSpPr>
            <p:nvPr/>
          </p:nvSpPr>
          <p:spPr bwMode="auto">
            <a:xfrm>
              <a:off x="4014" y="1779"/>
              <a:ext cx="156" cy="162"/>
            </a:xfrm>
            <a:prstGeom prst="rect">
              <a:avLst/>
            </a:prstGeom>
            <a:solidFill>
              <a:srgbClr val="B1CCCB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45" name="Line 10"/>
            <p:cNvSpPr>
              <a:spLocks noChangeShapeType="1"/>
            </p:cNvSpPr>
            <p:nvPr/>
          </p:nvSpPr>
          <p:spPr bwMode="auto">
            <a:xfrm>
              <a:off x="1788" y="1860"/>
              <a:ext cx="55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0846" name="Line 11"/>
            <p:cNvSpPr>
              <a:spLocks noChangeShapeType="1"/>
            </p:cNvSpPr>
            <p:nvPr/>
          </p:nvSpPr>
          <p:spPr bwMode="auto">
            <a:xfrm>
              <a:off x="3450" y="1860"/>
              <a:ext cx="55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0847" name="Oval 12"/>
            <p:cNvSpPr>
              <a:spLocks noChangeArrowheads="1"/>
            </p:cNvSpPr>
            <p:nvPr/>
          </p:nvSpPr>
          <p:spPr bwMode="auto">
            <a:xfrm>
              <a:off x="1688" y="1836"/>
              <a:ext cx="47" cy="48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48" name="Oval 13"/>
            <p:cNvSpPr>
              <a:spLocks noChangeArrowheads="1"/>
            </p:cNvSpPr>
            <p:nvPr/>
          </p:nvSpPr>
          <p:spPr bwMode="auto">
            <a:xfrm>
              <a:off x="2396" y="1836"/>
              <a:ext cx="47" cy="48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49" name="Oval 14"/>
            <p:cNvSpPr>
              <a:spLocks noChangeArrowheads="1"/>
            </p:cNvSpPr>
            <p:nvPr/>
          </p:nvSpPr>
          <p:spPr bwMode="auto">
            <a:xfrm>
              <a:off x="3340" y="1842"/>
              <a:ext cx="47" cy="48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50" name="Oval 15"/>
            <p:cNvSpPr>
              <a:spLocks noChangeArrowheads="1"/>
            </p:cNvSpPr>
            <p:nvPr/>
          </p:nvSpPr>
          <p:spPr bwMode="auto">
            <a:xfrm>
              <a:off x="4064" y="1836"/>
              <a:ext cx="47" cy="48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851" name="Text Box 16"/>
            <p:cNvSpPr txBox="1">
              <a:spLocks noChangeArrowheads="1"/>
            </p:cNvSpPr>
            <p:nvPr/>
          </p:nvSpPr>
          <p:spPr bwMode="auto">
            <a:xfrm>
              <a:off x="4082" y="2216"/>
              <a:ext cx="7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Network C</a:t>
              </a:r>
            </a:p>
          </p:txBody>
        </p:sp>
        <p:sp>
          <p:nvSpPr>
            <p:cNvPr id="120852" name="Text Box 17"/>
            <p:cNvSpPr txBox="1">
              <a:spLocks noChangeArrowheads="1"/>
            </p:cNvSpPr>
            <p:nvPr/>
          </p:nvSpPr>
          <p:spPr bwMode="auto">
            <a:xfrm>
              <a:off x="936" y="2216"/>
              <a:ext cx="7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Network A</a:t>
              </a:r>
            </a:p>
          </p:txBody>
        </p:sp>
        <p:sp>
          <p:nvSpPr>
            <p:cNvPr id="120853" name="Text Box 18"/>
            <p:cNvSpPr txBox="1">
              <a:spLocks noChangeArrowheads="1"/>
            </p:cNvSpPr>
            <p:nvPr/>
          </p:nvSpPr>
          <p:spPr bwMode="auto">
            <a:xfrm>
              <a:off x="2520" y="2312"/>
              <a:ext cx="7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Network B</a:t>
              </a:r>
            </a:p>
          </p:txBody>
        </p:sp>
        <p:sp>
          <p:nvSpPr>
            <p:cNvPr id="120854" name="Text Box 19"/>
            <p:cNvSpPr txBox="1">
              <a:spLocks noChangeArrowheads="1"/>
            </p:cNvSpPr>
            <p:nvPr/>
          </p:nvSpPr>
          <p:spPr bwMode="auto">
            <a:xfrm>
              <a:off x="1125" y="1208"/>
              <a:ext cx="955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Traffic shaping</a:t>
              </a:r>
            </a:p>
          </p:txBody>
        </p:sp>
        <p:sp>
          <p:nvSpPr>
            <p:cNvPr id="120855" name="Text Box 20"/>
            <p:cNvSpPr txBox="1">
              <a:spLocks noChangeArrowheads="1"/>
            </p:cNvSpPr>
            <p:nvPr/>
          </p:nvSpPr>
          <p:spPr bwMode="auto">
            <a:xfrm>
              <a:off x="2973" y="1166"/>
              <a:ext cx="955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Traffic shaping</a:t>
              </a:r>
            </a:p>
          </p:txBody>
        </p:sp>
        <p:sp>
          <p:nvSpPr>
            <p:cNvPr id="120856" name="Text Box 21"/>
            <p:cNvSpPr txBox="1">
              <a:spLocks noChangeArrowheads="1"/>
            </p:cNvSpPr>
            <p:nvPr/>
          </p:nvSpPr>
          <p:spPr bwMode="auto">
            <a:xfrm>
              <a:off x="2130" y="1178"/>
              <a:ext cx="56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Policing</a:t>
              </a:r>
            </a:p>
          </p:txBody>
        </p:sp>
        <p:sp>
          <p:nvSpPr>
            <p:cNvPr id="120857" name="Text Box 22"/>
            <p:cNvSpPr txBox="1">
              <a:spLocks noChangeArrowheads="1"/>
            </p:cNvSpPr>
            <p:nvPr/>
          </p:nvSpPr>
          <p:spPr bwMode="auto">
            <a:xfrm>
              <a:off x="3960" y="1220"/>
              <a:ext cx="56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Policing</a:t>
              </a:r>
            </a:p>
          </p:txBody>
        </p:sp>
        <p:sp>
          <p:nvSpPr>
            <p:cNvPr id="120858" name="Line 23"/>
            <p:cNvSpPr>
              <a:spLocks noChangeShapeType="1"/>
            </p:cNvSpPr>
            <p:nvPr/>
          </p:nvSpPr>
          <p:spPr bwMode="auto">
            <a:xfrm flipH="1">
              <a:off x="4068" y="1392"/>
              <a:ext cx="126" cy="4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0859" name="Line 24"/>
            <p:cNvSpPr>
              <a:spLocks noChangeShapeType="1"/>
            </p:cNvSpPr>
            <p:nvPr/>
          </p:nvSpPr>
          <p:spPr bwMode="auto">
            <a:xfrm>
              <a:off x="1608" y="1374"/>
              <a:ext cx="132" cy="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0860" name="Line 25"/>
            <p:cNvSpPr>
              <a:spLocks noChangeShapeType="1"/>
            </p:cNvSpPr>
            <p:nvPr/>
          </p:nvSpPr>
          <p:spPr bwMode="auto">
            <a:xfrm>
              <a:off x="2364" y="1368"/>
              <a:ext cx="30" cy="4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0861" name="Line 26"/>
            <p:cNvSpPr>
              <a:spLocks noChangeShapeType="1"/>
            </p:cNvSpPr>
            <p:nvPr/>
          </p:nvSpPr>
          <p:spPr bwMode="auto">
            <a:xfrm flipH="1">
              <a:off x="3396" y="1344"/>
              <a:ext cx="96" cy="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0862" name="Line 27"/>
            <p:cNvSpPr>
              <a:spLocks noChangeShapeType="1"/>
            </p:cNvSpPr>
            <p:nvPr/>
          </p:nvSpPr>
          <p:spPr bwMode="auto">
            <a:xfrm>
              <a:off x="2556" y="1860"/>
              <a:ext cx="67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0863" name="Text Box 28"/>
            <p:cNvSpPr txBox="1">
              <a:spLocks noChangeArrowheads="1"/>
            </p:cNvSpPr>
            <p:nvPr/>
          </p:nvSpPr>
          <p:spPr bwMode="auto">
            <a:xfrm>
              <a:off x="1615" y="1920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1</a:t>
              </a:r>
            </a:p>
          </p:txBody>
        </p:sp>
        <p:sp>
          <p:nvSpPr>
            <p:cNvPr id="120864" name="Text Box 29"/>
            <p:cNvSpPr txBox="1">
              <a:spLocks noChangeArrowheads="1"/>
            </p:cNvSpPr>
            <p:nvPr/>
          </p:nvSpPr>
          <p:spPr bwMode="auto">
            <a:xfrm>
              <a:off x="2341" y="1920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2</a:t>
              </a:r>
            </a:p>
          </p:txBody>
        </p:sp>
        <p:sp>
          <p:nvSpPr>
            <p:cNvPr id="120865" name="Text Box 30"/>
            <p:cNvSpPr txBox="1">
              <a:spLocks noChangeArrowheads="1"/>
            </p:cNvSpPr>
            <p:nvPr/>
          </p:nvSpPr>
          <p:spPr bwMode="auto">
            <a:xfrm>
              <a:off x="3277" y="1920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3</a:t>
              </a:r>
            </a:p>
          </p:txBody>
        </p:sp>
        <p:sp>
          <p:nvSpPr>
            <p:cNvPr id="120866" name="Text Box 31"/>
            <p:cNvSpPr txBox="1">
              <a:spLocks noChangeArrowheads="1"/>
            </p:cNvSpPr>
            <p:nvPr/>
          </p:nvSpPr>
          <p:spPr bwMode="auto">
            <a:xfrm>
              <a:off x="4009" y="1920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4</a:t>
              </a:r>
            </a:p>
          </p:txBody>
        </p:sp>
      </p:grpSp>
      <p:sp>
        <p:nvSpPr>
          <p:cNvPr id="120835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Traffic Shaping</a:t>
            </a:r>
          </a:p>
        </p:txBody>
      </p:sp>
      <p:sp>
        <p:nvSpPr>
          <p:cNvPr id="120836" name="Rectangle 34"/>
          <p:cNvSpPr>
            <a:spLocks noGrp="1" noChangeArrowheads="1"/>
          </p:cNvSpPr>
          <p:nvPr>
            <p:ph type="body" idx="1"/>
          </p:nvPr>
        </p:nvSpPr>
        <p:spPr>
          <a:xfrm>
            <a:off x="457200" y="4105275"/>
            <a:ext cx="8229600" cy="2371725"/>
          </a:xfrm>
        </p:spPr>
        <p:txBody>
          <a:bodyPr/>
          <a:lstStyle/>
          <a:p>
            <a:pPr eaLnBrk="1" hangingPunct="1"/>
            <a:r>
              <a:rPr lang="en-US" sz="2600" smtClean="0"/>
              <a:t>Networks police the incoming traffic flow</a:t>
            </a:r>
          </a:p>
          <a:p>
            <a:pPr eaLnBrk="1" hangingPunct="1"/>
            <a:r>
              <a:rPr lang="en-US" sz="2600" i="1" smtClean="0"/>
              <a:t>Traffic shaping </a:t>
            </a:r>
            <a:r>
              <a:rPr lang="en-US" sz="2600" smtClean="0"/>
              <a:t>is used to ensure that a packet stream conforms to specific parameters</a:t>
            </a:r>
          </a:p>
          <a:p>
            <a:pPr eaLnBrk="1" hangingPunct="1"/>
            <a:r>
              <a:rPr lang="en-US" sz="2600" smtClean="0"/>
              <a:t>Networks can shape their traffic prior to passing it to another network</a:t>
            </a:r>
            <a:endParaRPr lang="en-US" sz="2600" i="1" smtClean="0"/>
          </a:p>
        </p:txBody>
      </p:sp>
      <p:sp>
        <p:nvSpPr>
          <p:cNvPr id="120837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858" name="Group 2"/>
          <p:cNvGrpSpPr>
            <a:grpSpLocks/>
          </p:cNvGrpSpPr>
          <p:nvPr/>
        </p:nvGrpSpPr>
        <p:grpSpPr bwMode="auto">
          <a:xfrm>
            <a:off x="260350" y="1363663"/>
            <a:ext cx="8593138" cy="2049462"/>
            <a:chOff x="220" y="1394"/>
            <a:chExt cx="5413" cy="1291"/>
          </a:xfrm>
        </p:grpSpPr>
        <p:sp>
          <p:nvSpPr>
            <p:cNvPr id="121862" name="Rectangle 3"/>
            <p:cNvSpPr>
              <a:spLocks noChangeArrowheads="1"/>
            </p:cNvSpPr>
            <p:nvPr/>
          </p:nvSpPr>
          <p:spPr bwMode="auto">
            <a:xfrm>
              <a:off x="1786" y="1621"/>
              <a:ext cx="1616" cy="534"/>
            </a:xfrm>
            <a:prstGeom prst="rect">
              <a:avLst/>
            </a:prstGeom>
            <a:solidFill>
              <a:schemeClr val="accent1"/>
            </a:solidFill>
            <a:ln w="238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863" name="Oval 4"/>
            <p:cNvSpPr>
              <a:spLocks noChangeArrowheads="1"/>
            </p:cNvSpPr>
            <p:nvPr/>
          </p:nvSpPr>
          <p:spPr bwMode="auto">
            <a:xfrm>
              <a:off x="3890" y="1621"/>
              <a:ext cx="477" cy="521"/>
            </a:xfrm>
            <a:prstGeom prst="ellipse">
              <a:avLst/>
            </a:prstGeom>
            <a:solidFill>
              <a:schemeClr val="accent2"/>
            </a:solidFill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864" name="Line 5"/>
            <p:cNvSpPr>
              <a:spLocks noChangeShapeType="1"/>
            </p:cNvSpPr>
            <p:nvPr/>
          </p:nvSpPr>
          <p:spPr bwMode="auto">
            <a:xfrm>
              <a:off x="3409" y="1880"/>
              <a:ext cx="409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1865" name="Freeform 6"/>
            <p:cNvSpPr>
              <a:spLocks/>
            </p:cNvSpPr>
            <p:nvPr/>
          </p:nvSpPr>
          <p:spPr bwMode="auto">
            <a:xfrm>
              <a:off x="3787" y="1832"/>
              <a:ext cx="111" cy="97"/>
            </a:xfrm>
            <a:custGeom>
              <a:avLst/>
              <a:gdLst>
                <a:gd name="T0" fmla="*/ 0 w 111"/>
                <a:gd name="T1" fmla="*/ 97 h 97"/>
                <a:gd name="T2" fmla="*/ 16 w 111"/>
                <a:gd name="T3" fmla="*/ 48 h 97"/>
                <a:gd name="T4" fmla="*/ 0 w 111"/>
                <a:gd name="T5" fmla="*/ 0 h 97"/>
                <a:gd name="T6" fmla="*/ 111 w 111"/>
                <a:gd name="T7" fmla="*/ 48 h 97"/>
                <a:gd name="T8" fmla="*/ 0 w 111"/>
                <a:gd name="T9" fmla="*/ 97 h 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1"/>
                <a:gd name="T16" fmla="*/ 0 h 97"/>
                <a:gd name="T17" fmla="*/ 111 w 111"/>
                <a:gd name="T18" fmla="*/ 97 h 9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1" h="97">
                  <a:moveTo>
                    <a:pt x="0" y="97"/>
                  </a:moveTo>
                  <a:lnTo>
                    <a:pt x="16" y="48"/>
                  </a:lnTo>
                  <a:lnTo>
                    <a:pt x="0" y="0"/>
                  </a:lnTo>
                  <a:lnTo>
                    <a:pt x="111" y="48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866" name="Line 7"/>
            <p:cNvSpPr>
              <a:spLocks noChangeShapeType="1"/>
            </p:cNvSpPr>
            <p:nvPr/>
          </p:nvSpPr>
          <p:spPr bwMode="auto">
            <a:xfrm>
              <a:off x="4386" y="1880"/>
              <a:ext cx="1047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1867" name="Freeform 8"/>
            <p:cNvSpPr>
              <a:spLocks/>
            </p:cNvSpPr>
            <p:nvPr/>
          </p:nvSpPr>
          <p:spPr bwMode="auto">
            <a:xfrm>
              <a:off x="5401" y="1832"/>
              <a:ext cx="111" cy="97"/>
            </a:xfrm>
            <a:custGeom>
              <a:avLst/>
              <a:gdLst>
                <a:gd name="T0" fmla="*/ 0 w 111"/>
                <a:gd name="T1" fmla="*/ 97 h 97"/>
                <a:gd name="T2" fmla="*/ 17 w 111"/>
                <a:gd name="T3" fmla="*/ 48 h 97"/>
                <a:gd name="T4" fmla="*/ 0 w 111"/>
                <a:gd name="T5" fmla="*/ 0 h 97"/>
                <a:gd name="T6" fmla="*/ 111 w 111"/>
                <a:gd name="T7" fmla="*/ 48 h 97"/>
                <a:gd name="T8" fmla="*/ 0 w 111"/>
                <a:gd name="T9" fmla="*/ 97 h 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1"/>
                <a:gd name="T16" fmla="*/ 0 h 97"/>
                <a:gd name="T17" fmla="*/ 111 w 111"/>
                <a:gd name="T18" fmla="*/ 97 h 9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1" h="97">
                  <a:moveTo>
                    <a:pt x="0" y="97"/>
                  </a:moveTo>
                  <a:lnTo>
                    <a:pt x="17" y="48"/>
                  </a:lnTo>
                  <a:lnTo>
                    <a:pt x="0" y="0"/>
                  </a:lnTo>
                  <a:lnTo>
                    <a:pt x="111" y="48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868" name="Line 9"/>
            <p:cNvSpPr>
              <a:spLocks noChangeShapeType="1"/>
            </p:cNvSpPr>
            <p:nvPr/>
          </p:nvSpPr>
          <p:spPr bwMode="auto">
            <a:xfrm>
              <a:off x="343" y="1880"/>
              <a:ext cx="1404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1869" name="Freeform 10"/>
            <p:cNvSpPr>
              <a:spLocks/>
            </p:cNvSpPr>
            <p:nvPr/>
          </p:nvSpPr>
          <p:spPr bwMode="auto">
            <a:xfrm>
              <a:off x="1685" y="1832"/>
              <a:ext cx="111" cy="97"/>
            </a:xfrm>
            <a:custGeom>
              <a:avLst/>
              <a:gdLst>
                <a:gd name="T0" fmla="*/ 0 w 111"/>
                <a:gd name="T1" fmla="*/ 97 h 97"/>
                <a:gd name="T2" fmla="*/ 17 w 111"/>
                <a:gd name="T3" fmla="*/ 48 h 97"/>
                <a:gd name="T4" fmla="*/ 0 w 111"/>
                <a:gd name="T5" fmla="*/ 0 h 97"/>
                <a:gd name="T6" fmla="*/ 111 w 111"/>
                <a:gd name="T7" fmla="*/ 48 h 97"/>
                <a:gd name="T8" fmla="*/ 0 w 111"/>
                <a:gd name="T9" fmla="*/ 97 h 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1"/>
                <a:gd name="T16" fmla="*/ 0 h 97"/>
                <a:gd name="T17" fmla="*/ 111 w 111"/>
                <a:gd name="T18" fmla="*/ 97 h 9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1" h="97">
                  <a:moveTo>
                    <a:pt x="0" y="97"/>
                  </a:moveTo>
                  <a:lnTo>
                    <a:pt x="17" y="48"/>
                  </a:lnTo>
                  <a:lnTo>
                    <a:pt x="0" y="0"/>
                  </a:lnTo>
                  <a:lnTo>
                    <a:pt x="111" y="48"/>
                  </a:lnTo>
                  <a:lnTo>
                    <a:pt x="0" y="9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870" name="Rectangle 11"/>
            <p:cNvSpPr>
              <a:spLocks noChangeArrowheads="1"/>
            </p:cNvSpPr>
            <p:nvPr/>
          </p:nvSpPr>
          <p:spPr bwMode="auto">
            <a:xfrm>
              <a:off x="461" y="1584"/>
              <a:ext cx="1195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2200">
                  <a:solidFill>
                    <a:srgbClr val="000000"/>
                  </a:solidFill>
                </a:rPr>
                <a:t>Incoming traffic</a:t>
              </a:r>
              <a:endParaRPr lang="en-US"/>
            </a:p>
          </p:txBody>
        </p:sp>
        <p:sp>
          <p:nvSpPr>
            <p:cNvPr id="121871" name="Rectangle 12"/>
            <p:cNvSpPr>
              <a:spLocks noChangeArrowheads="1"/>
            </p:cNvSpPr>
            <p:nvPr/>
          </p:nvSpPr>
          <p:spPr bwMode="auto">
            <a:xfrm>
              <a:off x="4336" y="1564"/>
              <a:ext cx="1087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2200">
                  <a:solidFill>
                    <a:srgbClr val="000000"/>
                  </a:solidFill>
                </a:rPr>
                <a:t>Shaped traffic</a:t>
              </a:r>
              <a:endParaRPr lang="en-US"/>
            </a:p>
          </p:txBody>
        </p:sp>
        <p:sp>
          <p:nvSpPr>
            <p:cNvPr id="121872" name="Rectangle 13"/>
            <p:cNvSpPr>
              <a:spLocks noChangeArrowheads="1"/>
            </p:cNvSpPr>
            <p:nvPr/>
          </p:nvSpPr>
          <p:spPr bwMode="auto">
            <a:xfrm>
              <a:off x="3105" y="1725"/>
              <a:ext cx="106" cy="328"/>
            </a:xfrm>
            <a:prstGeom prst="rect">
              <a:avLst/>
            </a:prstGeom>
            <a:solidFill>
              <a:schemeClr val="tx2"/>
            </a:solidFill>
            <a:ln w="238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873" name="Rectangle 14"/>
            <p:cNvSpPr>
              <a:spLocks noChangeArrowheads="1"/>
            </p:cNvSpPr>
            <p:nvPr/>
          </p:nvSpPr>
          <p:spPr bwMode="auto">
            <a:xfrm>
              <a:off x="2883" y="1725"/>
              <a:ext cx="106" cy="328"/>
            </a:xfrm>
            <a:prstGeom prst="rect">
              <a:avLst/>
            </a:prstGeom>
            <a:solidFill>
              <a:schemeClr val="tx2"/>
            </a:solidFill>
            <a:ln w="238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874" name="Rectangle 15"/>
            <p:cNvSpPr>
              <a:spLocks noChangeArrowheads="1"/>
            </p:cNvSpPr>
            <p:nvPr/>
          </p:nvSpPr>
          <p:spPr bwMode="auto">
            <a:xfrm>
              <a:off x="1264" y="2006"/>
              <a:ext cx="107" cy="328"/>
            </a:xfrm>
            <a:prstGeom prst="rect">
              <a:avLst/>
            </a:prstGeom>
            <a:solidFill>
              <a:schemeClr val="tx2"/>
            </a:solidFill>
            <a:ln w="238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875" name="Rectangle 16"/>
            <p:cNvSpPr>
              <a:spLocks noChangeArrowheads="1"/>
            </p:cNvSpPr>
            <p:nvPr/>
          </p:nvSpPr>
          <p:spPr bwMode="auto">
            <a:xfrm>
              <a:off x="1105" y="2006"/>
              <a:ext cx="106" cy="328"/>
            </a:xfrm>
            <a:prstGeom prst="rect">
              <a:avLst/>
            </a:prstGeom>
            <a:solidFill>
              <a:schemeClr val="tx2"/>
            </a:solidFill>
            <a:ln w="238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876" name="Rectangle 17"/>
            <p:cNvSpPr>
              <a:spLocks noChangeArrowheads="1"/>
            </p:cNvSpPr>
            <p:nvPr/>
          </p:nvSpPr>
          <p:spPr bwMode="auto">
            <a:xfrm>
              <a:off x="1431" y="2006"/>
              <a:ext cx="106" cy="328"/>
            </a:xfrm>
            <a:prstGeom prst="rect">
              <a:avLst/>
            </a:prstGeom>
            <a:solidFill>
              <a:schemeClr val="tx2"/>
            </a:solidFill>
            <a:ln w="238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877" name="Rectangle 18"/>
            <p:cNvSpPr>
              <a:spLocks noChangeArrowheads="1"/>
            </p:cNvSpPr>
            <p:nvPr/>
          </p:nvSpPr>
          <p:spPr bwMode="auto">
            <a:xfrm>
              <a:off x="5527" y="2017"/>
              <a:ext cx="106" cy="328"/>
            </a:xfrm>
            <a:prstGeom prst="rect">
              <a:avLst/>
            </a:prstGeom>
            <a:solidFill>
              <a:schemeClr val="tx2"/>
            </a:solidFill>
            <a:ln w="238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878" name="Rectangle 19"/>
            <p:cNvSpPr>
              <a:spLocks noChangeArrowheads="1"/>
            </p:cNvSpPr>
            <p:nvPr/>
          </p:nvSpPr>
          <p:spPr bwMode="auto">
            <a:xfrm>
              <a:off x="5186" y="2017"/>
              <a:ext cx="106" cy="328"/>
            </a:xfrm>
            <a:prstGeom prst="rect">
              <a:avLst/>
            </a:prstGeom>
            <a:solidFill>
              <a:schemeClr val="tx2"/>
            </a:solidFill>
            <a:ln w="238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879" name="Rectangle 20"/>
            <p:cNvSpPr>
              <a:spLocks noChangeArrowheads="1"/>
            </p:cNvSpPr>
            <p:nvPr/>
          </p:nvSpPr>
          <p:spPr bwMode="auto">
            <a:xfrm>
              <a:off x="4838" y="2017"/>
              <a:ext cx="106" cy="328"/>
            </a:xfrm>
            <a:prstGeom prst="rect">
              <a:avLst/>
            </a:prstGeom>
            <a:solidFill>
              <a:schemeClr val="tx2"/>
            </a:solidFill>
            <a:ln w="238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880" name="Rectangle 21"/>
            <p:cNvSpPr>
              <a:spLocks noChangeArrowheads="1"/>
            </p:cNvSpPr>
            <p:nvPr/>
          </p:nvSpPr>
          <p:spPr bwMode="auto">
            <a:xfrm>
              <a:off x="4486" y="2017"/>
              <a:ext cx="106" cy="328"/>
            </a:xfrm>
            <a:prstGeom prst="rect">
              <a:avLst/>
            </a:prstGeom>
            <a:solidFill>
              <a:schemeClr val="tx2"/>
            </a:solidFill>
            <a:ln w="238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881" name="Rectangle 22"/>
            <p:cNvSpPr>
              <a:spLocks noChangeArrowheads="1"/>
            </p:cNvSpPr>
            <p:nvPr/>
          </p:nvSpPr>
          <p:spPr bwMode="auto">
            <a:xfrm>
              <a:off x="220" y="2006"/>
              <a:ext cx="106" cy="328"/>
            </a:xfrm>
            <a:prstGeom prst="rect">
              <a:avLst/>
            </a:prstGeom>
            <a:solidFill>
              <a:schemeClr val="tx2"/>
            </a:solidFill>
            <a:ln w="238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882" name="Rectangle 23"/>
            <p:cNvSpPr>
              <a:spLocks noChangeArrowheads="1"/>
            </p:cNvSpPr>
            <p:nvPr/>
          </p:nvSpPr>
          <p:spPr bwMode="auto">
            <a:xfrm>
              <a:off x="387" y="2006"/>
              <a:ext cx="106" cy="328"/>
            </a:xfrm>
            <a:prstGeom prst="rect">
              <a:avLst/>
            </a:prstGeom>
            <a:solidFill>
              <a:schemeClr val="tx2"/>
            </a:solidFill>
            <a:ln w="238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883" name="Rectangle 24"/>
            <p:cNvSpPr>
              <a:spLocks noChangeArrowheads="1"/>
            </p:cNvSpPr>
            <p:nvPr/>
          </p:nvSpPr>
          <p:spPr bwMode="auto">
            <a:xfrm>
              <a:off x="2252" y="1394"/>
              <a:ext cx="518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2200">
                  <a:solidFill>
                    <a:srgbClr val="000000"/>
                  </a:solidFill>
                </a:rPr>
                <a:t>Size </a:t>
              </a:r>
              <a:r>
                <a:rPr lang="en-US" sz="2200" i="1">
                  <a:solidFill>
                    <a:srgbClr val="000000"/>
                  </a:solidFill>
                </a:rPr>
                <a:t>N</a:t>
              </a:r>
              <a:endParaRPr lang="en-US"/>
            </a:p>
          </p:txBody>
        </p:sp>
        <p:sp>
          <p:nvSpPr>
            <p:cNvPr id="121884" name="Rectangle 25"/>
            <p:cNvSpPr>
              <a:spLocks noChangeArrowheads="1"/>
            </p:cNvSpPr>
            <p:nvPr/>
          </p:nvSpPr>
          <p:spPr bwMode="auto">
            <a:xfrm>
              <a:off x="2588" y="2474"/>
              <a:ext cx="538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2200">
                  <a:solidFill>
                    <a:srgbClr val="000000"/>
                  </a:solidFill>
                </a:rPr>
                <a:t>Packet</a:t>
              </a:r>
              <a:endParaRPr lang="en-US"/>
            </a:p>
          </p:txBody>
        </p:sp>
        <p:sp>
          <p:nvSpPr>
            <p:cNvPr id="121885" name="Line 26"/>
            <p:cNvSpPr>
              <a:spLocks noChangeShapeType="1"/>
            </p:cNvSpPr>
            <p:nvPr/>
          </p:nvSpPr>
          <p:spPr bwMode="auto">
            <a:xfrm flipV="1">
              <a:off x="2757" y="2136"/>
              <a:ext cx="132" cy="336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1886" name="Freeform 27"/>
            <p:cNvSpPr>
              <a:spLocks/>
            </p:cNvSpPr>
            <p:nvPr/>
          </p:nvSpPr>
          <p:spPr bwMode="auto">
            <a:xfrm>
              <a:off x="2835" y="2058"/>
              <a:ext cx="89" cy="120"/>
            </a:xfrm>
            <a:custGeom>
              <a:avLst/>
              <a:gdLst>
                <a:gd name="T0" fmla="*/ 89 w 89"/>
                <a:gd name="T1" fmla="*/ 120 h 120"/>
                <a:gd name="T2" fmla="*/ 50 w 89"/>
                <a:gd name="T3" fmla="*/ 87 h 120"/>
                <a:gd name="T4" fmla="*/ 0 w 89"/>
                <a:gd name="T5" fmla="*/ 85 h 120"/>
                <a:gd name="T6" fmla="*/ 85 w 89"/>
                <a:gd name="T7" fmla="*/ 0 h 120"/>
                <a:gd name="T8" fmla="*/ 89 w 89"/>
                <a:gd name="T9" fmla="*/ 120 h 1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"/>
                <a:gd name="T16" fmla="*/ 0 h 120"/>
                <a:gd name="T17" fmla="*/ 89 w 89"/>
                <a:gd name="T18" fmla="*/ 120 h 1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" h="120">
                  <a:moveTo>
                    <a:pt x="89" y="120"/>
                  </a:moveTo>
                  <a:lnTo>
                    <a:pt x="50" y="87"/>
                  </a:lnTo>
                  <a:lnTo>
                    <a:pt x="0" y="85"/>
                  </a:lnTo>
                  <a:lnTo>
                    <a:pt x="85" y="0"/>
                  </a:lnTo>
                  <a:lnTo>
                    <a:pt x="89" y="12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887" name="Rectangle 28"/>
            <p:cNvSpPr>
              <a:spLocks noChangeArrowheads="1"/>
            </p:cNvSpPr>
            <p:nvPr/>
          </p:nvSpPr>
          <p:spPr bwMode="auto">
            <a:xfrm>
              <a:off x="3917" y="1794"/>
              <a:ext cx="42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Server</a:t>
              </a:r>
              <a:endParaRPr lang="en-US"/>
            </a:p>
          </p:txBody>
        </p:sp>
      </p:grpSp>
      <p:sp>
        <p:nvSpPr>
          <p:cNvPr id="121859" name="Rectangle 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Leaky Bucket Traffic Shaper</a:t>
            </a:r>
          </a:p>
        </p:txBody>
      </p:sp>
      <p:sp>
        <p:nvSpPr>
          <p:cNvPr id="121860" name="Rectangle 31"/>
          <p:cNvSpPr>
            <a:spLocks noGrp="1" noChangeArrowheads="1"/>
          </p:cNvSpPr>
          <p:nvPr>
            <p:ph type="body" idx="1"/>
          </p:nvPr>
        </p:nvSpPr>
        <p:spPr>
          <a:xfrm>
            <a:off x="457200" y="3700463"/>
            <a:ext cx="8229600" cy="26638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600" smtClean="0"/>
              <a:t>Buffer incoming packets</a:t>
            </a:r>
          </a:p>
          <a:p>
            <a:pPr eaLnBrk="1" hangingPunct="1">
              <a:lnSpc>
                <a:spcPct val="90000"/>
              </a:lnSpc>
            </a:pPr>
            <a:r>
              <a:rPr lang="en-US" sz="2600" smtClean="0"/>
              <a:t>Play out periodically to conform to parameters</a:t>
            </a:r>
          </a:p>
          <a:p>
            <a:pPr eaLnBrk="1" hangingPunct="1">
              <a:lnSpc>
                <a:spcPct val="90000"/>
              </a:lnSpc>
            </a:pPr>
            <a:r>
              <a:rPr lang="en-US" sz="2600" smtClean="0"/>
              <a:t>Surges in arrivals are buffered &amp; smoothed out</a:t>
            </a:r>
          </a:p>
          <a:p>
            <a:pPr eaLnBrk="1" hangingPunct="1">
              <a:lnSpc>
                <a:spcPct val="90000"/>
              </a:lnSpc>
            </a:pPr>
            <a:r>
              <a:rPr lang="en-US" sz="2600" smtClean="0"/>
              <a:t>Possible packet loss due to buffer overflow</a:t>
            </a:r>
          </a:p>
          <a:p>
            <a:pPr eaLnBrk="1" hangingPunct="1">
              <a:lnSpc>
                <a:spcPct val="90000"/>
              </a:lnSpc>
            </a:pPr>
            <a:r>
              <a:rPr lang="en-US" sz="2600" smtClean="0"/>
              <a:t>Too restrictive, since conforming traffic does not need to be completely smooth</a:t>
            </a:r>
          </a:p>
          <a:p>
            <a:pPr eaLnBrk="1" hangingPunct="1">
              <a:lnSpc>
                <a:spcPct val="90000"/>
              </a:lnSpc>
            </a:pPr>
            <a:endParaRPr lang="en-US" sz="2600" smtClean="0"/>
          </a:p>
        </p:txBody>
      </p:sp>
      <p:sp>
        <p:nvSpPr>
          <p:cNvPr id="121861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882" name="Group 2"/>
          <p:cNvGrpSpPr>
            <a:grpSpLocks/>
          </p:cNvGrpSpPr>
          <p:nvPr/>
        </p:nvGrpSpPr>
        <p:grpSpPr bwMode="auto">
          <a:xfrm>
            <a:off x="1081088" y="1319213"/>
            <a:ext cx="6961187" cy="4362450"/>
            <a:chOff x="659" y="693"/>
            <a:chExt cx="4385" cy="2894"/>
          </a:xfrm>
        </p:grpSpPr>
        <p:sp>
          <p:nvSpPr>
            <p:cNvPr id="122887" name="Rectangle 3"/>
            <p:cNvSpPr>
              <a:spLocks noChangeArrowheads="1"/>
            </p:cNvSpPr>
            <p:nvPr/>
          </p:nvSpPr>
          <p:spPr bwMode="auto">
            <a:xfrm>
              <a:off x="1927" y="2831"/>
              <a:ext cx="1310" cy="393"/>
            </a:xfrm>
            <a:prstGeom prst="rect">
              <a:avLst/>
            </a:prstGeom>
            <a:solidFill>
              <a:schemeClr val="accent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888" name="Oval 4"/>
            <p:cNvSpPr>
              <a:spLocks noChangeArrowheads="1"/>
            </p:cNvSpPr>
            <p:nvPr/>
          </p:nvSpPr>
          <p:spPr bwMode="auto">
            <a:xfrm>
              <a:off x="3631" y="2831"/>
              <a:ext cx="387" cy="383"/>
            </a:xfrm>
            <a:prstGeom prst="ellipse">
              <a:avLst/>
            </a:prstGeom>
            <a:solidFill>
              <a:schemeClr val="accent2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889" name="Line 5"/>
            <p:cNvSpPr>
              <a:spLocks noChangeShapeType="1"/>
            </p:cNvSpPr>
            <p:nvPr/>
          </p:nvSpPr>
          <p:spPr bwMode="auto">
            <a:xfrm>
              <a:off x="3242" y="3022"/>
              <a:ext cx="33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2890" name="Freeform 6"/>
            <p:cNvSpPr>
              <a:spLocks/>
            </p:cNvSpPr>
            <p:nvPr/>
          </p:nvSpPr>
          <p:spPr bwMode="auto">
            <a:xfrm>
              <a:off x="3548" y="2987"/>
              <a:ext cx="90" cy="70"/>
            </a:xfrm>
            <a:custGeom>
              <a:avLst/>
              <a:gdLst>
                <a:gd name="T0" fmla="*/ 0 w 82"/>
                <a:gd name="T1" fmla="*/ 70 h 70"/>
                <a:gd name="T2" fmla="*/ 22 w 82"/>
                <a:gd name="T3" fmla="*/ 35 h 70"/>
                <a:gd name="T4" fmla="*/ 0 w 82"/>
                <a:gd name="T5" fmla="*/ 0 h 70"/>
                <a:gd name="T6" fmla="*/ 145 w 82"/>
                <a:gd name="T7" fmla="*/ 35 h 70"/>
                <a:gd name="T8" fmla="*/ 0 w 82"/>
                <a:gd name="T9" fmla="*/ 70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"/>
                <a:gd name="T16" fmla="*/ 0 h 70"/>
                <a:gd name="T17" fmla="*/ 82 w 82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" h="70">
                  <a:moveTo>
                    <a:pt x="0" y="70"/>
                  </a:moveTo>
                  <a:lnTo>
                    <a:pt x="13" y="35"/>
                  </a:lnTo>
                  <a:lnTo>
                    <a:pt x="0" y="0"/>
                  </a:lnTo>
                  <a:lnTo>
                    <a:pt x="82" y="35"/>
                  </a:lnTo>
                  <a:lnTo>
                    <a:pt x="0" y="7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891" name="Line 7"/>
            <p:cNvSpPr>
              <a:spLocks noChangeShapeType="1"/>
            </p:cNvSpPr>
            <p:nvPr/>
          </p:nvSpPr>
          <p:spPr bwMode="auto">
            <a:xfrm>
              <a:off x="4034" y="3022"/>
              <a:ext cx="920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2892" name="Freeform 8"/>
            <p:cNvSpPr>
              <a:spLocks/>
            </p:cNvSpPr>
            <p:nvPr/>
          </p:nvSpPr>
          <p:spPr bwMode="auto">
            <a:xfrm>
              <a:off x="4928" y="2987"/>
              <a:ext cx="90" cy="70"/>
            </a:xfrm>
            <a:custGeom>
              <a:avLst/>
              <a:gdLst>
                <a:gd name="T0" fmla="*/ 0 w 81"/>
                <a:gd name="T1" fmla="*/ 70 h 70"/>
                <a:gd name="T2" fmla="*/ 22 w 81"/>
                <a:gd name="T3" fmla="*/ 35 h 70"/>
                <a:gd name="T4" fmla="*/ 0 w 81"/>
                <a:gd name="T5" fmla="*/ 0 h 70"/>
                <a:gd name="T6" fmla="*/ 152 w 81"/>
                <a:gd name="T7" fmla="*/ 35 h 70"/>
                <a:gd name="T8" fmla="*/ 0 w 81"/>
                <a:gd name="T9" fmla="*/ 70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"/>
                <a:gd name="T16" fmla="*/ 0 h 70"/>
                <a:gd name="T17" fmla="*/ 81 w 81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" h="70">
                  <a:moveTo>
                    <a:pt x="0" y="70"/>
                  </a:moveTo>
                  <a:lnTo>
                    <a:pt x="12" y="35"/>
                  </a:lnTo>
                  <a:lnTo>
                    <a:pt x="0" y="0"/>
                  </a:lnTo>
                  <a:lnTo>
                    <a:pt x="81" y="35"/>
                  </a:lnTo>
                  <a:lnTo>
                    <a:pt x="0" y="7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893" name="Line 9"/>
            <p:cNvSpPr>
              <a:spLocks noChangeShapeType="1"/>
            </p:cNvSpPr>
            <p:nvPr/>
          </p:nvSpPr>
          <p:spPr bwMode="auto">
            <a:xfrm>
              <a:off x="688" y="3022"/>
              <a:ext cx="1182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2894" name="Freeform 10"/>
            <p:cNvSpPr>
              <a:spLocks/>
            </p:cNvSpPr>
            <p:nvPr/>
          </p:nvSpPr>
          <p:spPr bwMode="auto">
            <a:xfrm>
              <a:off x="1845" y="2987"/>
              <a:ext cx="90" cy="70"/>
            </a:xfrm>
            <a:custGeom>
              <a:avLst/>
              <a:gdLst>
                <a:gd name="T0" fmla="*/ 0 w 82"/>
                <a:gd name="T1" fmla="*/ 70 h 70"/>
                <a:gd name="T2" fmla="*/ 20 w 82"/>
                <a:gd name="T3" fmla="*/ 35 h 70"/>
                <a:gd name="T4" fmla="*/ 0 w 82"/>
                <a:gd name="T5" fmla="*/ 0 h 70"/>
                <a:gd name="T6" fmla="*/ 145 w 82"/>
                <a:gd name="T7" fmla="*/ 35 h 70"/>
                <a:gd name="T8" fmla="*/ 0 w 82"/>
                <a:gd name="T9" fmla="*/ 70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"/>
                <a:gd name="T16" fmla="*/ 0 h 70"/>
                <a:gd name="T17" fmla="*/ 82 w 82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2" h="70">
                  <a:moveTo>
                    <a:pt x="0" y="70"/>
                  </a:moveTo>
                  <a:lnTo>
                    <a:pt x="12" y="35"/>
                  </a:lnTo>
                  <a:lnTo>
                    <a:pt x="0" y="0"/>
                  </a:lnTo>
                  <a:lnTo>
                    <a:pt x="82" y="35"/>
                  </a:lnTo>
                  <a:lnTo>
                    <a:pt x="0" y="7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895" name="Rectangle 11"/>
            <p:cNvSpPr>
              <a:spLocks noChangeArrowheads="1"/>
            </p:cNvSpPr>
            <p:nvPr/>
          </p:nvSpPr>
          <p:spPr bwMode="auto">
            <a:xfrm>
              <a:off x="844" y="2758"/>
              <a:ext cx="924" cy="1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700">
                  <a:solidFill>
                    <a:srgbClr val="000000"/>
                  </a:solidFill>
                </a:rPr>
                <a:t>Incoming traffic</a:t>
              </a:r>
              <a:endParaRPr lang="en-US" sz="1800"/>
            </a:p>
          </p:txBody>
        </p:sp>
        <p:sp>
          <p:nvSpPr>
            <p:cNvPr id="122896" name="Rectangle 12"/>
            <p:cNvSpPr>
              <a:spLocks noChangeArrowheads="1"/>
            </p:cNvSpPr>
            <p:nvPr/>
          </p:nvSpPr>
          <p:spPr bwMode="auto">
            <a:xfrm>
              <a:off x="4132" y="2793"/>
              <a:ext cx="842" cy="1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700">
                  <a:solidFill>
                    <a:srgbClr val="000000"/>
                  </a:solidFill>
                </a:rPr>
                <a:t>Shaped traffic</a:t>
              </a:r>
              <a:endParaRPr lang="en-US" sz="1800"/>
            </a:p>
          </p:txBody>
        </p:sp>
        <p:sp>
          <p:nvSpPr>
            <p:cNvPr id="122897" name="Rectangle 13"/>
            <p:cNvSpPr>
              <a:spLocks noChangeArrowheads="1"/>
            </p:cNvSpPr>
            <p:nvPr/>
          </p:nvSpPr>
          <p:spPr bwMode="auto">
            <a:xfrm>
              <a:off x="2996" y="2907"/>
              <a:ext cx="87" cy="242"/>
            </a:xfrm>
            <a:prstGeom prst="rect">
              <a:avLst/>
            </a:prstGeom>
            <a:solidFill>
              <a:schemeClr val="tx2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898" name="Rectangle 14"/>
            <p:cNvSpPr>
              <a:spLocks noChangeArrowheads="1"/>
            </p:cNvSpPr>
            <p:nvPr/>
          </p:nvSpPr>
          <p:spPr bwMode="auto">
            <a:xfrm>
              <a:off x="2816" y="2907"/>
              <a:ext cx="86" cy="242"/>
            </a:xfrm>
            <a:prstGeom prst="rect">
              <a:avLst/>
            </a:prstGeom>
            <a:solidFill>
              <a:schemeClr val="tx2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899" name="Rectangle 15"/>
            <p:cNvSpPr>
              <a:spLocks noChangeArrowheads="1"/>
            </p:cNvSpPr>
            <p:nvPr/>
          </p:nvSpPr>
          <p:spPr bwMode="auto">
            <a:xfrm>
              <a:off x="1505" y="3114"/>
              <a:ext cx="87" cy="242"/>
            </a:xfrm>
            <a:prstGeom prst="rect">
              <a:avLst/>
            </a:prstGeom>
            <a:solidFill>
              <a:schemeClr val="tx2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00" name="Rectangle 16"/>
            <p:cNvSpPr>
              <a:spLocks noChangeArrowheads="1"/>
            </p:cNvSpPr>
            <p:nvPr/>
          </p:nvSpPr>
          <p:spPr bwMode="auto">
            <a:xfrm>
              <a:off x="1376" y="3114"/>
              <a:ext cx="86" cy="242"/>
            </a:xfrm>
            <a:prstGeom prst="rect">
              <a:avLst/>
            </a:prstGeom>
            <a:solidFill>
              <a:schemeClr val="tx2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01" name="Rectangle 17"/>
            <p:cNvSpPr>
              <a:spLocks noChangeArrowheads="1"/>
            </p:cNvSpPr>
            <p:nvPr/>
          </p:nvSpPr>
          <p:spPr bwMode="auto">
            <a:xfrm>
              <a:off x="1640" y="3114"/>
              <a:ext cx="86" cy="242"/>
            </a:xfrm>
            <a:prstGeom prst="rect">
              <a:avLst/>
            </a:prstGeom>
            <a:solidFill>
              <a:schemeClr val="tx2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02" name="Rectangle 18"/>
            <p:cNvSpPr>
              <a:spLocks noChangeArrowheads="1"/>
            </p:cNvSpPr>
            <p:nvPr/>
          </p:nvSpPr>
          <p:spPr bwMode="auto">
            <a:xfrm>
              <a:off x="4957" y="3122"/>
              <a:ext cx="87" cy="242"/>
            </a:xfrm>
            <a:prstGeom prst="rect">
              <a:avLst/>
            </a:prstGeom>
            <a:solidFill>
              <a:schemeClr val="tx2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03" name="Rectangle 19"/>
            <p:cNvSpPr>
              <a:spLocks noChangeArrowheads="1"/>
            </p:cNvSpPr>
            <p:nvPr/>
          </p:nvSpPr>
          <p:spPr bwMode="auto">
            <a:xfrm>
              <a:off x="4813" y="3122"/>
              <a:ext cx="87" cy="242"/>
            </a:xfrm>
            <a:prstGeom prst="rect">
              <a:avLst/>
            </a:prstGeom>
            <a:solidFill>
              <a:schemeClr val="tx2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04" name="Rectangle 20"/>
            <p:cNvSpPr>
              <a:spLocks noChangeArrowheads="1"/>
            </p:cNvSpPr>
            <p:nvPr/>
          </p:nvSpPr>
          <p:spPr bwMode="auto">
            <a:xfrm>
              <a:off x="4531" y="3122"/>
              <a:ext cx="87" cy="242"/>
            </a:xfrm>
            <a:prstGeom prst="rect">
              <a:avLst/>
            </a:prstGeom>
            <a:solidFill>
              <a:schemeClr val="tx2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05" name="Rectangle 21"/>
            <p:cNvSpPr>
              <a:spLocks noChangeArrowheads="1"/>
            </p:cNvSpPr>
            <p:nvPr/>
          </p:nvSpPr>
          <p:spPr bwMode="auto">
            <a:xfrm>
              <a:off x="4246" y="3122"/>
              <a:ext cx="87" cy="242"/>
            </a:xfrm>
            <a:prstGeom prst="rect">
              <a:avLst/>
            </a:prstGeom>
            <a:solidFill>
              <a:schemeClr val="tx2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06" name="Rectangle 22"/>
            <p:cNvSpPr>
              <a:spLocks noChangeArrowheads="1"/>
            </p:cNvSpPr>
            <p:nvPr/>
          </p:nvSpPr>
          <p:spPr bwMode="auto">
            <a:xfrm>
              <a:off x="659" y="3114"/>
              <a:ext cx="87" cy="242"/>
            </a:xfrm>
            <a:prstGeom prst="rect">
              <a:avLst/>
            </a:prstGeom>
            <a:solidFill>
              <a:schemeClr val="tx2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07" name="Rectangle 23"/>
            <p:cNvSpPr>
              <a:spLocks noChangeArrowheads="1"/>
            </p:cNvSpPr>
            <p:nvPr/>
          </p:nvSpPr>
          <p:spPr bwMode="auto">
            <a:xfrm>
              <a:off x="794" y="3114"/>
              <a:ext cx="86" cy="242"/>
            </a:xfrm>
            <a:prstGeom prst="rect">
              <a:avLst/>
            </a:prstGeom>
            <a:solidFill>
              <a:schemeClr val="tx2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08" name="Rectangle 24"/>
            <p:cNvSpPr>
              <a:spLocks noChangeArrowheads="1"/>
            </p:cNvSpPr>
            <p:nvPr/>
          </p:nvSpPr>
          <p:spPr bwMode="auto">
            <a:xfrm>
              <a:off x="3590" y="1268"/>
              <a:ext cx="433" cy="1188"/>
            </a:xfrm>
            <a:prstGeom prst="rect">
              <a:avLst/>
            </a:prstGeom>
            <a:solidFill>
              <a:schemeClr val="accent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09" name="Line 25"/>
            <p:cNvSpPr>
              <a:spLocks noChangeShapeType="1"/>
            </p:cNvSpPr>
            <p:nvPr/>
          </p:nvSpPr>
          <p:spPr bwMode="auto">
            <a:xfrm>
              <a:off x="3812" y="2461"/>
              <a:ext cx="1" cy="30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2910" name="Freeform 26"/>
            <p:cNvSpPr>
              <a:spLocks/>
            </p:cNvSpPr>
            <p:nvPr/>
          </p:nvSpPr>
          <p:spPr bwMode="auto">
            <a:xfrm>
              <a:off x="3773" y="2739"/>
              <a:ext cx="78" cy="81"/>
            </a:xfrm>
            <a:custGeom>
              <a:avLst/>
              <a:gdLst>
                <a:gd name="T0" fmla="*/ 0 w 71"/>
                <a:gd name="T1" fmla="*/ 0 h 81"/>
                <a:gd name="T2" fmla="*/ 62 w 71"/>
                <a:gd name="T3" fmla="*/ 12 h 81"/>
                <a:gd name="T4" fmla="*/ 124 w 71"/>
                <a:gd name="T5" fmla="*/ 0 h 81"/>
                <a:gd name="T6" fmla="*/ 62 w 71"/>
                <a:gd name="T7" fmla="*/ 81 h 81"/>
                <a:gd name="T8" fmla="*/ 0 w 71"/>
                <a:gd name="T9" fmla="*/ 0 h 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"/>
                <a:gd name="T16" fmla="*/ 0 h 81"/>
                <a:gd name="T17" fmla="*/ 71 w 71"/>
                <a:gd name="T18" fmla="*/ 81 h 8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" h="81">
                  <a:moveTo>
                    <a:pt x="0" y="0"/>
                  </a:moveTo>
                  <a:lnTo>
                    <a:pt x="35" y="12"/>
                  </a:lnTo>
                  <a:lnTo>
                    <a:pt x="71" y="0"/>
                  </a:lnTo>
                  <a:lnTo>
                    <a:pt x="35" y="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11" name="Line 27"/>
            <p:cNvSpPr>
              <a:spLocks noChangeShapeType="1"/>
            </p:cNvSpPr>
            <p:nvPr/>
          </p:nvSpPr>
          <p:spPr bwMode="auto">
            <a:xfrm>
              <a:off x="3812" y="693"/>
              <a:ext cx="1" cy="54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2912" name="Freeform 28"/>
            <p:cNvSpPr>
              <a:spLocks/>
            </p:cNvSpPr>
            <p:nvPr/>
          </p:nvSpPr>
          <p:spPr bwMode="auto">
            <a:xfrm>
              <a:off x="3773" y="1210"/>
              <a:ext cx="78" cy="82"/>
            </a:xfrm>
            <a:custGeom>
              <a:avLst/>
              <a:gdLst>
                <a:gd name="T0" fmla="*/ 0 w 71"/>
                <a:gd name="T1" fmla="*/ 0 h 82"/>
                <a:gd name="T2" fmla="*/ 62 w 71"/>
                <a:gd name="T3" fmla="*/ 12 h 82"/>
                <a:gd name="T4" fmla="*/ 124 w 71"/>
                <a:gd name="T5" fmla="*/ 0 h 82"/>
                <a:gd name="T6" fmla="*/ 62 w 71"/>
                <a:gd name="T7" fmla="*/ 82 h 82"/>
                <a:gd name="T8" fmla="*/ 0 w 71"/>
                <a:gd name="T9" fmla="*/ 0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1"/>
                <a:gd name="T16" fmla="*/ 0 h 82"/>
                <a:gd name="T17" fmla="*/ 71 w 71"/>
                <a:gd name="T18" fmla="*/ 82 h 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1" h="82">
                  <a:moveTo>
                    <a:pt x="0" y="0"/>
                  </a:moveTo>
                  <a:lnTo>
                    <a:pt x="35" y="12"/>
                  </a:lnTo>
                  <a:lnTo>
                    <a:pt x="71" y="0"/>
                  </a:lnTo>
                  <a:lnTo>
                    <a:pt x="35" y="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13" name="Rectangle 29"/>
            <p:cNvSpPr>
              <a:spLocks noChangeArrowheads="1"/>
            </p:cNvSpPr>
            <p:nvPr/>
          </p:nvSpPr>
          <p:spPr bwMode="auto">
            <a:xfrm>
              <a:off x="3673" y="2237"/>
              <a:ext cx="268" cy="79"/>
            </a:xfrm>
            <a:prstGeom prst="rect">
              <a:avLst/>
            </a:prstGeom>
            <a:solidFill>
              <a:schemeClr val="folHlink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14" name="Rectangle 30"/>
            <p:cNvSpPr>
              <a:spLocks noChangeArrowheads="1"/>
            </p:cNvSpPr>
            <p:nvPr/>
          </p:nvSpPr>
          <p:spPr bwMode="auto">
            <a:xfrm>
              <a:off x="3673" y="2074"/>
              <a:ext cx="268" cy="78"/>
            </a:xfrm>
            <a:prstGeom prst="rect">
              <a:avLst/>
            </a:prstGeom>
            <a:solidFill>
              <a:schemeClr val="folHlink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15" name="Rectangle 31"/>
            <p:cNvSpPr>
              <a:spLocks noChangeArrowheads="1"/>
            </p:cNvSpPr>
            <p:nvPr/>
          </p:nvSpPr>
          <p:spPr bwMode="auto">
            <a:xfrm>
              <a:off x="2222" y="2653"/>
              <a:ext cx="401" cy="1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700">
                  <a:solidFill>
                    <a:srgbClr val="000000"/>
                  </a:solidFill>
                </a:rPr>
                <a:t>Size </a:t>
              </a:r>
              <a:r>
                <a:rPr lang="en-US" sz="1700" i="1">
                  <a:solidFill>
                    <a:srgbClr val="000000"/>
                  </a:solidFill>
                </a:rPr>
                <a:t>N</a:t>
              </a:r>
              <a:endParaRPr lang="en-US" sz="1800" i="1"/>
            </a:p>
          </p:txBody>
        </p:sp>
        <p:sp>
          <p:nvSpPr>
            <p:cNvPr id="122916" name="Rectangle 32"/>
            <p:cNvSpPr>
              <a:spLocks noChangeArrowheads="1"/>
            </p:cNvSpPr>
            <p:nvPr/>
          </p:nvSpPr>
          <p:spPr bwMode="auto">
            <a:xfrm>
              <a:off x="4106" y="1825"/>
              <a:ext cx="394" cy="1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700">
                  <a:solidFill>
                    <a:srgbClr val="000000"/>
                  </a:solidFill>
                </a:rPr>
                <a:t>Size </a:t>
              </a:r>
              <a:r>
                <a:rPr lang="en-US" sz="1700" i="1">
                  <a:solidFill>
                    <a:srgbClr val="000000"/>
                  </a:solidFill>
                </a:rPr>
                <a:t>K</a:t>
              </a:r>
              <a:endParaRPr lang="en-US" sz="1800"/>
            </a:p>
          </p:txBody>
        </p:sp>
        <p:sp>
          <p:nvSpPr>
            <p:cNvPr id="122917" name="Rectangle 33"/>
            <p:cNvSpPr>
              <a:spLocks noChangeArrowheads="1"/>
            </p:cNvSpPr>
            <p:nvPr/>
          </p:nvSpPr>
          <p:spPr bwMode="auto">
            <a:xfrm>
              <a:off x="3963" y="747"/>
              <a:ext cx="82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700">
                  <a:solidFill>
                    <a:srgbClr val="000000"/>
                  </a:solidFill>
                </a:rPr>
                <a:t>Tokens arrive</a:t>
              </a:r>
              <a:endParaRPr lang="en-US" sz="1800"/>
            </a:p>
          </p:txBody>
        </p:sp>
        <p:sp>
          <p:nvSpPr>
            <p:cNvPr id="122918" name="Rectangle 34"/>
            <p:cNvSpPr>
              <a:spLocks noChangeArrowheads="1"/>
            </p:cNvSpPr>
            <p:nvPr/>
          </p:nvSpPr>
          <p:spPr bwMode="auto">
            <a:xfrm>
              <a:off x="4017" y="903"/>
              <a:ext cx="681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700">
                  <a:solidFill>
                    <a:srgbClr val="000000"/>
                  </a:solidFill>
                </a:rPr>
                <a:t>periodically</a:t>
              </a:r>
              <a:endParaRPr lang="en-US" sz="1800"/>
            </a:p>
          </p:txBody>
        </p:sp>
        <p:sp>
          <p:nvSpPr>
            <p:cNvPr id="122919" name="Rectangle 35"/>
            <p:cNvSpPr>
              <a:spLocks noChangeArrowheads="1"/>
            </p:cNvSpPr>
            <p:nvPr/>
          </p:nvSpPr>
          <p:spPr bwMode="auto">
            <a:xfrm>
              <a:off x="3654" y="2958"/>
              <a:ext cx="329" cy="1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>
                  <a:solidFill>
                    <a:srgbClr val="000000"/>
                  </a:solidFill>
                </a:rPr>
                <a:t>Server</a:t>
              </a:r>
              <a:endParaRPr lang="en-US" sz="1800"/>
            </a:p>
          </p:txBody>
        </p:sp>
        <p:sp>
          <p:nvSpPr>
            <p:cNvPr id="122920" name="Rectangle 36"/>
            <p:cNvSpPr>
              <a:spLocks noChangeArrowheads="1"/>
            </p:cNvSpPr>
            <p:nvPr/>
          </p:nvSpPr>
          <p:spPr bwMode="auto">
            <a:xfrm>
              <a:off x="2510" y="3416"/>
              <a:ext cx="417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700">
                  <a:solidFill>
                    <a:srgbClr val="000000"/>
                  </a:solidFill>
                </a:rPr>
                <a:t>Packet</a:t>
              </a:r>
              <a:endParaRPr lang="en-US" sz="1800"/>
            </a:p>
          </p:txBody>
        </p:sp>
        <p:sp>
          <p:nvSpPr>
            <p:cNvPr id="122921" name="Line 37"/>
            <p:cNvSpPr>
              <a:spLocks noChangeShapeType="1"/>
            </p:cNvSpPr>
            <p:nvPr/>
          </p:nvSpPr>
          <p:spPr bwMode="auto">
            <a:xfrm flipV="1">
              <a:off x="2630" y="3202"/>
              <a:ext cx="152" cy="19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2922" name="Freeform 38"/>
            <p:cNvSpPr>
              <a:spLocks/>
            </p:cNvSpPr>
            <p:nvPr/>
          </p:nvSpPr>
          <p:spPr bwMode="auto">
            <a:xfrm>
              <a:off x="2738" y="3153"/>
              <a:ext cx="84" cy="87"/>
            </a:xfrm>
            <a:custGeom>
              <a:avLst/>
              <a:gdLst>
                <a:gd name="T0" fmla="*/ 104 w 76"/>
                <a:gd name="T1" fmla="*/ 87 h 87"/>
                <a:gd name="T2" fmla="*/ 66 w 76"/>
                <a:gd name="T3" fmla="*/ 55 h 87"/>
                <a:gd name="T4" fmla="*/ 0 w 76"/>
                <a:gd name="T5" fmla="*/ 45 h 87"/>
                <a:gd name="T6" fmla="*/ 139 w 76"/>
                <a:gd name="T7" fmla="*/ 0 h 87"/>
                <a:gd name="T8" fmla="*/ 104 w 76"/>
                <a:gd name="T9" fmla="*/ 87 h 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6"/>
                <a:gd name="T16" fmla="*/ 0 h 87"/>
                <a:gd name="T17" fmla="*/ 76 w 76"/>
                <a:gd name="T18" fmla="*/ 87 h 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6" h="87">
                  <a:moveTo>
                    <a:pt x="57" y="87"/>
                  </a:moveTo>
                  <a:lnTo>
                    <a:pt x="36" y="55"/>
                  </a:lnTo>
                  <a:lnTo>
                    <a:pt x="0" y="45"/>
                  </a:lnTo>
                  <a:lnTo>
                    <a:pt x="76" y="0"/>
                  </a:lnTo>
                  <a:lnTo>
                    <a:pt x="57" y="8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23" name="Rectangle 39"/>
            <p:cNvSpPr>
              <a:spLocks noChangeArrowheads="1"/>
            </p:cNvSpPr>
            <p:nvPr/>
          </p:nvSpPr>
          <p:spPr bwMode="auto">
            <a:xfrm>
              <a:off x="2894" y="2021"/>
              <a:ext cx="379" cy="1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700">
                  <a:solidFill>
                    <a:srgbClr val="000000"/>
                  </a:solidFill>
                </a:rPr>
                <a:t>Token</a:t>
              </a:r>
              <a:endParaRPr lang="en-US" sz="1800"/>
            </a:p>
          </p:txBody>
        </p:sp>
        <p:sp>
          <p:nvSpPr>
            <p:cNvPr id="122924" name="Line 40"/>
            <p:cNvSpPr>
              <a:spLocks noChangeShapeType="1"/>
            </p:cNvSpPr>
            <p:nvPr/>
          </p:nvSpPr>
          <p:spPr bwMode="auto">
            <a:xfrm>
              <a:off x="3110" y="2172"/>
              <a:ext cx="486" cy="10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2925" name="Freeform 41"/>
            <p:cNvSpPr>
              <a:spLocks/>
            </p:cNvSpPr>
            <p:nvPr/>
          </p:nvSpPr>
          <p:spPr bwMode="auto">
            <a:xfrm>
              <a:off x="3567" y="2239"/>
              <a:ext cx="95" cy="68"/>
            </a:xfrm>
            <a:custGeom>
              <a:avLst/>
              <a:gdLst>
                <a:gd name="T0" fmla="*/ 0 w 87"/>
                <a:gd name="T1" fmla="*/ 68 h 68"/>
                <a:gd name="T2" fmla="*/ 32 w 87"/>
                <a:gd name="T3" fmla="*/ 37 h 68"/>
                <a:gd name="T4" fmla="*/ 27 w 87"/>
                <a:gd name="T5" fmla="*/ 0 h 68"/>
                <a:gd name="T6" fmla="*/ 147 w 87"/>
                <a:gd name="T7" fmla="*/ 53 h 68"/>
                <a:gd name="T8" fmla="*/ 0 w 87"/>
                <a:gd name="T9" fmla="*/ 68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"/>
                <a:gd name="T16" fmla="*/ 0 h 68"/>
                <a:gd name="T17" fmla="*/ 87 w 87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" h="68">
                  <a:moveTo>
                    <a:pt x="0" y="68"/>
                  </a:moveTo>
                  <a:lnTo>
                    <a:pt x="19" y="37"/>
                  </a:lnTo>
                  <a:lnTo>
                    <a:pt x="16" y="0"/>
                  </a:lnTo>
                  <a:lnTo>
                    <a:pt x="87" y="53"/>
                  </a:lnTo>
                  <a:lnTo>
                    <a:pt x="0" y="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2883" name="Rectangle 4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Token Bucket Traffic Shaper</a:t>
            </a:r>
          </a:p>
        </p:txBody>
      </p:sp>
      <p:sp>
        <p:nvSpPr>
          <p:cNvPr id="122884" name="Rectangle 45"/>
          <p:cNvSpPr>
            <a:spLocks noGrp="1" noChangeArrowheads="1"/>
          </p:cNvSpPr>
          <p:nvPr>
            <p:ph type="body" idx="1"/>
          </p:nvPr>
        </p:nvSpPr>
        <p:spPr>
          <a:xfrm>
            <a:off x="457200" y="5761038"/>
            <a:ext cx="8229600" cy="9747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000" smtClean="0"/>
              <a:t>Token rate regulates transfer of packets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smtClean="0"/>
              <a:t>If sufficient tokens available, packets enter network without delay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smtClean="0"/>
              <a:t>K determines how much burstiness allowed into the network</a:t>
            </a:r>
          </a:p>
        </p:txBody>
      </p:sp>
      <p:sp>
        <p:nvSpPr>
          <p:cNvPr id="122885" name="Text Box 44"/>
          <p:cNvSpPr txBox="1">
            <a:spLocks noChangeArrowheads="1"/>
          </p:cNvSpPr>
          <p:nvPr/>
        </p:nvSpPr>
        <p:spPr bwMode="auto">
          <a:xfrm>
            <a:off x="823913" y="2033588"/>
            <a:ext cx="3127375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 eaLnBrk="0" hangingPunct="0">
              <a:spcBef>
                <a:spcPct val="50000"/>
              </a:spcBef>
              <a:buSzTx/>
              <a:buFontTx/>
              <a:buNone/>
            </a:pPr>
            <a:r>
              <a:rPr lang="en-US"/>
              <a:t>An incoming packet must have sufficient tokens before admission into the network</a:t>
            </a:r>
          </a:p>
        </p:txBody>
      </p:sp>
      <p:sp>
        <p:nvSpPr>
          <p:cNvPr id="122886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ext Box 11"/>
          <p:cNvSpPr txBox="1">
            <a:spLocks noChangeArrowheads="1"/>
          </p:cNvSpPr>
          <p:nvPr/>
        </p:nvSpPr>
        <p:spPr bwMode="auto">
          <a:xfrm>
            <a:off x="846138" y="1666875"/>
            <a:ext cx="6792912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 eaLnBrk="0" hangingPunct="0">
              <a:spcBef>
                <a:spcPct val="0"/>
              </a:spcBef>
              <a:buSzTx/>
              <a:buFontTx/>
              <a:buNone/>
            </a:pPr>
            <a:r>
              <a:rPr lang="en-US" sz="2400"/>
              <a:t>The token bucket constrains the traffic from a source to be limited to </a:t>
            </a:r>
            <a:r>
              <a:rPr lang="en-US" sz="2400" i="1">
                <a:cs typeface="Arial" charset="0"/>
              </a:rPr>
              <a:t>b</a:t>
            </a:r>
            <a:r>
              <a:rPr lang="en-US" sz="2400"/>
              <a:t> + </a:t>
            </a:r>
            <a:r>
              <a:rPr lang="en-US" sz="2400" i="1"/>
              <a:t>r t</a:t>
            </a:r>
            <a:r>
              <a:rPr lang="en-US" sz="2400"/>
              <a:t> bits in an interval of length </a:t>
            </a:r>
            <a:r>
              <a:rPr lang="en-US" sz="2400" i="1"/>
              <a:t>t</a:t>
            </a:r>
          </a:p>
        </p:txBody>
      </p:sp>
      <p:grpSp>
        <p:nvGrpSpPr>
          <p:cNvPr id="123907" name="Group 15"/>
          <p:cNvGrpSpPr>
            <a:grpSpLocks/>
          </p:cNvGrpSpPr>
          <p:nvPr/>
        </p:nvGrpSpPr>
        <p:grpSpPr bwMode="auto">
          <a:xfrm>
            <a:off x="2551113" y="3067050"/>
            <a:ext cx="4140200" cy="3214688"/>
            <a:chOff x="1607" y="1365"/>
            <a:chExt cx="2608" cy="2025"/>
          </a:xfrm>
        </p:grpSpPr>
        <p:sp>
          <p:nvSpPr>
            <p:cNvPr id="123912" name="Text Box 3"/>
            <p:cNvSpPr txBox="1">
              <a:spLocks noChangeArrowheads="1"/>
            </p:cNvSpPr>
            <p:nvPr/>
          </p:nvSpPr>
          <p:spPr bwMode="auto">
            <a:xfrm>
              <a:off x="1607" y="1630"/>
              <a:ext cx="1337" cy="21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 i="1"/>
                <a:t>b</a:t>
              </a:r>
              <a:r>
                <a:rPr lang="en-US" sz="1600"/>
                <a:t> bytes instantly</a:t>
              </a:r>
              <a:endParaRPr lang="en-US" sz="1600" b="1"/>
            </a:p>
          </p:txBody>
        </p:sp>
        <p:sp>
          <p:nvSpPr>
            <p:cNvPr id="123913" name="Text Box 4"/>
            <p:cNvSpPr txBox="1">
              <a:spLocks noChangeArrowheads="1"/>
            </p:cNvSpPr>
            <p:nvPr/>
          </p:nvSpPr>
          <p:spPr bwMode="auto">
            <a:xfrm>
              <a:off x="3860" y="3142"/>
              <a:ext cx="158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i="1"/>
                <a:t>t</a:t>
              </a:r>
              <a:endParaRPr lang="en-US" sz="1600" b="1"/>
            </a:p>
          </p:txBody>
        </p:sp>
        <p:sp>
          <p:nvSpPr>
            <p:cNvPr id="123914" name="Text Box 5"/>
            <p:cNvSpPr txBox="1">
              <a:spLocks noChangeArrowheads="1"/>
            </p:cNvSpPr>
            <p:nvPr/>
          </p:nvSpPr>
          <p:spPr bwMode="auto">
            <a:xfrm>
              <a:off x="2672" y="2497"/>
              <a:ext cx="1543" cy="21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 i="1"/>
                <a:t>r</a:t>
              </a:r>
              <a:r>
                <a:rPr lang="en-US" sz="1600"/>
                <a:t> bytes/second</a:t>
              </a:r>
              <a:endParaRPr lang="en-US" sz="1600" b="1"/>
            </a:p>
          </p:txBody>
        </p:sp>
        <p:sp>
          <p:nvSpPr>
            <p:cNvPr id="123915" name="Line 6"/>
            <p:cNvSpPr>
              <a:spLocks noChangeShapeType="1"/>
            </p:cNvSpPr>
            <p:nvPr/>
          </p:nvSpPr>
          <p:spPr bwMode="auto">
            <a:xfrm>
              <a:off x="1751" y="3091"/>
              <a:ext cx="24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3916" name="Line 7"/>
            <p:cNvSpPr>
              <a:spLocks noChangeShapeType="1"/>
            </p:cNvSpPr>
            <p:nvPr/>
          </p:nvSpPr>
          <p:spPr bwMode="auto">
            <a:xfrm flipV="1">
              <a:off x="1766" y="1365"/>
              <a:ext cx="0" cy="172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IN"/>
            </a:p>
          </p:txBody>
        </p:sp>
        <p:sp>
          <p:nvSpPr>
            <p:cNvPr id="123917" name="Rectangle 9"/>
            <p:cNvSpPr>
              <a:spLocks noChangeArrowheads="1"/>
            </p:cNvSpPr>
            <p:nvPr/>
          </p:nvSpPr>
          <p:spPr bwMode="auto">
            <a:xfrm>
              <a:off x="1843" y="2970"/>
              <a:ext cx="2035" cy="126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18" name="Rectangle 13"/>
            <p:cNvSpPr>
              <a:spLocks noChangeArrowheads="1"/>
            </p:cNvSpPr>
            <p:nvPr/>
          </p:nvSpPr>
          <p:spPr bwMode="auto">
            <a:xfrm rot="-5400000">
              <a:off x="1231" y="2448"/>
              <a:ext cx="1185" cy="107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3908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Token Bucket Shaping Effect</a:t>
            </a:r>
          </a:p>
        </p:txBody>
      </p:sp>
      <p:sp>
        <p:nvSpPr>
          <p:cNvPr id="123909" name="Line 17"/>
          <p:cNvSpPr>
            <a:spLocks noChangeShapeType="1"/>
          </p:cNvSpPr>
          <p:nvPr/>
        </p:nvSpPr>
        <p:spPr bwMode="auto">
          <a:xfrm flipV="1">
            <a:off x="2967038" y="2881313"/>
            <a:ext cx="3390900" cy="1095375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23910" name="Text Box 18"/>
          <p:cNvSpPr txBox="1">
            <a:spLocks noChangeArrowheads="1"/>
          </p:cNvSpPr>
          <p:nvPr/>
        </p:nvSpPr>
        <p:spPr bwMode="auto">
          <a:xfrm>
            <a:off x="5062538" y="3363913"/>
            <a:ext cx="836612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>
                <a:solidFill>
                  <a:srgbClr val="FF3300"/>
                </a:solidFill>
              </a:rPr>
              <a:t>b + r t</a:t>
            </a:r>
          </a:p>
        </p:txBody>
      </p:sp>
      <p:sp>
        <p:nvSpPr>
          <p:cNvPr id="123911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smtClean="0"/>
              <a:t>www.Bookspar.com | Website for Students | VTU - Notes - Question Papers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930" name="Group 2"/>
          <p:cNvGrpSpPr>
            <a:grpSpLocks/>
          </p:cNvGrpSpPr>
          <p:nvPr/>
        </p:nvGrpSpPr>
        <p:grpSpPr bwMode="auto">
          <a:xfrm>
            <a:off x="638175" y="3448050"/>
            <a:ext cx="8234363" cy="1558925"/>
            <a:chOff x="370" y="2172"/>
            <a:chExt cx="5187" cy="982"/>
          </a:xfrm>
        </p:grpSpPr>
        <p:sp>
          <p:nvSpPr>
            <p:cNvPr id="124961" name="Line 3"/>
            <p:cNvSpPr>
              <a:spLocks noChangeShapeType="1"/>
            </p:cNvSpPr>
            <p:nvPr/>
          </p:nvSpPr>
          <p:spPr bwMode="auto">
            <a:xfrm>
              <a:off x="2074" y="2768"/>
              <a:ext cx="1330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62" name="Line 4"/>
            <p:cNvSpPr>
              <a:spLocks noChangeShapeType="1"/>
            </p:cNvSpPr>
            <p:nvPr/>
          </p:nvSpPr>
          <p:spPr bwMode="auto">
            <a:xfrm>
              <a:off x="2090" y="2438"/>
              <a:ext cx="432" cy="336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63" name="Line 5"/>
            <p:cNvSpPr>
              <a:spLocks noChangeShapeType="1"/>
            </p:cNvSpPr>
            <p:nvPr/>
          </p:nvSpPr>
          <p:spPr bwMode="auto">
            <a:xfrm>
              <a:off x="2076" y="2432"/>
              <a:ext cx="1132" cy="32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64" name="Text Box 6"/>
            <p:cNvSpPr txBox="1">
              <a:spLocks noChangeArrowheads="1"/>
            </p:cNvSpPr>
            <p:nvPr/>
          </p:nvSpPr>
          <p:spPr bwMode="auto">
            <a:xfrm>
              <a:off x="2428" y="2744"/>
              <a:ext cx="196" cy="40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800" i="1"/>
                <a:t>bR</a:t>
              </a:r>
              <a:endParaRPr lang="en-US" sz="1800" i="1" u="sng"/>
            </a:p>
          </p:txBody>
        </p:sp>
        <p:sp>
          <p:nvSpPr>
            <p:cNvPr id="124965" name="Text Box 7"/>
            <p:cNvSpPr txBox="1">
              <a:spLocks noChangeArrowheads="1"/>
            </p:cNvSpPr>
            <p:nvPr/>
          </p:nvSpPr>
          <p:spPr bwMode="auto">
            <a:xfrm>
              <a:off x="3000" y="2750"/>
              <a:ext cx="476" cy="40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800" i="1"/>
                <a:t>  b       R - r</a:t>
              </a:r>
              <a:endParaRPr lang="en-US" sz="1800" i="1" u="sng"/>
            </a:p>
          </p:txBody>
        </p:sp>
        <p:sp>
          <p:nvSpPr>
            <p:cNvPr id="124966" name="Line 8"/>
            <p:cNvSpPr>
              <a:spLocks noChangeShapeType="1"/>
            </p:cNvSpPr>
            <p:nvPr/>
          </p:nvSpPr>
          <p:spPr bwMode="auto">
            <a:xfrm>
              <a:off x="2440" y="2944"/>
              <a:ext cx="192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67" name="Line 9"/>
            <p:cNvSpPr>
              <a:spLocks noChangeShapeType="1"/>
            </p:cNvSpPr>
            <p:nvPr/>
          </p:nvSpPr>
          <p:spPr bwMode="auto">
            <a:xfrm>
              <a:off x="3002" y="2950"/>
              <a:ext cx="368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68" name="Text Box 10"/>
            <p:cNvSpPr txBox="1">
              <a:spLocks noChangeArrowheads="1"/>
            </p:cNvSpPr>
            <p:nvPr/>
          </p:nvSpPr>
          <p:spPr bwMode="auto">
            <a:xfrm>
              <a:off x="370" y="2298"/>
              <a:ext cx="416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 b="1"/>
                <a:t>(b)</a:t>
              </a:r>
            </a:p>
          </p:txBody>
        </p:sp>
        <p:sp>
          <p:nvSpPr>
            <p:cNvPr id="124969" name="Text Box 11"/>
            <p:cNvSpPr txBox="1">
              <a:spLocks noChangeArrowheads="1"/>
            </p:cNvSpPr>
            <p:nvPr/>
          </p:nvSpPr>
          <p:spPr bwMode="auto">
            <a:xfrm>
              <a:off x="1350" y="2232"/>
              <a:ext cx="792" cy="51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/>
                <a:t>Buffer occupancy at 1</a:t>
              </a:r>
            </a:p>
          </p:txBody>
        </p:sp>
        <p:sp>
          <p:nvSpPr>
            <p:cNvPr id="124970" name="Line 12"/>
            <p:cNvSpPr>
              <a:spLocks noChangeShapeType="1"/>
            </p:cNvSpPr>
            <p:nvPr/>
          </p:nvSpPr>
          <p:spPr bwMode="auto">
            <a:xfrm flipV="1">
              <a:off x="2074" y="2254"/>
              <a:ext cx="0" cy="50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arrow" w="med" len="med"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IN"/>
            </a:p>
          </p:txBody>
        </p:sp>
        <p:sp>
          <p:nvSpPr>
            <p:cNvPr id="124971" name="Text Box 13"/>
            <p:cNvSpPr txBox="1">
              <a:spLocks noChangeArrowheads="1"/>
            </p:cNvSpPr>
            <p:nvPr/>
          </p:nvSpPr>
          <p:spPr bwMode="auto">
            <a:xfrm>
              <a:off x="1988" y="2808"/>
              <a:ext cx="224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 b="1"/>
                <a:t>0</a:t>
              </a:r>
            </a:p>
          </p:txBody>
        </p:sp>
        <p:sp>
          <p:nvSpPr>
            <p:cNvPr id="124972" name="Line 14"/>
            <p:cNvSpPr>
              <a:spLocks noChangeShapeType="1"/>
            </p:cNvSpPr>
            <p:nvPr/>
          </p:nvSpPr>
          <p:spPr bwMode="auto">
            <a:xfrm>
              <a:off x="4128" y="2728"/>
              <a:ext cx="13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73" name="Line 15"/>
            <p:cNvSpPr>
              <a:spLocks noChangeShapeType="1"/>
            </p:cNvSpPr>
            <p:nvPr/>
          </p:nvSpPr>
          <p:spPr bwMode="auto">
            <a:xfrm flipV="1">
              <a:off x="4136" y="2272"/>
              <a:ext cx="0" cy="4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lIns="90488" tIns="44450" rIns="90488" bIns="44450" anchor="ctr">
              <a:spAutoFit/>
            </a:bodyPr>
            <a:lstStyle/>
            <a:p>
              <a:endParaRPr lang="en-IN"/>
            </a:p>
          </p:txBody>
        </p:sp>
        <p:sp>
          <p:nvSpPr>
            <p:cNvPr id="124974" name="Text Box 16"/>
            <p:cNvSpPr txBox="1">
              <a:spLocks noChangeArrowheads="1"/>
            </p:cNvSpPr>
            <p:nvPr/>
          </p:nvSpPr>
          <p:spPr bwMode="auto">
            <a:xfrm>
              <a:off x="4280" y="2344"/>
              <a:ext cx="816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/>
                <a:t>Empty</a:t>
              </a:r>
              <a:endParaRPr lang="en-US" sz="1600" b="1"/>
            </a:p>
          </p:txBody>
        </p:sp>
        <p:sp>
          <p:nvSpPr>
            <p:cNvPr id="124975" name="Text Box 17"/>
            <p:cNvSpPr txBox="1">
              <a:spLocks noChangeArrowheads="1"/>
            </p:cNvSpPr>
            <p:nvPr/>
          </p:nvSpPr>
          <p:spPr bwMode="auto">
            <a:xfrm>
              <a:off x="5399" y="2602"/>
              <a:ext cx="158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i="1"/>
                <a:t>t</a:t>
              </a:r>
              <a:endParaRPr lang="en-US" sz="1600" b="1"/>
            </a:p>
          </p:txBody>
        </p:sp>
        <p:sp>
          <p:nvSpPr>
            <p:cNvPr id="124976" name="Text Box 18"/>
            <p:cNvSpPr txBox="1">
              <a:spLocks noChangeArrowheads="1"/>
            </p:cNvSpPr>
            <p:nvPr/>
          </p:nvSpPr>
          <p:spPr bwMode="auto">
            <a:xfrm>
              <a:off x="3413" y="2658"/>
              <a:ext cx="158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i="1"/>
                <a:t>t</a:t>
              </a:r>
              <a:endParaRPr lang="en-US" sz="1600" b="1"/>
            </a:p>
          </p:txBody>
        </p:sp>
        <p:sp>
          <p:nvSpPr>
            <p:cNvPr id="124977" name="Text Box 19"/>
            <p:cNvSpPr txBox="1">
              <a:spLocks noChangeArrowheads="1"/>
            </p:cNvSpPr>
            <p:nvPr/>
          </p:nvSpPr>
          <p:spPr bwMode="auto">
            <a:xfrm>
              <a:off x="3434" y="2172"/>
              <a:ext cx="784" cy="51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/>
                <a:t>Buffer occupancy at 2</a:t>
              </a:r>
            </a:p>
          </p:txBody>
        </p:sp>
      </p:grpSp>
      <p:grpSp>
        <p:nvGrpSpPr>
          <p:cNvPr id="124931" name="Group 52"/>
          <p:cNvGrpSpPr>
            <a:grpSpLocks/>
          </p:cNvGrpSpPr>
          <p:nvPr/>
        </p:nvGrpSpPr>
        <p:grpSpPr bwMode="auto">
          <a:xfrm>
            <a:off x="673100" y="1255713"/>
            <a:ext cx="7820025" cy="2027237"/>
            <a:chOff x="424" y="791"/>
            <a:chExt cx="4926" cy="1277"/>
          </a:xfrm>
        </p:grpSpPr>
        <p:sp>
          <p:nvSpPr>
            <p:cNvPr id="124938" name="Rectangle 21"/>
            <p:cNvSpPr>
              <a:spLocks noChangeArrowheads="1"/>
            </p:cNvSpPr>
            <p:nvPr/>
          </p:nvSpPr>
          <p:spPr bwMode="auto">
            <a:xfrm>
              <a:off x="4158" y="1458"/>
              <a:ext cx="640" cy="39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939" name="Rectangle 22"/>
            <p:cNvSpPr>
              <a:spLocks noChangeArrowheads="1"/>
            </p:cNvSpPr>
            <p:nvPr/>
          </p:nvSpPr>
          <p:spPr bwMode="auto">
            <a:xfrm>
              <a:off x="2622" y="1466"/>
              <a:ext cx="640" cy="39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940" name="Rectangle 23"/>
            <p:cNvSpPr>
              <a:spLocks noChangeArrowheads="1"/>
            </p:cNvSpPr>
            <p:nvPr/>
          </p:nvSpPr>
          <p:spPr bwMode="auto">
            <a:xfrm>
              <a:off x="878" y="1458"/>
              <a:ext cx="816" cy="39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941" name="Rectangle 24"/>
            <p:cNvSpPr>
              <a:spLocks noChangeArrowheads="1"/>
            </p:cNvSpPr>
            <p:nvPr/>
          </p:nvSpPr>
          <p:spPr bwMode="auto">
            <a:xfrm>
              <a:off x="1014" y="791"/>
              <a:ext cx="757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2100" i="1">
                  <a:solidFill>
                    <a:srgbClr val="000000"/>
                  </a:solidFill>
                </a:rPr>
                <a:t>A(t) = b+rt</a:t>
              </a:r>
              <a:endParaRPr lang="en-US" i="1"/>
            </a:p>
          </p:txBody>
        </p:sp>
        <p:sp>
          <p:nvSpPr>
            <p:cNvPr id="124942" name="Rectangle 25"/>
            <p:cNvSpPr>
              <a:spLocks noChangeArrowheads="1"/>
            </p:cNvSpPr>
            <p:nvPr/>
          </p:nvSpPr>
          <p:spPr bwMode="auto">
            <a:xfrm>
              <a:off x="786" y="1457"/>
              <a:ext cx="902" cy="393"/>
            </a:xfrm>
            <a:prstGeom prst="rect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943" name="Rectangle 26"/>
            <p:cNvSpPr>
              <a:spLocks noChangeArrowheads="1"/>
            </p:cNvSpPr>
            <p:nvPr/>
          </p:nvSpPr>
          <p:spPr bwMode="auto">
            <a:xfrm>
              <a:off x="1469" y="1533"/>
              <a:ext cx="79" cy="242"/>
            </a:xfrm>
            <a:prstGeom prst="rect">
              <a:avLst/>
            </a:prstGeom>
            <a:solidFill>
              <a:schemeClr val="tx2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944" name="Rectangle 27"/>
            <p:cNvSpPr>
              <a:spLocks noChangeArrowheads="1"/>
            </p:cNvSpPr>
            <p:nvPr/>
          </p:nvSpPr>
          <p:spPr bwMode="auto">
            <a:xfrm>
              <a:off x="1306" y="1533"/>
              <a:ext cx="78" cy="242"/>
            </a:xfrm>
            <a:prstGeom prst="rect">
              <a:avLst/>
            </a:prstGeom>
            <a:solidFill>
              <a:schemeClr val="tx2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945" name="Rectangle 28"/>
            <p:cNvSpPr>
              <a:spLocks noChangeArrowheads="1"/>
            </p:cNvSpPr>
            <p:nvPr/>
          </p:nvSpPr>
          <p:spPr bwMode="auto">
            <a:xfrm>
              <a:off x="1170" y="1533"/>
              <a:ext cx="78" cy="242"/>
            </a:xfrm>
            <a:prstGeom prst="rect">
              <a:avLst/>
            </a:prstGeom>
            <a:solidFill>
              <a:schemeClr val="tx2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946" name="Rectangle 29"/>
            <p:cNvSpPr>
              <a:spLocks noChangeArrowheads="1"/>
            </p:cNvSpPr>
            <p:nvPr/>
          </p:nvSpPr>
          <p:spPr bwMode="auto">
            <a:xfrm>
              <a:off x="582" y="1442"/>
              <a:ext cx="264" cy="43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947" name="Rectangle 30"/>
            <p:cNvSpPr>
              <a:spLocks noChangeArrowheads="1"/>
            </p:cNvSpPr>
            <p:nvPr/>
          </p:nvSpPr>
          <p:spPr bwMode="auto">
            <a:xfrm>
              <a:off x="2354" y="1465"/>
              <a:ext cx="902" cy="393"/>
            </a:xfrm>
            <a:prstGeom prst="rect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948" name="Rectangle 31"/>
            <p:cNvSpPr>
              <a:spLocks noChangeArrowheads="1"/>
            </p:cNvSpPr>
            <p:nvPr/>
          </p:nvSpPr>
          <p:spPr bwMode="auto">
            <a:xfrm>
              <a:off x="2342" y="1450"/>
              <a:ext cx="264" cy="43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949" name="Rectangle 32"/>
            <p:cNvSpPr>
              <a:spLocks noChangeArrowheads="1"/>
            </p:cNvSpPr>
            <p:nvPr/>
          </p:nvSpPr>
          <p:spPr bwMode="auto">
            <a:xfrm>
              <a:off x="3890" y="1457"/>
              <a:ext cx="902" cy="393"/>
            </a:xfrm>
            <a:prstGeom prst="rect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950" name="Rectangle 33"/>
            <p:cNvSpPr>
              <a:spLocks noChangeArrowheads="1"/>
            </p:cNvSpPr>
            <p:nvPr/>
          </p:nvSpPr>
          <p:spPr bwMode="auto">
            <a:xfrm>
              <a:off x="3886" y="1442"/>
              <a:ext cx="264" cy="43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951" name="Line 34"/>
            <p:cNvSpPr>
              <a:spLocks noChangeShapeType="1"/>
            </p:cNvSpPr>
            <p:nvPr/>
          </p:nvSpPr>
          <p:spPr bwMode="auto">
            <a:xfrm>
              <a:off x="1734" y="1642"/>
              <a:ext cx="528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52" name="Line 35"/>
            <p:cNvSpPr>
              <a:spLocks noChangeShapeType="1"/>
            </p:cNvSpPr>
            <p:nvPr/>
          </p:nvSpPr>
          <p:spPr bwMode="auto">
            <a:xfrm>
              <a:off x="3310" y="1642"/>
              <a:ext cx="528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53" name="Line 36"/>
            <p:cNvSpPr>
              <a:spLocks noChangeShapeType="1"/>
            </p:cNvSpPr>
            <p:nvPr/>
          </p:nvSpPr>
          <p:spPr bwMode="auto">
            <a:xfrm>
              <a:off x="4822" y="1642"/>
              <a:ext cx="528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4954" name="Text Box 38"/>
            <p:cNvSpPr txBox="1">
              <a:spLocks noChangeArrowheads="1"/>
            </p:cNvSpPr>
            <p:nvPr/>
          </p:nvSpPr>
          <p:spPr bwMode="auto">
            <a:xfrm>
              <a:off x="3342" y="1306"/>
              <a:ext cx="408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i="1"/>
                <a:t>R(t)</a:t>
              </a:r>
            </a:p>
          </p:txBody>
        </p:sp>
        <p:sp>
          <p:nvSpPr>
            <p:cNvPr id="124955" name="Text Box 39"/>
            <p:cNvSpPr txBox="1">
              <a:spLocks noChangeArrowheads="1"/>
            </p:cNvSpPr>
            <p:nvPr/>
          </p:nvSpPr>
          <p:spPr bwMode="auto">
            <a:xfrm>
              <a:off x="4110" y="1026"/>
              <a:ext cx="832" cy="36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/>
                <a:t>No backlog of packets</a:t>
              </a:r>
              <a:endParaRPr lang="en-US" sz="1800"/>
            </a:p>
          </p:txBody>
        </p:sp>
        <p:sp>
          <p:nvSpPr>
            <p:cNvPr id="124956" name="Text Box 40"/>
            <p:cNvSpPr txBox="1">
              <a:spLocks noChangeArrowheads="1"/>
            </p:cNvSpPr>
            <p:nvPr/>
          </p:nvSpPr>
          <p:spPr bwMode="auto">
            <a:xfrm>
              <a:off x="424" y="948"/>
              <a:ext cx="416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eaLnBrk="0" hangingPunct="0">
                <a:spcBef>
                  <a:spcPct val="50000"/>
                </a:spcBef>
                <a:buSzTx/>
                <a:buFontTx/>
                <a:buNone/>
              </a:pPr>
              <a:r>
                <a:rPr lang="en-US" sz="1600" b="1"/>
                <a:t>(a)</a:t>
              </a:r>
            </a:p>
          </p:txBody>
        </p:sp>
        <p:sp>
          <p:nvSpPr>
            <p:cNvPr id="124957" name="Rectangle 41"/>
            <p:cNvSpPr>
              <a:spLocks noChangeArrowheads="1"/>
            </p:cNvSpPr>
            <p:nvPr/>
          </p:nvSpPr>
          <p:spPr bwMode="auto">
            <a:xfrm>
              <a:off x="3001" y="1540"/>
              <a:ext cx="79" cy="242"/>
            </a:xfrm>
            <a:prstGeom prst="rect">
              <a:avLst/>
            </a:prstGeom>
            <a:solidFill>
              <a:schemeClr val="tx2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958" name="Rectangle 42"/>
            <p:cNvSpPr>
              <a:spLocks noChangeArrowheads="1"/>
            </p:cNvSpPr>
            <p:nvPr/>
          </p:nvSpPr>
          <p:spPr bwMode="auto">
            <a:xfrm>
              <a:off x="3124" y="1540"/>
              <a:ext cx="78" cy="242"/>
            </a:xfrm>
            <a:prstGeom prst="rect">
              <a:avLst/>
            </a:prstGeom>
            <a:solidFill>
              <a:schemeClr val="tx2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959" name="Text Box 43"/>
            <p:cNvSpPr txBox="1">
              <a:spLocks noChangeArrowheads="1"/>
            </p:cNvSpPr>
            <p:nvPr/>
          </p:nvSpPr>
          <p:spPr bwMode="auto">
            <a:xfrm>
              <a:off x="2794" y="1837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1</a:t>
              </a:r>
            </a:p>
          </p:txBody>
        </p:sp>
        <p:sp>
          <p:nvSpPr>
            <p:cNvPr id="124960" name="Text Box 44"/>
            <p:cNvSpPr txBox="1">
              <a:spLocks noChangeArrowheads="1"/>
            </p:cNvSpPr>
            <p:nvPr/>
          </p:nvSpPr>
          <p:spPr bwMode="auto">
            <a:xfrm>
              <a:off x="4312" y="1837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2</a:t>
              </a:r>
            </a:p>
          </p:txBody>
        </p:sp>
      </p:grpSp>
      <p:sp>
        <p:nvSpPr>
          <p:cNvPr id="124932" name="Rectangle 4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500" smtClean="0"/>
              <a:t>Packet transfer with Delay Guarantees</a:t>
            </a:r>
          </a:p>
        </p:txBody>
      </p:sp>
      <p:sp>
        <p:nvSpPr>
          <p:cNvPr id="124933" name="Text Box 49"/>
          <p:cNvSpPr txBox="1">
            <a:spLocks noChangeArrowheads="1"/>
          </p:cNvSpPr>
          <p:nvPr/>
        </p:nvSpPr>
        <p:spPr bwMode="auto">
          <a:xfrm>
            <a:off x="1066800" y="1844675"/>
            <a:ext cx="1779588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>
                <a:solidFill>
                  <a:srgbClr val="FF3300"/>
                </a:solidFill>
              </a:rPr>
              <a:t>Token Shaper</a:t>
            </a:r>
          </a:p>
        </p:txBody>
      </p:sp>
      <p:sp>
        <p:nvSpPr>
          <p:cNvPr id="124934" name="Line 50"/>
          <p:cNvSpPr>
            <a:spLocks noChangeShapeType="1"/>
          </p:cNvSpPr>
          <p:nvPr/>
        </p:nvSpPr>
        <p:spPr bwMode="auto">
          <a:xfrm>
            <a:off x="5141913" y="1924050"/>
            <a:ext cx="180975" cy="268288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24935" name="Text Box 51"/>
          <p:cNvSpPr txBox="1">
            <a:spLocks noChangeArrowheads="1"/>
          </p:cNvSpPr>
          <p:nvPr/>
        </p:nvSpPr>
        <p:spPr bwMode="auto">
          <a:xfrm>
            <a:off x="3398838" y="1189038"/>
            <a:ext cx="2016125" cy="7620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chemeClr val="bg1"/>
              </a:buClr>
            </a:pPr>
            <a:r>
              <a:rPr lang="en-US">
                <a:solidFill>
                  <a:srgbClr val="FF3300"/>
                </a:solidFill>
              </a:rPr>
              <a:t>Bit rate </a:t>
            </a:r>
            <a:r>
              <a:rPr lang="en-US" u="sng">
                <a:solidFill>
                  <a:srgbClr val="FF3300"/>
                </a:solidFill>
              </a:rPr>
              <a:t>&gt;</a:t>
            </a:r>
            <a:r>
              <a:rPr lang="en-US">
                <a:solidFill>
                  <a:srgbClr val="FF3300"/>
                </a:solidFill>
              </a:rPr>
              <a:t> R &gt; r</a:t>
            </a:r>
          </a:p>
          <a:p>
            <a:pPr>
              <a:buClr>
                <a:schemeClr val="bg1"/>
              </a:buClr>
            </a:pPr>
            <a:r>
              <a:rPr lang="en-US">
                <a:solidFill>
                  <a:srgbClr val="FF3300"/>
                </a:solidFill>
              </a:rPr>
              <a:t>e.g., using WFQ</a:t>
            </a:r>
          </a:p>
        </p:txBody>
      </p:sp>
      <p:sp>
        <p:nvSpPr>
          <p:cNvPr id="124936" name="Text Box 53"/>
          <p:cNvSpPr txBox="1">
            <a:spLocks noChangeArrowheads="1"/>
          </p:cNvSpPr>
          <p:nvPr/>
        </p:nvSpPr>
        <p:spPr bwMode="auto">
          <a:xfrm>
            <a:off x="704850" y="5149850"/>
            <a:ext cx="7442200" cy="14922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l"/>
            </a:pPr>
            <a:r>
              <a:rPr lang="en-US"/>
              <a:t>Assume fluid flow for information</a:t>
            </a:r>
          </a:p>
          <a:p>
            <a:pPr marL="342900" indent="-342900" algn="l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l"/>
            </a:pPr>
            <a:r>
              <a:rPr lang="en-US"/>
              <a:t>Token bucket allows burst of b bytes 1 &amp; then r bytes/second</a:t>
            </a:r>
          </a:p>
          <a:p>
            <a:pPr marL="692150" lvl="1" indent="-347663" algn="l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l"/>
            </a:pPr>
            <a:r>
              <a:rPr lang="en-US"/>
              <a:t>Since R&gt;r, buffer content @ 1 never greater than b byte</a:t>
            </a:r>
          </a:p>
          <a:p>
            <a:pPr marL="692150" lvl="1" indent="-347663" algn="l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l"/>
            </a:pPr>
            <a:r>
              <a:rPr lang="en-US"/>
              <a:t>Thus delay @ mux &lt; b/R</a:t>
            </a:r>
          </a:p>
          <a:p>
            <a:pPr marL="342900" indent="-342900" algn="l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l"/>
            </a:pPr>
            <a:r>
              <a:rPr lang="en-US"/>
              <a:t>Rate into second mux is r&lt;R, so bytes are never delayed</a:t>
            </a:r>
          </a:p>
        </p:txBody>
      </p:sp>
      <p:sp>
        <p:nvSpPr>
          <p:cNvPr id="124937" name="Footer Placeholder 1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500" smtClean="0"/>
              <a:t>Delay Bounds with WFQ / PGPS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364013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600" smtClean="0"/>
              <a:t>Assume </a:t>
            </a:r>
          </a:p>
          <a:p>
            <a:pPr marL="742950" lvl="1" indent="-285750" eaLnBrk="1" hangingPunct="1">
              <a:lnSpc>
                <a:spcPct val="80000"/>
              </a:lnSpc>
            </a:pPr>
            <a:r>
              <a:rPr lang="en-US" sz="2200" smtClean="0"/>
              <a:t>traffic shaped to parameters b &amp; r</a:t>
            </a:r>
          </a:p>
          <a:p>
            <a:pPr marL="742950" lvl="1" indent="-285750" eaLnBrk="1" hangingPunct="1">
              <a:lnSpc>
                <a:spcPct val="80000"/>
              </a:lnSpc>
            </a:pPr>
            <a:r>
              <a:rPr lang="en-US" sz="2200" smtClean="0"/>
              <a:t>schedulers give flow at least rate R&gt;r </a:t>
            </a:r>
          </a:p>
          <a:p>
            <a:pPr marL="742950" lvl="1" indent="-285750" eaLnBrk="1" hangingPunct="1">
              <a:lnSpc>
                <a:spcPct val="80000"/>
              </a:lnSpc>
            </a:pPr>
            <a:r>
              <a:rPr lang="en-US" sz="2200" smtClean="0"/>
              <a:t>H hop path</a:t>
            </a:r>
          </a:p>
          <a:p>
            <a:pPr marL="742950" lvl="1" indent="-285750" eaLnBrk="1" hangingPunct="1">
              <a:lnSpc>
                <a:spcPct val="80000"/>
              </a:lnSpc>
            </a:pPr>
            <a:r>
              <a:rPr lang="en-US" sz="2200" smtClean="0"/>
              <a:t>m is maximum packet size for the given flow</a:t>
            </a:r>
          </a:p>
          <a:p>
            <a:pPr marL="742950" lvl="1" indent="-285750" eaLnBrk="1" hangingPunct="1">
              <a:lnSpc>
                <a:spcPct val="80000"/>
              </a:lnSpc>
            </a:pPr>
            <a:r>
              <a:rPr lang="en-US" sz="2200" smtClean="0"/>
              <a:t>M maximum packet size in the network</a:t>
            </a:r>
          </a:p>
          <a:p>
            <a:pPr marL="742950" lvl="1" indent="-285750" eaLnBrk="1" hangingPunct="1">
              <a:lnSpc>
                <a:spcPct val="80000"/>
              </a:lnSpc>
            </a:pPr>
            <a:r>
              <a:rPr lang="en-US" sz="2200" smtClean="0"/>
              <a:t>R</a:t>
            </a:r>
            <a:r>
              <a:rPr lang="en-US" sz="2200" baseline="-25000" smtClean="0"/>
              <a:t>j</a:t>
            </a:r>
            <a:r>
              <a:rPr lang="en-US" sz="2200" smtClean="0"/>
              <a:t> transmission rate in jth hop</a:t>
            </a:r>
          </a:p>
          <a:p>
            <a:pPr eaLnBrk="1" hangingPunct="1">
              <a:lnSpc>
                <a:spcPct val="80000"/>
              </a:lnSpc>
            </a:pPr>
            <a:r>
              <a:rPr lang="en-US" sz="2600" smtClean="0"/>
              <a:t>Maximum end-to-end delay that can be experienced by a packet from flow i is: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600" smtClean="0"/>
              <a:t> </a:t>
            </a:r>
          </a:p>
        </p:txBody>
      </p:sp>
      <p:graphicFrame>
        <p:nvGraphicFramePr>
          <p:cNvPr id="3074" name="Object 12"/>
          <p:cNvGraphicFramePr>
            <a:graphicFrameLocks noChangeAspect="1"/>
          </p:cNvGraphicFramePr>
          <p:nvPr/>
        </p:nvGraphicFramePr>
        <p:xfrm>
          <a:off x="2519363" y="4657725"/>
          <a:ext cx="3617912" cy="1009650"/>
        </p:xfrm>
        <a:graphic>
          <a:graphicData uri="http://schemas.openxmlformats.org/presentationml/2006/ole">
            <p:oleObj spid="_x0000_s3074" name="Equation" r:id="rId4" imgW="1638300" imgH="457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500" smtClean="0"/>
              <a:t>Scheduling for Guaranteed Service</a:t>
            </a:r>
          </a:p>
        </p:txBody>
      </p:sp>
      <p:sp>
        <p:nvSpPr>
          <p:cNvPr id="12595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Suppose guaranteed bounds on end-to-end delay across the network are to be provided</a:t>
            </a:r>
          </a:p>
          <a:p>
            <a:pPr eaLnBrk="1" hangingPunct="1"/>
            <a:r>
              <a:rPr lang="en-US" smtClean="0"/>
              <a:t>A call admission control procedure is required to allocate resources &amp; set schedulers</a:t>
            </a:r>
          </a:p>
          <a:p>
            <a:pPr eaLnBrk="1" hangingPunct="1"/>
            <a:r>
              <a:rPr lang="en-US" smtClean="0"/>
              <a:t>Traffic flows from sources must be shaped/regulated so that they do not exceed their allocated resources</a:t>
            </a:r>
          </a:p>
          <a:p>
            <a:pPr eaLnBrk="1" hangingPunct="1"/>
            <a:r>
              <a:rPr lang="en-US" smtClean="0"/>
              <a:t>Strict delay bounds can be met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978" name="Group 2"/>
          <p:cNvGrpSpPr>
            <a:grpSpLocks/>
          </p:cNvGrpSpPr>
          <p:nvPr/>
        </p:nvGrpSpPr>
        <p:grpSpPr bwMode="auto">
          <a:xfrm>
            <a:off x="1219200" y="1295400"/>
            <a:ext cx="6692900" cy="5016500"/>
            <a:chOff x="820" y="532"/>
            <a:chExt cx="4216" cy="3160"/>
          </a:xfrm>
        </p:grpSpPr>
        <p:sp>
          <p:nvSpPr>
            <p:cNvPr id="126980" name="Rectangle 3"/>
            <p:cNvSpPr>
              <a:spLocks noChangeArrowheads="1"/>
            </p:cNvSpPr>
            <p:nvPr/>
          </p:nvSpPr>
          <p:spPr bwMode="auto">
            <a:xfrm>
              <a:off x="820" y="532"/>
              <a:ext cx="4216" cy="316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981" name="Line 4"/>
            <p:cNvSpPr>
              <a:spLocks noChangeShapeType="1"/>
            </p:cNvSpPr>
            <p:nvPr/>
          </p:nvSpPr>
          <p:spPr bwMode="auto">
            <a:xfrm>
              <a:off x="864" y="2160"/>
              <a:ext cx="4128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6982" name="Line 5"/>
            <p:cNvSpPr>
              <a:spLocks noChangeShapeType="1"/>
            </p:cNvSpPr>
            <p:nvPr/>
          </p:nvSpPr>
          <p:spPr bwMode="auto">
            <a:xfrm>
              <a:off x="1632" y="2256"/>
              <a:ext cx="0" cy="13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6983" name="Line 6"/>
            <p:cNvSpPr>
              <a:spLocks noChangeShapeType="1"/>
            </p:cNvSpPr>
            <p:nvPr/>
          </p:nvSpPr>
          <p:spPr bwMode="auto">
            <a:xfrm>
              <a:off x="2832" y="2256"/>
              <a:ext cx="0" cy="13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6984" name="Line 7"/>
            <p:cNvSpPr>
              <a:spLocks noChangeShapeType="1"/>
            </p:cNvSpPr>
            <p:nvPr/>
          </p:nvSpPr>
          <p:spPr bwMode="auto">
            <a:xfrm>
              <a:off x="1488" y="292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6985" name="Line 8"/>
            <p:cNvSpPr>
              <a:spLocks noChangeShapeType="1"/>
            </p:cNvSpPr>
            <p:nvPr/>
          </p:nvSpPr>
          <p:spPr bwMode="auto">
            <a:xfrm>
              <a:off x="2688" y="292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6986" name="Rectangle 9"/>
            <p:cNvSpPr>
              <a:spLocks noChangeArrowheads="1"/>
            </p:cNvSpPr>
            <p:nvPr/>
          </p:nvSpPr>
          <p:spPr bwMode="auto">
            <a:xfrm>
              <a:off x="1780" y="2740"/>
              <a:ext cx="904" cy="37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987" name="Rectangle 10"/>
            <p:cNvSpPr>
              <a:spLocks noChangeArrowheads="1"/>
            </p:cNvSpPr>
            <p:nvPr/>
          </p:nvSpPr>
          <p:spPr bwMode="auto">
            <a:xfrm>
              <a:off x="1814" y="2774"/>
              <a:ext cx="77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Classifier</a:t>
              </a:r>
            </a:p>
          </p:txBody>
        </p:sp>
        <p:sp>
          <p:nvSpPr>
            <p:cNvPr id="126988" name="Rectangle 11"/>
            <p:cNvSpPr>
              <a:spLocks noChangeArrowheads="1"/>
            </p:cNvSpPr>
            <p:nvPr/>
          </p:nvSpPr>
          <p:spPr bwMode="auto">
            <a:xfrm>
              <a:off x="902" y="3014"/>
              <a:ext cx="516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Input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driver</a:t>
              </a:r>
            </a:p>
          </p:txBody>
        </p:sp>
        <p:sp>
          <p:nvSpPr>
            <p:cNvPr id="126989" name="Rectangle 12"/>
            <p:cNvSpPr>
              <a:spLocks noChangeArrowheads="1"/>
            </p:cNvSpPr>
            <p:nvPr/>
          </p:nvSpPr>
          <p:spPr bwMode="auto">
            <a:xfrm>
              <a:off x="1670" y="3110"/>
              <a:ext cx="791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Internet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forwarder</a:t>
              </a:r>
            </a:p>
          </p:txBody>
        </p:sp>
        <p:grpSp>
          <p:nvGrpSpPr>
            <p:cNvPr id="126990" name="Group 13"/>
            <p:cNvGrpSpPr>
              <a:grpSpLocks/>
            </p:cNvGrpSpPr>
            <p:nvPr/>
          </p:nvGrpSpPr>
          <p:grpSpPr bwMode="auto">
            <a:xfrm>
              <a:off x="3172" y="2592"/>
              <a:ext cx="856" cy="192"/>
              <a:chOff x="3172" y="2592"/>
              <a:chExt cx="856" cy="192"/>
            </a:xfrm>
          </p:grpSpPr>
          <p:sp>
            <p:nvSpPr>
              <p:cNvPr id="127016" name="Rectangle 14"/>
              <p:cNvSpPr>
                <a:spLocks noChangeArrowheads="1"/>
              </p:cNvSpPr>
              <p:nvPr/>
            </p:nvSpPr>
            <p:spPr bwMode="auto">
              <a:xfrm>
                <a:off x="3172" y="2596"/>
                <a:ext cx="856" cy="184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017" name="Line 15"/>
              <p:cNvSpPr>
                <a:spLocks noChangeShapeType="1"/>
              </p:cNvSpPr>
              <p:nvPr/>
            </p:nvSpPr>
            <p:spPr bwMode="auto">
              <a:xfrm>
                <a:off x="3360" y="259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27018" name="Line 16"/>
              <p:cNvSpPr>
                <a:spLocks noChangeShapeType="1"/>
              </p:cNvSpPr>
              <p:nvPr/>
            </p:nvSpPr>
            <p:spPr bwMode="auto">
              <a:xfrm>
                <a:off x="3552" y="259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27019" name="Line 17"/>
              <p:cNvSpPr>
                <a:spLocks noChangeShapeType="1"/>
              </p:cNvSpPr>
              <p:nvPr/>
            </p:nvSpPr>
            <p:spPr bwMode="auto">
              <a:xfrm>
                <a:off x="3792" y="259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126991" name="Group 18"/>
            <p:cNvGrpSpPr>
              <a:grpSpLocks/>
            </p:cNvGrpSpPr>
            <p:nvPr/>
          </p:nvGrpSpPr>
          <p:grpSpPr bwMode="auto">
            <a:xfrm>
              <a:off x="3172" y="3072"/>
              <a:ext cx="856" cy="192"/>
              <a:chOff x="3172" y="3072"/>
              <a:chExt cx="856" cy="192"/>
            </a:xfrm>
          </p:grpSpPr>
          <p:sp>
            <p:nvSpPr>
              <p:cNvPr id="127012" name="Rectangle 19"/>
              <p:cNvSpPr>
                <a:spLocks noChangeArrowheads="1"/>
              </p:cNvSpPr>
              <p:nvPr/>
            </p:nvSpPr>
            <p:spPr bwMode="auto">
              <a:xfrm>
                <a:off x="3172" y="3076"/>
                <a:ext cx="856" cy="184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013" name="Line 20"/>
              <p:cNvSpPr>
                <a:spLocks noChangeShapeType="1"/>
              </p:cNvSpPr>
              <p:nvPr/>
            </p:nvSpPr>
            <p:spPr bwMode="auto">
              <a:xfrm>
                <a:off x="3360" y="307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27014" name="Line 21"/>
              <p:cNvSpPr>
                <a:spLocks noChangeShapeType="1"/>
              </p:cNvSpPr>
              <p:nvPr/>
            </p:nvSpPr>
            <p:spPr bwMode="auto">
              <a:xfrm>
                <a:off x="3552" y="307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27015" name="Line 22"/>
              <p:cNvSpPr>
                <a:spLocks noChangeShapeType="1"/>
              </p:cNvSpPr>
              <p:nvPr/>
            </p:nvSpPr>
            <p:spPr bwMode="auto">
              <a:xfrm>
                <a:off x="3792" y="3072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126992" name="Freeform 23"/>
            <p:cNvSpPr>
              <a:spLocks/>
            </p:cNvSpPr>
            <p:nvPr/>
          </p:nvSpPr>
          <p:spPr bwMode="auto">
            <a:xfrm>
              <a:off x="4080" y="2688"/>
              <a:ext cx="193" cy="481"/>
            </a:xfrm>
            <a:custGeom>
              <a:avLst/>
              <a:gdLst>
                <a:gd name="T0" fmla="*/ 0 w 193"/>
                <a:gd name="T1" fmla="*/ 0 h 481"/>
                <a:gd name="T2" fmla="*/ 192 w 193"/>
                <a:gd name="T3" fmla="*/ 0 h 481"/>
                <a:gd name="T4" fmla="*/ 192 w 193"/>
                <a:gd name="T5" fmla="*/ 480 h 481"/>
                <a:gd name="T6" fmla="*/ 0 w 193"/>
                <a:gd name="T7" fmla="*/ 480 h 4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3"/>
                <a:gd name="T13" fmla="*/ 0 h 481"/>
                <a:gd name="T14" fmla="*/ 193 w 193"/>
                <a:gd name="T15" fmla="*/ 481 h 4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3" h="481">
                  <a:moveTo>
                    <a:pt x="0" y="0"/>
                  </a:moveTo>
                  <a:lnTo>
                    <a:pt x="192" y="0"/>
                  </a:lnTo>
                  <a:lnTo>
                    <a:pt x="192" y="480"/>
                  </a:lnTo>
                  <a:lnTo>
                    <a:pt x="0" y="48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stealth" w="med" len="med"/>
              <a:tailEnd type="stealth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6993" name="Line 24"/>
            <p:cNvSpPr>
              <a:spLocks noChangeShapeType="1"/>
            </p:cNvSpPr>
            <p:nvPr/>
          </p:nvSpPr>
          <p:spPr bwMode="auto">
            <a:xfrm>
              <a:off x="4272" y="2928"/>
              <a:ext cx="1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6994" name="Rectangle 25"/>
            <p:cNvSpPr>
              <a:spLocks noChangeArrowheads="1"/>
            </p:cNvSpPr>
            <p:nvPr/>
          </p:nvSpPr>
          <p:spPr bwMode="auto">
            <a:xfrm>
              <a:off x="4468" y="2836"/>
              <a:ext cx="520" cy="18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995" name="Line 26"/>
            <p:cNvSpPr>
              <a:spLocks noChangeShapeType="1"/>
            </p:cNvSpPr>
            <p:nvPr/>
          </p:nvSpPr>
          <p:spPr bwMode="auto">
            <a:xfrm>
              <a:off x="4608" y="283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6996" name="Line 27"/>
            <p:cNvSpPr>
              <a:spLocks noChangeShapeType="1"/>
            </p:cNvSpPr>
            <p:nvPr/>
          </p:nvSpPr>
          <p:spPr bwMode="auto">
            <a:xfrm>
              <a:off x="4800" y="283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6997" name="Rectangle 28"/>
            <p:cNvSpPr>
              <a:spLocks noChangeArrowheads="1"/>
            </p:cNvSpPr>
            <p:nvPr/>
          </p:nvSpPr>
          <p:spPr bwMode="auto">
            <a:xfrm>
              <a:off x="3014" y="2774"/>
              <a:ext cx="112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Pkt. scheduler</a:t>
              </a:r>
            </a:p>
          </p:txBody>
        </p:sp>
        <p:sp>
          <p:nvSpPr>
            <p:cNvPr id="126998" name="Rectangle 29"/>
            <p:cNvSpPr>
              <a:spLocks noChangeArrowheads="1"/>
            </p:cNvSpPr>
            <p:nvPr/>
          </p:nvSpPr>
          <p:spPr bwMode="auto">
            <a:xfrm>
              <a:off x="3062" y="3302"/>
              <a:ext cx="103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Output driver</a:t>
              </a:r>
            </a:p>
          </p:txBody>
        </p:sp>
        <p:sp>
          <p:nvSpPr>
            <p:cNvPr id="126999" name="Rectangle 30"/>
            <p:cNvSpPr>
              <a:spLocks noChangeArrowheads="1"/>
            </p:cNvSpPr>
            <p:nvPr/>
          </p:nvSpPr>
          <p:spPr bwMode="auto">
            <a:xfrm>
              <a:off x="1156" y="676"/>
              <a:ext cx="952" cy="472"/>
            </a:xfrm>
            <a:prstGeom prst="rect">
              <a:avLst/>
            </a:prstGeom>
            <a:solidFill>
              <a:srgbClr val="FF99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7000" name="Rectangle 31"/>
            <p:cNvSpPr>
              <a:spLocks noChangeArrowheads="1"/>
            </p:cNvSpPr>
            <p:nvPr/>
          </p:nvSpPr>
          <p:spPr bwMode="auto">
            <a:xfrm>
              <a:off x="2404" y="676"/>
              <a:ext cx="952" cy="472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7001" name="Rectangle 32"/>
            <p:cNvSpPr>
              <a:spLocks noChangeArrowheads="1"/>
            </p:cNvSpPr>
            <p:nvPr/>
          </p:nvSpPr>
          <p:spPr bwMode="auto">
            <a:xfrm>
              <a:off x="3700" y="676"/>
              <a:ext cx="952" cy="472"/>
            </a:xfrm>
            <a:prstGeom prst="rect">
              <a:avLst/>
            </a:prstGeom>
            <a:solidFill>
              <a:srgbClr val="B1CCCB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7002" name="Rectangle 33"/>
            <p:cNvSpPr>
              <a:spLocks noChangeArrowheads="1"/>
            </p:cNvSpPr>
            <p:nvPr/>
          </p:nvSpPr>
          <p:spPr bwMode="auto">
            <a:xfrm>
              <a:off x="1286" y="662"/>
              <a:ext cx="668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Routing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Agent</a:t>
              </a:r>
            </a:p>
          </p:txBody>
        </p:sp>
        <p:sp>
          <p:nvSpPr>
            <p:cNvPr id="127003" name="Rectangle 34"/>
            <p:cNvSpPr>
              <a:spLocks noChangeArrowheads="1"/>
            </p:cNvSpPr>
            <p:nvPr/>
          </p:nvSpPr>
          <p:spPr bwMode="auto">
            <a:xfrm>
              <a:off x="2342" y="662"/>
              <a:ext cx="970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Reservation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    Agent</a:t>
              </a:r>
            </a:p>
          </p:txBody>
        </p:sp>
        <p:sp>
          <p:nvSpPr>
            <p:cNvPr id="127004" name="Rectangle 35"/>
            <p:cNvSpPr>
              <a:spLocks noChangeArrowheads="1"/>
            </p:cNvSpPr>
            <p:nvPr/>
          </p:nvSpPr>
          <p:spPr bwMode="auto">
            <a:xfrm>
              <a:off x="3830" y="662"/>
              <a:ext cx="559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Mgmt.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Agent</a:t>
              </a:r>
            </a:p>
          </p:txBody>
        </p:sp>
        <p:sp>
          <p:nvSpPr>
            <p:cNvPr id="127005" name="Rectangle 36"/>
            <p:cNvSpPr>
              <a:spLocks noChangeArrowheads="1"/>
            </p:cNvSpPr>
            <p:nvPr/>
          </p:nvSpPr>
          <p:spPr bwMode="auto">
            <a:xfrm>
              <a:off x="2980" y="1348"/>
              <a:ext cx="952" cy="472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7006" name="Rectangle 37"/>
            <p:cNvSpPr>
              <a:spLocks noChangeArrowheads="1"/>
            </p:cNvSpPr>
            <p:nvPr/>
          </p:nvSpPr>
          <p:spPr bwMode="auto">
            <a:xfrm>
              <a:off x="3014" y="1334"/>
              <a:ext cx="855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Admission</a:t>
              </a:r>
            </a:p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  Control</a:t>
              </a:r>
            </a:p>
          </p:txBody>
        </p:sp>
        <p:sp>
          <p:nvSpPr>
            <p:cNvPr id="127007" name="Line 38"/>
            <p:cNvSpPr>
              <a:spLocks noChangeShapeType="1"/>
            </p:cNvSpPr>
            <p:nvPr/>
          </p:nvSpPr>
          <p:spPr bwMode="auto">
            <a:xfrm>
              <a:off x="3264" y="1152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7008" name="Line 39"/>
            <p:cNvSpPr>
              <a:spLocks noChangeShapeType="1"/>
            </p:cNvSpPr>
            <p:nvPr/>
          </p:nvSpPr>
          <p:spPr bwMode="auto">
            <a:xfrm>
              <a:off x="1920" y="1152"/>
              <a:ext cx="0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stealth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7009" name="Rectangle 40"/>
            <p:cNvSpPr>
              <a:spLocks noChangeArrowheads="1"/>
            </p:cNvSpPr>
            <p:nvPr/>
          </p:nvSpPr>
          <p:spPr bwMode="auto">
            <a:xfrm>
              <a:off x="1094" y="1862"/>
              <a:ext cx="326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/>
                <a:t>[Routing database] [Traffic control database]</a:t>
              </a:r>
            </a:p>
          </p:txBody>
        </p:sp>
        <p:sp>
          <p:nvSpPr>
            <p:cNvPr id="127010" name="Line 41"/>
            <p:cNvSpPr>
              <a:spLocks noChangeShapeType="1"/>
            </p:cNvSpPr>
            <p:nvPr/>
          </p:nvSpPr>
          <p:spPr bwMode="auto">
            <a:xfrm>
              <a:off x="2832" y="1152"/>
              <a:ext cx="0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stealth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7011" name="Line 42"/>
            <p:cNvSpPr>
              <a:spLocks noChangeShapeType="1"/>
            </p:cNvSpPr>
            <p:nvPr/>
          </p:nvSpPr>
          <p:spPr bwMode="auto">
            <a:xfrm>
              <a:off x="4080" y="1152"/>
              <a:ext cx="0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stealth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26979" name="Rectangle 4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500" smtClean="0"/>
              <a:t>Current View of Router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Closed-Loop Flow Control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600" smtClean="0"/>
              <a:t>Congestion control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smtClean="0"/>
              <a:t>feedback information to regulate flow from sources into network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smtClean="0"/>
              <a:t>Based on buffer content, link utilization, etc.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smtClean="0"/>
              <a:t>Examples:  TCP at transport layer; congestion control at ATM level</a:t>
            </a:r>
          </a:p>
          <a:p>
            <a:pPr eaLnBrk="1" hangingPunct="1">
              <a:lnSpc>
                <a:spcPct val="90000"/>
              </a:lnSpc>
            </a:pPr>
            <a:r>
              <a:rPr lang="en-US" sz="2600" smtClean="0"/>
              <a:t>End-to-end vs. Hop-by-hop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smtClean="0"/>
              <a:t>Delay in effecting control</a:t>
            </a:r>
          </a:p>
          <a:p>
            <a:pPr eaLnBrk="1" hangingPunct="1">
              <a:lnSpc>
                <a:spcPct val="90000"/>
              </a:lnSpc>
            </a:pPr>
            <a:r>
              <a:rPr lang="en-US" sz="2600" smtClean="0"/>
              <a:t>Implicit vs. Explicit Feedback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smtClean="0"/>
              <a:t>Source deduces congestion from observed behavior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smtClean="0"/>
              <a:t>Routers/switches generate messages alerting to congestion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026" name="Group 2"/>
          <p:cNvGrpSpPr>
            <a:grpSpLocks/>
          </p:cNvGrpSpPr>
          <p:nvPr/>
        </p:nvGrpSpPr>
        <p:grpSpPr bwMode="auto">
          <a:xfrm>
            <a:off x="992188" y="1460500"/>
            <a:ext cx="7126287" cy="3330575"/>
            <a:chOff x="417" y="920"/>
            <a:chExt cx="4489" cy="2098"/>
          </a:xfrm>
        </p:grpSpPr>
        <p:sp>
          <p:nvSpPr>
            <p:cNvPr id="129028" name="Oval 3"/>
            <p:cNvSpPr>
              <a:spLocks noChangeArrowheads="1"/>
            </p:cNvSpPr>
            <p:nvPr/>
          </p:nvSpPr>
          <p:spPr bwMode="auto">
            <a:xfrm>
              <a:off x="624" y="1188"/>
              <a:ext cx="256" cy="256"/>
            </a:xfrm>
            <a:prstGeom prst="ellipse">
              <a:avLst/>
            </a:prstGeom>
            <a:solidFill>
              <a:srgbClr val="B1CCCB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29" name="Oval 4"/>
            <p:cNvSpPr>
              <a:spLocks noChangeArrowheads="1"/>
            </p:cNvSpPr>
            <p:nvPr/>
          </p:nvSpPr>
          <p:spPr bwMode="auto">
            <a:xfrm>
              <a:off x="1528" y="1188"/>
              <a:ext cx="256" cy="2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30" name="Oval 5"/>
            <p:cNvSpPr>
              <a:spLocks noChangeArrowheads="1"/>
            </p:cNvSpPr>
            <p:nvPr/>
          </p:nvSpPr>
          <p:spPr bwMode="auto">
            <a:xfrm>
              <a:off x="3432" y="1188"/>
              <a:ext cx="256" cy="2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31" name="Oval 6"/>
            <p:cNvSpPr>
              <a:spLocks noChangeArrowheads="1"/>
            </p:cNvSpPr>
            <p:nvPr/>
          </p:nvSpPr>
          <p:spPr bwMode="auto">
            <a:xfrm>
              <a:off x="2512" y="1188"/>
              <a:ext cx="256" cy="2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32" name="Oval 7"/>
            <p:cNvSpPr>
              <a:spLocks noChangeArrowheads="1"/>
            </p:cNvSpPr>
            <p:nvPr/>
          </p:nvSpPr>
          <p:spPr bwMode="auto">
            <a:xfrm>
              <a:off x="4408" y="1188"/>
              <a:ext cx="256" cy="256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33" name="Line 8"/>
            <p:cNvSpPr>
              <a:spLocks noChangeShapeType="1"/>
            </p:cNvSpPr>
            <p:nvPr/>
          </p:nvSpPr>
          <p:spPr bwMode="auto">
            <a:xfrm>
              <a:off x="872" y="1320"/>
              <a:ext cx="35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9034" name="Freeform 9"/>
            <p:cNvSpPr>
              <a:spLocks/>
            </p:cNvSpPr>
            <p:nvPr/>
          </p:nvSpPr>
          <p:spPr bwMode="auto">
            <a:xfrm>
              <a:off x="856" y="1392"/>
              <a:ext cx="3584" cy="307"/>
            </a:xfrm>
            <a:custGeom>
              <a:avLst/>
              <a:gdLst>
                <a:gd name="T0" fmla="*/ 3584 w 3584"/>
                <a:gd name="T1" fmla="*/ 16 h 307"/>
                <a:gd name="T2" fmla="*/ 1816 w 3584"/>
                <a:gd name="T3" fmla="*/ 304 h 307"/>
                <a:gd name="T4" fmla="*/ 0 w 3584"/>
                <a:gd name="T5" fmla="*/ 0 h 307"/>
                <a:gd name="T6" fmla="*/ 0 60000 65536"/>
                <a:gd name="T7" fmla="*/ 0 60000 65536"/>
                <a:gd name="T8" fmla="*/ 0 60000 65536"/>
                <a:gd name="T9" fmla="*/ 0 w 3584"/>
                <a:gd name="T10" fmla="*/ 0 h 307"/>
                <a:gd name="T11" fmla="*/ 3584 w 3584"/>
                <a:gd name="T12" fmla="*/ 307 h 3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84" h="307">
                  <a:moveTo>
                    <a:pt x="3584" y="16"/>
                  </a:moveTo>
                  <a:cubicBezTo>
                    <a:pt x="2998" y="161"/>
                    <a:pt x="2413" y="307"/>
                    <a:pt x="1816" y="304"/>
                  </a:cubicBezTo>
                  <a:cubicBezTo>
                    <a:pt x="1219" y="301"/>
                    <a:pt x="609" y="150"/>
                    <a:pt x="0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35" name="Oval 10"/>
            <p:cNvSpPr>
              <a:spLocks noChangeArrowheads="1"/>
            </p:cNvSpPr>
            <p:nvPr/>
          </p:nvSpPr>
          <p:spPr bwMode="auto">
            <a:xfrm>
              <a:off x="624" y="2228"/>
              <a:ext cx="256" cy="256"/>
            </a:xfrm>
            <a:prstGeom prst="ellipse">
              <a:avLst/>
            </a:prstGeom>
            <a:solidFill>
              <a:srgbClr val="B1CCCB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36" name="Oval 11"/>
            <p:cNvSpPr>
              <a:spLocks noChangeArrowheads="1"/>
            </p:cNvSpPr>
            <p:nvPr/>
          </p:nvSpPr>
          <p:spPr bwMode="auto">
            <a:xfrm>
              <a:off x="1528" y="2228"/>
              <a:ext cx="256" cy="2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37" name="Oval 12"/>
            <p:cNvSpPr>
              <a:spLocks noChangeArrowheads="1"/>
            </p:cNvSpPr>
            <p:nvPr/>
          </p:nvSpPr>
          <p:spPr bwMode="auto">
            <a:xfrm>
              <a:off x="3432" y="2228"/>
              <a:ext cx="256" cy="2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38" name="Oval 13"/>
            <p:cNvSpPr>
              <a:spLocks noChangeArrowheads="1"/>
            </p:cNvSpPr>
            <p:nvPr/>
          </p:nvSpPr>
          <p:spPr bwMode="auto">
            <a:xfrm>
              <a:off x="2512" y="2228"/>
              <a:ext cx="256" cy="2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39" name="Oval 14"/>
            <p:cNvSpPr>
              <a:spLocks noChangeArrowheads="1"/>
            </p:cNvSpPr>
            <p:nvPr/>
          </p:nvSpPr>
          <p:spPr bwMode="auto">
            <a:xfrm>
              <a:off x="4408" y="2228"/>
              <a:ext cx="256" cy="256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40" name="Line 15"/>
            <p:cNvSpPr>
              <a:spLocks noChangeShapeType="1"/>
            </p:cNvSpPr>
            <p:nvPr/>
          </p:nvSpPr>
          <p:spPr bwMode="auto">
            <a:xfrm>
              <a:off x="872" y="2360"/>
              <a:ext cx="6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9041" name="Line 16"/>
            <p:cNvSpPr>
              <a:spLocks noChangeShapeType="1"/>
            </p:cNvSpPr>
            <p:nvPr/>
          </p:nvSpPr>
          <p:spPr bwMode="auto">
            <a:xfrm>
              <a:off x="1784" y="2360"/>
              <a:ext cx="7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9042" name="Line 17"/>
            <p:cNvSpPr>
              <a:spLocks noChangeShapeType="1"/>
            </p:cNvSpPr>
            <p:nvPr/>
          </p:nvSpPr>
          <p:spPr bwMode="auto">
            <a:xfrm>
              <a:off x="2768" y="2360"/>
              <a:ext cx="6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9043" name="Line 18"/>
            <p:cNvSpPr>
              <a:spLocks noChangeShapeType="1"/>
            </p:cNvSpPr>
            <p:nvPr/>
          </p:nvSpPr>
          <p:spPr bwMode="auto">
            <a:xfrm>
              <a:off x="3688" y="2360"/>
              <a:ext cx="7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9044" name="Freeform 19"/>
            <p:cNvSpPr>
              <a:spLocks/>
            </p:cNvSpPr>
            <p:nvPr/>
          </p:nvSpPr>
          <p:spPr bwMode="auto">
            <a:xfrm>
              <a:off x="864" y="2424"/>
              <a:ext cx="696" cy="156"/>
            </a:xfrm>
            <a:custGeom>
              <a:avLst/>
              <a:gdLst>
                <a:gd name="T0" fmla="*/ 696 w 696"/>
                <a:gd name="T1" fmla="*/ 24 h 156"/>
                <a:gd name="T2" fmla="*/ 344 w 696"/>
                <a:gd name="T3" fmla="*/ 152 h 156"/>
                <a:gd name="T4" fmla="*/ 0 w 696"/>
                <a:gd name="T5" fmla="*/ 0 h 156"/>
                <a:gd name="T6" fmla="*/ 0 60000 65536"/>
                <a:gd name="T7" fmla="*/ 0 60000 65536"/>
                <a:gd name="T8" fmla="*/ 0 60000 65536"/>
                <a:gd name="T9" fmla="*/ 0 w 696"/>
                <a:gd name="T10" fmla="*/ 0 h 156"/>
                <a:gd name="T11" fmla="*/ 696 w 696"/>
                <a:gd name="T12" fmla="*/ 156 h 1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6" h="156">
                  <a:moveTo>
                    <a:pt x="696" y="24"/>
                  </a:moveTo>
                  <a:cubicBezTo>
                    <a:pt x="578" y="90"/>
                    <a:pt x="460" y="156"/>
                    <a:pt x="344" y="152"/>
                  </a:cubicBezTo>
                  <a:cubicBezTo>
                    <a:pt x="228" y="148"/>
                    <a:pt x="114" y="74"/>
                    <a:pt x="0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45" name="Freeform 20"/>
            <p:cNvSpPr>
              <a:spLocks/>
            </p:cNvSpPr>
            <p:nvPr/>
          </p:nvSpPr>
          <p:spPr bwMode="auto">
            <a:xfrm>
              <a:off x="1776" y="2424"/>
              <a:ext cx="776" cy="180"/>
            </a:xfrm>
            <a:custGeom>
              <a:avLst/>
              <a:gdLst>
                <a:gd name="T0" fmla="*/ 1337 w 696"/>
                <a:gd name="T1" fmla="*/ 58 h 156"/>
                <a:gd name="T2" fmla="*/ 661 w 696"/>
                <a:gd name="T3" fmla="*/ 358 h 156"/>
                <a:gd name="T4" fmla="*/ 0 w 696"/>
                <a:gd name="T5" fmla="*/ 0 h 156"/>
                <a:gd name="T6" fmla="*/ 0 60000 65536"/>
                <a:gd name="T7" fmla="*/ 0 60000 65536"/>
                <a:gd name="T8" fmla="*/ 0 60000 65536"/>
                <a:gd name="T9" fmla="*/ 0 w 696"/>
                <a:gd name="T10" fmla="*/ 0 h 156"/>
                <a:gd name="T11" fmla="*/ 696 w 696"/>
                <a:gd name="T12" fmla="*/ 156 h 1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6" h="156">
                  <a:moveTo>
                    <a:pt x="696" y="24"/>
                  </a:moveTo>
                  <a:cubicBezTo>
                    <a:pt x="578" y="90"/>
                    <a:pt x="460" y="156"/>
                    <a:pt x="344" y="152"/>
                  </a:cubicBezTo>
                  <a:cubicBezTo>
                    <a:pt x="228" y="148"/>
                    <a:pt x="114" y="74"/>
                    <a:pt x="0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46" name="Freeform 21"/>
            <p:cNvSpPr>
              <a:spLocks/>
            </p:cNvSpPr>
            <p:nvPr/>
          </p:nvSpPr>
          <p:spPr bwMode="auto">
            <a:xfrm>
              <a:off x="2752" y="2432"/>
              <a:ext cx="696" cy="156"/>
            </a:xfrm>
            <a:custGeom>
              <a:avLst/>
              <a:gdLst>
                <a:gd name="T0" fmla="*/ 696 w 696"/>
                <a:gd name="T1" fmla="*/ 24 h 156"/>
                <a:gd name="T2" fmla="*/ 344 w 696"/>
                <a:gd name="T3" fmla="*/ 152 h 156"/>
                <a:gd name="T4" fmla="*/ 0 w 696"/>
                <a:gd name="T5" fmla="*/ 0 h 156"/>
                <a:gd name="T6" fmla="*/ 0 60000 65536"/>
                <a:gd name="T7" fmla="*/ 0 60000 65536"/>
                <a:gd name="T8" fmla="*/ 0 60000 65536"/>
                <a:gd name="T9" fmla="*/ 0 w 696"/>
                <a:gd name="T10" fmla="*/ 0 h 156"/>
                <a:gd name="T11" fmla="*/ 696 w 696"/>
                <a:gd name="T12" fmla="*/ 156 h 1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6" h="156">
                  <a:moveTo>
                    <a:pt x="696" y="24"/>
                  </a:moveTo>
                  <a:cubicBezTo>
                    <a:pt x="578" y="90"/>
                    <a:pt x="460" y="156"/>
                    <a:pt x="344" y="152"/>
                  </a:cubicBezTo>
                  <a:cubicBezTo>
                    <a:pt x="228" y="148"/>
                    <a:pt x="114" y="74"/>
                    <a:pt x="0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47" name="Freeform 22"/>
            <p:cNvSpPr>
              <a:spLocks/>
            </p:cNvSpPr>
            <p:nvPr/>
          </p:nvSpPr>
          <p:spPr bwMode="auto">
            <a:xfrm>
              <a:off x="3664" y="2424"/>
              <a:ext cx="768" cy="164"/>
            </a:xfrm>
            <a:custGeom>
              <a:avLst/>
              <a:gdLst>
                <a:gd name="T0" fmla="*/ 1257 w 696"/>
                <a:gd name="T1" fmla="*/ 30 h 156"/>
                <a:gd name="T2" fmla="*/ 621 w 696"/>
                <a:gd name="T3" fmla="*/ 206 h 156"/>
                <a:gd name="T4" fmla="*/ 0 w 696"/>
                <a:gd name="T5" fmla="*/ 0 h 156"/>
                <a:gd name="T6" fmla="*/ 0 60000 65536"/>
                <a:gd name="T7" fmla="*/ 0 60000 65536"/>
                <a:gd name="T8" fmla="*/ 0 60000 65536"/>
                <a:gd name="T9" fmla="*/ 0 w 696"/>
                <a:gd name="T10" fmla="*/ 0 h 156"/>
                <a:gd name="T11" fmla="*/ 696 w 696"/>
                <a:gd name="T12" fmla="*/ 156 h 1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6" h="156">
                  <a:moveTo>
                    <a:pt x="696" y="24"/>
                  </a:moveTo>
                  <a:cubicBezTo>
                    <a:pt x="578" y="90"/>
                    <a:pt x="460" y="156"/>
                    <a:pt x="344" y="152"/>
                  </a:cubicBezTo>
                  <a:cubicBezTo>
                    <a:pt x="228" y="148"/>
                    <a:pt x="114" y="74"/>
                    <a:pt x="0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048" name="Text Box 23"/>
            <p:cNvSpPr txBox="1">
              <a:spLocks noChangeArrowheads="1"/>
            </p:cNvSpPr>
            <p:nvPr/>
          </p:nvSpPr>
          <p:spPr bwMode="auto">
            <a:xfrm>
              <a:off x="453" y="950"/>
              <a:ext cx="52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Source</a:t>
              </a:r>
            </a:p>
          </p:txBody>
        </p:sp>
        <p:sp>
          <p:nvSpPr>
            <p:cNvPr id="129049" name="Text Box 24"/>
            <p:cNvSpPr txBox="1">
              <a:spLocks noChangeArrowheads="1"/>
            </p:cNvSpPr>
            <p:nvPr/>
          </p:nvSpPr>
          <p:spPr bwMode="auto">
            <a:xfrm>
              <a:off x="4151" y="950"/>
              <a:ext cx="755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Destination</a:t>
              </a:r>
            </a:p>
          </p:txBody>
        </p:sp>
        <p:sp>
          <p:nvSpPr>
            <p:cNvPr id="129050" name="Text Box 25"/>
            <p:cNvSpPr txBox="1">
              <a:spLocks noChangeArrowheads="1"/>
            </p:cNvSpPr>
            <p:nvPr/>
          </p:nvSpPr>
          <p:spPr bwMode="auto">
            <a:xfrm>
              <a:off x="1322" y="2806"/>
              <a:ext cx="134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Feedback information</a:t>
              </a:r>
            </a:p>
          </p:txBody>
        </p:sp>
        <p:sp>
          <p:nvSpPr>
            <p:cNvPr id="129051" name="Line 26"/>
            <p:cNvSpPr>
              <a:spLocks noChangeShapeType="1"/>
            </p:cNvSpPr>
            <p:nvPr/>
          </p:nvSpPr>
          <p:spPr bwMode="auto">
            <a:xfrm flipH="1" flipV="1">
              <a:off x="1368" y="2560"/>
              <a:ext cx="208" cy="2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9052" name="Line 27"/>
            <p:cNvSpPr>
              <a:spLocks noChangeShapeType="1"/>
            </p:cNvSpPr>
            <p:nvPr/>
          </p:nvSpPr>
          <p:spPr bwMode="auto">
            <a:xfrm flipV="1">
              <a:off x="1720" y="2552"/>
              <a:ext cx="256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9053" name="Text Box 28"/>
            <p:cNvSpPr txBox="1">
              <a:spLocks noChangeArrowheads="1"/>
            </p:cNvSpPr>
            <p:nvPr/>
          </p:nvSpPr>
          <p:spPr bwMode="auto">
            <a:xfrm>
              <a:off x="1858" y="920"/>
              <a:ext cx="68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Packet flow</a:t>
              </a:r>
            </a:p>
          </p:txBody>
        </p:sp>
        <p:sp>
          <p:nvSpPr>
            <p:cNvPr id="129054" name="Line 29"/>
            <p:cNvSpPr>
              <a:spLocks noChangeShapeType="1"/>
            </p:cNvSpPr>
            <p:nvPr/>
          </p:nvSpPr>
          <p:spPr bwMode="auto">
            <a:xfrm flipH="1">
              <a:off x="2120" y="1096"/>
              <a:ext cx="96" cy="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9055" name="Text Box 30"/>
            <p:cNvSpPr txBox="1">
              <a:spLocks noChangeArrowheads="1"/>
            </p:cNvSpPr>
            <p:nvPr/>
          </p:nvSpPr>
          <p:spPr bwMode="auto">
            <a:xfrm>
              <a:off x="453" y="2022"/>
              <a:ext cx="52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Source</a:t>
              </a:r>
            </a:p>
          </p:txBody>
        </p:sp>
        <p:sp>
          <p:nvSpPr>
            <p:cNvPr id="129056" name="Text Box 31"/>
            <p:cNvSpPr txBox="1">
              <a:spLocks noChangeArrowheads="1"/>
            </p:cNvSpPr>
            <p:nvPr/>
          </p:nvSpPr>
          <p:spPr bwMode="auto">
            <a:xfrm>
              <a:off x="4151" y="2022"/>
              <a:ext cx="755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600"/>
                <a:t>Destination</a:t>
              </a:r>
            </a:p>
          </p:txBody>
        </p:sp>
        <p:sp>
          <p:nvSpPr>
            <p:cNvPr id="129057" name="Text Box 32"/>
            <p:cNvSpPr txBox="1">
              <a:spLocks noChangeArrowheads="1"/>
            </p:cNvSpPr>
            <p:nvPr/>
          </p:nvSpPr>
          <p:spPr bwMode="auto">
            <a:xfrm>
              <a:off x="418" y="1464"/>
              <a:ext cx="25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(a)</a:t>
              </a:r>
            </a:p>
          </p:txBody>
        </p:sp>
        <p:sp>
          <p:nvSpPr>
            <p:cNvPr id="129058" name="Text Box 33"/>
            <p:cNvSpPr txBox="1">
              <a:spLocks noChangeArrowheads="1"/>
            </p:cNvSpPr>
            <p:nvPr/>
          </p:nvSpPr>
          <p:spPr bwMode="auto">
            <a:xfrm>
              <a:off x="417" y="2560"/>
              <a:ext cx="25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400"/>
                <a:t>(b)</a:t>
              </a:r>
            </a:p>
          </p:txBody>
        </p:sp>
      </p:grpSp>
      <p:sp>
        <p:nvSpPr>
          <p:cNvPr id="129027" name="Rectangle 3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500" smtClean="0"/>
              <a:t>End-to-End vs. Hop-by-Hop Congestion Control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Traffic Engineering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600" smtClean="0"/>
              <a:t>Management exerted at flow aggregate level</a:t>
            </a:r>
          </a:p>
          <a:p>
            <a:pPr eaLnBrk="1" hangingPunct="1"/>
            <a:r>
              <a:rPr lang="en-US" sz="2600" smtClean="0"/>
              <a:t>Distribution of flows in network to achieve efficient utilization of resources (bandwidth)</a:t>
            </a:r>
          </a:p>
          <a:p>
            <a:pPr eaLnBrk="1" hangingPunct="1"/>
            <a:r>
              <a:rPr lang="en-US" sz="2600" smtClean="0"/>
              <a:t>Shortest path algorithm to route a given flow not enough</a:t>
            </a:r>
          </a:p>
          <a:p>
            <a:pPr lvl="1" eaLnBrk="1" hangingPunct="1"/>
            <a:r>
              <a:rPr lang="en-US" sz="2200" smtClean="0"/>
              <a:t>Does not take into account requirements of a flow, e.g. bandwidth requirement</a:t>
            </a:r>
          </a:p>
          <a:p>
            <a:pPr lvl="1" eaLnBrk="1" hangingPunct="1"/>
            <a:r>
              <a:rPr lang="en-US" sz="2200" smtClean="0"/>
              <a:t>Does not take account interplay between different flows</a:t>
            </a:r>
          </a:p>
          <a:p>
            <a:pPr eaLnBrk="1" hangingPunct="1"/>
            <a:r>
              <a:rPr lang="en-US" sz="2600" smtClean="0"/>
              <a:t>Must take into account aggregate demand from all flows</a:t>
            </a:r>
          </a:p>
          <a:p>
            <a:pPr eaLnBrk="1" hangingPunct="1"/>
            <a:endParaRPr lang="en-US" sz="26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074" name="Group 2"/>
          <p:cNvGrpSpPr>
            <a:grpSpLocks/>
          </p:cNvGrpSpPr>
          <p:nvPr/>
        </p:nvGrpSpPr>
        <p:grpSpPr bwMode="auto">
          <a:xfrm>
            <a:off x="1169988" y="1800225"/>
            <a:ext cx="6759575" cy="3154363"/>
            <a:chOff x="713" y="1182"/>
            <a:chExt cx="4258" cy="1987"/>
          </a:xfrm>
        </p:grpSpPr>
        <p:sp>
          <p:nvSpPr>
            <p:cNvPr id="131077" name="Oval 3"/>
            <p:cNvSpPr>
              <a:spLocks noChangeArrowheads="1"/>
            </p:cNvSpPr>
            <p:nvPr/>
          </p:nvSpPr>
          <p:spPr bwMode="auto">
            <a:xfrm>
              <a:off x="1410" y="1954"/>
              <a:ext cx="166" cy="187"/>
            </a:xfrm>
            <a:prstGeom prst="ellipse">
              <a:avLst/>
            </a:prstGeom>
            <a:solidFill>
              <a:schemeClr val="accent2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078" name="Rectangle 4"/>
            <p:cNvSpPr>
              <a:spLocks noChangeArrowheads="1"/>
            </p:cNvSpPr>
            <p:nvPr/>
          </p:nvSpPr>
          <p:spPr bwMode="auto">
            <a:xfrm>
              <a:off x="1481" y="1969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4</a:t>
              </a:r>
              <a:endParaRPr lang="en-US" sz="1800"/>
            </a:p>
          </p:txBody>
        </p:sp>
        <p:sp>
          <p:nvSpPr>
            <p:cNvPr id="131079" name="Oval 5"/>
            <p:cNvSpPr>
              <a:spLocks noChangeArrowheads="1"/>
            </p:cNvSpPr>
            <p:nvPr/>
          </p:nvSpPr>
          <p:spPr bwMode="auto">
            <a:xfrm>
              <a:off x="2477" y="1225"/>
              <a:ext cx="166" cy="187"/>
            </a:xfrm>
            <a:prstGeom prst="ellipse">
              <a:avLst/>
            </a:prstGeom>
            <a:solidFill>
              <a:schemeClr val="accent2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080" name="Rectangle 6"/>
            <p:cNvSpPr>
              <a:spLocks noChangeArrowheads="1"/>
            </p:cNvSpPr>
            <p:nvPr/>
          </p:nvSpPr>
          <p:spPr bwMode="auto">
            <a:xfrm>
              <a:off x="2516" y="1224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6</a:t>
              </a:r>
              <a:endParaRPr lang="en-US" sz="1800"/>
            </a:p>
          </p:txBody>
        </p:sp>
        <p:sp>
          <p:nvSpPr>
            <p:cNvPr id="131081" name="Oval 7"/>
            <p:cNvSpPr>
              <a:spLocks noChangeArrowheads="1"/>
            </p:cNvSpPr>
            <p:nvPr/>
          </p:nvSpPr>
          <p:spPr bwMode="auto">
            <a:xfrm>
              <a:off x="1378" y="1182"/>
              <a:ext cx="165" cy="187"/>
            </a:xfrm>
            <a:prstGeom prst="ellipse">
              <a:avLst/>
            </a:prstGeom>
            <a:solidFill>
              <a:schemeClr val="accent2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082" name="Rectangle 8"/>
            <p:cNvSpPr>
              <a:spLocks noChangeArrowheads="1"/>
            </p:cNvSpPr>
            <p:nvPr/>
          </p:nvSpPr>
          <p:spPr bwMode="auto">
            <a:xfrm>
              <a:off x="1424" y="1188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3</a:t>
              </a:r>
              <a:endParaRPr lang="en-US" sz="1800"/>
            </a:p>
          </p:txBody>
        </p:sp>
        <p:sp>
          <p:nvSpPr>
            <p:cNvPr id="131083" name="Oval 9"/>
            <p:cNvSpPr>
              <a:spLocks noChangeArrowheads="1"/>
            </p:cNvSpPr>
            <p:nvPr/>
          </p:nvSpPr>
          <p:spPr bwMode="auto">
            <a:xfrm>
              <a:off x="790" y="2487"/>
              <a:ext cx="165" cy="188"/>
            </a:xfrm>
            <a:prstGeom prst="ellipse">
              <a:avLst/>
            </a:prstGeom>
            <a:solidFill>
              <a:schemeClr val="accent2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084" name="Rectangle 10"/>
            <p:cNvSpPr>
              <a:spLocks noChangeArrowheads="1"/>
            </p:cNvSpPr>
            <p:nvPr/>
          </p:nvSpPr>
          <p:spPr bwMode="auto">
            <a:xfrm>
              <a:off x="828" y="2502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2</a:t>
              </a:r>
              <a:endParaRPr lang="en-US" sz="1800"/>
            </a:p>
          </p:txBody>
        </p:sp>
        <p:sp>
          <p:nvSpPr>
            <p:cNvPr id="131085" name="Oval 11"/>
            <p:cNvSpPr>
              <a:spLocks noChangeArrowheads="1"/>
            </p:cNvSpPr>
            <p:nvPr/>
          </p:nvSpPr>
          <p:spPr bwMode="auto">
            <a:xfrm>
              <a:off x="713" y="1802"/>
              <a:ext cx="166" cy="187"/>
            </a:xfrm>
            <a:prstGeom prst="ellipse">
              <a:avLst/>
            </a:prstGeom>
            <a:solidFill>
              <a:schemeClr val="accent2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086" name="Rectangle 12"/>
            <p:cNvSpPr>
              <a:spLocks noChangeArrowheads="1"/>
            </p:cNvSpPr>
            <p:nvPr/>
          </p:nvSpPr>
          <p:spPr bwMode="auto">
            <a:xfrm>
              <a:off x="752" y="1800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1</a:t>
              </a:r>
              <a:endParaRPr lang="en-US" sz="1800"/>
            </a:p>
          </p:txBody>
        </p:sp>
        <p:sp>
          <p:nvSpPr>
            <p:cNvPr id="131087" name="Oval 13"/>
            <p:cNvSpPr>
              <a:spLocks noChangeArrowheads="1"/>
            </p:cNvSpPr>
            <p:nvPr/>
          </p:nvSpPr>
          <p:spPr bwMode="auto">
            <a:xfrm>
              <a:off x="1606" y="2640"/>
              <a:ext cx="166" cy="187"/>
            </a:xfrm>
            <a:prstGeom prst="ellipse">
              <a:avLst/>
            </a:prstGeom>
            <a:solidFill>
              <a:schemeClr val="accent2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088" name="Rectangle 14"/>
            <p:cNvSpPr>
              <a:spLocks noChangeArrowheads="1"/>
            </p:cNvSpPr>
            <p:nvPr/>
          </p:nvSpPr>
          <p:spPr bwMode="auto">
            <a:xfrm>
              <a:off x="1659" y="2654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5</a:t>
              </a:r>
              <a:endParaRPr lang="en-US" sz="1800"/>
            </a:p>
          </p:txBody>
        </p:sp>
        <p:sp>
          <p:nvSpPr>
            <p:cNvPr id="131089" name="Oval 15"/>
            <p:cNvSpPr>
              <a:spLocks noChangeArrowheads="1"/>
            </p:cNvSpPr>
            <p:nvPr/>
          </p:nvSpPr>
          <p:spPr bwMode="auto">
            <a:xfrm>
              <a:off x="2238" y="2574"/>
              <a:ext cx="166" cy="188"/>
            </a:xfrm>
            <a:prstGeom prst="ellipse">
              <a:avLst/>
            </a:prstGeom>
            <a:solidFill>
              <a:schemeClr val="accent2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090" name="Rectangle 16"/>
            <p:cNvSpPr>
              <a:spLocks noChangeArrowheads="1"/>
            </p:cNvSpPr>
            <p:nvPr/>
          </p:nvSpPr>
          <p:spPr bwMode="auto">
            <a:xfrm>
              <a:off x="2290" y="2577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8</a:t>
              </a:r>
            </a:p>
          </p:txBody>
        </p:sp>
        <p:sp>
          <p:nvSpPr>
            <p:cNvPr id="131091" name="Line 17"/>
            <p:cNvSpPr>
              <a:spLocks noChangeShapeType="1"/>
            </p:cNvSpPr>
            <p:nvPr/>
          </p:nvSpPr>
          <p:spPr bwMode="auto">
            <a:xfrm flipH="1" flipV="1">
              <a:off x="1476" y="1360"/>
              <a:ext cx="33" cy="59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1092" name="Line 18"/>
            <p:cNvSpPr>
              <a:spLocks noChangeShapeType="1"/>
            </p:cNvSpPr>
            <p:nvPr/>
          </p:nvSpPr>
          <p:spPr bwMode="auto">
            <a:xfrm>
              <a:off x="1563" y="2100"/>
              <a:ext cx="682" cy="51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1093" name="Line 19"/>
            <p:cNvSpPr>
              <a:spLocks noChangeShapeType="1"/>
            </p:cNvSpPr>
            <p:nvPr/>
          </p:nvSpPr>
          <p:spPr bwMode="auto">
            <a:xfrm flipV="1">
              <a:off x="834" y="1317"/>
              <a:ext cx="544" cy="48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1094" name="Line 20"/>
            <p:cNvSpPr>
              <a:spLocks noChangeShapeType="1"/>
            </p:cNvSpPr>
            <p:nvPr/>
          </p:nvSpPr>
          <p:spPr bwMode="auto">
            <a:xfrm>
              <a:off x="1541" y="1251"/>
              <a:ext cx="937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1095" name="Line 21"/>
            <p:cNvSpPr>
              <a:spLocks noChangeShapeType="1"/>
            </p:cNvSpPr>
            <p:nvPr/>
          </p:nvSpPr>
          <p:spPr bwMode="auto">
            <a:xfrm>
              <a:off x="768" y="1980"/>
              <a:ext cx="77" cy="5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1096" name="Line 22"/>
            <p:cNvSpPr>
              <a:spLocks noChangeShapeType="1"/>
            </p:cNvSpPr>
            <p:nvPr/>
          </p:nvSpPr>
          <p:spPr bwMode="auto">
            <a:xfrm flipV="1">
              <a:off x="1759" y="2688"/>
              <a:ext cx="479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1097" name="Line 23"/>
            <p:cNvSpPr>
              <a:spLocks noChangeShapeType="1"/>
            </p:cNvSpPr>
            <p:nvPr/>
          </p:nvSpPr>
          <p:spPr bwMode="auto">
            <a:xfrm>
              <a:off x="894" y="1914"/>
              <a:ext cx="516" cy="1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1098" name="Line 24"/>
            <p:cNvSpPr>
              <a:spLocks noChangeShapeType="1"/>
            </p:cNvSpPr>
            <p:nvPr/>
          </p:nvSpPr>
          <p:spPr bwMode="auto">
            <a:xfrm flipH="1">
              <a:off x="948" y="2106"/>
              <a:ext cx="474" cy="4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1099" name="Line 25"/>
            <p:cNvSpPr>
              <a:spLocks noChangeShapeType="1"/>
            </p:cNvSpPr>
            <p:nvPr/>
          </p:nvSpPr>
          <p:spPr bwMode="auto">
            <a:xfrm flipV="1">
              <a:off x="1572" y="1380"/>
              <a:ext cx="930" cy="6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1100" name="Line 26"/>
            <p:cNvSpPr>
              <a:spLocks noChangeShapeType="1"/>
            </p:cNvSpPr>
            <p:nvPr/>
          </p:nvSpPr>
          <p:spPr bwMode="auto">
            <a:xfrm>
              <a:off x="1512" y="2130"/>
              <a:ext cx="144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1101" name="Oval 27"/>
            <p:cNvSpPr>
              <a:spLocks noChangeArrowheads="1"/>
            </p:cNvSpPr>
            <p:nvPr/>
          </p:nvSpPr>
          <p:spPr bwMode="auto">
            <a:xfrm>
              <a:off x="2495" y="1897"/>
              <a:ext cx="166" cy="187"/>
            </a:xfrm>
            <a:prstGeom prst="ellipse">
              <a:avLst/>
            </a:prstGeom>
            <a:solidFill>
              <a:schemeClr val="accent2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102" name="Rectangle 28"/>
            <p:cNvSpPr>
              <a:spLocks noChangeArrowheads="1"/>
            </p:cNvSpPr>
            <p:nvPr/>
          </p:nvSpPr>
          <p:spPr bwMode="auto">
            <a:xfrm>
              <a:off x="2548" y="1906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7</a:t>
              </a:r>
              <a:endParaRPr lang="en-US" sz="1800"/>
            </a:p>
          </p:txBody>
        </p:sp>
        <p:sp>
          <p:nvSpPr>
            <p:cNvPr id="131103" name="Line 29"/>
            <p:cNvSpPr>
              <a:spLocks noChangeShapeType="1"/>
            </p:cNvSpPr>
            <p:nvPr/>
          </p:nvSpPr>
          <p:spPr bwMode="auto">
            <a:xfrm>
              <a:off x="2562" y="1410"/>
              <a:ext cx="18" cy="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1104" name="Line 30"/>
            <p:cNvSpPr>
              <a:spLocks noChangeShapeType="1"/>
            </p:cNvSpPr>
            <p:nvPr/>
          </p:nvSpPr>
          <p:spPr bwMode="auto">
            <a:xfrm flipH="1">
              <a:off x="2370" y="2076"/>
              <a:ext cx="198" cy="5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1105" name="Oval 31"/>
            <p:cNvSpPr>
              <a:spLocks noChangeArrowheads="1"/>
            </p:cNvSpPr>
            <p:nvPr/>
          </p:nvSpPr>
          <p:spPr bwMode="auto">
            <a:xfrm>
              <a:off x="3720" y="1954"/>
              <a:ext cx="166" cy="187"/>
            </a:xfrm>
            <a:prstGeom prst="ellipse">
              <a:avLst/>
            </a:prstGeom>
            <a:solidFill>
              <a:schemeClr val="accent2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106" name="Rectangle 32"/>
            <p:cNvSpPr>
              <a:spLocks noChangeArrowheads="1"/>
            </p:cNvSpPr>
            <p:nvPr/>
          </p:nvSpPr>
          <p:spPr bwMode="auto">
            <a:xfrm>
              <a:off x="3759" y="1961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4</a:t>
              </a:r>
              <a:endParaRPr lang="en-US" sz="1800"/>
            </a:p>
          </p:txBody>
        </p:sp>
        <p:sp>
          <p:nvSpPr>
            <p:cNvPr id="131107" name="Oval 33"/>
            <p:cNvSpPr>
              <a:spLocks noChangeArrowheads="1"/>
            </p:cNvSpPr>
            <p:nvPr/>
          </p:nvSpPr>
          <p:spPr bwMode="auto">
            <a:xfrm>
              <a:off x="4787" y="1225"/>
              <a:ext cx="166" cy="187"/>
            </a:xfrm>
            <a:prstGeom prst="ellipse">
              <a:avLst/>
            </a:prstGeom>
            <a:solidFill>
              <a:schemeClr val="accent2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108" name="Rectangle 34"/>
            <p:cNvSpPr>
              <a:spLocks noChangeArrowheads="1"/>
            </p:cNvSpPr>
            <p:nvPr/>
          </p:nvSpPr>
          <p:spPr bwMode="auto">
            <a:xfrm>
              <a:off x="4834" y="1224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6</a:t>
              </a:r>
              <a:endParaRPr lang="en-US" sz="1800"/>
            </a:p>
          </p:txBody>
        </p:sp>
        <p:sp>
          <p:nvSpPr>
            <p:cNvPr id="131109" name="Oval 35"/>
            <p:cNvSpPr>
              <a:spLocks noChangeArrowheads="1"/>
            </p:cNvSpPr>
            <p:nvPr/>
          </p:nvSpPr>
          <p:spPr bwMode="auto">
            <a:xfrm>
              <a:off x="3688" y="1182"/>
              <a:ext cx="165" cy="187"/>
            </a:xfrm>
            <a:prstGeom prst="ellipse">
              <a:avLst/>
            </a:prstGeom>
            <a:solidFill>
              <a:schemeClr val="accent2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110" name="Rectangle 36"/>
            <p:cNvSpPr>
              <a:spLocks noChangeArrowheads="1"/>
            </p:cNvSpPr>
            <p:nvPr/>
          </p:nvSpPr>
          <p:spPr bwMode="auto">
            <a:xfrm>
              <a:off x="3726" y="1196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3</a:t>
              </a:r>
              <a:endParaRPr lang="en-US" sz="1800"/>
            </a:p>
          </p:txBody>
        </p:sp>
        <p:sp>
          <p:nvSpPr>
            <p:cNvPr id="131111" name="Oval 37"/>
            <p:cNvSpPr>
              <a:spLocks noChangeArrowheads="1"/>
            </p:cNvSpPr>
            <p:nvPr/>
          </p:nvSpPr>
          <p:spPr bwMode="auto">
            <a:xfrm>
              <a:off x="3100" y="2487"/>
              <a:ext cx="165" cy="188"/>
            </a:xfrm>
            <a:prstGeom prst="ellipse">
              <a:avLst/>
            </a:prstGeom>
            <a:solidFill>
              <a:schemeClr val="accent2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112" name="Rectangle 38"/>
            <p:cNvSpPr>
              <a:spLocks noChangeArrowheads="1"/>
            </p:cNvSpPr>
            <p:nvPr/>
          </p:nvSpPr>
          <p:spPr bwMode="auto">
            <a:xfrm>
              <a:off x="3146" y="2502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2</a:t>
              </a:r>
              <a:endParaRPr lang="en-US" sz="1800"/>
            </a:p>
          </p:txBody>
        </p:sp>
        <p:sp>
          <p:nvSpPr>
            <p:cNvPr id="131113" name="Oval 39"/>
            <p:cNvSpPr>
              <a:spLocks noChangeArrowheads="1"/>
            </p:cNvSpPr>
            <p:nvPr/>
          </p:nvSpPr>
          <p:spPr bwMode="auto">
            <a:xfrm>
              <a:off x="3023" y="1802"/>
              <a:ext cx="166" cy="187"/>
            </a:xfrm>
            <a:prstGeom prst="ellipse">
              <a:avLst/>
            </a:prstGeom>
            <a:solidFill>
              <a:schemeClr val="accent2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114" name="Rectangle 40"/>
            <p:cNvSpPr>
              <a:spLocks noChangeArrowheads="1"/>
            </p:cNvSpPr>
            <p:nvPr/>
          </p:nvSpPr>
          <p:spPr bwMode="auto">
            <a:xfrm>
              <a:off x="3062" y="1808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1</a:t>
              </a:r>
              <a:endParaRPr lang="en-US" sz="1800"/>
            </a:p>
          </p:txBody>
        </p:sp>
        <p:sp>
          <p:nvSpPr>
            <p:cNvPr id="131115" name="Oval 41"/>
            <p:cNvSpPr>
              <a:spLocks noChangeArrowheads="1"/>
            </p:cNvSpPr>
            <p:nvPr/>
          </p:nvSpPr>
          <p:spPr bwMode="auto">
            <a:xfrm>
              <a:off x="3916" y="2640"/>
              <a:ext cx="166" cy="187"/>
            </a:xfrm>
            <a:prstGeom prst="ellipse">
              <a:avLst/>
            </a:prstGeom>
            <a:solidFill>
              <a:schemeClr val="accent2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116" name="Rectangle 42"/>
            <p:cNvSpPr>
              <a:spLocks noChangeArrowheads="1"/>
            </p:cNvSpPr>
            <p:nvPr/>
          </p:nvSpPr>
          <p:spPr bwMode="auto">
            <a:xfrm>
              <a:off x="3969" y="2654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5</a:t>
              </a:r>
              <a:endParaRPr lang="en-US" sz="1800"/>
            </a:p>
          </p:txBody>
        </p:sp>
        <p:sp>
          <p:nvSpPr>
            <p:cNvPr id="131117" name="Oval 43"/>
            <p:cNvSpPr>
              <a:spLocks noChangeArrowheads="1"/>
            </p:cNvSpPr>
            <p:nvPr/>
          </p:nvSpPr>
          <p:spPr bwMode="auto">
            <a:xfrm>
              <a:off x="4548" y="2574"/>
              <a:ext cx="166" cy="188"/>
            </a:xfrm>
            <a:prstGeom prst="ellipse">
              <a:avLst/>
            </a:prstGeom>
            <a:solidFill>
              <a:schemeClr val="accent2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118" name="Rectangle 44"/>
            <p:cNvSpPr>
              <a:spLocks noChangeArrowheads="1"/>
            </p:cNvSpPr>
            <p:nvPr/>
          </p:nvSpPr>
          <p:spPr bwMode="auto">
            <a:xfrm>
              <a:off x="4600" y="2577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8</a:t>
              </a:r>
            </a:p>
          </p:txBody>
        </p:sp>
        <p:sp>
          <p:nvSpPr>
            <p:cNvPr id="131119" name="Line 45"/>
            <p:cNvSpPr>
              <a:spLocks noChangeShapeType="1"/>
            </p:cNvSpPr>
            <p:nvPr/>
          </p:nvSpPr>
          <p:spPr bwMode="auto">
            <a:xfrm flipH="1" flipV="1">
              <a:off x="3786" y="1360"/>
              <a:ext cx="33" cy="59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1120" name="Line 46"/>
            <p:cNvSpPr>
              <a:spLocks noChangeShapeType="1"/>
            </p:cNvSpPr>
            <p:nvPr/>
          </p:nvSpPr>
          <p:spPr bwMode="auto">
            <a:xfrm>
              <a:off x="3873" y="2100"/>
              <a:ext cx="682" cy="51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1121" name="Line 47"/>
            <p:cNvSpPr>
              <a:spLocks noChangeShapeType="1"/>
            </p:cNvSpPr>
            <p:nvPr/>
          </p:nvSpPr>
          <p:spPr bwMode="auto">
            <a:xfrm flipV="1">
              <a:off x="3144" y="1317"/>
              <a:ext cx="544" cy="48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1122" name="Line 48"/>
            <p:cNvSpPr>
              <a:spLocks noChangeShapeType="1"/>
            </p:cNvSpPr>
            <p:nvPr/>
          </p:nvSpPr>
          <p:spPr bwMode="auto">
            <a:xfrm>
              <a:off x="3851" y="1251"/>
              <a:ext cx="937" cy="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1123" name="Line 49"/>
            <p:cNvSpPr>
              <a:spLocks noChangeShapeType="1"/>
            </p:cNvSpPr>
            <p:nvPr/>
          </p:nvSpPr>
          <p:spPr bwMode="auto">
            <a:xfrm>
              <a:off x="3078" y="1980"/>
              <a:ext cx="77" cy="5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1124" name="Line 50"/>
            <p:cNvSpPr>
              <a:spLocks noChangeShapeType="1"/>
            </p:cNvSpPr>
            <p:nvPr/>
          </p:nvSpPr>
          <p:spPr bwMode="auto">
            <a:xfrm flipV="1">
              <a:off x="4069" y="2688"/>
              <a:ext cx="479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1125" name="Line 51"/>
            <p:cNvSpPr>
              <a:spLocks noChangeShapeType="1"/>
            </p:cNvSpPr>
            <p:nvPr/>
          </p:nvSpPr>
          <p:spPr bwMode="auto">
            <a:xfrm>
              <a:off x="3204" y="1914"/>
              <a:ext cx="516" cy="1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1126" name="Line 52"/>
            <p:cNvSpPr>
              <a:spLocks noChangeShapeType="1"/>
            </p:cNvSpPr>
            <p:nvPr/>
          </p:nvSpPr>
          <p:spPr bwMode="auto">
            <a:xfrm flipH="1">
              <a:off x="3258" y="2106"/>
              <a:ext cx="474" cy="4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1127" name="Line 53"/>
            <p:cNvSpPr>
              <a:spLocks noChangeShapeType="1"/>
            </p:cNvSpPr>
            <p:nvPr/>
          </p:nvSpPr>
          <p:spPr bwMode="auto">
            <a:xfrm flipV="1">
              <a:off x="3882" y="1380"/>
              <a:ext cx="930" cy="6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1128" name="Line 54"/>
            <p:cNvSpPr>
              <a:spLocks noChangeShapeType="1"/>
            </p:cNvSpPr>
            <p:nvPr/>
          </p:nvSpPr>
          <p:spPr bwMode="auto">
            <a:xfrm>
              <a:off x="3822" y="2130"/>
              <a:ext cx="144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1129" name="Oval 55"/>
            <p:cNvSpPr>
              <a:spLocks noChangeArrowheads="1"/>
            </p:cNvSpPr>
            <p:nvPr/>
          </p:nvSpPr>
          <p:spPr bwMode="auto">
            <a:xfrm>
              <a:off x="4805" y="1897"/>
              <a:ext cx="166" cy="187"/>
            </a:xfrm>
            <a:prstGeom prst="ellipse">
              <a:avLst/>
            </a:prstGeom>
            <a:solidFill>
              <a:schemeClr val="accent2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130" name="Rectangle 56"/>
            <p:cNvSpPr>
              <a:spLocks noChangeArrowheads="1"/>
            </p:cNvSpPr>
            <p:nvPr/>
          </p:nvSpPr>
          <p:spPr bwMode="auto">
            <a:xfrm>
              <a:off x="4858" y="1906"/>
              <a:ext cx="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>
                  <a:solidFill>
                    <a:srgbClr val="000000"/>
                  </a:solidFill>
                </a:rPr>
                <a:t>7</a:t>
              </a:r>
              <a:endParaRPr lang="en-US" sz="1800"/>
            </a:p>
          </p:txBody>
        </p:sp>
        <p:sp>
          <p:nvSpPr>
            <p:cNvPr id="131131" name="Line 57"/>
            <p:cNvSpPr>
              <a:spLocks noChangeShapeType="1"/>
            </p:cNvSpPr>
            <p:nvPr/>
          </p:nvSpPr>
          <p:spPr bwMode="auto">
            <a:xfrm>
              <a:off x="4872" y="1410"/>
              <a:ext cx="18" cy="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1132" name="Line 58"/>
            <p:cNvSpPr>
              <a:spLocks noChangeShapeType="1"/>
            </p:cNvSpPr>
            <p:nvPr/>
          </p:nvSpPr>
          <p:spPr bwMode="auto">
            <a:xfrm flipH="1">
              <a:off x="4680" y="2076"/>
              <a:ext cx="198" cy="5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1133" name="Freeform 59"/>
            <p:cNvSpPr>
              <a:spLocks/>
            </p:cNvSpPr>
            <p:nvPr/>
          </p:nvSpPr>
          <p:spPr bwMode="auto">
            <a:xfrm>
              <a:off x="882" y="1866"/>
              <a:ext cx="1386" cy="732"/>
            </a:xfrm>
            <a:custGeom>
              <a:avLst/>
              <a:gdLst>
                <a:gd name="T0" fmla="*/ 0 w 1386"/>
                <a:gd name="T1" fmla="*/ 0 h 732"/>
                <a:gd name="T2" fmla="*/ 540 w 1386"/>
                <a:gd name="T3" fmla="*/ 132 h 732"/>
                <a:gd name="T4" fmla="*/ 708 w 1386"/>
                <a:gd name="T5" fmla="*/ 198 h 732"/>
                <a:gd name="T6" fmla="*/ 1386 w 1386"/>
                <a:gd name="T7" fmla="*/ 732 h 7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6"/>
                <a:gd name="T13" fmla="*/ 0 h 732"/>
                <a:gd name="T14" fmla="*/ 1386 w 1386"/>
                <a:gd name="T15" fmla="*/ 732 h 7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6" h="732">
                  <a:moveTo>
                    <a:pt x="0" y="0"/>
                  </a:moveTo>
                  <a:lnTo>
                    <a:pt x="540" y="132"/>
                  </a:lnTo>
                  <a:lnTo>
                    <a:pt x="708" y="198"/>
                  </a:lnTo>
                  <a:lnTo>
                    <a:pt x="1386" y="732"/>
                  </a:lnTo>
                </a:path>
              </a:pathLst>
            </a:custGeom>
            <a:noFill/>
            <a:ln w="28575">
              <a:solidFill>
                <a:srgbClr val="FF33CC"/>
              </a:solidFill>
              <a:prstDash val="sysDot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34" name="Freeform 60"/>
            <p:cNvSpPr>
              <a:spLocks/>
            </p:cNvSpPr>
            <p:nvPr/>
          </p:nvSpPr>
          <p:spPr bwMode="auto">
            <a:xfrm>
              <a:off x="1512" y="1356"/>
              <a:ext cx="780" cy="1200"/>
            </a:xfrm>
            <a:custGeom>
              <a:avLst/>
              <a:gdLst>
                <a:gd name="T0" fmla="*/ 0 w 780"/>
                <a:gd name="T1" fmla="*/ 0 h 1200"/>
                <a:gd name="T2" fmla="*/ 18 w 780"/>
                <a:gd name="T3" fmla="*/ 600 h 1200"/>
                <a:gd name="T4" fmla="*/ 84 w 780"/>
                <a:gd name="T5" fmla="*/ 654 h 1200"/>
                <a:gd name="T6" fmla="*/ 780 w 780"/>
                <a:gd name="T7" fmla="*/ 1200 h 12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80"/>
                <a:gd name="T13" fmla="*/ 0 h 1200"/>
                <a:gd name="T14" fmla="*/ 780 w 780"/>
                <a:gd name="T15" fmla="*/ 1200 h 12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80" h="1200">
                  <a:moveTo>
                    <a:pt x="0" y="0"/>
                  </a:moveTo>
                  <a:lnTo>
                    <a:pt x="18" y="600"/>
                  </a:lnTo>
                  <a:lnTo>
                    <a:pt x="84" y="654"/>
                  </a:lnTo>
                  <a:lnTo>
                    <a:pt x="780" y="1200"/>
                  </a:lnTo>
                </a:path>
              </a:pathLst>
            </a:custGeom>
            <a:noFill/>
            <a:ln w="28575">
              <a:solidFill>
                <a:srgbClr val="FF9900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35" name="Freeform 61"/>
            <p:cNvSpPr>
              <a:spLocks/>
            </p:cNvSpPr>
            <p:nvPr/>
          </p:nvSpPr>
          <p:spPr bwMode="auto">
            <a:xfrm>
              <a:off x="954" y="2118"/>
              <a:ext cx="1278" cy="534"/>
            </a:xfrm>
            <a:custGeom>
              <a:avLst/>
              <a:gdLst>
                <a:gd name="T0" fmla="*/ 0 w 1278"/>
                <a:gd name="T1" fmla="*/ 444 h 534"/>
                <a:gd name="T2" fmla="*/ 498 w 1278"/>
                <a:gd name="T3" fmla="*/ 12 h 534"/>
                <a:gd name="T4" fmla="*/ 594 w 1278"/>
                <a:gd name="T5" fmla="*/ 0 h 534"/>
                <a:gd name="T6" fmla="*/ 1278 w 1278"/>
                <a:gd name="T7" fmla="*/ 534 h 53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78"/>
                <a:gd name="T13" fmla="*/ 0 h 534"/>
                <a:gd name="T14" fmla="*/ 1278 w 1278"/>
                <a:gd name="T15" fmla="*/ 534 h 53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78" h="534">
                  <a:moveTo>
                    <a:pt x="0" y="444"/>
                  </a:moveTo>
                  <a:lnTo>
                    <a:pt x="498" y="12"/>
                  </a:lnTo>
                  <a:lnTo>
                    <a:pt x="594" y="0"/>
                  </a:lnTo>
                  <a:lnTo>
                    <a:pt x="1278" y="534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prstDash val="lg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36" name="Freeform 62"/>
            <p:cNvSpPr>
              <a:spLocks/>
            </p:cNvSpPr>
            <p:nvPr/>
          </p:nvSpPr>
          <p:spPr bwMode="auto">
            <a:xfrm>
              <a:off x="3204" y="1866"/>
              <a:ext cx="1386" cy="732"/>
            </a:xfrm>
            <a:custGeom>
              <a:avLst/>
              <a:gdLst>
                <a:gd name="T0" fmla="*/ 0 w 1386"/>
                <a:gd name="T1" fmla="*/ 0 h 732"/>
                <a:gd name="T2" fmla="*/ 540 w 1386"/>
                <a:gd name="T3" fmla="*/ 132 h 732"/>
                <a:gd name="T4" fmla="*/ 708 w 1386"/>
                <a:gd name="T5" fmla="*/ 198 h 732"/>
                <a:gd name="T6" fmla="*/ 1386 w 1386"/>
                <a:gd name="T7" fmla="*/ 732 h 7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86"/>
                <a:gd name="T13" fmla="*/ 0 h 732"/>
                <a:gd name="T14" fmla="*/ 1386 w 1386"/>
                <a:gd name="T15" fmla="*/ 732 h 7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86" h="732">
                  <a:moveTo>
                    <a:pt x="0" y="0"/>
                  </a:moveTo>
                  <a:lnTo>
                    <a:pt x="540" y="132"/>
                  </a:lnTo>
                  <a:lnTo>
                    <a:pt x="708" y="198"/>
                  </a:lnTo>
                  <a:lnTo>
                    <a:pt x="1386" y="732"/>
                  </a:lnTo>
                </a:path>
              </a:pathLst>
            </a:custGeom>
            <a:noFill/>
            <a:ln w="28575">
              <a:solidFill>
                <a:srgbClr val="FF33CC"/>
              </a:solidFill>
              <a:prstDash val="sysDot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37" name="Freeform 63"/>
            <p:cNvSpPr>
              <a:spLocks/>
            </p:cNvSpPr>
            <p:nvPr/>
          </p:nvSpPr>
          <p:spPr bwMode="auto">
            <a:xfrm>
              <a:off x="3852" y="1272"/>
              <a:ext cx="1014" cy="1308"/>
            </a:xfrm>
            <a:custGeom>
              <a:avLst/>
              <a:gdLst>
                <a:gd name="T0" fmla="*/ 0 w 1014"/>
                <a:gd name="T1" fmla="*/ 0 h 1308"/>
                <a:gd name="T2" fmla="*/ 942 w 1014"/>
                <a:gd name="T3" fmla="*/ 42 h 1308"/>
                <a:gd name="T4" fmla="*/ 1002 w 1014"/>
                <a:gd name="T5" fmla="*/ 126 h 1308"/>
                <a:gd name="T6" fmla="*/ 1014 w 1014"/>
                <a:gd name="T7" fmla="*/ 624 h 1308"/>
                <a:gd name="T8" fmla="*/ 996 w 1014"/>
                <a:gd name="T9" fmla="*/ 792 h 1308"/>
                <a:gd name="T10" fmla="*/ 798 w 1014"/>
                <a:gd name="T11" fmla="*/ 1308 h 13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14"/>
                <a:gd name="T19" fmla="*/ 0 h 1308"/>
                <a:gd name="T20" fmla="*/ 1014 w 1014"/>
                <a:gd name="T21" fmla="*/ 1308 h 130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14" h="1308">
                  <a:moveTo>
                    <a:pt x="0" y="0"/>
                  </a:moveTo>
                  <a:lnTo>
                    <a:pt x="942" y="42"/>
                  </a:lnTo>
                  <a:lnTo>
                    <a:pt x="1002" y="126"/>
                  </a:lnTo>
                  <a:lnTo>
                    <a:pt x="1014" y="624"/>
                  </a:lnTo>
                  <a:lnTo>
                    <a:pt x="996" y="792"/>
                  </a:lnTo>
                  <a:lnTo>
                    <a:pt x="798" y="1308"/>
                  </a:lnTo>
                </a:path>
              </a:pathLst>
            </a:custGeom>
            <a:noFill/>
            <a:ln w="28575">
              <a:solidFill>
                <a:srgbClr val="FF9900"/>
              </a:solidFill>
              <a:prstDash val="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38" name="Freeform 64"/>
            <p:cNvSpPr>
              <a:spLocks/>
            </p:cNvSpPr>
            <p:nvPr/>
          </p:nvSpPr>
          <p:spPr bwMode="auto">
            <a:xfrm>
              <a:off x="3270" y="2118"/>
              <a:ext cx="1278" cy="576"/>
            </a:xfrm>
            <a:custGeom>
              <a:avLst/>
              <a:gdLst>
                <a:gd name="T0" fmla="*/ 0 w 1278"/>
                <a:gd name="T1" fmla="*/ 456 h 576"/>
                <a:gd name="T2" fmla="*/ 486 w 1278"/>
                <a:gd name="T3" fmla="*/ 12 h 576"/>
                <a:gd name="T4" fmla="*/ 528 w 1278"/>
                <a:gd name="T5" fmla="*/ 0 h 576"/>
                <a:gd name="T6" fmla="*/ 672 w 1278"/>
                <a:gd name="T7" fmla="*/ 558 h 576"/>
                <a:gd name="T8" fmla="*/ 804 w 1278"/>
                <a:gd name="T9" fmla="*/ 576 h 576"/>
                <a:gd name="T10" fmla="*/ 1278 w 1278"/>
                <a:gd name="T11" fmla="*/ 546 h 5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78"/>
                <a:gd name="T19" fmla="*/ 0 h 576"/>
                <a:gd name="T20" fmla="*/ 1278 w 1278"/>
                <a:gd name="T21" fmla="*/ 576 h 57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78" h="576">
                  <a:moveTo>
                    <a:pt x="0" y="456"/>
                  </a:moveTo>
                  <a:lnTo>
                    <a:pt x="486" y="12"/>
                  </a:lnTo>
                  <a:lnTo>
                    <a:pt x="528" y="0"/>
                  </a:lnTo>
                  <a:lnTo>
                    <a:pt x="672" y="558"/>
                  </a:lnTo>
                  <a:lnTo>
                    <a:pt x="804" y="576"/>
                  </a:lnTo>
                  <a:lnTo>
                    <a:pt x="1278" y="546"/>
                  </a:lnTo>
                </a:path>
              </a:pathLst>
            </a:custGeom>
            <a:noFill/>
            <a:ln w="28575">
              <a:solidFill>
                <a:srgbClr val="FF3300"/>
              </a:solidFill>
              <a:prstDash val="lgDash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139" name="Text Box 65"/>
            <p:cNvSpPr txBox="1">
              <a:spLocks noChangeArrowheads="1"/>
            </p:cNvSpPr>
            <p:nvPr/>
          </p:nvSpPr>
          <p:spPr bwMode="auto">
            <a:xfrm>
              <a:off x="1451" y="2938"/>
              <a:ext cx="2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(a)</a:t>
              </a:r>
            </a:p>
          </p:txBody>
        </p:sp>
        <p:sp>
          <p:nvSpPr>
            <p:cNvPr id="131140" name="Text Box 66"/>
            <p:cNvSpPr txBox="1">
              <a:spLocks noChangeArrowheads="1"/>
            </p:cNvSpPr>
            <p:nvPr/>
          </p:nvSpPr>
          <p:spPr bwMode="auto">
            <a:xfrm>
              <a:off x="3797" y="2938"/>
              <a:ext cx="2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0" hangingPunct="0">
                <a:spcBef>
                  <a:spcPct val="0"/>
                </a:spcBef>
                <a:buSzTx/>
                <a:buFontTx/>
                <a:buNone/>
              </a:pPr>
              <a:r>
                <a:rPr lang="en-US" sz="1800"/>
                <a:t>(b)</a:t>
              </a:r>
            </a:p>
          </p:txBody>
        </p:sp>
      </p:grpSp>
      <p:sp>
        <p:nvSpPr>
          <p:cNvPr id="131075" name="Text Box 68"/>
          <p:cNvSpPr txBox="1">
            <a:spLocks noChangeArrowheads="1"/>
          </p:cNvSpPr>
          <p:nvPr/>
        </p:nvSpPr>
        <p:spPr bwMode="auto">
          <a:xfrm>
            <a:off x="663575" y="5365750"/>
            <a:ext cx="2605088" cy="7016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buClr>
                <a:schemeClr val="bg1"/>
              </a:buClr>
            </a:pPr>
            <a:r>
              <a:rPr lang="en-US"/>
              <a:t>Shortest path routing congests link 4 to 8</a:t>
            </a:r>
          </a:p>
        </p:txBody>
      </p:sp>
      <p:sp>
        <p:nvSpPr>
          <p:cNvPr id="131076" name="Text Box 69"/>
          <p:cNvSpPr txBox="1">
            <a:spLocks noChangeArrowheads="1"/>
          </p:cNvSpPr>
          <p:nvPr/>
        </p:nvSpPr>
        <p:spPr bwMode="auto">
          <a:xfrm>
            <a:off x="4806950" y="5322888"/>
            <a:ext cx="2605088" cy="10064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buClr>
                <a:schemeClr val="bg1"/>
              </a:buClr>
            </a:pPr>
            <a:r>
              <a:rPr lang="en-US"/>
              <a:t>Better flow allocation distributes flows more uniformly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rgbClr val="FF33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=""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Pct val="70000"/>
          <a:buFont typeface="Wingdings" pitchFamily="2" charset="2"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rgbClr val="FF33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=""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Pct val="70000"/>
          <a:buFont typeface="Wingdings" pitchFamily="2" charset="2"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5969</TotalTime>
  <Words>7837</Words>
  <Application>Microsoft Office PowerPoint</Application>
  <PresentationFormat>On-screen Show (4:3)</PresentationFormat>
  <Paragraphs>2491</Paragraphs>
  <Slides>127</Slides>
  <Notes>125</Notes>
  <HiddenSlides>3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127</vt:i4>
      </vt:variant>
    </vt:vector>
  </HeadingPairs>
  <TitlesOfParts>
    <vt:vector size="136" baseType="lpstr">
      <vt:lpstr>Arial</vt:lpstr>
      <vt:lpstr>Wingdings</vt:lpstr>
      <vt:lpstr>Symbol</vt:lpstr>
      <vt:lpstr>Times New Roman</vt:lpstr>
      <vt:lpstr>MS Mincho</vt:lpstr>
      <vt:lpstr>Monotype Corsiva</vt:lpstr>
      <vt:lpstr>Math B</vt:lpstr>
      <vt:lpstr>Network</vt:lpstr>
      <vt:lpstr>Microsoft Equation 3.0</vt:lpstr>
      <vt:lpstr>Chapter 7 Packet-Switching Networks</vt:lpstr>
      <vt:lpstr>Chapter 7 Packet-Switching Networks</vt:lpstr>
      <vt:lpstr>Chapter 7 Packet-Switching Networks</vt:lpstr>
      <vt:lpstr>The Switching Function</vt:lpstr>
      <vt:lpstr>Packet Switching Network</vt:lpstr>
      <vt:lpstr>Message Switching</vt:lpstr>
      <vt:lpstr>Message Switching Delay</vt:lpstr>
      <vt:lpstr>Long Messages vs. Packets</vt:lpstr>
      <vt:lpstr>Packet Switching - Datagram</vt:lpstr>
      <vt:lpstr>Packet Switching Delay</vt:lpstr>
      <vt:lpstr>Delay for k-Packet Message over L Hops</vt:lpstr>
      <vt:lpstr>Routing Tables in Datagram Networks</vt:lpstr>
      <vt:lpstr>Example:  IP Internetworks</vt:lpstr>
      <vt:lpstr>Packet Switching – Virtual Circuit</vt:lpstr>
      <vt:lpstr>Connection Setup</vt:lpstr>
      <vt:lpstr>Connection Setup Delay</vt:lpstr>
      <vt:lpstr>Virtual Circuit Forwarding Tables</vt:lpstr>
      <vt:lpstr>Advantages</vt:lpstr>
      <vt:lpstr>Cut-Through switching</vt:lpstr>
      <vt:lpstr>Message vs. Packet Minimum Delay</vt:lpstr>
      <vt:lpstr>Chapter 7 Packet-Switching Networks</vt:lpstr>
      <vt:lpstr>Packet Switch:  Intersection where Traffic Flows Meet</vt:lpstr>
      <vt:lpstr>Slide 23</vt:lpstr>
      <vt:lpstr>Generic Packet Switch </vt:lpstr>
      <vt:lpstr>Line Cards</vt:lpstr>
      <vt:lpstr>Shared Memory Packet Switch</vt:lpstr>
      <vt:lpstr>Crossbar Switches</vt:lpstr>
      <vt:lpstr>Self-Routing Switches</vt:lpstr>
      <vt:lpstr>Chapter 7 Packet-Switching Networks</vt:lpstr>
      <vt:lpstr>Routing in Packet Networks</vt:lpstr>
      <vt:lpstr>Creating the Routing Tables</vt:lpstr>
      <vt:lpstr>Routing Algorithm Requirements </vt:lpstr>
      <vt:lpstr>Centralized vs Distributed Routing</vt:lpstr>
      <vt:lpstr>Static vs Dynamic Routing</vt:lpstr>
      <vt:lpstr>Routing in Virtual-Circuit Packet Networks</vt:lpstr>
      <vt:lpstr>Routing Tables in VC Packet Networks</vt:lpstr>
      <vt:lpstr>Routing Tables in Datagram Packet Networks</vt:lpstr>
      <vt:lpstr>Non-Hierarchical Addresses and Routing</vt:lpstr>
      <vt:lpstr>Hierarchical Addresses and Routing</vt:lpstr>
      <vt:lpstr>Flat vs Hierarchical Routing</vt:lpstr>
      <vt:lpstr>Specialized Routing</vt:lpstr>
      <vt:lpstr>Flooding</vt:lpstr>
      <vt:lpstr>Slide 43</vt:lpstr>
      <vt:lpstr>Slide 44</vt:lpstr>
      <vt:lpstr>Slide 45</vt:lpstr>
      <vt:lpstr>Limited Flooding</vt:lpstr>
      <vt:lpstr>Deflection Routing</vt:lpstr>
      <vt:lpstr>Slide 48</vt:lpstr>
      <vt:lpstr>Example: Node (0,2)→(1,0)</vt:lpstr>
      <vt:lpstr>Chapter 7 Packet-Switching Networks</vt:lpstr>
      <vt:lpstr>Shortest Paths &amp; Routing</vt:lpstr>
      <vt:lpstr>Routing Metrics</vt:lpstr>
      <vt:lpstr>Shortest Path Approaches</vt:lpstr>
      <vt:lpstr>Distance Vector Do you know the way to San Jose?</vt:lpstr>
      <vt:lpstr>Distance Vector</vt:lpstr>
      <vt:lpstr>Shortest Path to SJ</vt:lpstr>
      <vt:lpstr>But we don’t know the shortest paths</vt:lpstr>
      <vt:lpstr>Why Distance Vector Works</vt:lpstr>
      <vt:lpstr>Bellman-Ford Algorithm</vt:lpstr>
      <vt:lpstr>Bellman-Ford Algorithm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Counting to Infinity Problem</vt:lpstr>
      <vt:lpstr>Problem:  Bad News Travels Slowly</vt:lpstr>
      <vt:lpstr>Split Horizon with Poison Reverse</vt:lpstr>
      <vt:lpstr>Link-State Algorithm</vt:lpstr>
      <vt:lpstr>Dijkstra Algorithm:  Finding shortest paths in order</vt:lpstr>
      <vt:lpstr>Dijkstra’s algorithm</vt:lpstr>
      <vt:lpstr>Execution of Dijkstra’s algorithm</vt:lpstr>
      <vt:lpstr>Shortest Paths in  Dijkstra’s Algorithm</vt:lpstr>
      <vt:lpstr>Reaction to Failure</vt:lpstr>
      <vt:lpstr>Why is Link State Better?</vt:lpstr>
      <vt:lpstr>Source Routing</vt:lpstr>
      <vt:lpstr>Example</vt:lpstr>
      <vt:lpstr>Chapter 7 Packet-Switching Networks</vt:lpstr>
      <vt:lpstr>Traffic Management </vt:lpstr>
      <vt:lpstr>Time Scales &amp; Granularities</vt:lpstr>
      <vt:lpstr>End-to-End QoS</vt:lpstr>
      <vt:lpstr>Scheduling &amp; QoS</vt:lpstr>
      <vt:lpstr>FIFO Queueing</vt:lpstr>
      <vt:lpstr>FIFO Queueing</vt:lpstr>
      <vt:lpstr>FIFO Queueing with Discard Priority</vt:lpstr>
      <vt:lpstr>HOL Priority Queueing</vt:lpstr>
      <vt:lpstr>HOL Priority Features</vt:lpstr>
      <vt:lpstr>Earliest Due Date Scheduling</vt:lpstr>
      <vt:lpstr>Fair Queueing / Generalized Processor Sharing</vt:lpstr>
      <vt:lpstr>Slide 93</vt:lpstr>
      <vt:lpstr>Slide 94</vt:lpstr>
      <vt:lpstr>Slide 95</vt:lpstr>
      <vt:lpstr>Packetized GPS/WFQ</vt:lpstr>
      <vt:lpstr>Bit-by-Bit Fair Queueing</vt:lpstr>
      <vt:lpstr>Slide 98</vt:lpstr>
      <vt:lpstr>Computing the Finishing Time</vt:lpstr>
      <vt:lpstr>WFQ and Packet QoS</vt:lpstr>
      <vt:lpstr>Buffer Management</vt:lpstr>
      <vt:lpstr>Early or Overloaded Drop</vt:lpstr>
      <vt:lpstr>Random Early Detection (RED)</vt:lpstr>
      <vt:lpstr>Packet Drop Profile in RED</vt:lpstr>
      <vt:lpstr>Chapter 7 Packet-Switching Networks</vt:lpstr>
      <vt:lpstr>Slide 106</vt:lpstr>
      <vt:lpstr>Slide 107</vt:lpstr>
      <vt:lpstr>Open-Loop Control</vt:lpstr>
      <vt:lpstr>Admission Control</vt:lpstr>
      <vt:lpstr>Policing</vt:lpstr>
      <vt:lpstr>Slide 111</vt:lpstr>
      <vt:lpstr>Leaky Bucket Algorithm</vt:lpstr>
      <vt:lpstr>Leaky Bucket Example</vt:lpstr>
      <vt:lpstr>Policing Parameters</vt:lpstr>
      <vt:lpstr>Dual Leaky Bucket</vt:lpstr>
      <vt:lpstr>Traffic Shaping</vt:lpstr>
      <vt:lpstr>Leaky Bucket Traffic Shaper</vt:lpstr>
      <vt:lpstr>Token Bucket Traffic Shaper</vt:lpstr>
      <vt:lpstr>Token Bucket Shaping Effect</vt:lpstr>
      <vt:lpstr>Packet transfer with Delay Guarantees</vt:lpstr>
      <vt:lpstr>Delay Bounds with WFQ / PGPS</vt:lpstr>
      <vt:lpstr>Scheduling for Guaranteed Service</vt:lpstr>
      <vt:lpstr>Current View of Router Function</vt:lpstr>
      <vt:lpstr>Closed-Loop Flow Control</vt:lpstr>
      <vt:lpstr>End-to-End vs. Hop-by-Hop Congestion Control</vt:lpstr>
      <vt:lpstr>Traffic Engineering</vt:lpstr>
      <vt:lpstr>Slide 127</vt:lpstr>
    </vt:vector>
  </TitlesOfParts>
  <Company>McGraw-Hill Higher Education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 Lecture Presentation</dc:title>
  <dc:subject>Packet-Switching Networks</dc:subject>
  <dc:creator>Leon-Garcia/Widjaja</dc:creator>
  <cp:lastModifiedBy>CSE Department</cp:lastModifiedBy>
  <cp:revision>249</cp:revision>
  <dcterms:created xsi:type="dcterms:W3CDTF">2003-04-11T22:55:48Z</dcterms:created>
  <dcterms:modified xsi:type="dcterms:W3CDTF">2018-09-25T05:18:14Z</dcterms:modified>
</cp:coreProperties>
</file>