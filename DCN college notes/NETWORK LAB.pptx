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98" r:id="rId2"/>
    <p:sldId id="257" r:id="rId3"/>
    <p:sldId id="258" r:id="rId4"/>
    <p:sldId id="326" r:id="rId5"/>
    <p:sldId id="259" r:id="rId6"/>
    <p:sldId id="314" r:id="rId7"/>
    <p:sldId id="327" r:id="rId8"/>
    <p:sldId id="299" r:id="rId9"/>
    <p:sldId id="300" r:id="rId10"/>
    <p:sldId id="261" r:id="rId11"/>
    <p:sldId id="322" r:id="rId12"/>
    <p:sldId id="262" r:id="rId13"/>
    <p:sldId id="263" r:id="rId14"/>
    <p:sldId id="264" r:id="rId15"/>
    <p:sldId id="265" r:id="rId16"/>
    <p:sldId id="266" r:id="rId17"/>
    <p:sldId id="267" r:id="rId18"/>
    <p:sldId id="301" r:id="rId19"/>
    <p:sldId id="319" r:id="rId20"/>
    <p:sldId id="323" r:id="rId21"/>
    <p:sldId id="324" r:id="rId22"/>
    <p:sldId id="328" r:id="rId23"/>
    <p:sldId id="330" r:id="rId24"/>
    <p:sldId id="302" r:id="rId25"/>
    <p:sldId id="304" r:id="rId26"/>
    <p:sldId id="320" r:id="rId27"/>
    <p:sldId id="273" r:id="rId28"/>
    <p:sldId id="276" r:id="rId29"/>
    <p:sldId id="278" r:id="rId30"/>
    <p:sldId id="279" r:id="rId31"/>
    <p:sldId id="280" r:id="rId32"/>
    <p:sldId id="281" r:id="rId33"/>
    <p:sldId id="282" r:id="rId34"/>
    <p:sldId id="283" r:id="rId35"/>
    <p:sldId id="284" r:id="rId36"/>
    <p:sldId id="285" r:id="rId37"/>
    <p:sldId id="286" r:id="rId38"/>
    <p:sldId id="287" r:id="rId39"/>
    <p:sldId id="331" r:id="rId40"/>
    <p:sldId id="288" r:id="rId41"/>
    <p:sldId id="289" r:id="rId42"/>
    <p:sldId id="290" r:id="rId43"/>
    <p:sldId id="291" r:id="rId44"/>
    <p:sldId id="292" r:id="rId45"/>
    <p:sldId id="293" r:id="rId46"/>
    <p:sldId id="294" r:id="rId47"/>
    <p:sldId id="295" r:id="rId48"/>
    <p:sldId id="296" r:id="rId49"/>
    <p:sldId id="297" r:id="rId50"/>
    <p:sldId id="317" r:id="rId51"/>
    <p:sldId id="309" r:id="rId52"/>
    <p:sldId id="310" r:id="rId53"/>
    <p:sldId id="311" r:id="rId54"/>
    <p:sldId id="312" r:id="rId55"/>
    <p:sldId id="313" r:id="rId56"/>
    <p:sldId id="315" r:id="rId57"/>
    <p:sldId id="31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01" autoAdjust="0"/>
    <p:restoredTop sz="94660"/>
  </p:normalViewPr>
  <p:slideViewPr>
    <p:cSldViewPr snapToGrid="0">
      <p:cViewPr varScale="1">
        <p:scale>
          <a:sx n="62" d="100"/>
          <a:sy n="62" d="100"/>
        </p:scale>
        <p:origin x="-84" y="-34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E73C46-A549-4935-880A-08F7E6C34A6A}" type="datetimeFigureOut">
              <a:rPr lang="en-IN" smtClean="0"/>
              <a:pPr/>
              <a:t>8/30/2018</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ACD8A1-A6D3-487F-B178-2597D9F16285}" type="slidenum">
              <a:rPr lang="en-IN" smtClean="0"/>
              <a:pPr/>
              <a:t>‹#›</a:t>
            </a:fld>
            <a:endParaRPr lang="en-IN"/>
          </a:p>
        </p:txBody>
      </p:sp>
    </p:spTree>
    <p:extLst>
      <p:ext uri="{BB962C8B-B14F-4D97-AF65-F5344CB8AC3E}">
        <p14:creationId xmlns="" xmlns:p14="http://schemas.microsoft.com/office/powerpoint/2010/main" val="494627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1536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9BAF52B8-DB40-4DBB-B6D8-D7B63A79E6CC}" type="slidenum">
              <a:rPr lang="zh-CN" altLang="en-US" sz="1200" b="0">
                <a:solidFill>
                  <a:schemeClr val="tx1"/>
                </a:solidFill>
                <a:latin typeface="Times New Roman" panose="02020603050405020304" pitchFamily="18" charset="0"/>
              </a:rPr>
              <a:pPr algn="r"/>
              <a:t>2</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469634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1741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C0BB1242-F323-4AD5-B4F4-3933EB5E8AAC}" type="slidenum">
              <a:rPr lang="zh-CN" altLang="en-US" sz="1200" b="0">
                <a:solidFill>
                  <a:schemeClr val="tx1"/>
                </a:solidFill>
                <a:latin typeface="Times New Roman" panose="02020603050405020304" pitchFamily="18" charset="0"/>
              </a:rPr>
              <a:pPr algn="r"/>
              <a:t>3</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2089644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1946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BF5A8085-CDC0-43F7-955C-AC76C74BA861}" type="slidenum">
              <a:rPr lang="zh-CN" altLang="en-US" sz="1200" b="0">
                <a:solidFill>
                  <a:schemeClr val="tx1"/>
                </a:solidFill>
                <a:latin typeface="Times New Roman" panose="02020603050405020304" pitchFamily="18" charset="0"/>
              </a:rPr>
              <a:pPr algn="r"/>
              <a:t>5</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180197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2355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1B7E58D3-C4A2-4994-9BC5-C0D7E505C99C}" type="slidenum">
              <a:rPr lang="zh-CN" altLang="en-US" sz="1200" b="0">
                <a:solidFill>
                  <a:schemeClr val="tx1"/>
                </a:solidFill>
                <a:latin typeface="Times New Roman" panose="02020603050405020304" pitchFamily="18" charset="0"/>
              </a:rPr>
              <a:pPr algn="r"/>
              <a:t>6</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1652828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2560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9A87780B-A3F2-40F0-87D5-092DD19B08E0}" type="slidenum">
              <a:rPr lang="zh-CN" altLang="en-US" sz="1200" b="0">
                <a:solidFill>
                  <a:schemeClr val="tx1"/>
                </a:solidFill>
                <a:latin typeface="Times New Roman" panose="02020603050405020304" pitchFamily="18" charset="0"/>
              </a:rPr>
              <a:pPr algn="r"/>
              <a:t>10</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4062031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2765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DDDD3F18-22D4-47D1-A54B-A65F02178F0D}" type="slidenum">
              <a:rPr lang="zh-CN" altLang="en-US" sz="1200" b="0">
                <a:solidFill>
                  <a:schemeClr val="tx1"/>
                </a:solidFill>
                <a:latin typeface="Times New Roman" panose="02020603050405020304" pitchFamily="18" charset="0"/>
              </a:rPr>
              <a:pPr algn="r"/>
              <a:t>12</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561409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E9545130-1A9E-45F9-BD4E-680FB6560565}" type="slidenum">
              <a:rPr lang="zh-CN" altLang="en-US" sz="1200" b="0">
                <a:solidFill>
                  <a:schemeClr val="tx1"/>
                </a:solidFill>
                <a:latin typeface="Times New Roman" panose="02020603050405020304" pitchFamily="18" charset="0"/>
              </a:rPr>
              <a:pPr algn="r"/>
              <a:t>13</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706151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3174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E031BC52-BD3E-41B2-88E2-D8C8266B8E3D}" type="slidenum">
              <a:rPr lang="zh-CN" altLang="en-US" sz="1200" b="0">
                <a:solidFill>
                  <a:schemeClr val="tx1"/>
                </a:solidFill>
                <a:latin typeface="Times New Roman" panose="02020603050405020304" pitchFamily="18" charset="0"/>
              </a:rPr>
              <a:pPr algn="r"/>
              <a:t>14</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1526776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3379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C70C7F4F-D713-4DC8-B3CC-E78DFA60C829}" type="slidenum">
              <a:rPr lang="zh-CN" altLang="en-US" sz="1200" b="0">
                <a:solidFill>
                  <a:schemeClr val="tx1"/>
                </a:solidFill>
                <a:latin typeface="Times New Roman" panose="02020603050405020304" pitchFamily="18" charset="0"/>
              </a:rPr>
              <a:pPr algn="r"/>
              <a:t>15</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1835054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3584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235099D0-F22F-4160-BF86-5EF02330C3B3}" type="slidenum">
              <a:rPr lang="zh-CN" altLang="en-US" sz="1200" b="0">
                <a:solidFill>
                  <a:schemeClr val="tx1"/>
                </a:solidFill>
                <a:latin typeface="Times New Roman" panose="02020603050405020304" pitchFamily="18" charset="0"/>
              </a:rPr>
              <a:pPr algn="r"/>
              <a:t>16</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2662295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73409C15-6798-40B1-8D14-1CAC0E0B27AB}" type="slidenum">
              <a:rPr lang="zh-CN" altLang="en-US" sz="1200" b="0">
                <a:solidFill>
                  <a:schemeClr val="tx1"/>
                </a:solidFill>
                <a:latin typeface="Times New Roman" panose="02020603050405020304" pitchFamily="18" charset="0"/>
              </a:rPr>
              <a:pPr algn="r"/>
              <a:t>17</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2759365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6144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77C41AB5-5350-4B60-A18B-492D8CC0BE58}" type="slidenum">
              <a:rPr lang="zh-CN" altLang="en-US" sz="1200" b="0">
                <a:solidFill>
                  <a:schemeClr val="tx1"/>
                </a:solidFill>
                <a:latin typeface="Times New Roman" panose="02020603050405020304" pitchFamily="18" charset="0"/>
              </a:rPr>
              <a:pPr algn="r"/>
              <a:t>27</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48559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6349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3224713A-13F3-4502-9A4A-065F5080FBE0}" type="slidenum">
              <a:rPr lang="zh-CN" altLang="en-US" sz="1200" b="0">
                <a:solidFill>
                  <a:schemeClr val="tx1"/>
                </a:solidFill>
                <a:latin typeface="Times New Roman" panose="02020603050405020304" pitchFamily="18" charset="0"/>
              </a:rPr>
              <a:pPr algn="r"/>
              <a:t>28</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338898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3994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32477F8A-0E26-40B6-A3AF-BA55BE2294C4}" type="slidenum">
              <a:rPr lang="zh-CN" altLang="en-US" sz="1200" b="0">
                <a:solidFill>
                  <a:schemeClr val="tx1"/>
                </a:solidFill>
                <a:latin typeface="Times New Roman" panose="02020603050405020304" pitchFamily="18" charset="0"/>
              </a:rPr>
              <a:pPr algn="r"/>
              <a:t>56</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2963572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
        <p:nvSpPr>
          <p:cNvPr id="5120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gn="ctr" defTabSz="1063625">
              <a:defRPr sz="2400" b="1">
                <a:solidFill>
                  <a:srgbClr val="00279F"/>
                </a:solidFill>
                <a:latin typeface="바탕" panose="02030600000101010101" pitchFamily="18" charset="-127"/>
              </a:defRPr>
            </a:lvl1pPr>
            <a:lvl2pPr marL="742950" indent="-285750" algn="ctr" defTabSz="1063625">
              <a:defRPr sz="2400" b="1">
                <a:solidFill>
                  <a:srgbClr val="00279F"/>
                </a:solidFill>
                <a:latin typeface="바탕" panose="02030600000101010101" pitchFamily="18" charset="-127"/>
              </a:defRPr>
            </a:lvl2pPr>
            <a:lvl3pPr marL="1143000" indent="-228600" algn="ctr" defTabSz="1063625">
              <a:defRPr sz="2400" b="1">
                <a:solidFill>
                  <a:srgbClr val="00279F"/>
                </a:solidFill>
                <a:latin typeface="바탕" panose="02030600000101010101" pitchFamily="18" charset="-127"/>
              </a:defRPr>
            </a:lvl3pPr>
            <a:lvl4pPr marL="1600200" indent="-228600" algn="ctr" defTabSz="1063625">
              <a:defRPr sz="2400" b="1">
                <a:solidFill>
                  <a:srgbClr val="00279F"/>
                </a:solidFill>
                <a:latin typeface="바탕" panose="02030600000101010101" pitchFamily="18" charset="-127"/>
              </a:defRPr>
            </a:lvl4pPr>
            <a:lvl5pPr marL="2057400" indent="-228600" algn="ctr" defTabSz="1063625">
              <a:defRPr sz="2400" b="1">
                <a:solidFill>
                  <a:srgbClr val="00279F"/>
                </a:solidFill>
                <a:latin typeface="바탕" panose="02030600000101010101" pitchFamily="18" charset="-127"/>
              </a:defRPr>
            </a:lvl5pPr>
            <a:lvl6pPr marL="2514600" indent="-228600" algn="ctr" defTabSz="1063625" eaLnBrk="0" fontAlgn="base" hangingPunct="0">
              <a:spcBef>
                <a:spcPct val="0"/>
              </a:spcBef>
              <a:spcAft>
                <a:spcPct val="0"/>
              </a:spcAft>
              <a:defRPr sz="2400" b="1">
                <a:solidFill>
                  <a:srgbClr val="00279F"/>
                </a:solidFill>
                <a:latin typeface="바탕" panose="02030600000101010101" pitchFamily="18" charset="-127"/>
              </a:defRPr>
            </a:lvl6pPr>
            <a:lvl7pPr marL="2971800" indent="-228600" algn="ctr" defTabSz="1063625" eaLnBrk="0" fontAlgn="base" hangingPunct="0">
              <a:spcBef>
                <a:spcPct val="0"/>
              </a:spcBef>
              <a:spcAft>
                <a:spcPct val="0"/>
              </a:spcAft>
              <a:defRPr sz="2400" b="1">
                <a:solidFill>
                  <a:srgbClr val="00279F"/>
                </a:solidFill>
                <a:latin typeface="바탕" panose="02030600000101010101" pitchFamily="18" charset="-127"/>
              </a:defRPr>
            </a:lvl7pPr>
            <a:lvl8pPr marL="3429000" indent="-228600" algn="ctr" defTabSz="1063625" eaLnBrk="0" fontAlgn="base" hangingPunct="0">
              <a:spcBef>
                <a:spcPct val="0"/>
              </a:spcBef>
              <a:spcAft>
                <a:spcPct val="0"/>
              </a:spcAft>
              <a:defRPr sz="2400" b="1">
                <a:solidFill>
                  <a:srgbClr val="00279F"/>
                </a:solidFill>
                <a:latin typeface="바탕" panose="02030600000101010101" pitchFamily="18" charset="-127"/>
              </a:defRPr>
            </a:lvl8pPr>
            <a:lvl9pPr marL="3886200" indent="-228600" algn="ctr" defTabSz="1063625" eaLnBrk="0" fontAlgn="base" hangingPunct="0">
              <a:spcBef>
                <a:spcPct val="0"/>
              </a:spcBef>
              <a:spcAft>
                <a:spcPct val="0"/>
              </a:spcAft>
              <a:defRPr sz="2400" b="1">
                <a:solidFill>
                  <a:srgbClr val="00279F"/>
                </a:solidFill>
                <a:latin typeface="바탕" panose="02030600000101010101" pitchFamily="18" charset="-127"/>
              </a:defRPr>
            </a:lvl9pPr>
          </a:lstStyle>
          <a:p>
            <a:pPr algn="r"/>
            <a:fld id="{1B96034D-92DA-4BAE-8DFC-FCCA99175CD0}" type="slidenum">
              <a:rPr lang="zh-CN" altLang="en-US" sz="1200" b="0">
                <a:solidFill>
                  <a:schemeClr val="tx1"/>
                </a:solidFill>
                <a:latin typeface="Times New Roman" panose="02020603050405020304" pitchFamily="18" charset="0"/>
              </a:rPr>
              <a:pPr algn="r"/>
              <a:t>57</a:t>
            </a:fld>
            <a:endParaRPr lang="en-US" altLang="zh-CN" sz="1200" b="0">
              <a:solidFill>
                <a:schemeClr val="tx1"/>
              </a:solidFill>
              <a:latin typeface="Times New Roman" panose="02020603050405020304" pitchFamily="18" charset="0"/>
            </a:endParaRPr>
          </a:p>
        </p:txBody>
      </p:sp>
    </p:spTree>
    <p:extLst>
      <p:ext uri="{BB962C8B-B14F-4D97-AF65-F5344CB8AC3E}">
        <p14:creationId xmlns="" xmlns:p14="http://schemas.microsoft.com/office/powerpoint/2010/main" val="3844750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AE954C3-D3B0-4DD3-9D4C-559D64F8F10A}" type="datetimeFigureOut">
              <a:rPr lang="en-IN" smtClean="0"/>
              <a:pPr/>
              <a:t>8/30/2018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1983752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E954C3-D3B0-4DD3-9D4C-559D64F8F10A}" type="datetimeFigureOut">
              <a:rPr lang="en-IN" smtClean="0"/>
              <a:pPr/>
              <a:t>8/30/2018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144113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E954C3-D3B0-4DD3-9D4C-559D64F8F10A}" type="datetimeFigureOut">
              <a:rPr lang="en-IN" smtClean="0"/>
              <a:pPr/>
              <a:t>8/30/2018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208941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AE954C3-D3B0-4DD3-9D4C-559D64F8F10A}" type="datetimeFigureOut">
              <a:rPr lang="en-IN" smtClean="0"/>
              <a:pPr/>
              <a:t>8/30/2018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3495099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AE954C3-D3B0-4DD3-9D4C-559D64F8F10A}" type="datetimeFigureOut">
              <a:rPr lang="en-IN" smtClean="0"/>
              <a:pPr/>
              <a:t>8/30/2018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2068188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AE954C3-D3B0-4DD3-9D4C-559D64F8F10A}" type="datetimeFigureOut">
              <a:rPr lang="en-IN" smtClean="0"/>
              <a:pPr/>
              <a:t>8/30/2018</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2156518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E954C3-D3B0-4DD3-9D4C-559D64F8F10A}" type="datetimeFigureOut">
              <a:rPr lang="en-IN" smtClean="0"/>
              <a:pPr/>
              <a:t>8/30/2018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2356189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E954C3-D3B0-4DD3-9D4C-559D64F8F10A}" type="datetimeFigureOut">
              <a:rPr lang="en-IN" smtClean="0"/>
              <a:pPr/>
              <a:t>8/30/2018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720682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E954C3-D3B0-4DD3-9D4C-559D64F8F10A}" type="datetimeFigureOut">
              <a:rPr lang="en-IN" smtClean="0"/>
              <a:pPr/>
              <a:t>8/30/2018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3162648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E954C3-D3B0-4DD3-9D4C-559D64F8F10A}" type="datetimeFigureOut">
              <a:rPr lang="en-IN" smtClean="0"/>
              <a:pPr/>
              <a:t>8/30/2018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488416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E954C3-D3B0-4DD3-9D4C-559D64F8F10A}" type="datetimeFigureOut">
              <a:rPr lang="en-IN" smtClean="0"/>
              <a:pPr/>
              <a:t>8/30/2018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114393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457200"/>
            <a:ext cx="109728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Footer Placeholder 2"/>
          <p:cNvSpPr>
            <a:spLocks noGrp="1"/>
          </p:cNvSpPr>
          <p:nvPr>
            <p:ph type="ftr" sz="quarter" idx="10"/>
          </p:nvPr>
        </p:nvSpPr>
        <p:spPr>
          <a:xfrm>
            <a:off x="4165600" y="6248400"/>
            <a:ext cx="3860800" cy="457200"/>
          </a:xfrm>
          <a:prstGeom prst="rect">
            <a:avLst/>
          </a:prstGeom>
        </p:spPr>
        <p:txBody>
          <a:bodyPr/>
          <a:lstStyle>
            <a:lvl1pPr algn="ctr">
              <a:defRPr/>
            </a:lvl1pPr>
          </a:lstStyle>
          <a:p>
            <a:pPr>
              <a:defRPr/>
            </a:pPr>
            <a:endParaRPr lang="en-US"/>
          </a:p>
        </p:txBody>
      </p:sp>
      <p:sp>
        <p:nvSpPr>
          <p:cNvPr id="4" name="Slide Number Placeholder 3"/>
          <p:cNvSpPr>
            <a:spLocks noGrp="1"/>
          </p:cNvSpPr>
          <p:nvPr>
            <p:ph type="sldNum" sz="quarter" idx="11"/>
          </p:nvPr>
        </p:nvSpPr>
        <p:spPr>
          <a:xfrm>
            <a:off x="8737600" y="6248400"/>
            <a:ext cx="2844800" cy="457200"/>
          </a:xfrm>
        </p:spPr>
        <p:txBody>
          <a:bodyPr/>
          <a:lstStyle>
            <a:lvl1pPr>
              <a:defRPr smtClean="0"/>
            </a:lvl1pPr>
          </a:lstStyle>
          <a:p>
            <a:pPr>
              <a:defRPr/>
            </a:pPr>
            <a:fld id="{9660C699-1058-4A49-86D1-06E297A2D1D3}" type="slidenum">
              <a:rPr lang="en-US" altLang="en-US"/>
              <a:pPr>
                <a:defRPr/>
              </a:pPr>
              <a:t>‹#›</a:t>
            </a:fld>
            <a:endParaRPr lang="en-US" altLang="en-US"/>
          </a:p>
        </p:txBody>
      </p:sp>
      <p:sp>
        <p:nvSpPr>
          <p:cNvPr id="5" name="Date Placeholder 4"/>
          <p:cNvSpPr>
            <a:spLocks noGrp="1"/>
          </p:cNvSpPr>
          <p:nvPr>
            <p:ph type="dt" sz="half" idx="12"/>
          </p:nvPr>
        </p:nvSpPr>
        <p:spPr>
          <a:xfrm>
            <a:off x="609600" y="6245225"/>
            <a:ext cx="2844800" cy="476250"/>
          </a:xfrm>
          <a:prstGeom prst="rect">
            <a:avLst/>
          </a:prstGeom>
        </p:spPr>
        <p:txBody>
          <a:bodyPr/>
          <a:lstStyle>
            <a:lvl1pPr algn="ctr">
              <a:defRPr/>
            </a:lvl1pPr>
          </a:lstStyle>
          <a:p>
            <a:pPr>
              <a:defRPr/>
            </a:pPr>
            <a:endParaRPr lang="en-US"/>
          </a:p>
        </p:txBody>
      </p:sp>
    </p:spTree>
    <p:extLst>
      <p:ext uri="{BB962C8B-B14F-4D97-AF65-F5344CB8AC3E}">
        <p14:creationId xmlns="" xmlns:p14="http://schemas.microsoft.com/office/powerpoint/2010/main" val="151676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E954C3-D3B0-4DD3-9D4C-559D64F8F10A}" type="datetimeFigureOut">
              <a:rPr lang="en-IN" smtClean="0"/>
              <a:pPr/>
              <a:t>8/30/2018</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3B2DA-DA96-43F0-BC17-A25DEBC12962}" type="slidenum">
              <a:rPr lang="en-IN" smtClean="0"/>
              <a:pPr/>
              <a:t>‹#›</a:t>
            </a:fld>
            <a:endParaRPr lang="en-IN"/>
          </a:p>
        </p:txBody>
      </p:sp>
    </p:spTree>
    <p:extLst>
      <p:ext uri="{BB962C8B-B14F-4D97-AF65-F5344CB8AC3E}">
        <p14:creationId xmlns="" xmlns:p14="http://schemas.microsoft.com/office/powerpoint/2010/main" val="1333516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570164" y="617538"/>
            <a:ext cx="7793037" cy="1143000"/>
          </a:xfrm>
        </p:spPr>
        <p:txBody>
          <a:bodyPr/>
          <a:lstStyle/>
          <a:p>
            <a:r>
              <a:rPr lang="en-US" altLang="en-US" b="1" dirty="0"/>
              <a:t>Ns-2, the Network Simulator</a:t>
            </a:r>
          </a:p>
        </p:txBody>
      </p:sp>
      <p:sp>
        <p:nvSpPr>
          <p:cNvPr id="64515" name="Rectangle 3"/>
          <p:cNvSpPr>
            <a:spLocks noGrp="1" noChangeArrowheads="1"/>
          </p:cNvSpPr>
          <p:nvPr>
            <p:ph type="body" idx="1"/>
          </p:nvPr>
        </p:nvSpPr>
        <p:spPr>
          <a:xfrm>
            <a:off x="2438400" y="1905000"/>
            <a:ext cx="7772400" cy="4114800"/>
          </a:xfrm>
        </p:spPr>
        <p:txBody>
          <a:bodyPr/>
          <a:lstStyle/>
          <a:p>
            <a:r>
              <a:rPr lang="en-US" altLang="en-US" dirty="0"/>
              <a:t>A </a:t>
            </a:r>
            <a:r>
              <a:rPr lang="en-US" altLang="en-US" i="1" dirty="0"/>
              <a:t>discrete event simulator</a:t>
            </a:r>
          </a:p>
          <a:p>
            <a:pPr lvl="1"/>
            <a:r>
              <a:rPr lang="en-US" altLang="en-US" dirty="0"/>
              <a:t>Simple model</a:t>
            </a:r>
          </a:p>
          <a:p>
            <a:r>
              <a:rPr lang="en-US" altLang="en-US" dirty="0"/>
              <a:t>Focused on </a:t>
            </a:r>
            <a:r>
              <a:rPr lang="en-US" altLang="en-US" i="1" dirty="0"/>
              <a:t>modeling network protocols</a:t>
            </a:r>
          </a:p>
          <a:p>
            <a:pPr lvl="1"/>
            <a:r>
              <a:rPr lang="en-US" altLang="en-US" dirty="0"/>
              <a:t>Wired, wireless, satellite</a:t>
            </a:r>
          </a:p>
          <a:p>
            <a:pPr lvl="1"/>
            <a:r>
              <a:rPr lang="en-US" altLang="en-US" dirty="0"/>
              <a:t>TCP, UDP, multicast, </a:t>
            </a:r>
            <a:r>
              <a:rPr lang="en-US" altLang="en-US" dirty="0" err="1"/>
              <a:t>unicast</a:t>
            </a:r>
            <a:endParaRPr lang="en-US" altLang="en-US" dirty="0"/>
          </a:p>
          <a:p>
            <a:pPr lvl="1"/>
            <a:r>
              <a:rPr lang="en-US" altLang="en-US" dirty="0"/>
              <a:t>Web, telnet, ftp</a:t>
            </a:r>
          </a:p>
          <a:p>
            <a:pPr lvl="1"/>
            <a:r>
              <a:rPr lang="en-US" altLang="en-US" dirty="0"/>
              <a:t>Ad hoc routing, sensor networks</a:t>
            </a:r>
          </a:p>
          <a:p>
            <a:pPr lvl="1"/>
            <a:r>
              <a:rPr lang="en-US" altLang="en-US" dirty="0"/>
              <a:t>Infrastructure: stats, tracing, error models, etc</a:t>
            </a:r>
            <a:endParaRPr lang="en-US" altLang="en-US" i="1" dirty="0"/>
          </a:p>
        </p:txBody>
      </p:sp>
    </p:spTree>
    <p:extLst>
      <p:ext uri="{BB962C8B-B14F-4D97-AF65-F5344CB8AC3E}">
        <p14:creationId xmlns="" xmlns:p14="http://schemas.microsoft.com/office/powerpoint/2010/main" val="17466672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mtClean="0"/>
              <a:t>ns2- Network Simulator</a:t>
            </a:r>
          </a:p>
        </p:txBody>
      </p:sp>
      <p:sp>
        <p:nvSpPr>
          <p:cNvPr id="14339" name="Content Placeholder 2"/>
          <p:cNvSpPr>
            <a:spLocks noGrp="1"/>
          </p:cNvSpPr>
          <p:nvPr>
            <p:ph idx="1"/>
          </p:nvPr>
        </p:nvSpPr>
        <p:spPr/>
        <p:txBody>
          <a:bodyPr>
            <a:normAutofit lnSpcReduction="10000"/>
          </a:bodyPr>
          <a:lstStyle/>
          <a:p>
            <a:pPr>
              <a:lnSpc>
                <a:spcPct val="90000"/>
              </a:lnSpc>
            </a:pPr>
            <a:r>
              <a:rPr lang="en-US" altLang="en-US" dirty="0"/>
              <a:t>One of the most popular simulator among networking researchers</a:t>
            </a:r>
          </a:p>
          <a:p>
            <a:pPr lvl="1">
              <a:lnSpc>
                <a:spcPct val="90000"/>
              </a:lnSpc>
            </a:pPr>
            <a:r>
              <a:rPr lang="en-US" altLang="en-US" dirty="0"/>
              <a:t>Open source, free</a:t>
            </a:r>
          </a:p>
          <a:p>
            <a:pPr>
              <a:lnSpc>
                <a:spcPct val="90000"/>
              </a:lnSpc>
            </a:pPr>
            <a:r>
              <a:rPr lang="en-US" altLang="en-US" dirty="0"/>
              <a:t>Discrete event, Packet level simulator</a:t>
            </a:r>
          </a:p>
          <a:p>
            <a:pPr lvl="1">
              <a:lnSpc>
                <a:spcPct val="90000"/>
              </a:lnSpc>
            </a:pPr>
            <a:r>
              <a:rPr lang="en-US" altLang="en-US" dirty="0"/>
              <a:t>Events like ‘received an </a:t>
            </a:r>
            <a:r>
              <a:rPr lang="en-US" altLang="en-US" i="1" dirty="0" err="1"/>
              <a:t>ack</a:t>
            </a:r>
            <a:r>
              <a:rPr lang="en-US" altLang="en-US" dirty="0"/>
              <a:t> packet’, ‘</a:t>
            </a:r>
            <a:r>
              <a:rPr lang="en-US" altLang="en-US" dirty="0" err="1"/>
              <a:t>enqueued</a:t>
            </a:r>
            <a:r>
              <a:rPr lang="en-US" altLang="en-US" dirty="0"/>
              <a:t> a data packet’ </a:t>
            </a:r>
          </a:p>
          <a:p>
            <a:pPr>
              <a:lnSpc>
                <a:spcPct val="90000"/>
              </a:lnSpc>
            </a:pPr>
            <a:r>
              <a:rPr lang="en-US" altLang="en-US" dirty="0"/>
              <a:t>Network protocol stack written in C++</a:t>
            </a:r>
          </a:p>
          <a:p>
            <a:pPr>
              <a:lnSpc>
                <a:spcPct val="90000"/>
              </a:lnSpc>
            </a:pPr>
            <a:r>
              <a:rPr lang="en-US" altLang="en-US" dirty="0" err="1"/>
              <a:t>Tcl</a:t>
            </a:r>
            <a:r>
              <a:rPr lang="en-US" altLang="en-US" dirty="0"/>
              <a:t> (</a:t>
            </a:r>
            <a:r>
              <a:rPr lang="en-US" altLang="en-US" u="sng" dirty="0"/>
              <a:t>T</a:t>
            </a:r>
            <a:r>
              <a:rPr lang="en-US" altLang="en-US" dirty="0"/>
              <a:t>ool </a:t>
            </a:r>
            <a:r>
              <a:rPr lang="en-US" altLang="en-US" u="sng" dirty="0"/>
              <a:t>C</a:t>
            </a:r>
            <a:r>
              <a:rPr lang="en-US" altLang="en-US" dirty="0"/>
              <a:t>ommand </a:t>
            </a:r>
            <a:r>
              <a:rPr lang="en-US" altLang="en-US" u="sng" dirty="0"/>
              <a:t>L</a:t>
            </a:r>
            <a:r>
              <a:rPr lang="en-US" altLang="en-US" dirty="0"/>
              <a:t>anguage) used for specifying scenarios and events.</a:t>
            </a:r>
          </a:p>
          <a:p>
            <a:pPr lvl="1">
              <a:lnSpc>
                <a:spcPct val="90000"/>
              </a:lnSpc>
            </a:pPr>
            <a:r>
              <a:rPr lang="en-US" altLang="en-US" dirty="0" err="1" smtClean="0"/>
              <a:t>Tcl</a:t>
            </a:r>
            <a:r>
              <a:rPr lang="en-US" altLang="en-US" dirty="0" smtClean="0"/>
              <a:t> </a:t>
            </a:r>
            <a:r>
              <a:rPr lang="en-US" altLang="en-US" dirty="0"/>
              <a:t>is used to write the high-level programming, while C++ code is doing the actual simulation for speed consideration</a:t>
            </a:r>
          </a:p>
          <a:p>
            <a:pPr>
              <a:lnSpc>
                <a:spcPct val="90000"/>
              </a:lnSpc>
            </a:pPr>
            <a:r>
              <a:rPr lang="en-US" altLang="en-US" dirty="0"/>
              <a:t>Simulates both wired and wireless networks.</a:t>
            </a:r>
          </a:p>
        </p:txBody>
      </p:sp>
      <p:sp>
        <p:nvSpPr>
          <p:cNvPr id="14340"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Tree>
    <p:extLst>
      <p:ext uri="{BB962C8B-B14F-4D97-AF65-F5344CB8AC3E}">
        <p14:creationId xmlns="" xmlns:p14="http://schemas.microsoft.com/office/powerpoint/2010/main" val="33315823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endParaRPr lang="en-US" altLang="en-US" dirty="0" smtClean="0"/>
          </a:p>
        </p:txBody>
      </p:sp>
      <p:sp>
        <p:nvSpPr>
          <p:cNvPr id="16387" name="Content Placeholder 2"/>
          <p:cNvSpPr>
            <a:spLocks noGrp="1"/>
          </p:cNvSpPr>
          <p:nvPr>
            <p:ph idx="1"/>
          </p:nvPr>
        </p:nvSpPr>
        <p:spPr/>
        <p:txBody>
          <a:bodyPr/>
          <a:lstStyle/>
          <a:p>
            <a:r>
              <a:rPr lang="en-US" altLang="en-US" dirty="0" smtClean="0"/>
              <a:t>Understand how to write </a:t>
            </a:r>
            <a:r>
              <a:rPr lang="en-US" altLang="en-US" dirty="0" err="1" smtClean="0"/>
              <a:t>Tcl</a:t>
            </a:r>
            <a:r>
              <a:rPr lang="en-US" altLang="en-US" dirty="0" smtClean="0"/>
              <a:t> scripts to simulate simple network topologies and traffic patterns.</a:t>
            </a:r>
          </a:p>
          <a:p>
            <a:endParaRPr lang="en-US" altLang="en-US" dirty="0" smtClean="0"/>
          </a:p>
          <a:p>
            <a:r>
              <a:rPr lang="en-US" altLang="en-US" dirty="0" smtClean="0"/>
              <a:t>Analyze the trace files and understand how to evaluate the performance of networking protocols and operations.</a:t>
            </a:r>
          </a:p>
          <a:p>
            <a:endParaRPr lang="en-US" altLang="en-US" dirty="0" smtClean="0"/>
          </a:p>
        </p:txBody>
      </p:sp>
      <p:sp>
        <p:nvSpPr>
          <p:cNvPr id="16388"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Tree>
    <p:extLst>
      <p:ext uri="{BB962C8B-B14F-4D97-AF65-F5344CB8AC3E}">
        <p14:creationId xmlns="" xmlns:p14="http://schemas.microsoft.com/office/powerpoint/2010/main" val="610425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software structure: • uses two languages to separate control and processing: – C++: packet processing; – </a:t>
            </a:r>
            <a:r>
              <a:rPr lang="en-IN" dirty="0" err="1" smtClean="0"/>
              <a:t>Otcl</a:t>
            </a:r>
            <a:r>
              <a:rPr lang="en-IN" dirty="0" smtClean="0"/>
              <a:t>: control. </a:t>
            </a:r>
          </a:p>
          <a:p>
            <a:pPr>
              <a:buNone/>
            </a:pPr>
            <a:r>
              <a:rPr lang="en-IN" dirty="0" smtClean="0"/>
              <a:t>• Packet processing: – C++ makes it fast and detailed; </a:t>
            </a:r>
          </a:p>
          <a:p>
            <a:pPr>
              <a:buNone/>
            </a:pPr>
            <a:r>
              <a:rPr lang="en-IN" dirty="0" smtClean="0"/>
              <a:t>                                      – C++ makes it scalable.</a:t>
            </a:r>
          </a:p>
          <a:p>
            <a:pPr>
              <a:buNone/>
            </a:pPr>
            <a:r>
              <a:rPr lang="en-IN" dirty="0" smtClean="0"/>
              <a:t> • Control:    – </a:t>
            </a:r>
            <a:r>
              <a:rPr lang="en-IN" dirty="0" err="1" smtClean="0"/>
              <a:t>Otcl</a:t>
            </a:r>
            <a:r>
              <a:rPr lang="en-IN" dirty="0" smtClean="0"/>
              <a:t> makes it easy to create scenarios;</a:t>
            </a:r>
          </a:p>
          <a:p>
            <a:pPr>
              <a:buNone/>
            </a:pPr>
            <a:r>
              <a:rPr lang="en-IN" smtClean="0"/>
              <a:t>                       </a:t>
            </a:r>
            <a:r>
              <a:rPr lang="en-IN" dirty="0" smtClean="0"/>
              <a:t>– </a:t>
            </a:r>
            <a:r>
              <a:rPr lang="en-IN" dirty="0" err="1" smtClean="0"/>
              <a:t>Otcl</a:t>
            </a:r>
            <a:r>
              <a:rPr lang="en-IN" dirty="0" smtClean="0"/>
              <a:t> makes it easy to understand third party scripts</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“Ns” Components</a:t>
            </a:r>
          </a:p>
        </p:txBody>
      </p:sp>
      <p:sp>
        <p:nvSpPr>
          <p:cNvPr id="18435" name="Content Placeholder 2"/>
          <p:cNvSpPr>
            <a:spLocks noGrp="1"/>
          </p:cNvSpPr>
          <p:nvPr>
            <p:ph idx="1"/>
          </p:nvPr>
        </p:nvSpPr>
        <p:spPr/>
        <p:txBody>
          <a:bodyPr>
            <a:normAutofit fontScale="92500" lnSpcReduction="10000"/>
          </a:bodyPr>
          <a:lstStyle/>
          <a:p>
            <a:r>
              <a:rPr lang="en-US" altLang="en-US" dirty="0"/>
              <a:t>Ns, the simulator itself</a:t>
            </a:r>
          </a:p>
          <a:p>
            <a:r>
              <a:rPr lang="en-US" altLang="en-US" dirty="0"/>
              <a:t>Nam, the network animator</a:t>
            </a:r>
          </a:p>
          <a:p>
            <a:pPr lvl="1"/>
            <a:r>
              <a:rPr lang="en-US" altLang="en-US" dirty="0"/>
              <a:t>Visualize </a:t>
            </a:r>
            <a:r>
              <a:rPr lang="en-US" altLang="en-US" i="1" dirty="0"/>
              <a:t>ns</a:t>
            </a:r>
            <a:r>
              <a:rPr lang="en-US" altLang="en-US" dirty="0"/>
              <a:t> (or other) output</a:t>
            </a:r>
          </a:p>
          <a:p>
            <a:pPr lvl="1"/>
            <a:r>
              <a:rPr lang="en-US" altLang="en-US" dirty="0"/>
              <a:t>Nam editor: GUI interface to generate ns scripts</a:t>
            </a:r>
          </a:p>
          <a:p>
            <a:pPr lvl="2"/>
            <a:r>
              <a:rPr lang="en-US" altLang="en-US" dirty="0"/>
              <a:t>Since we only run ns2 in remote Unix server, we will not introduce Nam usage in this class</a:t>
            </a:r>
          </a:p>
          <a:p>
            <a:pPr lvl="1"/>
            <a:r>
              <a:rPr lang="en-US" altLang="en-US" dirty="0" smtClean="0"/>
              <a:t>It is not essential to simulation and analysis</a:t>
            </a:r>
          </a:p>
          <a:p>
            <a:r>
              <a:rPr lang="en-US" altLang="en-US" dirty="0"/>
              <a:t>Pre-processing:</a:t>
            </a:r>
          </a:p>
          <a:p>
            <a:pPr lvl="1"/>
            <a:r>
              <a:rPr lang="en-US" altLang="en-US" dirty="0"/>
              <a:t>Traffic and topology generators (use </a:t>
            </a:r>
            <a:r>
              <a:rPr lang="en-US" altLang="en-US" dirty="0" err="1"/>
              <a:t>Tcl</a:t>
            </a:r>
            <a:r>
              <a:rPr lang="en-US" altLang="en-US" dirty="0"/>
              <a:t> to write)</a:t>
            </a:r>
          </a:p>
          <a:p>
            <a:r>
              <a:rPr lang="en-US" altLang="en-US" dirty="0"/>
              <a:t>Post-processing:</a:t>
            </a:r>
          </a:p>
          <a:p>
            <a:pPr lvl="1"/>
            <a:r>
              <a:rPr lang="en-US" altLang="en-US" dirty="0"/>
              <a:t>Simple trace analysis, often in </a:t>
            </a:r>
            <a:r>
              <a:rPr lang="en-US" altLang="en-US" dirty="0" err="1"/>
              <a:t>Awk</a:t>
            </a:r>
            <a:r>
              <a:rPr lang="en-US" altLang="en-US" dirty="0"/>
              <a:t>, Perl, or </a:t>
            </a:r>
            <a:r>
              <a:rPr lang="en-US" altLang="en-US" dirty="0" err="1"/>
              <a:t>Tcl</a:t>
            </a:r>
            <a:endParaRPr lang="en-US" altLang="en-US" dirty="0"/>
          </a:p>
          <a:p>
            <a:pPr lvl="1"/>
            <a:r>
              <a:rPr lang="en-US" altLang="en-US" dirty="0" smtClean="0"/>
              <a:t>Can </a:t>
            </a:r>
            <a:r>
              <a:rPr lang="en-US" altLang="en-US" dirty="0"/>
              <a:t>also use </a:t>
            </a:r>
            <a:r>
              <a:rPr lang="en-US" altLang="en-US" dirty="0" err="1"/>
              <a:t>grep</a:t>
            </a:r>
            <a:r>
              <a:rPr lang="en-US" altLang="en-US" dirty="0"/>
              <a:t> (under </a:t>
            </a:r>
            <a:r>
              <a:rPr lang="en-US" altLang="en-US" dirty="0" err="1"/>
              <a:t>linux</a:t>
            </a:r>
            <a:r>
              <a:rPr lang="en-US" altLang="en-US" dirty="0"/>
              <a:t>), or C/java</a:t>
            </a:r>
          </a:p>
          <a:p>
            <a:endParaRPr lang="en-US" altLang="en-US" dirty="0" smtClean="0"/>
          </a:p>
        </p:txBody>
      </p:sp>
      <p:sp>
        <p:nvSpPr>
          <p:cNvPr id="1843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Tree>
    <p:extLst>
      <p:ext uri="{BB962C8B-B14F-4D97-AF65-F5344CB8AC3E}">
        <p14:creationId xmlns="" xmlns:p14="http://schemas.microsoft.com/office/powerpoint/2010/main" val="41967733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t>Basic Tcl</a:t>
            </a:r>
          </a:p>
        </p:txBody>
      </p:sp>
      <p:sp>
        <p:nvSpPr>
          <p:cNvPr id="22531" name="Content Placeholder 2"/>
          <p:cNvSpPr>
            <a:spLocks noGrp="1"/>
          </p:cNvSpPr>
          <p:nvPr>
            <p:ph idx="1"/>
          </p:nvPr>
        </p:nvSpPr>
        <p:spPr>
          <a:xfrm>
            <a:off x="1898650" y="6086475"/>
            <a:ext cx="8153400" cy="388938"/>
          </a:xfrm>
        </p:spPr>
        <p:txBody>
          <a:bodyPr>
            <a:normAutofit fontScale="92500" lnSpcReduction="20000"/>
          </a:bodyPr>
          <a:lstStyle/>
          <a:p>
            <a:endParaRPr lang="en-US" altLang="en-US" smtClean="0"/>
          </a:p>
        </p:txBody>
      </p:sp>
      <p:sp>
        <p:nvSpPr>
          <p:cNvPr id="5" name="Rectangle 3"/>
          <p:cNvSpPr txBox="1">
            <a:spLocks noChangeArrowheads="1"/>
          </p:cNvSpPr>
          <p:nvPr/>
        </p:nvSpPr>
        <p:spPr bwMode="auto">
          <a:xfrm>
            <a:off x="2333625" y="1500188"/>
            <a:ext cx="3505200" cy="4572000"/>
          </a:xfrm>
          <a:prstGeom prst="rect">
            <a:avLst/>
          </a:prstGeom>
          <a:noFill/>
          <a:ln>
            <a:noFill/>
          </a:ln>
          <a:extLst/>
        </p:spPr>
        <p:txBody>
          <a:bodyPr lIns="92075" tIns="46038" rIns="92075" bIns="46038"/>
          <a:lstStyle>
            <a:lvl1pPr marL="342900" indent="-342900" algn="l" rtl="0" eaLnBrk="0" fontAlgn="base" hangingPunct="0">
              <a:spcBef>
                <a:spcPct val="0"/>
              </a:spcBef>
              <a:spcAft>
                <a:spcPct val="0"/>
              </a:spcAft>
              <a:buClr>
                <a:srgbClr val="000000"/>
              </a:buClr>
              <a:buSzPct val="55000"/>
              <a:buFont typeface="Wingdings" pitchFamily="2" charset="2"/>
              <a:buChar char="q"/>
              <a:defRPr sz="3200">
                <a:solidFill>
                  <a:srgbClr val="990000"/>
                </a:solidFill>
                <a:latin typeface="+mn-lt"/>
                <a:ea typeface="+mn-ea"/>
                <a:cs typeface="+mn-cs"/>
              </a:defRPr>
            </a:lvl1pPr>
            <a:lvl2pPr marL="742950" indent="-285750" algn="l" rtl="0" eaLnBrk="0" fontAlgn="base" hangingPunct="0">
              <a:spcBef>
                <a:spcPct val="0"/>
              </a:spcBef>
              <a:spcAft>
                <a:spcPct val="0"/>
              </a:spcAft>
              <a:buClr>
                <a:srgbClr val="000000"/>
              </a:buClr>
              <a:buSzPct val="55000"/>
              <a:buFont typeface="Wingdings" pitchFamily="2" charset="2"/>
              <a:buChar char="q"/>
              <a:defRPr sz="2800">
                <a:solidFill>
                  <a:srgbClr val="000000"/>
                </a:solidFill>
                <a:latin typeface="+mn-lt"/>
              </a:defRPr>
            </a:lvl2pPr>
            <a:lvl3pPr marL="1143000" indent="-228600" algn="l" rtl="0" eaLnBrk="0" fontAlgn="base" hangingPunct="0">
              <a:spcBef>
                <a:spcPct val="0"/>
              </a:spcBef>
              <a:spcAft>
                <a:spcPct val="0"/>
              </a:spcAft>
              <a:buClr>
                <a:srgbClr val="000000"/>
              </a:buClr>
              <a:buSzPct val="55000"/>
              <a:buFont typeface="Wingdings" pitchFamily="2" charset="2"/>
              <a:buChar char="q"/>
              <a:defRPr sz="2400">
                <a:solidFill>
                  <a:srgbClr val="000000"/>
                </a:solidFill>
                <a:latin typeface="+mn-lt"/>
              </a:defRPr>
            </a:lvl3pPr>
            <a:lvl4pPr marL="16002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4pPr>
            <a:lvl5pPr marL="20574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5pPr>
            <a:lvl6pPr marL="25146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6pPr>
            <a:lvl7pPr marL="29718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7pPr>
            <a:lvl8pPr marL="34290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8pPr>
            <a:lvl9pPr marL="38862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9pPr>
          </a:lstStyle>
          <a:p>
            <a:pPr>
              <a:lnSpc>
                <a:spcPct val="90000"/>
              </a:lnSpc>
              <a:buClr>
                <a:schemeClr val="tx1"/>
              </a:buClr>
              <a:buFont typeface="Wingdings" pitchFamily="2" charset="2"/>
              <a:buNone/>
              <a:defRPr/>
            </a:pPr>
            <a:r>
              <a:rPr lang="en-US" sz="1800" dirty="0"/>
              <a:t>variables:</a:t>
            </a:r>
          </a:p>
          <a:p>
            <a:pPr>
              <a:lnSpc>
                <a:spcPct val="90000"/>
              </a:lnSpc>
              <a:buClr>
                <a:schemeClr val="tx1"/>
              </a:buClr>
              <a:buFont typeface="Wingdings" pitchFamily="2" charset="2"/>
              <a:buNone/>
              <a:defRPr/>
            </a:pPr>
            <a:r>
              <a:rPr lang="en-US" sz="1800" dirty="0"/>
              <a:t>set x 10</a:t>
            </a:r>
          </a:p>
          <a:p>
            <a:pPr>
              <a:lnSpc>
                <a:spcPct val="90000"/>
              </a:lnSpc>
              <a:buClr>
                <a:schemeClr val="tx1"/>
              </a:buClr>
              <a:buFont typeface="Wingdings" pitchFamily="2" charset="2"/>
              <a:buNone/>
              <a:defRPr/>
            </a:pPr>
            <a:r>
              <a:rPr lang="en-US" sz="1800" dirty="0"/>
              <a:t>set z x+10  </a:t>
            </a:r>
            <a:r>
              <a:rPr lang="en-US" sz="1800" dirty="0">
                <a:solidFill>
                  <a:schemeClr val="tx1">
                    <a:lumMod val="60000"/>
                    <a:lumOff val="40000"/>
                  </a:schemeClr>
                </a:solidFill>
              </a:rPr>
              <a:t># string ‘x+10’ to z</a:t>
            </a:r>
          </a:p>
          <a:p>
            <a:pPr>
              <a:lnSpc>
                <a:spcPct val="90000"/>
              </a:lnSpc>
              <a:buClr>
                <a:schemeClr val="tx1"/>
              </a:buClr>
              <a:buFont typeface="Wingdings" pitchFamily="2" charset="2"/>
              <a:buNone/>
              <a:defRPr/>
            </a:pPr>
            <a:r>
              <a:rPr lang="en-US" sz="1800" dirty="0"/>
              <a:t>set y [</a:t>
            </a:r>
            <a:r>
              <a:rPr lang="en-US" sz="1800" dirty="0" err="1"/>
              <a:t>expr</a:t>
            </a:r>
            <a:r>
              <a:rPr lang="en-US" sz="1800" dirty="0"/>
              <a:t> $x+10]</a:t>
            </a:r>
          </a:p>
          <a:p>
            <a:pPr>
              <a:lnSpc>
                <a:spcPct val="90000"/>
              </a:lnSpc>
              <a:buClr>
                <a:schemeClr val="tx1"/>
              </a:buClr>
              <a:buFont typeface="Wingdings" pitchFamily="2" charset="2"/>
              <a:buNone/>
              <a:defRPr/>
            </a:pPr>
            <a:r>
              <a:rPr lang="en-US" sz="1800" dirty="0"/>
              <a:t>puts “x is $x”</a:t>
            </a:r>
          </a:p>
          <a:p>
            <a:pPr>
              <a:lnSpc>
                <a:spcPct val="90000"/>
              </a:lnSpc>
              <a:buClr>
                <a:schemeClr val="tx1"/>
              </a:buClr>
              <a:buFont typeface="Wingdings" pitchFamily="2" charset="2"/>
              <a:buNone/>
              <a:defRPr/>
            </a:pPr>
            <a:endParaRPr lang="en-US" sz="1800" dirty="0"/>
          </a:p>
          <a:p>
            <a:pPr>
              <a:lnSpc>
                <a:spcPct val="90000"/>
              </a:lnSpc>
              <a:buClr>
                <a:schemeClr val="tx1"/>
              </a:buClr>
              <a:buFont typeface="Wingdings" pitchFamily="2" charset="2"/>
              <a:buNone/>
              <a:defRPr/>
            </a:pPr>
            <a:r>
              <a:rPr lang="en-US" sz="1800" dirty="0"/>
              <a:t>functions and expressions:</a:t>
            </a:r>
          </a:p>
          <a:p>
            <a:pPr>
              <a:lnSpc>
                <a:spcPct val="90000"/>
              </a:lnSpc>
              <a:buClr>
                <a:schemeClr val="tx1"/>
              </a:buClr>
              <a:buFont typeface="Wingdings" pitchFamily="2" charset="2"/>
              <a:buNone/>
              <a:defRPr/>
            </a:pPr>
            <a:r>
              <a:rPr lang="en-US" sz="1800" dirty="0"/>
              <a:t>set y [</a:t>
            </a:r>
            <a:r>
              <a:rPr lang="en-US" sz="1800" dirty="0" err="1"/>
              <a:t>expr</a:t>
            </a:r>
            <a:r>
              <a:rPr lang="en-US" sz="1800" dirty="0"/>
              <a:t> </a:t>
            </a:r>
            <a:r>
              <a:rPr lang="en-US" sz="1800" dirty="0" err="1"/>
              <a:t>pow</a:t>
            </a:r>
            <a:r>
              <a:rPr lang="en-US" sz="1800" dirty="0"/>
              <a:t>($x, 2)]</a:t>
            </a:r>
          </a:p>
          <a:p>
            <a:pPr>
              <a:lnSpc>
                <a:spcPct val="90000"/>
              </a:lnSpc>
              <a:buClr>
                <a:schemeClr val="tx1"/>
              </a:buClr>
              <a:buFont typeface="Wingdings" pitchFamily="2" charset="2"/>
              <a:buNone/>
              <a:defRPr/>
            </a:pPr>
            <a:endParaRPr lang="en-US" sz="1800" dirty="0"/>
          </a:p>
          <a:p>
            <a:pPr>
              <a:lnSpc>
                <a:spcPct val="90000"/>
              </a:lnSpc>
              <a:buClr>
                <a:schemeClr val="tx1"/>
              </a:buClr>
              <a:buFont typeface="Wingdings" pitchFamily="2" charset="2"/>
              <a:buNone/>
              <a:defRPr/>
            </a:pPr>
            <a:r>
              <a:rPr lang="en-US" sz="1800" dirty="0"/>
              <a:t>control flow:</a:t>
            </a:r>
          </a:p>
          <a:p>
            <a:pPr>
              <a:lnSpc>
                <a:spcPct val="90000"/>
              </a:lnSpc>
              <a:buClr>
                <a:schemeClr val="tx1"/>
              </a:buClr>
              <a:buFont typeface="Wingdings" pitchFamily="2" charset="2"/>
              <a:buNone/>
              <a:defRPr/>
            </a:pPr>
            <a:r>
              <a:rPr lang="en-US" sz="1800" dirty="0"/>
              <a:t>if {$x &gt; 0} { return $x } else {</a:t>
            </a:r>
          </a:p>
          <a:p>
            <a:pPr>
              <a:lnSpc>
                <a:spcPct val="90000"/>
              </a:lnSpc>
              <a:buClr>
                <a:schemeClr val="tx1"/>
              </a:buClr>
              <a:buFont typeface="Wingdings" pitchFamily="2" charset="2"/>
              <a:buNone/>
              <a:defRPr/>
            </a:pPr>
            <a:r>
              <a:rPr lang="en-US" sz="1800" dirty="0"/>
              <a:t>	return [</a:t>
            </a:r>
            <a:r>
              <a:rPr lang="en-US" sz="1800" dirty="0" err="1"/>
              <a:t>expr</a:t>
            </a:r>
            <a:r>
              <a:rPr lang="en-US" sz="1800" dirty="0"/>
              <a:t> -$x] }</a:t>
            </a:r>
          </a:p>
          <a:p>
            <a:pPr>
              <a:lnSpc>
                <a:spcPct val="90000"/>
              </a:lnSpc>
              <a:buClr>
                <a:schemeClr val="tx1"/>
              </a:buClr>
              <a:buFont typeface="Wingdings" pitchFamily="2" charset="2"/>
              <a:buNone/>
              <a:defRPr/>
            </a:pPr>
            <a:r>
              <a:rPr lang="en-US" sz="1800" dirty="0"/>
              <a:t>while { $x &gt; 0 } {</a:t>
            </a:r>
          </a:p>
          <a:p>
            <a:pPr>
              <a:lnSpc>
                <a:spcPct val="90000"/>
              </a:lnSpc>
              <a:buClr>
                <a:schemeClr val="tx1"/>
              </a:buClr>
              <a:buFont typeface="Wingdings" pitchFamily="2" charset="2"/>
              <a:buNone/>
              <a:defRPr/>
            </a:pPr>
            <a:r>
              <a:rPr lang="en-US" sz="1800" dirty="0"/>
              <a:t>	puts $x</a:t>
            </a:r>
          </a:p>
          <a:p>
            <a:pPr>
              <a:lnSpc>
                <a:spcPct val="90000"/>
              </a:lnSpc>
              <a:buClr>
                <a:schemeClr val="tx1"/>
              </a:buClr>
              <a:buFont typeface="Wingdings" pitchFamily="2" charset="2"/>
              <a:buNone/>
              <a:defRPr/>
            </a:pPr>
            <a:r>
              <a:rPr lang="en-US" sz="1800" dirty="0"/>
              <a:t>	</a:t>
            </a:r>
            <a:r>
              <a:rPr lang="en-US" sz="1800" dirty="0" err="1"/>
              <a:t>incr</a:t>
            </a:r>
            <a:r>
              <a:rPr lang="en-US" sz="1800" dirty="0"/>
              <a:t> x –1</a:t>
            </a:r>
          </a:p>
          <a:p>
            <a:pPr>
              <a:lnSpc>
                <a:spcPct val="90000"/>
              </a:lnSpc>
              <a:buClr>
                <a:schemeClr val="tx1"/>
              </a:buClr>
              <a:buFont typeface="Wingdings" pitchFamily="2" charset="2"/>
              <a:buNone/>
              <a:defRPr/>
            </a:pPr>
            <a:r>
              <a:rPr lang="en-US" sz="1800" dirty="0"/>
              <a:t>}</a:t>
            </a:r>
          </a:p>
        </p:txBody>
      </p:sp>
      <p:sp>
        <p:nvSpPr>
          <p:cNvPr id="22534" name="Rectangle 4"/>
          <p:cNvSpPr txBox="1">
            <a:spLocks noChangeArrowheads="1"/>
          </p:cNvSpPr>
          <p:nvPr/>
        </p:nvSpPr>
        <p:spPr bwMode="auto">
          <a:xfrm>
            <a:off x="6326188" y="1571625"/>
            <a:ext cx="3810000" cy="434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nSpc>
                <a:spcPct val="90000"/>
              </a:lnSpc>
              <a:buClr>
                <a:schemeClr val="tx1"/>
              </a:buClr>
              <a:buFont typeface="Wingdings" panose="05000000000000000000" pitchFamily="2" charset="2"/>
              <a:buNone/>
            </a:pPr>
            <a:r>
              <a:rPr lang="en-US" altLang="en-US" sz="2000"/>
              <a:t>procedures:</a:t>
            </a:r>
          </a:p>
          <a:p>
            <a:pPr>
              <a:lnSpc>
                <a:spcPct val="90000"/>
              </a:lnSpc>
              <a:buClr>
                <a:schemeClr val="tx1"/>
              </a:buClr>
              <a:buFont typeface="Wingdings" panose="05000000000000000000" pitchFamily="2" charset="2"/>
              <a:buNone/>
            </a:pPr>
            <a:r>
              <a:rPr lang="en-US" altLang="en-US" sz="2000"/>
              <a:t>proc pow {x n} {</a:t>
            </a:r>
          </a:p>
          <a:p>
            <a:pPr>
              <a:lnSpc>
                <a:spcPct val="90000"/>
              </a:lnSpc>
              <a:buClr>
                <a:schemeClr val="tx1"/>
              </a:buClr>
              <a:buFont typeface="Wingdings" panose="05000000000000000000" pitchFamily="2" charset="2"/>
              <a:buNone/>
            </a:pPr>
            <a:r>
              <a:rPr lang="en-US" altLang="en-US" sz="2000"/>
              <a:t>	if {$n == 1} { return $x }</a:t>
            </a:r>
          </a:p>
          <a:p>
            <a:pPr>
              <a:lnSpc>
                <a:spcPct val="90000"/>
              </a:lnSpc>
              <a:buClr>
                <a:schemeClr val="tx1"/>
              </a:buClr>
              <a:buFont typeface="Wingdings" panose="05000000000000000000" pitchFamily="2" charset="2"/>
              <a:buNone/>
            </a:pPr>
            <a:r>
              <a:rPr lang="en-US" altLang="en-US" sz="2000"/>
              <a:t>	set part [pow x [expr $n-1]]</a:t>
            </a:r>
          </a:p>
          <a:p>
            <a:pPr>
              <a:lnSpc>
                <a:spcPct val="90000"/>
              </a:lnSpc>
              <a:buClr>
                <a:schemeClr val="tx1"/>
              </a:buClr>
              <a:buFont typeface="Wingdings" panose="05000000000000000000" pitchFamily="2" charset="2"/>
              <a:buNone/>
            </a:pPr>
            <a:r>
              <a:rPr lang="en-US" altLang="en-US" sz="2000"/>
              <a:t>	return [expr $x*$part]</a:t>
            </a:r>
          </a:p>
          <a:p>
            <a:pPr>
              <a:lnSpc>
                <a:spcPct val="90000"/>
              </a:lnSpc>
              <a:buClr>
                <a:schemeClr val="tx1"/>
              </a:buClr>
              <a:buFont typeface="Wingdings" panose="05000000000000000000" pitchFamily="2" charset="2"/>
              <a:buNone/>
            </a:pPr>
            <a:r>
              <a:rPr lang="en-US" altLang="en-US" sz="2000"/>
              <a:t>}</a:t>
            </a:r>
          </a:p>
          <a:p>
            <a:pPr>
              <a:lnSpc>
                <a:spcPct val="90000"/>
              </a:lnSpc>
              <a:buClr>
                <a:schemeClr val="tx1"/>
              </a:buClr>
              <a:buFont typeface="Wingdings" panose="05000000000000000000" pitchFamily="2" charset="2"/>
              <a:buNone/>
            </a:pPr>
            <a:endParaRPr lang="en-US" altLang="en-US" sz="2000"/>
          </a:p>
          <a:p>
            <a:pPr>
              <a:lnSpc>
                <a:spcPct val="90000"/>
              </a:lnSpc>
              <a:buClr>
                <a:schemeClr val="tx1"/>
              </a:buClr>
              <a:buFont typeface="Wingdings" panose="05000000000000000000" pitchFamily="2" charset="2"/>
              <a:buNone/>
            </a:pPr>
            <a:endParaRPr lang="en-US" altLang="en-US" sz="2000"/>
          </a:p>
          <a:p>
            <a:pPr>
              <a:lnSpc>
                <a:spcPct val="90000"/>
              </a:lnSpc>
              <a:buClr>
                <a:schemeClr val="tx1"/>
              </a:buClr>
              <a:buFont typeface="Wingdings" panose="05000000000000000000" pitchFamily="2" charset="2"/>
              <a:buNone/>
            </a:pPr>
            <a:r>
              <a:rPr lang="en-US" altLang="en-US" sz="2000"/>
              <a:t>Arrays:</a:t>
            </a:r>
          </a:p>
          <a:p>
            <a:pPr>
              <a:lnSpc>
                <a:spcPct val="90000"/>
              </a:lnSpc>
              <a:buClr>
                <a:schemeClr val="tx1"/>
              </a:buClr>
              <a:buFont typeface="Wingdings" panose="05000000000000000000" pitchFamily="2" charset="2"/>
              <a:buNone/>
            </a:pPr>
            <a:r>
              <a:rPr lang="en-US" altLang="en-US" sz="2000"/>
              <a:t>set matrix(1,1) 140</a:t>
            </a:r>
          </a:p>
        </p:txBody>
      </p:sp>
    </p:spTree>
    <p:extLst>
      <p:ext uri="{BB962C8B-B14F-4D97-AF65-F5344CB8AC3E}">
        <p14:creationId xmlns="" xmlns:p14="http://schemas.microsoft.com/office/powerpoint/2010/main" val="1340613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
                                            <p:txEl>
                                              <p:pRg st="11" end="11"/>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
                                            <p:txEl>
                                              <p:pRg st="12" end="12"/>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5">
                                            <p:txEl>
                                              <p:pRg st="13" end="13"/>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5">
                                            <p:txEl>
                                              <p:pRg st="14" end="14"/>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6405"/>
            <a:ext cx="10515600" cy="5500558"/>
          </a:xfrm>
        </p:spPr>
        <p:txBody>
          <a:bodyPr/>
          <a:lstStyle/>
          <a:p>
            <a:pPr>
              <a:buNone/>
            </a:pPr>
            <a:r>
              <a:rPr lang="en-IN" dirty="0" smtClean="0"/>
              <a:t>Simulations Basic steps: </a:t>
            </a:r>
          </a:p>
          <a:p>
            <a:pPr>
              <a:buNone/>
            </a:pPr>
            <a:r>
              <a:rPr lang="en-IN" dirty="0" smtClean="0"/>
              <a:t>• Create the simulation environment; – event list, scheduler, etc.; </a:t>
            </a:r>
          </a:p>
          <a:p>
            <a:pPr>
              <a:buNone/>
            </a:pPr>
            <a:r>
              <a:rPr lang="en-IN" dirty="0" smtClean="0"/>
              <a:t>• Create the network: – nodes and links between them.</a:t>
            </a:r>
          </a:p>
          <a:p>
            <a:pPr>
              <a:buNone/>
            </a:pPr>
            <a:r>
              <a:rPr lang="en-IN" dirty="0" smtClean="0"/>
              <a:t> • Create connections: – TCP, UDP (in some sense). </a:t>
            </a:r>
          </a:p>
          <a:p>
            <a:pPr>
              <a:buNone/>
            </a:pPr>
            <a:r>
              <a:rPr lang="en-IN" dirty="0" smtClean="0"/>
              <a:t>• Create applications: – CBR </a:t>
            </a:r>
            <a:r>
              <a:rPr lang="en-IN" dirty="0" err="1" smtClean="0"/>
              <a:t>ﬂow</a:t>
            </a:r>
            <a:r>
              <a:rPr lang="en-IN" dirty="0" smtClean="0"/>
              <a:t>, FTP, WWW </a:t>
            </a:r>
            <a:r>
              <a:rPr lang="en-IN" dirty="0" err="1" smtClean="0"/>
              <a:t>traﬃc</a:t>
            </a:r>
            <a:endParaRPr lang="en-IN" dirty="0" smtClean="0"/>
          </a:p>
          <a:p>
            <a:pPr>
              <a:buNone/>
            </a:pPr>
            <a:r>
              <a:rPr lang="en-IN" dirty="0" smtClean="0"/>
              <a:t> • Trace network elements: – trace queue, trace </a:t>
            </a:r>
            <a:r>
              <a:rPr lang="en-IN" dirty="0" err="1" smtClean="0"/>
              <a:t>ﬂow</a:t>
            </a:r>
            <a:r>
              <a:rPr lang="en-IN" dirty="0" smtClean="0"/>
              <a:t>.</a:t>
            </a: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0BC1DB6-31BD-443D-B946-4C6B1288B687}" type="slidenum">
              <a:rPr lang="en-US" altLang="en-US"/>
              <a:pPr/>
              <a:t>8</a:t>
            </a:fld>
            <a:endParaRPr lang="en-US" altLang="en-US"/>
          </a:p>
        </p:txBody>
      </p:sp>
      <p:sp>
        <p:nvSpPr>
          <p:cNvPr id="24578" name="Rectangle 2"/>
          <p:cNvSpPr>
            <a:spLocks noGrp="1" noChangeArrowheads="1"/>
          </p:cNvSpPr>
          <p:nvPr>
            <p:ph type="title"/>
          </p:nvPr>
        </p:nvSpPr>
        <p:spPr/>
        <p:txBody>
          <a:bodyPr/>
          <a:lstStyle/>
          <a:p>
            <a:r>
              <a:rPr lang="en-US" altLang="en-US"/>
              <a:t>Ns programming</a:t>
            </a:r>
          </a:p>
        </p:txBody>
      </p:sp>
      <p:sp>
        <p:nvSpPr>
          <p:cNvPr id="24579" name="Rectangle 3"/>
          <p:cNvSpPr>
            <a:spLocks noGrp="1" noChangeArrowheads="1"/>
          </p:cNvSpPr>
          <p:nvPr>
            <p:ph type="body" idx="1"/>
          </p:nvPr>
        </p:nvSpPr>
        <p:spPr/>
        <p:txBody>
          <a:bodyPr/>
          <a:lstStyle/>
          <a:p>
            <a:r>
              <a:rPr lang="en-US" altLang="en-US"/>
              <a:t>Create the event scheduler</a:t>
            </a:r>
          </a:p>
          <a:p>
            <a:r>
              <a:rPr lang="en-US" altLang="en-US"/>
              <a:t>Turn on tracing</a:t>
            </a:r>
          </a:p>
          <a:p>
            <a:r>
              <a:rPr lang="en-US" altLang="en-US"/>
              <a:t>Create network</a:t>
            </a:r>
          </a:p>
          <a:p>
            <a:r>
              <a:rPr lang="en-US" altLang="en-US"/>
              <a:t>Setup routing</a:t>
            </a:r>
          </a:p>
          <a:p>
            <a:r>
              <a:rPr lang="en-US" altLang="en-US"/>
              <a:t>Insert errors</a:t>
            </a:r>
          </a:p>
          <a:p>
            <a:r>
              <a:rPr lang="en-US" altLang="en-US"/>
              <a:t>Create transport connection</a:t>
            </a:r>
          </a:p>
          <a:p>
            <a:r>
              <a:rPr lang="en-US" altLang="en-US"/>
              <a:t>Create traffic</a:t>
            </a:r>
          </a:p>
          <a:p>
            <a:r>
              <a:rPr lang="en-US" altLang="en-US"/>
              <a:t>Transmit application-level data</a:t>
            </a:r>
          </a:p>
        </p:txBody>
      </p:sp>
    </p:spTree>
    <p:extLst>
      <p:ext uri="{BB962C8B-B14F-4D97-AF65-F5344CB8AC3E}">
        <p14:creationId xmlns="" xmlns:p14="http://schemas.microsoft.com/office/powerpoint/2010/main" val="15597605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18BF73DF-4BF9-44E1-A225-8BEE0F6961F8}" type="slidenum">
              <a:rPr lang="en-US" altLang="en-US"/>
              <a:pPr/>
              <a:t>9</a:t>
            </a:fld>
            <a:endParaRPr lang="en-US" altLang="en-US"/>
          </a:p>
        </p:txBody>
      </p:sp>
      <p:sp>
        <p:nvSpPr>
          <p:cNvPr id="25602" name="Rectangle 2"/>
          <p:cNvSpPr>
            <a:spLocks noGrp="1" noChangeArrowheads="1"/>
          </p:cNvSpPr>
          <p:nvPr>
            <p:ph type="title"/>
          </p:nvPr>
        </p:nvSpPr>
        <p:spPr/>
        <p:txBody>
          <a:bodyPr/>
          <a:lstStyle/>
          <a:p>
            <a:r>
              <a:rPr lang="en-US" altLang="en-US"/>
              <a:t>Creating Event Scheduler</a:t>
            </a:r>
          </a:p>
        </p:txBody>
      </p:sp>
      <p:sp>
        <p:nvSpPr>
          <p:cNvPr id="25603" name="Rectangle 3"/>
          <p:cNvSpPr>
            <a:spLocks noGrp="1" noChangeArrowheads="1"/>
          </p:cNvSpPr>
          <p:nvPr>
            <p:ph type="body" idx="1"/>
          </p:nvPr>
        </p:nvSpPr>
        <p:spPr/>
        <p:txBody>
          <a:bodyPr/>
          <a:lstStyle/>
          <a:p>
            <a:pPr>
              <a:lnSpc>
                <a:spcPct val="90000"/>
              </a:lnSpc>
            </a:pPr>
            <a:r>
              <a:rPr lang="en-US" altLang="en-US"/>
              <a:t>Create event scheduler</a:t>
            </a:r>
          </a:p>
          <a:p>
            <a:pPr lvl="1">
              <a:lnSpc>
                <a:spcPct val="90000"/>
              </a:lnSpc>
              <a:buFont typeface="Wingdings" panose="05000000000000000000" pitchFamily="2" charset="2"/>
              <a:buNone/>
            </a:pPr>
            <a:r>
              <a:rPr lang="en-US" altLang="en-US"/>
              <a:t>set ns [new Simulator]</a:t>
            </a:r>
          </a:p>
          <a:p>
            <a:pPr>
              <a:lnSpc>
                <a:spcPct val="90000"/>
              </a:lnSpc>
            </a:pPr>
            <a:r>
              <a:rPr lang="en-US" altLang="en-US"/>
              <a:t>Schedule events</a:t>
            </a:r>
          </a:p>
          <a:p>
            <a:pPr lvl="1">
              <a:lnSpc>
                <a:spcPct val="90000"/>
              </a:lnSpc>
              <a:buFont typeface="Wingdings" panose="05000000000000000000" pitchFamily="2" charset="2"/>
              <a:buNone/>
            </a:pPr>
            <a:r>
              <a:rPr lang="en-US" altLang="en-US"/>
              <a:t>$ns at &lt;time&gt; &lt;event&gt;</a:t>
            </a:r>
          </a:p>
          <a:p>
            <a:pPr lvl="2">
              <a:lnSpc>
                <a:spcPct val="90000"/>
              </a:lnSpc>
            </a:pPr>
            <a:r>
              <a:rPr lang="en-US" altLang="en-US"/>
              <a:t>&lt;event&gt;: any legitimate ns/tcl commands</a:t>
            </a:r>
          </a:p>
          <a:p>
            <a:pPr lvl="1">
              <a:lnSpc>
                <a:spcPct val="90000"/>
              </a:lnSpc>
              <a:buFont typeface="Wingdings" panose="05000000000000000000" pitchFamily="2" charset="2"/>
              <a:buNone/>
            </a:pPr>
            <a:r>
              <a:rPr lang="en-US" altLang="en-US"/>
              <a:t>$ns at 5.0 “finish”</a:t>
            </a:r>
          </a:p>
          <a:p>
            <a:pPr>
              <a:lnSpc>
                <a:spcPct val="90000"/>
              </a:lnSpc>
            </a:pPr>
            <a:r>
              <a:rPr lang="en-US" altLang="en-US"/>
              <a:t>Start scheduler</a:t>
            </a:r>
          </a:p>
          <a:p>
            <a:pPr lvl="1">
              <a:lnSpc>
                <a:spcPct val="90000"/>
              </a:lnSpc>
              <a:buFont typeface="Wingdings" panose="05000000000000000000" pitchFamily="2" charset="2"/>
              <a:buNone/>
            </a:pPr>
            <a:r>
              <a:rPr lang="en-US" altLang="en-US"/>
              <a:t>$ns run</a:t>
            </a:r>
          </a:p>
        </p:txBody>
      </p:sp>
    </p:spTree>
    <p:extLst>
      <p:ext uri="{BB962C8B-B14F-4D97-AF65-F5344CB8AC3E}">
        <p14:creationId xmlns="" xmlns:p14="http://schemas.microsoft.com/office/powerpoint/2010/main" val="3796139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z="4000"/>
              <a:t>Simple two node wired network</a:t>
            </a:r>
          </a:p>
        </p:txBody>
      </p:sp>
      <p:sp>
        <p:nvSpPr>
          <p:cNvPr id="24579"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
        <p:nvSpPr>
          <p:cNvPr id="5" name="Oval 4"/>
          <p:cNvSpPr>
            <a:spLocks noChangeArrowheads="1"/>
          </p:cNvSpPr>
          <p:nvPr/>
        </p:nvSpPr>
        <p:spPr bwMode="auto">
          <a:xfrm>
            <a:off x="4267200" y="15240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6" name="Oval 5"/>
          <p:cNvSpPr>
            <a:spLocks noChangeArrowheads="1"/>
          </p:cNvSpPr>
          <p:nvPr/>
        </p:nvSpPr>
        <p:spPr bwMode="auto">
          <a:xfrm>
            <a:off x="7010400" y="15240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7" name="Line 6"/>
          <p:cNvSpPr>
            <a:spLocks noChangeShapeType="1"/>
          </p:cNvSpPr>
          <p:nvPr/>
        </p:nvSpPr>
        <p:spPr bwMode="auto">
          <a:xfrm>
            <a:off x="4953000" y="1866900"/>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grpSp>
        <p:nvGrpSpPr>
          <p:cNvPr id="2" name="Group 13"/>
          <p:cNvGrpSpPr>
            <a:grpSpLocks/>
          </p:cNvGrpSpPr>
          <p:nvPr/>
        </p:nvGrpSpPr>
        <p:grpSpPr bwMode="auto">
          <a:xfrm>
            <a:off x="3870325" y="2794000"/>
            <a:ext cx="4953000" cy="1384300"/>
            <a:chOff x="1392" y="2380"/>
            <a:chExt cx="3120" cy="872"/>
          </a:xfrm>
        </p:grpSpPr>
        <p:sp>
          <p:nvSpPr>
            <p:cNvPr id="24589" name="Rectangle 10"/>
            <p:cNvSpPr>
              <a:spLocks noChangeArrowheads="1"/>
            </p:cNvSpPr>
            <p:nvPr/>
          </p:nvSpPr>
          <p:spPr bwMode="auto">
            <a:xfrm>
              <a:off x="1392" y="2380"/>
              <a:ext cx="3072" cy="866"/>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24590" name="Rectangle 9"/>
            <p:cNvSpPr>
              <a:spLocks noChangeArrowheads="1"/>
            </p:cNvSpPr>
            <p:nvPr/>
          </p:nvSpPr>
          <p:spPr bwMode="auto">
            <a:xfrm>
              <a:off x="1440" y="2380"/>
              <a:ext cx="3072" cy="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800">
                  <a:solidFill>
                    <a:srgbClr val="FF0000"/>
                  </a:solidFill>
                  <a:latin typeface="바탕" panose="02030600000101010101" pitchFamily="18" charset="-127"/>
                </a:rPr>
                <a:t>#Create a simulator object</a:t>
              </a:r>
            </a:p>
            <a:p>
              <a:pPr>
                <a:buClrTx/>
                <a:buSzTx/>
                <a:buFontTx/>
                <a:buNone/>
              </a:pPr>
              <a:r>
                <a:rPr lang="en-US" altLang="en-US" sz="2800">
                  <a:solidFill>
                    <a:srgbClr val="FF0000"/>
                  </a:solidFill>
                  <a:latin typeface="바탕" panose="02030600000101010101" pitchFamily="18" charset="-127"/>
                </a:rPr>
                <a:t># (Create event scheduler)</a:t>
              </a:r>
            </a:p>
            <a:p>
              <a:pPr algn="ctr">
                <a:buClrTx/>
                <a:buSzTx/>
                <a:buFontTx/>
                <a:buNone/>
              </a:pPr>
              <a:r>
                <a:rPr lang="en-US" altLang="en-US" sz="2800">
                  <a:solidFill>
                    <a:srgbClr val="00279F"/>
                  </a:solidFill>
                  <a:latin typeface="바탕" panose="02030600000101010101" pitchFamily="18" charset="-127"/>
                </a:rPr>
                <a:t>set ns [new Simulator]</a:t>
              </a:r>
            </a:p>
          </p:txBody>
        </p:sp>
      </p:grpSp>
      <p:sp>
        <p:nvSpPr>
          <p:cNvPr id="11" name="Text Box 11"/>
          <p:cNvSpPr txBox="1">
            <a:spLocks noChangeArrowheads="1"/>
          </p:cNvSpPr>
          <p:nvPr/>
        </p:nvSpPr>
        <p:spPr bwMode="auto">
          <a:xfrm>
            <a:off x="2080562" y="2613026"/>
            <a:ext cx="1579279"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a:solidFill>
                  <a:srgbClr val="00279F"/>
                </a:solidFill>
                <a:latin typeface="바탕" panose="02030600000101010101" pitchFamily="18" charset="-127"/>
              </a:rPr>
              <a:t>Step 1:</a:t>
            </a:r>
          </a:p>
        </p:txBody>
      </p:sp>
      <p:sp>
        <p:nvSpPr>
          <p:cNvPr id="12" name="Text Box 12"/>
          <p:cNvSpPr txBox="1">
            <a:spLocks noChangeArrowheads="1"/>
          </p:cNvSpPr>
          <p:nvPr/>
        </p:nvSpPr>
        <p:spPr bwMode="auto">
          <a:xfrm>
            <a:off x="1944037" y="4425951"/>
            <a:ext cx="1579279"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a:solidFill>
                  <a:srgbClr val="00279F"/>
                </a:solidFill>
                <a:latin typeface="바탕" panose="02030600000101010101" pitchFamily="18" charset="-127"/>
              </a:rPr>
              <a:t>Step 2:</a:t>
            </a:r>
          </a:p>
        </p:txBody>
      </p:sp>
      <p:sp>
        <p:nvSpPr>
          <p:cNvPr id="13" name="Rectangle 15"/>
          <p:cNvSpPr>
            <a:spLocks noChangeArrowheads="1"/>
          </p:cNvSpPr>
          <p:nvPr/>
        </p:nvSpPr>
        <p:spPr bwMode="auto">
          <a:xfrm>
            <a:off x="3870325" y="4578350"/>
            <a:ext cx="4876800" cy="15240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14" name="Rectangle 16"/>
          <p:cNvSpPr>
            <a:spLocks noChangeArrowheads="1"/>
          </p:cNvSpPr>
          <p:nvPr/>
        </p:nvSpPr>
        <p:spPr bwMode="auto">
          <a:xfrm>
            <a:off x="3946525" y="4637089"/>
            <a:ext cx="4876800" cy="1373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800">
                <a:solidFill>
                  <a:srgbClr val="FF0000"/>
                </a:solidFill>
                <a:latin typeface="바탕" panose="02030600000101010101" pitchFamily="18" charset="-127"/>
              </a:rPr>
              <a:t>#Open trace files</a:t>
            </a:r>
          </a:p>
          <a:p>
            <a:pPr algn="ctr">
              <a:buClrTx/>
              <a:buSzTx/>
              <a:buFontTx/>
              <a:buNone/>
            </a:pPr>
            <a:r>
              <a:rPr lang="en-US" altLang="en-US" sz="2800">
                <a:solidFill>
                  <a:srgbClr val="00279F"/>
                </a:solidFill>
                <a:latin typeface="바탕" panose="02030600000101010101" pitchFamily="18" charset="-127"/>
              </a:rPr>
              <a:t>set f [open out.tr w]</a:t>
            </a:r>
          </a:p>
          <a:p>
            <a:pPr algn="ctr">
              <a:buClrTx/>
              <a:buSzTx/>
              <a:buFontTx/>
              <a:buNone/>
            </a:pPr>
            <a:r>
              <a:rPr lang="en-US" altLang="en-US" sz="2800">
                <a:solidFill>
                  <a:srgbClr val="00279F"/>
                </a:solidFill>
                <a:latin typeface="바탕" panose="02030600000101010101" pitchFamily="18" charset="-127"/>
              </a:rPr>
              <a:t>$ns trace-all $f</a:t>
            </a:r>
          </a:p>
        </p:txBody>
      </p:sp>
      <p:sp>
        <p:nvSpPr>
          <p:cNvPr id="15" name="Rectangular Callout 14"/>
          <p:cNvSpPr>
            <a:spLocks noChangeArrowheads="1"/>
          </p:cNvSpPr>
          <p:nvPr/>
        </p:nvSpPr>
        <p:spPr bwMode="auto">
          <a:xfrm>
            <a:off x="9012239" y="4040188"/>
            <a:ext cx="1595437" cy="696912"/>
          </a:xfrm>
          <a:prstGeom prst="wedgeRectCallout">
            <a:avLst>
              <a:gd name="adj1" fmla="val -273449"/>
              <a:gd name="adj2" fmla="val -48597"/>
            </a:avLst>
          </a:prstGeom>
          <a:solidFill>
            <a:srgbClr val="DEBD30"/>
          </a:solidFill>
          <a:ln w="12700" algn="ctr">
            <a:solidFill>
              <a:srgbClr val="000000"/>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Name of </a:t>
            </a:r>
          </a:p>
          <a:p>
            <a:pPr algn="ctr">
              <a:buClrTx/>
              <a:buSzTx/>
              <a:buFontTx/>
              <a:buNone/>
            </a:pPr>
            <a:r>
              <a:rPr lang="en-US" altLang="en-US" sz="2400">
                <a:solidFill>
                  <a:srgbClr val="00279F"/>
                </a:solidFill>
                <a:latin typeface="바탕" panose="02030600000101010101" pitchFamily="18" charset="-127"/>
              </a:rPr>
              <a:t>scheduler</a:t>
            </a:r>
          </a:p>
        </p:txBody>
      </p:sp>
    </p:spTree>
    <p:extLst>
      <p:ext uri="{BB962C8B-B14F-4D97-AF65-F5344CB8AC3E}">
        <p14:creationId xmlns="" xmlns:p14="http://schemas.microsoft.com/office/powerpoint/2010/main" val="1890656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p:bldP spid="12" grpId="0"/>
      <p:bldP spid="13" grpId="0" animBg="1"/>
      <p:bldP spid="14" grpId="0"/>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normAutofit/>
          </a:bodyPr>
          <a:lstStyle/>
          <a:p>
            <a:pPr>
              <a:buNone/>
            </a:pPr>
            <a:r>
              <a:rPr lang="en-IN" dirty="0" smtClean="0"/>
              <a:t>    set ns [new Simulator]</a:t>
            </a:r>
            <a:br>
              <a:rPr lang="en-IN" dirty="0" smtClean="0"/>
            </a:br>
            <a:r>
              <a:rPr lang="en-IN" dirty="0" smtClean="0"/>
              <a:t>set </a:t>
            </a:r>
            <a:r>
              <a:rPr lang="en-IN" dirty="0" err="1" smtClean="0"/>
              <a:t>nf</a:t>
            </a:r>
            <a:r>
              <a:rPr lang="en-IN" dirty="0" smtClean="0"/>
              <a:t> [open out.nam w]</a:t>
            </a:r>
            <a:br>
              <a:rPr lang="en-IN" dirty="0" smtClean="0"/>
            </a:br>
            <a:r>
              <a:rPr lang="en-IN" dirty="0" smtClean="0"/>
              <a:t>$ns </a:t>
            </a:r>
            <a:r>
              <a:rPr lang="en-IN" dirty="0" err="1" smtClean="0"/>
              <a:t>namtrace</a:t>
            </a:r>
            <a:r>
              <a:rPr lang="en-IN" dirty="0" smtClean="0"/>
              <a:t>-all $</a:t>
            </a:r>
            <a:r>
              <a:rPr lang="en-IN" dirty="0" err="1" smtClean="0"/>
              <a:t>nf</a:t>
            </a:r>
            <a:r>
              <a:rPr lang="en-IN" dirty="0" smtClean="0"/>
              <a:t/>
            </a:r>
            <a:br>
              <a:rPr lang="en-IN" dirty="0" smtClean="0"/>
            </a:br>
            <a:r>
              <a:rPr lang="en-IN" dirty="0" smtClean="0"/>
              <a:t/>
            </a:r>
            <a:br>
              <a:rPr lang="en-IN" dirty="0" smtClean="0"/>
            </a:br>
            <a:r>
              <a:rPr lang="en-IN" dirty="0" smtClean="0"/>
              <a:t>proc finish {} {</a:t>
            </a:r>
            <a:br>
              <a:rPr lang="en-IN" dirty="0" smtClean="0"/>
            </a:br>
            <a:r>
              <a:rPr lang="en-IN" dirty="0" smtClean="0"/>
              <a:t>global ns </a:t>
            </a:r>
            <a:r>
              <a:rPr lang="en-IN" dirty="0" err="1" smtClean="0"/>
              <a:t>nf</a:t>
            </a:r>
            <a:r>
              <a:rPr lang="en-IN" dirty="0" smtClean="0"/>
              <a:t/>
            </a:r>
            <a:br>
              <a:rPr lang="en-IN" dirty="0" smtClean="0"/>
            </a:br>
            <a:r>
              <a:rPr lang="en-IN" dirty="0" smtClean="0"/>
              <a:t>$ns flush-trace</a:t>
            </a:r>
            <a:br>
              <a:rPr lang="en-IN" dirty="0" smtClean="0"/>
            </a:br>
            <a:r>
              <a:rPr lang="en-IN" dirty="0" smtClean="0"/>
              <a:t>close $</a:t>
            </a:r>
            <a:r>
              <a:rPr lang="en-IN" dirty="0" err="1" smtClean="0"/>
              <a:t>nf</a:t>
            </a:r>
            <a:r>
              <a:rPr lang="en-IN" dirty="0" smtClean="0"/>
              <a:t/>
            </a:r>
            <a:br>
              <a:rPr lang="en-IN" dirty="0" smtClean="0"/>
            </a:br>
            <a:r>
              <a:rPr lang="en-IN" dirty="0" smtClean="0"/>
              <a:t>exec </a:t>
            </a:r>
            <a:r>
              <a:rPr lang="en-IN" dirty="0" err="1" smtClean="0"/>
              <a:t>nam</a:t>
            </a:r>
            <a:r>
              <a:rPr lang="en-IN" dirty="0" smtClean="0"/>
              <a:t> out.nam &amp;</a:t>
            </a:r>
            <a:br>
              <a:rPr lang="en-IN" dirty="0" smtClean="0"/>
            </a:br>
            <a:r>
              <a:rPr lang="en-IN" dirty="0" smtClean="0"/>
              <a:t>exit 0</a:t>
            </a:r>
            <a:br>
              <a:rPr lang="en-IN" dirty="0" smtClean="0"/>
            </a:br>
            <a:r>
              <a:rPr lang="en-IN" dirty="0" smtClean="0"/>
              <a:t>}</a:t>
            </a:r>
            <a:br>
              <a:rPr lang="en-IN" dirty="0" smtClean="0"/>
            </a:br>
            <a:r>
              <a:rPr lang="en-IN" dirty="0" smtClean="0"/>
              <a:t/>
            </a:r>
            <a:br>
              <a:rPr lang="en-IN" dirty="0" smtClean="0"/>
            </a:br>
            <a:r>
              <a:rPr lang="en-IN" dirty="0" smtClean="0"/>
              <a:t>$ns at 5.0 "finish"</a:t>
            </a:r>
            <a:br>
              <a:rPr lang="en-IN" dirty="0" smtClean="0"/>
            </a:br>
            <a:r>
              <a:rPr lang="en-IN" dirty="0" smtClean="0"/>
              <a:t/>
            </a:r>
            <a:br>
              <a:rPr lang="en-IN" dirty="0" smtClean="0"/>
            </a:br>
            <a:r>
              <a:rPr lang="en-IN" dirty="0" smtClean="0"/>
              <a:t>$ns run</a:t>
            </a:r>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z="4000"/>
              <a:t>Simple two node wired network</a:t>
            </a:r>
          </a:p>
        </p:txBody>
      </p:sp>
      <p:sp>
        <p:nvSpPr>
          <p:cNvPr id="26627"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7578A93D-E51B-4B5E-9998-3FB05B19C387}" type="slidenum">
              <a:rPr lang="zh-CN" altLang="en-US" sz="1400">
                <a:solidFill>
                  <a:schemeClr val="tx1"/>
                </a:solidFill>
              </a:rPr>
              <a:pPr>
                <a:buClrTx/>
                <a:buSzTx/>
                <a:buFontTx/>
                <a:buNone/>
              </a:pPr>
              <a:t>12</a:t>
            </a:fld>
            <a:endParaRPr lang="en-US" altLang="zh-CN" sz="1400">
              <a:solidFill>
                <a:schemeClr val="tx1"/>
              </a:solidFill>
            </a:endParaRPr>
          </a:p>
        </p:txBody>
      </p:sp>
      <p:sp>
        <p:nvSpPr>
          <p:cNvPr id="26628" name="Rectangle 9"/>
          <p:cNvSpPr>
            <a:spLocks noChangeArrowheads="1"/>
          </p:cNvSpPr>
          <p:nvPr/>
        </p:nvSpPr>
        <p:spPr bwMode="auto">
          <a:xfrm>
            <a:off x="3733800" y="3276600"/>
            <a:ext cx="4876800" cy="16002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26629" name="Rectangle 10"/>
          <p:cNvSpPr>
            <a:spLocks noChangeArrowheads="1"/>
          </p:cNvSpPr>
          <p:nvPr/>
        </p:nvSpPr>
        <p:spPr bwMode="auto">
          <a:xfrm>
            <a:off x="3810000" y="3389314"/>
            <a:ext cx="4876800" cy="1373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800">
                <a:solidFill>
                  <a:srgbClr val="FF0000"/>
                </a:solidFill>
                <a:latin typeface="바탕" panose="02030600000101010101" pitchFamily="18" charset="-127"/>
              </a:rPr>
              <a:t>#Create two nodes</a:t>
            </a:r>
          </a:p>
          <a:p>
            <a:pPr algn="ctr">
              <a:buClrTx/>
              <a:buSzTx/>
              <a:buFontTx/>
              <a:buNone/>
            </a:pPr>
            <a:r>
              <a:rPr lang="en-US" altLang="en-US" sz="2800">
                <a:solidFill>
                  <a:srgbClr val="00279F"/>
                </a:solidFill>
                <a:latin typeface="바탕" panose="02030600000101010101" pitchFamily="18" charset="-127"/>
              </a:rPr>
              <a:t>set n0 [$ns node]</a:t>
            </a:r>
          </a:p>
          <a:p>
            <a:pPr algn="ctr">
              <a:buClrTx/>
              <a:buSzTx/>
              <a:buFontTx/>
              <a:buNone/>
            </a:pPr>
            <a:r>
              <a:rPr lang="en-US" altLang="en-US" sz="2800">
                <a:solidFill>
                  <a:srgbClr val="00279F"/>
                </a:solidFill>
                <a:latin typeface="바탕" panose="02030600000101010101" pitchFamily="18" charset="-127"/>
              </a:rPr>
              <a:t>set n1 [$ns node]</a:t>
            </a:r>
          </a:p>
        </p:txBody>
      </p:sp>
      <p:sp>
        <p:nvSpPr>
          <p:cNvPr id="26630" name="Text Box 11"/>
          <p:cNvSpPr txBox="1">
            <a:spLocks noChangeArrowheads="1"/>
          </p:cNvSpPr>
          <p:nvPr/>
        </p:nvSpPr>
        <p:spPr bwMode="auto">
          <a:xfrm>
            <a:off x="1944037" y="3140076"/>
            <a:ext cx="1579279"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a:solidFill>
                  <a:srgbClr val="00279F"/>
                </a:solidFill>
                <a:latin typeface="바탕" panose="02030600000101010101" pitchFamily="18" charset="-127"/>
              </a:rPr>
              <a:t>Step 3:</a:t>
            </a:r>
          </a:p>
        </p:txBody>
      </p:sp>
      <p:sp>
        <p:nvSpPr>
          <p:cNvPr id="8" name="Text Box 12"/>
          <p:cNvSpPr txBox="1">
            <a:spLocks noChangeArrowheads="1"/>
          </p:cNvSpPr>
          <p:nvPr/>
        </p:nvSpPr>
        <p:spPr bwMode="auto">
          <a:xfrm>
            <a:off x="1807512" y="4953001"/>
            <a:ext cx="1579279"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a:solidFill>
                  <a:srgbClr val="00279F"/>
                </a:solidFill>
                <a:latin typeface="바탕" panose="02030600000101010101" pitchFamily="18" charset="-127"/>
              </a:rPr>
              <a:t>Step 4:</a:t>
            </a:r>
          </a:p>
        </p:txBody>
      </p:sp>
      <p:sp>
        <p:nvSpPr>
          <p:cNvPr id="9" name="Rectangle 13"/>
          <p:cNvSpPr>
            <a:spLocks noChangeArrowheads="1"/>
          </p:cNvSpPr>
          <p:nvPr/>
        </p:nvSpPr>
        <p:spPr bwMode="auto">
          <a:xfrm>
            <a:off x="3390552" y="5193082"/>
            <a:ext cx="7137400" cy="9906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10" name="Rectangle 14"/>
          <p:cNvSpPr>
            <a:spLocks noChangeArrowheads="1"/>
          </p:cNvSpPr>
          <p:nvPr/>
        </p:nvSpPr>
        <p:spPr bwMode="auto">
          <a:xfrm>
            <a:off x="3810001" y="5164138"/>
            <a:ext cx="6767513" cy="830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400">
                <a:solidFill>
                  <a:srgbClr val="FF0000"/>
                </a:solidFill>
                <a:latin typeface="바탕" panose="02030600000101010101" pitchFamily="18" charset="-127"/>
              </a:rPr>
              <a:t>#Create a duplex link between the nodes</a:t>
            </a:r>
          </a:p>
          <a:p>
            <a:pPr>
              <a:buClrTx/>
              <a:buSzTx/>
              <a:buFontTx/>
              <a:buNone/>
            </a:pPr>
            <a:r>
              <a:rPr lang="en-US" altLang="en-US" sz="2400">
                <a:solidFill>
                  <a:srgbClr val="00279F"/>
                </a:solidFill>
                <a:latin typeface="바탕" panose="02030600000101010101" pitchFamily="18" charset="-127"/>
              </a:rPr>
              <a:t>$ns duplex-link $n0 $n1 1Mb 10ms DropTail</a:t>
            </a:r>
          </a:p>
        </p:txBody>
      </p:sp>
      <p:sp>
        <p:nvSpPr>
          <p:cNvPr id="26634" name="Oval 5"/>
          <p:cNvSpPr>
            <a:spLocks noChangeArrowheads="1"/>
          </p:cNvSpPr>
          <p:nvPr/>
        </p:nvSpPr>
        <p:spPr bwMode="auto">
          <a:xfrm>
            <a:off x="4267200" y="16383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26635" name="Oval 6"/>
          <p:cNvSpPr>
            <a:spLocks noChangeArrowheads="1"/>
          </p:cNvSpPr>
          <p:nvPr/>
        </p:nvSpPr>
        <p:spPr bwMode="auto">
          <a:xfrm>
            <a:off x="7010400" y="16383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26636" name="Line 7"/>
          <p:cNvSpPr>
            <a:spLocks noChangeShapeType="1"/>
          </p:cNvSpPr>
          <p:nvPr/>
        </p:nvSpPr>
        <p:spPr bwMode="auto">
          <a:xfrm>
            <a:off x="4953000" y="1981200"/>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spTree>
    <p:extLst>
      <p:ext uri="{BB962C8B-B14F-4D97-AF65-F5344CB8AC3E}">
        <p14:creationId xmlns="" xmlns:p14="http://schemas.microsoft.com/office/powerpoint/2010/main" val="2202881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z="4000"/>
              <a:t>Simple two node wired network</a:t>
            </a:r>
          </a:p>
        </p:txBody>
      </p:sp>
      <p:sp>
        <p:nvSpPr>
          <p:cNvPr id="28675"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
        <p:nvSpPr>
          <p:cNvPr id="5" name="Text Box 5"/>
          <p:cNvSpPr txBox="1">
            <a:spLocks noChangeArrowheads="1"/>
          </p:cNvSpPr>
          <p:nvPr/>
        </p:nvSpPr>
        <p:spPr bwMode="auto">
          <a:xfrm>
            <a:off x="2165350" y="1408113"/>
            <a:ext cx="6750050" cy="5262562"/>
          </a:xfrm>
          <a:prstGeom prst="rect">
            <a:avLst/>
          </a:prstGeom>
          <a:solidFill>
            <a:srgbClr val="CCFFFF"/>
          </a:solidFill>
          <a:ln w="9525">
            <a:solidFill>
              <a:schemeClr val="tx1"/>
            </a:solidFill>
            <a:miter lim="800000"/>
            <a:headEnd/>
            <a:tailEnd/>
          </a:ln>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1600">
                <a:solidFill>
                  <a:srgbClr val="FF0000"/>
                </a:solidFill>
                <a:latin typeface="바탕" panose="02030600000101010101" pitchFamily="18" charset="-127"/>
              </a:rPr>
              <a:t>#Create a simulator object</a:t>
            </a:r>
          </a:p>
          <a:p>
            <a:pPr>
              <a:buClrTx/>
              <a:buSzTx/>
              <a:buFontTx/>
              <a:buNone/>
            </a:pPr>
            <a:r>
              <a:rPr lang="en-US" altLang="en-US" sz="1600">
                <a:solidFill>
                  <a:srgbClr val="00279F"/>
                </a:solidFill>
                <a:latin typeface="바탕" panose="02030600000101010101" pitchFamily="18" charset="-127"/>
              </a:rPr>
              <a:t>set ns [new Simulator]</a:t>
            </a:r>
          </a:p>
          <a:p>
            <a:pPr>
              <a:buClrTx/>
              <a:buSzTx/>
              <a:buFontTx/>
              <a:buNone/>
            </a:pPr>
            <a:r>
              <a:rPr lang="en-US" altLang="en-US" sz="1600">
                <a:solidFill>
                  <a:srgbClr val="FF0000"/>
                </a:solidFill>
                <a:latin typeface="바탕" panose="02030600000101010101" pitchFamily="18" charset="-127"/>
              </a:rPr>
              <a:t>#Open trace files</a:t>
            </a:r>
          </a:p>
          <a:p>
            <a:pPr>
              <a:buClrTx/>
              <a:buSzTx/>
              <a:buFontTx/>
              <a:buNone/>
            </a:pPr>
            <a:r>
              <a:rPr lang="en-US" altLang="en-US" sz="1600">
                <a:solidFill>
                  <a:srgbClr val="00279F"/>
                </a:solidFill>
                <a:latin typeface="바탕" panose="02030600000101010101" pitchFamily="18" charset="-127"/>
              </a:rPr>
              <a:t>set f [open out.tr w]</a:t>
            </a:r>
          </a:p>
          <a:p>
            <a:pPr>
              <a:buClrTx/>
              <a:buSzTx/>
              <a:buFontTx/>
              <a:buNone/>
            </a:pPr>
            <a:r>
              <a:rPr lang="en-US" altLang="en-US" sz="1600">
                <a:solidFill>
                  <a:srgbClr val="00279F"/>
                </a:solidFill>
                <a:latin typeface="바탕" panose="02030600000101010101" pitchFamily="18" charset="-127"/>
              </a:rPr>
              <a:t>$ns trace-all $f</a:t>
            </a:r>
          </a:p>
          <a:p>
            <a:pPr>
              <a:buClrTx/>
              <a:buSzTx/>
              <a:buFontTx/>
              <a:buNone/>
            </a:pPr>
            <a:r>
              <a:rPr lang="en-US" altLang="en-US" sz="1600">
                <a:solidFill>
                  <a:srgbClr val="FF0000"/>
                </a:solidFill>
                <a:latin typeface="바탕" panose="02030600000101010101" pitchFamily="18" charset="-127"/>
              </a:rPr>
              <a:t>#Define a 'finish' procedure</a:t>
            </a:r>
          </a:p>
          <a:p>
            <a:pPr>
              <a:buClrTx/>
              <a:buSzTx/>
              <a:buFontTx/>
              <a:buNone/>
            </a:pPr>
            <a:r>
              <a:rPr lang="en-US" altLang="en-US" sz="1600">
                <a:solidFill>
                  <a:srgbClr val="00279F"/>
                </a:solidFill>
                <a:latin typeface="바탕" panose="02030600000101010101" pitchFamily="18" charset="-127"/>
              </a:rPr>
              <a:t>proc finish {} {</a:t>
            </a:r>
          </a:p>
          <a:p>
            <a:pPr>
              <a:buClrTx/>
              <a:buSzTx/>
              <a:buFontTx/>
              <a:buNone/>
            </a:pPr>
            <a:r>
              <a:rPr lang="en-US" altLang="en-US" sz="1600">
                <a:solidFill>
                  <a:srgbClr val="00279F"/>
                </a:solidFill>
                <a:latin typeface="바탕" panose="02030600000101010101" pitchFamily="18" charset="-127"/>
              </a:rPr>
              <a:t>       global ns f</a:t>
            </a:r>
          </a:p>
          <a:p>
            <a:pPr>
              <a:buClrTx/>
              <a:buSzTx/>
              <a:buFontTx/>
              <a:buNone/>
            </a:pPr>
            <a:r>
              <a:rPr lang="en-US" altLang="en-US" sz="1600">
                <a:solidFill>
                  <a:srgbClr val="00279F"/>
                </a:solidFill>
                <a:latin typeface="바탕" panose="02030600000101010101" pitchFamily="18" charset="-127"/>
              </a:rPr>
              <a:t>       $ns flush-trace</a:t>
            </a:r>
          </a:p>
          <a:p>
            <a:pPr>
              <a:buClrTx/>
              <a:buSzTx/>
              <a:buFontTx/>
              <a:buNone/>
            </a:pPr>
            <a:r>
              <a:rPr lang="en-US" altLang="en-US" sz="1600">
                <a:solidFill>
                  <a:srgbClr val="00279F"/>
                </a:solidFill>
                <a:latin typeface="바탕" panose="02030600000101010101" pitchFamily="18" charset="-127"/>
              </a:rPr>
              <a:t>       close $f</a:t>
            </a:r>
          </a:p>
          <a:p>
            <a:pPr>
              <a:buClrTx/>
              <a:buSzTx/>
              <a:buFontTx/>
              <a:buNone/>
            </a:pPr>
            <a:r>
              <a:rPr lang="en-US" altLang="en-US" sz="1600">
                <a:solidFill>
                  <a:srgbClr val="00279F"/>
                </a:solidFill>
                <a:latin typeface="바탕" panose="02030600000101010101" pitchFamily="18" charset="-127"/>
              </a:rPr>
              <a:t>       exit 0</a:t>
            </a:r>
          </a:p>
          <a:p>
            <a:pPr>
              <a:buClrTx/>
              <a:buSzTx/>
              <a:buFontTx/>
              <a:buNone/>
            </a:pPr>
            <a:r>
              <a:rPr lang="en-US" altLang="en-US" sz="1600">
                <a:solidFill>
                  <a:srgbClr val="00279F"/>
                </a:solidFill>
                <a:latin typeface="바탕" panose="02030600000101010101" pitchFamily="18" charset="-127"/>
              </a:rPr>
              <a:t>}</a:t>
            </a:r>
          </a:p>
          <a:p>
            <a:pPr>
              <a:buClrTx/>
              <a:buSzTx/>
              <a:buFontTx/>
              <a:buNone/>
            </a:pPr>
            <a:r>
              <a:rPr lang="en-US" altLang="en-US" sz="1600">
                <a:solidFill>
                  <a:srgbClr val="FF0000"/>
                </a:solidFill>
                <a:latin typeface="바탕" panose="02030600000101010101" pitchFamily="18" charset="-127"/>
              </a:rPr>
              <a:t>#Create two nodes</a:t>
            </a:r>
          </a:p>
          <a:p>
            <a:pPr>
              <a:buClrTx/>
              <a:buSzTx/>
              <a:buFontTx/>
              <a:buNone/>
            </a:pPr>
            <a:r>
              <a:rPr lang="en-US" altLang="en-US" sz="1600">
                <a:solidFill>
                  <a:srgbClr val="00279F"/>
                </a:solidFill>
                <a:latin typeface="바탕" panose="02030600000101010101" pitchFamily="18" charset="-127"/>
              </a:rPr>
              <a:t>set n0 [$ns node]</a:t>
            </a:r>
          </a:p>
          <a:p>
            <a:pPr>
              <a:buClrTx/>
              <a:buSzTx/>
              <a:buFontTx/>
              <a:buNone/>
            </a:pPr>
            <a:r>
              <a:rPr lang="en-US" altLang="en-US" sz="1600">
                <a:solidFill>
                  <a:srgbClr val="00279F"/>
                </a:solidFill>
                <a:latin typeface="바탕" panose="02030600000101010101" pitchFamily="18" charset="-127"/>
              </a:rPr>
              <a:t>set n1 [$ns node]</a:t>
            </a:r>
          </a:p>
          <a:p>
            <a:pPr>
              <a:buClrTx/>
              <a:buSzTx/>
              <a:buFontTx/>
              <a:buNone/>
            </a:pPr>
            <a:r>
              <a:rPr lang="en-US" altLang="en-US" sz="1600">
                <a:solidFill>
                  <a:srgbClr val="FF0000"/>
                </a:solidFill>
                <a:latin typeface="바탕" panose="02030600000101010101" pitchFamily="18" charset="-127"/>
              </a:rPr>
              <a:t>#Create a duplex link between the nodes</a:t>
            </a:r>
          </a:p>
          <a:p>
            <a:pPr>
              <a:buClrTx/>
              <a:buSzTx/>
              <a:buFontTx/>
              <a:buNone/>
            </a:pPr>
            <a:r>
              <a:rPr lang="en-US" altLang="en-US" sz="1600">
                <a:solidFill>
                  <a:srgbClr val="00279F"/>
                </a:solidFill>
                <a:latin typeface="바탕" panose="02030600000101010101" pitchFamily="18" charset="-127"/>
              </a:rPr>
              <a:t>$ns duplex-link $n0 $n1 1Mb 10ms DropTail</a:t>
            </a:r>
          </a:p>
          <a:p>
            <a:pPr>
              <a:buClrTx/>
              <a:buSzTx/>
              <a:buFontTx/>
              <a:buNone/>
            </a:pPr>
            <a:r>
              <a:rPr lang="en-US" altLang="en-US" sz="1600">
                <a:solidFill>
                  <a:srgbClr val="FF0000"/>
                </a:solidFill>
                <a:latin typeface="바탕" panose="02030600000101010101" pitchFamily="18" charset="-127"/>
              </a:rPr>
              <a:t>#Call the finish procedure after 5 seconds of simulation time</a:t>
            </a:r>
          </a:p>
          <a:p>
            <a:pPr>
              <a:buClrTx/>
              <a:buSzTx/>
              <a:buFontTx/>
              <a:buNone/>
            </a:pPr>
            <a:r>
              <a:rPr lang="en-US" altLang="en-US" sz="1600">
                <a:solidFill>
                  <a:srgbClr val="00279F"/>
                </a:solidFill>
                <a:latin typeface="바탕" panose="02030600000101010101" pitchFamily="18" charset="-127"/>
              </a:rPr>
              <a:t>$ns at 5.0 "finish"</a:t>
            </a:r>
          </a:p>
          <a:p>
            <a:pPr>
              <a:buClrTx/>
              <a:buSzTx/>
              <a:buFontTx/>
              <a:buNone/>
            </a:pPr>
            <a:r>
              <a:rPr lang="en-US" altLang="en-US" sz="1600">
                <a:solidFill>
                  <a:srgbClr val="FF0000"/>
                </a:solidFill>
                <a:latin typeface="바탕" panose="02030600000101010101" pitchFamily="18" charset="-127"/>
              </a:rPr>
              <a:t>#Run the simulation</a:t>
            </a:r>
          </a:p>
          <a:p>
            <a:pPr>
              <a:buClrTx/>
              <a:buSzTx/>
              <a:buFontTx/>
              <a:buNone/>
            </a:pPr>
            <a:r>
              <a:rPr lang="en-US" altLang="en-US" sz="1600">
                <a:solidFill>
                  <a:srgbClr val="00279F"/>
                </a:solidFill>
                <a:latin typeface="바탕" panose="02030600000101010101" pitchFamily="18" charset="-127"/>
              </a:rPr>
              <a:t>$ns run</a:t>
            </a:r>
          </a:p>
        </p:txBody>
      </p:sp>
      <p:sp>
        <p:nvSpPr>
          <p:cNvPr id="6" name="Rectangular Callout 5"/>
          <p:cNvSpPr>
            <a:spLocks noChangeArrowheads="1"/>
          </p:cNvSpPr>
          <p:nvPr/>
        </p:nvSpPr>
        <p:spPr bwMode="auto">
          <a:xfrm>
            <a:off x="4859338" y="5935664"/>
            <a:ext cx="3492500" cy="612775"/>
          </a:xfrm>
          <a:prstGeom prst="wedgeRectCallout">
            <a:avLst>
              <a:gd name="adj1" fmla="val -99801"/>
              <a:gd name="adj2" fmla="val 41704"/>
            </a:avLst>
          </a:prstGeom>
          <a:solidFill>
            <a:srgbClr val="DEBD30"/>
          </a:solidFill>
          <a:ln w="12700" algn="ctr">
            <a:solidFill>
              <a:srgbClr val="000000"/>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But we have no traffic!</a:t>
            </a:r>
          </a:p>
        </p:txBody>
      </p:sp>
    </p:spTree>
    <p:extLst>
      <p:ext uri="{BB962C8B-B14F-4D97-AF65-F5344CB8AC3E}">
        <p14:creationId xmlns="" xmlns:p14="http://schemas.microsoft.com/office/powerpoint/2010/main" val="1563220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mph" presetSubtype="0" nodeType="clickEffect">
                                  <p:stCondLst>
                                    <p:cond delay="0"/>
                                  </p:stCondLst>
                                  <p:childTnLst>
                                    <p:set>
                                      <p:cBhvr rctx="PPT">
                                        <p:cTn id="6" dur="indefinite"/>
                                        <p:tgtEl>
                                          <p:spTgt spid="5">
                                            <p:txEl>
                                              <p:pRg st="0" end="0"/>
                                            </p:txEl>
                                          </p:spTgt>
                                        </p:tgtEl>
                                        <p:attrNameLst>
                                          <p:attrName>style.opacity</p:attrName>
                                        </p:attrNameLst>
                                      </p:cBhvr>
                                      <p:to>
                                        <p:strVal val="0.25"/>
                                      </p:to>
                                    </p:set>
                                    <p:animEffect filter="image" prLst="opacity: 0.25">
                                      <p:cBhvr rctx="IE">
                                        <p:cTn id="7" dur="indefinite"/>
                                        <p:tgtEl>
                                          <p:spTgt spid="5">
                                            <p:txEl>
                                              <p:pRg st="0" end="0"/>
                                            </p:txEl>
                                          </p:spTgt>
                                        </p:tgtEl>
                                      </p:cBhvr>
                                    </p:animEffect>
                                  </p:childTnLst>
                                </p:cTn>
                              </p:par>
                              <p:par>
                                <p:cTn id="8" presetID="9" presetClass="emph" presetSubtype="0" nodeType="withEffect">
                                  <p:stCondLst>
                                    <p:cond delay="0"/>
                                  </p:stCondLst>
                                  <p:childTnLst>
                                    <p:set>
                                      <p:cBhvr rctx="PPT">
                                        <p:cTn id="9" dur="indefinite"/>
                                        <p:tgtEl>
                                          <p:spTgt spid="5">
                                            <p:txEl>
                                              <p:pRg st="1" end="1"/>
                                            </p:txEl>
                                          </p:spTgt>
                                        </p:tgtEl>
                                        <p:attrNameLst>
                                          <p:attrName>style.opacity</p:attrName>
                                        </p:attrNameLst>
                                      </p:cBhvr>
                                      <p:to>
                                        <p:strVal val="0.25"/>
                                      </p:to>
                                    </p:set>
                                    <p:animEffect filter="image" prLst="opacity: 0.25">
                                      <p:cBhvr rctx="IE">
                                        <p:cTn id="10" dur="indefinite"/>
                                        <p:tgtEl>
                                          <p:spTgt spid="5">
                                            <p:txEl>
                                              <p:pRg st="1" end="1"/>
                                            </p:txEl>
                                          </p:spTgt>
                                        </p:tgtEl>
                                      </p:cBhvr>
                                    </p:animEffect>
                                  </p:childTnLst>
                                </p:cTn>
                              </p:par>
                              <p:par>
                                <p:cTn id="11" presetID="9" presetClass="emph" presetSubtype="0" nodeType="withEffect">
                                  <p:stCondLst>
                                    <p:cond delay="0"/>
                                  </p:stCondLst>
                                  <p:childTnLst>
                                    <p:set>
                                      <p:cBhvr rctx="PPT">
                                        <p:cTn id="12" dur="indefinite"/>
                                        <p:tgtEl>
                                          <p:spTgt spid="5">
                                            <p:txEl>
                                              <p:pRg st="2" end="2"/>
                                            </p:txEl>
                                          </p:spTgt>
                                        </p:tgtEl>
                                        <p:attrNameLst>
                                          <p:attrName>style.opacity</p:attrName>
                                        </p:attrNameLst>
                                      </p:cBhvr>
                                      <p:to>
                                        <p:strVal val="0.25"/>
                                      </p:to>
                                    </p:set>
                                    <p:animEffect filter="image" prLst="opacity: 0.25">
                                      <p:cBhvr rctx="IE">
                                        <p:cTn id="13" dur="indefinite"/>
                                        <p:tgtEl>
                                          <p:spTgt spid="5">
                                            <p:txEl>
                                              <p:pRg st="2" end="2"/>
                                            </p:txEl>
                                          </p:spTgt>
                                        </p:tgtEl>
                                      </p:cBhvr>
                                    </p:animEffect>
                                  </p:childTnLst>
                                </p:cTn>
                              </p:par>
                              <p:par>
                                <p:cTn id="14" presetID="9" presetClass="emph" presetSubtype="0" nodeType="withEffect">
                                  <p:stCondLst>
                                    <p:cond delay="0"/>
                                  </p:stCondLst>
                                  <p:childTnLst>
                                    <p:set>
                                      <p:cBhvr rctx="PPT">
                                        <p:cTn id="15" dur="indefinite"/>
                                        <p:tgtEl>
                                          <p:spTgt spid="5">
                                            <p:txEl>
                                              <p:pRg st="3" end="3"/>
                                            </p:txEl>
                                          </p:spTgt>
                                        </p:tgtEl>
                                        <p:attrNameLst>
                                          <p:attrName>style.opacity</p:attrName>
                                        </p:attrNameLst>
                                      </p:cBhvr>
                                      <p:to>
                                        <p:strVal val="0.25"/>
                                      </p:to>
                                    </p:set>
                                    <p:animEffect filter="image" prLst="opacity: 0.25">
                                      <p:cBhvr rctx="IE">
                                        <p:cTn id="16" dur="indefinite"/>
                                        <p:tgtEl>
                                          <p:spTgt spid="5">
                                            <p:txEl>
                                              <p:pRg st="3" end="3"/>
                                            </p:txEl>
                                          </p:spTgt>
                                        </p:tgtEl>
                                      </p:cBhvr>
                                    </p:animEffect>
                                  </p:childTnLst>
                                </p:cTn>
                              </p:par>
                              <p:par>
                                <p:cTn id="17" presetID="9" presetClass="emph" presetSubtype="0" nodeType="withEffect">
                                  <p:stCondLst>
                                    <p:cond delay="0"/>
                                  </p:stCondLst>
                                  <p:childTnLst>
                                    <p:set>
                                      <p:cBhvr rctx="PPT">
                                        <p:cTn id="18" dur="indefinite"/>
                                        <p:tgtEl>
                                          <p:spTgt spid="5">
                                            <p:txEl>
                                              <p:pRg st="4" end="4"/>
                                            </p:txEl>
                                          </p:spTgt>
                                        </p:tgtEl>
                                        <p:attrNameLst>
                                          <p:attrName>style.opacity</p:attrName>
                                        </p:attrNameLst>
                                      </p:cBhvr>
                                      <p:to>
                                        <p:strVal val="0.25"/>
                                      </p:to>
                                    </p:set>
                                    <p:animEffect filter="image" prLst="opacity: 0.25">
                                      <p:cBhvr rctx="IE">
                                        <p:cTn id="19" dur="indefinite"/>
                                        <p:tgtEl>
                                          <p:spTgt spid="5">
                                            <p:txEl>
                                              <p:pRg st="4" end="4"/>
                                            </p:txEl>
                                          </p:spTgt>
                                        </p:tgtEl>
                                      </p:cBhvr>
                                    </p:animEffect>
                                  </p:childTnLst>
                                </p:cTn>
                              </p:par>
                              <p:par>
                                <p:cTn id="20" presetID="9" presetClass="emph" presetSubtype="0" nodeType="withEffect">
                                  <p:stCondLst>
                                    <p:cond delay="0"/>
                                  </p:stCondLst>
                                  <p:childTnLst>
                                    <p:set>
                                      <p:cBhvr rctx="PPT">
                                        <p:cTn id="21" dur="indefinite"/>
                                        <p:tgtEl>
                                          <p:spTgt spid="5">
                                            <p:txEl>
                                              <p:pRg st="12" end="12"/>
                                            </p:txEl>
                                          </p:spTgt>
                                        </p:tgtEl>
                                        <p:attrNameLst>
                                          <p:attrName>style.opacity</p:attrName>
                                        </p:attrNameLst>
                                      </p:cBhvr>
                                      <p:to>
                                        <p:strVal val="0.25"/>
                                      </p:to>
                                    </p:set>
                                    <p:animEffect filter="image" prLst="opacity: 0.25">
                                      <p:cBhvr rctx="IE">
                                        <p:cTn id="22" dur="indefinite"/>
                                        <p:tgtEl>
                                          <p:spTgt spid="5">
                                            <p:txEl>
                                              <p:pRg st="12" end="12"/>
                                            </p:txEl>
                                          </p:spTgt>
                                        </p:tgtEl>
                                      </p:cBhvr>
                                    </p:animEffect>
                                  </p:childTnLst>
                                </p:cTn>
                              </p:par>
                              <p:par>
                                <p:cTn id="23" presetID="9" presetClass="emph" presetSubtype="0" nodeType="withEffect">
                                  <p:stCondLst>
                                    <p:cond delay="0"/>
                                  </p:stCondLst>
                                  <p:childTnLst>
                                    <p:set>
                                      <p:cBhvr rctx="PPT">
                                        <p:cTn id="24" dur="indefinite"/>
                                        <p:tgtEl>
                                          <p:spTgt spid="5">
                                            <p:txEl>
                                              <p:pRg st="13" end="13"/>
                                            </p:txEl>
                                          </p:spTgt>
                                        </p:tgtEl>
                                        <p:attrNameLst>
                                          <p:attrName>style.opacity</p:attrName>
                                        </p:attrNameLst>
                                      </p:cBhvr>
                                      <p:to>
                                        <p:strVal val="0.25"/>
                                      </p:to>
                                    </p:set>
                                    <p:animEffect filter="image" prLst="opacity: 0.25">
                                      <p:cBhvr rctx="IE">
                                        <p:cTn id="25" dur="indefinite"/>
                                        <p:tgtEl>
                                          <p:spTgt spid="5">
                                            <p:txEl>
                                              <p:pRg st="13" end="13"/>
                                            </p:txEl>
                                          </p:spTgt>
                                        </p:tgtEl>
                                      </p:cBhvr>
                                    </p:animEffect>
                                  </p:childTnLst>
                                </p:cTn>
                              </p:par>
                              <p:par>
                                <p:cTn id="26" presetID="9" presetClass="emph" presetSubtype="0" nodeType="withEffect">
                                  <p:stCondLst>
                                    <p:cond delay="0"/>
                                  </p:stCondLst>
                                  <p:childTnLst>
                                    <p:set>
                                      <p:cBhvr rctx="PPT">
                                        <p:cTn id="27" dur="indefinite"/>
                                        <p:tgtEl>
                                          <p:spTgt spid="5">
                                            <p:txEl>
                                              <p:pRg st="14" end="14"/>
                                            </p:txEl>
                                          </p:spTgt>
                                        </p:tgtEl>
                                        <p:attrNameLst>
                                          <p:attrName>style.opacity</p:attrName>
                                        </p:attrNameLst>
                                      </p:cBhvr>
                                      <p:to>
                                        <p:strVal val="0.25"/>
                                      </p:to>
                                    </p:set>
                                    <p:animEffect filter="image" prLst="opacity: 0.25">
                                      <p:cBhvr rctx="IE">
                                        <p:cTn id="28" dur="indefinite"/>
                                        <p:tgtEl>
                                          <p:spTgt spid="5">
                                            <p:txEl>
                                              <p:pRg st="14" end="14"/>
                                            </p:txEl>
                                          </p:spTgt>
                                        </p:tgtEl>
                                      </p:cBhvr>
                                    </p:animEffect>
                                  </p:childTnLst>
                                </p:cTn>
                              </p:par>
                              <p:par>
                                <p:cTn id="29" presetID="9" presetClass="emph" presetSubtype="0" nodeType="withEffect">
                                  <p:stCondLst>
                                    <p:cond delay="0"/>
                                  </p:stCondLst>
                                  <p:childTnLst>
                                    <p:set>
                                      <p:cBhvr rctx="PPT">
                                        <p:cTn id="30" dur="indefinite"/>
                                        <p:tgtEl>
                                          <p:spTgt spid="5">
                                            <p:txEl>
                                              <p:pRg st="15" end="15"/>
                                            </p:txEl>
                                          </p:spTgt>
                                        </p:tgtEl>
                                        <p:attrNameLst>
                                          <p:attrName>style.opacity</p:attrName>
                                        </p:attrNameLst>
                                      </p:cBhvr>
                                      <p:to>
                                        <p:strVal val="0.25"/>
                                      </p:to>
                                    </p:set>
                                    <p:animEffect filter="image" prLst="opacity: 0.25">
                                      <p:cBhvr rctx="IE">
                                        <p:cTn id="31" dur="indefinite"/>
                                        <p:tgtEl>
                                          <p:spTgt spid="5">
                                            <p:txEl>
                                              <p:pRg st="15" end="15"/>
                                            </p:txEl>
                                          </p:spTgt>
                                        </p:tgtEl>
                                      </p:cBhvr>
                                    </p:animEffect>
                                  </p:childTnLst>
                                </p:cTn>
                              </p:par>
                              <p:par>
                                <p:cTn id="32" presetID="9" presetClass="emph" presetSubtype="0" nodeType="withEffect">
                                  <p:stCondLst>
                                    <p:cond delay="0"/>
                                  </p:stCondLst>
                                  <p:childTnLst>
                                    <p:set>
                                      <p:cBhvr rctx="PPT">
                                        <p:cTn id="33" dur="indefinite"/>
                                        <p:tgtEl>
                                          <p:spTgt spid="5">
                                            <p:txEl>
                                              <p:pRg st="16" end="16"/>
                                            </p:txEl>
                                          </p:spTgt>
                                        </p:tgtEl>
                                        <p:attrNameLst>
                                          <p:attrName>style.opacity</p:attrName>
                                        </p:attrNameLst>
                                      </p:cBhvr>
                                      <p:to>
                                        <p:strVal val="0.25"/>
                                      </p:to>
                                    </p:set>
                                    <p:animEffect filter="image" prLst="opacity: 0.25">
                                      <p:cBhvr rctx="IE">
                                        <p:cTn id="34" dur="indefinite"/>
                                        <p:tgtEl>
                                          <p:spTgt spid="5">
                                            <p:txEl>
                                              <p:pRg st="16" end="1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Adding traffic to the link</a:t>
            </a:r>
          </a:p>
        </p:txBody>
      </p:sp>
      <p:sp>
        <p:nvSpPr>
          <p:cNvPr id="30724" name="Oval 6"/>
          <p:cNvSpPr>
            <a:spLocks noChangeArrowheads="1"/>
          </p:cNvSpPr>
          <p:nvPr/>
        </p:nvSpPr>
        <p:spPr bwMode="auto">
          <a:xfrm>
            <a:off x="4267200" y="1509713"/>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30725" name="Oval 7"/>
          <p:cNvSpPr>
            <a:spLocks noChangeArrowheads="1"/>
          </p:cNvSpPr>
          <p:nvPr/>
        </p:nvSpPr>
        <p:spPr bwMode="auto">
          <a:xfrm>
            <a:off x="7010400" y="1509713"/>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30726" name="Line 8"/>
          <p:cNvSpPr>
            <a:spLocks noChangeShapeType="1"/>
          </p:cNvSpPr>
          <p:nvPr/>
        </p:nvSpPr>
        <p:spPr bwMode="auto">
          <a:xfrm>
            <a:off x="4953000" y="1852613"/>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sp>
        <p:nvSpPr>
          <p:cNvPr id="8" name="Rectangle 9"/>
          <p:cNvSpPr>
            <a:spLocks noChangeArrowheads="1"/>
          </p:cNvSpPr>
          <p:nvPr/>
        </p:nvSpPr>
        <p:spPr bwMode="auto">
          <a:xfrm>
            <a:off x="3962400" y="2347913"/>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udp</a:t>
            </a:r>
          </a:p>
        </p:txBody>
      </p:sp>
      <p:sp>
        <p:nvSpPr>
          <p:cNvPr id="9" name="Line 16"/>
          <p:cNvSpPr>
            <a:spLocks noChangeShapeType="1"/>
          </p:cNvSpPr>
          <p:nvPr/>
        </p:nvSpPr>
        <p:spPr bwMode="auto">
          <a:xfrm flipV="1">
            <a:off x="4343400" y="2119313"/>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10" name="Rectangle 13"/>
          <p:cNvSpPr>
            <a:spLocks noChangeArrowheads="1"/>
          </p:cNvSpPr>
          <p:nvPr/>
        </p:nvSpPr>
        <p:spPr bwMode="auto">
          <a:xfrm>
            <a:off x="2184400" y="3743325"/>
            <a:ext cx="7772400" cy="16002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11" name="Text Box 15"/>
          <p:cNvSpPr txBox="1">
            <a:spLocks noChangeArrowheads="1"/>
          </p:cNvSpPr>
          <p:nvPr/>
        </p:nvSpPr>
        <p:spPr bwMode="auto">
          <a:xfrm>
            <a:off x="2184400" y="3740150"/>
            <a:ext cx="8034572" cy="18158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800">
                <a:solidFill>
                  <a:srgbClr val="FF0000"/>
                </a:solidFill>
                <a:latin typeface="바탕" panose="02030600000101010101" pitchFamily="18" charset="-127"/>
              </a:rPr>
              <a:t>#Create a UDP agent and attach it to node n0</a:t>
            </a:r>
          </a:p>
          <a:p>
            <a:pPr>
              <a:buClrTx/>
              <a:buSzTx/>
              <a:buFontTx/>
              <a:buNone/>
            </a:pPr>
            <a:r>
              <a:rPr lang="en-US" altLang="en-US" sz="2800">
                <a:solidFill>
                  <a:srgbClr val="00279F"/>
                </a:solidFill>
                <a:latin typeface="바탕" panose="02030600000101010101" pitchFamily="18" charset="-127"/>
              </a:rPr>
              <a:t>set udp0 [new Agent/UDP]</a:t>
            </a:r>
          </a:p>
          <a:p>
            <a:pPr>
              <a:buClrTx/>
              <a:buSzTx/>
              <a:buFontTx/>
              <a:buNone/>
            </a:pPr>
            <a:r>
              <a:rPr lang="en-US" altLang="en-US" sz="2800">
                <a:solidFill>
                  <a:srgbClr val="00279F"/>
                </a:solidFill>
                <a:latin typeface="바탕" panose="02030600000101010101" pitchFamily="18" charset="-127"/>
              </a:rPr>
              <a:t>$ns attach-agent $n0 $udp0</a:t>
            </a:r>
          </a:p>
          <a:p>
            <a:pPr>
              <a:buClrTx/>
              <a:buSzTx/>
              <a:buFontTx/>
              <a:buNone/>
            </a:pPr>
            <a:endParaRPr lang="en-US" altLang="en-US" sz="2800">
              <a:solidFill>
                <a:srgbClr val="00279F"/>
              </a:solidFill>
              <a:latin typeface="바탕" panose="02030600000101010101" pitchFamily="18" charset="-127"/>
            </a:endParaRPr>
          </a:p>
        </p:txBody>
      </p:sp>
    </p:spTree>
    <p:extLst>
      <p:ext uri="{BB962C8B-B14F-4D97-AF65-F5344CB8AC3E}">
        <p14:creationId xmlns="" xmlns:p14="http://schemas.microsoft.com/office/powerpoint/2010/main" val="644250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Adding traffic to the link</a:t>
            </a:r>
          </a:p>
        </p:txBody>
      </p:sp>
      <p:sp>
        <p:nvSpPr>
          <p:cNvPr id="32771"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
        <p:nvSpPr>
          <p:cNvPr id="32772" name="Oval 5"/>
          <p:cNvSpPr>
            <a:spLocks noChangeArrowheads="1"/>
          </p:cNvSpPr>
          <p:nvPr/>
        </p:nvSpPr>
        <p:spPr bwMode="auto">
          <a:xfrm>
            <a:off x="4291013" y="1538288"/>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32773" name="Oval 6"/>
          <p:cNvSpPr>
            <a:spLocks noChangeArrowheads="1"/>
          </p:cNvSpPr>
          <p:nvPr/>
        </p:nvSpPr>
        <p:spPr bwMode="auto">
          <a:xfrm>
            <a:off x="7034213" y="1538288"/>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32774" name="Line 7"/>
          <p:cNvSpPr>
            <a:spLocks noChangeShapeType="1"/>
          </p:cNvSpPr>
          <p:nvPr/>
        </p:nvSpPr>
        <p:spPr bwMode="auto">
          <a:xfrm>
            <a:off x="4976813" y="1881188"/>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sp>
        <p:nvSpPr>
          <p:cNvPr id="32775" name="Rectangle 8"/>
          <p:cNvSpPr>
            <a:spLocks noChangeArrowheads="1"/>
          </p:cNvSpPr>
          <p:nvPr/>
        </p:nvSpPr>
        <p:spPr bwMode="auto">
          <a:xfrm>
            <a:off x="3986213" y="2376488"/>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udp</a:t>
            </a:r>
          </a:p>
        </p:txBody>
      </p:sp>
      <p:sp>
        <p:nvSpPr>
          <p:cNvPr id="32776" name="Rectangle 9"/>
          <p:cNvSpPr>
            <a:spLocks noChangeArrowheads="1"/>
          </p:cNvSpPr>
          <p:nvPr/>
        </p:nvSpPr>
        <p:spPr bwMode="auto">
          <a:xfrm>
            <a:off x="1725614" y="3519488"/>
            <a:ext cx="8829675" cy="2817812"/>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32777" name="Text Box 10"/>
          <p:cNvSpPr txBox="1">
            <a:spLocks noChangeArrowheads="1"/>
          </p:cNvSpPr>
          <p:nvPr/>
        </p:nvSpPr>
        <p:spPr bwMode="auto">
          <a:xfrm>
            <a:off x="2341563" y="4005263"/>
            <a:ext cx="184150"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800">
              <a:solidFill>
                <a:srgbClr val="00279F"/>
              </a:solidFill>
              <a:latin typeface="바탕" panose="02030600000101010101" pitchFamily="18" charset="-127"/>
            </a:endParaRPr>
          </a:p>
          <a:p>
            <a:pPr algn="ctr">
              <a:buClrTx/>
              <a:buSzTx/>
              <a:buFontTx/>
              <a:buNone/>
            </a:pPr>
            <a:endParaRPr lang="en-US" altLang="en-US" sz="2800">
              <a:solidFill>
                <a:srgbClr val="00279F"/>
              </a:solidFill>
              <a:latin typeface="바탕" panose="02030600000101010101" pitchFamily="18" charset="-127"/>
            </a:endParaRPr>
          </a:p>
        </p:txBody>
      </p:sp>
      <p:sp>
        <p:nvSpPr>
          <p:cNvPr id="32778" name="Text Box 11"/>
          <p:cNvSpPr txBox="1">
            <a:spLocks noChangeArrowheads="1"/>
          </p:cNvSpPr>
          <p:nvPr/>
        </p:nvSpPr>
        <p:spPr bwMode="auto">
          <a:xfrm>
            <a:off x="2036763" y="3659189"/>
            <a:ext cx="8159750" cy="2185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400">
                <a:solidFill>
                  <a:srgbClr val="FF0000"/>
                </a:solidFill>
                <a:latin typeface="바탕" panose="02030600000101010101" pitchFamily="18" charset="-127"/>
              </a:rPr>
              <a:t># Create a CBR traffic source and attach it to udp0</a:t>
            </a:r>
          </a:p>
          <a:p>
            <a:pPr>
              <a:buClrTx/>
              <a:buSzTx/>
              <a:buFontTx/>
              <a:buNone/>
            </a:pPr>
            <a:r>
              <a:rPr lang="en-US" altLang="en-US" sz="2800">
                <a:solidFill>
                  <a:srgbClr val="00279F"/>
                </a:solidFill>
                <a:latin typeface="바탕" panose="02030600000101010101" pitchFamily="18" charset="-127"/>
              </a:rPr>
              <a:t>set cbr0 [new Application/Traffic/CBR]</a:t>
            </a:r>
          </a:p>
          <a:p>
            <a:pPr>
              <a:buClrTx/>
              <a:buSzTx/>
              <a:buFontTx/>
              <a:buNone/>
            </a:pPr>
            <a:r>
              <a:rPr lang="en-US" altLang="en-US" sz="2800">
                <a:solidFill>
                  <a:srgbClr val="00279F"/>
                </a:solidFill>
                <a:latin typeface="바탕" panose="02030600000101010101" pitchFamily="18" charset="-127"/>
              </a:rPr>
              <a:t>$cbr0 set packetSize_ 500</a:t>
            </a:r>
          </a:p>
          <a:p>
            <a:pPr>
              <a:buClrTx/>
              <a:buSzTx/>
              <a:buFontTx/>
              <a:buNone/>
            </a:pPr>
            <a:r>
              <a:rPr lang="en-US" altLang="en-US" sz="2800">
                <a:solidFill>
                  <a:srgbClr val="00279F"/>
                </a:solidFill>
                <a:latin typeface="바탕" panose="02030600000101010101" pitchFamily="18" charset="-127"/>
              </a:rPr>
              <a:t>$cbr0 set interval_ 0.005</a:t>
            </a:r>
          </a:p>
          <a:p>
            <a:pPr>
              <a:buClrTx/>
              <a:buSzTx/>
              <a:buFontTx/>
              <a:buNone/>
            </a:pPr>
            <a:r>
              <a:rPr lang="en-US" altLang="en-US" sz="2800">
                <a:solidFill>
                  <a:srgbClr val="00279F"/>
                </a:solidFill>
                <a:latin typeface="바탕" panose="02030600000101010101" pitchFamily="18" charset="-127"/>
              </a:rPr>
              <a:t>$cbr0 attach-agent $udp0</a:t>
            </a:r>
          </a:p>
        </p:txBody>
      </p:sp>
      <p:sp>
        <p:nvSpPr>
          <p:cNvPr id="32779" name="Line 12"/>
          <p:cNvSpPr>
            <a:spLocks noChangeShapeType="1"/>
          </p:cNvSpPr>
          <p:nvPr/>
        </p:nvSpPr>
        <p:spPr bwMode="auto">
          <a:xfrm flipV="1">
            <a:off x="4367213" y="2147888"/>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2780" name="Rectangle 13"/>
          <p:cNvSpPr>
            <a:spLocks noChangeArrowheads="1"/>
          </p:cNvSpPr>
          <p:nvPr/>
        </p:nvSpPr>
        <p:spPr bwMode="auto">
          <a:xfrm>
            <a:off x="3579813" y="2998788"/>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cbr</a:t>
            </a:r>
          </a:p>
        </p:txBody>
      </p:sp>
      <p:sp>
        <p:nvSpPr>
          <p:cNvPr id="32781" name="Line 14"/>
          <p:cNvSpPr>
            <a:spLocks noChangeShapeType="1"/>
          </p:cNvSpPr>
          <p:nvPr/>
        </p:nvSpPr>
        <p:spPr bwMode="auto">
          <a:xfrm flipV="1">
            <a:off x="3986213" y="2757488"/>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2782" name="TextBox 1"/>
          <p:cNvSpPr txBox="1">
            <a:spLocks noChangeArrowheads="1"/>
          </p:cNvSpPr>
          <p:nvPr/>
        </p:nvSpPr>
        <p:spPr bwMode="auto">
          <a:xfrm>
            <a:off x="6113276" y="2641601"/>
            <a:ext cx="3453189"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CBR: constant bit rate</a:t>
            </a:r>
          </a:p>
        </p:txBody>
      </p:sp>
    </p:spTree>
    <p:extLst>
      <p:ext uri="{BB962C8B-B14F-4D97-AF65-F5344CB8AC3E}">
        <p14:creationId xmlns="" xmlns:p14="http://schemas.microsoft.com/office/powerpoint/2010/main" val="34427023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t>Adding traffic to the link</a:t>
            </a:r>
          </a:p>
        </p:txBody>
      </p:sp>
      <p:sp>
        <p:nvSpPr>
          <p:cNvPr id="34819"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
        <p:nvSpPr>
          <p:cNvPr id="34820" name="Oval 5"/>
          <p:cNvSpPr>
            <a:spLocks noChangeArrowheads="1"/>
          </p:cNvSpPr>
          <p:nvPr/>
        </p:nvSpPr>
        <p:spPr bwMode="auto">
          <a:xfrm>
            <a:off x="4267200" y="19812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34821" name="Oval 6"/>
          <p:cNvSpPr>
            <a:spLocks noChangeArrowheads="1"/>
          </p:cNvSpPr>
          <p:nvPr/>
        </p:nvSpPr>
        <p:spPr bwMode="auto">
          <a:xfrm>
            <a:off x="7010400" y="198120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34822" name="Line 7"/>
          <p:cNvSpPr>
            <a:spLocks noChangeShapeType="1"/>
          </p:cNvSpPr>
          <p:nvPr/>
        </p:nvSpPr>
        <p:spPr bwMode="auto">
          <a:xfrm>
            <a:off x="4953000" y="2324100"/>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sp>
        <p:nvSpPr>
          <p:cNvPr id="34823" name="Rectangle 8"/>
          <p:cNvSpPr>
            <a:spLocks noChangeArrowheads="1"/>
          </p:cNvSpPr>
          <p:nvPr/>
        </p:nvSpPr>
        <p:spPr bwMode="auto">
          <a:xfrm>
            <a:off x="3962400" y="281940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udp</a:t>
            </a:r>
          </a:p>
        </p:txBody>
      </p:sp>
      <p:sp>
        <p:nvSpPr>
          <p:cNvPr id="34824" name="Text Box 10"/>
          <p:cNvSpPr txBox="1">
            <a:spLocks noChangeArrowheads="1"/>
          </p:cNvSpPr>
          <p:nvPr/>
        </p:nvSpPr>
        <p:spPr bwMode="auto">
          <a:xfrm>
            <a:off x="2317750" y="4448175"/>
            <a:ext cx="184150"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800">
              <a:solidFill>
                <a:srgbClr val="00279F"/>
              </a:solidFill>
              <a:latin typeface="바탕" panose="02030600000101010101" pitchFamily="18" charset="-127"/>
            </a:endParaRPr>
          </a:p>
          <a:p>
            <a:pPr algn="ctr">
              <a:buClrTx/>
              <a:buSzTx/>
              <a:buFontTx/>
              <a:buNone/>
            </a:pPr>
            <a:endParaRPr lang="en-US" altLang="en-US" sz="2800">
              <a:solidFill>
                <a:srgbClr val="00279F"/>
              </a:solidFill>
              <a:latin typeface="바탕" panose="02030600000101010101" pitchFamily="18" charset="-127"/>
            </a:endParaRPr>
          </a:p>
        </p:txBody>
      </p:sp>
      <p:sp>
        <p:nvSpPr>
          <p:cNvPr id="34825" name="Line 12"/>
          <p:cNvSpPr>
            <a:spLocks noChangeShapeType="1"/>
          </p:cNvSpPr>
          <p:nvPr/>
        </p:nvSpPr>
        <p:spPr bwMode="auto">
          <a:xfrm flipV="1">
            <a:off x="4343400" y="2590800"/>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4826" name="Rectangle 13"/>
          <p:cNvSpPr>
            <a:spLocks noChangeArrowheads="1"/>
          </p:cNvSpPr>
          <p:nvPr/>
        </p:nvSpPr>
        <p:spPr bwMode="auto">
          <a:xfrm>
            <a:off x="3556000" y="344170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cbr</a:t>
            </a:r>
          </a:p>
        </p:txBody>
      </p:sp>
      <p:sp>
        <p:nvSpPr>
          <p:cNvPr id="34827" name="Line 14"/>
          <p:cNvSpPr>
            <a:spLocks noChangeShapeType="1"/>
          </p:cNvSpPr>
          <p:nvPr/>
        </p:nvSpPr>
        <p:spPr bwMode="auto">
          <a:xfrm flipV="1">
            <a:off x="3962400" y="3200400"/>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13" name="Rectangle 15"/>
          <p:cNvSpPr>
            <a:spLocks noChangeArrowheads="1"/>
          </p:cNvSpPr>
          <p:nvPr/>
        </p:nvSpPr>
        <p:spPr bwMode="auto">
          <a:xfrm>
            <a:off x="2184400" y="4343400"/>
            <a:ext cx="7772400" cy="19812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14" name="Text Box 16"/>
          <p:cNvSpPr txBox="1">
            <a:spLocks noChangeArrowheads="1"/>
          </p:cNvSpPr>
          <p:nvPr/>
        </p:nvSpPr>
        <p:spPr bwMode="auto">
          <a:xfrm>
            <a:off x="2317750" y="4448175"/>
            <a:ext cx="7162538" cy="18158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800">
                <a:solidFill>
                  <a:srgbClr val="FF0000"/>
                </a:solidFill>
                <a:latin typeface="바탕" panose="02030600000101010101" pitchFamily="18" charset="-127"/>
              </a:rPr>
              <a:t>#Create a Null agent (a traffic sink) and </a:t>
            </a:r>
          </a:p>
          <a:p>
            <a:pPr>
              <a:buClrTx/>
              <a:buSzTx/>
              <a:buFontTx/>
              <a:buNone/>
            </a:pPr>
            <a:r>
              <a:rPr lang="en-US" altLang="en-US" sz="2800">
                <a:solidFill>
                  <a:srgbClr val="FF0000"/>
                </a:solidFill>
                <a:latin typeface="바탕" panose="02030600000101010101" pitchFamily="18" charset="-127"/>
              </a:rPr>
              <a:t>attach it to node n1</a:t>
            </a:r>
          </a:p>
          <a:p>
            <a:pPr>
              <a:buClrTx/>
              <a:buSzTx/>
              <a:buFontTx/>
              <a:buNone/>
            </a:pPr>
            <a:r>
              <a:rPr lang="en-US" altLang="en-US" sz="2800">
                <a:solidFill>
                  <a:srgbClr val="00279F"/>
                </a:solidFill>
                <a:latin typeface="바탕" panose="02030600000101010101" pitchFamily="18" charset="-127"/>
              </a:rPr>
              <a:t>set null0 [new Agent/Null]</a:t>
            </a:r>
          </a:p>
          <a:p>
            <a:pPr>
              <a:buClrTx/>
              <a:buSzTx/>
              <a:buFontTx/>
              <a:buNone/>
            </a:pPr>
            <a:r>
              <a:rPr lang="en-US" altLang="en-US" sz="2800">
                <a:solidFill>
                  <a:srgbClr val="00279F"/>
                </a:solidFill>
                <a:latin typeface="바탕" panose="02030600000101010101" pitchFamily="18" charset="-127"/>
              </a:rPr>
              <a:t>$ns attach-agent $n1 $null0</a:t>
            </a:r>
          </a:p>
        </p:txBody>
      </p:sp>
      <p:sp>
        <p:nvSpPr>
          <p:cNvPr id="34830" name="Rectangle 17"/>
          <p:cNvSpPr>
            <a:spLocks noChangeArrowheads="1"/>
          </p:cNvSpPr>
          <p:nvPr/>
        </p:nvSpPr>
        <p:spPr bwMode="auto">
          <a:xfrm>
            <a:off x="7391400" y="281940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null</a:t>
            </a:r>
          </a:p>
        </p:txBody>
      </p:sp>
      <p:sp>
        <p:nvSpPr>
          <p:cNvPr id="34831" name="Line 18"/>
          <p:cNvSpPr>
            <a:spLocks noChangeShapeType="1"/>
          </p:cNvSpPr>
          <p:nvPr/>
        </p:nvSpPr>
        <p:spPr bwMode="auto">
          <a:xfrm>
            <a:off x="7543800" y="2590800"/>
            <a:ext cx="1524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Tree>
    <p:extLst>
      <p:ext uri="{BB962C8B-B14F-4D97-AF65-F5344CB8AC3E}">
        <p14:creationId xmlns="" xmlns:p14="http://schemas.microsoft.com/office/powerpoint/2010/main" val="38267931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Adding traffic to the link</a:t>
            </a:r>
          </a:p>
        </p:txBody>
      </p:sp>
      <p:sp>
        <p:nvSpPr>
          <p:cNvPr id="36867"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
        <p:nvSpPr>
          <p:cNvPr id="36868" name="Oval 5"/>
          <p:cNvSpPr>
            <a:spLocks noChangeArrowheads="1"/>
          </p:cNvSpPr>
          <p:nvPr/>
        </p:nvSpPr>
        <p:spPr bwMode="auto">
          <a:xfrm>
            <a:off x="4240213" y="156845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n0</a:t>
            </a:r>
          </a:p>
        </p:txBody>
      </p:sp>
      <p:sp>
        <p:nvSpPr>
          <p:cNvPr id="36869" name="Oval 6"/>
          <p:cNvSpPr>
            <a:spLocks noChangeArrowheads="1"/>
          </p:cNvSpPr>
          <p:nvPr/>
        </p:nvSpPr>
        <p:spPr bwMode="auto">
          <a:xfrm>
            <a:off x="6983413" y="1568450"/>
            <a:ext cx="685800" cy="685800"/>
          </a:xfrm>
          <a:prstGeom prst="ellipse">
            <a:avLst/>
          </a:prstGeom>
          <a:solidFill>
            <a:schemeClr val="accent1"/>
          </a:solidFill>
          <a:ln w="9525">
            <a:solidFill>
              <a:schemeClr val="tx1"/>
            </a:solidFill>
            <a:round/>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n1</a:t>
            </a:r>
          </a:p>
        </p:txBody>
      </p:sp>
      <p:sp>
        <p:nvSpPr>
          <p:cNvPr id="36870" name="Line 7"/>
          <p:cNvSpPr>
            <a:spLocks noChangeShapeType="1"/>
          </p:cNvSpPr>
          <p:nvPr/>
        </p:nvSpPr>
        <p:spPr bwMode="auto">
          <a:xfrm>
            <a:off x="4926013" y="1911350"/>
            <a:ext cx="2057400" cy="0"/>
          </a:xfrm>
          <a:prstGeom prst="line">
            <a:avLst/>
          </a:prstGeom>
          <a:noFill/>
          <a:ln w="38100">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en-IN"/>
          </a:p>
        </p:txBody>
      </p:sp>
      <p:sp>
        <p:nvSpPr>
          <p:cNvPr id="36871" name="Rectangle 8"/>
          <p:cNvSpPr>
            <a:spLocks noChangeArrowheads="1"/>
          </p:cNvSpPr>
          <p:nvPr/>
        </p:nvSpPr>
        <p:spPr bwMode="auto">
          <a:xfrm>
            <a:off x="3935413" y="240665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udp</a:t>
            </a:r>
          </a:p>
        </p:txBody>
      </p:sp>
      <p:sp>
        <p:nvSpPr>
          <p:cNvPr id="36872" name="Text Box 9"/>
          <p:cNvSpPr txBox="1">
            <a:spLocks noChangeArrowheads="1"/>
          </p:cNvSpPr>
          <p:nvPr/>
        </p:nvSpPr>
        <p:spPr bwMode="auto">
          <a:xfrm>
            <a:off x="2290763" y="4035425"/>
            <a:ext cx="184150" cy="94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800">
              <a:solidFill>
                <a:srgbClr val="00279F"/>
              </a:solidFill>
              <a:latin typeface="바탕" panose="02030600000101010101" pitchFamily="18" charset="-127"/>
            </a:endParaRPr>
          </a:p>
          <a:p>
            <a:pPr algn="ctr">
              <a:buClrTx/>
              <a:buSzTx/>
              <a:buFontTx/>
              <a:buNone/>
            </a:pPr>
            <a:endParaRPr lang="en-US" altLang="en-US" sz="2800">
              <a:solidFill>
                <a:srgbClr val="00279F"/>
              </a:solidFill>
              <a:latin typeface="바탕" panose="02030600000101010101" pitchFamily="18" charset="-127"/>
            </a:endParaRPr>
          </a:p>
        </p:txBody>
      </p:sp>
      <p:sp>
        <p:nvSpPr>
          <p:cNvPr id="36873" name="Line 10"/>
          <p:cNvSpPr>
            <a:spLocks noChangeShapeType="1"/>
          </p:cNvSpPr>
          <p:nvPr/>
        </p:nvSpPr>
        <p:spPr bwMode="auto">
          <a:xfrm flipV="1">
            <a:off x="4316413" y="2178050"/>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6874" name="Rectangle 11"/>
          <p:cNvSpPr>
            <a:spLocks noChangeArrowheads="1"/>
          </p:cNvSpPr>
          <p:nvPr/>
        </p:nvSpPr>
        <p:spPr bwMode="auto">
          <a:xfrm>
            <a:off x="3529013" y="302895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cbr</a:t>
            </a:r>
          </a:p>
        </p:txBody>
      </p:sp>
      <p:sp>
        <p:nvSpPr>
          <p:cNvPr id="36875" name="Line 12"/>
          <p:cNvSpPr>
            <a:spLocks noChangeShapeType="1"/>
          </p:cNvSpPr>
          <p:nvPr/>
        </p:nvSpPr>
        <p:spPr bwMode="auto">
          <a:xfrm flipV="1">
            <a:off x="3935413" y="2787650"/>
            <a:ext cx="762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6876" name="Rectangle 13"/>
          <p:cNvSpPr>
            <a:spLocks noChangeArrowheads="1"/>
          </p:cNvSpPr>
          <p:nvPr/>
        </p:nvSpPr>
        <p:spPr bwMode="auto">
          <a:xfrm>
            <a:off x="2157413" y="3778250"/>
            <a:ext cx="7772400" cy="2630488"/>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36877" name="Text Box 14"/>
          <p:cNvSpPr txBox="1">
            <a:spLocks noChangeArrowheads="1"/>
          </p:cNvSpPr>
          <p:nvPr/>
        </p:nvSpPr>
        <p:spPr bwMode="auto">
          <a:xfrm>
            <a:off x="2290764" y="3790950"/>
            <a:ext cx="7237879" cy="2677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r>
              <a:rPr lang="en-US" altLang="en-US" sz="2400">
                <a:solidFill>
                  <a:srgbClr val="FF0000"/>
                </a:solidFill>
                <a:latin typeface="바탕" panose="02030600000101010101" pitchFamily="18" charset="-127"/>
              </a:rPr>
              <a:t>#Connect the traffic source with the traffic sink</a:t>
            </a:r>
          </a:p>
          <a:p>
            <a:pPr>
              <a:buClrTx/>
              <a:buSzTx/>
              <a:buFontTx/>
              <a:buNone/>
            </a:pPr>
            <a:r>
              <a:rPr lang="en-US" altLang="en-US" sz="2400">
                <a:solidFill>
                  <a:srgbClr val="00279F"/>
                </a:solidFill>
                <a:latin typeface="바탕" panose="02030600000101010101" pitchFamily="18" charset="-127"/>
              </a:rPr>
              <a:t>$ns connect $udp0 $null0</a:t>
            </a:r>
          </a:p>
          <a:p>
            <a:pPr>
              <a:buClrTx/>
              <a:buSzTx/>
              <a:buFontTx/>
              <a:buNone/>
            </a:pPr>
            <a:r>
              <a:rPr lang="en-US" altLang="en-US" sz="2400">
                <a:solidFill>
                  <a:srgbClr val="FF0000"/>
                </a:solidFill>
                <a:latin typeface="바탕" panose="02030600000101010101" pitchFamily="18" charset="-127"/>
              </a:rPr>
              <a:t>#Schedule events for the CBR agent</a:t>
            </a:r>
          </a:p>
          <a:p>
            <a:pPr>
              <a:buClrTx/>
              <a:buSzTx/>
              <a:buFontTx/>
              <a:buNone/>
            </a:pPr>
            <a:r>
              <a:rPr lang="en-US" altLang="en-US" sz="2400">
                <a:solidFill>
                  <a:srgbClr val="00279F"/>
                </a:solidFill>
                <a:latin typeface="바탕" panose="02030600000101010101" pitchFamily="18" charset="-127"/>
              </a:rPr>
              <a:t>$ns at 0.5 "$cbr0 start"</a:t>
            </a:r>
          </a:p>
          <a:p>
            <a:pPr>
              <a:buClrTx/>
              <a:buSzTx/>
              <a:buFontTx/>
              <a:buNone/>
            </a:pPr>
            <a:r>
              <a:rPr lang="en-US" altLang="en-US" sz="2400">
                <a:solidFill>
                  <a:srgbClr val="00279F"/>
                </a:solidFill>
                <a:latin typeface="바탕" panose="02030600000101010101" pitchFamily="18" charset="-127"/>
              </a:rPr>
              <a:t>$ns at 4.5 "$cbr0 stop”</a:t>
            </a:r>
          </a:p>
          <a:p>
            <a:pPr>
              <a:buClrTx/>
              <a:buSzTx/>
              <a:buFontTx/>
              <a:buNone/>
            </a:pPr>
            <a:r>
              <a:rPr lang="en-US" altLang="en-US" sz="2400">
                <a:solidFill>
                  <a:srgbClr val="00279F"/>
                </a:solidFill>
                <a:latin typeface="바탕" panose="02030600000101010101" pitchFamily="18" charset="-127"/>
              </a:rPr>
              <a:t>$ns at 5.0 "finish"</a:t>
            </a:r>
          </a:p>
          <a:p>
            <a:pPr>
              <a:buClrTx/>
              <a:buSzTx/>
              <a:buFontTx/>
              <a:buNone/>
            </a:pPr>
            <a:r>
              <a:rPr lang="en-US" altLang="en-US" sz="2400">
                <a:solidFill>
                  <a:srgbClr val="00279F"/>
                </a:solidFill>
                <a:latin typeface="바탕" panose="02030600000101010101" pitchFamily="18" charset="-127"/>
              </a:rPr>
              <a:t>$ns run</a:t>
            </a:r>
          </a:p>
        </p:txBody>
      </p:sp>
      <p:sp>
        <p:nvSpPr>
          <p:cNvPr id="36878" name="Rectangle 15"/>
          <p:cNvSpPr>
            <a:spLocks noChangeArrowheads="1"/>
          </p:cNvSpPr>
          <p:nvPr/>
        </p:nvSpPr>
        <p:spPr bwMode="auto">
          <a:xfrm>
            <a:off x="7364413" y="2406650"/>
            <a:ext cx="838200" cy="381000"/>
          </a:xfrm>
          <a:prstGeom prst="rect">
            <a:avLst/>
          </a:prstGeom>
          <a:solidFill>
            <a:srgbClr val="A7EFF1"/>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400">
                <a:solidFill>
                  <a:srgbClr val="00279F"/>
                </a:solidFill>
                <a:latin typeface="바탕" panose="02030600000101010101" pitchFamily="18" charset="-127"/>
              </a:rPr>
              <a:t>null</a:t>
            </a:r>
          </a:p>
        </p:txBody>
      </p:sp>
      <p:sp>
        <p:nvSpPr>
          <p:cNvPr id="36879" name="Line 16"/>
          <p:cNvSpPr>
            <a:spLocks noChangeShapeType="1"/>
          </p:cNvSpPr>
          <p:nvPr/>
        </p:nvSpPr>
        <p:spPr bwMode="auto">
          <a:xfrm>
            <a:off x="7516813" y="2178050"/>
            <a:ext cx="152400" cy="228600"/>
          </a:xfrm>
          <a:prstGeom prst="line">
            <a:avLst/>
          </a:prstGeom>
          <a:noFill/>
          <a:ln w="9525">
            <a:solidFill>
              <a:schemeClr val="tx1"/>
            </a:solidFill>
            <a:prstDash val="sysDot"/>
            <a:round/>
            <a:headEnd/>
            <a:tailEnd/>
          </a:ln>
          <a:extLst>
            <a:ext uri="{909E8E84-426E-40DD-AFC4-6F175D3DCCD1}">
              <a14:hiddenFill xmlns="" xmlns:a14="http://schemas.microsoft.com/office/drawing/2010/main">
                <a:noFill/>
              </a14:hiddenFill>
            </a:ext>
          </a:extLst>
        </p:spPr>
        <p:txBody>
          <a:bodyPr/>
          <a:lstStyle/>
          <a:p>
            <a:endParaRPr lang="en-IN"/>
          </a:p>
        </p:txBody>
      </p:sp>
      <p:sp>
        <p:nvSpPr>
          <p:cNvPr id="36880" name="Line 17"/>
          <p:cNvSpPr>
            <a:spLocks noChangeShapeType="1"/>
          </p:cNvSpPr>
          <p:nvPr/>
        </p:nvSpPr>
        <p:spPr bwMode="auto">
          <a:xfrm>
            <a:off x="4773613" y="2635250"/>
            <a:ext cx="2590800" cy="0"/>
          </a:xfrm>
          <a:prstGeom prst="line">
            <a:avLst/>
          </a:prstGeom>
          <a:noFill/>
          <a:ln w="38100">
            <a:solidFill>
              <a:schemeClr val="tx1"/>
            </a:solidFill>
            <a:prstDash val="dash"/>
            <a:round/>
            <a:headEnd/>
            <a:tailEnd type="triangle" w="med" len="med"/>
          </a:ln>
          <a:extLst>
            <a:ext uri="{909E8E84-426E-40DD-AFC4-6F175D3DCCD1}">
              <a14:hiddenFill xmlns="" xmlns:a14="http://schemas.microsoft.com/office/drawing/2010/main">
                <a:noFill/>
              </a14:hiddenFill>
            </a:ext>
          </a:extLst>
        </p:spPr>
        <p:txBody>
          <a:bodyPr/>
          <a:lstStyle/>
          <a:p>
            <a:endParaRPr lang="en-IN"/>
          </a:p>
        </p:txBody>
      </p:sp>
    </p:spTree>
    <p:extLst>
      <p:ext uri="{BB962C8B-B14F-4D97-AF65-F5344CB8AC3E}">
        <p14:creationId xmlns="" xmlns:p14="http://schemas.microsoft.com/office/powerpoint/2010/main" val="32600095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889F723B-9E19-4073-80E4-5CD6A588EBAF}" type="slidenum">
              <a:rPr lang="en-US" altLang="en-US"/>
              <a:pPr/>
              <a:t>18</a:t>
            </a:fld>
            <a:endParaRPr lang="en-US" altLang="en-US"/>
          </a:p>
        </p:txBody>
      </p:sp>
      <p:sp>
        <p:nvSpPr>
          <p:cNvPr id="33794" name="Rectangle 2"/>
          <p:cNvSpPr>
            <a:spLocks noGrp="1" noChangeArrowheads="1"/>
          </p:cNvSpPr>
          <p:nvPr>
            <p:ph type="title"/>
          </p:nvPr>
        </p:nvSpPr>
        <p:spPr/>
        <p:txBody>
          <a:bodyPr/>
          <a:lstStyle/>
          <a:p>
            <a:r>
              <a:rPr lang="en-US" altLang="en-US" sz="4000"/>
              <a:t>Creating Connection and Traffic</a:t>
            </a:r>
          </a:p>
        </p:txBody>
      </p:sp>
      <p:sp>
        <p:nvSpPr>
          <p:cNvPr id="33795" name="Rectangle 3"/>
          <p:cNvSpPr>
            <a:spLocks noGrp="1" noChangeArrowheads="1"/>
          </p:cNvSpPr>
          <p:nvPr>
            <p:ph type="body" sz="half" idx="1"/>
          </p:nvPr>
        </p:nvSpPr>
        <p:spPr>
          <a:xfrm>
            <a:off x="2362200" y="1981200"/>
            <a:ext cx="3886200" cy="4114800"/>
          </a:xfrm>
        </p:spPr>
        <p:txBody>
          <a:bodyPr/>
          <a:lstStyle/>
          <a:p>
            <a:r>
              <a:rPr lang="en-US" altLang="en-US"/>
              <a:t>UDP</a:t>
            </a:r>
          </a:p>
          <a:p>
            <a:pPr>
              <a:buFont typeface="Wingdings" panose="05000000000000000000" pitchFamily="2" charset="2"/>
              <a:buNone/>
            </a:pPr>
            <a:r>
              <a:rPr lang="en-US" altLang="en-US" sz="2400"/>
              <a:t>set udp [new Agent/UDP]</a:t>
            </a:r>
          </a:p>
          <a:p>
            <a:pPr>
              <a:buFont typeface="Wingdings" panose="05000000000000000000" pitchFamily="2" charset="2"/>
              <a:buNone/>
            </a:pPr>
            <a:r>
              <a:rPr lang="en-US" altLang="en-US" sz="2400"/>
              <a:t>set null [new Agent/Null]</a:t>
            </a:r>
          </a:p>
          <a:p>
            <a:pPr>
              <a:buFont typeface="Wingdings" panose="05000000000000000000" pitchFamily="2" charset="2"/>
              <a:buNone/>
            </a:pPr>
            <a:r>
              <a:rPr lang="en-US" altLang="en-US" sz="2400"/>
              <a:t>$ns attach-agent $n0 $udp</a:t>
            </a:r>
          </a:p>
          <a:p>
            <a:pPr>
              <a:buFont typeface="Wingdings" panose="05000000000000000000" pitchFamily="2" charset="2"/>
              <a:buNone/>
            </a:pPr>
            <a:r>
              <a:rPr lang="en-US" altLang="en-US" sz="2400"/>
              <a:t>$ns attach-agent $n1 $null</a:t>
            </a:r>
          </a:p>
          <a:p>
            <a:pPr>
              <a:buFont typeface="Wingdings" panose="05000000000000000000" pitchFamily="2" charset="2"/>
              <a:buNone/>
            </a:pPr>
            <a:r>
              <a:rPr lang="en-US" altLang="en-US" sz="2400"/>
              <a:t>$ns connect $udp $null</a:t>
            </a:r>
          </a:p>
        </p:txBody>
      </p:sp>
      <p:sp>
        <p:nvSpPr>
          <p:cNvPr id="33796" name="Rectangle 4"/>
          <p:cNvSpPr>
            <a:spLocks noGrp="1" noChangeArrowheads="1"/>
          </p:cNvSpPr>
          <p:nvPr>
            <p:ph type="body" sz="half" idx="2"/>
          </p:nvPr>
        </p:nvSpPr>
        <p:spPr>
          <a:xfrm>
            <a:off x="6248400" y="1981200"/>
            <a:ext cx="4419600" cy="4114800"/>
          </a:xfrm>
        </p:spPr>
        <p:txBody>
          <a:bodyPr/>
          <a:lstStyle/>
          <a:p>
            <a:r>
              <a:rPr lang="en-US" altLang="en-US" dirty="0"/>
              <a:t>CBR</a:t>
            </a:r>
          </a:p>
          <a:p>
            <a:pPr>
              <a:buFont typeface="Wingdings" panose="05000000000000000000" pitchFamily="2" charset="2"/>
              <a:buNone/>
            </a:pPr>
            <a:r>
              <a:rPr lang="en-US" altLang="en-US" sz="2400" dirty="0"/>
              <a:t>set </a:t>
            </a:r>
            <a:r>
              <a:rPr lang="en-US" altLang="en-US" sz="2400" dirty="0" err="1"/>
              <a:t>src</a:t>
            </a:r>
            <a:r>
              <a:rPr lang="en-US" altLang="en-US" sz="2400" dirty="0"/>
              <a:t> [new Application/Traffic/CBR]</a:t>
            </a:r>
          </a:p>
          <a:p>
            <a:pPr>
              <a:buFont typeface="Wingdings" panose="05000000000000000000" pitchFamily="2" charset="2"/>
              <a:buNone/>
            </a:pPr>
            <a:endParaRPr lang="en-US" altLang="en-US" sz="2000" dirty="0"/>
          </a:p>
        </p:txBody>
      </p:sp>
    </p:spTree>
    <p:extLst>
      <p:ext uri="{BB962C8B-B14F-4D97-AF65-F5344CB8AC3E}">
        <p14:creationId xmlns="" xmlns:p14="http://schemas.microsoft.com/office/powerpoint/2010/main" val="23360657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endParaRPr lang="en-IN" dirty="0"/>
          </a:p>
        </p:txBody>
      </p:sp>
      <p:sp>
        <p:nvSpPr>
          <p:cNvPr id="5122" name="AutoShape 2" descr="Image result for image of nam in ns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124" name="AutoShape 4" descr="Image result for image of nam in ns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126" name="AutoShape 6" descr="Image result for image of nam in ns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128" name="AutoShape 8" descr="Image result for image of nam in ns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45058" name="AutoShape 2" descr="Image result for images of nam in ns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5059" name="Picture 3"/>
          <p:cNvPicPr>
            <a:picLocks noChangeAspect="1" noChangeArrowheads="1"/>
          </p:cNvPicPr>
          <p:nvPr/>
        </p:nvPicPr>
        <p:blipFill>
          <a:blip r:embed="rId2"/>
          <a:srcRect/>
          <a:stretch>
            <a:fillRect/>
          </a:stretch>
        </p:blipFill>
        <p:spPr bwMode="auto">
          <a:xfrm>
            <a:off x="1143001" y="350520"/>
            <a:ext cx="7996238" cy="62331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75157" y="1"/>
          <a:ext cx="11260900" cy="6151682"/>
        </p:xfrm>
        <a:graphic>
          <a:graphicData uri="http://schemas.openxmlformats.org/drawingml/2006/table">
            <a:tbl>
              <a:tblPr/>
              <a:tblGrid>
                <a:gridCol w="11260900"/>
              </a:tblGrid>
              <a:tr h="6151682">
                <a:tc>
                  <a:txBody>
                    <a:bodyPr/>
                    <a:lstStyle/>
                    <a:p>
                      <a:pPr>
                        <a:lnSpc>
                          <a:spcPct val="115000"/>
                        </a:lnSpc>
                        <a:spcAft>
                          <a:spcPts val="0"/>
                        </a:spcAft>
                      </a:pPr>
                      <a:r>
                        <a:rPr lang="en-IN" sz="1800" dirty="0">
                          <a:solidFill>
                            <a:srgbClr val="000000"/>
                          </a:solidFill>
                          <a:latin typeface="Times New Roman" pitchFamily="18" charset="0"/>
                          <a:ea typeface="Times New Roman"/>
                          <a:cs typeface="Times New Roman" pitchFamily="18" charset="0"/>
                        </a:rPr>
                        <a:t>set ns [new Simulator]</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set </a:t>
                      </a:r>
                      <a:r>
                        <a:rPr lang="en-IN" sz="1800" dirty="0" err="1">
                          <a:solidFill>
                            <a:srgbClr val="000000"/>
                          </a:solidFill>
                          <a:latin typeface="Times New Roman" pitchFamily="18" charset="0"/>
                          <a:ea typeface="Times New Roman"/>
                          <a:cs typeface="Times New Roman" pitchFamily="18" charset="0"/>
                        </a:rPr>
                        <a:t>nf</a:t>
                      </a:r>
                      <a:r>
                        <a:rPr lang="en-IN" sz="1800" dirty="0">
                          <a:solidFill>
                            <a:srgbClr val="000000"/>
                          </a:solidFill>
                          <a:latin typeface="Times New Roman" pitchFamily="18" charset="0"/>
                          <a:ea typeface="Times New Roman"/>
                          <a:cs typeface="Times New Roman" pitchFamily="18" charset="0"/>
                        </a:rPr>
                        <a:t> [open out.nam w]</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$ns </a:t>
                      </a:r>
                      <a:r>
                        <a:rPr lang="en-IN" sz="1800" dirty="0" err="1">
                          <a:solidFill>
                            <a:srgbClr val="000000"/>
                          </a:solidFill>
                          <a:latin typeface="Times New Roman" pitchFamily="18" charset="0"/>
                          <a:ea typeface="Times New Roman"/>
                          <a:cs typeface="Times New Roman" pitchFamily="18" charset="0"/>
                        </a:rPr>
                        <a:t>namtrace</a:t>
                      </a:r>
                      <a:r>
                        <a:rPr lang="en-IN" sz="1800" dirty="0">
                          <a:solidFill>
                            <a:srgbClr val="000000"/>
                          </a:solidFill>
                          <a:latin typeface="Times New Roman" pitchFamily="18" charset="0"/>
                          <a:ea typeface="Times New Roman"/>
                          <a:cs typeface="Times New Roman" pitchFamily="18" charset="0"/>
                        </a:rPr>
                        <a:t>-all $</a:t>
                      </a:r>
                      <a:r>
                        <a:rPr lang="en-IN" sz="1800" dirty="0" err="1">
                          <a:solidFill>
                            <a:srgbClr val="000000"/>
                          </a:solidFill>
                          <a:latin typeface="Times New Roman" pitchFamily="18" charset="0"/>
                          <a:ea typeface="Times New Roman"/>
                          <a:cs typeface="Times New Roman" pitchFamily="18" charset="0"/>
                        </a:rPr>
                        <a:t>nf</a:t>
                      </a:r>
                      <a:r>
                        <a:rPr lang="en-IN" sz="1800" dirty="0">
                          <a:solidFill>
                            <a:srgbClr val="000000"/>
                          </a:solidFill>
                          <a:latin typeface="Times New Roman" pitchFamily="18" charset="0"/>
                          <a:ea typeface="Times New Roman"/>
                          <a:cs typeface="Times New Roman" pitchFamily="18" charset="0"/>
                        </a:rPr>
                        <a:t/>
                      </a:r>
                      <a:br>
                        <a:rPr lang="en-IN" sz="1800" dirty="0">
                          <a:solidFill>
                            <a:srgbClr val="000000"/>
                          </a:solidFill>
                          <a:latin typeface="Times New Roman" pitchFamily="18" charset="0"/>
                          <a:ea typeface="Times New Roman"/>
                          <a:cs typeface="Times New Roman" pitchFamily="18" charset="0"/>
                        </a:rPr>
                      </a:br>
                      <a:r>
                        <a:rPr lang="en-IN" sz="1800" dirty="0" smtClean="0">
                          <a:solidFill>
                            <a:srgbClr val="000000"/>
                          </a:solidFill>
                          <a:latin typeface="Times New Roman" pitchFamily="18" charset="0"/>
                          <a:ea typeface="Times New Roman"/>
                          <a:cs typeface="Times New Roman" pitchFamily="18" charset="0"/>
                        </a:rPr>
                        <a:t>proc </a:t>
                      </a:r>
                      <a:r>
                        <a:rPr lang="en-IN" sz="1800" dirty="0">
                          <a:solidFill>
                            <a:srgbClr val="000000"/>
                          </a:solidFill>
                          <a:latin typeface="Times New Roman" pitchFamily="18" charset="0"/>
                          <a:ea typeface="Times New Roman"/>
                          <a:cs typeface="Times New Roman" pitchFamily="18" charset="0"/>
                        </a:rPr>
                        <a:t>finish {} {</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global ns </a:t>
                      </a:r>
                      <a:r>
                        <a:rPr lang="en-IN" sz="1800" dirty="0" err="1">
                          <a:solidFill>
                            <a:srgbClr val="000000"/>
                          </a:solidFill>
                          <a:latin typeface="Times New Roman" pitchFamily="18" charset="0"/>
                          <a:ea typeface="Times New Roman"/>
                          <a:cs typeface="Times New Roman" pitchFamily="18" charset="0"/>
                        </a:rPr>
                        <a:t>nf</a:t>
                      </a:r>
                      <a:r>
                        <a:rPr lang="en-IN" sz="1800" dirty="0">
                          <a:solidFill>
                            <a:srgbClr val="000000"/>
                          </a:solidFill>
                          <a:latin typeface="Times New Roman" pitchFamily="18" charset="0"/>
                          <a:ea typeface="Times New Roman"/>
                          <a:cs typeface="Times New Roman" pitchFamily="18" charset="0"/>
                        </a:rPr>
                        <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$ns flush-trace</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close $</a:t>
                      </a:r>
                      <a:r>
                        <a:rPr lang="en-IN" sz="1800" dirty="0" err="1">
                          <a:solidFill>
                            <a:srgbClr val="000000"/>
                          </a:solidFill>
                          <a:latin typeface="Times New Roman" pitchFamily="18" charset="0"/>
                          <a:ea typeface="Times New Roman"/>
                          <a:cs typeface="Times New Roman" pitchFamily="18" charset="0"/>
                        </a:rPr>
                        <a:t>nf</a:t>
                      </a:r>
                      <a:r>
                        <a:rPr lang="en-IN" sz="1800" dirty="0">
                          <a:solidFill>
                            <a:srgbClr val="000000"/>
                          </a:solidFill>
                          <a:latin typeface="Times New Roman" pitchFamily="18" charset="0"/>
                          <a:ea typeface="Times New Roman"/>
                          <a:cs typeface="Times New Roman" pitchFamily="18" charset="0"/>
                        </a:rPr>
                        <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exec </a:t>
                      </a:r>
                      <a:r>
                        <a:rPr lang="en-IN" sz="1800" dirty="0" err="1">
                          <a:solidFill>
                            <a:srgbClr val="000000"/>
                          </a:solidFill>
                          <a:latin typeface="Times New Roman" pitchFamily="18" charset="0"/>
                          <a:ea typeface="Times New Roman"/>
                          <a:cs typeface="Times New Roman" pitchFamily="18" charset="0"/>
                        </a:rPr>
                        <a:t>nam</a:t>
                      </a:r>
                      <a:r>
                        <a:rPr lang="en-IN" sz="1800" dirty="0">
                          <a:solidFill>
                            <a:srgbClr val="000000"/>
                          </a:solidFill>
                          <a:latin typeface="Times New Roman" pitchFamily="18" charset="0"/>
                          <a:ea typeface="Times New Roman"/>
                          <a:cs typeface="Times New Roman" pitchFamily="18" charset="0"/>
                        </a:rPr>
                        <a:t> out.nam &amp;</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exit 0</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a:t>
                      </a:r>
                      <a:br>
                        <a:rPr lang="en-IN" sz="1800" dirty="0">
                          <a:solidFill>
                            <a:srgbClr val="000000"/>
                          </a:solidFill>
                          <a:latin typeface="Times New Roman" pitchFamily="18" charset="0"/>
                          <a:ea typeface="Times New Roman"/>
                          <a:cs typeface="Times New Roman" pitchFamily="18" charset="0"/>
                        </a:rPr>
                      </a:br>
                      <a:r>
                        <a:rPr lang="en-IN" sz="1800" dirty="0" smtClean="0">
                          <a:solidFill>
                            <a:srgbClr val="000000"/>
                          </a:solidFill>
                          <a:latin typeface="Times New Roman" pitchFamily="18" charset="0"/>
                          <a:ea typeface="Times New Roman"/>
                          <a:cs typeface="Times New Roman" pitchFamily="18" charset="0"/>
                        </a:rPr>
                        <a:t>set </a:t>
                      </a:r>
                      <a:r>
                        <a:rPr lang="en-IN" sz="1800" dirty="0">
                          <a:solidFill>
                            <a:srgbClr val="000000"/>
                          </a:solidFill>
                          <a:latin typeface="Times New Roman" pitchFamily="18" charset="0"/>
                          <a:ea typeface="Times New Roman"/>
                          <a:cs typeface="Times New Roman" pitchFamily="18" charset="0"/>
                        </a:rPr>
                        <a:t>n0 [$ns node]</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set n1 [$ns node]</a:t>
                      </a:r>
                      <a:br>
                        <a:rPr lang="en-IN" sz="1800" dirty="0">
                          <a:solidFill>
                            <a:srgbClr val="000000"/>
                          </a:solidFill>
                          <a:latin typeface="Times New Roman" pitchFamily="18" charset="0"/>
                          <a:ea typeface="Times New Roman"/>
                          <a:cs typeface="Times New Roman" pitchFamily="18" charset="0"/>
                        </a:rPr>
                      </a:br>
                      <a:r>
                        <a:rPr lang="en-IN" sz="1800" dirty="0" smtClean="0">
                          <a:solidFill>
                            <a:srgbClr val="000000"/>
                          </a:solidFill>
                          <a:latin typeface="Times New Roman" pitchFamily="18" charset="0"/>
                          <a:ea typeface="Times New Roman"/>
                          <a:cs typeface="Times New Roman" pitchFamily="18" charset="0"/>
                        </a:rPr>
                        <a:t>$</a:t>
                      </a:r>
                      <a:r>
                        <a:rPr lang="en-IN" sz="1800" dirty="0">
                          <a:solidFill>
                            <a:srgbClr val="000000"/>
                          </a:solidFill>
                          <a:latin typeface="Times New Roman" pitchFamily="18" charset="0"/>
                          <a:ea typeface="Times New Roman"/>
                          <a:cs typeface="Times New Roman" pitchFamily="18" charset="0"/>
                        </a:rPr>
                        <a:t>ns duplex-link $n0 $n1 1Mb 10ms </a:t>
                      </a:r>
                      <a:r>
                        <a:rPr lang="en-IN" sz="1800" dirty="0" err="1">
                          <a:solidFill>
                            <a:srgbClr val="000000"/>
                          </a:solidFill>
                          <a:latin typeface="Times New Roman" pitchFamily="18" charset="0"/>
                          <a:ea typeface="Times New Roman"/>
                          <a:cs typeface="Times New Roman" pitchFamily="18" charset="0"/>
                        </a:rPr>
                        <a:t>DropTail</a:t>
                      </a:r>
                      <a:r>
                        <a:rPr lang="en-IN" sz="1800" dirty="0">
                          <a:solidFill>
                            <a:srgbClr val="000000"/>
                          </a:solidFill>
                          <a:latin typeface="Times New Roman" pitchFamily="18" charset="0"/>
                          <a:ea typeface="Times New Roman"/>
                          <a:cs typeface="Times New Roman" pitchFamily="18" charset="0"/>
                        </a:rPr>
                        <a:t/>
                      </a:r>
                      <a:br>
                        <a:rPr lang="en-IN" sz="1800" dirty="0">
                          <a:solidFill>
                            <a:srgbClr val="000000"/>
                          </a:solidFill>
                          <a:latin typeface="Times New Roman" pitchFamily="18" charset="0"/>
                          <a:ea typeface="Times New Roman"/>
                          <a:cs typeface="Times New Roman" pitchFamily="18" charset="0"/>
                        </a:rPr>
                      </a:br>
                      <a:r>
                        <a:rPr lang="en-IN" sz="1800" dirty="0" smtClean="0">
                          <a:solidFill>
                            <a:srgbClr val="000000"/>
                          </a:solidFill>
                          <a:latin typeface="Times New Roman" pitchFamily="18" charset="0"/>
                          <a:ea typeface="Times New Roman"/>
                          <a:cs typeface="Times New Roman" pitchFamily="18" charset="0"/>
                        </a:rPr>
                        <a:t>#</a:t>
                      </a:r>
                      <a:r>
                        <a:rPr lang="en-IN" sz="1800" dirty="0">
                          <a:solidFill>
                            <a:srgbClr val="000000"/>
                          </a:solidFill>
                          <a:latin typeface="Times New Roman" pitchFamily="18" charset="0"/>
                          <a:ea typeface="Times New Roman"/>
                          <a:cs typeface="Times New Roman" pitchFamily="18" charset="0"/>
                        </a:rPr>
                        <a:t>Create a UDP agent and attach it to node n0</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set udp0 [new Agent/UDP]</a:t>
                      </a:r>
                      <a:br>
                        <a:rPr lang="en-IN" sz="1800" dirty="0">
                          <a:solidFill>
                            <a:srgbClr val="000000"/>
                          </a:solidFill>
                          <a:latin typeface="Times New Roman" pitchFamily="18" charset="0"/>
                          <a:ea typeface="Times New Roman"/>
                          <a:cs typeface="Times New Roman" pitchFamily="18" charset="0"/>
                        </a:rPr>
                      </a:br>
                      <a:r>
                        <a:rPr lang="en-IN" sz="1800" dirty="0">
                          <a:solidFill>
                            <a:srgbClr val="000000"/>
                          </a:solidFill>
                          <a:latin typeface="Times New Roman" pitchFamily="18" charset="0"/>
                          <a:ea typeface="Times New Roman"/>
                          <a:cs typeface="Times New Roman" pitchFamily="18" charset="0"/>
                        </a:rPr>
                        <a:t>$ns attach-agent $n0 $udp0</a:t>
                      </a:r>
                      <a:br>
                        <a:rPr lang="en-IN" sz="1800" dirty="0">
                          <a:solidFill>
                            <a:srgbClr val="000000"/>
                          </a:solidFill>
                          <a:latin typeface="Times New Roman" pitchFamily="18" charset="0"/>
                          <a:ea typeface="Times New Roman"/>
                          <a:cs typeface="Times New Roman" pitchFamily="18" charset="0"/>
                        </a:rPr>
                      </a:br>
                      <a:endParaRPr lang="en-IN" sz="1800" dirty="0">
                        <a:latin typeface="Times New Roman" pitchFamily="18" charset="0"/>
                        <a:ea typeface="Times New Roman"/>
                        <a:cs typeface="Times New Roman" pitchFamily="18" charset="0"/>
                      </a:endParaRPr>
                    </a:p>
                  </a:txBody>
                  <a:tcPr marL="8270" marR="8270" marT="8270" marB="8270"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8411" y="-280477"/>
            <a:ext cx="10759857" cy="7418954"/>
          </a:xfrm>
          <a:prstGeom prst="rect">
            <a:avLst/>
          </a:prstGeom>
        </p:spPr>
        <p:txBody>
          <a:bodyPr wrap="square">
            <a:spAutoFit/>
          </a:bodyPr>
          <a:lstStyle/>
          <a:p>
            <a:pPr>
              <a:lnSpc>
                <a:spcPct val="115000"/>
              </a:lnSpc>
              <a:spcAft>
                <a:spcPts val="0"/>
              </a:spcAft>
            </a:pPr>
            <a:endParaRPr lang="en-IN" dirty="0" smtClean="0">
              <a:solidFill>
                <a:srgbClr val="000000"/>
              </a:solidFill>
              <a:latin typeface="Times New Roman" pitchFamily="18" charset="0"/>
              <a:ea typeface="Times New Roman"/>
              <a:cs typeface="Times New Roman" pitchFamily="18" charset="0"/>
            </a:endParaRPr>
          </a:p>
          <a:p>
            <a:pPr>
              <a:lnSpc>
                <a:spcPct val="115000"/>
              </a:lnSpc>
              <a:spcAft>
                <a:spcPts val="0"/>
              </a:spcAft>
            </a:pPr>
            <a:endParaRPr lang="en-IN" dirty="0" smtClean="0">
              <a:solidFill>
                <a:srgbClr val="000000"/>
              </a:solidFill>
              <a:latin typeface="Times New Roman" pitchFamily="18" charset="0"/>
              <a:ea typeface="Times New Roman"/>
              <a:cs typeface="Times New Roman" pitchFamily="18" charset="0"/>
            </a:endParaRPr>
          </a:p>
          <a:p>
            <a:pPr>
              <a:lnSpc>
                <a:spcPct val="115000"/>
              </a:lnSpc>
              <a:spcAft>
                <a:spcPts val="0"/>
              </a:spcAft>
            </a:pPr>
            <a:r>
              <a:rPr lang="en-IN" dirty="0" smtClean="0">
                <a:solidFill>
                  <a:srgbClr val="000000"/>
                </a:solidFill>
                <a:latin typeface="Times New Roman" pitchFamily="18" charset="0"/>
                <a:ea typeface="Times New Roman"/>
                <a:cs typeface="Times New Roman" pitchFamily="18" charset="0"/>
              </a:rPr>
              <a:t>#Create a CBR traffic source and attach it to udp0</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set cbr0 [new Application/Traffic/CBR]</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$cbr0 set packetSize_ 500</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$cbr0 set interval_ 0.005</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$cbr0 attach-agent $udp0</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set null0 [new Agent/Null]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attach-agent $n1 $null0</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connect $udp0 $null0</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at 0.5 "$cbr0 start"</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at 4.5 "$cbr0 stop"</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at 5.0 "finish"</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$ns run</a:t>
            </a:r>
            <a:endParaRPr lang="en-IN" dirty="0" smtClean="0">
              <a:latin typeface="Times New Roman" pitchFamily="18" charset="0"/>
              <a:ea typeface="Times New Roman"/>
              <a:cs typeface="Times New Roman" pitchFamily="18" charset="0"/>
            </a:endParaRPr>
          </a:p>
          <a:p>
            <a:pPr>
              <a:lnSpc>
                <a:spcPct val="115000"/>
              </a:lnSpc>
              <a:spcAft>
                <a:spcPts val="0"/>
              </a:spcAft>
            </a:pP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Try this same example with the different packet size and interval. In the text article we will see how to measure the traffic flowing in the link and plot it on graph.</a:t>
            </a:r>
            <a:br>
              <a:rPr lang="en-IN" dirty="0" smtClean="0">
                <a:solidFill>
                  <a:srgbClr val="000000"/>
                </a:solidFill>
                <a:latin typeface="Times New Roman" pitchFamily="18" charset="0"/>
                <a:ea typeface="Times New Roman"/>
                <a:cs typeface="Times New Roman" pitchFamily="18" charset="0"/>
              </a:rPr>
            </a:br>
            <a:r>
              <a:rPr lang="en-IN" dirty="0" smtClean="0">
                <a:solidFill>
                  <a:srgbClr val="000000"/>
                </a:solidFill>
                <a:latin typeface="Times New Roman" pitchFamily="18" charset="0"/>
                <a:ea typeface="Times New Roman"/>
                <a:cs typeface="Times New Roman" pitchFamily="18" charset="0"/>
              </a:rPr>
              <a:t/>
            </a:r>
            <a:br>
              <a:rPr lang="en-IN" dirty="0" smtClean="0">
                <a:solidFill>
                  <a:srgbClr val="000000"/>
                </a:solidFill>
                <a:latin typeface="Times New Roman" pitchFamily="18" charset="0"/>
                <a:ea typeface="Times New Roman"/>
                <a:cs typeface="Times New Roman" pitchFamily="18" charset="0"/>
              </a:rPr>
            </a:br>
            <a:endParaRPr lang="en-IN" dirty="0">
              <a:latin typeface="Times New Roman" pitchFamily="18" charset="0"/>
              <a:ea typeface="Times New Roman"/>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a:srcRect/>
          <a:stretch>
            <a:fillRect/>
          </a:stretch>
        </p:blipFill>
        <p:spPr bwMode="auto">
          <a:xfrm>
            <a:off x="1907504" y="213360"/>
            <a:ext cx="8333776" cy="61502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p:cNvPicPr>
            <a:picLocks noGrp="1" noChangeAspect="1" noChangeArrowheads="1"/>
          </p:cNvPicPr>
          <p:nvPr>
            <p:ph idx="1"/>
          </p:nvPr>
        </p:nvPicPr>
        <p:blipFill>
          <a:blip r:embed="rId2"/>
          <a:srcRect/>
          <a:stretch>
            <a:fillRect/>
          </a:stretch>
        </p:blipFill>
        <p:spPr bwMode="auto">
          <a:xfrm>
            <a:off x="1390389" y="1017113"/>
            <a:ext cx="8868427" cy="5321057"/>
          </a:xfrm>
          <a:prstGeom prst="rect">
            <a:avLst/>
          </a:prstGeom>
          <a:noFill/>
          <a:ln w="9525">
            <a:noFill/>
            <a:miter lim="800000"/>
            <a:headEnd/>
            <a:tailEnd/>
          </a:ln>
          <a:effectLst/>
        </p:spPr>
      </p:pic>
      <p:sp>
        <p:nvSpPr>
          <p:cNvPr id="5" name="TextBox 4"/>
          <p:cNvSpPr txBox="1"/>
          <p:nvPr/>
        </p:nvSpPr>
        <p:spPr>
          <a:xfrm>
            <a:off x="3820438" y="300626"/>
            <a:ext cx="6037545" cy="707886"/>
          </a:xfrm>
          <a:prstGeom prst="rect">
            <a:avLst/>
          </a:prstGeom>
          <a:noFill/>
        </p:spPr>
        <p:txBody>
          <a:bodyPr wrap="square" rtlCol="0">
            <a:spAutoFit/>
          </a:bodyPr>
          <a:lstStyle/>
          <a:p>
            <a:r>
              <a:rPr lang="en-IN" sz="4000" b="1" dirty="0" smtClean="0"/>
              <a:t>Trace File </a:t>
            </a:r>
            <a:endParaRPr lang="en-IN" sz="4000" b="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B4B8EA66-6133-4211-A7E7-5E2CB9070544}" type="slidenum">
              <a:rPr lang="en-US" altLang="en-US"/>
              <a:pPr/>
              <a:t>24</a:t>
            </a:fld>
            <a:endParaRPr lang="en-US" altLang="en-US"/>
          </a:p>
        </p:txBody>
      </p:sp>
      <p:sp>
        <p:nvSpPr>
          <p:cNvPr id="35842" name="Rectangle 2"/>
          <p:cNvSpPr>
            <a:spLocks noGrp="1" noChangeArrowheads="1"/>
          </p:cNvSpPr>
          <p:nvPr>
            <p:ph type="title"/>
          </p:nvPr>
        </p:nvSpPr>
        <p:spPr>
          <a:xfrm>
            <a:off x="2514601" y="617538"/>
            <a:ext cx="7953375" cy="1143000"/>
          </a:xfrm>
        </p:spPr>
        <p:txBody>
          <a:bodyPr/>
          <a:lstStyle/>
          <a:p>
            <a:r>
              <a:rPr lang="en-US" altLang="en-US" sz="4000"/>
              <a:t>Creating Connection and Traffic II</a:t>
            </a:r>
          </a:p>
        </p:txBody>
      </p:sp>
      <p:sp>
        <p:nvSpPr>
          <p:cNvPr id="35843" name="Rectangle 3"/>
          <p:cNvSpPr>
            <a:spLocks noGrp="1" noChangeArrowheads="1"/>
          </p:cNvSpPr>
          <p:nvPr>
            <p:ph type="body" sz="half" idx="1"/>
          </p:nvPr>
        </p:nvSpPr>
        <p:spPr>
          <a:xfrm>
            <a:off x="2438400" y="2017713"/>
            <a:ext cx="3810000" cy="4114800"/>
          </a:xfrm>
        </p:spPr>
        <p:txBody>
          <a:bodyPr/>
          <a:lstStyle/>
          <a:p>
            <a:r>
              <a:rPr lang="en-US" altLang="en-US"/>
              <a:t>TCP</a:t>
            </a:r>
          </a:p>
          <a:p>
            <a:pPr>
              <a:buFont typeface="Wingdings" panose="05000000000000000000" pitchFamily="2" charset="2"/>
              <a:buNone/>
            </a:pPr>
            <a:r>
              <a:rPr lang="en-US" altLang="en-US" sz="2400"/>
              <a:t>set tcp [new Agent/TCP]</a:t>
            </a:r>
          </a:p>
          <a:p>
            <a:pPr>
              <a:buFont typeface="Wingdings" panose="05000000000000000000" pitchFamily="2" charset="2"/>
              <a:buNone/>
            </a:pPr>
            <a:r>
              <a:rPr lang="en-US" altLang="en-US" sz="2400"/>
              <a:t>set tcpsink [new Agent/TCPSink]</a:t>
            </a:r>
          </a:p>
          <a:p>
            <a:pPr>
              <a:buFont typeface="Wingdings" panose="05000000000000000000" pitchFamily="2" charset="2"/>
              <a:buNone/>
            </a:pPr>
            <a:r>
              <a:rPr lang="en-US" altLang="en-US" sz="2400"/>
              <a:t>$ns attach-agent $n0 $tcp</a:t>
            </a:r>
          </a:p>
          <a:p>
            <a:pPr>
              <a:buFont typeface="Wingdings" panose="05000000000000000000" pitchFamily="2" charset="2"/>
              <a:buNone/>
            </a:pPr>
            <a:r>
              <a:rPr lang="en-US" altLang="en-US" sz="2400"/>
              <a:t>$ns attach-agent $n1 $tcpsink</a:t>
            </a:r>
          </a:p>
          <a:p>
            <a:pPr>
              <a:buFont typeface="Wingdings" panose="05000000000000000000" pitchFamily="2" charset="2"/>
              <a:buNone/>
            </a:pPr>
            <a:r>
              <a:rPr lang="en-US" altLang="en-US" sz="2400"/>
              <a:t>$ns connect $tcp $tcpsink</a:t>
            </a:r>
          </a:p>
        </p:txBody>
      </p:sp>
      <p:sp>
        <p:nvSpPr>
          <p:cNvPr id="35844" name="Rectangle 4"/>
          <p:cNvSpPr>
            <a:spLocks noGrp="1" noChangeArrowheads="1"/>
          </p:cNvSpPr>
          <p:nvPr>
            <p:ph type="body" sz="half" idx="2"/>
          </p:nvPr>
        </p:nvSpPr>
        <p:spPr>
          <a:xfrm>
            <a:off x="6324600" y="2017713"/>
            <a:ext cx="4343400" cy="4114800"/>
          </a:xfrm>
        </p:spPr>
        <p:txBody>
          <a:bodyPr/>
          <a:lstStyle/>
          <a:p>
            <a:r>
              <a:rPr lang="en-US" altLang="en-US"/>
              <a:t>FTP</a:t>
            </a:r>
          </a:p>
          <a:p>
            <a:pPr>
              <a:buFont typeface="Wingdings" panose="05000000000000000000" pitchFamily="2" charset="2"/>
              <a:buNone/>
            </a:pPr>
            <a:r>
              <a:rPr lang="en-US" altLang="en-US" sz="2400"/>
              <a:t>set ftp [new Application/FTP]</a:t>
            </a:r>
          </a:p>
          <a:p>
            <a:pPr>
              <a:buFont typeface="Wingdings" panose="05000000000000000000" pitchFamily="2" charset="2"/>
              <a:buNone/>
            </a:pPr>
            <a:r>
              <a:rPr lang="en-US" altLang="en-US" sz="2400"/>
              <a:t>$ftp attach-agent $tcp</a:t>
            </a:r>
          </a:p>
          <a:p>
            <a:r>
              <a:rPr lang="en-US" altLang="en-US"/>
              <a:t>Telnet</a:t>
            </a:r>
          </a:p>
          <a:p>
            <a:pPr>
              <a:buFont typeface="Wingdings" panose="05000000000000000000" pitchFamily="2" charset="2"/>
              <a:buNone/>
            </a:pPr>
            <a:r>
              <a:rPr lang="en-US" altLang="en-US" sz="2400"/>
              <a:t>set telnet [new Application/Telnet]</a:t>
            </a:r>
          </a:p>
          <a:p>
            <a:pPr>
              <a:buFont typeface="Wingdings" panose="05000000000000000000" pitchFamily="2" charset="2"/>
              <a:buNone/>
            </a:pPr>
            <a:r>
              <a:rPr lang="en-US" altLang="en-US" sz="2400"/>
              <a:t>$telnet attach-agent $tcp</a:t>
            </a:r>
          </a:p>
          <a:p>
            <a:endParaRPr lang="en-US" altLang="en-US" sz="2400"/>
          </a:p>
        </p:txBody>
      </p:sp>
    </p:spTree>
    <p:extLst>
      <p:ext uri="{BB962C8B-B14F-4D97-AF65-F5344CB8AC3E}">
        <p14:creationId xmlns="" xmlns:p14="http://schemas.microsoft.com/office/powerpoint/2010/main" val="38806655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6EFF8E3-E13E-4F06-AFAF-9D9F3F07457E}" type="slidenum">
              <a:rPr lang="en-US" altLang="en-US"/>
              <a:pPr/>
              <a:t>25</a:t>
            </a:fld>
            <a:endParaRPr lang="en-US" altLang="en-US"/>
          </a:p>
        </p:txBody>
      </p:sp>
      <p:sp>
        <p:nvSpPr>
          <p:cNvPr id="38914" name="Rectangle 2"/>
          <p:cNvSpPr>
            <a:spLocks noGrp="1" noChangeArrowheads="1"/>
          </p:cNvSpPr>
          <p:nvPr>
            <p:ph type="title"/>
          </p:nvPr>
        </p:nvSpPr>
        <p:spPr/>
        <p:txBody>
          <a:bodyPr/>
          <a:lstStyle/>
          <a:p>
            <a:r>
              <a:rPr lang="en-US" altLang="en-US"/>
              <a:t>Application-Level Simulation</a:t>
            </a:r>
          </a:p>
        </p:txBody>
      </p:sp>
      <p:sp>
        <p:nvSpPr>
          <p:cNvPr id="38915" name="Rectangle 3"/>
          <p:cNvSpPr>
            <a:spLocks noGrp="1" noChangeArrowheads="1"/>
          </p:cNvSpPr>
          <p:nvPr>
            <p:ph type="body" idx="1"/>
          </p:nvPr>
        </p:nvSpPr>
        <p:spPr/>
        <p:txBody>
          <a:bodyPr/>
          <a:lstStyle/>
          <a:p>
            <a:r>
              <a:rPr lang="en-US" altLang="en-US"/>
              <a:t>Features</a:t>
            </a:r>
          </a:p>
          <a:p>
            <a:pPr lvl="1"/>
            <a:r>
              <a:rPr lang="en-US" altLang="en-US"/>
              <a:t>Build on top of existing transport protocol</a:t>
            </a:r>
          </a:p>
          <a:p>
            <a:pPr lvl="1"/>
            <a:r>
              <a:rPr lang="en-US" altLang="en-US"/>
              <a:t>Transmit user data, e.g., HTTP header</a:t>
            </a:r>
          </a:p>
          <a:p>
            <a:r>
              <a:rPr lang="en-US" altLang="en-US"/>
              <a:t>Two different solutions</a:t>
            </a:r>
          </a:p>
          <a:p>
            <a:pPr lvl="1"/>
            <a:r>
              <a:rPr lang="en-US" altLang="en-US"/>
              <a:t>TCP: Application/TcpApp</a:t>
            </a:r>
          </a:p>
          <a:p>
            <a:pPr lvl="1"/>
            <a:r>
              <a:rPr lang="en-US" altLang="en-US"/>
              <a:t>UDP: Agent/Message</a:t>
            </a:r>
          </a:p>
        </p:txBody>
      </p:sp>
    </p:spTree>
    <p:extLst>
      <p:ext uri="{BB962C8B-B14F-4D97-AF65-F5344CB8AC3E}">
        <p14:creationId xmlns="" xmlns:p14="http://schemas.microsoft.com/office/powerpoint/2010/main" val="25488830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1"/>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en-US" smtClean="0"/>
              <a:t>TCP Traffic</a:t>
            </a:r>
          </a:p>
        </p:txBody>
      </p:sp>
      <p:sp>
        <p:nvSpPr>
          <p:cNvPr id="28675" name="Rectangle 3"/>
          <p:cNvSpPr>
            <a:spLocks noGrp="1" noChangeArrowheads="1"/>
          </p:cNvSpPr>
          <p:nvPr>
            <p:ph type="body" idx="1"/>
          </p:nvPr>
        </p:nvSpPr>
        <p:spPr/>
        <p:txBody>
          <a:bodyPr/>
          <a:lstStyle/>
          <a:p>
            <a:pPr eaLnBrk="1" hangingPunct="1">
              <a:defRPr/>
            </a:pPr>
            <a:r>
              <a:rPr lang="en-US" dirty="0" smtClean="0">
                <a:solidFill>
                  <a:srgbClr val="FF0000"/>
                </a:solidFill>
              </a:rPr>
              <a:t>#Connect the traffic sources with the traffic sinks</a:t>
            </a:r>
          </a:p>
          <a:p>
            <a:pPr marL="457200" lvl="1" indent="0">
              <a:buNone/>
              <a:defRPr/>
            </a:pPr>
            <a:r>
              <a:rPr lang="en-US" dirty="0" smtClean="0"/>
              <a:t>$ns connect $tcp1 $sink1</a:t>
            </a:r>
          </a:p>
          <a:p>
            <a:pPr marL="457200" lvl="1" indent="0">
              <a:buNone/>
              <a:defRPr/>
            </a:pPr>
            <a:r>
              <a:rPr lang="en-US" dirty="0" smtClean="0"/>
              <a:t>$ns connect $tcp2 $sink2</a:t>
            </a:r>
          </a:p>
          <a:p>
            <a:pPr marL="457200" lvl="1" indent="0">
              <a:buNone/>
              <a:defRPr/>
            </a:pPr>
            <a:r>
              <a:rPr lang="en-US" dirty="0" smtClean="0"/>
              <a:t>$ns connect $tcp3 $sink3</a:t>
            </a:r>
          </a:p>
          <a:p>
            <a:pPr eaLnBrk="1" hangingPunct="1">
              <a:defRPr/>
            </a:pPr>
            <a:r>
              <a:rPr lang="en-US" dirty="0" smtClean="0"/>
              <a:t>You cannot connect two TCP sources to the same TCP sink</a:t>
            </a:r>
          </a:p>
          <a:p>
            <a:pPr lvl="1" eaLnBrk="1" hangingPunct="1">
              <a:defRPr/>
            </a:pPr>
            <a:r>
              <a:rPr lang="en-US" dirty="0" smtClean="0"/>
              <a:t>You can do that for UDP traffic</a:t>
            </a:r>
          </a:p>
        </p:txBody>
      </p:sp>
    </p:spTree>
    <p:extLst>
      <p:ext uri="{BB962C8B-B14F-4D97-AF65-F5344CB8AC3E}">
        <p14:creationId xmlns="" xmlns:p14="http://schemas.microsoft.com/office/powerpoint/2010/main" val="564829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en-US" smtClean="0"/>
              <a:t>TCP Traffic</a:t>
            </a:r>
          </a:p>
        </p:txBody>
      </p:sp>
      <p:sp>
        <p:nvSpPr>
          <p:cNvPr id="62467" name="Rectangle 3"/>
          <p:cNvSpPr>
            <a:spLocks noGrp="1" noChangeArrowheads="1"/>
          </p:cNvSpPr>
          <p:nvPr>
            <p:ph type="body" idx="1"/>
          </p:nvPr>
        </p:nvSpPr>
        <p:spPr/>
        <p:txBody>
          <a:bodyPr/>
          <a:lstStyle/>
          <a:p>
            <a:pPr eaLnBrk="1" hangingPunct="1">
              <a:lnSpc>
                <a:spcPct val="90000"/>
              </a:lnSpc>
            </a:pPr>
            <a:r>
              <a:rPr lang="en-US" altLang="en-US" smtClean="0">
                <a:solidFill>
                  <a:srgbClr val="FF0000"/>
                </a:solidFill>
              </a:rPr>
              <a:t>#Create FTP applications and attach them to agents</a:t>
            </a:r>
          </a:p>
          <a:p>
            <a:pPr marL="457200" lvl="1" indent="0">
              <a:buNone/>
            </a:pPr>
            <a:r>
              <a:rPr lang="en-US" altLang="en-US" smtClean="0"/>
              <a:t>set ftp1 [new Application/FTP]</a:t>
            </a:r>
          </a:p>
          <a:p>
            <a:pPr marL="457200" lvl="1" indent="0">
              <a:buNone/>
            </a:pPr>
            <a:r>
              <a:rPr lang="en-US" altLang="en-US" smtClean="0"/>
              <a:t>$ftp1 attach-agent $tcp1</a:t>
            </a:r>
          </a:p>
          <a:p>
            <a:pPr marL="457200" lvl="1" indent="0">
              <a:buNone/>
            </a:pPr>
            <a:r>
              <a:rPr lang="en-US" altLang="en-US" smtClean="0"/>
              <a:t>set ftp2 [new Application/FTP]</a:t>
            </a:r>
          </a:p>
          <a:p>
            <a:pPr marL="457200" lvl="1" indent="0">
              <a:buNone/>
            </a:pPr>
            <a:r>
              <a:rPr lang="en-US" altLang="en-US" smtClean="0"/>
              <a:t>$ftp2 attach-agent $tcp2</a:t>
            </a:r>
          </a:p>
          <a:p>
            <a:pPr marL="457200" lvl="1" indent="0">
              <a:buNone/>
            </a:pPr>
            <a:r>
              <a:rPr lang="en-US" altLang="en-US" smtClean="0"/>
              <a:t>set ftp3 [new Application/FTP]</a:t>
            </a:r>
          </a:p>
          <a:p>
            <a:pPr marL="457200" lvl="1" indent="0">
              <a:buNone/>
            </a:pPr>
            <a:r>
              <a:rPr lang="en-US" altLang="en-US" smtClean="0"/>
              <a:t>$ftp3 attach-agent $tcp3</a:t>
            </a:r>
          </a:p>
        </p:txBody>
      </p:sp>
    </p:spTree>
    <p:extLst>
      <p:ext uri="{BB962C8B-B14F-4D97-AF65-F5344CB8AC3E}">
        <p14:creationId xmlns="" xmlns:p14="http://schemas.microsoft.com/office/powerpoint/2010/main" val="12809620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smtClean="0"/>
              <a:t>Simple 2 Nodes Simulation</a:t>
            </a:r>
          </a:p>
        </p:txBody>
      </p:sp>
      <p:sp>
        <p:nvSpPr>
          <p:cNvPr id="89091" name="Content Placeholder 2"/>
          <p:cNvSpPr>
            <a:spLocks noGrp="1"/>
          </p:cNvSpPr>
          <p:nvPr>
            <p:ph idx="1"/>
          </p:nvPr>
        </p:nvSpPr>
        <p:spPr/>
        <p:txBody>
          <a:bodyPr/>
          <a:lstStyle/>
          <a:p>
            <a:r>
              <a:rPr lang="en-US" altLang="en-US" sz="2400"/>
              <a:t>Simulate a very simple 2-node wireless scenario </a:t>
            </a:r>
          </a:p>
          <a:p>
            <a:r>
              <a:rPr lang="en-US" altLang="en-US" sz="2400"/>
              <a:t>The topology consists of two mobilenodes</a:t>
            </a:r>
          </a:p>
          <a:p>
            <a:r>
              <a:rPr lang="en-US" altLang="en-US" sz="2400"/>
              <a:t>The mobilenodes move about within 500mX500m area</a:t>
            </a:r>
          </a:p>
          <a:p>
            <a:r>
              <a:rPr lang="en-US" altLang="en-US" sz="2400"/>
              <a:t>A TCP connection is setup between the two mobilenodes. </a:t>
            </a:r>
          </a:p>
          <a:p>
            <a:pPr lvl="1"/>
            <a:r>
              <a:rPr lang="en-US" altLang="en-US" sz="2000"/>
              <a:t>Packets are exchanged between the nodes as they come within hearing range of one another. </a:t>
            </a:r>
          </a:p>
          <a:p>
            <a:pPr lvl="1"/>
            <a:r>
              <a:rPr lang="en-US" altLang="en-US" sz="2000"/>
              <a:t>As they move away, packets start getting dropped. </a:t>
            </a:r>
          </a:p>
        </p:txBody>
      </p:sp>
      <p:sp>
        <p:nvSpPr>
          <p:cNvPr id="89092"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A4CA59F6-8366-4258-AA74-4F1CAFA556DC}" type="slidenum">
              <a:rPr lang="zh-CN" altLang="en-US" sz="1400">
                <a:solidFill>
                  <a:schemeClr val="tx1"/>
                </a:solidFill>
              </a:rPr>
              <a:pPr>
                <a:buClrTx/>
                <a:buSzTx/>
                <a:buFontTx/>
                <a:buNone/>
              </a:pPr>
              <a:t>29</a:t>
            </a:fld>
            <a:endParaRPr lang="en-US" altLang="zh-CN" sz="1400">
              <a:solidFill>
                <a:schemeClr val="tx1"/>
              </a:solidFill>
            </a:endParaRPr>
          </a:p>
        </p:txBody>
      </p:sp>
    </p:spTree>
    <p:extLst>
      <p:ext uri="{BB962C8B-B14F-4D97-AF65-F5344CB8AC3E}">
        <p14:creationId xmlns="" xmlns:p14="http://schemas.microsoft.com/office/powerpoint/2010/main" val="3255178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normAutofit lnSpcReduction="10000"/>
          </a:bodyPr>
          <a:lstStyle/>
          <a:p>
            <a:pPr>
              <a:defRPr/>
            </a:pPr>
            <a:r>
              <a:rPr lang="en-US" sz="1800" dirty="0"/>
              <a:t>Define options:</a:t>
            </a:r>
          </a:p>
          <a:p>
            <a:pPr marL="0" indent="0">
              <a:buNone/>
              <a:defRPr/>
            </a:pPr>
            <a:r>
              <a:rPr lang="en-US" sz="1800" dirty="0">
                <a:solidFill>
                  <a:srgbClr val="000000"/>
                </a:solidFill>
              </a:rPr>
              <a:t># Define options #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chan</a:t>
            </a:r>
            <a:r>
              <a:rPr lang="en-US" sz="1800" dirty="0">
                <a:solidFill>
                  <a:srgbClr val="000000"/>
                </a:solidFill>
              </a:rPr>
              <a:t>) Channel/</a:t>
            </a:r>
            <a:r>
              <a:rPr lang="en-US" sz="1800" dirty="0" err="1">
                <a:solidFill>
                  <a:srgbClr val="000000"/>
                </a:solidFill>
              </a:rPr>
              <a:t>WirelessChannel</a:t>
            </a:r>
            <a:r>
              <a:rPr lang="en-US" sz="1800" dirty="0">
                <a:solidFill>
                  <a:srgbClr val="000000"/>
                </a:solidFill>
              </a:rPr>
              <a:t> ;# channel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(prop) Propagation/</a:t>
            </a:r>
            <a:r>
              <a:rPr lang="en-US" sz="1800" dirty="0" err="1">
                <a:solidFill>
                  <a:srgbClr val="000000"/>
                </a:solidFill>
              </a:rPr>
              <a:t>TwoRayGround</a:t>
            </a:r>
            <a:r>
              <a:rPr lang="en-US" sz="1800" dirty="0">
                <a:solidFill>
                  <a:srgbClr val="000000"/>
                </a:solidFill>
              </a:rPr>
              <a:t> ;# radio-propagation model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(ant) Antenna/</a:t>
            </a:r>
            <a:r>
              <a:rPr lang="en-US" sz="1800" dirty="0" err="1">
                <a:solidFill>
                  <a:srgbClr val="000000"/>
                </a:solidFill>
              </a:rPr>
              <a:t>OmniAntenna</a:t>
            </a:r>
            <a:r>
              <a:rPr lang="en-US" sz="1800" dirty="0">
                <a:solidFill>
                  <a:srgbClr val="000000"/>
                </a:solidFill>
              </a:rPr>
              <a:t> ;# Antenna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ll</a:t>
            </a:r>
            <a:r>
              <a:rPr lang="en-US" sz="1800" dirty="0">
                <a:solidFill>
                  <a:srgbClr val="000000"/>
                </a:solidFill>
              </a:rPr>
              <a:t>) LL ;# Link layer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ifq</a:t>
            </a:r>
            <a:r>
              <a:rPr lang="en-US" sz="1800" dirty="0">
                <a:solidFill>
                  <a:srgbClr val="000000"/>
                </a:solidFill>
              </a:rPr>
              <a:t>) Queue/</a:t>
            </a:r>
            <a:r>
              <a:rPr lang="en-US" sz="1800" dirty="0" err="1">
                <a:solidFill>
                  <a:srgbClr val="000000"/>
                </a:solidFill>
              </a:rPr>
              <a:t>DropTail</a:t>
            </a:r>
            <a:r>
              <a:rPr lang="en-US" sz="1800" dirty="0">
                <a:solidFill>
                  <a:srgbClr val="000000"/>
                </a:solidFill>
              </a:rPr>
              <a:t>/</a:t>
            </a:r>
            <a:r>
              <a:rPr lang="en-US" sz="1800" dirty="0" err="1">
                <a:solidFill>
                  <a:srgbClr val="000000"/>
                </a:solidFill>
              </a:rPr>
              <a:t>PriQueue</a:t>
            </a:r>
            <a:r>
              <a:rPr lang="en-US" sz="1800" dirty="0">
                <a:solidFill>
                  <a:srgbClr val="000000"/>
                </a:solidFill>
              </a:rPr>
              <a:t> ;# Interface queue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ifqlen</a:t>
            </a:r>
            <a:r>
              <a:rPr lang="en-US" sz="1800" dirty="0">
                <a:solidFill>
                  <a:srgbClr val="000000"/>
                </a:solidFill>
              </a:rPr>
              <a:t>) 50 ;# max packet in </a:t>
            </a:r>
            <a:r>
              <a:rPr lang="en-US" sz="1800" dirty="0" err="1">
                <a:solidFill>
                  <a:srgbClr val="000000"/>
                </a:solidFill>
              </a:rPr>
              <a:t>ifq</a:t>
            </a:r>
            <a:r>
              <a:rPr lang="en-US" sz="1800" dirty="0">
                <a:solidFill>
                  <a:srgbClr val="000000"/>
                </a:solidFill>
              </a:rPr>
              <a:t>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netif</a:t>
            </a:r>
            <a:r>
              <a:rPr lang="en-US" sz="1800" dirty="0">
                <a:solidFill>
                  <a:srgbClr val="000000"/>
                </a:solidFill>
              </a:rPr>
              <a:t>) </a:t>
            </a:r>
            <a:r>
              <a:rPr lang="en-US" sz="1800" dirty="0" err="1">
                <a:solidFill>
                  <a:srgbClr val="000000"/>
                </a:solidFill>
              </a:rPr>
              <a:t>Phy</a:t>
            </a:r>
            <a:r>
              <a:rPr lang="en-US" sz="1800" dirty="0">
                <a:solidFill>
                  <a:srgbClr val="000000"/>
                </a:solidFill>
              </a:rPr>
              <a:t>/</a:t>
            </a:r>
            <a:r>
              <a:rPr lang="en-US" sz="1800" dirty="0" err="1">
                <a:solidFill>
                  <a:srgbClr val="000000"/>
                </a:solidFill>
              </a:rPr>
              <a:t>WirelessPhy</a:t>
            </a:r>
            <a:r>
              <a:rPr lang="en-US" sz="1800" dirty="0">
                <a:solidFill>
                  <a:srgbClr val="000000"/>
                </a:solidFill>
              </a:rPr>
              <a:t> ;# network interface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(mac) Mac/802_11 ;# MAC type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rp</a:t>
            </a:r>
            <a:r>
              <a:rPr lang="en-US" sz="1800" dirty="0">
                <a:solidFill>
                  <a:srgbClr val="000000"/>
                </a:solidFill>
              </a:rPr>
              <a:t>) DSDV ;# ad-hoc routing protocol </a:t>
            </a:r>
          </a:p>
          <a:p>
            <a:pPr marL="0" indent="0">
              <a:buNone/>
              <a:defRPr/>
            </a:pPr>
            <a:r>
              <a:rPr lang="en-US" sz="1800" dirty="0">
                <a:solidFill>
                  <a:srgbClr val="000000"/>
                </a:solidFill>
              </a:rPr>
              <a:t>set </a:t>
            </a:r>
            <a:r>
              <a:rPr lang="en-US" sz="1800" dirty="0" err="1">
                <a:solidFill>
                  <a:srgbClr val="000000"/>
                </a:solidFill>
              </a:rPr>
              <a:t>val</a:t>
            </a:r>
            <a:r>
              <a:rPr lang="en-US" sz="1800" dirty="0">
                <a:solidFill>
                  <a:srgbClr val="000000"/>
                </a:solidFill>
              </a:rPr>
              <a:t>(</a:t>
            </a:r>
            <a:r>
              <a:rPr lang="en-US" sz="1800" dirty="0" err="1">
                <a:solidFill>
                  <a:srgbClr val="000000"/>
                </a:solidFill>
              </a:rPr>
              <a:t>nn</a:t>
            </a:r>
            <a:r>
              <a:rPr lang="en-US" sz="1800" dirty="0">
                <a:solidFill>
                  <a:srgbClr val="000000"/>
                </a:solidFill>
              </a:rPr>
              <a:t>) 2 ;# number of </a:t>
            </a:r>
            <a:r>
              <a:rPr lang="en-US" sz="1800" dirty="0" err="1">
                <a:solidFill>
                  <a:srgbClr val="000000"/>
                </a:solidFill>
              </a:rPr>
              <a:t>mobilenodes</a:t>
            </a:r>
            <a:endParaRPr lang="en-US" sz="1800" dirty="0">
              <a:solidFill>
                <a:srgbClr val="000000"/>
              </a:solidFill>
            </a:endParaRPr>
          </a:p>
        </p:txBody>
      </p:sp>
      <p:sp>
        <p:nvSpPr>
          <p:cNvPr id="9011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E1E838A9-2D4F-4F0C-A9CA-A9FA71E57F0E}" type="slidenum">
              <a:rPr lang="zh-CN" altLang="en-US" sz="1400">
                <a:solidFill>
                  <a:schemeClr val="tx1"/>
                </a:solidFill>
              </a:rPr>
              <a:pPr>
                <a:buClrTx/>
                <a:buSzTx/>
                <a:buFontTx/>
                <a:buNone/>
              </a:pPr>
              <a:t>30</a:t>
            </a:fld>
            <a:endParaRPr lang="en-US" altLang="zh-CN" sz="1400">
              <a:solidFill>
                <a:schemeClr val="tx1"/>
              </a:solidFill>
            </a:endParaRPr>
          </a:p>
        </p:txBody>
      </p:sp>
    </p:spTree>
    <p:extLst>
      <p:ext uri="{BB962C8B-B14F-4D97-AF65-F5344CB8AC3E}">
        <p14:creationId xmlns="" xmlns:p14="http://schemas.microsoft.com/office/powerpoint/2010/main" val="25281725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endParaRPr lang="en-US" altLang="en-US" smtClean="0"/>
          </a:p>
        </p:txBody>
      </p:sp>
      <p:sp>
        <p:nvSpPr>
          <p:cNvPr id="91139" name="Content Placeholder 2"/>
          <p:cNvSpPr>
            <a:spLocks noGrp="1"/>
          </p:cNvSpPr>
          <p:nvPr>
            <p:ph idx="1"/>
          </p:nvPr>
        </p:nvSpPr>
        <p:spPr/>
        <p:txBody>
          <a:bodyPr/>
          <a:lstStyle/>
          <a:p>
            <a:r>
              <a:rPr lang="en-US" altLang="en-US" smtClean="0"/>
              <a:t>Define NS simulator</a:t>
            </a:r>
          </a:p>
          <a:p>
            <a:pPr marL="457200" lvl="1" indent="0">
              <a:buNone/>
            </a:pPr>
            <a:r>
              <a:rPr lang="en-US" altLang="en-US" smtClean="0"/>
              <a:t>set ns_ [new Simulator]</a:t>
            </a:r>
          </a:p>
          <a:p>
            <a:r>
              <a:rPr lang="en-US" altLang="en-US" smtClean="0"/>
              <a:t>Define trace file</a:t>
            </a:r>
          </a:p>
          <a:p>
            <a:pPr marL="457200" lvl="1" indent="0">
              <a:buNone/>
            </a:pPr>
            <a:r>
              <a:rPr lang="en-US" altLang="en-US" smtClean="0"/>
              <a:t>set tracefd [open simple.tr w] </a:t>
            </a:r>
          </a:p>
          <a:p>
            <a:pPr marL="457200" lvl="1" indent="0">
              <a:buNone/>
            </a:pPr>
            <a:r>
              <a:rPr lang="en-US" altLang="en-US" smtClean="0"/>
              <a:t>$ns_ trace-all $tracefd</a:t>
            </a:r>
          </a:p>
          <a:p>
            <a:r>
              <a:rPr lang="en-US" altLang="en-US" smtClean="0"/>
              <a:t>Create topology object</a:t>
            </a:r>
          </a:p>
          <a:p>
            <a:pPr marL="457200" lvl="1" indent="0">
              <a:buNone/>
            </a:pPr>
            <a:r>
              <a:rPr lang="en-US" altLang="en-US" smtClean="0"/>
              <a:t>set topo [new Topography]</a:t>
            </a:r>
          </a:p>
          <a:p>
            <a:r>
              <a:rPr lang="en-US" altLang="en-US" smtClean="0"/>
              <a:t>Topography object with (x=500, y=500)</a:t>
            </a:r>
          </a:p>
          <a:p>
            <a:pPr marL="457200" lvl="1" indent="0">
              <a:buNone/>
            </a:pPr>
            <a:r>
              <a:rPr lang="en-US" altLang="en-US"/>
              <a:t>$topo load_flatgrid 500 500</a:t>
            </a:r>
          </a:p>
          <a:p>
            <a:endParaRPr lang="en-US" altLang="en-US" smtClean="0"/>
          </a:p>
          <a:p>
            <a:endParaRPr lang="en-US" altLang="en-US" smtClean="0"/>
          </a:p>
          <a:p>
            <a:endParaRPr lang="en-US" altLang="en-US" smtClean="0"/>
          </a:p>
          <a:p>
            <a:endParaRPr lang="en-US" altLang="en-US" smtClean="0"/>
          </a:p>
        </p:txBody>
      </p:sp>
      <p:sp>
        <p:nvSpPr>
          <p:cNvPr id="91140"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16906E48-C178-415E-B33F-2C85810AF686}" type="slidenum">
              <a:rPr lang="zh-CN" altLang="en-US" sz="1400">
                <a:solidFill>
                  <a:schemeClr val="tx1"/>
                </a:solidFill>
              </a:rPr>
              <a:pPr>
                <a:buClrTx/>
                <a:buSzTx/>
                <a:buFontTx/>
                <a:buNone/>
              </a:pPr>
              <a:t>31</a:t>
            </a:fld>
            <a:endParaRPr lang="en-US" altLang="zh-CN" sz="1400">
              <a:solidFill>
                <a:schemeClr val="tx1"/>
              </a:solidFill>
            </a:endParaRPr>
          </a:p>
        </p:txBody>
      </p:sp>
    </p:spTree>
    <p:extLst>
      <p:ext uri="{BB962C8B-B14F-4D97-AF65-F5344CB8AC3E}">
        <p14:creationId xmlns="" xmlns:p14="http://schemas.microsoft.com/office/powerpoint/2010/main" val="41663519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sz="3200" b="1" dirty="0"/>
              <a:t>God (General Operations Director) Object</a:t>
            </a:r>
          </a:p>
        </p:txBody>
      </p:sp>
      <p:sp>
        <p:nvSpPr>
          <p:cNvPr id="3" name="Content Placeholder 2"/>
          <p:cNvSpPr>
            <a:spLocks noGrp="1"/>
          </p:cNvSpPr>
          <p:nvPr>
            <p:ph idx="1"/>
          </p:nvPr>
        </p:nvSpPr>
        <p:spPr/>
        <p:txBody>
          <a:bodyPr>
            <a:normAutofit fontScale="92500" lnSpcReduction="20000"/>
          </a:bodyPr>
          <a:lstStyle/>
          <a:p>
            <a:pPr>
              <a:defRPr/>
            </a:pPr>
            <a:r>
              <a:rPr lang="en-US" dirty="0" smtClean="0"/>
              <a:t>Create God object:</a:t>
            </a:r>
          </a:p>
          <a:p>
            <a:pPr marL="457200" lvl="1" indent="0">
              <a:buNone/>
              <a:defRPr/>
            </a:pPr>
            <a:r>
              <a:rPr lang="en-US" dirty="0" smtClean="0"/>
              <a:t>create-god $</a:t>
            </a:r>
            <a:r>
              <a:rPr lang="en-US" dirty="0" err="1" smtClean="0"/>
              <a:t>val</a:t>
            </a:r>
            <a:r>
              <a:rPr lang="en-US" dirty="0" smtClean="0"/>
              <a:t>(</a:t>
            </a:r>
            <a:r>
              <a:rPr lang="en-US" dirty="0" err="1" smtClean="0"/>
              <a:t>nn</a:t>
            </a:r>
            <a:r>
              <a:rPr lang="en-US" dirty="0" smtClean="0"/>
              <a:t>)</a:t>
            </a:r>
            <a:endParaRPr lang="en-US" dirty="0"/>
          </a:p>
          <a:p>
            <a:pPr>
              <a:defRPr/>
            </a:pPr>
            <a:r>
              <a:rPr lang="en-US" dirty="0" smtClean="0"/>
              <a:t>God object stores: </a:t>
            </a:r>
          </a:p>
          <a:p>
            <a:pPr lvl="1">
              <a:defRPr/>
            </a:pPr>
            <a:r>
              <a:rPr lang="en-US" dirty="0" smtClean="0"/>
              <a:t>number of </a:t>
            </a:r>
            <a:r>
              <a:rPr lang="en-US" dirty="0" err="1" smtClean="0"/>
              <a:t>mobilenodes</a:t>
            </a:r>
            <a:r>
              <a:rPr lang="en-US" dirty="0" smtClean="0"/>
              <a:t> </a:t>
            </a:r>
          </a:p>
          <a:p>
            <a:pPr lvl="1">
              <a:defRPr/>
            </a:pPr>
            <a:r>
              <a:rPr lang="en-US" dirty="0" smtClean="0"/>
              <a:t>table of shortest number of hops required to reach from one node to another</a:t>
            </a:r>
          </a:p>
          <a:p>
            <a:pPr lvl="2">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a:defRPr/>
            </a:pPr>
            <a:r>
              <a:rPr lang="en-US" dirty="0"/>
              <a:t>w</a:t>
            </a:r>
          </a:p>
        </p:txBody>
      </p:sp>
      <p:sp>
        <p:nvSpPr>
          <p:cNvPr id="92164"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29D775CE-5325-4CDC-9E11-89EEC5134C36}" type="slidenum">
              <a:rPr lang="zh-CN" altLang="en-US" sz="1400">
                <a:solidFill>
                  <a:schemeClr val="tx1"/>
                </a:solidFill>
              </a:rPr>
              <a:pPr>
                <a:buClrTx/>
                <a:buSzTx/>
                <a:buFontTx/>
                <a:buNone/>
              </a:pPr>
              <a:t>32</a:t>
            </a:fld>
            <a:endParaRPr lang="en-US" altLang="zh-CN" sz="1400">
              <a:solidFill>
                <a:schemeClr val="tx1"/>
              </a:solidFill>
            </a:endParaRPr>
          </a:p>
        </p:txBody>
      </p:sp>
    </p:spTree>
    <p:extLst>
      <p:ext uri="{BB962C8B-B14F-4D97-AF65-F5344CB8AC3E}">
        <p14:creationId xmlns="" xmlns:p14="http://schemas.microsoft.com/office/powerpoint/2010/main" val="16885688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sz="2800"/>
              <a:t>Define how a mobile node should be created</a:t>
            </a:r>
          </a:p>
        </p:txBody>
      </p:sp>
      <p:sp>
        <p:nvSpPr>
          <p:cNvPr id="93187" name="Content Placeholder 2"/>
          <p:cNvSpPr>
            <a:spLocks noGrp="1"/>
          </p:cNvSpPr>
          <p:nvPr>
            <p:ph idx="1"/>
          </p:nvPr>
        </p:nvSpPr>
        <p:spPr>
          <a:xfrm>
            <a:off x="1951038" y="1358901"/>
            <a:ext cx="8153400" cy="4359275"/>
          </a:xfrm>
        </p:spPr>
        <p:txBody>
          <a:bodyPr>
            <a:normAutofit fontScale="70000" lnSpcReduction="20000"/>
          </a:bodyPr>
          <a:lstStyle/>
          <a:p>
            <a:pPr marL="0" indent="0">
              <a:buNone/>
            </a:pPr>
            <a:r>
              <a:rPr lang="en-US" altLang="en-US" sz="2400" dirty="0"/>
              <a:t>$ns_ node-</a:t>
            </a:r>
            <a:r>
              <a:rPr lang="en-US" altLang="en-US" sz="2400" dirty="0" err="1"/>
              <a:t>config</a:t>
            </a:r>
            <a:r>
              <a:rPr lang="en-US" altLang="en-US" sz="2400" dirty="0"/>
              <a:t> -</a:t>
            </a:r>
            <a:r>
              <a:rPr lang="en-US" altLang="en-US" sz="2400" dirty="0" err="1"/>
              <a:t>adhocRouting</a:t>
            </a:r>
            <a:r>
              <a:rPr lang="en-US" altLang="en-US" sz="2400" dirty="0"/>
              <a:t> $</a:t>
            </a:r>
            <a:r>
              <a:rPr lang="en-US" altLang="en-US" sz="2400" dirty="0" err="1"/>
              <a:t>val</a:t>
            </a:r>
            <a:r>
              <a:rPr lang="en-US" altLang="en-US" sz="2400" dirty="0"/>
              <a:t>(</a:t>
            </a:r>
            <a:r>
              <a:rPr lang="en-US" altLang="en-US" sz="2400" dirty="0" err="1"/>
              <a:t>rp</a:t>
            </a:r>
            <a:r>
              <a:rPr lang="en-US" altLang="en-US" sz="2400" dirty="0"/>
              <a:t>) \ </a:t>
            </a:r>
          </a:p>
          <a:p>
            <a:pPr marL="0" indent="0">
              <a:buNone/>
            </a:pPr>
            <a:r>
              <a:rPr lang="en-US" altLang="en-US" sz="2400" dirty="0"/>
              <a:t> 		-</a:t>
            </a:r>
            <a:r>
              <a:rPr lang="en-US" altLang="en-US" sz="2400" dirty="0" err="1"/>
              <a:t>llType</a:t>
            </a:r>
            <a:r>
              <a:rPr lang="en-US" altLang="en-US" sz="2400" dirty="0"/>
              <a:t> $</a:t>
            </a:r>
            <a:r>
              <a:rPr lang="en-US" altLang="en-US" sz="2400" dirty="0" err="1"/>
              <a:t>val</a:t>
            </a:r>
            <a:r>
              <a:rPr lang="en-US" altLang="en-US" sz="2400" dirty="0"/>
              <a:t>(</a:t>
            </a:r>
            <a:r>
              <a:rPr lang="en-US" altLang="en-US" sz="2400" dirty="0" err="1"/>
              <a:t>ll</a:t>
            </a:r>
            <a:r>
              <a:rPr lang="en-US" altLang="en-US" sz="2400" dirty="0"/>
              <a:t>) \ </a:t>
            </a:r>
          </a:p>
          <a:p>
            <a:pPr marL="0" indent="0">
              <a:buNone/>
            </a:pPr>
            <a:r>
              <a:rPr lang="en-US" altLang="en-US" sz="2400" dirty="0"/>
              <a:t>		-</a:t>
            </a:r>
            <a:r>
              <a:rPr lang="en-US" altLang="en-US" sz="2400" dirty="0" err="1"/>
              <a:t>macType</a:t>
            </a:r>
            <a:r>
              <a:rPr lang="en-US" altLang="en-US" sz="2400" dirty="0"/>
              <a:t> $</a:t>
            </a:r>
            <a:r>
              <a:rPr lang="en-US" altLang="en-US" sz="2400" dirty="0" err="1"/>
              <a:t>val</a:t>
            </a:r>
            <a:r>
              <a:rPr lang="en-US" altLang="en-US" sz="2400" dirty="0"/>
              <a:t>(</a:t>
            </a:r>
            <a:r>
              <a:rPr lang="en-US" altLang="en-US" sz="2400" dirty="0" err="1"/>
              <a:t>mac</a:t>
            </a:r>
            <a:r>
              <a:rPr lang="en-US" altLang="en-US" sz="2400" dirty="0"/>
              <a:t>) \ </a:t>
            </a:r>
          </a:p>
          <a:p>
            <a:pPr marL="0" indent="0">
              <a:buNone/>
            </a:pPr>
            <a:r>
              <a:rPr lang="en-US" altLang="en-US" sz="2400" dirty="0"/>
              <a:t>		-</a:t>
            </a:r>
            <a:r>
              <a:rPr lang="en-US" altLang="en-US" sz="2400" dirty="0" err="1"/>
              <a:t>ifqType</a:t>
            </a:r>
            <a:r>
              <a:rPr lang="en-US" altLang="en-US" sz="2400" dirty="0"/>
              <a:t> $</a:t>
            </a:r>
            <a:r>
              <a:rPr lang="en-US" altLang="en-US" sz="2400" dirty="0" err="1"/>
              <a:t>val</a:t>
            </a:r>
            <a:r>
              <a:rPr lang="en-US" altLang="en-US" sz="2400" dirty="0"/>
              <a:t>(</a:t>
            </a:r>
            <a:r>
              <a:rPr lang="en-US" altLang="en-US" sz="2400" dirty="0" err="1"/>
              <a:t>ifq</a:t>
            </a:r>
            <a:r>
              <a:rPr lang="en-US" altLang="en-US" sz="2400" dirty="0"/>
              <a:t>) \ </a:t>
            </a:r>
          </a:p>
          <a:p>
            <a:pPr marL="0" indent="0">
              <a:buNone/>
            </a:pPr>
            <a:r>
              <a:rPr lang="en-US" altLang="en-US" sz="2400" dirty="0"/>
              <a:t>		-</a:t>
            </a:r>
            <a:r>
              <a:rPr lang="en-US" altLang="en-US" sz="2400" dirty="0" err="1"/>
              <a:t>ifqLen</a:t>
            </a:r>
            <a:r>
              <a:rPr lang="en-US" altLang="en-US" sz="2400" dirty="0"/>
              <a:t> $</a:t>
            </a:r>
            <a:r>
              <a:rPr lang="en-US" altLang="en-US" sz="2400" dirty="0" err="1"/>
              <a:t>val</a:t>
            </a:r>
            <a:r>
              <a:rPr lang="en-US" altLang="en-US" sz="2400" dirty="0"/>
              <a:t>(</a:t>
            </a:r>
            <a:r>
              <a:rPr lang="en-US" altLang="en-US" sz="2400" dirty="0" err="1"/>
              <a:t>ifqlen</a:t>
            </a:r>
            <a:r>
              <a:rPr lang="en-US" altLang="en-US" sz="2400" dirty="0"/>
              <a:t>) \ </a:t>
            </a:r>
          </a:p>
          <a:p>
            <a:pPr marL="0" indent="0">
              <a:buNone/>
            </a:pPr>
            <a:r>
              <a:rPr lang="en-US" altLang="en-US" sz="2400" dirty="0"/>
              <a:t>		-</a:t>
            </a:r>
            <a:r>
              <a:rPr lang="en-US" altLang="en-US" sz="2400" dirty="0" err="1"/>
              <a:t>antType</a:t>
            </a:r>
            <a:r>
              <a:rPr lang="en-US" altLang="en-US" sz="2400" dirty="0"/>
              <a:t> $</a:t>
            </a:r>
            <a:r>
              <a:rPr lang="en-US" altLang="en-US" sz="2400" dirty="0" err="1"/>
              <a:t>val</a:t>
            </a:r>
            <a:r>
              <a:rPr lang="en-US" altLang="en-US" sz="2400" dirty="0"/>
              <a:t>(ant) \ </a:t>
            </a:r>
          </a:p>
          <a:p>
            <a:pPr marL="0" indent="0">
              <a:buNone/>
            </a:pPr>
            <a:r>
              <a:rPr lang="en-US" altLang="en-US" sz="2400" dirty="0"/>
              <a:t>		-</a:t>
            </a:r>
            <a:r>
              <a:rPr lang="en-US" altLang="en-US" sz="2400" dirty="0" err="1"/>
              <a:t>propType</a:t>
            </a:r>
            <a:r>
              <a:rPr lang="en-US" altLang="en-US" sz="2400" dirty="0"/>
              <a:t> $</a:t>
            </a:r>
            <a:r>
              <a:rPr lang="en-US" altLang="en-US" sz="2400" dirty="0" err="1"/>
              <a:t>val</a:t>
            </a:r>
            <a:r>
              <a:rPr lang="en-US" altLang="en-US" sz="2400" dirty="0"/>
              <a:t>(prop) \ </a:t>
            </a:r>
          </a:p>
          <a:p>
            <a:pPr marL="0" indent="0">
              <a:buNone/>
            </a:pPr>
            <a:r>
              <a:rPr lang="en-US" altLang="en-US" sz="2400" dirty="0"/>
              <a:t>		-</a:t>
            </a:r>
            <a:r>
              <a:rPr lang="en-US" altLang="en-US" sz="2400" dirty="0" err="1"/>
              <a:t>phyType</a:t>
            </a:r>
            <a:r>
              <a:rPr lang="en-US" altLang="en-US" sz="2400" dirty="0"/>
              <a:t> $</a:t>
            </a:r>
            <a:r>
              <a:rPr lang="en-US" altLang="en-US" sz="2400" dirty="0" err="1"/>
              <a:t>val</a:t>
            </a:r>
            <a:r>
              <a:rPr lang="en-US" altLang="en-US" sz="2400" dirty="0"/>
              <a:t>(</a:t>
            </a:r>
            <a:r>
              <a:rPr lang="en-US" altLang="en-US" sz="2400" dirty="0" err="1"/>
              <a:t>netif</a:t>
            </a:r>
            <a:r>
              <a:rPr lang="en-US" altLang="en-US" sz="2400" dirty="0"/>
              <a:t>) \ </a:t>
            </a:r>
          </a:p>
          <a:p>
            <a:pPr marL="0" indent="0">
              <a:buNone/>
            </a:pPr>
            <a:r>
              <a:rPr lang="en-US" altLang="en-US" sz="2400" dirty="0"/>
              <a:t>		-</a:t>
            </a:r>
            <a:r>
              <a:rPr lang="en-US" altLang="en-US" sz="2400" dirty="0" err="1"/>
              <a:t>topoInstance</a:t>
            </a:r>
            <a:r>
              <a:rPr lang="en-US" altLang="en-US" sz="2400" dirty="0"/>
              <a:t> $</a:t>
            </a:r>
            <a:r>
              <a:rPr lang="en-US" altLang="en-US" sz="2400" dirty="0" err="1"/>
              <a:t>topo</a:t>
            </a:r>
            <a:r>
              <a:rPr lang="en-US" altLang="en-US" sz="2400" dirty="0"/>
              <a:t> \ </a:t>
            </a:r>
          </a:p>
          <a:p>
            <a:pPr marL="0" indent="0">
              <a:buNone/>
            </a:pPr>
            <a:r>
              <a:rPr lang="en-US" altLang="en-US" sz="2400" dirty="0"/>
              <a:t>		-</a:t>
            </a:r>
            <a:r>
              <a:rPr lang="en-US" altLang="en-US" sz="2400" dirty="0" err="1"/>
              <a:t>channelType</a:t>
            </a:r>
            <a:r>
              <a:rPr lang="en-US" altLang="en-US" sz="2400" dirty="0"/>
              <a:t> $</a:t>
            </a:r>
            <a:r>
              <a:rPr lang="en-US" altLang="en-US" sz="2400" dirty="0" err="1"/>
              <a:t>val</a:t>
            </a:r>
            <a:r>
              <a:rPr lang="en-US" altLang="en-US" sz="2400" dirty="0"/>
              <a:t>(</a:t>
            </a:r>
            <a:r>
              <a:rPr lang="en-US" altLang="en-US" sz="2400" dirty="0" err="1"/>
              <a:t>chan</a:t>
            </a:r>
            <a:r>
              <a:rPr lang="en-US" altLang="en-US" sz="2400" dirty="0"/>
              <a:t>) \ </a:t>
            </a:r>
          </a:p>
          <a:p>
            <a:pPr marL="0" indent="0">
              <a:buNone/>
            </a:pPr>
            <a:r>
              <a:rPr lang="en-US" altLang="en-US" sz="2400" dirty="0"/>
              <a:t>		-</a:t>
            </a:r>
            <a:r>
              <a:rPr lang="en-US" altLang="en-US" sz="2400" dirty="0" err="1"/>
              <a:t>agentTrace</a:t>
            </a:r>
            <a:r>
              <a:rPr lang="en-US" altLang="en-US" sz="2400" dirty="0"/>
              <a:t> ON \ </a:t>
            </a:r>
          </a:p>
          <a:p>
            <a:pPr marL="0" indent="0">
              <a:buNone/>
            </a:pPr>
            <a:r>
              <a:rPr lang="en-US" altLang="en-US" sz="2400" dirty="0"/>
              <a:t>		-</a:t>
            </a:r>
            <a:r>
              <a:rPr lang="en-US" altLang="en-US" sz="2400" dirty="0" err="1"/>
              <a:t>routerTrace</a:t>
            </a:r>
            <a:r>
              <a:rPr lang="en-US" altLang="en-US" sz="2400" dirty="0"/>
              <a:t> ON \ </a:t>
            </a:r>
          </a:p>
          <a:p>
            <a:pPr marL="0" indent="0">
              <a:buNone/>
            </a:pPr>
            <a:r>
              <a:rPr lang="en-US" altLang="en-US" sz="2400" dirty="0"/>
              <a:t>		-</a:t>
            </a:r>
            <a:r>
              <a:rPr lang="en-US" altLang="en-US" sz="2400" dirty="0" err="1"/>
              <a:t>macTrace</a:t>
            </a:r>
            <a:r>
              <a:rPr lang="en-US" altLang="en-US" sz="2400" dirty="0"/>
              <a:t> OFF \ </a:t>
            </a:r>
          </a:p>
          <a:p>
            <a:pPr marL="0" indent="0">
              <a:buNone/>
            </a:pPr>
            <a:r>
              <a:rPr lang="en-US" altLang="en-US" sz="2400" dirty="0"/>
              <a:t>		-</a:t>
            </a:r>
            <a:r>
              <a:rPr lang="en-US" altLang="en-US" sz="2400" dirty="0" err="1"/>
              <a:t>movementTrace</a:t>
            </a:r>
            <a:r>
              <a:rPr lang="en-US" altLang="en-US" sz="2400" dirty="0"/>
              <a:t> OFF</a:t>
            </a:r>
          </a:p>
        </p:txBody>
      </p:sp>
      <p:sp>
        <p:nvSpPr>
          <p:cNvPr id="93188"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AB7D527B-3DC2-445D-B6B5-347ADE4C2568}" type="slidenum">
              <a:rPr lang="zh-CN" altLang="en-US" sz="1400">
                <a:solidFill>
                  <a:schemeClr val="tx1"/>
                </a:solidFill>
              </a:rPr>
              <a:pPr>
                <a:buClrTx/>
                <a:buSzTx/>
                <a:buFontTx/>
                <a:buNone/>
              </a:pPr>
              <a:t>33</a:t>
            </a:fld>
            <a:endParaRPr lang="en-US" altLang="zh-CN" sz="1400">
              <a:solidFill>
                <a:schemeClr val="tx1"/>
              </a:solidFill>
            </a:endParaRPr>
          </a:p>
        </p:txBody>
      </p:sp>
    </p:spTree>
    <p:extLst>
      <p:ext uri="{BB962C8B-B14F-4D97-AF65-F5344CB8AC3E}">
        <p14:creationId xmlns="" xmlns:p14="http://schemas.microsoft.com/office/powerpoint/2010/main" val="25057949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smtClean="0"/>
              <a:t>Manual Create Node Motion</a:t>
            </a:r>
          </a:p>
        </p:txBody>
      </p:sp>
      <p:sp>
        <p:nvSpPr>
          <p:cNvPr id="3" name="Content Placeholder 2"/>
          <p:cNvSpPr>
            <a:spLocks noGrp="1"/>
          </p:cNvSpPr>
          <p:nvPr>
            <p:ph idx="1"/>
          </p:nvPr>
        </p:nvSpPr>
        <p:spPr/>
        <p:txBody>
          <a:bodyPr>
            <a:normAutofit fontScale="85000" lnSpcReduction="20000"/>
          </a:bodyPr>
          <a:lstStyle/>
          <a:p>
            <a:pPr>
              <a:defRPr/>
            </a:pPr>
            <a:r>
              <a:rPr lang="en-US" dirty="0" smtClean="0"/>
              <a:t>Create two nodes </a:t>
            </a:r>
          </a:p>
          <a:p>
            <a:pPr marL="0" indent="0">
              <a:buNone/>
              <a:defRPr/>
            </a:pPr>
            <a:r>
              <a:rPr lang="en-US" sz="2400" dirty="0">
                <a:solidFill>
                  <a:srgbClr val="000000"/>
                </a:solidFill>
              </a:rPr>
              <a:t>for {set </a:t>
            </a:r>
            <a:r>
              <a:rPr lang="en-US" sz="2400" dirty="0" err="1">
                <a:solidFill>
                  <a:srgbClr val="000000"/>
                </a:solidFill>
              </a:rPr>
              <a:t>i</a:t>
            </a:r>
            <a:r>
              <a:rPr lang="en-US" sz="2400" dirty="0">
                <a:solidFill>
                  <a:srgbClr val="000000"/>
                </a:solidFill>
              </a:rPr>
              <a:t> 0} {$</a:t>
            </a:r>
            <a:r>
              <a:rPr lang="en-US" sz="2400" dirty="0" err="1">
                <a:solidFill>
                  <a:srgbClr val="000000"/>
                </a:solidFill>
              </a:rPr>
              <a:t>i</a:t>
            </a:r>
            <a:r>
              <a:rPr lang="en-US" sz="2400" dirty="0">
                <a:solidFill>
                  <a:srgbClr val="000000"/>
                </a:solidFill>
              </a:rPr>
              <a:t> &lt; $</a:t>
            </a:r>
            <a:r>
              <a:rPr lang="en-US" sz="2400" dirty="0" err="1">
                <a:solidFill>
                  <a:srgbClr val="000000"/>
                </a:solidFill>
              </a:rPr>
              <a:t>val</a:t>
            </a:r>
            <a:r>
              <a:rPr lang="en-US" sz="2400" dirty="0">
                <a:solidFill>
                  <a:srgbClr val="000000"/>
                </a:solidFill>
              </a:rPr>
              <a:t>(</a:t>
            </a:r>
            <a:r>
              <a:rPr lang="en-US" sz="2400" dirty="0" err="1">
                <a:solidFill>
                  <a:srgbClr val="000000"/>
                </a:solidFill>
              </a:rPr>
              <a:t>nn</a:t>
            </a:r>
            <a:r>
              <a:rPr lang="en-US" sz="2400" dirty="0">
                <a:solidFill>
                  <a:srgbClr val="000000"/>
                </a:solidFill>
              </a:rPr>
              <a:t>) } {</a:t>
            </a:r>
            <a:r>
              <a:rPr lang="en-US" sz="2400" dirty="0" err="1">
                <a:solidFill>
                  <a:srgbClr val="000000"/>
                </a:solidFill>
              </a:rPr>
              <a:t>incr</a:t>
            </a:r>
            <a:r>
              <a:rPr lang="en-US" sz="2400" dirty="0">
                <a:solidFill>
                  <a:srgbClr val="000000"/>
                </a:solidFill>
              </a:rPr>
              <a:t> </a:t>
            </a:r>
            <a:r>
              <a:rPr lang="en-US" sz="2400" dirty="0" err="1">
                <a:solidFill>
                  <a:srgbClr val="000000"/>
                </a:solidFill>
              </a:rPr>
              <a:t>i</a:t>
            </a:r>
            <a:r>
              <a:rPr lang="en-US" sz="2400" dirty="0">
                <a:solidFill>
                  <a:srgbClr val="000000"/>
                </a:solidFill>
              </a:rPr>
              <a:t>} { </a:t>
            </a:r>
          </a:p>
          <a:p>
            <a:pPr marL="0" indent="0">
              <a:buNone/>
              <a:defRPr/>
            </a:pPr>
            <a:r>
              <a:rPr lang="en-US" sz="2400" dirty="0">
                <a:solidFill>
                  <a:srgbClr val="000000"/>
                </a:solidFill>
              </a:rPr>
              <a:t>	set node_($</a:t>
            </a:r>
            <a:r>
              <a:rPr lang="en-US" sz="2400" dirty="0" err="1">
                <a:solidFill>
                  <a:srgbClr val="000000"/>
                </a:solidFill>
              </a:rPr>
              <a:t>i</a:t>
            </a:r>
            <a:r>
              <a:rPr lang="en-US" sz="2400" dirty="0">
                <a:solidFill>
                  <a:srgbClr val="000000"/>
                </a:solidFill>
              </a:rPr>
              <a:t>) [$ns_ node ] </a:t>
            </a:r>
          </a:p>
          <a:p>
            <a:pPr marL="0" indent="0">
              <a:buNone/>
              <a:defRPr/>
            </a:pPr>
            <a:r>
              <a:rPr lang="en-US" sz="2400" dirty="0">
                <a:solidFill>
                  <a:srgbClr val="000000"/>
                </a:solidFill>
              </a:rPr>
              <a:t>	$node_($</a:t>
            </a:r>
            <a:r>
              <a:rPr lang="en-US" sz="2400" dirty="0" err="1">
                <a:solidFill>
                  <a:srgbClr val="000000"/>
                </a:solidFill>
              </a:rPr>
              <a:t>i</a:t>
            </a:r>
            <a:r>
              <a:rPr lang="en-US" sz="2400" dirty="0">
                <a:solidFill>
                  <a:srgbClr val="000000"/>
                </a:solidFill>
              </a:rPr>
              <a:t>) random-motion 0 </a:t>
            </a:r>
            <a:r>
              <a:rPr lang="en-US" sz="2000" dirty="0">
                <a:solidFill>
                  <a:srgbClr val="000000"/>
                </a:solidFill>
              </a:rPr>
              <a:t>;# disable random motion </a:t>
            </a:r>
          </a:p>
          <a:p>
            <a:pPr marL="0" indent="0">
              <a:buNone/>
              <a:defRPr/>
            </a:pPr>
            <a:r>
              <a:rPr lang="en-US" sz="2400" dirty="0">
                <a:solidFill>
                  <a:srgbClr val="000000"/>
                </a:solidFill>
              </a:rPr>
              <a:t>}</a:t>
            </a:r>
          </a:p>
          <a:p>
            <a:pPr>
              <a:defRPr/>
            </a:pPr>
            <a:r>
              <a:rPr lang="en-US" sz="2400" dirty="0"/>
              <a:t>Provide node position and movement(speed &amp; direction)</a:t>
            </a:r>
          </a:p>
          <a:p>
            <a:pPr marL="0" indent="0">
              <a:buNone/>
              <a:defRPr/>
            </a:pPr>
            <a:r>
              <a:rPr lang="en-US" sz="2000" dirty="0">
                <a:solidFill>
                  <a:srgbClr val="000000"/>
                </a:solidFill>
              </a:rPr>
              <a:t># Provide initial (X,Y, for now Z=0) co-ordinates </a:t>
            </a:r>
          </a:p>
          <a:p>
            <a:pPr marL="0" indent="0">
              <a:buNone/>
              <a:defRPr/>
            </a:pPr>
            <a:r>
              <a:rPr lang="en-US" sz="2000" dirty="0">
                <a:solidFill>
                  <a:srgbClr val="000000"/>
                </a:solidFill>
              </a:rPr>
              <a:t>$node_(0) set X_ 5.0 </a:t>
            </a:r>
          </a:p>
          <a:p>
            <a:pPr marL="0" indent="0">
              <a:buNone/>
              <a:defRPr/>
            </a:pPr>
            <a:r>
              <a:rPr lang="en-US" sz="2000" dirty="0">
                <a:solidFill>
                  <a:srgbClr val="000000"/>
                </a:solidFill>
              </a:rPr>
              <a:t>$node_(0) set Y_ 2.0 </a:t>
            </a:r>
          </a:p>
          <a:p>
            <a:pPr marL="0" indent="0">
              <a:buNone/>
              <a:defRPr/>
            </a:pPr>
            <a:r>
              <a:rPr lang="en-US" sz="2000" dirty="0">
                <a:solidFill>
                  <a:srgbClr val="000000"/>
                </a:solidFill>
              </a:rPr>
              <a:t>$node_(0) set Z_ 0.0 </a:t>
            </a:r>
          </a:p>
          <a:p>
            <a:pPr marL="0" indent="0">
              <a:buNone/>
              <a:defRPr/>
            </a:pPr>
            <a:r>
              <a:rPr lang="en-US" sz="2000" dirty="0">
                <a:solidFill>
                  <a:srgbClr val="000000"/>
                </a:solidFill>
              </a:rPr>
              <a:t>$node_(1) set X_ 390.0 </a:t>
            </a:r>
          </a:p>
          <a:p>
            <a:pPr marL="0" indent="0">
              <a:buNone/>
              <a:defRPr/>
            </a:pPr>
            <a:r>
              <a:rPr lang="en-US" sz="2000" dirty="0">
                <a:solidFill>
                  <a:srgbClr val="000000"/>
                </a:solidFill>
              </a:rPr>
              <a:t>$node_(1) set Y_ 385.0 </a:t>
            </a:r>
          </a:p>
          <a:p>
            <a:pPr marL="0" indent="0">
              <a:buNone/>
              <a:defRPr/>
            </a:pPr>
            <a:r>
              <a:rPr lang="en-US" sz="2000" dirty="0">
                <a:solidFill>
                  <a:srgbClr val="000000"/>
                </a:solidFill>
              </a:rPr>
              <a:t>$node_(1) set Z_ 0.0</a:t>
            </a:r>
          </a:p>
        </p:txBody>
      </p:sp>
      <p:sp>
        <p:nvSpPr>
          <p:cNvPr id="94212"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84968BD9-C0AF-4D15-8362-B036DE1259D4}" type="slidenum">
              <a:rPr lang="zh-CN" altLang="en-US" sz="1400">
                <a:solidFill>
                  <a:schemeClr val="tx1"/>
                </a:solidFill>
              </a:rPr>
              <a:pPr>
                <a:buClrTx/>
                <a:buSzTx/>
                <a:buFontTx/>
                <a:buNone/>
              </a:pPr>
              <a:t>34</a:t>
            </a:fld>
            <a:endParaRPr lang="en-US" altLang="zh-CN" sz="1400">
              <a:solidFill>
                <a:schemeClr val="tx1"/>
              </a:solidFill>
            </a:endParaRPr>
          </a:p>
        </p:txBody>
      </p:sp>
    </p:spTree>
    <p:extLst>
      <p:ext uri="{BB962C8B-B14F-4D97-AF65-F5344CB8AC3E}">
        <p14:creationId xmlns="" xmlns:p14="http://schemas.microsoft.com/office/powerpoint/2010/main" val="526313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pPr>
              <a:defRPr/>
            </a:pPr>
            <a:r>
              <a:rPr lang="en-US" dirty="0" smtClean="0"/>
              <a:t>Produce some node movements</a:t>
            </a:r>
          </a:p>
          <a:p>
            <a:pPr marL="0" indent="0">
              <a:buNone/>
              <a:defRPr/>
            </a:pPr>
            <a:r>
              <a:rPr lang="en-US" sz="2000" dirty="0">
                <a:solidFill>
                  <a:srgbClr val="000000"/>
                </a:solidFill>
              </a:rPr>
              <a:t># Node_(1) starts to move towards node_(0)  </a:t>
            </a:r>
          </a:p>
          <a:p>
            <a:pPr marL="0" indent="0">
              <a:buNone/>
              <a:defRPr/>
            </a:pPr>
            <a:r>
              <a:rPr lang="en-US" sz="2000" dirty="0">
                <a:solidFill>
                  <a:srgbClr val="000000"/>
                </a:solidFill>
              </a:rPr>
              <a:t>  $ns_ at 50.0 "$node_(1) </a:t>
            </a:r>
            <a:r>
              <a:rPr lang="en-US" sz="2000" dirty="0" err="1">
                <a:solidFill>
                  <a:srgbClr val="000000"/>
                </a:solidFill>
              </a:rPr>
              <a:t>setdest</a:t>
            </a:r>
            <a:r>
              <a:rPr lang="en-US" sz="2000" dirty="0">
                <a:solidFill>
                  <a:srgbClr val="000000"/>
                </a:solidFill>
              </a:rPr>
              <a:t> 25.0 20.0 15.0" </a:t>
            </a:r>
          </a:p>
          <a:p>
            <a:pPr marL="0" indent="0">
              <a:buNone/>
              <a:defRPr/>
            </a:pPr>
            <a:r>
              <a:rPr lang="en-US" sz="2000" dirty="0">
                <a:solidFill>
                  <a:srgbClr val="000000"/>
                </a:solidFill>
              </a:rPr>
              <a:t>  $ns_ at 10.0 "$node_(0) </a:t>
            </a:r>
            <a:r>
              <a:rPr lang="en-US" sz="2000" dirty="0" err="1">
                <a:solidFill>
                  <a:srgbClr val="000000"/>
                </a:solidFill>
              </a:rPr>
              <a:t>setdest</a:t>
            </a:r>
            <a:r>
              <a:rPr lang="en-US" sz="2000" dirty="0">
                <a:solidFill>
                  <a:srgbClr val="000000"/>
                </a:solidFill>
              </a:rPr>
              <a:t> 20.0 18.0 1.0" </a:t>
            </a:r>
          </a:p>
          <a:p>
            <a:pPr marL="0" indent="0">
              <a:buNone/>
              <a:defRPr/>
            </a:pPr>
            <a:r>
              <a:rPr lang="en-US" sz="2000" dirty="0">
                <a:solidFill>
                  <a:srgbClr val="000000"/>
                </a:solidFill>
              </a:rPr>
              <a:t># Node_(1) then starts to move away from node_(0) </a:t>
            </a:r>
          </a:p>
          <a:p>
            <a:pPr marL="0" indent="0">
              <a:buNone/>
              <a:defRPr/>
            </a:pPr>
            <a:r>
              <a:rPr lang="en-US" sz="2000" dirty="0">
                <a:solidFill>
                  <a:srgbClr val="000000"/>
                </a:solidFill>
              </a:rPr>
              <a:t>  $ns_ at 100.0 "$node_(1) </a:t>
            </a:r>
            <a:r>
              <a:rPr lang="en-US" sz="2000" dirty="0" err="1">
                <a:solidFill>
                  <a:srgbClr val="000000"/>
                </a:solidFill>
              </a:rPr>
              <a:t>setdest</a:t>
            </a:r>
            <a:r>
              <a:rPr lang="en-US" sz="2000" dirty="0">
                <a:solidFill>
                  <a:srgbClr val="000000"/>
                </a:solidFill>
              </a:rPr>
              <a:t> 490.0 480.0 15.0“</a:t>
            </a:r>
          </a:p>
          <a:p>
            <a:pPr marL="0" indent="0">
              <a:buNone/>
              <a:defRPr/>
            </a:pPr>
            <a:endParaRPr lang="en-US" sz="2000" dirty="0"/>
          </a:p>
          <a:p>
            <a:pPr>
              <a:defRPr/>
            </a:pPr>
            <a:r>
              <a:rPr lang="en-US" sz="2000" dirty="0"/>
              <a:t>$ns_ at 50.0 "$node_(1) </a:t>
            </a:r>
            <a:r>
              <a:rPr lang="en-US" sz="2000" dirty="0" err="1"/>
              <a:t>setdest</a:t>
            </a:r>
            <a:r>
              <a:rPr lang="en-US" sz="2000" dirty="0"/>
              <a:t> 25.0 20.0 15.0" means at time 50.0s, node1 starts to move towards the destination (x=25,y=20) at a speed of 15m/s.</a:t>
            </a:r>
          </a:p>
        </p:txBody>
      </p:sp>
      <p:sp>
        <p:nvSpPr>
          <p:cNvPr id="9523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3AA59593-E197-40E4-B5D3-9762F336C43E}" type="slidenum">
              <a:rPr lang="zh-CN" altLang="en-US" sz="1400">
                <a:solidFill>
                  <a:schemeClr val="tx1"/>
                </a:solidFill>
              </a:rPr>
              <a:pPr>
                <a:buClrTx/>
                <a:buSzTx/>
                <a:buFontTx/>
                <a:buNone/>
              </a:pPr>
              <a:t>35</a:t>
            </a:fld>
            <a:endParaRPr lang="en-US" altLang="zh-CN" sz="1400">
              <a:solidFill>
                <a:schemeClr val="tx1"/>
              </a:solidFill>
            </a:endParaRPr>
          </a:p>
        </p:txBody>
      </p:sp>
    </p:spTree>
    <p:extLst>
      <p:ext uri="{BB962C8B-B14F-4D97-AF65-F5344CB8AC3E}">
        <p14:creationId xmlns="" xmlns:p14="http://schemas.microsoft.com/office/powerpoint/2010/main" val="22317223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normAutofit fontScale="70000" lnSpcReduction="20000"/>
          </a:bodyPr>
          <a:lstStyle/>
          <a:p>
            <a:pPr>
              <a:defRPr/>
            </a:pPr>
            <a:r>
              <a:rPr lang="en-US" dirty="0"/>
              <a:t>Setup traffic flow between the two nodes:</a:t>
            </a:r>
          </a:p>
          <a:p>
            <a:pPr marL="0" indent="0">
              <a:buNone/>
              <a:defRPr/>
            </a:pPr>
            <a:r>
              <a:rPr lang="en-US" sz="2000" dirty="0">
                <a:solidFill>
                  <a:srgbClr val="000000"/>
                </a:solidFill>
              </a:rPr>
              <a:t># TCP connections between node_(0) and node_(1) </a:t>
            </a:r>
          </a:p>
          <a:p>
            <a:pPr marL="0" indent="0">
              <a:buNone/>
              <a:defRPr/>
            </a:pPr>
            <a:r>
              <a:rPr lang="en-US" sz="2000" dirty="0">
                <a:solidFill>
                  <a:srgbClr val="000000"/>
                </a:solidFill>
              </a:rPr>
              <a:t>set </a:t>
            </a:r>
            <a:r>
              <a:rPr lang="en-US" sz="2000" dirty="0" err="1">
                <a:solidFill>
                  <a:srgbClr val="000000"/>
                </a:solidFill>
              </a:rPr>
              <a:t>tcp</a:t>
            </a:r>
            <a:r>
              <a:rPr lang="en-US" sz="2000" dirty="0">
                <a:solidFill>
                  <a:srgbClr val="000000"/>
                </a:solidFill>
              </a:rPr>
              <a:t> [new Agent/TCP] </a:t>
            </a:r>
          </a:p>
          <a:p>
            <a:pPr marL="0" indent="0">
              <a:buNone/>
              <a:defRPr/>
            </a:pPr>
            <a:r>
              <a:rPr lang="en-US" sz="2000" dirty="0">
                <a:solidFill>
                  <a:srgbClr val="000000"/>
                </a:solidFill>
              </a:rPr>
              <a:t>set sink [new Agent/</a:t>
            </a:r>
            <a:r>
              <a:rPr lang="en-US" sz="2000" dirty="0" err="1">
                <a:solidFill>
                  <a:srgbClr val="000000"/>
                </a:solidFill>
              </a:rPr>
              <a:t>TCPSink</a:t>
            </a:r>
            <a:r>
              <a:rPr lang="en-US" sz="2000" dirty="0">
                <a:solidFill>
                  <a:srgbClr val="000000"/>
                </a:solidFill>
              </a:rPr>
              <a:t>] </a:t>
            </a:r>
          </a:p>
          <a:p>
            <a:pPr marL="0" indent="0">
              <a:buNone/>
              <a:defRPr/>
            </a:pPr>
            <a:r>
              <a:rPr lang="en-US" sz="2000" dirty="0">
                <a:solidFill>
                  <a:srgbClr val="000000"/>
                </a:solidFill>
              </a:rPr>
              <a:t>$ns_ attach-agent $node_(0) $</a:t>
            </a:r>
            <a:r>
              <a:rPr lang="en-US" sz="2000" dirty="0" err="1">
                <a:solidFill>
                  <a:srgbClr val="000000"/>
                </a:solidFill>
              </a:rPr>
              <a:t>tcp</a:t>
            </a:r>
            <a:r>
              <a:rPr lang="en-US" sz="2000" dirty="0">
                <a:solidFill>
                  <a:srgbClr val="000000"/>
                </a:solidFill>
              </a:rPr>
              <a:t> </a:t>
            </a:r>
          </a:p>
          <a:p>
            <a:pPr marL="0" indent="0">
              <a:buNone/>
              <a:defRPr/>
            </a:pPr>
            <a:r>
              <a:rPr lang="en-US" sz="2000" dirty="0">
                <a:solidFill>
                  <a:srgbClr val="000000"/>
                </a:solidFill>
              </a:rPr>
              <a:t>$ns_ attach-agent $node_(1) $sink </a:t>
            </a:r>
          </a:p>
          <a:p>
            <a:pPr marL="0" indent="0">
              <a:buNone/>
              <a:defRPr/>
            </a:pPr>
            <a:r>
              <a:rPr lang="en-US" sz="2000" dirty="0">
                <a:solidFill>
                  <a:srgbClr val="000000"/>
                </a:solidFill>
              </a:rPr>
              <a:t>$ns_ connect $</a:t>
            </a:r>
            <a:r>
              <a:rPr lang="en-US" sz="2000" dirty="0" err="1">
                <a:solidFill>
                  <a:srgbClr val="000000"/>
                </a:solidFill>
              </a:rPr>
              <a:t>tcp</a:t>
            </a:r>
            <a:r>
              <a:rPr lang="en-US" sz="2000" dirty="0">
                <a:solidFill>
                  <a:srgbClr val="000000"/>
                </a:solidFill>
              </a:rPr>
              <a:t> $sink </a:t>
            </a:r>
          </a:p>
          <a:p>
            <a:pPr marL="0" indent="0">
              <a:buNone/>
              <a:defRPr/>
            </a:pPr>
            <a:r>
              <a:rPr lang="en-US" sz="2000" dirty="0">
                <a:solidFill>
                  <a:srgbClr val="000000"/>
                </a:solidFill>
              </a:rPr>
              <a:t>set ftp [new Application/FTP] </a:t>
            </a:r>
          </a:p>
          <a:p>
            <a:pPr marL="0" indent="0">
              <a:buNone/>
              <a:defRPr/>
            </a:pPr>
            <a:r>
              <a:rPr lang="en-US" sz="2000" dirty="0">
                <a:solidFill>
                  <a:srgbClr val="000000"/>
                </a:solidFill>
              </a:rPr>
              <a:t>$ftp attach-agent $</a:t>
            </a:r>
            <a:r>
              <a:rPr lang="en-US" sz="2000" dirty="0" err="1">
                <a:solidFill>
                  <a:srgbClr val="000000"/>
                </a:solidFill>
              </a:rPr>
              <a:t>tcp</a:t>
            </a:r>
            <a:r>
              <a:rPr lang="en-US" sz="2000" dirty="0">
                <a:solidFill>
                  <a:srgbClr val="000000"/>
                </a:solidFill>
              </a:rPr>
              <a:t> </a:t>
            </a:r>
          </a:p>
          <a:p>
            <a:pPr marL="0" indent="0">
              <a:buNone/>
              <a:defRPr/>
            </a:pPr>
            <a:r>
              <a:rPr lang="en-US" sz="2000" dirty="0">
                <a:solidFill>
                  <a:srgbClr val="000000"/>
                </a:solidFill>
              </a:rPr>
              <a:t>$ns_ at 10.0 "$ftp start"</a:t>
            </a:r>
          </a:p>
          <a:p>
            <a:pPr>
              <a:defRPr/>
            </a:pPr>
            <a:endParaRPr lang="en-US" dirty="0"/>
          </a:p>
          <a:p>
            <a:pPr>
              <a:defRPr/>
            </a:pPr>
            <a:endParaRPr lang="en-US" dirty="0"/>
          </a:p>
          <a:p>
            <a:pPr>
              <a:defRPr/>
            </a:pPr>
            <a:endParaRPr lang="en-US" dirty="0"/>
          </a:p>
          <a:p>
            <a:pPr>
              <a:defRPr/>
            </a:pPr>
            <a:r>
              <a:rPr lang="en-US" dirty="0"/>
              <a:t>a</a:t>
            </a:r>
          </a:p>
        </p:txBody>
      </p:sp>
      <p:sp>
        <p:nvSpPr>
          <p:cNvPr id="96260"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8412A3A7-2E62-4664-B283-CB3A796CD40E}" type="slidenum">
              <a:rPr lang="zh-CN" altLang="en-US" sz="1400">
                <a:solidFill>
                  <a:schemeClr val="tx1"/>
                </a:solidFill>
              </a:rPr>
              <a:pPr>
                <a:buClrTx/>
                <a:buSzTx/>
                <a:buFontTx/>
                <a:buNone/>
              </a:pPr>
              <a:t>36</a:t>
            </a:fld>
            <a:endParaRPr lang="en-US" altLang="zh-CN" sz="1400">
              <a:solidFill>
                <a:schemeClr val="tx1"/>
              </a:solidFill>
            </a:endParaRPr>
          </a:p>
        </p:txBody>
      </p:sp>
    </p:spTree>
    <p:extLst>
      <p:ext uri="{BB962C8B-B14F-4D97-AF65-F5344CB8AC3E}">
        <p14:creationId xmlns="" xmlns:p14="http://schemas.microsoft.com/office/powerpoint/2010/main" val="11686296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endParaRPr lang="en-US" altLang="en-US" smtClean="0"/>
          </a:p>
        </p:txBody>
      </p:sp>
      <p:sp>
        <p:nvSpPr>
          <p:cNvPr id="97283" name="Content Placeholder 2"/>
          <p:cNvSpPr>
            <a:spLocks noGrp="1"/>
          </p:cNvSpPr>
          <p:nvPr>
            <p:ph idx="1"/>
          </p:nvPr>
        </p:nvSpPr>
        <p:spPr/>
        <p:txBody>
          <a:bodyPr>
            <a:normAutofit fontScale="92500" lnSpcReduction="20000"/>
          </a:bodyPr>
          <a:lstStyle/>
          <a:p>
            <a:pPr marL="0" indent="0">
              <a:buNone/>
            </a:pPr>
            <a:r>
              <a:rPr lang="en-US" altLang="en-US" sz="2000">
                <a:solidFill>
                  <a:srgbClr val="000000"/>
                </a:solidFill>
              </a:rPr>
              <a:t># Tell nodes when the simulation ends </a:t>
            </a:r>
          </a:p>
          <a:p>
            <a:pPr marL="0" indent="0">
              <a:buNone/>
            </a:pPr>
            <a:r>
              <a:rPr lang="en-US" altLang="en-US" sz="2000">
                <a:solidFill>
                  <a:srgbClr val="000000"/>
                </a:solidFill>
              </a:rPr>
              <a:t> for {set i 0} {$i &lt; $val(nn) } {incr i} { </a:t>
            </a:r>
          </a:p>
          <a:p>
            <a:pPr marL="0" indent="0">
              <a:buNone/>
            </a:pPr>
            <a:r>
              <a:rPr lang="en-US" altLang="en-US" sz="2000">
                <a:solidFill>
                  <a:srgbClr val="000000"/>
                </a:solidFill>
              </a:rPr>
              <a:t>	$ns_ at 150.0 "$node_($i) reset"; </a:t>
            </a:r>
          </a:p>
          <a:p>
            <a:pPr marL="0" indent="0">
              <a:buNone/>
            </a:pPr>
            <a:r>
              <a:rPr lang="en-US" altLang="en-US" sz="2000">
                <a:solidFill>
                  <a:srgbClr val="000000"/>
                </a:solidFill>
              </a:rPr>
              <a:t> } </a:t>
            </a:r>
          </a:p>
          <a:p>
            <a:pPr marL="0" indent="0">
              <a:buNone/>
            </a:pPr>
            <a:r>
              <a:rPr lang="en-US" altLang="en-US" sz="2000">
                <a:solidFill>
                  <a:srgbClr val="000000"/>
                </a:solidFill>
              </a:rPr>
              <a:t>$ns_ at 150.0001 "stop" </a:t>
            </a:r>
          </a:p>
          <a:p>
            <a:pPr marL="0" indent="0">
              <a:buNone/>
            </a:pPr>
            <a:r>
              <a:rPr lang="en-US" altLang="en-US" sz="2000">
                <a:solidFill>
                  <a:srgbClr val="000000"/>
                </a:solidFill>
              </a:rPr>
              <a:t>$ns_ at 150.0002 "puts \"NS EXITING...\“ ; $ns_ halt" </a:t>
            </a:r>
          </a:p>
          <a:p>
            <a:pPr marL="0" indent="0">
              <a:buNone/>
            </a:pPr>
            <a:r>
              <a:rPr lang="en-US" altLang="en-US" sz="2000">
                <a:solidFill>
                  <a:srgbClr val="000000"/>
                </a:solidFill>
              </a:rPr>
              <a:t>proc stop {} { </a:t>
            </a:r>
          </a:p>
          <a:p>
            <a:pPr marL="0" indent="0">
              <a:buNone/>
            </a:pPr>
            <a:r>
              <a:rPr lang="en-US" altLang="en-US" sz="2000">
                <a:solidFill>
                  <a:srgbClr val="000000"/>
                </a:solidFill>
              </a:rPr>
              <a:t>	global ns_ tracefd </a:t>
            </a:r>
          </a:p>
          <a:p>
            <a:pPr marL="0" indent="0">
              <a:buNone/>
            </a:pPr>
            <a:r>
              <a:rPr lang="en-US" altLang="en-US" sz="2000">
                <a:solidFill>
                  <a:srgbClr val="000000"/>
                </a:solidFill>
              </a:rPr>
              <a:t>	close $tracefd </a:t>
            </a:r>
          </a:p>
          <a:p>
            <a:pPr marL="0" indent="0">
              <a:buNone/>
            </a:pPr>
            <a:r>
              <a:rPr lang="en-US" altLang="en-US" sz="2000">
                <a:solidFill>
                  <a:srgbClr val="000000"/>
                </a:solidFill>
              </a:rPr>
              <a:t>}</a:t>
            </a:r>
          </a:p>
          <a:p>
            <a:pPr marL="0" indent="0">
              <a:buNone/>
            </a:pPr>
            <a:endParaRPr lang="en-US" altLang="en-US" sz="2000"/>
          </a:p>
          <a:p>
            <a:pPr marL="0" indent="0">
              <a:buNone/>
            </a:pPr>
            <a:r>
              <a:rPr lang="en-US" altLang="en-US" sz="2000"/>
              <a:t>puts "Starting Simulation..." </a:t>
            </a:r>
          </a:p>
          <a:p>
            <a:pPr marL="0" indent="0">
              <a:buNone/>
            </a:pPr>
            <a:r>
              <a:rPr lang="en-US" altLang="en-US" sz="2000"/>
              <a:t>$ns_ run</a:t>
            </a:r>
            <a:endParaRPr lang="en-US" altLang="en-US" sz="2000">
              <a:solidFill>
                <a:srgbClr val="000000"/>
              </a:solidFill>
            </a:endParaRPr>
          </a:p>
        </p:txBody>
      </p:sp>
      <p:sp>
        <p:nvSpPr>
          <p:cNvPr id="97284"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A1A794A6-88AF-43B0-ACF6-DBE8D87BC269}" type="slidenum">
              <a:rPr lang="zh-CN" altLang="en-US" sz="1400">
                <a:solidFill>
                  <a:schemeClr val="tx1"/>
                </a:solidFill>
              </a:rPr>
              <a:pPr>
                <a:buClrTx/>
                <a:buSzTx/>
                <a:buFontTx/>
                <a:buNone/>
              </a:pPr>
              <a:t>37</a:t>
            </a:fld>
            <a:endParaRPr lang="en-US" altLang="zh-CN" sz="1400">
              <a:solidFill>
                <a:schemeClr val="tx1"/>
              </a:solidFill>
            </a:endParaRPr>
          </a:p>
        </p:txBody>
      </p:sp>
    </p:spTree>
    <p:extLst>
      <p:ext uri="{BB962C8B-B14F-4D97-AF65-F5344CB8AC3E}">
        <p14:creationId xmlns="" xmlns:p14="http://schemas.microsoft.com/office/powerpoint/2010/main" val="27206246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1840282" y="0"/>
            <a:ext cx="10515600" cy="1325563"/>
          </a:xfrm>
        </p:spPr>
        <p:txBody>
          <a:bodyPr/>
          <a:lstStyle/>
          <a:p>
            <a:r>
              <a:rPr lang="en-US" altLang="en-US" dirty="0" smtClean="0"/>
              <a:t>Wireless Trace File Analysis</a:t>
            </a:r>
          </a:p>
        </p:txBody>
      </p:sp>
      <p:sp>
        <p:nvSpPr>
          <p:cNvPr id="98307" name="Content Placeholder 2"/>
          <p:cNvSpPr>
            <a:spLocks noGrp="1"/>
          </p:cNvSpPr>
          <p:nvPr>
            <p:ph idx="1"/>
          </p:nvPr>
        </p:nvSpPr>
        <p:spPr>
          <a:xfrm>
            <a:off x="1102291" y="1209111"/>
            <a:ext cx="9595438" cy="4359275"/>
          </a:xfrm>
        </p:spPr>
        <p:txBody>
          <a:bodyPr>
            <a:normAutofit fontScale="25000" lnSpcReduction="20000"/>
          </a:bodyPr>
          <a:lstStyle/>
          <a:p>
            <a:pPr marL="0" indent="0">
              <a:buNone/>
            </a:pPr>
            <a:r>
              <a:rPr lang="en-US" altLang="en-US" sz="8000" dirty="0">
                <a:solidFill>
                  <a:srgbClr val="000000"/>
                </a:solidFill>
              </a:rPr>
              <a:t>ACTION:	[</a:t>
            </a:r>
            <a:r>
              <a:rPr lang="en-US" altLang="en-US" sz="8000" dirty="0" err="1">
                <a:solidFill>
                  <a:srgbClr val="000000"/>
                </a:solidFill>
              </a:rPr>
              <a:t>s|r|D</a:t>
            </a:r>
            <a:r>
              <a:rPr lang="en-US" altLang="en-US" sz="8000" dirty="0">
                <a:solidFill>
                  <a:srgbClr val="000000"/>
                </a:solidFill>
              </a:rPr>
              <a:t>]: s -- sent, r -- received, D -- dropped</a:t>
            </a:r>
          </a:p>
          <a:p>
            <a:pPr marL="0" indent="0">
              <a:buNone/>
            </a:pPr>
            <a:r>
              <a:rPr lang="en-US" altLang="en-US" sz="8000" dirty="0">
                <a:solidFill>
                  <a:srgbClr val="000000"/>
                </a:solidFill>
              </a:rPr>
              <a:t>WHEN:	the time when the action happened</a:t>
            </a:r>
          </a:p>
          <a:p>
            <a:pPr marL="0" indent="0">
              <a:buNone/>
            </a:pPr>
            <a:r>
              <a:rPr lang="en-US" altLang="en-US" sz="8000" dirty="0">
                <a:solidFill>
                  <a:srgbClr val="000000"/>
                </a:solidFill>
              </a:rPr>
              <a:t>WHERE:	the node where the action happened</a:t>
            </a:r>
          </a:p>
          <a:p>
            <a:pPr marL="0" indent="0">
              <a:buNone/>
            </a:pPr>
            <a:r>
              <a:rPr lang="en-US" altLang="en-US" sz="8000" dirty="0">
                <a:solidFill>
                  <a:srgbClr val="000000"/>
                </a:solidFill>
              </a:rPr>
              <a:t>LAYER:	AGT -- application, </a:t>
            </a:r>
          </a:p>
          <a:p>
            <a:pPr marL="0" indent="0">
              <a:buNone/>
            </a:pPr>
            <a:r>
              <a:rPr lang="en-US" altLang="en-US" sz="8000" dirty="0">
                <a:solidFill>
                  <a:srgbClr val="000000"/>
                </a:solidFill>
              </a:rPr>
              <a:t>	RTR -- routing, </a:t>
            </a:r>
          </a:p>
          <a:p>
            <a:pPr marL="0" indent="0">
              <a:buNone/>
            </a:pPr>
            <a:r>
              <a:rPr lang="en-US" altLang="en-US" sz="8000" dirty="0">
                <a:solidFill>
                  <a:srgbClr val="000000"/>
                </a:solidFill>
              </a:rPr>
              <a:t>	LL  -- link layer (ARP is done here)</a:t>
            </a:r>
          </a:p>
          <a:p>
            <a:pPr marL="0" indent="0">
              <a:buNone/>
            </a:pPr>
            <a:r>
              <a:rPr lang="en-US" altLang="en-US" sz="8000" dirty="0">
                <a:solidFill>
                  <a:srgbClr val="000000"/>
                </a:solidFill>
              </a:rPr>
              <a:t>	IFQ -- outgoing packet queue (between link and </a:t>
            </a:r>
            <a:r>
              <a:rPr lang="en-US" altLang="en-US" sz="8000" dirty="0" err="1">
                <a:solidFill>
                  <a:srgbClr val="000000"/>
                </a:solidFill>
              </a:rPr>
              <a:t>mac</a:t>
            </a:r>
            <a:r>
              <a:rPr lang="en-US" altLang="en-US" sz="8000" dirty="0">
                <a:solidFill>
                  <a:srgbClr val="000000"/>
                </a:solidFill>
              </a:rPr>
              <a:t> layer)</a:t>
            </a:r>
          </a:p>
          <a:p>
            <a:pPr marL="0" indent="0">
              <a:buNone/>
            </a:pPr>
            <a:r>
              <a:rPr lang="en-US" altLang="en-US" sz="8000" dirty="0">
                <a:solidFill>
                  <a:srgbClr val="000000"/>
                </a:solidFill>
              </a:rPr>
              <a:t>	MAC -- </a:t>
            </a:r>
            <a:r>
              <a:rPr lang="en-US" altLang="en-US" sz="8000" dirty="0" err="1">
                <a:solidFill>
                  <a:srgbClr val="000000"/>
                </a:solidFill>
              </a:rPr>
              <a:t>mac</a:t>
            </a:r>
            <a:r>
              <a:rPr lang="en-US" altLang="en-US" sz="8000" dirty="0">
                <a:solidFill>
                  <a:srgbClr val="000000"/>
                </a:solidFill>
              </a:rPr>
              <a:t>, </a:t>
            </a:r>
          </a:p>
          <a:p>
            <a:pPr marL="0" indent="0">
              <a:buNone/>
            </a:pPr>
            <a:r>
              <a:rPr lang="en-US" altLang="en-US" sz="8000" dirty="0">
                <a:solidFill>
                  <a:srgbClr val="000000"/>
                </a:solidFill>
              </a:rPr>
              <a:t>	PHY -- physical</a:t>
            </a:r>
          </a:p>
          <a:p>
            <a:pPr marL="0" indent="0">
              <a:buNone/>
            </a:pPr>
            <a:r>
              <a:rPr lang="en-US" altLang="en-US" sz="8000" dirty="0">
                <a:solidFill>
                  <a:srgbClr val="000000"/>
                </a:solidFill>
              </a:rPr>
              <a:t>flags:</a:t>
            </a:r>
          </a:p>
          <a:p>
            <a:pPr marL="0" indent="0">
              <a:buNone/>
            </a:pPr>
            <a:r>
              <a:rPr lang="en-US" altLang="en-US" sz="8000" dirty="0">
                <a:solidFill>
                  <a:srgbClr val="000000"/>
                </a:solidFill>
              </a:rPr>
              <a:t>SEQNO:	the sequence number of the </a:t>
            </a:r>
            <a:r>
              <a:rPr lang="en-US" altLang="en-US" sz="8000" dirty="0" smtClean="0">
                <a:solidFill>
                  <a:srgbClr val="000000"/>
                </a:solidFill>
              </a:rPr>
              <a:t>packet</a:t>
            </a:r>
            <a:endParaRPr lang="en-US" altLang="en-US" sz="8000" dirty="0">
              <a:solidFill>
                <a:srgbClr val="000000"/>
              </a:solidFill>
            </a:endParaRPr>
          </a:p>
        </p:txBody>
      </p:sp>
      <p:sp>
        <p:nvSpPr>
          <p:cNvPr id="98308"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endParaRPr lang="en-US" altLang="zh-CN" sz="1400" dirty="0">
              <a:solidFill>
                <a:schemeClr val="tx1"/>
              </a:solidFill>
            </a:endParaRPr>
          </a:p>
        </p:txBody>
      </p:sp>
    </p:spTree>
    <p:extLst>
      <p:ext uri="{BB962C8B-B14F-4D97-AF65-F5344CB8AC3E}">
        <p14:creationId xmlns="" xmlns:p14="http://schemas.microsoft.com/office/powerpoint/2010/main" val="6757018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3460" y="961329"/>
            <a:ext cx="10515600" cy="4351338"/>
          </a:xfrm>
        </p:spPr>
        <p:txBody>
          <a:bodyPr>
            <a:normAutofit fontScale="25000" lnSpcReduction="20000"/>
          </a:bodyPr>
          <a:lstStyle/>
          <a:p>
            <a:pPr marL="0" indent="0">
              <a:buNone/>
            </a:pPr>
            <a:r>
              <a:rPr lang="en-US" altLang="en-US" sz="8000" dirty="0" smtClean="0">
                <a:solidFill>
                  <a:srgbClr val="000000"/>
                </a:solidFill>
              </a:rPr>
              <a:t>TYPE:	the packet type</a:t>
            </a:r>
          </a:p>
          <a:p>
            <a:pPr marL="0" indent="0">
              <a:buNone/>
            </a:pPr>
            <a:r>
              <a:rPr lang="en-US" altLang="en-US" sz="8000" dirty="0" smtClean="0">
                <a:solidFill>
                  <a:srgbClr val="000000"/>
                </a:solidFill>
              </a:rPr>
              <a:t>		</a:t>
            </a:r>
            <a:r>
              <a:rPr lang="en-US" altLang="en-US" sz="8000" dirty="0" err="1" smtClean="0">
                <a:solidFill>
                  <a:srgbClr val="000000"/>
                </a:solidFill>
              </a:rPr>
              <a:t>cbr</a:t>
            </a:r>
            <a:r>
              <a:rPr lang="en-US" altLang="en-US" sz="8000" dirty="0" smtClean="0">
                <a:solidFill>
                  <a:srgbClr val="000000"/>
                </a:solidFill>
              </a:rPr>
              <a:t> -- CBR data stream packet</a:t>
            </a:r>
          </a:p>
          <a:p>
            <a:pPr marL="0" indent="0">
              <a:buNone/>
            </a:pPr>
            <a:r>
              <a:rPr lang="en-US" altLang="en-US" sz="8000" dirty="0" smtClean="0">
                <a:solidFill>
                  <a:srgbClr val="000000"/>
                </a:solidFill>
              </a:rPr>
              <a:t>		DSR -- DSR routing packet (control packet generated by routing)</a:t>
            </a:r>
          </a:p>
          <a:p>
            <a:pPr marL="0" indent="0">
              <a:buNone/>
            </a:pPr>
            <a:r>
              <a:rPr lang="en-US" altLang="en-US" sz="8000" dirty="0" smtClean="0">
                <a:solidFill>
                  <a:srgbClr val="000000"/>
                </a:solidFill>
              </a:rPr>
              <a:t>		RTS -- RTS packet generated by MAC 802.11</a:t>
            </a:r>
          </a:p>
          <a:p>
            <a:pPr marL="0" indent="0">
              <a:buNone/>
            </a:pPr>
            <a:r>
              <a:rPr lang="en-US" altLang="en-US" sz="8000" dirty="0" smtClean="0">
                <a:solidFill>
                  <a:srgbClr val="000000"/>
                </a:solidFill>
              </a:rPr>
              <a:t>		ARP -- link layer ARP packet</a:t>
            </a:r>
          </a:p>
          <a:p>
            <a:pPr marL="0" indent="0">
              <a:buNone/>
            </a:pPr>
            <a:r>
              <a:rPr lang="en-US" altLang="en-US" sz="8000" dirty="0" smtClean="0">
                <a:solidFill>
                  <a:srgbClr val="000000"/>
                </a:solidFill>
              </a:rPr>
              <a:t>SIZE:	the size of packet at current layer, when packet goes down, size increases, goes up size decreases</a:t>
            </a:r>
          </a:p>
          <a:p>
            <a:pPr marL="0" indent="0">
              <a:buNone/>
            </a:pPr>
            <a:r>
              <a:rPr lang="en-US" altLang="en-US" sz="8000" dirty="0" smtClean="0">
                <a:solidFill>
                  <a:srgbClr val="000000"/>
                </a:solidFill>
              </a:rPr>
              <a:t>[a b c d]:		a -- the packet duration in </a:t>
            </a:r>
            <a:r>
              <a:rPr lang="en-US" altLang="en-US" sz="8000" dirty="0" err="1" smtClean="0">
                <a:solidFill>
                  <a:srgbClr val="000000"/>
                </a:solidFill>
              </a:rPr>
              <a:t>mac</a:t>
            </a:r>
            <a:r>
              <a:rPr lang="en-US" altLang="en-US" sz="8000" dirty="0" smtClean="0">
                <a:solidFill>
                  <a:srgbClr val="000000"/>
                </a:solidFill>
              </a:rPr>
              <a:t> layer header</a:t>
            </a:r>
          </a:p>
          <a:p>
            <a:pPr marL="0" indent="0">
              <a:buNone/>
            </a:pPr>
            <a:r>
              <a:rPr lang="en-US" altLang="en-US" sz="8000" dirty="0" smtClean="0">
                <a:solidFill>
                  <a:srgbClr val="000000"/>
                </a:solidFill>
              </a:rPr>
              <a:t>		b -- the </a:t>
            </a:r>
            <a:r>
              <a:rPr lang="en-US" altLang="en-US" sz="8000" dirty="0" err="1" smtClean="0">
                <a:solidFill>
                  <a:srgbClr val="000000"/>
                </a:solidFill>
              </a:rPr>
              <a:t>mac</a:t>
            </a:r>
            <a:r>
              <a:rPr lang="en-US" altLang="en-US" sz="8000" dirty="0" smtClean="0">
                <a:solidFill>
                  <a:srgbClr val="000000"/>
                </a:solidFill>
              </a:rPr>
              <a:t> address of destination</a:t>
            </a:r>
          </a:p>
          <a:p>
            <a:pPr marL="0" indent="0">
              <a:buNone/>
            </a:pPr>
            <a:r>
              <a:rPr lang="en-US" altLang="en-US" sz="8000" dirty="0" smtClean="0">
                <a:solidFill>
                  <a:srgbClr val="000000"/>
                </a:solidFill>
              </a:rPr>
              <a:t>		c -- the </a:t>
            </a:r>
            <a:r>
              <a:rPr lang="en-US" altLang="en-US" sz="8000" dirty="0" err="1" smtClean="0">
                <a:solidFill>
                  <a:srgbClr val="000000"/>
                </a:solidFill>
              </a:rPr>
              <a:t>mac</a:t>
            </a:r>
            <a:r>
              <a:rPr lang="en-US" altLang="en-US" sz="8000" dirty="0" smtClean="0">
                <a:solidFill>
                  <a:srgbClr val="000000"/>
                </a:solidFill>
              </a:rPr>
              <a:t> address of source</a:t>
            </a:r>
          </a:p>
          <a:p>
            <a:pPr marL="0" indent="0">
              <a:buNone/>
            </a:pPr>
            <a:r>
              <a:rPr lang="en-US" altLang="en-US" sz="8000" dirty="0" smtClean="0">
                <a:solidFill>
                  <a:srgbClr val="000000"/>
                </a:solidFill>
              </a:rPr>
              <a:t>		d -- the </a:t>
            </a:r>
            <a:r>
              <a:rPr lang="en-US" altLang="en-US" sz="8000" dirty="0" err="1" smtClean="0">
                <a:solidFill>
                  <a:srgbClr val="000000"/>
                </a:solidFill>
              </a:rPr>
              <a:t>mac</a:t>
            </a:r>
            <a:r>
              <a:rPr lang="en-US" altLang="en-US" sz="8000" dirty="0" smtClean="0">
                <a:solidFill>
                  <a:srgbClr val="000000"/>
                </a:solidFill>
              </a:rPr>
              <a:t> type of the packet body</a:t>
            </a:r>
          </a:p>
          <a:p>
            <a:pPr marL="0" indent="0">
              <a:buNone/>
            </a:pPr>
            <a:r>
              <a:rPr lang="en-US" altLang="en-US" sz="8000" dirty="0" smtClean="0">
                <a:solidFill>
                  <a:srgbClr val="000000"/>
                </a:solidFill>
              </a:rPr>
              <a:t>flags:</a:t>
            </a:r>
          </a:p>
          <a:p>
            <a:pPr marL="0" indent="0">
              <a:buNone/>
            </a:pPr>
            <a:r>
              <a:rPr lang="en-US" altLang="en-US" sz="8000" dirty="0" smtClean="0">
                <a:solidFill>
                  <a:srgbClr val="000000"/>
                </a:solidFill>
              </a:rPr>
              <a:t>[......]:	[	source node </a:t>
            </a:r>
            <a:r>
              <a:rPr lang="en-US" altLang="en-US" sz="8000" dirty="0" err="1" smtClean="0">
                <a:solidFill>
                  <a:srgbClr val="000000"/>
                </a:solidFill>
              </a:rPr>
              <a:t>ip</a:t>
            </a:r>
            <a:r>
              <a:rPr lang="en-US" altLang="en-US" sz="8000" dirty="0" smtClean="0">
                <a:solidFill>
                  <a:srgbClr val="000000"/>
                </a:solidFill>
              </a:rPr>
              <a:t> : </a:t>
            </a:r>
            <a:r>
              <a:rPr lang="en-US" altLang="en-US" sz="8000" dirty="0" err="1" smtClean="0">
                <a:solidFill>
                  <a:srgbClr val="000000"/>
                </a:solidFill>
              </a:rPr>
              <a:t>port_number</a:t>
            </a:r>
            <a:endParaRPr lang="en-US" altLang="en-US" sz="8000" dirty="0" smtClean="0">
              <a:solidFill>
                <a:srgbClr val="000000"/>
              </a:solidFill>
            </a:endParaRPr>
          </a:p>
          <a:p>
            <a:pPr marL="0" indent="0">
              <a:buNone/>
            </a:pPr>
            <a:r>
              <a:rPr lang="en-US" altLang="en-US" sz="8000" dirty="0" smtClean="0">
                <a:solidFill>
                  <a:srgbClr val="000000"/>
                </a:solidFill>
              </a:rPr>
              <a:t>		destination node </a:t>
            </a:r>
            <a:r>
              <a:rPr lang="en-US" altLang="en-US" sz="8000" dirty="0" err="1" smtClean="0">
                <a:solidFill>
                  <a:srgbClr val="000000"/>
                </a:solidFill>
              </a:rPr>
              <a:t>ip</a:t>
            </a:r>
            <a:r>
              <a:rPr lang="en-US" altLang="en-US" sz="8000" dirty="0" smtClean="0">
                <a:solidFill>
                  <a:srgbClr val="000000"/>
                </a:solidFill>
              </a:rPr>
              <a:t> (-1 means broadcast) : </a:t>
            </a:r>
            <a:r>
              <a:rPr lang="en-US" altLang="en-US" sz="8000" dirty="0" err="1" smtClean="0">
                <a:solidFill>
                  <a:srgbClr val="000000"/>
                </a:solidFill>
              </a:rPr>
              <a:t>port_number</a:t>
            </a:r>
            <a:endParaRPr lang="en-US" altLang="en-US" sz="8000" dirty="0" smtClean="0">
              <a:solidFill>
                <a:srgbClr val="000000"/>
              </a:solidFill>
            </a:endParaRPr>
          </a:p>
          <a:p>
            <a:pPr marL="0" indent="0">
              <a:buNone/>
            </a:pPr>
            <a:r>
              <a:rPr lang="en-US" altLang="en-US" sz="8000" dirty="0" smtClean="0">
                <a:solidFill>
                  <a:srgbClr val="000000"/>
                </a:solidFill>
              </a:rPr>
              <a:t>		</a:t>
            </a:r>
            <a:r>
              <a:rPr lang="en-US" altLang="en-US" sz="8000" dirty="0" err="1" smtClean="0">
                <a:solidFill>
                  <a:srgbClr val="000000"/>
                </a:solidFill>
              </a:rPr>
              <a:t>ip</a:t>
            </a:r>
            <a:r>
              <a:rPr lang="en-US" altLang="en-US" sz="8000" dirty="0" smtClean="0">
                <a:solidFill>
                  <a:srgbClr val="000000"/>
                </a:solidFill>
              </a:rPr>
              <a:t> header </a:t>
            </a:r>
            <a:r>
              <a:rPr lang="en-US" altLang="en-US" sz="8000" dirty="0" err="1" smtClean="0">
                <a:solidFill>
                  <a:srgbClr val="000000"/>
                </a:solidFill>
              </a:rPr>
              <a:t>ttl</a:t>
            </a:r>
            <a:r>
              <a:rPr lang="en-US" altLang="en-US" sz="8000" dirty="0" smtClean="0">
                <a:solidFill>
                  <a:srgbClr val="000000"/>
                </a:solidFill>
              </a:rPr>
              <a:t> </a:t>
            </a:r>
          </a:p>
          <a:p>
            <a:pPr marL="0" indent="0">
              <a:buNone/>
            </a:pPr>
            <a:r>
              <a:rPr lang="en-US" altLang="en-US" sz="8000" dirty="0" smtClean="0">
                <a:solidFill>
                  <a:srgbClr val="000000"/>
                </a:solidFill>
              </a:rPr>
              <a:t>		</a:t>
            </a:r>
            <a:r>
              <a:rPr lang="en-US" altLang="en-US" sz="8000" dirty="0" err="1" smtClean="0">
                <a:solidFill>
                  <a:srgbClr val="000000"/>
                </a:solidFill>
              </a:rPr>
              <a:t>ip</a:t>
            </a:r>
            <a:r>
              <a:rPr lang="en-US" altLang="en-US" sz="8000" dirty="0" smtClean="0">
                <a:solidFill>
                  <a:srgbClr val="000000"/>
                </a:solidFill>
              </a:rPr>
              <a:t> of next hop (0 means node 0 or broadcast)</a:t>
            </a:r>
          </a:p>
          <a:p>
            <a:pPr marL="0" indent="0">
              <a:buNone/>
            </a:pPr>
            <a:r>
              <a:rPr lang="en-US" altLang="en-US" sz="8000" dirty="0" smtClean="0">
                <a:solidFill>
                  <a:srgbClr val="000000"/>
                </a:solidFill>
              </a:rPr>
              <a:t>	]</a:t>
            </a:r>
          </a:p>
          <a:p>
            <a:pPr marL="0" indent="0">
              <a:buNone/>
            </a:pPr>
            <a:endParaRPr lang="en-US" altLang="en-US" sz="800" dirty="0" smtClean="0">
              <a:solidFill>
                <a:srgbClr val="000000"/>
              </a:solidFill>
            </a:endParaRPr>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r>
              <a:rPr lang="en-US" altLang="en-US" smtClean="0"/>
              <a:t>Example of Trace Intepretation</a:t>
            </a:r>
          </a:p>
        </p:txBody>
      </p:sp>
      <p:sp>
        <p:nvSpPr>
          <p:cNvPr id="3" name="Content Placeholder 2"/>
          <p:cNvSpPr>
            <a:spLocks noGrp="1"/>
          </p:cNvSpPr>
          <p:nvPr>
            <p:ph idx="1"/>
          </p:nvPr>
        </p:nvSpPr>
        <p:spPr/>
        <p:txBody>
          <a:bodyPr/>
          <a:lstStyle/>
          <a:p>
            <a:pPr marL="0" indent="0">
              <a:buNone/>
              <a:defRPr/>
            </a:pPr>
            <a:r>
              <a:rPr lang="en-US" sz="1800" dirty="0">
                <a:solidFill>
                  <a:srgbClr val="000000"/>
                </a:solidFill>
              </a:rPr>
              <a:t>s 76.000000000 _98_ AGT --- 1812 </a:t>
            </a:r>
            <a:r>
              <a:rPr lang="en-US" sz="1800" dirty="0" err="1">
                <a:solidFill>
                  <a:srgbClr val="000000"/>
                </a:solidFill>
              </a:rPr>
              <a:t>cbr</a:t>
            </a:r>
            <a:r>
              <a:rPr lang="en-US" sz="1800" dirty="0">
                <a:solidFill>
                  <a:srgbClr val="000000"/>
                </a:solidFill>
              </a:rPr>
              <a:t> 32 [0 0 0 0] ------- [98:0 0:0 32 0] </a:t>
            </a:r>
          </a:p>
          <a:p>
            <a:pPr>
              <a:defRPr/>
            </a:pPr>
            <a:r>
              <a:rPr lang="en-US" sz="2000" dirty="0"/>
              <a:t>Application 0 (port number) on node 98 sent a CBR packet whose ID is 1812 and size is 32 bytes, at time 76.0 second, to application 0 on node 0 with TTL is 32 hops. The next hop is not decided yet. </a:t>
            </a:r>
            <a:br>
              <a:rPr lang="en-US" sz="2000" dirty="0"/>
            </a:br>
            <a:r>
              <a:rPr lang="en-US" sz="2000" dirty="0"/>
              <a:t/>
            </a:r>
            <a:br>
              <a:rPr lang="en-US" sz="2000" dirty="0"/>
            </a:br>
            <a:r>
              <a:rPr lang="en-US" sz="2000" dirty="0"/>
              <a:t>	</a:t>
            </a:r>
          </a:p>
          <a:p>
            <a:pPr marL="0" indent="0">
              <a:buNone/>
              <a:defRPr/>
            </a:pPr>
            <a:r>
              <a:rPr lang="en-US" sz="1800" dirty="0">
                <a:solidFill>
                  <a:srgbClr val="000000"/>
                </a:solidFill>
              </a:rPr>
              <a:t>r 0.010176954 _9_ RTR --- 1 </a:t>
            </a:r>
            <a:r>
              <a:rPr lang="en-US" sz="1800" dirty="0" err="1">
                <a:solidFill>
                  <a:srgbClr val="000000"/>
                </a:solidFill>
              </a:rPr>
              <a:t>gpsr</a:t>
            </a:r>
            <a:r>
              <a:rPr lang="en-US" sz="1800" dirty="0">
                <a:solidFill>
                  <a:srgbClr val="000000"/>
                </a:solidFill>
              </a:rPr>
              <a:t> 29 [0 </a:t>
            </a:r>
            <a:r>
              <a:rPr lang="en-US" sz="1800" dirty="0" err="1">
                <a:solidFill>
                  <a:srgbClr val="000000"/>
                </a:solidFill>
              </a:rPr>
              <a:t>ffffffff</a:t>
            </a:r>
            <a:r>
              <a:rPr lang="en-US" sz="1800" dirty="0">
                <a:solidFill>
                  <a:srgbClr val="000000"/>
                </a:solidFill>
              </a:rPr>
              <a:t> 8 800] ------- [8:255 -1:255 32 0] </a:t>
            </a:r>
          </a:p>
          <a:p>
            <a:pPr>
              <a:defRPr/>
            </a:pPr>
            <a:r>
              <a:rPr lang="en-US" sz="2000" dirty="0"/>
              <a:t>The routing agent on node 9 received a GPSR broadcast (mac address 0xff, and </a:t>
            </a:r>
            <a:r>
              <a:rPr lang="en-US" sz="2000" dirty="0" err="1"/>
              <a:t>ip</a:t>
            </a:r>
            <a:r>
              <a:rPr lang="en-US" sz="2000" dirty="0"/>
              <a:t> address is -1, either of them means broadcast) routing packet whose ID is 1 and size is 29 bytes, at time 0.010176954 second, from node 8 (both mac and </a:t>
            </a:r>
            <a:r>
              <a:rPr lang="en-US" sz="2000" dirty="0" err="1"/>
              <a:t>ip</a:t>
            </a:r>
            <a:r>
              <a:rPr lang="en-US" sz="2000" dirty="0"/>
              <a:t> addresses are 8), port 255 (routing agent).</a:t>
            </a:r>
          </a:p>
        </p:txBody>
      </p:sp>
      <p:sp>
        <p:nvSpPr>
          <p:cNvPr id="99332"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B15827EB-0FF8-437B-80F2-5563B6D9F0B0}" type="slidenum">
              <a:rPr lang="zh-CN" altLang="en-US" sz="1400">
                <a:solidFill>
                  <a:schemeClr val="tx1"/>
                </a:solidFill>
              </a:rPr>
              <a:pPr>
                <a:buClrTx/>
                <a:buSzTx/>
                <a:buFontTx/>
                <a:buNone/>
              </a:pPr>
              <a:t>40</a:t>
            </a:fld>
            <a:endParaRPr lang="en-US" altLang="zh-CN" sz="1400">
              <a:solidFill>
                <a:schemeClr val="tx1"/>
              </a:solidFill>
            </a:endParaRPr>
          </a:p>
        </p:txBody>
      </p:sp>
    </p:spTree>
    <p:extLst>
      <p:ext uri="{BB962C8B-B14F-4D97-AF65-F5344CB8AC3E}">
        <p14:creationId xmlns="" xmlns:p14="http://schemas.microsoft.com/office/powerpoint/2010/main" val="495795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endParaRPr lang="en-US" altLang="en-US" smtClean="0"/>
          </a:p>
        </p:txBody>
      </p:sp>
      <p:sp>
        <p:nvSpPr>
          <p:cNvPr id="100355" name="Content Placeholder 2"/>
          <p:cNvSpPr>
            <a:spLocks noGrp="1"/>
          </p:cNvSpPr>
          <p:nvPr>
            <p:ph idx="1"/>
          </p:nvPr>
        </p:nvSpPr>
        <p:spPr/>
        <p:txBody>
          <a:bodyPr>
            <a:normAutofit fontScale="92500" lnSpcReduction="20000"/>
          </a:bodyPr>
          <a:lstStyle/>
          <a:p>
            <a:pPr marL="0" indent="0">
              <a:buNone/>
            </a:pPr>
            <a:r>
              <a:rPr lang="en-US" altLang="en-US" sz="1600"/>
              <a:t>Trace beginning:</a:t>
            </a:r>
          </a:p>
          <a:p>
            <a:pPr marL="0" indent="0">
              <a:buNone/>
            </a:pPr>
            <a:endParaRPr lang="en-US" altLang="en-US" sz="1600"/>
          </a:p>
          <a:p>
            <a:pPr marL="0" indent="0">
              <a:buNone/>
            </a:pPr>
            <a:r>
              <a:rPr lang="en-US" altLang="en-US" sz="1600">
                <a:solidFill>
                  <a:srgbClr val="000000"/>
                </a:solidFill>
              </a:rPr>
              <a:t>s 0.029290548 _1_ RTR  --- 0 message 32 [0 0 0 0] ------- [1:255 -1:255 32 0] </a:t>
            </a:r>
          </a:p>
          <a:p>
            <a:pPr marL="0" indent="0">
              <a:buNone/>
            </a:pPr>
            <a:r>
              <a:rPr lang="en-US" altLang="en-US" sz="1600">
                <a:solidFill>
                  <a:srgbClr val="000000"/>
                </a:solidFill>
              </a:rPr>
              <a:t>s 1.119926192 _0_ RTR  --- 1 message 32 [0 0 0 0] ------- [0:255 -1:255 32 0] </a:t>
            </a:r>
          </a:p>
          <a:p>
            <a:pPr marL="0" indent="0">
              <a:buNone/>
            </a:pPr>
            <a:r>
              <a:rPr lang="en-US" altLang="en-US" sz="1600">
                <a:solidFill>
                  <a:srgbClr val="0070C0"/>
                </a:solidFill>
              </a:rPr>
              <a:t>M 10.00000 0 (5.00, 2.00, 0.00), (20.00, 18.00), 1.00</a:t>
            </a:r>
          </a:p>
          <a:p>
            <a:pPr marL="0" indent="0">
              <a:buNone/>
            </a:pPr>
            <a:r>
              <a:rPr lang="en-US" altLang="en-US" sz="1600">
                <a:solidFill>
                  <a:srgbClr val="000000"/>
                </a:solidFill>
              </a:rPr>
              <a:t>s 10.000000000 _0_ AGT  --- 2 tcp 40 [0 0 0 0] ------- [0:0 1:0 32 0] [0 0] 0 0</a:t>
            </a:r>
          </a:p>
          <a:p>
            <a:pPr marL="0" indent="0">
              <a:buNone/>
            </a:pPr>
            <a:r>
              <a:rPr lang="en-US" altLang="en-US" sz="1600">
                <a:solidFill>
                  <a:srgbClr val="000000"/>
                </a:solidFill>
              </a:rPr>
              <a:t>r 10.000000000 _0_ RTR  --- 2 tcp 40 [0 0 0 0] ------- [0:0 1:0 32 0] [0 0] 0 0</a:t>
            </a:r>
          </a:p>
          <a:p>
            <a:pPr marL="0" indent="0">
              <a:buNone/>
            </a:pPr>
            <a:r>
              <a:rPr lang="en-US" altLang="en-US" sz="1600">
                <a:solidFill>
                  <a:srgbClr val="000000"/>
                </a:solidFill>
              </a:rPr>
              <a:t>s 12.941172739 _1_ RTR  --- 3 message 32 [0 0 0 0] ------- [1:255 -1:255 32 0] </a:t>
            </a:r>
          </a:p>
          <a:p>
            <a:pPr marL="0" indent="0">
              <a:buNone/>
            </a:pPr>
            <a:r>
              <a:rPr lang="en-US" altLang="en-US" sz="1600">
                <a:solidFill>
                  <a:srgbClr val="000000"/>
                </a:solidFill>
              </a:rPr>
              <a:t>s 13.000000000 _0_ AGT  --- 4 tcp 40 [0 0 0 0] ------- [0:0 1:0 32 0] [0 0] 0 0</a:t>
            </a:r>
          </a:p>
          <a:p>
            <a:pPr marL="0" indent="0">
              <a:buNone/>
            </a:pPr>
            <a:r>
              <a:rPr lang="en-US" altLang="en-US" sz="1600">
                <a:solidFill>
                  <a:srgbClr val="000000"/>
                </a:solidFill>
              </a:rPr>
              <a:t>r 13.000000000 _0_ RTR  --- 4 tcp 40 [0 0 0 0] ------- [0:0 1:0 32 0] [0 0] 0 0</a:t>
            </a:r>
          </a:p>
          <a:p>
            <a:pPr marL="0" indent="0">
              <a:buNone/>
            </a:pPr>
            <a:r>
              <a:rPr lang="en-US" altLang="en-US" sz="1600">
                <a:solidFill>
                  <a:srgbClr val="000000"/>
                </a:solidFill>
              </a:rPr>
              <a:t>s 13.242656084 _0_ RTR  --- 5 message 32 [0 0 0 0] ------- [0:255 -1:255 32 0] </a:t>
            </a:r>
          </a:p>
          <a:p>
            <a:pPr marL="0" indent="0">
              <a:buNone/>
            </a:pPr>
            <a:r>
              <a:rPr lang="en-US" altLang="en-US" sz="1600">
                <a:solidFill>
                  <a:srgbClr val="000000"/>
                </a:solidFill>
              </a:rPr>
              <a:t>s 19.000000000 _0_ AGT  --- 6 tcp 40 [0 0 0 0] ------- [0:0 1:0 32 0] [0 0] 0 0</a:t>
            </a:r>
          </a:p>
          <a:p>
            <a:pPr marL="0" indent="0">
              <a:buNone/>
            </a:pPr>
            <a:r>
              <a:rPr lang="en-US" altLang="en-US" sz="1600">
                <a:solidFill>
                  <a:srgbClr val="000000"/>
                </a:solidFill>
              </a:rPr>
              <a:t>r 19.000000000 _0_ RTR  --- 6 tcp 40 [0 0 0 0] ------- [0:0 1:0 32 0] [0 0] 0 0</a:t>
            </a:r>
          </a:p>
          <a:p>
            <a:pPr marL="0" indent="0">
              <a:buNone/>
            </a:pPr>
            <a:r>
              <a:rPr lang="en-US" altLang="en-US" sz="1600">
                <a:solidFill>
                  <a:srgbClr val="000000"/>
                </a:solidFill>
              </a:rPr>
              <a:t>s 24.799296167 _1_ RTR  --- 7 message 32 [0 0 0 0] ------- [1:255 -1:255 32 0] </a:t>
            </a:r>
          </a:p>
          <a:p>
            <a:pPr marL="0" indent="0">
              <a:buNone/>
            </a:pPr>
            <a:r>
              <a:rPr lang="en-US" altLang="en-US" sz="1600">
                <a:solidFill>
                  <a:srgbClr val="000000"/>
                </a:solidFill>
              </a:rPr>
              <a:t>s 27.719583723 _0_ RTR  --- 8 message 32 [0 0 0 0] ------- [0:255 -1:255 32 0]</a:t>
            </a:r>
          </a:p>
        </p:txBody>
      </p:sp>
      <p:sp>
        <p:nvSpPr>
          <p:cNvPr id="10035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A1840522-3A91-4649-BAFC-6A1A29B25DA4}" type="slidenum">
              <a:rPr lang="zh-CN" altLang="en-US" sz="1400">
                <a:solidFill>
                  <a:schemeClr val="tx1"/>
                </a:solidFill>
              </a:rPr>
              <a:pPr>
                <a:buClrTx/>
                <a:buSzTx/>
                <a:buFontTx/>
                <a:buNone/>
              </a:pPr>
              <a:t>41</a:t>
            </a:fld>
            <a:endParaRPr lang="en-US" altLang="zh-CN" sz="1400">
              <a:solidFill>
                <a:schemeClr val="tx1"/>
              </a:solidFill>
            </a:endParaRPr>
          </a:p>
        </p:txBody>
      </p:sp>
    </p:spTree>
    <p:extLst>
      <p:ext uri="{BB962C8B-B14F-4D97-AF65-F5344CB8AC3E}">
        <p14:creationId xmlns="" xmlns:p14="http://schemas.microsoft.com/office/powerpoint/2010/main" val="14485337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p:txBody>
          <a:bodyPr/>
          <a:lstStyle/>
          <a:p>
            <a:r>
              <a:rPr lang="en-US" altLang="en-US" sz="3200"/>
              <a:t>Using node-movement/traffic-pattern files</a:t>
            </a:r>
          </a:p>
        </p:txBody>
      </p:sp>
      <p:sp>
        <p:nvSpPr>
          <p:cNvPr id="101379" name="Content Placeholder 2"/>
          <p:cNvSpPr>
            <a:spLocks noGrp="1"/>
          </p:cNvSpPr>
          <p:nvPr>
            <p:ph idx="1"/>
          </p:nvPr>
        </p:nvSpPr>
        <p:spPr/>
        <p:txBody>
          <a:bodyPr/>
          <a:lstStyle/>
          <a:p>
            <a:r>
              <a:rPr lang="en-US" altLang="en-US" sz="2400" dirty="0"/>
              <a:t>Node movements for this example shall be read from a node-movement file called scen-3-test. </a:t>
            </a:r>
          </a:p>
          <a:p>
            <a:r>
              <a:rPr lang="en-US" altLang="en-US" sz="2400" dirty="0"/>
              <a:t>scen-3-test defines random node movements for the 3 </a:t>
            </a:r>
            <a:r>
              <a:rPr lang="en-US" altLang="en-US" sz="2400" dirty="0" err="1"/>
              <a:t>mobilenodes</a:t>
            </a:r>
            <a:r>
              <a:rPr lang="en-US" altLang="en-US" sz="2400" dirty="0"/>
              <a:t> within a topology of 670mX670m.</a:t>
            </a:r>
          </a:p>
          <a:p>
            <a:r>
              <a:rPr lang="en-US" altLang="en-US" sz="2400" dirty="0"/>
              <a:t>Provided by NS2 at:</a:t>
            </a:r>
          </a:p>
          <a:p>
            <a:pPr lvl="1"/>
            <a:r>
              <a:rPr lang="en-US" altLang="en-US" sz="2000" dirty="0"/>
              <a:t>/</a:t>
            </a:r>
            <a:r>
              <a:rPr lang="en-US" altLang="en-US" sz="2000" dirty="0" err="1"/>
              <a:t>usr</a:t>
            </a:r>
            <a:r>
              <a:rPr lang="en-US" altLang="en-US" sz="2000" dirty="0"/>
              <a:t>/local/ns2/ns-2.34/</a:t>
            </a:r>
            <a:r>
              <a:rPr lang="en-US" altLang="en-US" sz="2000" dirty="0" err="1"/>
              <a:t>tcl</a:t>
            </a:r>
            <a:r>
              <a:rPr lang="en-US" altLang="en-US" sz="2000" dirty="0"/>
              <a:t>/mobility/scene/scen-3-test</a:t>
            </a:r>
          </a:p>
          <a:p>
            <a:endParaRPr lang="en-US" altLang="en-US" sz="2400" dirty="0"/>
          </a:p>
          <a:p>
            <a:r>
              <a:rPr lang="en-US" altLang="en-US" sz="2400" dirty="0"/>
              <a:t>Traffic pattern file</a:t>
            </a:r>
          </a:p>
          <a:p>
            <a:pPr lvl="1"/>
            <a:r>
              <a:rPr lang="en-US" altLang="en-US" sz="2000" dirty="0"/>
              <a:t>Provided by NS2 at:</a:t>
            </a:r>
          </a:p>
          <a:p>
            <a:pPr lvl="1"/>
            <a:r>
              <a:rPr lang="en-US" altLang="en-US" sz="2000" dirty="0"/>
              <a:t>/</a:t>
            </a:r>
            <a:r>
              <a:rPr lang="en-US" altLang="en-US" sz="2000" dirty="0" err="1"/>
              <a:t>usr</a:t>
            </a:r>
            <a:r>
              <a:rPr lang="en-US" altLang="en-US" sz="2000" dirty="0"/>
              <a:t>/local/ns2/ns-2.34/</a:t>
            </a:r>
            <a:r>
              <a:rPr lang="en-US" altLang="en-US" sz="2000" dirty="0" err="1"/>
              <a:t>tcl</a:t>
            </a:r>
            <a:r>
              <a:rPr lang="en-US" altLang="en-US" sz="2000" dirty="0"/>
              <a:t>/mobility/scene/cbr-3-test</a:t>
            </a:r>
          </a:p>
          <a:p>
            <a:endParaRPr lang="en-US" altLang="en-US" sz="2400" dirty="0"/>
          </a:p>
        </p:txBody>
      </p:sp>
      <p:sp>
        <p:nvSpPr>
          <p:cNvPr id="101380"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EE0C62AD-7B8F-4FC2-B90E-9A6F82CCCA84}" type="slidenum">
              <a:rPr lang="zh-CN" altLang="en-US" sz="1400">
                <a:solidFill>
                  <a:schemeClr val="tx1"/>
                </a:solidFill>
              </a:rPr>
              <a:pPr>
                <a:buClrTx/>
                <a:buSzTx/>
                <a:buFontTx/>
                <a:buNone/>
              </a:pPr>
              <a:t>42</a:t>
            </a:fld>
            <a:endParaRPr lang="en-US" altLang="zh-CN" sz="1400">
              <a:solidFill>
                <a:schemeClr val="tx1"/>
              </a:solidFill>
            </a:endParaRPr>
          </a:p>
        </p:txBody>
      </p:sp>
    </p:spTree>
    <p:extLst>
      <p:ext uri="{BB962C8B-B14F-4D97-AF65-F5344CB8AC3E}">
        <p14:creationId xmlns="" xmlns:p14="http://schemas.microsoft.com/office/powerpoint/2010/main" val="21617031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Content Placeholder 2"/>
          <p:cNvSpPr>
            <a:spLocks noGrp="1"/>
          </p:cNvSpPr>
          <p:nvPr>
            <p:ph idx="1"/>
          </p:nvPr>
        </p:nvSpPr>
        <p:spPr>
          <a:xfrm>
            <a:off x="324633" y="172189"/>
            <a:ext cx="10515600" cy="4351338"/>
          </a:xfrm>
        </p:spPr>
        <p:txBody>
          <a:bodyPr>
            <a:noAutofit/>
          </a:bodyPr>
          <a:lstStyle/>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chan</a:t>
            </a:r>
            <a:r>
              <a:rPr lang="en-US" altLang="en-US" sz="2000" dirty="0">
                <a:solidFill>
                  <a:srgbClr val="000000"/>
                </a:solidFill>
              </a:rPr>
              <a:t>)       Channel/</a:t>
            </a:r>
            <a:r>
              <a:rPr lang="en-US" altLang="en-US" sz="2000" dirty="0" err="1">
                <a:solidFill>
                  <a:srgbClr val="000000"/>
                </a:solidFill>
              </a:rPr>
              <a:t>WirelessChannel</a:t>
            </a:r>
            <a:endParaRPr lang="en-US" altLang="en-US" sz="2000" dirty="0">
              <a:solidFill>
                <a:srgbClr val="000000"/>
              </a:solidFill>
            </a:endParaRP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(prop)       Propagation/</a:t>
            </a:r>
            <a:r>
              <a:rPr lang="en-US" altLang="en-US" sz="2000" dirty="0" err="1">
                <a:solidFill>
                  <a:srgbClr val="000000"/>
                </a:solidFill>
              </a:rPr>
              <a:t>TwoRayGround</a:t>
            </a:r>
            <a:endParaRPr lang="en-US" altLang="en-US" sz="2000" dirty="0">
              <a:solidFill>
                <a:srgbClr val="000000"/>
              </a:solidFill>
            </a:endParaRP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netif</a:t>
            </a:r>
            <a:r>
              <a:rPr lang="en-US" altLang="en-US" sz="2000" dirty="0">
                <a:solidFill>
                  <a:srgbClr val="000000"/>
                </a:solidFill>
              </a:rPr>
              <a:t>)      </a:t>
            </a:r>
            <a:r>
              <a:rPr lang="en-US" altLang="en-US" sz="2000" dirty="0" err="1">
                <a:solidFill>
                  <a:srgbClr val="000000"/>
                </a:solidFill>
              </a:rPr>
              <a:t>Phy</a:t>
            </a:r>
            <a:r>
              <a:rPr lang="en-US" altLang="en-US" sz="2000" dirty="0">
                <a:solidFill>
                  <a:srgbClr val="000000"/>
                </a:solidFill>
              </a:rPr>
              <a:t>/</a:t>
            </a:r>
            <a:r>
              <a:rPr lang="en-US" altLang="en-US" sz="2000" dirty="0" err="1">
                <a:solidFill>
                  <a:srgbClr val="000000"/>
                </a:solidFill>
              </a:rPr>
              <a:t>WirelessPhy</a:t>
            </a:r>
            <a:endParaRPr lang="en-US" altLang="en-US" sz="2000" dirty="0">
              <a:solidFill>
                <a:srgbClr val="000000"/>
              </a:solidFill>
            </a:endParaRP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mac</a:t>
            </a:r>
            <a:r>
              <a:rPr lang="en-US" altLang="en-US" sz="2000" dirty="0">
                <a:solidFill>
                  <a:srgbClr val="000000"/>
                </a:solidFill>
              </a:rPr>
              <a:t>)        Mac/802_11</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ifq</a:t>
            </a:r>
            <a:r>
              <a:rPr lang="en-US" altLang="en-US" sz="2000" dirty="0">
                <a:solidFill>
                  <a:srgbClr val="000000"/>
                </a:solidFill>
              </a:rPr>
              <a:t>)        Queue/</a:t>
            </a:r>
            <a:r>
              <a:rPr lang="en-US" altLang="en-US" sz="2000" dirty="0" err="1">
                <a:solidFill>
                  <a:srgbClr val="000000"/>
                </a:solidFill>
              </a:rPr>
              <a:t>DropTail</a:t>
            </a:r>
            <a:r>
              <a:rPr lang="en-US" altLang="en-US" sz="2000" dirty="0">
                <a:solidFill>
                  <a:srgbClr val="000000"/>
                </a:solidFill>
              </a:rPr>
              <a:t>/</a:t>
            </a:r>
            <a:r>
              <a:rPr lang="en-US" altLang="en-US" sz="2000" dirty="0" err="1">
                <a:solidFill>
                  <a:srgbClr val="000000"/>
                </a:solidFill>
              </a:rPr>
              <a:t>PriQueue</a:t>
            </a:r>
            <a:endParaRPr lang="en-US" altLang="en-US" sz="2000" dirty="0">
              <a:solidFill>
                <a:srgbClr val="000000"/>
              </a:solidFill>
            </a:endParaRP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ll</a:t>
            </a:r>
            <a:r>
              <a:rPr lang="en-US" altLang="en-US" sz="2000" dirty="0">
                <a:solidFill>
                  <a:srgbClr val="000000"/>
                </a:solidFill>
              </a:rPr>
              <a:t>)         LL</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(ant)        Antenna/</a:t>
            </a:r>
            <a:r>
              <a:rPr lang="en-US" altLang="en-US" sz="2000" dirty="0" err="1">
                <a:solidFill>
                  <a:srgbClr val="000000"/>
                </a:solidFill>
              </a:rPr>
              <a:t>OmniAntenna</a:t>
            </a:r>
            <a:endParaRPr lang="en-US" altLang="en-US" sz="2000" dirty="0">
              <a:solidFill>
                <a:srgbClr val="000000"/>
              </a:solidFill>
            </a:endParaRP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(x)              670   ;# X dimension of the topography</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(y)              670   ;# Y dimension of the topography</a:t>
            </a:r>
          </a:p>
          <a:p>
            <a:pPr marL="0" indent="0">
              <a:buNone/>
            </a:pPr>
            <a:r>
              <a:rPr lang="sv-SE" altLang="en-US" sz="2000" dirty="0">
                <a:solidFill>
                  <a:srgbClr val="000000"/>
                </a:solidFill>
              </a:rPr>
              <a:t>set val(ifqlen)         50            ;# max packet in ifq</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(seed)           0.0</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adhocRouting</a:t>
            </a:r>
            <a:r>
              <a:rPr lang="en-US" altLang="en-US" sz="2000" dirty="0">
                <a:solidFill>
                  <a:srgbClr val="000000"/>
                </a:solidFill>
              </a:rPr>
              <a:t>)   DSR</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a:t>
            </a:r>
            <a:r>
              <a:rPr lang="en-US" altLang="en-US" sz="2000" dirty="0" err="1">
                <a:solidFill>
                  <a:srgbClr val="000000"/>
                </a:solidFill>
              </a:rPr>
              <a:t>nn</a:t>
            </a:r>
            <a:r>
              <a:rPr lang="en-US" altLang="en-US" sz="2000" dirty="0">
                <a:solidFill>
                  <a:srgbClr val="000000"/>
                </a:solidFill>
              </a:rPr>
              <a:t>)             3             ;# how many nodes are simulated</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(cp)             "../mobility/scene/cbr-3-test" </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(sc)             "../mobility/scene/scen-3-test" </a:t>
            </a:r>
          </a:p>
          <a:p>
            <a:pPr marL="0" indent="0">
              <a:buNone/>
            </a:pPr>
            <a:r>
              <a:rPr lang="en-US" altLang="en-US" sz="2000" dirty="0">
                <a:solidFill>
                  <a:srgbClr val="000000"/>
                </a:solidFill>
              </a:rPr>
              <a:t>set </a:t>
            </a:r>
            <a:r>
              <a:rPr lang="en-US" altLang="en-US" sz="2000" dirty="0" err="1">
                <a:solidFill>
                  <a:srgbClr val="000000"/>
                </a:solidFill>
              </a:rPr>
              <a:t>val</a:t>
            </a:r>
            <a:r>
              <a:rPr lang="en-US" altLang="en-US" sz="2000" dirty="0">
                <a:solidFill>
                  <a:srgbClr val="000000"/>
                </a:solidFill>
              </a:rPr>
              <a:t>(stop)           2000.0           ;# simulation time</a:t>
            </a:r>
          </a:p>
          <a:p>
            <a:pPr marL="0" indent="0">
              <a:buNone/>
            </a:pPr>
            <a:endParaRPr lang="en-US" altLang="en-US" sz="2000" dirty="0">
              <a:solidFill>
                <a:srgbClr val="000000"/>
              </a:solidFill>
            </a:endParaRPr>
          </a:p>
        </p:txBody>
      </p:sp>
      <p:sp>
        <p:nvSpPr>
          <p:cNvPr id="102404"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16D2A8C1-8446-440E-B9D3-0B6E0D37076C}" type="slidenum">
              <a:rPr lang="zh-CN" altLang="en-US" sz="1400">
                <a:solidFill>
                  <a:schemeClr val="tx1"/>
                </a:solidFill>
              </a:rPr>
              <a:pPr>
                <a:buClrTx/>
                <a:buSzTx/>
                <a:buFontTx/>
                <a:buNone/>
              </a:pPr>
              <a:t>43</a:t>
            </a:fld>
            <a:endParaRPr lang="en-US" altLang="zh-CN" sz="1400">
              <a:solidFill>
                <a:schemeClr val="tx1"/>
              </a:solidFill>
            </a:endParaRPr>
          </a:p>
        </p:txBody>
      </p:sp>
    </p:spTree>
    <p:extLst>
      <p:ext uri="{BB962C8B-B14F-4D97-AF65-F5344CB8AC3E}">
        <p14:creationId xmlns="" xmlns:p14="http://schemas.microsoft.com/office/powerpoint/2010/main" val="40166696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normAutofit fontScale="92500" lnSpcReduction="10000"/>
          </a:bodyPr>
          <a:lstStyle/>
          <a:p>
            <a:pPr>
              <a:defRPr/>
            </a:pPr>
            <a:r>
              <a:rPr lang="en-US" sz="2000" dirty="0"/>
              <a:t>“Source” node-movement and connection pattern files</a:t>
            </a:r>
            <a:endParaRPr lang="en" sz="2000" dirty="0">
              <a:solidFill>
                <a:srgbClr val="000000"/>
              </a:solidFill>
            </a:endParaRPr>
          </a:p>
          <a:p>
            <a:pPr marL="0" indent="0">
              <a:buNone/>
              <a:defRPr/>
            </a:pPr>
            <a:r>
              <a:rPr lang="en" sz="2000" dirty="0">
                <a:solidFill>
                  <a:srgbClr val="000000"/>
                </a:solidFill>
              </a:rPr>
              <a:t># </a:t>
            </a:r>
          </a:p>
          <a:p>
            <a:pPr marL="0" indent="0">
              <a:buNone/>
              <a:defRPr/>
            </a:pPr>
            <a:r>
              <a:rPr lang="en-US" sz="2000" dirty="0">
                <a:solidFill>
                  <a:srgbClr val="000000"/>
                </a:solidFill>
              </a:rPr>
              <a:t># Define node movement model</a:t>
            </a:r>
          </a:p>
          <a:p>
            <a:pPr marL="0" indent="0">
              <a:buNone/>
              <a:defRPr/>
            </a:pPr>
            <a:r>
              <a:rPr lang="en" sz="2000" dirty="0">
                <a:solidFill>
                  <a:srgbClr val="000000"/>
                </a:solidFill>
              </a:rPr>
              <a:t>#</a:t>
            </a:r>
          </a:p>
          <a:p>
            <a:pPr marL="0" indent="0">
              <a:buNone/>
              <a:defRPr/>
            </a:pPr>
            <a:r>
              <a:rPr lang="en-US" sz="2000" dirty="0">
                <a:solidFill>
                  <a:srgbClr val="000000"/>
                </a:solidFill>
              </a:rPr>
              <a:t>puts "Loading connection pattern..."</a:t>
            </a:r>
          </a:p>
          <a:p>
            <a:pPr marL="0" indent="0">
              <a:buNone/>
              <a:defRPr/>
            </a:pPr>
            <a:r>
              <a:rPr lang="en-US" sz="2000" dirty="0">
                <a:solidFill>
                  <a:srgbClr val="000000"/>
                </a:solidFill>
              </a:rPr>
              <a:t>source $</a:t>
            </a:r>
            <a:r>
              <a:rPr lang="en-US" sz="2000" dirty="0" err="1">
                <a:solidFill>
                  <a:srgbClr val="000000"/>
                </a:solidFill>
              </a:rPr>
              <a:t>val</a:t>
            </a:r>
            <a:r>
              <a:rPr lang="en-US" sz="2000" dirty="0">
                <a:solidFill>
                  <a:srgbClr val="000000"/>
                </a:solidFill>
              </a:rPr>
              <a:t>(</a:t>
            </a:r>
            <a:r>
              <a:rPr lang="en-US" sz="2000" dirty="0" err="1">
                <a:solidFill>
                  <a:srgbClr val="000000"/>
                </a:solidFill>
              </a:rPr>
              <a:t>cp</a:t>
            </a:r>
            <a:r>
              <a:rPr lang="en-US" sz="2000" dirty="0">
                <a:solidFill>
                  <a:srgbClr val="000000"/>
                </a:solidFill>
              </a:rPr>
              <a:t>)</a:t>
            </a:r>
          </a:p>
          <a:p>
            <a:pPr marL="0" indent="0">
              <a:buNone/>
              <a:defRPr/>
            </a:pPr>
            <a:endParaRPr lang="en" sz="2000" dirty="0">
              <a:solidFill>
                <a:srgbClr val="000000"/>
              </a:solidFill>
            </a:endParaRPr>
          </a:p>
          <a:p>
            <a:pPr marL="0" indent="0">
              <a:buNone/>
              <a:defRPr/>
            </a:pPr>
            <a:r>
              <a:rPr lang="en" sz="2000" dirty="0">
                <a:solidFill>
                  <a:srgbClr val="000000"/>
                </a:solidFill>
              </a:rPr>
              <a:t># </a:t>
            </a:r>
          </a:p>
          <a:p>
            <a:pPr marL="0" indent="0">
              <a:buNone/>
              <a:defRPr/>
            </a:pPr>
            <a:r>
              <a:rPr lang="en-US" sz="2000" dirty="0">
                <a:solidFill>
                  <a:srgbClr val="000000"/>
                </a:solidFill>
              </a:rPr>
              <a:t># Define traffic model</a:t>
            </a:r>
          </a:p>
          <a:p>
            <a:pPr marL="0" indent="0">
              <a:buNone/>
              <a:defRPr/>
            </a:pPr>
            <a:r>
              <a:rPr lang="en" sz="2000" dirty="0">
                <a:solidFill>
                  <a:srgbClr val="000000"/>
                </a:solidFill>
              </a:rPr>
              <a:t>#</a:t>
            </a:r>
          </a:p>
          <a:p>
            <a:pPr marL="0" indent="0">
              <a:buNone/>
              <a:defRPr/>
            </a:pPr>
            <a:r>
              <a:rPr lang="en-US" sz="2000" dirty="0">
                <a:solidFill>
                  <a:srgbClr val="000000"/>
                </a:solidFill>
              </a:rPr>
              <a:t>puts "Loading scenario file..."</a:t>
            </a:r>
          </a:p>
          <a:p>
            <a:pPr marL="0" indent="0">
              <a:buNone/>
              <a:defRPr/>
            </a:pPr>
            <a:r>
              <a:rPr lang="en-US" sz="2000" dirty="0">
                <a:solidFill>
                  <a:srgbClr val="000000"/>
                </a:solidFill>
              </a:rPr>
              <a:t>source $</a:t>
            </a:r>
            <a:r>
              <a:rPr lang="en-US" sz="2000" dirty="0" err="1">
                <a:solidFill>
                  <a:srgbClr val="000000"/>
                </a:solidFill>
              </a:rPr>
              <a:t>val</a:t>
            </a:r>
            <a:r>
              <a:rPr lang="en-US" sz="2000" dirty="0">
                <a:solidFill>
                  <a:srgbClr val="000000"/>
                </a:solidFill>
              </a:rPr>
              <a:t>(</a:t>
            </a:r>
            <a:r>
              <a:rPr lang="en-US" sz="2000" dirty="0" err="1">
                <a:solidFill>
                  <a:srgbClr val="000000"/>
                </a:solidFill>
              </a:rPr>
              <a:t>sc</a:t>
            </a:r>
            <a:r>
              <a:rPr lang="en-US" sz="2000" dirty="0">
                <a:solidFill>
                  <a:srgbClr val="000000"/>
                </a:solidFill>
              </a:rPr>
              <a:t>)</a:t>
            </a:r>
          </a:p>
          <a:p>
            <a:pPr marL="0" indent="0">
              <a:buNone/>
              <a:defRPr/>
            </a:pPr>
            <a:endParaRPr lang="en-US" sz="2000" dirty="0">
              <a:solidFill>
                <a:srgbClr val="000000"/>
              </a:solidFill>
            </a:endParaRPr>
          </a:p>
        </p:txBody>
      </p:sp>
      <p:sp>
        <p:nvSpPr>
          <p:cNvPr id="103428"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1467059F-F404-4D7D-8731-307E014DBB54}" type="slidenum">
              <a:rPr lang="zh-CN" altLang="en-US" sz="1400">
                <a:solidFill>
                  <a:schemeClr val="tx1"/>
                </a:solidFill>
              </a:rPr>
              <a:pPr>
                <a:buClrTx/>
                <a:buSzTx/>
                <a:buFontTx/>
                <a:buNone/>
              </a:pPr>
              <a:t>44</a:t>
            </a:fld>
            <a:endParaRPr lang="en-US" altLang="zh-CN" sz="1400">
              <a:solidFill>
                <a:schemeClr val="tx1"/>
              </a:solidFill>
            </a:endParaRPr>
          </a:p>
        </p:txBody>
      </p:sp>
    </p:spTree>
    <p:extLst>
      <p:ext uri="{BB962C8B-B14F-4D97-AF65-F5344CB8AC3E}">
        <p14:creationId xmlns="" xmlns:p14="http://schemas.microsoft.com/office/powerpoint/2010/main" val="7533828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a:xfrm>
            <a:off x="1828801" y="436563"/>
            <a:ext cx="8397875" cy="685800"/>
          </a:xfrm>
        </p:spPr>
        <p:txBody>
          <a:bodyPr>
            <a:normAutofit fontScale="90000"/>
          </a:bodyPr>
          <a:lstStyle/>
          <a:p>
            <a:r>
              <a:rPr lang="en-US" altLang="en-US" sz="3600"/>
              <a:t>Creating random traffic-pattern for wireless scenarios</a:t>
            </a:r>
          </a:p>
        </p:txBody>
      </p:sp>
      <p:sp>
        <p:nvSpPr>
          <p:cNvPr id="104451" name="Content Placeholder 2"/>
          <p:cNvSpPr>
            <a:spLocks noGrp="1"/>
          </p:cNvSpPr>
          <p:nvPr>
            <p:ph idx="1"/>
          </p:nvPr>
        </p:nvSpPr>
        <p:spPr/>
        <p:txBody>
          <a:bodyPr/>
          <a:lstStyle/>
          <a:p>
            <a:r>
              <a:rPr lang="en-US" altLang="en-US" sz="2400"/>
              <a:t>ns cbrgen.tcl [-type cbr|tcp] [-nn nodes] [-seed seed] [-mc connections] [-rate rate]</a:t>
            </a:r>
          </a:p>
          <a:p>
            <a:pPr lvl="1"/>
            <a:r>
              <a:rPr lang="en-US" altLang="en-US" sz="2000"/>
              <a:t>Cbrgen.tcl is a traffic generator script to generate TCP or CBR traffic </a:t>
            </a:r>
          </a:p>
          <a:p>
            <a:pPr lvl="1"/>
            <a:r>
              <a:rPr lang="en-US" altLang="en-US" sz="2000"/>
              <a:t>1/rate is the average interval time between CBR packets</a:t>
            </a:r>
          </a:p>
          <a:p>
            <a:pPr lvl="1"/>
            <a:r>
              <a:rPr lang="en-US" altLang="en-US" sz="2000"/>
              <a:t>Connections is the maximum # of connections</a:t>
            </a:r>
          </a:p>
          <a:p>
            <a:pPr lvl="1"/>
            <a:r>
              <a:rPr lang="en-US" altLang="en-US" sz="2000"/>
              <a:t>The start times for the TCP/CBR connections are randomly generated with a maximum value set at 180.0s</a:t>
            </a:r>
          </a:p>
          <a:p>
            <a:r>
              <a:rPr lang="en-US" altLang="en-US" sz="2400"/>
              <a:t>Example:   ns cbrgen.tcl -type cbr -nn 10 -seed 1.0 -mc 8 -rate 4.0 &gt; cbr-10-test</a:t>
            </a:r>
          </a:p>
          <a:p>
            <a:pPr lvl="1"/>
            <a:r>
              <a:rPr lang="en-US" altLang="en-US" sz="2000"/>
              <a:t>create a CBR connection file between 10 nodes, having maximum of 8 connections, with a seed value of 1.0 and a rate of 4.0.</a:t>
            </a:r>
          </a:p>
          <a:p>
            <a:pPr lvl="1"/>
            <a:endParaRPr lang="en-US" altLang="en-US" sz="2000"/>
          </a:p>
        </p:txBody>
      </p:sp>
      <p:sp>
        <p:nvSpPr>
          <p:cNvPr id="104452"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04336206-9B33-4098-A39F-FC8F38C1DCA0}" type="slidenum">
              <a:rPr lang="zh-CN" altLang="en-US" sz="1400">
                <a:solidFill>
                  <a:schemeClr val="tx1"/>
                </a:solidFill>
              </a:rPr>
              <a:pPr>
                <a:buClrTx/>
                <a:buSzTx/>
                <a:buFontTx/>
                <a:buNone/>
              </a:pPr>
              <a:t>45</a:t>
            </a:fld>
            <a:endParaRPr lang="en-US" altLang="zh-CN" sz="1400">
              <a:solidFill>
                <a:schemeClr val="tx1"/>
              </a:solidFill>
            </a:endParaRPr>
          </a:p>
        </p:txBody>
      </p:sp>
    </p:spTree>
    <p:extLst>
      <p:ext uri="{BB962C8B-B14F-4D97-AF65-F5344CB8AC3E}">
        <p14:creationId xmlns="" xmlns:p14="http://schemas.microsoft.com/office/powerpoint/2010/main" val="11683038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endParaRPr lang="en-US" altLang="en-US" smtClean="0"/>
          </a:p>
        </p:txBody>
      </p:sp>
      <p:sp>
        <p:nvSpPr>
          <p:cNvPr id="105475" name="Content Placeholder 2"/>
          <p:cNvSpPr>
            <a:spLocks noGrp="1"/>
          </p:cNvSpPr>
          <p:nvPr>
            <p:ph idx="1"/>
          </p:nvPr>
        </p:nvSpPr>
        <p:spPr/>
        <p:txBody>
          <a:bodyPr/>
          <a:lstStyle/>
          <a:p>
            <a:r>
              <a:rPr lang="en-US" altLang="en-US"/>
              <a:t>Example:  ns cbrgen.tcl -type tcp -nn 25 -seed 0.0 -mc 8 &gt; tcp-25-test</a:t>
            </a:r>
          </a:p>
          <a:p>
            <a:pPr lvl="1"/>
            <a:r>
              <a:rPr lang="en-US" altLang="en-US"/>
              <a:t>Create a maximum 8 TCP connections (FTP traffic) between 25 nodes. </a:t>
            </a:r>
          </a:p>
          <a:p>
            <a:pPr lvl="1"/>
            <a:endParaRPr lang="en-US" altLang="en-US"/>
          </a:p>
        </p:txBody>
      </p:sp>
      <p:sp>
        <p:nvSpPr>
          <p:cNvPr id="10547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F8A27469-0FFA-422C-B5EE-2D28CB7D0A58}" type="slidenum">
              <a:rPr lang="zh-CN" altLang="en-US" sz="1400">
                <a:solidFill>
                  <a:schemeClr val="tx1"/>
                </a:solidFill>
              </a:rPr>
              <a:pPr>
                <a:buClrTx/>
                <a:buSzTx/>
                <a:buFontTx/>
                <a:buNone/>
              </a:pPr>
              <a:t>46</a:t>
            </a:fld>
            <a:endParaRPr lang="en-US" altLang="zh-CN" sz="1400">
              <a:solidFill>
                <a:schemeClr val="tx1"/>
              </a:solidFill>
            </a:endParaRPr>
          </a:p>
        </p:txBody>
      </p:sp>
    </p:spTree>
    <p:extLst>
      <p:ext uri="{BB962C8B-B14F-4D97-AF65-F5344CB8AC3E}">
        <p14:creationId xmlns="" xmlns:p14="http://schemas.microsoft.com/office/powerpoint/2010/main" val="14373907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a:xfrm>
            <a:off x="1820864" y="436563"/>
            <a:ext cx="8397875" cy="685800"/>
          </a:xfrm>
        </p:spPr>
        <p:txBody>
          <a:bodyPr/>
          <a:lstStyle/>
          <a:p>
            <a:r>
              <a:rPr lang="en-US" altLang="en-US" sz="3200"/>
              <a:t>Creating node-movements for wireless scenarios</a:t>
            </a:r>
          </a:p>
        </p:txBody>
      </p:sp>
      <p:sp>
        <p:nvSpPr>
          <p:cNvPr id="3" name="Content Placeholder 2"/>
          <p:cNvSpPr>
            <a:spLocks noGrp="1"/>
          </p:cNvSpPr>
          <p:nvPr>
            <p:ph idx="1"/>
          </p:nvPr>
        </p:nvSpPr>
        <p:spPr/>
        <p:txBody>
          <a:bodyPr/>
          <a:lstStyle/>
          <a:p>
            <a:pPr>
              <a:defRPr/>
            </a:pPr>
            <a:r>
              <a:rPr lang="en-US" dirty="0" err="1"/>
              <a:t>Setdest</a:t>
            </a:r>
            <a:r>
              <a:rPr lang="en-US" dirty="0"/>
              <a:t> is the program under ~ns/</a:t>
            </a:r>
            <a:r>
              <a:rPr lang="en-US" dirty="0" err="1"/>
              <a:t>indep-utils</a:t>
            </a:r>
            <a:r>
              <a:rPr lang="en-US" dirty="0"/>
              <a:t>/</a:t>
            </a:r>
            <a:r>
              <a:rPr lang="en-US" dirty="0" err="1"/>
              <a:t>cmu</a:t>
            </a:r>
            <a:r>
              <a:rPr lang="en-US" dirty="0"/>
              <a:t>-</a:t>
            </a:r>
            <a:r>
              <a:rPr lang="en-US" dirty="0" err="1"/>
              <a:t>scen</a:t>
            </a:r>
            <a:r>
              <a:rPr lang="en-US" dirty="0"/>
              <a:t>-gen/</a:t>
            </a:r>
            <a:r>
              <a:rPr lang="en-US" dirty="0" err="1"/>
              <a:t>setdest</a:t>
            </a:r>
            <a:endParaRPr lang="en-US" dirty="0"/>
          </a:p>
          <a:p>
            <a:pPr>
              <a:defRPr/>
            </a:pPr>
            <a:endParaRPr lang="en-US" dirty="0"/>
          </a:p>
          <a:p>
            <a:pPr>
              <a:defRPr/>
            </a:pPr>
            <a:r>
              <a:rPr lang="en-US" dirty="0"/>
              <a:t>./</a:t>
            </a:r>
            <a:r>
              <a:rPr lang="en-US" dirty="0" err="1"/>
              <a:t>setdest</a:t>
            </a:r>
            <a:r>
              <a:rPr lang="en-US" dirty="0"/>
              <a:t> [-n </a:t>
            </a:r>
            <a:r>
              <a:rPr lang="en-US" dirty="0" err="1"/>
              <a:t>num_of_nodes</a:t>
            </a:r>
            <a:r>
              <a:rPr lang="en-US" dirty="0"/>
              <a:t>] [-p </a:t>
            </a:r>
            <a:r>
              <a:rPr lang="en-US" dirty="0" err="1"/>
              <a:t>pausetime</a:t>
            </a:r>
            <a:r>
              <a:rPr lang="en-US" dirty="0"/>
              <a:t>] [-M </a:t>
            </a:r>
            <a:r>
              <a:rPr lang="en-US" dirty="0" err="1"/>
              <a:t>maxspeed</a:t>
            </a:r>
            <a:r>
              <a:rPr lang="en-US" dirty="0"/>
              <a:t>] [-t </a:t>
            </a:r>
            <a:r>
              <a:rPr lang="en-US" dirty="0" err="1"/>
              <a:t>simtime</a:t>
            </a:r>
            <a:r>
              <a:rPr lang="en-US" dirty="0"/>
              <a:t>] \ [-x </a:t>
            </a:r>
            <a:r>
              <a:rPr lang="en-US" dirty="0" err="1"/>
              <a:t>maxx</a:t>
            </a:r>
            <a:r>
              <a:rPr lang="en-US" dirty="0"/>
              <a:t>] [-y </a:t>
            </a:r>
            <a:r>
              <a:rPr lang="en-US" dirty="0" err="1"/>
              <a:t>maxy</a:t>
            </a:r>
            <a:r>
              <a:rPr lang="en-US" dirty="0"/>
              <a:t>] </a:t>
            </a:r>
            <a:r>
              <a:rPr lang="en-US" dirty="0">
                <a:solidFill>
                  <a:schemeClr val="tx1">
                    <a:lumMod val="75000"/>
                  </a:schemeClr>
                </a:solidFill>
              </a:rPr>
              <a:t>&gt; [</a:t>
            </a:r>
            <a:r>
              <a:rPr lang="en-US" dirty="0" err="1">
                <a:solidFill>
                  <a:schemeClr val="tx1">
                    <a:lumMod val="75000"/>
                  </a:schemeClr>
                </a:solidFill>
              </a:rPr>
              <a:t>outdir</a:t>
            </a:r>
            <a:r>
              <a:rPr lang="en-US" dirty="0">
                <a:solidFill>
                  <a:schemeClr val="tx1">
                    <a:lumMod val="75000"/>
                  </a:schemeClr>
                </a:solidFill>
              </a:rPr>
              <a:t>/movement-file]</a:t>
            </a:r>
          </a:p>
          <a:p>
            <a:pPr>
              <a:defRPr/>
            </a:pPr>
            <a:endParaRPr lang="en-US" dirty="0"/>
          </a:p>
          <a:p>
            <a:pPr>
              <a:defRPr/>
            </a:pPr>
            <a:r>
              <a:rPr lang="en-US" dirty="0"/>
              <a:t>./</a:t>
            </a:r>
            <a:r>
              <a:rPr lang="en-US" dirty="0" err="1"/>
              <a:t>setdest</a:t>
            </a:r>
            <a:r>
              <a:rPr lang="en-US" dirty="0"/>
              <a:t>      -n &lt;nodes&gt; -s &lt;speed type&gt; -m &lt;min speed&gt; -M &lt;max speed&gt; -t &lt;simulation time&gt; -P &lt;pause type&gt; -p &lt;pause time&gt; -x &lt;max X&gt; -y &lt;max Y&gt; </a:t>
            </a:r>
            <a:r>
              <a:rPr lang="en-US" dirty="0">
                <a:solidFill>
                  <a:schemeClr val="tx1">
                    <a:lumMod val="75000"/>
                  </a:schemeClr>
                </a:solidFill>
              </a:rPr>
              <a:t>&gt; [</a:t>
            </a:r>
            <a:r>
              <a:rPr lang="en-US" dirty="0" err="1">
                <a:solidFill>
                  <a:schemeClr val="tx1">
                    <a:lumMod val="75000"/>
                  </a:schemeClr>
                </a:solidFill>
              </a:rPr>
              <a:t>outdir</a:t>
            </a:r>
            <a:r>
              <a:rPr lang="en-US" dirty="0">
                <a:solidFill>
                  <a:schemeClr val="tx1">
                    <a:lumMod val="75000"/>
                  </a:schemeClr>
                </a:solidFill>
              </a:rPr>
              <a:t>/movement-file]</a:t>
            </a:r>
          </a:p>
        </p:txBody>
      </p:sp>
      <p:sp>
        <p:nvSpPr>
          <p:cNvPr id="106500"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EC8FD1A6-AA36-493B-AEBB-A6401893E6C2}" type="slidenum">
              <a:rPr lang="zh-CN" altLang="en-US" sz="1400">
                <a:solidFill>
                  <a:schemeClr val="tx1"/>
                </a:solidFill>
              </a:rPr>
              <a:pPr>
                <a:buClrTx/>
                <a:buSzTx/>
                <a:buFontTx/>
                <a:buNone/>
              </a:pPr>
              <a:t>47</a:t>
            </a:fld>
            <a:endParaRPr lang="en-US" altLang="zh-CN" sz="1400">
              <a:solidFill>
                <a:schemeClr val="tx1"/>
              </a:solidFill>
            </a:endParaRPr>
          </a:p>
        </p:txBody>
      </p:sp>
    </p:spTree>
    <p:extLst>
      <p:ext uri="{BB962C8B-B14F-4D97-AF65-F5344CB8AC3E}">
        <p14:creationId xmlns="" xmlns:p14="http://schemas.microsoft.com/office/powerpoint/2010/main" val="261064810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endParaRPr lang="en-US" altLang="en-US" smtClean="0"/>
          </a:p>
        </p:txBody>
      </p:sp>
      <p:sp>
        <p:nvSpPr>
          <p:cNvPr id="107523" name="Content Placeholder 2"/>
          <p:cNvSpPr>
            <a:spLocks noGrp="1"/>
          </p:cNvSpPr>
          <p:nvPr>
            <p:ph idx="1"/>
          </p:nvPr>
        </p:nvSpPr>
        <p:spPr/>
        <p:txBody>
          <a:bodyPr/>
          <a:lstStyle/>
          <a:p>
            <a:r>
              <a:rPr lang="en-US" altLang="en-US" smtClean="0"/>
              <a:t>Example: ./setdest -n 20 -p 2.0 -M 10.0 -t 200 -x 500 -y 500 &gt; scen-20-test</a:t>
            </a:r>
          </a:p>
          <a:p>
            <a:pPr lvl="1"/>
            <a:r>
              <a:rPr lang="en-US" altLang="en-US" smtClean="0"/>
              <a:t>an average pause between movement being 2s. Simulation stops after 200s and the topology boundary is defined as 500 X 500.</a:t>
            </a:r>
          </a:p>
        </p:txBody>
      </p:sp>
      <p:sp>
        <p:nvSpPr>
          <p:cNvPr id="107524"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61BA24C6-B1D1-4F5F-8C00-7F2FBC5BE54C}" type="slidenum">
              <a:rPr lang="zh-CN" altLang="en-US" sz="1400">
                <a:solidFill>
                  <a:schemeClr val="tx1"/>
                </a:solidFill>
              </a:rPr>
              <a:pPr>
                <a:buClrTx/>
                <a:buSzTx/>
                <a:buFontTx/>
                <a:buNone/>
              </a:pPr>
              <a:t>48</a:t>
            </a:fld>
            <a:endParaRPr lang="en-US" altLang="zh-CN" sz="1400">
              <a:solidFill>
                <a:schemeClr val="tx1"/>
              </a:solidFill>
            </a:endParaRPr>
          </a:p>
        </p:txBody>
      </p:sp>
    </p:spTree>
    <p:extLst>
      <p:ext uri="{BB962C8B-B14F-4D97-AF65-F5344CB8AC3E}">
        <p14:creationId xmlns="" xmlns:p14="http://schemas.microsoft.com/office/powerpoint/2010/main" val="11414752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endParaRPr lang="en-US" altLang="en-US" smtClean="0"/>
          </a:p>
        </p:txBody>
      </p:sp>
      <p:sp>
        <p:nvSpPr>
          <p:cNvPr id="108547" name="Content Placeholder 2"/>
          <p:cNvSpPr>
            <a:spLocks noGrp="1"/>
          </p:cNvSpPr>
          <p:nvPr>
            <p:ph idx="1"/>
          </p:nvPr>
        </p:nvSpPr>
        <p:spPr/>
        <p:txBody>
          <a:bodyPr/>
          <a:lstStyle/>
          <a:p>
            <a:r>
              <a:rPr lang="en-US" altLang="en-US" smtClean="0"/>
              <a:t>Line in the file: </a:t>
            </a:r>
          </a:p>
          <a:p>
            <a:pPr lvl="1"/>
            <a:r>
              <a:rPr lang="da-DK" altLang="en-US" smtClean="0"/>
              <a:t>$ns_ at 2.000000000000 "$node_(0) setdest 90.441179033457 44.896095544010 1.373556960010”</a:t>
            </a:r>
          </a:p>
          <a:p>
            <a:pPr lvl="2"/>
            <a:r>
              <a:rPr lang="en-US" altLang="en-US" smtClean="0"/>
              <a:t>node_(0) at time 2.0s starts to move toward destination (90.44, 44.89) at a speed of 1.37m/s.</a:t>
            </a:r>
          </a:p>
          <a:p>
            <a:pPr lvl="1"/>
            <a:r>
              <a:rPr lang="da-DK" altLang="en-US" smtClean="0"/>
              <a:t>$ns_ at 899.642 "$god_ set-dist 23 46 2”</a:t>
            </a:r>
          </a:p>
          <a:p>
            <a:pPr lvl="2"/>
            <a:r>
              <a:rPr lang="en-US" altLang="en-US" smtClean="0"/>
              <a:t>shortest path between node 23 and node 46 changed to 2 hops at time 899.642.</a:t>
            </a:r>
          </a:p>
        </p:txBody>
      </p:sp>
      <p:sp>
        <p:nvSpPr>
          <p:cNvPr id="108548"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DC1AC2B4-209C-4385-9AA2-74C6DEF7C120}" type="slidenum">
              <a:rPr lang="zh-CN" altLang="en-US" sz="1400">
                <a:solidFill>
                  <a:schemeClr val="tx1"/>
                </a:solidFill>
              </a:rPr>
              <a:pPr>
                <a:buClrTx/>
                <a:buSzTx/>
                <a:buFontTx/>
                <a:buNone/>
              </a:pPr>
              <a:t>49</a:t>
            </a:fld>
            <a:endParaRPr lang="en-US" altLang="zh-CN" sz="1400">
              <a:solidFill>
                <a:schemeClr val="tx1"/>
              </a:solidFill>
            </a:endParaRPr>
          </a:p>
        </p:txBody>
      </p:sp>
    </p:spTree>
    <p:extLst>
      <p:ext uri="{BB962C8B-B14F-4D97-AF65-F5344CB8AC3E}">
        <p14:creationId xmlns="" xmlns:p14="http://schemas.microsoft.com/office/powerpoint/2010/main" val="55716715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F43AAB74-55A0-47FB-9DA3-89259F7FE0CA}" type="slidenum">
              <a:rPr lang="en-US" altLang="en-US"/>
              <a:pPr/>
              <a:t>50</a:t>
            </a:fld>
            <a:endParaRPr lang="en-US" altLang="en-US"/>
          </a:p>
        </p:txBody>
      </p:sp>
      <p:sp>
        <p:nvSpPr>
          <p:cNvPr id="78850" name="Rectangle 2"/>
          <p:cNvSpPr>
            <a:spLocks noGrp="1" noChangeArrowheads="1"/>
          </p:cNvSpPr>
          <p:nvPr>
            <p:ph type="title"/>
          </p:nvPr>
        </p:nvSpPr>
        <p:spPr/>
        <p:txBody>
          <a:bodyPr/>
          <a:lstStyle/>
          <a:p>
            <a:r>
              <a:rPr lang="en-US" altLang="en-US"/>
              <a:t>ns</a:t>
            </a:r>
            <a:r>
              <a:rPr lang="en-US" altLang="en-US">
                <a:sym typeface="Wingdings" panose="05000000000000000000" pitchFamily="2" charset="2"/>
              </a:rPr>
              <a:t></a:t>
            </a:r>
            <a:r>
              <a:rPr lang="en-US" altLang="en-US"/>
              <a:t>nam Interface</a:t>
            </a:r>
          </a:p>
        </p:txBody>
      </p:sp>
      <p:sp>
        <p:nvSpPr>
          <p:cNvPr id="78851" name="Rectangle 3"/>
          <p:cNvSpPr>
            <a:spLocks noGrp="1" noChangeArrowheads="1"/>
          </p:cNvSpPr>
          <p:nvPr>
            <p:ph type="body" idx="1"/>
          </p:nvPr>
        </p:nvSpPr>
        <p:spPr/>
        <p:txBody>
          <a:bodyPr/>
          <a:lstStyle/>
          <a:p>
            <a:r>
              <a:rPr lang="en-US" altLang="en-US"/>
              <a:t>Color</a:t>
            </a:r>
          </a:p>
          <a:p>
            <a:r>
              <a:rPr lang="en-US" altLang="en-US"/>
              <a:t>Node manipulation</a:t>
            </a:r>
          </a:p>
          <a:p>
            <a:r>
              <a:rPr lang="en-US" altLang="en-US"/>
              <a:t>Link manipulation</a:t>
            </a:r>
          </a:p>
          <a:p>
            <a:r>
              <a:rPr lang="en-US" altLang="en-US"/>
              <a:t>Topology layout</a:t>
            </a:r>
          </a:p>
          <a:p>
            <a:r>
              <a:rPr lang="en-US" altLang="en-US"/>
              <a:t>Protocol state</a:t>
            </a:r>
          </a:p>
          <a:p>
            <a:r>
              <a:rPr lang="en-US" altLang="en-US"/>
              <a:t>Misc</a:t>
            </a:r>
          </a:p>
        </p:txBody>
      </p:sp>
    </p:spTree>
    <p:extLst>
      <p:ext uri="{BB962C8B-B14F-4D97-AF65-F5344CB8AC3E}">
        <p14:creationId xmlns="" xmlns:p14="http://schemas.microsoft.com/office/powerpoint/2010/main" val="35913168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79A0022-A5A9-4C9C-B797-3C96465CE663}" type="slidenum">
              <a:rPr lang="en-US" altLang="en-US"/>
              <a:pPr/>
              <a:t>51</a:t>
            </a:fld>
            <a:endParaRPr lang="en-US" altLang="en-US"/>
          </a:p>
        </p:txBody>
      </p:sp>
      <p:sp>
        <p:nvSpPr>
          <p:cNvPr id="79874" name="Rectangle 2"/>
          <p:cNvSpPr>
            <a:spLocks noGrp="1" noChangeArrowheads="1"/>
          </p:cNvSpPr>
          <p:nvPr>
            <p:ph type="title"/>
          </p:nvPr>
        </p:nvSpPr>
        <p:spPr/>
        <p:txBody>
          <a:bodyPr/>
          <a:lstStyle/>
          <a:p>
            <a:r>
              <a:rPr lang="en-US" altLang="en-US"/>
              <a:t>nam Interface: Color</a:t>
            </a:r>
          </a:p>
        </p:txBody>
      </p:sp>
      <p:sp>
        <p:nvSpPr>
          <p:cNvPr id="79875" name="Rectangle 3"/>
          <p:cNvSpPr>
            <a:spLocks noGrp="1" noChangeArrowheads="1"/>
          </p:cNvSpPr>
          <p:nvPr>
            <p:ph type="body" idx="1"/>
          </p:nvPr>
        </p:nvSpPr>
        <p:spPr/>
        <p:txBody>
          <a:bodyPr/>
          <a:lstStyle/>
          <a:p>
            <a:r>
              <a:rPr lang="en-US" altLang="en-US"/>
              <a:t>Color mapping</a:t>
            </a:r>
          </a:p>
          <a:p>
            <a:pPr lvl="1">
              <a:buFont typeface="Wingdings" panose="05000000000000000000" pitchFamily="2" charset="2"/>
              <a:buNone/>
            </a:pPr>
            <a:r>
              <a:rPr lang="en-US" altLang="en-US">
                <a:effectLst>
                  <a:outerShdw blurRad="38100" dist="38100" dir="2700000" algn="tl">
                    <a:srgbClr val="C0C0C0"/>
                  </a:outerShdw>
                </a:effectLst>
                <a:latin typeface="Courier New" panose="02070309020205020404" pitchFamily="49" charset="0"/>
              </a:rPr>
              <a:t>$ns color 40 red</a:t>
            </a:r>
          </a:p>
          <a:p>
            <a:pPr lvl="1">
              <a:buFont typeface="Wingdings" panose="05000000000000000000" pitchFamily="2" charset="2"/>
              <a:buNone/>
            </a:pPr>
            <a:r>
              <a:rPr lang="en-US" altLang="en-US">
                <a:effectLst>
                  <a:outerShdw blurRad="38100" dist="38100" dir="2700000" algn="tl">
                    <a:srgbClr val="C0C0C0"/>
                  </a:outerShdw>
                </a:effectLst>
                <a:latin typeface="Courier New" panose="02070309020205020404" pitchFamily="49" charset="0"/>
              </a:rPr>
              <a:t>$ns color 41 blue</a:t>
            </a:r>
          </a:p>
          <a:p>
            <a:pPr lvl="1">
              <a:buFont typeface="Wingdings" panose="05000000000000000000" pitchFamily="2" charset="2"/>
              <a:buNone/>
            </a:pPr>
            <a:r>
              <a:rPr lang="en-US" altLang="en-US">
                <a:effectLst>
                  <a:outerShdw blurRad="38100" dist="38100" dir="2700000" algn="tl">
                    <a:srgbClr val="C0C0C0"/>
                  </a:outerShdw>
                </a:effectLst>
                <a:latin typeface="Courier New" panose="02070309020205020404" pitchFamily="49" charset="0"/>
              </a:rPr>
              <a:t>$ns color 42 chocolate</a:t>
            </a:r>
          </a:p>
          <a:p>
            <a:r>
              <a:rPr lang="en-US" altLang="en-US"/>
              <a:t>Color </a:t>
            </a:r>
            <a:r>
              <a:rPr lang="en-US" altLang="en-US">
                <a:sym typeface="Symbol" panose="05050102010706020507" pitchFamily="18" charset="2"/>
              </a:rPr>
              <a:t> flow id association</a:t>
            </a:r>
          </a:p>
          <a:p>
            <a:pPr lvl="1">
              <a:buFont typeface="Wingdings" panose="05000000000000000000" pitchFamily="2" charset="2"/>
              <a:buNone/>
            </a:pPr>
            <a:r>
              <a:rPr lang="en-US" altLang="en-US">
                <a:effectLst>
                  <a:outerShdw blurRad="38100" dist="38100" dir="2700000" algn="tl">
                    <a:srgbClr val="C0C0C0"/>
                  </a:outerShdw>
                </a:effectLst>
                <a:latin typeface="Courier New" panose="02070309020205020404" pitchFamily="49" charset="0"/>
              </a:rPr>
              <a:t>$tcp0 set fid_ 40	;# red packets</a:t>
            </a:r>
          </a:p>
          <a:p>
            <a:pPr lvl="1">
              <a:buFont typeface="Wingdings" panose="05000000000000000000" pitchFamily="2" charset="2"/>
              <a:buNone/>
            </a:pPr>
            <a:r>
              <a:rPr lang="en-US" altLang="en-US">
                <a:effectLst>
                  <a:outerShdw blurRad="38100" dist="38100" dir="2700000" algn="tl">
                    <a:srgbClr val="C0C0C0"/>
                  </a:outerShdw>
                </a:effectLst>
                <a:latin typeface="Courier New" panose="02070309020205020404" pitchFamily="49" charset="0"/>
              </a:rPr>
              <a:t>$tcp1 set fid_ 41	;# blue packets</a:t>
            </a:r>
          </a:p>
        </p:txBody>
      </p:sp>
    </p:spTree>
    <p:extLst>
      <p:ext uri="{BB962C8B-B14F-4D97-AF65-F5344CB8AC3E}">
        <p14:creationId xmlns="" xmlns:p14="http://schemas.microsoft.com/office/powerpoint/2010/main" val="2930188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EC44C13-3447-4D43-A4F2-4C276925CC63}" type="slidenum">
              <a:rPr lang="en-US" altLang="en-US"/>
              <a:pPr/>
              <a:t>52</a:t>
            </a:fld>
            <a:endParaRPr lang="en-US" altLang="en-US"/>
          </a:p>
        </p:txBody>
      </p:sp>
      <p:sp>
        <p:nvSpPr>
          <p:cNvPr id="80898" name="Rectangle 2"/>
          <p:cNvSpPr>
            <a:spLocks noGrp="1" noChangeArrowheads="1"/>
          </p:cNvSpPr>
          <p:nvPr>
            <p:ph type="title"/>
          </p:nvPr>
        </p:nvSpPr>
        <p:spPr/>
        <p:txBody>
          <a:bodyPr/>
          <a:lstStyle/>
          <a:p>
            <a:r>
              <a:rPr lang="en-US" altLang="en-US"/>
              <a:t>nam Interface: Nodes</a:t>
            </a:r>
          </a:p>
        </p:txBody>
      </p:sp>
      <p:sp>
        <p:nvSpPr>
          <p:cNvPr id="80899" name="Rectangle 3"/>
          <p:cNvSpPr>
            <a:spLocks noGrp="1" noChangeArrowheads="1"/>
          </p:cNvSpPr>
          <p:nvPr>
            <p:ph type="body" idx="1"/>
          </p:nvPr>
        </p:nvSpPr>
        <p:spPr/>
        <p:txBody>
          <a:bodyPr/>
          <a:lstStyle/>
          <a:p>
            <a:r>
              <a:rPr lang="en-US" altLang="en-US"/>
              <a:t>Color</a:t>
            </a:r>
          </a:p>
          <a:p>
            <a:pPr lvl="1">
              <a:buFont typeface="Wingdings" panose="05000000000000000000" pitchFamily="2" charset="2"/>
              <a:buNone/>
            </a:pPr>
            <a:r>
              <a:rPr lang="en-US" altLang="en-US" sz="1800">
                <a:effectLst>
                  <a:outerShdw blurRad="38100" dist="38100" dir="2700000" algn="tl">
                    <a:srgbClr val="C0C0C0"/>
                  </a:outerShdw>
                </a:effectLst>
                <a:latin typeface="Courier New" panose="02070309020205020404" pitchFamily="49" charset="0"/>
              </a:rPr>
              <a:t>$node color red</a:t>
            </a:r>
          </a:p>
          <a:p>
            <a:r>
              <a:rPr lang="en-US" altLang="en-US"/>
              <a:t>Shape (can’t be changed after sim starts)</a:t>
            </a:r>
          </a:p>
          <a:p>
            <a:pPr lvl="1">
              <a:buFont typeface="Wingdings" panose="05000000000000000000" pitchFamily="2" charset="2"/>
              <a:buNone/>
            </a:pPr>
            <a:r>
              <a:rPr lang="en-US" altLang="en-US" sz="1800">
                <a:effectLst>
                  <a:outerShdw blurRad="38100" dist="38100" dir="2700000" algn="tl">
                    <a:srgbClr val="C0C0C0"/>
                  </a:outerShdw>
                </a:effectLst>
                <a:latin typeface="Courier New" panose="02070309020205020404" pitchFamily="49" charset="0"/>
              </a:rPr>
              <a:t>$node shape box	;# circle, box, hexagon</a:t>
            </a:r>
          </a:p>
          <a:p>
            <a:r>
              <a:rPr lang="en-US" altLang="en-US"/>
              <a:t>Marks (concentric “shapes”)</a:t>
            </a:r>
          </a:p>
          <a:p>
            <a:pPr lvl="1">
              <a:buFont typeface="Wingdings" panose="05000000000000000000" pitchFamily="2" charset="2"/>
              <a:buNone/>
            </a:pPr>
            <a:r>
              <a:rPr lang="en-US" altLang="en-US" sz="1800">
                <a:effectLst>
                  <a:outerShdw blurRad="38100" dist="38100" dir="2700000" algn="tl">
                    <a:srgbClr val="C0C0C0"/>
                  </a:outerShdw>
                </a:effectLst>
                <a:latin typeface="Courier New" panose="02070309020205020404" pitchFamily="49" charset="0"/>
              </a:rPr>
              <a:t>$ns at 1.0 “$n0 add-mark m0 blue box”</a:t>
            </a:r>
          </a:p>
          <a:p>
            <a:pPr lvl="1">
              <a:buFont typeface="Wingdings" panose="05000000000000000000" pitchFamily="2" charset="2"/>
              <a:buNone/>
            </a:pPr>
            <a:r>
              <a:rPr lang="en-US" altLang="en-US" sz="1800">
                <a:effectLst>
                  <a:outerShdw blurRad="38100" dist="38100" dir="2700000" algn="tl">
                    <a:srgbClr val="C0C0C0"/>
                  </a:outerShdw>
                </a:effectLst>
                <a:latin typeface="Courier New" panose="02070309020205020404" pitchFamily="49" charset="0"/>
              </a:rPr>
              <a:t>$ns at 2.0 “$n0 delete-mark m0”</a:t>
            </a:r>
          </a:p>
          <a:p>
            <a:r>
              <a:rPr lang="en-US" altLang="en-US"/>
              <a:t>Label (single string)</a:t>
            </a:r>
          </a:p>
          <a:p>
            <a:pPr lvl="1">
              <a:buFont typeface="Wingdings" panose="05000000000000000000" pitchFamily="2" charset="2"/>
              <a:buNone/>
            </a:pPr>
            <a:r>
              <a:rPr lang="en-US" altLang="en-US" sz="1800">
                <a:effectLst>
                  <a:outerShdw blurRad="38100" dist="38100" dir="2700000" algn="tl">
                    <a:srgbClr val="C0C0C0"/>
                  </a:outerShdw>
                </a:effectLst>
                <a:latin typeface="Courier New" panose="02070309020205020404" pitchFamily="49" charset="0"/>
              </a:rPr>
              <a:t>$ns at 1.1 “$n0 label \”web cache 0\””</a:t>
            </a:r>
          </a:p>
        </p:txBody>
      </p:sp>
    </p:spTree>
    <p:extLst>
      <p:ext uri="{BB962C8B-B14F-4D97-AF65-F5344CB8AC3E}">
        <p14:creationId xmlns="" xmlns:p14="http://schemas.microsoft.com/office/powerpoint/2010/main" val="36309015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5A7CE97-D873-410E-9BEB-AC3BF9C185AB}" type="slidenum">
              <a:rPr lang="en-US" altLang="en-US"/>
              <a:pPr/>
              <a:t>53</a:t>
            </a:fld>
            <a:endParaRPr lang="en-US" altLang="en-US"/>
          </a:p>
        </p:txBody>
      </p:sp>
      <p:sp>
        <p:nvSpPr>
          <p:cNvPr id="81922" name="Rectangle 2"/>
          <p:cNvSpPr>
            <a:spLocks noGrp="1" noChangeArrowheads="1"/>
          </p:cNvSpPr>
          <p:nvPr>
            <p:ph type="title"/>
          </p:nvPr>
        </p:nvSpPr>
        <p:spPr/>
        <p:txBody>
          <a:bodyPr/>
          <a:lstStyle/>
          <a:p>
            <a:r>
              <a:rPr lang="en-US" altLang="en-US"/>
              <a:t>nam Interfaces: Links</a:t>
            </a:r>
          </a:p>
        </p:txBody>
      </p:sp>
      <p:sp>
        <p:nvSpPr>
          <p:cNvPr id="81923" name="Rectangle 3"/>
          <p:cNvSpPr>
            <a:spLocks noGrp="1" noChangeArrowheads="1"/>
          </p:cNvSpPr>
          <p:nvPr>
            <p:ph type="body" idx="1"/>
          </p:nvPr>
        </p:nvSpPr>
        <p:spPr>
          <a:xfrm>
            <a:off x="2362200" y="1905000"/>
            <a:ext cx="8001000" cy="4114800"/>
          </a:xfrm>
        </p:spPr>
        <p:txBody>
          <a:bodyPr/>
          <a:lstStyle/>
          <a:p>
            <a:r>
              <a:rPr lang="en-US" altLang="en-US"/>
              <a:t>Color</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$n0 $n1 color "green"</a:t>
            </a:r>
          </a:p>
          <a:p>
            <a:r>
              <a:rPr lang="en-US" altLang="en-US"/>
              <a:t>Label</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$n0 $n1 label "abced"</a:t>
            </a:r>
          </a:p>
          <a:p>
            <a:r>
              <a:rPr lang="en-US" altLang="en-US"/>
              <a:t>Dynamics (automatically handled)</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rtmodel Deterministic {2.0 0.9 0.1} $n0 $n1</a:t>
            </a:r>
          </a:p>
          <a:p>
            <a:r>
              <a:rPr lang="en-US" altLang="en-US"/>
              <a:t>Asymmetric links not allowed</a:t>
            </a:r>
          </a:p>
        </p:txBody>
      </p:sp>
    </p:spTree>
    <p:extLst>
      <p:ext uri="{BB962C8B-B14F-4D97-AF65-F5344CB8AC3E}">
        <p14:creationId xmlns="" xmlns:p14="http://schemas.microsoft.com/office/powerpoint/2010/main" val="20904330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1B417271-395F-4A91-86CF-6A5ADFDFDF19}" type="slidenum">
              <a:rPr lang="en-US" altLang="en-US"/>
              <a:pPr/>
              <a:t>54</a:t>
            </a:fld>
            <a:endParaRPr lang="en-US" altLang="en-US"/>
          </a:p>
        </p:txBody>
      </p:sp>
      <p:sp>
        <p:nvSpPr>
          <p:cNvPr id="82946" name="Rectangle 2"/>
          <p:cNvSpPr>
            <a:spLocks noGrp="1" noChangeArrowheads="1"/>
          </p:cNvSpPr>
          <p:nvPr>
            <p:ph type="title"/>
          </p:nvPr>
        </p:nvSpPr>
        <p:spPr/>
        <p:txBody>
          <a:bodyPr/>
          <a:lstStyle/>
          <a:p>
            <a:r>
              <a:rPr lang="en-US" altLang="en-US"/>
              <a:t>nam Interface: Topo Layout</a:t>
            </a:r>
          </a:p>
        </p:txBody>
      </p:sp>
      <p:sp>
        <p:nvSpPr>
          <p:cNvPr id="82947" name="Rectangle 3"/>
          <p:cNvSpPr>
            <a:spLocks noGrp="1" noChangeArrowheads="1"/>
          </p:cNvSpPr>
          <p:nvPr>
            <p:ph type="body" idx="1"/>
          </p:nvPr>
        </p:nvSpPr>
        <p:spPr/>
        <p:txBody>
          <a:bodyPr/>
          <a:lstStyle/>
          <a:p>
            <a:r>
              <a:rPr lang="en-US" altLang="en-US" sz="3600"/>
              <a:t>“Manual” layout: specify everything</a:t>
            </a:r>
          </a:p>
          <a:p>
            <a:pPr lvl="1">
              <a:buFont typeface="Wingdings" panose="05000000000000000000" pitchFamily="2" charset="2"/>
              <a:buNone/>
            </a:pPr>
            <a:endParaRPr lang="en-US" altLang="en-US" sz="2000">
              <a:effectLst>
                <a:outerShdw blurRad="38100" dist="38100" dir="2700000" algn="tl">
                  <a:srgbClr val="C0C0C0"/>
                </a:outerShdw>
              </a:effectLst>
              <a:latin typeface="Courier New" panose="02070309020205020404" pitchFamily="49" charset="0"/>
            </a:endParaRP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$n(0) $n(1) orient right</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$n(1) $n(2) orient right</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$n(2) $n(3) orient right</a:t>
            </a:r>
          </a:p>
          <a:p>
            <a:pPr lvl="1">
              <a:buFont typeface="Wingdings" panose="05000000000000000000" pitchFamily="2" charset="2"/>
              <a:buNone/>
            </a:pPr>
            <a:r>
              <a:rPr lang="en-US" altLang="en-US" sz="2000">
                <a:effectLst>
                  <a:outerShdw blurRad="38100" dist="38100" dir="2700000" algn="tl">
                    <a:srgbClr val="C0C0C0"/>
                  </a:outerShdw>
                </a:effectLst>
                <a:latin typeface="Courier New" panose="02070309020205020404" pitchFamily="49" charset="0"/>
              </a:rPr>
              <a:t>$ns duplex-link-op $n(3) $n(4) orient 60deg</a:t>
            </a:r>
          </a:p>
          <a:p>
            <a:pPr lvl="1">
              <a:buFont typeface="Wingdings" panose="05000000000000000000" pitchFamily="2" charset="2"/>
              <a:buNone/>
            </a:pPr>
            <a:endParaRPr lang="en-US" altLang="en-US" sz="2000">
              <a:effectLst>
                <a:outerShdw blurRad="38100" dist="38100" dir="2700000" algn="tl">
                  <a:srgbClr val="C0C0C0"/>
                </a:outerShdw>
              </a:effectLst>
              <a:latin typeface="Courier New" panose="02070309020205020404" pitchFamily="49" charset="0"/>
            </a:endParaRPr>
          </a:p>
          <a:p>
            <a:r>
              <a:rPr lang="en-US" altLang="en-US" sz="3600"/>
              <a:t>If anything missing </a:t>
            </a:r>
            <a:r>
              <a:rPr lang="en-US" altLang="en-US" sz="3600">
                <a:sym typeface="Wingdings" panose="05000000000000000000" pitchFamily="2" charset="2"/>
              </a:rPr>
              <a:t> automatic layout</a:t>
            </a:r>
            <a:endParaRPr lang="en-US" altLang="en-US" sz="3600"/>
          </a:p>
        </p:txBody>
      </p:sp>
    </p:spTree>
    <p:extLst>
      <p:ext uri="{BB962C8B-B14F-4D97-AF65-F5344CB8AC3E}">
        <p14:creationId xmlns="" xmlns:p14="http://schemas.microsoft.com/office/powerpoint/2010/main" val="6408399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F5DAF7E1-25CE-4735-91E2-7F817B4BCE1E}" type="slidenum">
              <a:rPr lang="en-US" altLang="en-US"/>
              <a:pPr/>
              <a:t>55</a:t>
            </a:fld>
            <a:endParaRPr lang="en-US" altLang="en-US"/>
          </a:p>
        </p:txBody>
      </p:sp>
      <p:sp>
        <p:nvSpPr>
          <p:cNvPr id="84994" name="Rectangle 2"/>
          <p:cNvSpPr>
            <a:spLocks noGrp="1" noChangeArrowheads="1"/>
          </p:cNvSpPr>
          <p:nvPr>
            <p:ph type="title"/>
          </p:nvPr>
        </p:nvSpPr>
        <p:spPr/>
        <p:txBody>
          <a:bodyPr/>
          <a:lstStyle/>
          <a:p>
            <a:r>
              <a:rPr lang="en-US" altLang="en-US"/>
              <a:t>nam Interface: Misc</a:t>
            </a:r>
          </a:p>
        </p:txBody>
      </p:sp>
      <p:sp>
        <p:nvSpPr>
          <p:cNvPr id="84995" name="Rectangle 3"/>
          <p:cNvSpPr>
            <a:spLocks noGrp="1" noChangeArrowheads="1"/>
          </p:cNvSpPr>
          <p:nvPr>
            <p:ph type="body" idx="1"/>
          </p:nvPr>
        </p:nvSpPr>
        <p:spPr>
          <a:xfrm>
            <a:off x="2362200" y="1905000"/>
            <a:ext cx="8040688" cy="4114800"/>
          </a:xfrm>
        </p:spPr>
        <p:txBody>
          <a:bodyPr/>
          <a:lstStyle/>
          <a:p>
            <a:pPr marL="609600" indent="-609600"/>
            <a:r>
              <a:rPr lang="en-US" altLang="en-US" sz="3600"/>
              <a:t>Annotation</a:t>
            </a:r>
          </a:p>
          <a:p>
            <a:pPr marL="990600" lvl="1" indent="-533400"/>
            <a:r>
              <a:rPr lang="en-US" altLang="en-US" sz="3200"/>
              <a:t>Add textual explanation to your simulation</a:t>
            </a:r>
            <a:endParaRPr lang="en-US" altLang="en-US">
              <a:effectLst>
                <a:outerShdw blurRad="38100" dist="38100" dir="2700000" algn="tl">
                  <a:srgbClr val="C0C0C0"/>
                </a:outerShdw>
              </a:effectLst>
              <a:latin typeface="Courier New" panose="02070309020205020404" pitchFamily="49" charset="0"/>
            </a:endParaRPr>
          </a:p>
          <a:p>
            <a:pPr marL="990600" lvl="1" indent="-533400">
              <a:buNone/>
            </a:pPr>
            <a:r>
              <a:rPr lang="en-US" altLang="en-US">
                <a:effectLst>
                  <a:outerShdw blurRad="38100" dist="38100" dir="2700000" algn="tl">
                    <a:srgbClr val="C0C0C0"/>
                  </a:outerShdw>
                </a:effectLst>
                <a:latin typeface="Courier New" panose="02070309020205020404" pitchFamily="49" charset="0"/>
              </a:rPr>
              <a:t>$ns at 3.5 "$ns trace-annotate \“packet drop\"“</a:t>
            </a:r>
          </a:p>
          <a:p>
            <a:pPr marL="609600" indent="-609600"/>
            <a:r>
              <a:rPr lang="en-US" altLang="en-US" sz="3600"/>
              <a:t>Set animation rate</a:t>
            </a:r>
            <a:endParaRPr lang="en-US" altLang="en-US">
              <a:effectLst>
                <a:outerShdw blurRad="38100" dist="38100" dir="2700000" algn="tl">
                  <a:srgbClr val="C0C0C0"/>
                </a:outerShdw>
              </a:effectLst>
              <a:latin typeface="Courier New" panose="02070309020205020404" pitchFamily="49" charset="0"/>
            </a:endParaRPr>
          </a:p>
          <a:p>
            <a:pPr marL="990600" lvl="1" indent="-533400">
              <a:buNone/>
            </a:pPr>
            <a:r>
              <a:rPr lang="en-US" altLang="en-US">
                <a:effectLst>
                  <a:outerShdw blurRad="38100" dist="38100" dir="2700000" algn="tl">
                    <a:srgbClr val="C0C0C0"/>
                  </a:outerShdw>
                </a:effectLst>
                <a:latin typeface="Courier New" panose="02070309020205020404" pitchFamily="49" charset="0"/>
              </a:rPr>
              <a:t>$ns at 0.0 "$ns set-animation-rate 0.1ms"</a:t>
            </a:r>
          </a:p>
        </p:txBody>
      </p:sp>
    </p:spTree>
    <p:extLst>
      <p:ext uri="{BB962C8B-B14F-4D97-AF65-F5344CB8AC3E}">
        <p14:creationId xmlns="" xmlns:p14="http://schemas.microsoft.com/office/powerpoint/2010/main" val="41641119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5"/>
          <p:cNvSpPr>
            <a:spLocks noChangeArrowheads="1"/>
          </p:cNvSpPr>
          <p:nvPr/>
        </p:nvSpPr>
        <p:spPr bwMode="auto">
          <a:xfrm>
            <a:off x="4619625" y="2068513"/>
            <a:ext cx="4954588" cy="4953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38915" name="Title 1"/>
          <p:cNvSpPr>
            <a:spLocks noGrp="1"/>
          </p:cNvSpPr>
          <p:nvPr>
            <p:ph type="title"/>
          </p:nvPr>
        </p:nvSpPr>
        <p:spPr/>
        <p:txBody>
          <a:bodyPr/>
          <a:lstStyle/>
          <a:p>
            <a:r>
              <a:rPr lang="en-US" altLang="en-US" smtClean="0"/>
              <a:t>Record Simulation Trace</a:t>
            </a:r>
          </a:p>
        </p:txBody>
      </p:sp>
      <p:sp>
        <p:nvSpPr>
          <p:cNvPr id="38916" name="Slide Number Placeholder 3"/>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buClrTx/>
              <a:buSzTx/>
              <a:buFontTx/>
              <a:buNone/>
            </a:pPr>
            <a:fld id="{A09B579E-B424-42BD-B95C-1860AC3D1236}" type="slidenum">
              <a:rPr lang="zh-CN" altLang="en-US" sz="1400">
                <a:solidFill>
                  <a:schemeClr val="tx1"/>
                </a:solidFill>
              </a:rPr>
              <a:pPr>
                <a:buClrTx/>
                <a:buSzTx/>
                <a:buFontTx/>
                <a:buNone/>
              </a:pPr>
              <a:t>56</a:t>
            </a:fld>
            <a:endParaRPr lang="en-US" altLang="zh-CN" sz="1400">
              <a:solidFill>
                <a:schemeClr val="tx1"/>
              </a:solidFill>
            </a:endParaRPr>
          </a:p>
        </p:txBody>
      </p:sp>
      <p:sp>
        <p:nvSpPr>
          <p:cNvPr id="6" name="Rectangle 15"/>
          <p:cNvSpPr>
            <a:spLocks noChangeArrowheads="1"/>
          </p:cNvSpPr>
          <p:nvPr/>
        </p:nvSpPr>
        <p:spPr bwMode="auto">
          <a:xfrm>
            <a:off x="5926138" y="2943225"/>
            <a:ext cx="3948112" cy="495300"/>
          </a:xfrm>
          <a:prstGeom prst="rect">
            <a:avLst/>
          </a:prstGeom>
          <a:solidFill>
            <a:srgbClr val="CCFFFF"/>
          </a:solidFill>
          <a:ln w="9525">
            <a:solidFill>
              <a:schemeClr val="tx1"/>
            </a:solidFill>
            <a:miter lim="800000"/>
            <a:headEnd/>
            <a:tailEnd/>
          </a:ln>
        </p:spPr>
        <p:txBody>
          <a:bodyPr wrap="none"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endParaRPr lang="en-US" altLang="en-US" sz="2400">
              <a:solidFill>
                <a:srgbClr val="00279F"/>
              </a:solidFill>
              <a:latin typeface="바탕" panose="02030600000101010101" pitchFamily="18" charset="-127"/>
            </a:endParaRPr>
          </a:p>
        </p:txBody>
      </p:sp>
      <p:sp>
        <p:nvSpPr>
          <p:cNvPr id="3" name="Content Placeholder 2"/>
          <p:cNvSpPr>
            <a:spLocks noGrp="1"/>
          </p:cNvSpPr>
          <p:nvPr>
            <p:ph idx="1"/>
          </p:nvPr>
        </p:nvSpPr>
        <p:spPr>
          <a:xfrm>
            <a:off x="1943101" y="1516064"/>
            <a:ext cx="7966075" cy="4359275"/>
          </a:xfrm>
        </p:spPr>
        <p:txBody>
          <a:bodyPr/>
          <a:lstStyle/>
          <a:p>
            <a:pPr>
              <a:defRPr/>
            </a:pPr>
            <a:r>
              <a:rPr lang="en-US" dirty="0" smtClean="0"/>
              <a:t>Packet tracing:</a:t>
            </a:r>
          </a:p>
          <a:p>
            <a:pPr lvl="1">
              <a:defRPr/>
            </a:pPr>
            <a:r>
              <a:rPr lang="en-US" dirty="0" smtClean="0"/>
              <a:t>On all links: </a:t>
            </a:r>
            <a:r>
              <a:rPr lang="en-US" dirty="0"/>
              <a:t>$ns trace-all [open out.tr w]</a:t>
            </a:r>
          </a:p>
          <a:p>
            <a:pPr lvl="1">
              <a:defRPr/>
            </a:pPr>
            <a:endParaRPr lang="en-US" dirty="0" smtClean="0"/>
          </a:p>
          <a:p>
            <a:pPr lvl="1">
              <a:defRPr/>
            </a:pPr>
            <a:r>
              <a:rPr lang="en-US" dirty="0" smtClean="0"/>
              <a:t>On one specific link: </a:t>
            </a:r>
            <a:r>
              <a:rPr lang="en-US" dirty="0"/>
              <a:t>$ns trace-queue $n0 $n1$tr</a:t>
            </a:r>
            <a:endParaRPr lang="en-US" sz="1200" b="1" dirty="0">
              <a:effectLst>
                <a:outerShdw blurRad="38100" dist="38100" dir="2700000" algn="tl">
                  <a:srgbClr val="C0C0C0"/>
                </a:outerShdw>
              </a:effectLst>
              <a:latin typeface="Courier New" pitchFamily="49" charset="0"/>
            </a:endParaRPr>
          </a:p>
          <a:p>
            <a:pPr>
              <a:buClr>
                <a:schemeClr val="tx1"/>
              </a:buClr>
              <a:buFont typeface="Wingdings" panose="05000000000000000000" pitchFamily="2" charset="2"/>
              <a:buNone/>
              <a:defRPr/>
            </a:pPr>
            <a:endParaRPr lang="en-US" sz="1400" dirty="0">
              <a:latin typeface="Courier New" pitchFamily="49" charset="0"/>
            </a:endParaRPr>
          </a:p>
          <a:p>
            <a:pPr>
              <a:buClr>
                <a:schemeClr val="tx1"/>
              </a:buClr>
              <a:buFont typeface="Wingdings" panose="05000000000000000000" pitchFamily="2" charset="2"/>
              <a:buNone/>
              <a:defRPr/>
            </a:pPr>
            <a:r>
              <a:rPr lang="en-US" sz="1400" dirty="0">
                <a:latin typeface="Courier New" pitchFamily="49" charset="0"/>
              </a:rPr>
              <a:t>&lt;Event&gt; &lt;time&gt; &lt;from&gt; &lt;to&gt; &lt;</a:t>
            </a:r>
            <a:r>
              <a:rPr lang="en-US" sz="1400" dirty="0" err="1">
                <a:latin typeface="Courier New" pitchFamily="49" charset="0"/>
              </a:rPr>
              <a:t>pkt</a:t>
            </a:r>
            <a:r>
              <a:rPr lang="en-US" sz="1400" dirty="0">
                <a:latin typeface="Courier New" pitchFamily="49" charset="0"/>
              </a:rPr>
              <a:t>&gt; &lt;size&gt; -- &lt;fid&gt; &lt;</a:t>
            </a:r>
            <a:r>
              <a:rPr lang="en-US" sz="1400" dirty="0" err="1">
                <a:latin typeface="Courier New" pitchFamily="49" charset="0"/>
              </a:rPr>
              <a:t>src</a:t>
            </a:r>
            <a:r>
              <a:rPr lang="en-US" sz="1400" dirty="0">
                <a:latin typeface="Courier New" pitchFamily="49" charset="0"/>
              </a:rPr>
              <a:t>&gt; &lt;</a:t>
            </a:r>
            <a:r>
              <a:rPr lang="en-US" sz="1400" dirty="0" err="1">
                <a:latin typeface="Courier New" pitchFamily="49" charset="0"/>
              </a:rPr>
              <a:t>dst</a:t>
            </a:r>
            <a:r>
              <a:rPr lang="en-US" sz="1400" dirty="0">
                <a:latin typeface="Courier New" pitchFamily="49" charset="0"/>
              </a:rPr>
              <a:t>&gt; &lt;</a:t>
            </a:r>
            <a:r>
              <a:rPr lang="en-US" sz="1400" dirty="0" err="1">
                <a:latin typeface="Courier New" pitchFamily="49" charset="0"/>
              </a:rPr>
              <a:t>seq</a:t>
            </a:r>
            <a:r>
              <a:rPr lang="en-US" sz="1400" dirty="0">
                <a:latin typeface="Courier New" pitchFamily="49" charset="0"/>
              </a:rPr>
              <a:t>&gt; &lt;</a:t>
            </a:r>
            <a:r>
              <a:rPr lang="en-US" sz="1400" dirty="0" err="1">
                <a:latin typeface="Courier New" pitchFamily="49" charset="0"/>
              </a:rPr>
              <a:t>attr</a:t>
            </a:r>
            <a:r>
              <a:rPr lang="en-US" sz="1400" dirty="0">
                <a:latin typeface="Courier New" pitchFamily="49" charset="0"/>
              </a:rPr>
              <a:t>&gt;</a:t>
            </a:r>
          </a:p>
          <a:p>
            <a:pPr lvl="1">
              <a:buClr>
                <a:schemeClr val="tx1"/>
              </a:buClr>
              <a:buFont typeface="Wingdings" panose="05000000000000000000" pitchFamily="2" charset="2"/>
              <a:buNone/>
              <a:defRPr/>
            </a:pPr>
            <a:r>
              <a:rPr lang="en-US" sz="1800" dirty="0">
                <a:latin typeface="Courier New" pitchFamily="49" charset="0"/>
              </a:rPr>
              <a:t>+ 1 0 2 </a:t>
            </a:r>
            <a:r>
              <a:rPr lang="en-US" sz="1800" dirty="0" err="1">
                <a:latin typeface="Courier New" pitchFamily="49" charset="0"/>
              </a:rPr>
              <a:t>cbr</a:t>
            </a:r>
            <a:r>
              <a:rPr lang="en-US" sz="1800" dirty="0">
                <a:latin typeface="Courier New" pitchFamily="49" charset="0"/>
              </a:rPr>
              <a:t> 210 ------- 0 0.0 3.1 0 0</a:t>
            </a:r>
          </a:p>
          <a:p>
            <a:pPr lvl="1">
              <a:buClr>
                <a:schemeClr val="tx1"/>
              </a:buClr>
              <a:buFont typeface="Wingdings" panose="05000000000000000000" pitchFamily="2" charset="2"/>
              <a:buNone/>
              <a:defRPr/>
            </a:pPr>
            <a:r>
              <a:rPr lang="en-US" sz="1800" dirty="0">
                <a:latin typeface="Courier New" pitchFamily="49" charset="0"/>
              </a:rPr>
              <a:t>- 1 0 2 </a:t>
            </a:r>
            <a:r>
              <a:rPr lang="en-US" sz="1800" dirty="0" err="1">
                <a:latin typeface="Courier New" pitchFamily="49" charset="0"/>
              </a:rPr>
              <a:t>cbr</a:t>
            </a:r>
            <a:r>
              <a:rPr lang="en-US" sz="1800" dirty="0">
                <a:latin typeface="Courier New" pitchFamily="49" charset="0"/>
              </a:rPr>
              <a:t> 210 ------- 0 0.0 3.1 0 0</a:t>
            </a:r>
          </a:p>
          <a:p>
            <a:pPr lvl="1">
              <a:buClr>
                <a:schemeClr val="tx1"/>
              </a:buClr>
              <a:buFont typeface="Wingdings" panose="05000000000000000000" pitchFamily="2" charset="2"/>
              <a:buNone/>
              <a:defRPr/>
            </a:pPr>
            <a:r>
              <a:rPr lang="en-US" sz="1800" dirty="0">
                <a:latin typeface="Courier New" pitchFamily="49" charset="0"/>
              </a:rPr>
              <a:t>r 1.00234 0 2 </a:t>
            </a:r>
            <a:r>
              <a:rPr lang="en-US" sz="1800" dirty="0" err="1">
                <a:latin typeface="Courier New" pitchFamily="49" charset="0"/>
              </a:rPr>
              <a:t>cbr</a:t>
            </a:r>
            <a:r>
              <a:rPr lang="en-US" sz="1800" dirty="0">
                <a:latin typeface="Courier New" pitchFamily="49" charset="0"/>
              </a:rPr>
              <a:t> 210 ------- 0 0.0 3.1 0 0</a:t>
            </a:r>
          </a:p>
          <a:p>
            <a:pPr lvl="1">
              <a:defRPr/>
            </a:pPr>
            <a:r>
              <a:rPr lang="en-US" sz="2000" dirty="0"/>
              <a:t>Event “+”: </a:t>
            </a:r>
            <a:r>
              <a:rPr lang="en-US" sz="2000" dirty="0" err="1"/>
              <a:t>enqueue</a:t>
            </a:r>
            <a:r>
              <a:rPr lang="en-US" sz="2000" dirty="0"/>
              <a:t>,  “-”: </a:t>
            </a:r>
            <a:r>
              <a:rPr lang="en-US" sz="2000" dirty="0" err="1"/>
              <a:t>dequeue</a:t>
            </a:r>
            <a:r>
              <a:rPr lang="en-US" sz="2000" dirty="0"/>
              <a:t>; “r”: received</a:t>
            </a:r>
          </a:p>
        </p:txBody>
      </p:sp>
    </p:spTree>
    <p:extLst>
      <p:ext uri="{BB962C8B-B14F-4D97-AF65-F5344CB8AC3E}">
        <p14:creationId xmlns="" xmlns:p14="http://schemas.microsoft.com/office/powerpoint/2010/main" val="3246383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5" descr="trace"/>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514600" y="1981200"/>
            <a:ext cx="6781800" cy="449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0179" name="Rectangle 6"/>
          <p:cNvSpPr>
            <a:spLocks noChangeArrowheads="1"/>
          </p:cNvSpPr>
          <p:nvPr/>
        </p:nvSpPr>
        <p:spPr bwMode="auto">
          <a:xfrm>
            <a:off x="1981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eaLnBrk="1" hangingPunct="1">
              <a:buClrTx/>
              <a:buSzTx/>
              <a:buFontTx/>
              <a:buNone/>
            </a:pPr>
            <a:r>
              <a:rPr lang="en-US" altLang="en-US" sz="4400">
                <a:solidFill>
                  <a:srgbClr val="00279F"/>
                </a:solidFill>
                <a:latin typeface="바탕" panose="02030600000101010101" pitchFamily="18" charset="-127"/>
              </a:rPr>
              <a:t>Trace Analysis</a:t>
            </a:r>
          </a:p>
        </p:txBody>
      </p:sp>
      <p:sp>
        <p:nvSpPr>
          <p:cNvPr id="50180" name="Text Box 7"/>
          <p:cNvSpPr txBox="1">
            <a:spLocks noChangeArrowheads="1"/>
          </p:cNvSpPr>
          <p:nvPr/>
        </p:nvSpPr>
        <p:spPr bwMode="auto">
          <a:xfrm>
            <a:off x="1956584" y="1382713"/>
            <a:ext cx="7520008"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buClr>
                <a:srgbClr val="000000"/>
              </a:buClr>
              <a:buSzPct val="55000"/>
              <a:buFont typeface="Wingdings" panose="05000000000000000000" pitchFamily="2" charset="2"/>
              <a:buChar char="q"/>
              <a:defRPr sz="3200">
                <a:solidFill>
                  <a:srgbClr val="990000"/>
                </a:solidFill>
                <a:latin typeface="Arial" panose="020B0604020202020204" pitchFamily="34" charset="0"/>
              </a:defRPr>
            </a:lvl1pPr>
            <a:lvl2pPr marL="742950" indent="-285750">
              <a:buClr>
                <a:srgbClr val="000000"/>
              </a:buClr>
              <a:buSzPct val="55000"/>
              <a:buFont typeface="Wingdings" panose="05000000000000000000" pitchFamily="2" charset="2"/>
              <a:buChar char="q"/>
              <a:defRPr sz="2800">
                <a:solidFill>
                  <a:srgbClr val="000000"/>
                </a:solidFill>
                <a:latin typeface="Arial" panose="020B0604020202020204" pitchFamily="34" charset="0"/>
              </a:defRPr>
            </a:lvl2pPr>
            <a:lvl3pPr marL="1143000" indent="-228600">
              <a:buClr>
                <a:srgbClr val="000000"/>
              </a:buClr>
              <a:buSzPct val="55000"/>
              <a:buFont typeface="Wingdings" panose="05000000000000000000" pitchFamily="2" charset="2"/>
              <a:buChar char="q"/>
              <a:defRPr sz="2400">
                <a:solidFill>
                  <a:srgbClr val="000000"/>
                </a:solidFill>
                <a:latin typeface="Arial" panose="020B0604020202020204" pitchFamily="34" charset="0"/>
              </a:defRPr>
            </a:lvl3pPr>
            <a:lvl4pPr marL="16002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4pPr>
            <a:lvl5pPr marL="2057400" indent="-228600">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5pPr>
            <a:lvl6pPr marL="25146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6pPr>
            <a:lvl7pPr marL="29718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7pPr>
            <a:lvl8pPr marL="34290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8pPr>
            <a:lvl9pPr marL="3886200" indent="-228600" eaLnBrk="0" fontAlgn="base" hangingPunct="0">
              <a:spcBef>
                <a:spcPct val="0"/>
              </a:spcBef>
              <a:spcAft>
                <a:spcPct val="0"/>
              </a:spcAft>
              <a:buClr>
                <a:srgbClr val="000000"/>
              </a:buClr>
              <a:buSzPct val="55000"/>
              <a:buFont typeface="Wingdings" panose="05000000000000000000" pitchFamily="2" charset="2"/>
              <a:buChar char="q"/>
              <a:defRPr sz="2000">
                <a:solidFill>
                  <a:srgbClr val="000000"/>
                </a:solidFill>
                <a:latin typeface="Arial" panose="020B0604020202020204" pitchFamily="34" charset="0"/>
              </a:defRPr>
            </a:lvl9pPr>
          </a:lstStyle>
          <a:p>
            <a:pPr algn="ctr">
              <a:buClrTx/>
              <a:buSzTx/>
              <a:buFontTx/>
              <a:buNone/>
            </a:pPr>
            <a:r>
              <a:rPr lang="en-US" altLang="en-US" sz="2000">
                <a:solidFill>
                  <a:schemeClr val="bg2"/>
                </a:solidFill>
                <a:latin typeface="바탕" panose="02030600000101010101" pitchFamily="18" charset="-127"/>
              </a:rPr>
              <a:t>http://nsnam.isi.edu/nsnam/index.php/NS-2_Trace_Formats</a:t>
            </a:r>
          </a:p>
        </p:txBody>
      </p:sp>
    </p:spTree>
    <p:extLst>
      <p:ext uri="{BB962C8B-B14F-4D97-AF65-F5344CB8AC3E}">
        <p14:creationId xmlns="" xmlns:p14="http://schemas.microsoft.com/office/powerpoint/2010/main" val="20361359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3038</Words>
  <Application>Microsoft Office PowerPoint</Application>
  <PresentationFormat>Custom</PresentationFormat>
  <Paragraphs>550</Paragraphs>
  <Slides>57</Slides>
  <Notes>15</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Ns-2, the Network Simulator</vt:lpstr>
      <vt:lpstr>ns2- Network Simulator</vt:lpstr>
      <vt:lpstr>Slide 3</vt:lpstr>
      <vt:lpstr>Slide 4</vt:lpstr>
      <vt:lpstr>“Ns” Components</vt:lpstr>
      <vt:lpstr>Basic Tcl</vt:lpstr>
      <vt:lpstr>Slide 7</vt:lpstr>
      <vt:lpstr>Ns programming</vt:lpstr>
      <vt:lpstr>Creating Event Scheduler</vt:lpstr>
      <vt:lpstr>Simple two node wired network</vt:lpstr>
      <vt:lpstr>Slide 11</vt:lpstr>
      <vt:lpstr>Simple two node wired network</vt:lpstr>
      <vt:lpstr>Simple two node wired network</vt:lpstr>
      <vt:lpstr>Adding traffic to the link</vt:lpstr>
      <vt:lpstr>Adding traffic to the link</vt:lpstr>
      <vt:lpstr>Adding traffic to the link</vt:lpstr>
      <vt:lpstr>Adding traffic to the link</vt:lpstr>
      <vt:lpstr>Creating Connection and Traffic</vt:lpstr>
      <vt:lpstr>        </vt:lpstr>
      <vt:lpstr>Slide 20</vt:lpstr>
      <vt:lpstr>Slide 21</vt:lpstr>
      <vt:lpstr>Slide 22</vt:lpstr>
      <vt:lpstr>Slide 23</vt:lpstr>
      <vt:lpstr>Creating Connection and Traffic II</vt:lpstr>
      <vt:lpstr>Application-Level Simulation</vt:lpstr>
      <vt:lpstr>Slide 26</vt:lpstr>
      <vt:lpstr>TCP Traffic</vt:lpstr>
      <vt:lpstr>TCP Traffic</vt:lpstr>
      <vt:lpstr>Simple 2 Nodes Simulation</vt:lpstr>
      <vt:lpstr>Slide 30</vt:lpstr>
      <vt:lpstr>Slide 31</vt:lpstr>
      <vt:lpstr>God (General Operations Director) Object</vt:lpstr>
      <vt:lpstr>Define how a mobile node should be created</vt:lpstr>
      <vt:lpstr>Manual Create Node Motion</vt:lpstr>
      <vt:lpstr>Slide 35</vt:lpstr>
      <vt:lpstr>Slide 36</vt:lpstr>
      <vt:lpstr>Slide 37</vt:lpstr>
      <vt:lpstr>Wireless Trace File Analysis</vt:lpstr>
      <vt:lpstr>Slide 39</vt:lpstr>
      <vt:lpstr>Example of Trace Intepretation</vt:lpstr>
      <vt:lpstr>Slide 41</vt:lpstr>
      <vt:lpstr>Using node-movement/traffic-pattern files</vt:lpstr>
      <vt:lpstr>Slide 43</vt:lpstr>
      <vt:lpstr>Slide 44</vt:lpstr>
      <vt:lpstr>Creating random traffic-pattern for wireless scenarios</vt:lpstr>
      <vt:lpstr>Slide 46</vt:lpstr>
      <vt:lpstr>Creating node-movements for wireless scenarios</vt:lpstr>
      <vt:lpstr>Slide 48</vt:lpstr>
      <vt:lpstr>Slide 49</vt:lpstr>
      <vt:lpstr>nsnam Interface</vt:lpstr>
      <vt:lpstr>nam Interface: Color</vt:lpstr>
      <vt:lpstr>nam Interface: Nodes</vt:lpstr>
      <vt:lpstr>nam Interfaces: Links</vt:lpstr>
      <vt:lpstr>nam Interface: Topo Layout</vt:lpstr>
      <vt:lpstr>nam Interface: Misc</vt:lpstr>
      <vt:lpstr>Record Simulation Trace</vt:lpstr>
      <vt:lpstr>Slide 57</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CSE</cp:lastModifiedBy>
  <cp:revision>18</cp:revision>
  <dcterms:created xsi:type="dcterms:W3CDTF">2018-08-25T04:49:32Z</dcterms:created>
  <dcterms:modified xsi:type="dcterms:W3CDTF">2018-08-30T08:16:13Z</dcterms:modified>
</cp:coreProperties>
</file>